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A17D60-C401-4B92-81E3-DA25018A64B6}">
  <a:tblStyle styleId="{05A17D60-C401-4B92-81E3-DA25018A64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italic.fntdata"/><Relationship Id="rId16" Type="http://schemas.openxmlformats.org/officeDocument/2006/relationships/slide" Target="slides/slide10.xml"/><Relationship Id="rId38" Type="http://schemas.openxmlformats.org/officeDocument/2006/relationships/font" Target="fonts/Robo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3b8971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3b8971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3b897110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3b897110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3b897110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3b89711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3b89711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3b89711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3b897110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3b897110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3b897110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3b89711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3b897110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3b897110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3b897110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3b897110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3b897110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3b897110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3b897110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3b897110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3b897110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3b897110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3b897110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3b897110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3b897110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23b897110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3b897110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3b897110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3b897110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23b897110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3b897110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23b897110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3b897110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3b897110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b897110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23b897110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23b897110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23b897110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3b8971100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23b897110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3b897110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23b897110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3b897110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23b897110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23b897110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23b897110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3b897110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3b897110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3b897110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23b897110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3b8971100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23b897110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23b897110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23b897110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3b8971100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3b897110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3b897110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3b897110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google.com/maps/place/450+Jane+Stanford+Way+Building+420,+Stanford,+CA+94305/@37.428577,-122.1710993,18z/data=!3m1!4b1!4m6!3m5!1s0x808fbb2a10d5e25b:0x2c1c871705fafdc6!8m2!3d37.428577!4d-122.1698118!16s%2Fg%2F11n09ckhrb" TargetMode="External"/><Relationship Id="rId10" Type="http://schemas.openxmlformats.org/officeDocument/2006/relationships/hyperlink" Target="https://www.google.com/maps/place/NVIDIA+Auditorium/@37.4281371,-122.173439,18.42z/data=!4m5!3m4!1s0x0:0xa6e8fc1a7a5f2c29!8m2!3d37.428168!4d-122.1742949?shorturl=1" TargetMode="External"/><Relationship Id="rId13" Type="http://schemas.openxmlformats.org/officeDocument/2006/relationships/hyperlink" Target="https://www.google.com/maps/place/William+R.+Hewlett+Teaching+Center,+370+Serra+Mall,+Stanford,+CA+94305/@37.4290361,-122.173371,18.55z/data=!4m5!3m4!1s0x808fbb2ae177cc91:0x5351ffed56456da8!8m2!3d37.428945!4d-122.1728377?shorturl=1" TargetMode="External"/><Relationship Id="rId12" Type="http://schemas.openxmlformats.org/officeDocument/2006/relationships/hyperlink" Target="https://www.google.com/maps/place/450+Jane+Stanford+Way+Building+420,+Stanford,+CA+94305/@37.428577,-122.1710993,18z/data=!3m1!4b1!4m6!3m5!1s0x808fbb2a10d5e25b:0x2c1c871705fafdc6!8m2!3d37.428577!4d-122.1698118!16s%2Fg%2F11n09ckhrb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maps/place/NVIDIA+Auditorium/@37.4281371,-122.173439,18.42z/data=!4m5!3m4!1s0x0:0xa6e8fc1a7a5f2c29!8m2!3d37.428168!4d-122.1742949?shorturl=1" TargetMode="External"/><Relationship Id="rId4" Type="http://schemas.openxmlformats.org/officeDocument/2006/relationships/hyperlink" Target="https://www.google.com/maps/place/NVIDIA+Auditorium/@37.4281371,-122.173439,18.42z/data=!4m5!3m4!1s0x0:0xa6e8fc1a7a5f2c29!8m2!3d37.428168!4d-122.1742949?shorturl=1" TargetMode="External"/><Relationship Id="rId9" Type="http://schemas.openxmlformats.org/officeDocument/2006/relationships/hyperlink" Target="https://www.google.com/maps/place/NVIDIA+Auditorium/@37.4281371,-122.173439,18.42z/data=!4m5!3m4!1s0x0:0xa6e8fc1a7a5f2c29!8m2!3d37.428168!4d-122.1742949?shorturl=1" TargetMode="External"/><Relationship Id="rId14" Type="http://schemas.openxmlformats.org/officeDocument/2006/relationships/hyperlink" Target="https://www.google.com/maps/place/William+R.+Hewlett+Teaching+Center,+370+Serra+Mall,+Stanford,+CA+94305/@37.4290361,-122.173371,18.55z/data=!4m5!3m4!1s0x808fbb2ae177cc91:0x5351ffed56456da8!8m2!3d37.428945!4d-122.1728377?shorturl=1" TargetMode="External"/><Relationship Id="rId5" Type="http://schemas.openxmlformats.org/officeDocument/2006/relationships/hyperlink" Target="https://www.google.com/maps/place/450+Jane+Stanford+Way+Building+420,+Stanford,+CA+94305/@37.428577,-122.1710993,18z/data=!3m1!4b1!4m6!3m5!1s0x808fbb2a10d5e25b:0x2c1c871705fafdc6!8m2!3d37.428577!4d-122.1698118!16s%2Fg%2F11n09ckhrb" TargetMode="External"/><Relationship Id="rId6" Type="http://schemas.openxmlformats.org/officeDocument/2006/relationships/hyperlink" Target="https://www.google.com/maps/place/450+Jane+Stanford+Way+Building+420,+Stanford,+CA+94305/@37.428577,-122.1710993,18z/data=!3m1!4b1!4m6!3m5!1s0x808fbb2a10d5e25b:0x2c1c871705fafdc6!8m2!3d37.428577!4d-122.1698118!16s%2Fg%2F11n09ckhrb" TargetMode="External"/><Relationship Id="rId7" Type="http://schemas.openxmlformats.org/officeDocument/2006/relationships/hyperlink" Target="https://www.google.com/maps/place/William+R.+Hewlett+Teaching+Center,+370+Serra+Mall,+Stanford,+CA+94305/@37.4290361,-122.173371,18.55z/data=!4m5!3m4!1s0x808fbb2ae177cc91:0x5351ffed56456da8!8m2!3d37.428945!4d-122.1728377?shorturl=1" TargetMode="External"/><Relationship Id="rId8" Type="http://schemas.openxmlformats.org/officeDocument/2006/relationships/hyperlink" Target="https://www.google.com/maps/place/William+R.+Hewlett+Teaching+Center,+370+Serra+Mall,+Stanford,+CA+94305/@37.4290361,-122.173371,18.55z/data=!4m5!3m4!1s0x808fbb2ae177cc91:0x5351ffed56456da8!8m2!3d37.428945!4d-122.1728377?shorturl=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owardsdatascience.com/transformers-explained-visually-part-1-overview-of-functionality-95a6dd460452#:~:text=The%20flow%20of%20data%20during%20Inference%20is%3A,representation%20of%20the%20input%20sequence.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youtube.com/watch?v=ilYd4TAzNoU" TargetMode="External"/><Relationship Id="rId4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231N Midterm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Logistics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Choice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True/False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Answer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emphasis on topics covered earlier in the course than those discussed more recently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 is more on high-level understanding of concepts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many layers in a ResNet?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</a:t>
            </a:r>
            <a:r>
              <a:rPr lang="en"/>
              <a:t>problem</a:t>
            </a:r>
            <a:r>
              <a:rPr lang="en"/>
              <a:t> does the ResNet solve and how?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3612700" y="3613300"/>
            <a:ext cx="418500" cy="449100"/>
          </a:xfrm>
          <a:prstGeom prst="mathMultiply">
            <a:avLst>
              <a:gd fmla="val 23520" name="adj1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8977" l="22029" r="23308" t="23385"/>
          <a:stretch/>
        </p:blipFill>
        <p:spPr>
          <a:xfrm>
            <a:off x="5334000" y="3999825"/>
            <a:ext cx="693975" cy="65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Logistics…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-311150" lvl="1" marL="628650" rtl="0" algn="l">
              <a:spcBef>
                <a:spcPts val="11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The midterm exam will take place at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12:00 - 1:20pm PT on Tuesday, May 16 in person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at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4"/>
              </a:rPr>
              <a:t>NVIDIA Auditorium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,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6"/>
              </a:rPr>
              <a:t>420-040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, and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8"/>
              </a:rPr>
              <a:t>Hewlett 200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If your last name begins with a letter between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A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and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G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(inclusive), you will take the exam at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10"/>
              </a:rPr>
              <a:t>NVIDIA Auditorium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If your last name begins with a letter between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H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and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M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(inclusive), you will take the exam at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12"/>
              </a:rPr>
              <a:t>420-040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If your last name begins with a letter between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N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and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Z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 (inclusive), you will take the exam at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32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14"/>
              </a:rPr>
              <a:t>Hewlett 200</a:t>
            </a: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Closed-book, no internet. One double-sided cheat sheet (written or typed)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The exam may cover material from Assignments 1 and 2 and all lectures up to and including Lecture 12 (Visualizing and Understanding).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6286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○"/>
            </a:pPr>
            <a:r>
              <a:rPr lang="en" sz="3250">
                <a:solidFill>
                  <a:srgbClr val="222222"/>
                </a:solidFill>
                <a:highlight>
                  <a:srgbClr val="FFFFFF"/>
                </a:highlight>
              </a:rPr>
              <a:t>You will have 80 minutes to complete the exam. The exam will start immediately at 12:00pm. </a:t>
            </a:r>
            <a:r>
              <a:rPr b="1" lang="en" sz="3250">
                <a:solidFill>
                  <a:srgbClr val="222222"/>
                </a:solidFill>
                <a:highlight>
                  <a:srgbClr val="FFFFFF"/>
                </a:highlight>
              </a:rPr>
              <a:t>If you arrive late, you will not be given additional time.</a:t>
            </a:r>
            <a:endParaRPr sz="32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Review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500" y="1108900"/>
            <a:ext cx="307851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Transformers &amp; Attention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RNNs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 Propagation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Optimizers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CNNs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Normalization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Regularization Techniques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Attention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800" y="1139500"/>
            <a:ext cx="485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0" l="0" r="0" t="11574"/>
          <a:stretch/>
        </p:blipFill>
        <p:spPr>
          <a:xfrm>
            <a:off x="1806013" y="938700"/>
            <a:ext cx="5531975" cy="42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250" y="1180325"/>
            <a:ext cx="535084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Decoder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150" y="1017725"/>
            <a:ext cx="268451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Layer Transformer Example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4768625"/>
            <a:ext cx="85206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Credit: </a:t>
            </a:r>
            <a:r>
              <a:rPr lang="en" u="sng">
                <a:solidFill>
                  <a:schemeClr val="hlink"/>
                </a:solidFill>
                <a:hlinkClick r:id="rId3"/>
              </a:rPr>
              <a:t>Medium</a:t>
            </a:r>
            <a:r>
              <a:rPr lang="en"/>
              <a:t> article by Ketan Doshi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9350" y="1119100"/>
            <a:ext cx="4637741" cy="34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RNNs</a:t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4700"/>
            <a:ext cx="8839199" cy="1938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1200725"/>
            <a:ext cx="5781675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1200725"/>
            <a:ext cx="578167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3352800" y="11695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z</a:t>
            </a:r>
            <a:endParaRPr b="1" sz="2300"/>
          </a:p>
        </p:txBody>
      </p:sp>
      <p:sp>
        <p:nvSpPr>
          <p:cNvPr id="131" name="Google Shape;131;p25"/>
          <p:cNvSpPr txBox="1"/>
          <p:nvPr/>
        </p:nvSpPr>
        <p:spPr>
          <a:xfrm>
            <a:off x="4331850" y="17083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a</a:t>
            </a:r>
            <a:endParaRPr b="1" sz="2300"/>
          </a:p>
        </p:txBody>
      </p:sp>
      <p:sp>
        <p:nvSpPr>
          <p:cNvPr id="132" name="Google Shape;132;p25"/>
          <p:cNvSpPr txBox="1"/>
          <p:nvPr/>
        </p:nvSpPr>
        <p:spPr>
          <a:xfrm>
            <a:off x="5310900" y="17124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m</a:t>
            </a:r>
            <a:endParaRPr b="1" sz="2300"/>
          </a:p>
        </p:txBody>
      </p:sp>
      <p:sp>
        <p:nvSpPr>
          <p:cNvPr id="133" name="Google Shape;133;p25"/>
          <p:cNvSpPr txBox="1"/>
          <p:nvPr/>
        </p:nvSpPr>
        <p:spPr>
          <a:xfrm>
            <a:off x="6377700" y="2398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L</a:t>
            </a:r>
            <a:endParaRPr b="1" sz="2300"/>
          </a:p>
        </p:txBody>
      </p:sp>
      <p:sp>
        <p:nvSpPr>
          <p:cNvPr id="134" name="Google Shape;134;p25"/>
          <p:cNvSpPr txBox="1"/>
          <p:nvPr/>
        </p:nvSpPr>
        <p:spPr>
          <a:xfrm>
            <a:off x="3493000" y="3946050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n</a:t>
            </a:r>
            <a:endParaRPr b="1" sz="2300"/>
          </a:p>
        </p:txBody>
      </p:sp>
      <p:sp>
        <p:nvSpPr>
          <p:cNvPr id="135" name="Google Shape;135;p25"/>
          <p:cNvSpPr txBox="1"/>
          <p:nvPr/>
        </p:nvSpPr>
        <p:spPr>
          <a:xfrm>
            <a:off x="4777500" y="3922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p</a:t>
            </a:r>
            <a:endParaRPr b="1"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1200725"/>
            <a:ext cx="578167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352800" y="11695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z</a:t>
            </a:r>
            <a:endParaRPr b="1" sz="2300"/>
          </a:p>
        </p:txBody>
      </p:sp>
      <p:sp>
        <p:nvSpPr>
          <p:cNvPr id="143" name="Google Shape;143;p26"/>
          <p:cNvSpPr txBox="1"/>
          <p:nvPr/>
        </p:nvSpPr>
        <p:spPr>
          <a:xfrm>
            <a:off x="4331850" y="17083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a</a:t>
            </a:r>
            <a:endParaRPr b="1" sz="2300"/>
          </a:p>
        </p:txBody>
      </p:sp>
      <p:sp>
        <p:nvSpPr>
          <p:cNvPr id="144" name="Google Shape;144;p26"/>
          <p:cNvSpPr txBox="1"/>
          <p:nvPr/>
        </p:nvSpPr>
        <p:spPr>
          <a:xfrm>
            <a:off x="5310900" y="17124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m</a:t>
            </a:r>
            <a:endParaRPr b="1" sz="2300"/>
          </a:p>
        </p:txBody>
      </p:sp>
      <p:sp>
        <p:nvSpPr>
          <p:cNvPr id="145" name="Google Shape;145;p26"/>
          <p:cNvSpPr txBox="1"/>
          <p:nvPr/>
        </p:nvSpPr>
        <p:spPr>
          <a:xfrm>
            <a:off x="6377700" y="2398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L</a:t>
            </a:r>
            <a:endParaRPr b="1" sz="2300"/>
          </a:p>
        </p:txBody>
      </p:sp>
      <p:sp>
        <p:nvSpPr>
          <p:cNvPr id="146" name="Google Shape;146;p26"/>
          <p:cNvSpPr txBox="1"/>
          <p:nvPr/>
        </p:nvSpPr>
        <p:spPr>
          <a:xfrm>
            <a:off x="3493000" y="3946050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n</a:t>
            </a:r>
            <a:endParaRPr b="1" sz="2300"/>
          </a:p>
        </p:txBody>
      </p:sp>
      <p:sp>
        <p:nvSpPr>
          <p:cNvPr id="147" name="Google Shape;147;p26"/>
          <p:cNvSpPr txBox="1"/>
          <p:nvPr/>
        </p:nvSpPr>
        <p:spPr>
          <a:xfrm>
            <a:off x="4777500" y="3922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p</a:t>
            </a:r>
            <a:endParaRPr b="1" sz="2300"/>
          </a:p>
        </p:txBody>
      </p:sp>
      <p:sp>
        <p:nvSpPr>
          <p:cNvPr id="148" name="Google Shape;148;p26"/>
          <p:cNvSpPr txBox="1"/>
          <p:nvPr/>
        </p:nvSpPr>
        <p:spPr>
          <a:xfrm>
            <a:off x="5310900" y="2550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49" name="Google Shape;149;p26"/>
          <p:cNvSpPr txBox="1"/>
          <p:nvPr/>
        </p:nvSpPr>
        <p:spPr>
          <a:xfrm>
            <a:off x="4320300" y="2550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50" name="Google Shape;150;p26"/>
          <p:cNvSpPr txBox="1"/>
          <p:nvPr/>
        </p:nvSpPr>
        <p:spPr>
          <a:xfrm>
            <a:off x="3405900" y="18648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51" name="Google Shape;151;p26"/>
          <p:cNvSpPr txBox="1"/>
          <p:nvPr/>
        </p:nvSpPr>
        <p:spPr>
          <a:xfrm>
            <a:off x="2262900" y="15600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2</a:t>
            </a:r>
            <a:endParaRPr b="1" sz="2300"/>
          </a:p>
        </p:txBody>
      </p:sp>
      <p:sp>
        <p:nvSpPr>
          <p:cNvPr id="152" name="Google Shape;152;p26"/>
          <p:cNvSpPr txBox="1"/>
          <p:nvPr/>
        </p:nvSpPr>
        <p:spPr>
          <a:xfrm>
            <a:off x="2262900" y="2169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4</a:t>
            </a:r>
            <a:endParaRPr b="1" sz="2300"/>
          </a:p>
        </p:txBody>
      </p:sp>
      <p:sp>
        <p:nvSpPr>
          <p:cNvPr id="153" name="Google Shape;153;p26"/>
          <p:cNvSpPr txBox="1"/>
          <p:nvPr/>
        </p:nvSpPr>
        <p:spPr>
          <a:xfrm>
            <a:off x="2262900" y="27030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1200725"/>
            <a:ext cx="578167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3352800" y="11695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z</a:t>
            </a:r>
            <a:endParaRPr b="1" sz="2300"/>
          </a:p>
        </p:txBody>
      </p:sp>
      <p:sp>
        <p:nvSpPr>
          <p:cNvPr id="161" name="Google Shape;161;p27"/>
          <p:cNvSpPr txBox="1"/>
          <p:nvPr/>
        </p:nvSpPr>
        <p:spPr>
          <a:xfrm>
            <a:off x="4331850" y="17083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a</a:t>
            </a:r>
            <a:endParaRPr b="1" sz="2300"/>
          </a:p>
        </p:txBody>
      </p:sp>
      <p:sp>
        <p:nvSpPr>
          <p:cNvPr id="162" name="Google Shape;162;p27"/>
          <p:cNvSpPr txBox="1"/>
          <p:nvPr/>
        </p:nvSpPr>
        <p:spPr>
          <a:xfrm>
            <a:off x="5310900" y="17124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m</a:t>
            </a:r>
            <a:endParaRPr b="1" sz="2300"/>
          </a:p>
        </p:txBody>
      </p:sp>
      <p:sp>
        <p:nvSpPr>
          <p:cNvPr id="163" name="Google Shape;163;p27"/>
          <p:cNvSpPr txBox="1"/>
          <p:nvPr/>
        </p:nvSpPr>
        <p:spPr>
          <a:xfrm>
            <a:off x="6377700" y="2398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L</a:t>
            </a:r>
            <a:endParaRPr b="1" sz="2300"/>
          </a:p>
        </p:txBody>
      </p:sp>
      <p:sp>
        <p:nvSpPr>
          <p:cNvPr id="164" name="Google Shape;164;p27"/>
          <p:cNvSpPr txBox="1"/>
          <p:nvPr/>
        </p:nvSpPr>
        <p:spPr>
          <a:xfrm>
            <a:off x="3493000" y="3946050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n</a:t>
            </a:r>
            <a:endParaRPr b="1" sz="2300"/>
          </a:p>
        </p:txBody>
      </p:sp>
      <p:sp>
        <p:nvSpPr>
          <p:cNvPr id="165" name="Google Shape;165;p27"/>
          <p:cNvSpPr txBox="1"/>
          <p:nvPr/>
        </p:nvSpPr>
        <p:spPr>
          <a:xfrm>
            <a:off x="4777500" y="3922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p</a:t>
            </a:r>
            <a:endParaRPr b="1" sz="2300"/>
          </a:p>
        </p:txBody>
      </p:sp>
      <p:sp>
        <p:nvSpPr>
          <p:cNvPr id="166" name="Google Shape;166;p27"/>
          <p:cNvSpPr txBox="1"/>
          <p:nvPr/>
        </p:nvSpPr>
        <p:spPr>
          <a:xfrm>
            <a:off x="5310900" y="2550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67" name="Google Shape;167;p27"/>
          <p:cNvSpPr txBox="1"/>
          <p:nvPr/>
        </p:nvSpPr>
        <p:spPr>
          <a:xfrm>
            <a:off x="4320300" y="2550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68" name="Google Shape;168;p27"/>
          <p:cNvSpPr txBox="1"/>
          <p:nvPr/>
        </p:nvSpPr>
        <p:spPr>
          <a:xfrm>
            <a:off x="3405900" y="18648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69" name="Google Shape;169;p27"/>
          <p:cNvSpPr txBox="1"/>
          <p:nvPr/>
        </p:nvSpPr>
        <p:spPr>
          <a:xfrm>
            <a:off x="2262900" y="15600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2</a:t>
            </a:r>
            <a:endParaRPr b="1" sz="2300"/>
          </a:p>
        </p:txBody>
      </p:sp>
      <p:sp>
        <p:nvSpPr>
          <p:cNvPr id="170" name="Google Shape;170;p27"/>
          <p:cNvSpPr txBox="1"/>
          <p:nvPr/>
        </p:nvSpPr>
        <p:spPr>
          <a:xfrm>
            <a:off x="2262900" y="21696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4</a:t>
            </a:r>
            <a:endParaRPr b="1" sz="2300"/>
          </a:p>
        </p:txBody>
      </p:sp>
      <p:sp>
        <p:nvSpPr>
          <p:cNvPr id="171" name="Google Shape;171;p27"/>
          <p:cNvSpPr txBox="1"/>
          <p:nvPr/>
        </p:nvSpPr>
        <p:spPr>
          <a:xfrm>
            <a:off x="2262900" y="27030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</a:t>
            </a:r>
            <a:endParaRPr b="1" sz="2300"/>
          </a:p>
        </p:txBody>
      </p:sp>
      <p:sp>
        <p:nvSpPr>
          <p:cNvPr id="172" name="Google Shape;172;p27"/>
          <p:cNvSpPr txBox="1"/>
          <p:nvPr/>
        </p:nvSpPr>
        <p:spPr>
          <a:xfrm>
            <a:off x="4777500" y="3541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0</a:t>
            </a:r>
            <a:endParaRPr b="1" sz="2300"/>
          </a:p>
        </p:txBody>
      </p:sp>
      <p:sp>
        <p:nvSpPr>
          <p:cNvPr id="173" name="Google Shape;173;p27"/>
          <p:cNvSpPr txBox="1"/>
          <p:nvPr/>
        </p:nvSpPr>
        <p:spPr>
          <a:xfrm>
            <a:off x="3405900" y="3541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0</a:t>
            </a:r>
            <a:endParaRPr b="1" sz="2300"/>
          </a:p>
        </p:txBody>
      </p:sp>
      <p:sp>
        <p:nvSpPr>
          <p:cNvPr id="174" name="Google Shape;174;p27"/>
          <p:cNvSpPr txBox="1"/>
          <p:nvPr/>
        </p:nvSpPr>
        <p:spPr>
          <a:xfrm>
            <a:off x="2262900" y="3541225"/>
            <a:ext cx="306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0</a:t>
            </a:r>
            <a:endParaRPr b="1" sz="2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Optimizers</a:t>
            </a:r>
            <a:endParaRPr/>
          </a:p>
        </p:txBody>
      </p:sp>
      <p:graphicFrame>
        <p:nvGraphicFramePr>
          <p:cNvPr id="180" name="Google Shape;180;p28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{05A17D60-C401-4B92-81E3-DA25018A64B6}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Per-Parameter Learning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Momentum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SGD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SGD + Momentum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AdaGrad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RMSProp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175" y="1973800"/>
            <a:ext cx="32861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2011900"/>
            <a:ext cx="36766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AdaGrad - Learning Rate Scaling (No momentum)</a:t>
            </a:r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1813050"/>
            <a:ext cx="78009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RMSProp - Slowing down scaling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64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- Momentum + RMSProp</a:t>
            </a:r>
            <a:endParaRPr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0475"/>
            <a:ext cx="8839201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pic>
        <p:nvPicPr>
          <p:cNvPr descr="5 gradient descent methods (gradient descent, momentum, adagrad, rmsprop &amp; adam) racing down a terrain with two hills. &#10;&#10;Software: https://github.com/lilipads/gradient_descent_viz&#10;Blog Post: https://towardsdatascience.com/a-visual-explanation-of-gradient-descent-methods-momentum-adagrad-rmsprop-adam-f898b102325c" id="211" name="Google Shape;211;p33" title="Gradient descent visualization - hill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400" y="1086125"/>
            <a:ext cx="6975600" cy="39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>
            <p:ph type="title"/>
          </p:nvPr>
        </p:nvSpPr>
        <p:spPr>
          <a:xfrm>
            <a:off x="92100" y="4437200"/>
            <a:ext cx="117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Video: Lily Jiang</a:t>
            </a:r>
            <a:endParaRPr sz="172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</a:t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4192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 txBox="1"/>
          <p:nvPr/>
        </p:nvSpPr>
        <p:spPr>
          <a:xfrm>
            <a:off x="4837350" y="1580475"/>
            <a:ext cx="3347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filter has the same number of channels as the input image.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filter outputs just a one channel feature image.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Therefore, the total number of channels in the output vector is the same as the number of filters.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</a:t>
            </a:r>
            <a:endParaRPr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4192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/>
        </p:nvSpPr>
        <p:spPr>
          <a:xfrm>
            <a:off x="4837350" y="1580475"/>
            <a:ext cx="3347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learnable parameters are the weights and biases.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filter has one bias, that is applied to all channels.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an input image with C channels, N filters, each of size (FxF), the layer has N*(C*(F*F) + 1) learnable parameters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</a:t>
            </a:r>
            <a:endParaRPr/>
          </a:p>
        </p:txBody>
      </p:sp>
      <p:pic>
        <p:nvPicPr>
          <p:cNvPr id="232" name="Google Shape;2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4192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4837350" y="1580475"/>
            <a:ext cx="3347400" cy="3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Shape: (C,H,W)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specifies: N filters, each of shape (FxF). Padding P, and Stride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Shape: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(N, H’, W’)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W’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=(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−F+2P)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S+1</a:t>
            </a:r>
            <a:endParaRPr sz="14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H’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=(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−F+2P)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S+1</a:t>
            </a:r>
            <a:endParaRPr sz="14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Note: Image on the left has Stride=2</a:t>
            </a:r>
            <a:endParaRPr sz="14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 vs LayerNorm</a:t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Normalize across all data-points in the batch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Normalize across the features of each data-point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shape: (N, 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Normalizes across 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Normalizes across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 vs LayerNorm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Normalize across all data-points in the batch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Normalize across the features of each data-point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shape: (N, C, H, 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</a:t>
            </a:r>
            <a:r>
              <a:rPr b="1" lang="en"/>
              <a:t>Normalizes across N*H*W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(calculates mean and var for each channel, across all images in the batch)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</a:t>
            </a:r>
            <a:r>
              <a:rPr b="1" lang="en"/>
              <a:t>Normalizes across C*H*W</a:t>
            </a:r>
            <a:r>
              <a:rPr lang="en"/>
              <a:t> (calculates mean and var for each image, across all pixels in all channels)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 vs LayerNorm</a:t>
            </a:r>
            <a:endParaRPr/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shape: (N, C, H, 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</a:t>
            </a:r>
            <a:r>
              <a:rPr b="1" lang="en"/>
              <a:t>Normalizes across N*H*W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(calculates mean and var for each channel, across all images in the batch)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</a:t>
            </a:r>
            <a:r>
              <a:rPr b="1" lang="en"/>
              <a:t>Normalizes across C*H*W</a:t>
            </a:r>
            <a:r>
              <a:rPr lang="en"/>
              <a:t> (calculates mean and var for each image, across all channels)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size of their learnable parameters?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 vs LayerNorm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shape: (N, C, H, 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</a:t>
            </a:r>
            <a:r>
              <a:rPr b="1" lang="en"/>
              <a:t>Normalizes across N*H*W</a:t>
            </a:r>
            <a:r>
              <a:rPr lang="en"/>
              <a:t> (reshape (N*H*W, C))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(calculates mean and var for each channel, across all images in the batch)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</a:t>
            </a:r>
            <a:r>
              <a:rPr b="1" lang="en"/>
              <a:t>Normalizes across C*H*W</a:t>
            </a:r>
            <a:r>
              <a:rPr lang="en"/>
              <a:t>  (reshape (N, C*H*W))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(calculates mean and var for each image, across all channels)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size of their learnable parameters?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BatchNorm: </a:t>
            </a:r>
            <a:r>
              <a:rPr b="1" lang="en"/>
              <a:t>C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LayerNorm: </a:t>
            </a:r>
            <a:r>
              <a:rPr b="1" lang="en"/>
              <a:t>(C*H*W)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BatchNorm vs LayerNorm</a:t>
            </a:r>
            <a:endParaRPr/>
          </a:p>
        </p:txBody>
      </p:sp>
      <p:sp>
        <p:nvSpPr>
          <p:cNvPr id="263" name="Google Shape;26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important difference: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BatchNorm </a:t>
            </a:r>
            <a:r>
              <a:rPr lang="en"/>
              <a:t>calculates the mean and var across the batch, and stores a running average which is used during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LayerNorm </a:t>
            </a:r>
            <a:r>
              <a:rPr lang="en"/>
              <a:t>performs the same during test and train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Regularization / Training a Neural Network</a:t>
            </a:r>
            <a:endParaRPr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L1 and L2 Regularization penalize the size of weights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Dropout adds redundancies to learned parameters</a:t>
            </a:r>
            <a:endParaRPr/>
          </a:p>
        </p:txBody>
      </p:sp>
      <p:pic>
        <p:nvPicPr>
          <p:cNvPr id="270" name="Google Shape;27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375" y="1892750"/>
            <a:ext cx="584835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