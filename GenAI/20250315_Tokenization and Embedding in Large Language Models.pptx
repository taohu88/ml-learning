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 id="2580" r:id="rId21"/>
    <p:sldId id="2581" r:id="rId22"/>
    <p:sldId id="2582" r:id="rId23"/>
    <p:sldId id="258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kenization and Embedding in Large Language Models: Techniques and Applications" id="{DB964AEA-9D8C-4BF0-919C-AFBF6998C4AC}">
          <p14:sldIdLst>
            <p14:sldId id="2561"/>
            <p14:sldId id="2562"/>
          </p14:sldIdLst>
        </p14:section>
        <p14:section name="Introduction to Large Language Models (LLMs)" id="{139C263C-0DB6-47B6-99E4-42B4D6CDEC8B}">
          <p14:sldIdLst>
            <p14:sldId id="2563"/>
            <p14:sldId id="2564"/>
            <p14:sldId id="2565"/>
            <p14:sldId id="2566"/>
          </p14:sldIdLst>
        </p14:section>
        <p14:section name="Understanding Tokenization" id="{21BA0533-FCE4-438E-8A1D-968B8741FE10}">
          <p14:sldIdLst>
            <p14:sldId id="2567"/>
            <p14:sldId id="2568"/>
            <p14:sldId id="2569"/>
            <p14:sldId id="2570"/>
          </p14:sldIdLst>
        </p14:section>
        <p14:section name="Embedding Techniques" id="{FA4EF056-00BF-4E02-95BE-F34676C9B4B0}">
          <p14:sldIdLst>
            <p14:sldId id="2571"/>
            <p14:sldId id="2572"/>
            <p14:sldId id="2573"/>
            <p14:sldId id="2574"/>
          </p14:sldIdLst>
        </p14:section>
        <p14:section name="Integration of Tokenization and Embedding in LLMs" id="{A7F26D5B-B4C6-4660-AFD3-E2046A1F6C08}">
          <p14:sldIdLst>
            <p14:sldId id="2575"/>
            <p14:sldId id="2576"/>
            <p14:sldId id="2577"/>
            <p14:sldId id="2578"/>
          </p14:sldIdLst>
        </p14:section>
        <p14:section name="Applications and Implications" id="{EF9D9C7C-9AB4-4844-A394-89F610AFAC53}">
          <p14:sldIdLst>
            <p14:sldId id="2579"/>
            <p14:sldId id="2580"/>
            <p14:sldId id="2581"/>
            <p14:sldId id="2582"/>
          </p14:sldIdLst>
        </p14:section>
        <p14:section name="Conclusion" id="{9B9054B4-363F-49BF-A21C-EA380EFA19ED}">
          <p14:sldIdLst>
            <p14:sldId id="258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11" autoAdjust="0"/>
    <p:restoredTop sz="94660"/>
  </p:normalViewPr>
  <p:slideViewPr>
    <p:cSldViewPr snapToGrid="0">
      <p:cViewPr varScale="1">
        <p:scale>
          <a:sx n="90" d="100"/>
          <a:sy n="90" d="100"/>
        </p:scale>
        <p:origin x="82" y="499"/>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diagrams/_rels/data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image" Target="../media/image13.jpeg"/></Relationships>
</file>

<file path=ppt/diagrams/_rels/data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image" Target="../media/image21.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image" Target="../media/image13.jpeg"/></Relationships>
</file>

<file path=ppt/diagrams/_rels/drawing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image" Target="../media/image21.jpe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F4F30B8-9B43-47E4-9752-76C32B2D991D}"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en-US"/>
        </a:p>
      </dgm:t>
    </dgm:pt>
    <dgm:pt modelId="{A510185B-6C4D-4FE2-A9B8-5D1D15E4B2A8}">
      <dgm:prSet/>
      <dgm:spPr/>
      <dgm:t>
        <a:bodyPr/>
        <a:lstStyle/>
        <a:p>
          <a:pPr>
            <a:lnSpc>
              <a:spcPct val="100000"/>
            </a:lnSpc>
            <a:defRPr b="1"/>
          </a:pPr>
          <a:r>
            <a:rPr lang="en-US"/>
            <a:t>Word Tokenization</a:t>
          </a:r>
        </a:p>
      </dgm:t>
    </dgm:pt>
    <dgm:pt modelId="{E0A53DFF-32D9-435B-896A-D8ABE474A8B0}" type="parTrans" cxnId="{8526E90E-6FA9-4AA7-A62A-E2C6721CD942}">
      <dgm:prSet/>
      <dgm:spPr/>
      <dgm:t>
        <a:bodyPr/>
        <a:lstStyle/>
        <a:p>
          <a:endParaRPr lang="en-US"/>
        </a:p>
      </dgm:t>
    </dgm:pt>
    <dgm:pt modelId="{B650E501-670A-4139-A93B-318DA63FB32F}" type="sibTrans" cxnId="{8526E90E-6FA9-4AA7-A62A-E2C6721CD942}">
      <dgm:prSet/>
      <dgm:spPr/>
      <dgm:t>
        <a:bodyPr/>
        <a:lstStyle/>
        <a:p>
          <a:pPr>
            <a:lnSpc>
              <a:spcPct val="100000"/>
            </a:lnSpc>
            <a:defRPr b="1"/>
          </a:pPr>
          <a:endParaRPr lang="en-US"/>
        </a:p>
      </dgm:t>
    </dgm:pt>
    <dgm:pt modelId="{CD3996B0-C309-453C-92B4-9116A39179AC}">
      <dgm:prSet/>
      <dgm:spPr/>
      <dgm:t>
        <a:bodyPr/>
        <a:lstStyle/>
        <a:p>
          <a:pPr>
            <a:lnSpc>
              <a:spcPct val="100000"/>
            </a:lnSpc>
          </a:pPr>
          <a:r>
            <a:rPr lang="en-US"/>
            <a:t>Word tokenization is the process of splitting text into individual words. It is commonly used in many natural language processing tasks.</a:t>
          </a:r>
        </a:p>
      </dgm:t>
    </dgm:pt>
    <dgm:pt modelId="{9A8CB26F-2D7E-42A4-8FAF-A4C195F27D55}" type="parTrans" cxnId="{D18AF245-E85A-483D-BB11-24764AD674C1}">
      <dgm:prSet/>
      <dgm:spPr/>
      <dgm:t>
        <a:bodyPr/>
        <a:lstStyle/>
        <a:p>
          <a:endParaRPr lang="en-US"/>
        </a:p>
      </dgm:t>
    </dgm:pt>
    <dgm:pt modelId="{4288BBB4-3270-4807-88A4-813BBB367436}" type="sibTrans" cxnId="{D18AF245-E85A-483D-BB11-24764AD674C1}">
      <dgm:prSet/>
      <dgm:spPr/>
      <dgm:t>
        <a:bodyPr/>
        <a:lstStyle/>
        <a:p>
          <a:endParaRPr lang="en-US"/>
        </a:p>
      </dgm:t>
    </dgm:pt>
    <dgm:pt modelId="{CF7C45BD-F91C-40C0-AEA0-A38795B63871}">
      <dgm:prSet/>
      <dgm:spPr/>
      <dgm:t>
        <a:bodyPr/>
        <a:lstStyle/>
        <a:p>
          <a:pPr>
            <a:lnSpc>
              <a:spcPct val="100000"/>
            </a:lnSpc>
            <a:defRPr b="1"/>
          </a:pPr>
          <a:r>
            <a:rPr lang="en-US"/>
            <a:t>Subword Tokenization</a:t>
          </a:r>
        </a:p>
      </dgm:t>
    </dgm:pt>
    <dgm:pt modelId="{89F57519-0937-4803-BEF4-C4F1D108EF8B}" type="parTrans" cxnId="{0951EE2A-1900-47BC-AB23-EE8231F0466D}">
      <dgm:prSet/>
      <dgm:spPr/>
      <dgm:t>
        <a:bodyPr/>
        <a:lstStyle/>
        <a:p>
          <a:endParaRPr lang="en-US"/>
        </a:p>
      </dgm:t>
    </dgm:pt>
    <dgm:pt modelId="{E3C5953E-828C-4706-A298-E6DB0052E94F}" type="sibTrans" cxnId="{0951EE2A-1900-47BC-AB23-EE8231F0466D}">
      <dgm:prSet/>
      <dgm:spPr/>
      <dgm:t>
        <a:bodyPr/>
        <a:lstStyle/>
        <a:p>
          <a:pPr>
            <a:lnSpc>
              <a:spcPct val="100000"/>
            </a:lnSpc>
            <a:defRPr b="1"/>
          </a:pPr>
          <a:endParaRPr lang="en-US"/>
        </a:p>
      </dgm:t>
    </dgm:pt>
    <dgm:pt modelId="{985A5A3F-4E04-4277-8449-068376F20B4C}">
      <dgm:prSet/>
      <dgm:spPr/>
      <dgm:t>
        <a:bodyPr/>
        <a:lstStyle/>
        <a:p>
          <a:pPr>
            <a:lnSpc>
              <a:spcPct val="100000"/>
            </a:lnSpc>
          </a:pPr>
          <a:r>
            <a:rPr lang="en-US"/>
            <a:t>Subword tokenization involves breaking down words into smaller units or subwords, improving efficiency in handling rare words.</a:t>
          </a:r>
        </a:p>
      </dgm:t>
    </dgm:pt>
    <dgm:pt modelId="{080DCF0B-FDFD-4D9D-B71B-7D470D4DC851}" type="parTrans" cxnId="{3F2FFE9D-1189-4B32-9557-C67E206B6923}">
      <dgm:prSet/>
      <dgm:spPr/>
      <dgm:t>
        <a:bodyPr/>
        <a:lstStyle/>
        <a:p>
          <a:endParaRPr lang="en-US"/>
        </a:p>
      </dgm:t>
    </dgm:pt>
    <dgm:pt modelId="{89B1058C-F3EB-417C-8C86-071C8EAA8F50}" type="sibTrans" cxnId="{3F2FFE9D-1189-4B32-9557-C67E206B6923}">
      <dgm:prSet/>
      <dgm:spPr/>
      <dgm:t>
        <a:bodyPr/>
        <a:lstStyle/>
        <a:p>
          <a:endParaRPr lang="en-US"/>
        </a:p>
      </dgm:t>
    </dgm:pt>
    <dgm:pt modelId="{32D6FB24-9767-4869-9F41-C90E0AC0D888}">
      <dgm:prSet/>
      <dgm:spPr/>
      <dgm:t>
        <a:bodyPr/>
        <a:lstStyle/>
        <a:p>
          <a:pPr>
            <a:lnSpc>
              <a:spcPct val="100000"/>
            </a:lnSpc>
            <a:defRPr b="1"/>
          </a:pPr>
          <a:r>
            <a:rPr lang="en-US"/>
            <a:t>Character Tokenization</a:t>
          </a:r>
        </a:p>
      </dgm:t>
    </dgm:pt>
    <dgm:pt modelId="{E038D11C-E1A0-4C5C-AE1F-760096071CBC}" type="parTrans" cxnId="{A72FD20B-5F67-4051-A277-C5A51FFCB5F6}">
      <dgm:prSet/>
      <dgm:spPr/>
      <dgm:t>
        <a:bodyPr/>
        <a:lstStyle/>
        <a:p>
          <a:endParaRPr lang="en-US"/>
        </a:p>
      </dgm:t>
    </dgm:pt>
    <dgm:pt modelId="{44BF2A19-13EB-41C0-8814-1E72ACDE5B24}" type="sibTrans" cxnId="{A72FD20B-5F67-4051-A277-C5A51FFCB5F6}">
      <dgm:prSet/>
      <dgm:spPr/>
      <dgm:t>
        <a:bodyPr/>
        <a:lstStyle/>
        <a:p>
          <a:endParaRPr lang="en-US"/>
        </a:p>
      </dgm:t>
    </dgm:pt>
    <dgm:pt modelId="{E3FDB175-2FCE-41AC-9F3C-6B1FB126CB59}">
      <dgm:prSet/>
      <dgm:spPr/>
      <dgm:t>
        <a:bodyPr/>
        <a:lstStyle/>
        <a:p>
          <a:pPr>
            <a:lnSpc>
              <a:spcPct val="100000"/>
            </a:lnSpc>
          </a:pPr>
          <a:r>
            <a:rPr lang="en-US"/>
            <a:t>Character tokenization splits text into individual characters. It is useful for languages with complex word formations and for certain machine learning models.</a:t>
          </a:r>
        </a:p>
      </dgm:t>
    </dgm:pt>
    <dgm:pt modelId="{A99EB1AC-096A-4D30-B57D-000D9DB4F268}" type="parTrans" cxnId="{FB1B690E-2B7A-42BC-BEA3-8D38B13DAA9E}">
      <dgm:prSet/>
      <dgm:spPr/>
      <dgm:t>
        <a:bodyPr/>
        <a:lstStyle/>
        <a:p>
          <a:endParaRPr lang="en-US"/>
        </a:p>
      </dgm:t>
    </dgm:pt>
    <dgm:pt modelId="{29DC33BA-AE8A-491B-A682-B0417E2AF9C6}" type="sibTrans" cxnId="{FB1B690E-2B7A-42BC-BEA3-8D38B13DAA9E}">
      <dgm:prSet/>
      <dgm:spPr/>
      <dgm:t>
        <a:bodyPr/>
        <a:lstStyle/>
        <a:p>
          <a:endParaRPr lang="en-US"/>
        </a:p>
      </dgm:t>
    </dgm:pt>
    <dgm:pt modelId="{1D610F5B-E1B1-4D43-B4BC-2089E8B503A0}" type="pres">
      <dgm:prSet presAssocID="{DF4F30B8-9B43-47E4-9752-76C32B2D991D}" presName="Root" presStyleCnt="0">
        <dgm:presLayoutVars>
          <dgm:dir/>
          <dgm:resizeHandles val="exact"/>
        </dgm:presLayoutVars>
      </dgm:prSet>
      <dgm:spPr/>
    </dgm:pt>
    <dgm:pt modelId="{04248B57-3EFA-4A5D-A118-4B8F1A6DB904}" type="pres">
      <dgm:prSet presAssocID="{A510185B-6C4D-4FE2-A9B8-5D1D15E4B2A8}" presName="Composite" presStyleCnt="0"/>
      <dgm:spPr/>
    </dgm:pt>
    <dgm:pt modelId="{E0B78077-7CD5-4556-BC8F-93A257F9A243}" type="pres">
      <dgm:prSet presAssocID="{A510185B-6C4D-4FE2-A9B8-5D1D15E4B2A8}"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t="18647" b="14603"/>
          <a:stretch/>
        </a:blipFill>
      </dgm:spPr>
      <dgm:extLst>
        <a:ext uri="{E40237B7-FDA0-4F09-8148-C483321AD2D9}">
          <dgm14:cNvPr xmlns:dgm14="http://schemas.microsoft.com/office/drawing/2010/diagram" id="0" name="" descr="The peninsula located in the far east of the island of Madeira; Portugal"/>
        </a:ext>
      </dgm:extLst>
    </dgm:pt>
    <dgm:pt modelId="{AEAFE439-8C55-47C5-AE3C-65FB128A1BCE}" type="pres">
      <dgm:prSet presAssocID="{A510185B-6C4D-4FE2-A9B8-5D1D15E4B2A8}" presName="Subtitle" presStyleLbl="revTx" presStyleIdx="0" presStyleCnt="6">
        <dgm:presLayoutVars>
          <dgm:chMax val="0"/>
          <dgm:bulletEnabled/>
        </dgm:presLayoutVars>
      </dgm:prSet>
      <dgm:spPr/>
    </dgm:pt>
    <dgm:pt modelId="{EDE7FA6B-0395-4B7D-9C48-21C44C34A506}" type="pres">
      <dgm:prSet presAssocID="{A510185B-6C4D-4FE2-A9B8-5D1D15E4B2A8}" presName="Description" presStyleLbl="revTx" presStyleIdx="1" presStyleCnt="6">
        <dgm:presLayoutVars>
          <dgm:bulletEnabled/>
        </dgm:presLayoutVars>
      </dgm:prSet>
      <dgm:spPr/>
    </dgm:pt>
    <dgm:pt modelId="{40A6A0A0-D359-45F0-B84B-C61CBA0AD9DF}" type="pres">
      <dgm:prSet presAssocID="{B650E501-670A-4139-A93B-318DA63FB32F}" presName="sibTrans" presStyleLbl="sibTrans2D1" presStyleIdx="0" presStyleCnt="0"/>
      <dgm:spPr/>
    </dgm:pt>
    <dgm:pt modelId="{BD785D1F-5684-4B8B-B59D-F6DD5D0A32AD}" type="pres">
      <dgm:prSet presAssocID="{CF7C45BD-F91C-40C0-AEA0-A38795B63871}" presName="Composite" presStyleCnt="0"/>
      <dgm:spPr/>
    </dgm:pt>
    <dgm:pt modelId="{E0F72C7C-2EA9-43AE-B16C-8AE44C1D06A4}" type="pres">
      <dgm:prSet presAssocID="{CF7C45BD-F91C-40C0-AEA0-A38795B63871}"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7224" r="16026"/>
          <a:stretch/>
        </a:blipFill>
      </dgm:spPr>
      <dgm:extLst>
        <a:ext uri="{E40237B7-FDA0-4F09-8148-C483321AD2D9}">
          <dgm14:cNvPr xmlns:dgm14="http://schemas.microsoft.com/office/drawing/2010/diagram" id="0" name="" descr="A background of jumbled upper and lower case letters in multicolored pastel shades against a black background."/>
        </a:ext>
      </dgm:extLst>
    </dgm:pt>
    <dgm:pt modelId="{ADF74055-550F-4679-AEE0-94260279969E}" type="pres">
      <dgm:prSet presAssocID="{CF7C45BD-F91C-40C0-AEA0-A38795B63871}" presName="Subtitle" presStyleLbl="revTx" presStyleIdx="2" presStyleCnt="6">
        <dgm:presLayoutVars>
          <dgm:chMax val="0"/>
          <dgm:bulletEnabled/>
        </dgm:presLayoutVars>
      </dgm:prSet>
      <dgm:spPr/>
    </dgm:pt>
    <dgm:pt modelId="{1CCE10F8-42D6-4CCC-9805-AFAF98582162}" type="pres">
      <dgm:prSet presAssocID="{CF7C45BD-F91C-40C0-AEA0-A38795B63871}" presName="Description" presStyleLbl="revTx" presStyleIdx="3" presStyleCnt="6">
        <dgm:presLayoutVars>
          <dgm:bulletEnabled/>
        </dgm:presLayoutVars>
      </dgm:prSet>
      <dgm:spPr/>
    </dgm:pt>
    <dgm:pt modelId="{F309857C-6C84-4CAE-A9C9-90DF9DDC1ED6}" type="pres">
      <dgm:prSet presAssocID="{E3C5953E-828C-4706-A298-E6DB0052E94F}" presName="sibTrans" presStyleLbl="sibTrans2D1" presStyleIdx="0" presStyleCnt="0"/>
      <dgm:spPr/>
    </dgm:pt>
    <dgm:pt modelId="{5AA1D6B2-2230-445F-A7DC-4D810FD19B49}" type="pres">
      <dgm:prSet presAssocID="{32D6FB24-9767-4869-9F41-C90E0AC0D888}" presName="Composite" presStyleCnt="0"/>
      <dgm:spPr/>
    </dgm:pt>
    <dgm:pt modelId="{9CC9211B-07A3-4A1D-8E2F-4BBAE62BB4A6}" type="pres">
      <dgm:prSet presAssocID="{32D6FB24-9767-4869-9F41-C90E0AC0D888}"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5165" r="9830" b="-7"/>
          <a:stretch/>
        </a:blipFill>
      </dgm:spPr>
      <dgm:extLst>
        <a:ext uri="{E40237B7-FDA0-4F09-8148-C483321AD2D9}">
          <dgm14:cNvPr xmlns:dgm14="http://schemas.microsoft.com/office/drawing/2010/diagram" id="0" name="" descr="3D spheres connected with a red line"/>
        </a:ext>
      </dgm:extLst>
    </dgm:pt>
    <dgm:pt modelId="{BC4355FA-1433-4C43-8A8A-80D0C41383C3}" type="pres">
      <dgm:prSet presAssocID="{32D6FB24-9767-4869-9F41-C90E0AC0D888}" presName="Subtitle" presStyleLbl="revTx" presStyleIdx="4" presStyleCnt="6">
        <dgm:presLayoutVars>
          <dgm:chMax val="0"/>
          <dgm:bulletEnabled/>
        </dgm:presLayoutVars>
      </dgm:prSet>
      <dgm:spPr/>
    </dgm:pt>
    <dgm:pt modelId="{CD7C8296-E3CA-4932-81E8-E16274EBBEC9}" type="pres">
      <dgm:prSet presAssocID="{32D6FB24-9767-4869-9F41-C90E0AC0D888}" presName="Description" presStyleLbl="revTx" presStyleIdx="5" presStyleCnt="6">
        <dgm:presLayoutVars>
          <dgm:bulletEnabled/>
        </dgm:presLayoutVars>
      </dgm:prSet>
      <dgm:spPr/>
    </dgm:pt>
  </dgm:ptLst>
  <dgm:cxnLst>
    <dgm:cxn modelId="{A72FD20B-5F67-4051-A277-C5A51FFCB5F6}" srcId="{DF4F30B8-9B43-47E4-9752-76C32B2D991D}" destId="{32D6FB24-9767-4869-9F41-C90E0AC0D888}" srcOrd="2" destOrd="0" parTransId="{E038D11C-E1A0-4C5C-AE1F-760096071CBC}" sibTransId="{44BF2A19-13EB-41C0-8814-1E72ACDE5B24}"/>
    <dgm:cxn modelId="{FB1B690E-2B7A-42BC-BEA3-8D38B13DAA9E}" srcId="{32D6FB24-9767-4869-9F41-C90E0AC0D888}" destId="{E3FDB175-2FCE-41AC-9F3C-6B1FB126CB59}" srcOrd="0" destOrd="0" parTransId="{A99EB1AC-096A-4D30-B57D-000D9DB4F268}" sibTransId="{29DC33BA-AE8A-491B-A682-B0417E2AF9C6}"/>
    <dgm:cxn modelId="{8526E90E-6FA9-4AA7-A62A-E2C6721CD942}" srcId="{DF4F30B8-9B43-47E4-9752-76C32B2D991D}" destId="{A510185B-6C4D-4FE2-A9B8-5D1D15E4B2A8}" srcOrd="0" destOrd="0" parTransId="{E0A53DFF-32D9-435B-896A-D8ABE474A8B0}" sibTransId="{B650E501-670A-4139-A93B-318DA63FB32F}"/>
    <dgm:cxn modelId="{0951EE2A-1900-47BC-AB23-EE8231F0466D}" srcId="{DF4F30B8-9B43-47E4-9752-76C32B2D991D}" destId="{CF7C45BD-F91C-40C0-AEA0-A38795B63871}" srcOrd="1" destOrd="0" parTransId="{89F57519-0937-4803-BEF4-C4F1D108EF8B}" sibTransId="{E3C5953E-828C-4706-A298-E6DB0052E94F}"/>
    <dgm:cxn modelId="{D18AF245-E85A-483D-BB11-24764AD674C1}" srcId="{A510185B-6C4D-4FE2-A9B8-5D1D15E4B2A8}" destId="{CD3996B0-C309-453C-92B4-9116A39179AC}" srcOrd="0" destOrd="0" parTransId="{9A8CB26F-2D7E-42A4-8FAF-A4C195F27D55}" sibTransId="{4288BBB4-3270-4807-88A4-813BBB367436}"/>
    <dgm:cxn modelId="{43027970-F432-4BE1-BFAB-5F9715DECD5B}" type="presOf" srcId="{DF4F30B8-9B43-47E4-9752-76C32B2D991D}" destId="{1D610F5B-E1B1-4D43-B4BC-2089E8B503A0}" srcOrd="0" destOrd="0" presId="urn:microsoft.com/office/officeart/2024/3/layout/verticalVisualTextBlock1"/>
    <dgm:cxn modelId="{E89F0675-68A7-4B29-BFF3-A2670B9870D7}" type="presOf" srcId="{CD3996B0-C309-453C-92B4-9116A39179AC}" destId="{EDE7FA6B-0395-4B7D-9C48-21C44C34A506}" srcOrd="0" destOrd="0" presId="urn:microsoft.com/office/officeart/2024/3/layout/verticalVisualTextBlock1"/>
    <dgm:cxn modelId="{447D3B88-4E00-48A7-AEA0-8CA7031F2273}" type="presOf" srcId="{E3C5953E-828C-4706-A298-E6DB0052E94F}" destId="{F309857C-6C84-4CAE-A9C9-90DF9DDC1ED6}" srcOrd="0" destOrd="0" presId="urn:microsoft.com/office/officeart/2024/3/layout/verticalVisualTextBlock1"/>
    <dgm:cxn modelId="{88F2518B-539D-4F27-8245-46476839D2EA}" type="presOf" srcId="{A510185B-6C4D-4FE2-A9B8-5D1D15E4B2A8}" destId="{AEAFE439-8C55-47C5-AE3C-65FB128A1BCE}" srcOrd="0" destOrd="0" presId="urn:microsoft.com/office/officeart/2024/3/layout/verticalVisualTextBlock1"/>
    <dgm:cxn modelId="{69888E95-E714-4173-94A0-ADD3BB8CF35D}" type="presOf" srcId="{985A5A3F-4E04-4277-8449-068376F20B4C}" destId="{1CCE10F8-42D6-4CCC-9805-AFAF98582162}" srcOrd="0" destOrd="0" presId="urn:microsoft.com/office/officeart/2024/3/layout/verticalVisualTextBlock1"/>
    <dgm:cxn modelId="{3F2FFE9D-1189-4B32-9557-C67E206B6923}" srcId="{CF7C45BD-F91C-40C0-AEA0-A38795B63871}" destId="{985A5A3F-4E04-4277-8449-068376F20B4C}" srcOrd="0" destOrd="0" parTransId="{080DCF0B-FDFD-4D9D-B71B-7D470D4DC851}" sibTransId="{89B1058C-F3EB-417C-8C86-071C8EAA8F50}"/>
    <dgm:cxn modelId="{A1BD94B1-86B6-427A-98BA-36E1199A5034}" type="presOf" srcId="{E3FDB175-2FCE-41AC-9F3C-6B1FB126CB59}" destId="{CD7C8296-E3CA-4932-81E8-E16274EBBEC9}" srcOrd="0" destOrd="0" presId="urn:microsoft.com/office/officeart/2024/3/layout/verticalVisualTextBlock1"/>
    <dgm:cxn modelId="{BFE498BF-797B-432D-87F0-EC83B2F5E1FC}" type="presOf" srcId="{B650E501-670A-4139-A93B-318DA63FB32F}" destId="{40A6A0A0-D359-45F0-B84B-C61CBA0AD9DF}" srcOrd="0" destOrd="0" presId="urn:microsoft.com/office/officeart/2024/3/layout/verticalVisualTextBlock1"/>
    <dgm:cxn modelId="{45DBF4FC-831D-476E-AB0D-68404F1DB19B}" type="presOf" srcId="{32D6FB24-9767-4869-9F41-C90E0AC0D888}" destId="{BC4355FA-1433-4C43-8A8A-80D0C41383C3}" srcOrd="0" destOrd="0" presId="urn:microsoft.com/office/officeart/2024/3/layout/verticalVisualTextBlock1"/>
    <dgm:cxn modelId="{050098FF-3594-4AB8-B986-9FE25EDC322C}" type="presOf" srcId="{CF7C45BD-F91C-40C0-AEA0-A38795B63871}" destId="{ADF74055-550F-4679-AEE0-94260279969E}" srcOrd="0" destOrd="0" presId="urn:microsoft.com/office/officeart/2024/3/layout/verticalVisualTextBlock1"/>
    <dgm:cxn modelId="{537DC426-DE56-4E9E-A9AB-D12B2F1348D4}" type="presParOf" srcId="{1D610F5B-E1B1-4D43-B4BC-2089E8B503A0}" destId="{04248B57-3EFA-4A5D-A118-4B8F1A6DB904}" srcOrd="0" destOrd="0" presId="urn:microsoft.com/office/officeart/2024/3/layout/verticalVisualTextBlock1"/>
    <dgm:cxn modelId="{FE1EA309-8E43-4678-9112-81D78EEBD586}" type="presParOf" srcId="{04248B57-3EFA-4A5D-A118-4B8F1A6DB904}" destId="{E0B78077-7CD5-4556-BC8F-93A257F9A243}" srcOrd="0" destOrd="0" presId="urn:microsoft.com/office/officeart/2024/3/layout/verticalVisualTextBlock1"/>
    <dgm:cxn modelId="{0CD18E64-5777-46E4-B77F-7BF9B328DF14}" type="presParOf" srcId="{04248B57-3EFA-4A5D-A118-4B8F1A6DB904}" destId="{AEAFE439-8C55-47C5-AE3C-65FB128A1BCE}" srcOrd="1" destOrd="0" presId="urn:microsoft.com/office/officeart/2024/3/layout/verticalVisualTextBlock1"/>
    <dgm:cxn modelId="{FD6C6133-687D-49FD-B122-99DC97CB97B5}" type="presParOf" srcId="{04248B57-3EFA-4A5D-A118-4B8F1A6DB904}" destId="{EDE7FA6B-0395-4B7D-9C48-21C44C34A506}" srcOrd="2" destOrd="0" presId="urn:microsoft.com/office/officeart/2024/3/layout/verticalVisualTextBlock1"/>
    <dgm:cxn modelId="{AFC028DB-50CC-4529-A4CD-845AB930CED1}" type="presParOf" srcId="{1D610F5B-E1B1-4D43-B4BC-2089E8B503A0}" destId="{40A6A0A0-D359-45F0-B84B-C61CBA0AD9DF}" srcOrd="1" destOrd="0" presId="urn:microsoft.com/office/officeart/2024/3/layout/verticalVisualTextBlock1"/>
    <dgm:cxn modelId="{DD171511-4830-48CB-A3DA-2F2BD8E89E8A}" type="presParOf" srcId="{1D610F5B-E1B1-4D43-B4BC-2089E8B503A0}" destId="{BD785D1F-5684-4B8B-B59D-F6DD5D0A32AD}" srcOrd="2" destOrd="0" presId="urn:microsoft.com/office/officeart/2024/3/layout/verticalVisualTextBlock1"/>
    <dgm:cxn modelId="{87BC39CF-F751-471F-A917-DFF99C890C6D}" type="presParOf" srcId="{BD785D1F-5684-4B8B-B59D-F6DD5D0A32AD}" destId="{E0F72C7C-2EA9-43AE-B16C-8AE44C1D06A4}" srcOrd="0" destOrd="0" presId="urn:microsoft.com/office/officeart/2024/3/layout/verticalVisualTextBlock1"/>
    <dgm:cxn modelId="{369D36DC-386B-4B51-87F2-BEC0AA837128}" type="presParOf" srcId="{BD785D1F-5684-4B8B-B59D-F6DD5D0A32AD}" destId="{ADF74055-550F-4679-AEE0-94260279969E}" srcOrd="1" destOrd="0" presId="urn:microsoft.com/office/officeart/2024/3/layout/verticalVisualTextBlock1"/>
    <dgm:cxn modelId="{C768B0C0-1165-4041-8835-30F726F932DD}" type="presParOf" srcId="{BD785D1F-5684-4B8B-B59D-F6DD5D0A32AD}" destId="{1CCE10F8-42D6-4CCC-9805-AFAF98582162}" srcOrd="2" destOrd="0" presId="urn:microsoft.com/office/officeart/2024/3/layout/verticalVisualTextBlock1"/>
    <dgm:cxn modelId="{1BFBD8E4-93B8-40E3-ABC7-80EAB89AE27D}" type="presParOf" srcId="{1D610F5B-E1B1-4D43-B4BC-2089E8B503A0}" destId="{F309857C-6C84-4CAE-A9C9-90DF9DDC1ED6}" srcOrd="3" destOrd="0" presId="urn:microsoft.com/office/officeart/2024/3/layout/verticalVisualTextBlock1"/>
    <dgm:cxn modelId="{07C4346B-A115-47D7-B6DC-1367D591318A}" type="presParOf" srcId="{1D610F5B-E1B1-4D43-B4BC-2089E8B503A0}" destId="{5AA1D6B2-2230-445F-A7DC-4D810FD19B49}" srcOrd="4" destOrd="0" presId="urn:microsoft.com/office/officeart/2024/3/layout/verticalVisualTextBlock1"/>
    <dgm:cxn modelId="{37396F91-70C1-47E6-9EC4-E11BEC421941}" type="presParOf" srcId="{5AA1D6B2-2230-445F-A7DC-4D810FD19B49}" destId="{9CC9211B-07A3-4A1D-8E2F-4BBAE62BB4A6}" srcOrd="0" destOrd="0" presId="urn:microsoft.com/office/officeart/2024/3/layout/verticalVisualTextBlock1"/>
    <dgm:cxn modelId="{A7B4AAD0-0420-46E5-942C-4013DDCB7E41}" type="presParOf" srcId="{5AA1D6B2-2230-445F-A7DC-4D810FD19B49}" destId="{BC4355FA-1433-4C43-8A8A-80D0C41383C3}" srcOrd="1" destOrd="0" presId="urn:microsoft.com/office/officeart/2024/3/layout/verticalVisualTextBlock1"/>
    <dgm:cxn modelId="{FAFA3257-F36C-41A1-8FD0-B0061E426308}" type="presParOf" srcId="{5AA1D6B2-2230-445F-A7DC-4D810FD19B49}" destId="{CD7C8296-E3CA-4932-81E8-E16274EBBEC9}"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51EB895-EBAB-45CD-8B4A-C7276B26D65E}"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en-US"/>
        </a:p>
      </dgm:t>
    </dgm:pt>
    <dgm:pt modelId="{561FE310-29B8-483B-A9D3-E437C325A51A}">
      <dgm:prSet/>
      <dgm:spPr/>
      <dgm:t>
        <a:bodyPr/>
        <a:lstStyle/>
        <a:p>
          <a:pPr>
            <a:lnSpc>
              <a:spcPct val="100000"/>
            </a:lnSpc>
            <a:defRPr b="1"/>
          </a:pPr>
          <a:r>
            <a:rPr lang="en-US"/>
            <a:t>Dynamic Word Representations</a:t>
          </a:r>
        </a:p>
      </dgm:t>
    </dgm:pt>
    <dgm:pt modelId="{0DE20CDB-C9FA-4007-9BCA-B458982DDDF7}" type="parTrans" cxnId="{EFE16FC3-3BB4-42C6-AE4F-AA1E4426EC10}">
      <dgm:prSet/>
      <dgm:spPr/>
      <dgm:t>
        <a:bodyPr/>
        <a:lstStyle/>
        <a:p>
          <a:endParaRPr lang="en-US"/>
        </a:p>
      </dgm:t>
    </dgm:pt>
    <dgm:pt modelId="{853871B6-BD53-4873-97C5-C09485A27B78}" type="sibTrans" cxnId="{EFE16FC3-3BB4-42C6-AE4F-AA1E4426EC10}">
      <dgm:prSet/>
      <dgm:spPr/>
      <dgm:t>
        <a:bodyPr/>
        <a:lstStyle/>
        <a:p>
          <a:pPr>
            <a:lnSpc>
              <a:spcPct val="100000"/>
            </a:lnSpc>
            <a:defRPr b="1"/>
          </a:pPr>
          <a:endParaRPr lang="en-US"/>
        </a:p>
      </dgm:t>
    </dgm:pt>
    <dgm:pt modelId="{D2775868-160A-402E-BC16-3DC523531892}">
      <dgm:prSet/>
      <dgm:spPr/>
      <dgm:t>
        <a:bodyPr/>
        <a:lstStyle/>
        <a:p>
          <a:pPr>
            <a:lnSpc>
              <a:spcPct val="100000"/>
            </a:lnSpc>
          </a:pPr>
          <a:r>
            <a:rPr lang="en-US"/>
            <a:t>Contextual embeddings provide dynamic word representations that change based on surrounding text, enhancing language understanding.</a:t>
          </a:r>
        </a:p>
      </dgm:t>
    </dgm:pt>
    <dgm:pt modelId="{A98D9B4B-E903-4B4E-8B22-5CA7964193AC}" type="parTrans" cxnId="{28450752-9753-4BC1-9987-6E6339DF19B7}">
      <dgm:prSet/>
      <dgm:spPr/>
      <dgm:t>
        <a:bodyPr/>
        <a:lstStyle/>
        <a:p>
          <a:endParaRPr lang="en-US"/>
        </a:p>
      </dgm:t>
    </dgm:pt>
    <dgm:pt modelId="{FF728F83-4C20-412A-9758-37987F7761DC}" type="sibTrans" cxnId="{28450752-9753-4BC1-9987-6E6339DF19B7}">
      <dgm:prSet/>
      <dgm:spPr/>
      <dgm:t>
        <a:bodyPr/>
        <a:lstStyle/>
        <a:p>
          <a:endParaRPr lang="en-US"/>
        </a:p>
      </dgm:t>
    </dgm:pt>
    <dgm:pt modelId="{58EC2396-6329-4A98-BB1D-4D278EFE1264}">
      <dgm:prSet/>
      <dgm:spPr/>
      <dgm:t>
        <a:bodyPr/>
        <a:lstStyle/>
        <a:p>
          <a:pPr>
            <a:lnSpc>
              <a:spcPct val="100000"/>
            </a:lnSpc>
            <a:defRPr b="1"/>
          </a:pPr>
          <a:r>
            <a:rPr lang="en-US"/>
            <a:t>Models like BERT</a:t>
          </a:r>
        </a:p>
      </dgm:t>
    </dgm:pt>
    <dgm:pt modelId="{1A97F3EB-9C51-45C9-B25C-BBC8344F0F3D}" type="parTrans" cxnId="{ADDE8D09-0468-4405-B39D-F53BD62CEC2D}">
      <dgm:prSet/>
      <dgm:spPr/>
      <dgm:t>
        <a:bodyPr/>
        <a:lstStyle/>
        <a:p>
          <a:endParaRPr lang="en-US"/>
        </a:p>
      </dgm:t>
    </dgm:pt>
    <dgm:pt modelId="{C31E5F62-0C9F-4AF3-8138-F9856AC37F0A}" type="sibTrans" cxnId="{ADDE8D09-0468-4405-B39D-F53BD62CEC2D}">
      <dgm:prSet/>
      <dgm:spPr/>
      <dgm:t>
        <a:bodyPr/>
        <a:lstStyle/>
        <a:p>
          <a:pPr>
            <a:lnSpc>
              <a:spcPct val="100000"/>
            </a:lnSpc>
            <a:defRPr b="1"/>
          </a:pPr>
          <a:endParaRPr lang="en-US"/>
        </a:p>
      </dgm:t>
    </dgm:pt>
    <dgm:pt modelId="{7D0FC885-C239-4D1E-A7AE-B01D6C4F5CA0}">
      <dgm:prSet/>
      <dgm:spPr/>
      <dgm:t>
        <a:bodyPr/>
        <a:lstStyle/>
        <a:p>
          <a:pPr>
            <a:lnSpc>
              <a:spcPct val="100000"/>
            </a:lnSpc>
          </a:pPr>
          <a:r>
            <a:rPr lang="en-US"/>
            <a:t>BERT is a prominent model that utilizes contextual embeddings to improve language processing tasks through better context understanding.</a:t>
          </a:r>
        </a:p>
      </dgm:t>
    </dgm:pt>
    <dgm:pt modelId="{E5513CAA-BAC8-4708-99ED-E9F20BA569AA}" type="parTrans" cxnId="{F07C4410-108A-4271-95AB-8835BA8D057F}">
      <dgm:prSet/>
      <dgm:spPr/>
      <dgm:t>
        <a:bodyPr/>
        <a:lstStyle/>
        <a:p>
          <a:endParaRPr lang="en-US"/>
        </a:p>
      </dgm:t>
    </dgm:pt>
    <dgm:pt modelId="{89502143-8292-41FD-B90E-9F2860C50A07}" type="sibTrans" cxnId="{F07C4410-108A-4271-95AB-8835BA8D057F}">
      <dgm:prSet/>
      <dgm:spPr/>
      <dgm:t>
        <a:bodyPr/>
        <a:lstStyle/>
        <a:p>
          <a:endParaRPr lang="en-US"/>
        </a:p>
      </dgm:t>
    </dgm:pt>
    <dgm:pt modelId="{9DC5B36F-49F9-401F-BB3B-ADAC5A2A84C9}">
      <dgm:prSet/>
      <dgm:spPr/>
      <dgm:t>
        <a:bodyPr/>
        <a:lstStyle/>
        <a:p>
          <a:pPr>
            <a:lnSpc>
              <a:spcPct val="100000"/>
            </a:lnSpc>
            <a:defRPr b="1"/>
          </a:pPr>
          <a:r>
            <a:rPr lang="en-US"/>
            <a:t>Understanding Language Nuances</a:t>
          </a:r>
        </a:p>
      </dgm:t>
    </dgm:pt>
    <dgm:pt modelId="{EF000A2C-B8AC-4C4E-9592-13B9E9BD990F}" type="parTrans" cxnId="{4C6E647D-35DC-4086-8752-F08DC266CEC9}">
      <dgm:prSet/>
      <dgm:spPr/>
      <dgm:t>
        <a:bodyPr/>
        <a:lstStyle/>
        <a:p>
          <a:endParaRPr lang="en-US"/>
        </a:p>
      </dgm:t>
    </dgm:pt>
    <dgm:pt modelId="{4A8910E2-D5C6-467A-96B7-B0D656E19243}" type="sibTrans" cxnId="{4C6E647D-35DC-4086-8752-F08DC266CEC9}">
      <dgm:prSet/>
      <dgm:spPr/>
      <dgm:t>
        <a:bodyPr/>
        <a:lstStyle/>
        <a:p>
          <a:endParaRPr lang="en-US"/>
        </a:p>
      </dgm:t>
    </dgm:pt>
    <dgm:pt modelId="{DABDC470-0834-437B-AB07-BF18AD879F49}">
      <dgm:prSet/>
      <dgm:spPr/>
      <dgm:t>
        <a:bodyPr/>
        <a:lstStyle/>
        <a:p>
          <a:pPr>
            <a:lnSpc>
              <a:spcPct val="100000"/>
            </a:lnSpc>
          </a:pPr>
          <a:r>
            <a:rPr lang="en-US"/>
            <a:t>By considering context, these embeddings help models grasp subtle nuances and meanings in human language.</a:t>
          </a:r>
        </a:p>
      </dgm:t>
    </dgm:pt>
    <dgm:pt modelId="{18090E8B-A10C-4311-A23C-3DDEED22FA7E}" type="parTrans" cxnId="{643F515F-12FC-4967-BBC9-5F5A04F9594C}">
      <dgm:prSet/>
      <dgm:spPr/>
      <dgm:t>
        <a:bodyPr/>
        <a:lstStyle/>
        <a:p>
          <a:endParaRPr lang="en-US"/>
        </a:p>
      </dgm:t>
    </dgm:pt>
    <dgm:pt modelId="{B7045CE1-6D6B-4B50-8084-F58796C4DCC2}" type="sibTrans" cxnId="{643F515F-12FC-4967-BBC9-5F5A04F9594C}">
      <dgm:prSet/>
      <dgm:spPr/>
      <dgm:t>
        <a:bodyPr/>
        <a:lstStyle/>
        <a:p>
          <a:endParaRPr lang="en-US"/>
        </a:p>
      </dgm:t>
    </dgm:pt>
    <dgm:pt modelId="{DE2C3AF4-3E31-4F34-BA46-FE72EEBCBB88}" type="pres">
      <dgm:prSet presAssocID="{F51EB895-EBAB-45CD-8B4A-C7276B26D65E}" presName="Root" presStyleCnt="0">
        <dgm:presLayoutVars>
          <dgm:dir/>
          <dgm:resizeHandles val="exact"/>
        </dgm:presLayoutVars>
      </dgm:prSet>
      <dgm:spPr/>
    </dgm:pt>
    <dgm:pt modelId="{3C30DB93-4C8E-4798-8AF7-4A48F34A1B3C}" type="pres">
      <dgm:prSet presAssocID="{561FE310-29B8-483B-A9D3-E437C325A51A}" presName="Composite" presStyleCnt="0"/>
      <dgm:spPr/>
    </dgm:pt>
    <dgm:pt modelId="{1281381C-32EE-47EB-9923-1A0EF74F91E8}" type="pres">
      <dgm:prSet presAssocID="{561FE310-29B8-483B-A9D3-E437C325A51A}"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6726" r="16524"/>
          <a:stretch/>
        </a:blipFill>
      </dgm:spPr>
      <dgm:extLst>
        <a:ext uri="{E40237B7-FDA0-4F09-8148-C483321AD2D9}">
          <dgm14:cNvPr xmlns:dgm14="http://schemas.microsoft.com/office/drawing/2010/diagram" id="0" name="" descr="Closeup adult female Greater yellownape, uprisen angle view, side shot, foraging on the hole of the tree trunk and insect in beak, in the morning in national park of tropical forest, central Thailand."/>
        </a:ext>
      </dgm:extLst>
    </dgm:pt>
    <dgm:pt modelId="{86B9F3D5-D125-4FF7-BC52-5A656507BB90}" type="pres">
      <dgm:prSet presAssocID="{561FE310-29B8-483B-A9D3-E437C325A51A}" presName="Subtitle" presStyleLbl="revTx" presStyleIdx="0" presStyleCnt="6">
        <dgm:presLayoutVars>
          <dgm:chMax val="0"/>
          <dgm:bulletEnabled/>
        </dgm:presLayoutVars>
      </dgm:prSet>
      <dgm:spPr/>
    </dgm:pt>
    <dgm:pt modelId="{CD47E730-559B-4099-9AF2-0AAE0FD422C6}" type="pres">
      <dgm:prSet presAssocID="{561FE310-29B8-483B-A9D3-E437C325A51A}" presName="Description" presStyleLbl="revTx" presStyleIdx="1" presStyleCnt="6">
        <dgm:presLayoutVars>
          <dgm:bulletEnabled/>
        </dgm:presLayoutVars>
      </dgm:prSet>
      <dgm:spPr/>
    </dgm:pt>
    <dgm:pt modelId="{517E924D-3CB2-4014-B602-CB41E3D14048}" type="pres">
      <dgm:prSet presAssocID="{853871B6-BD53-4873-97C5-C09485A27B78}" presName="sibTrans" presStyleLbl="sibTrans2D1" presStyleIdx="0" presStyleCnt="0"/>
      <dgm:spPr/>
    </dgm:pt>
    <dgm:pt modelId="{5FF4EF01-735E-40C9-B7E5-CF7E4148848D}" type="pres">
      <dgm:prSet presAssocID="{58EC2396-6329-4A98-BB1D-4D278EFE1264}" presName="Composite" presStyleCnt="0"/>
      <dgm:spPr/>
    </dgm:pt>
    <dgm:pt modelId="{FE43E1F3-6F58-4522-A58B-5FD9FE12A361}" type="pres">
      <dgm:prSet presAssocID="{58EC2396-6329-4A98-BB1D-4D278EFE1264}"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28825" r="21177" b="4"/>
          <a:stretch/>
        </a:blipFill>
      </dgm:spPr>
      <dgm:extLst>
        <a:ext uri="{E40237B7-FDA0-4F09-8148-C483321AD2D9}">
          <dgm14:cNvPr xmlns:dgm14="http://schemas.microsoft.com/office/drawing/2010/diagram" id="0" name="" descr="3d flow chart."/>
        </a:ext>
      </dgm:extLst>
    </dgm:pt>
    <dgm:pt modelId="{A08BF825-3C45-48D7-A868-8B13B297DD05}" type="pres">
      <dgm:prSet presAssocID="{58EC2396-6329-4A98-BB1D-4D278EFE1264}" presName="Subtitle" presStyleLbl="revTx" presStyleIdx="2" presStyleCnt="6">
        <dgm:presLayoutVars>
          <dgm:chMax val="0"/>
          <dgm:bulletEnabled/>
        </dgm:presLayoutVars>
      </dgm:prSet>
      <dgm:spPr/>
    </dgm:pt>
    <dgm:pt modelId="{A65CDF86-557D-4158-AAFF-266241605F81}" type="pres">
      <dgm:prSet presAssocID="{58EC2396-6329-4A98-BB1D-4D278EFE1264}" presName="Description" presStyleLbl="revTx" presStyleIdx="3" presStyleCnt="6">
        <dgm:presLayoutVars>
          <dgm:bulletEnabled/>
        </dgm:presLayoutVars>
      </dgm:prSet>
      <dgm:spPr/>
    </dgm:pt>
    <dgm:pt modelId="{A7E07101-F3CC-45BF-93AB-232804197A43}" type="pres">
      <dgm:prSet presAssocID="{C31E5F62-0C9F-4AF3-8138-F9856AC37F0A}" presName="sibTrans" presStyleLbl="sibTrans2D1" presStyleIdx="0" presStyleCnt="0"/>
      <dgm:spPr/>
    </dgm:pt>
    <dgm:pt modelId="{6AC7F7B9-0127-4BC7-B515-E2EC3D41363F}" type="pres">
      <dgm:prSet presAssocID="{9DC5B36F-49F9-401F-BB3B-ADAC5A2A84C9}" presName="Composite" presStyleCnt="0"/>
      <dgm:spPr/>
    </dgm:pt>
    <dgm:pt modelId="{70C37C6F-4BEE-4CD4-9038-FE0E3B02B625}" type="pres">
      <dgm:prSet presAssocID="{9DC5B36F-49F9-401F-BB3B-ADAC5A2A84C9}"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5922" r="17328"/>
          <a:stretch/>
        </a:blipFill>
      </dgm:spPr>
      <dgm:extLst>
        <a:ext uri="{E40237B7-FDA0-4F09-8148-C483321AD2D9}">
          <dgm14:cNvPr xmlns:dgm14="http://schemas.microsoft.com/office/drawing/2010/diagram" id="0" name="" descr="Title blog and Business (school) accessories (pens, pencils) on a wooden table. Top view."/>
        </a:ext>
      </dgm:extLst>
    </dgm:pt>
    <dgm:pt modelId="{8A0C9EA6-6127-4060-A317-8B9B8476D5A1}" type="pres">
      <dgm:prSet presAssocID="{9DC5B36F-49F9-401F-BB3B-ADAC5A2A84C9}" presName="Subtitle" presStyleLbl="revTx" presStyleIdx="4" presStyleCnt="6">
        <dgm:presLayoutVars>
          <dgm:chMax val="0"/>
          <dgm:bulletEnabled/>
        </dgm:presLayoutVars>
      </dgm:prSet>
      <dgm:spPr/>
    </dgm:pt>
    <dgm:pt modelId="{7A256C40-7AA8-4778-8E23-6419E768DD2B}" type="pres">
      <dgm:prSet presAssocID="{9DC5B36F-49F9-401F-BB3B-ADAC5A2A84C9}" presName="Description" presStyleLbl="revTx" presStyleIdx="5" presStyleCnt="6">
        <dgm:presLayoutVars>
          <dgm:bulletEnabled/>
        </dgm:presLayoutVars>
      </dgm:prSet>
      <dgm:spPr/>
    </dgm:pt>
  </dgm:ptLst>
  <dgm:cxnLst>
    <dgm:cxn modelId="{ADDE8D09-0468-4405-B39D-F53BD62CEC2D}" srcId="{F51EB895-EBAB-45CD-8B4A-C7276B26D65E}" destId="{58EC2396-6329-4A98-BB1D-4D278EFE1264}" srcOrd="1" destOrd="0" parTransId="{1A97F3EB-9C51-45C9-B25C-BBC8344F0F3D}" sibTransId="{C31E5F62-0C9F-4AF3-8138-F9856AC37F0A}"/>
    <dgm:cxn modelId="{78660C0B-14CC-4FDC-8B92-3676E42F8740}" type="presOf" srcId="{D2775868-160A-402E-BC16-3DC523531892}" destId="{CD47E730-559B-4099-9AF2-0AAE0FD422C6}" srcOrd="0" destOrd="0" presId="urn:microsoft.com/office/officeart/2024/3/layout/verticalVisualTextBlock1"/>
    <dgm:cxn modelId="{F07C4410-108A-4271-95AB-8835BA8D057F}" srcId="{58EC2396-6329-4A98-BB1D-4D278EFE1264}" destId="{7D0FC885-C239-4D1E-A7AE-B01D6C4F5CA0}" srcOrd="0" destOrd="0" parTransId="{E5513CAA-BAC8-4708-99ED-E9F20BA569AA}" sibTransId="{89502143-8292-41FD-B90E-9F2860C50A07}"/>
    <dgm:cxn modelId="{8FC15119-F1C4-4BE9-9300-DB67E553C633}" type="presOf" srcId="{853871B6-BD53-4873-97C5-C09485A27B78}" destId="{517E924D-3CB2-4014-B602-CB41E3D14048}" srcOrd="0" destOrd="0" presId="urn:microsoft.com/office/officeart/2024/3/layout/verticalVisualTextBlock1"/>
    <dgm:cxn modelId="{819CFF21-B054-4B17-A2E6-CEBA3984A378}" type="presOf" srcId="{F51EB895-EBAB-45CD-8B4A-C7276B26D65E}" destId="{DE2C3AF4-3E31-4F34-BA46-FE72EEBCBB88}" srcOrd="0" destOrd="0" presId="urn:microsoft.com/office/officeart/2024/3/layout/verticalVisualTextBlock1"/>
    <dgm:cxn modelId="{643F515F-12FC-4967-BBC9-5F5A04F9594C}" srcId="{9DC5B36F-49F9-401F-BB3B-ADAC5A2A84C9}" destId="{DABDC470-0834-437B-AB07-BF18AD879F49}" srcOrd="0" destOrd="0" parTransId="{18090E8B-A10C-4311-A23C-3DDEED22FA7E}" sibTransId="{B7045CE1-6D6B-4B50-8084-F58796C4DCC2}"/>
    <dgm:cxn modelId="{436A3750-F1F7-4BD3-995D-42165A383910}" type="presOf" srcId="{561FE310-29B8-483B-A9D3-E437C325A51A}" destId="{86B9F3D5-D125-4FF7-BC52-5A656507BB90}" srcOrd="0" destOrd="0" presId="urn:microsoft.com/office/officeart/2024/3/layout/verticalVisualTextBlock1"/>
    <dgm:cxn modelId="{28450752-9753-4BC1-9987-6E6339DF19B7}" srcId="{561FE310-29B8-483B-A9D3-E437C325A51A}" destId="{D2775868-160A-402E-BC16-3DC523531892}" srcOrd="0" destOrd="0" parTransId="{A98D9B4B-E903-4B4E-8B22-5CA7964193AC}" sibTransId="{FF728F83-4C20-412A-9758-37987F7761DC}"/>
    <dgm:cxn modelId="{4C6E647D-35DC-4086-8752-F08DC266CEC9}" srcId="{F51EB895-EBAB-45CD-8B4A-C7276B26D65E}" destId="{9DC5B36F-49F9-401F-BB3B-ADAC5A2A84C9}" srcOrd="2" destOrd="0" parTransId="{EF000A2C-B8AC-4C4E-9592-13B9E9BD990F}" sibTransId="{4A8910E2-D5C6-467A-96B7-B0D656E19243}"/>
    <dgm:cxn modelId="{E088DE8E-5E4D-4745-B184-EB27CDD3B02A}" type="presOf" srcId="{7D0FC885-C239-4D1E-A7AE-B01D6C4F5CA0}" destId="{A65CDF86-557D-4158-AAFF-266241605F81}" srcOrd="0" destOrd="0" presId="urn:microsoft.com/office/officeart/2024/3/layout/verticalVisualTextBlock1"/>
    <dgm:cxn modelId="{78A06491-45DF-4FDB-996C-14862076C9CB}" type="presOf" srcId="{9DC5B36F-49F9-401F-BB3B-ADAC5A2A84C9}" destId="{8A0C9EA6-6127-4060-A317-8B9B8476D5A1}" srcOrd="0" destOrd="0" presId="urn:microsoft.com/office/officeart/2024/3/layout/verticalVisualTextBlock1"/>
    <dgm:cxn modelId="{EFE16FC3-3BB4-42C6-AE4F-AA1E4426EC10}" srcId="{F51EB895-EBAB-45CD-8B4A-C7276B26D65E}" destId="{561FE310-29B8-483B-A9D3-E437C325A51A}" srcOrd="0" destOrd="0" parTransId="{0DE20CDB-C9FA-4007-9BCA-B458982DDDF7}" sibTransId="{853871B6-BD53-4873-97C5-C09485A27B78}"/>
    <dgm:cxn modelId="{6BC82FC4-175F-4FA2-A171-BF08AE882800}" type="presOf" srcId="{58EC2396-6329-4A98-BB1D-4D278EFE1264}" destId="{A08BF825-3C45-48D7-A868-8B13B297DD05}" srcOrd="0" destOrd="0" presId="urn:microsoft.com/office/officeart/2024/3/layout/verticalVisualTextBlock1"/>
    <dgm:cxn modelId="{699AF9D6-5FDF-4647-ACAC-F46F0E310416}" type="presOf" srcId="{DABDC470-0834-437B-AB07-BF18AD879F49}" destId="{7A256C40-7AA8-4778-8E23-6419E768DD2B}" srcOrd="0" destOrd="0" presId="urn:microsoft.com/office/officeart/2024/3/layout/verticalVisualTextBlock1"/>
    <dgm:cxn modelId="{B8626CF3-F05E-432D-BF5C-8C0A56D0A606}" type="presOf" srcId="{C31E5F62-0C9F-4AF3-8138-F9856AC37F0A}" destId="{A7E07101-F3CC-45BF-93AB-232804197A43}" srcOrd="0" destOrd="0" presId="urn:microsoft.com/office/officeart/2024/3/layout/verticalVisualTextBlock1"/>
    <dgm:cxn modelId="{D050E81D-D436-49A2-B759-B6665E3AE09D}" type="presParOf" srcId="{DE2C3AF4-3E31-4F34-BA46-FE72EEBCBB88}" destId="{3C30DB93-4C8E-4798-8AF7-4A48F34A1B3C}" srcOrd="0" destOrd="0" presId="urn:microsoft.com/office/officeart/2024/3/layout/verticalVisualTextBlock1"/>
    <dgm:cxn modelId="{F792A161-CD8F-45FE-B43C-535E74B2EA08}" type="presParOf" srcId="{3C30DB93-4C8E-4798-8AF7-4A48F34A1B3C}" destId="{1281381C-32EE-47EB-9923-1A0EF74F91E8}" srcOrd="0" destOrd="0" presId="urn:microsoft.com/office/officeart/2024/3/layout/verticalVisualTextBlock1"/>
    <dgm:cxn modelId="{D6EF2BE9-136A-4960-B4C4-77EB07589BFB}" type="presParOf" srcId="{3C30DB93-4C8E-4798-8AF7-4A48F34A1B3C}" destId="{86B9F3D5-D125-4FF7-BC52-5A656507BB90}" srcOrd="1" destOrd="0" presId="urn:microsoft.com/office/officeart/2024/3/layout/verticalVisualTextBlock1"/>
    <dgm:cxn modelId="{54E8BA45-B7C7-4CB1-A283-279584F8BD34}" type="presParOf" srcId="{3C30DB93-4C8E-4798-8AF7-4A48F34A1B3C}" destId="{CD47E730-559B-4099-9AF2-0AAE0FD422C6}" srcOrd="2" destOrd="0" presId="urn:microsoft.com/office/officeart/2024/3/layout/verticalVisualTextBlock1"/>
    <dgm:cxn modelId="{9C3D3896-FC34-4A2D-9716-61B29DE43004}" type="presParOf" srcId="{DE2C3AF4-3E31-4F34-BA46-FE72EEBCBB88}" destId="{517E924D-3CB2-4014-B602-CB41E3D14048}" srcOrd="1" destOrd="0" presId="urn:microsoft.com/office/officeart/2024/3/layout/verticalVisualTextBlock1"/>
    <dgm:cxn modelId="{71C2B451-C6E6-4AEF-A939-43732DED5C8C}" type="presParOf" srcId="{DE2C3AF4-3E31-4F34-BA46-FE72EEBCBB88}" destId="{5FF4EF01-735E-40C9-B7E5-CF7E4148848D}" srcOrd="2" destOrd="0" presId="urn:microsoft.com/office/officeart/2024/3/layout/verticalVisualTextBlock1"/>
    <dgm:cxn modelId="{B45D598E-0CFC-4948-8C9B-8F025BF4D9D3}" type="presParOf" srcId="{5FF4EF01-735E-40C9-B7E5-CF7E4148848D}" destId="{FE43E1F3-6F58-4522-A58B-5FD9FE12A361}" srcOrd="0" destOrd="0" presId="urn:microsoft.com/office/officeart/2024/3/layout/verticalVisualTextBlock1"/>
    <dgm:cxn modelId="{3BADDAB5-A016-4C2C-9288-6DBF0F96F39F}" type="presParOf" srcId="{5FF4EF01-735E-40C9-B7E5-CF7E4148848D}" destId="{A08BF825-3C45-48D7-A868-8B13B297DD05}" srcOrd="1" destOrd="0" presId="urn:microsoft.com/office/officeart/2024/3/layout/verticalVisualTextBlock1"/>
    <dgm:cxn modelId="{1735370E-CED9-40A7-8B83-C16896291CBE}" type="presParOf" srcId="{5FF4EF01-735E-40C9-B7E5-CF7E4148848D}" destId="{A65CDF86-557D-4158-AAFF-266241605F81}" srcOrd="2" destOrd="0" presId="urn:microsoft.com/office/officeart/2024/3/layout/verticalVisualTextBlock1"/>
    <dgm:cxn modelId="{2C71BB1B-A421-426C-AA7A-173B4EE47B23}" type="presParOf" srcId="{DE2C3AF4-3E31-4F34-BA46-FE72EEBCBB88}" destId="{A7E07101-F3CC-45BF-93AB-232804197A43}" srcOrd="3" destOrd="0" presId="urn:microsoft.com/office/officeart/2024/3/layout/verticalVisualTextBlock1"/>
    <dgm:cxn modelId="{E340827C-2DAD-4D2C-9F0C-829F2AF682C0}" type="presParOf" srcId="{DE2C3AF4-3E31-4F34-BA46-FE72EEBCBB88}" destId="{6AC7F7B9-0127-4BC7-B515-E2EC3D41363F}" srcOrd="4" destOrd="0" presId="urn:microsoft.com/office/officeart/2024/3/layout/verticalVisualTextBlock1"/>
    <dgm:cxn modelId="{EC0B679B-C25E-46BF-BF99-44D9BEE4FAF6}" type="presParOf" srcId="{6AC7F7B9-0127-4BC7-B515-E2EC3D41363F}" destId="{70C37C6F-4BEE-4CD4-9038-FE0E3B02B625}" srcOrd="0" destOrd="0" presId="urn:microsoft.com/office/officeart/2024/3/layout/verticalVisualTextBlock1"/>
    <dgm:cxn modelId="{3C848FBE-970F-4175-87D3-4225287B4C4E}" type="presParOf" srcId="{6AC7F7B9-0127-4BC7-B515-E2EC3D41363F}" destId="{8A0C9EA6-6127-4060-A317-8B9B8476D5A1}" srcOrd="1" destOrd="0" presId="urn:microsoft.com/office/officeart/2024/3/layout/verticalVisualTextBlock1"/>
    <dgm:cxn modelId="{1D0AE863-04A1-415E-A661-9547219779DD}" type="presParOf" srcId="{6AC7F7B9-0127-4BC7-B515-E2EC3D41363F}" destId="{7A256C40-7AA8-4778-8E23-6419E768DD2B}"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7715868-C8D0-4A1A-BA05-EF1B184AB924}" type="doc">
      <dgm:prSet loTypeId="urn:microsoft.com/office/officeart/2024/3/layout/verticalVisualTextBlock1" loCatId="Picture" qsTypeId="urn:microsoft.com/office/officeart/2005/8/quickstyle/simple4" qsCatId="simple" csTypeId="urn:microsoft.com/office/officeart/2005/8/colors/accent0_2" csCatId="mainScheme" phldr="1"/>
      <dgm:spPr/>
      <dgm:t>
        <a:bodyPr/>
        <a:lstStyle/>
        <a:p>
          <a:endParaRPr lang="en-US"/>
        </a:p>
      </dgm:t>
    </dgm:pt>
    <dgm:pt modelId="{6CEBE964-DD26-4954-AD1E-69D6E14778D2}">
      <dgm:prSet/>
      <dgm:spPr/>
      <dgm:t>
        <a:bodyPr/>
        <a:lstStyle/>
        <a:p>
          <a:pPr>
            <a:lnSpc>
              <a:spcPct val="100000"/>
            </a:lnSpc>
            <a:defRPr b="1"/>
          </a:pPr>
          <a:r>
            <a:rPr lang="en-US"/>
            <a:t>Advancements in Technology</a:t>
          </a:r>
        </a:p>
      </dgm:t>
    </dgm:pt>
    <dgm:pt modelId="{6837FFFA-5952-41F2-8435-F731F59B7B7E}" type="parTrans" cxnId="{3BD9D605-EA92-4973-BEF1-F6326FBF66DC}">
      <dgm:prSet/>
      <dgm:spPr/>
      <dgm:t>
        <a:bodyPr/>
        <a:lstStyle/>
        <a:p>
          <a:endParaRPr lang="en-US"/>
        </a:p>
      </dgm:t>
    </dgm:pt>
    <dgm:pt modelId="{D8538C0E-6C91-43D2-B21F-60AE2A887C64}" type="sibTrans" cxnId="{3BD9D605-EA92-4973-BEF1-F6326FBF66DC}">
      <dgm:prSet/>
      <dgm:spPr/>
      <dgm:t>
        <a:bodyPr/>
        <a:lstStyle/>
        <a:p>
          <a:pPr>
            <a:lnSpc>
              <a:spcPct val="100000"/>
            </a:lnSpc>
            <a:defRPr b="1"/>
          </a:pPr>
          <a:endParaRPr lang="en-US"/>
        </a:p>
      </dgm:t>
    </dgm:pt>
    <dgm:pt modelId="{94F31BEB-126C-457F-832F-5598FC489DED}">
      <dgm:prSet/>
      <dgm:spPr/>
      <dgm:t>
        <a:bodyPr/>
        <a:lstStyle/>
        <a:p>
          <a:pPr>
            <a:lnSpc>
              <a:spcPct val="100000"/>
            </a:lnSpc>
          </a:pPr>
          <a:r>
            <a:rPr lang="en-US"/>
            <a:t>Future developments in tokenization and embedding in NLP promise greater efficiency and accuracy in language processing tasks.</a:t>
          </a:r>
        </a:p>
      </dgm:t>
    </dgm:pt>
    <dgm:pt modelId="{0464347A-3FBD-45C5-8CD7-DDCD029CE697}" type="parTrans" cxnId="{ED95F65F-D49E-4AB3-9E5A-D927BB38D41C}">
      <dgm:prSet/>
      <dgm:spPr/>
      <dgm:t>
        <a:bodyPr/>
        <a:lstStyle/>
        <a:p>
          <a:endParaRPr lang="en-US"/>
        </a:p>
      </dgm:t>
    </dgm:pt>
    <dgm:pt modelId="{01C37385-26CE-436C-AF62-67D4A95023F4}" type="sibTrans" cxnId="{ED95F65F-D49E-4AB3-9E5A-D927BB38D41C}">
      <dgm:prSet/>
      <dgm:spPr/>
      <dgm:t>
        <a:bodyPr/>
        <a:lstStyle/>
        <a:p>
          <a:endParaRPr lang="en-US"/>
        </a:p>
      </dgm:t>
    </dgm:pt>
    <dgm:pt modelId="{D7522E04-EB54-4DE9-842F-1B7E9E4C2A88}">
      <dgm:prSet/>
      <dgm:spPr/>
      <dgm:t>
        <a:bodyPr/>
        <a:lstStyle/>
        <a:p>
          <a:pPr>
            <a:lnSpc>
              <a:spcPct val="100000"/>
            </a:lnSpc>
            <a:defRPr b="1"/>
          </a:pPr>
          <a:r>
            <a:rPr lang="en-US"/>
            <a:t>Language Diversity Challenges</a:t>
          </a:r>
        </a:p>
      </dgm:t>
    </dgm:pt>
    <dgm:pt modelId="{E2BC0420-4BF5-4EC0-84CA-CD8B7C52ABD1}" type="parTrans" cxnId="{1F03CDE2-6E31-43CD-875E-FFF9A8EDD66E}">
      <dgm:prSet/>
      <dgm:spPr/>
      <dgm:t>
        <a:bodyPr/>
        <a:lstStyle/>
        <a:p>
          <a:endParaRPr lang="en-US"/>
        </a:p>
      </dgm:t>
    </dgm:pt>
    <dgm:pt modelId="{C8F36B0A-507F-46D2-A5AF-0702141CB791}" type="sibTrans" cxnId="{1F03CDE2-6E31-43CD-875E-FFF9A8EDD66E}">
      <dgm:prSet/>
      <dgm:spPr/>
      <dgm:t>
        <a:bodyPr/>
        <a:lstStyle/>
        <a:p>
          <a:pPr>
            <a:lnSpc>
              <a:spcPct val="100000"/>
            </a:lnSpc>
            <a:defRPr b="1"/>
          </a:pPr>
          <a:endParaRPr lang="en-US"/>
        </a:p>
      </dgm:t>
    </dgm:pt>
    <dgm:pt modelId="{C615C33C-831D-4AEC-A5B6-F2B67A6431D7}">
      <dgm:prSet/>
      <dgm:spPr/>
      <dgm:t>
        <a:bodyPr/>
        <a:lstStyle/>
        <a:p>
          <a:pPr>
            <a:lnSpc>
              <a:spcPct val="100000"/>
            </a:lnSpc>
          </a:pPr>
          <a:r>
            <a:rPr lang="en-US"/>
            <a:t>Managing language diversity presents significant challenges for models, requiring innovative approaches to ensure inclusivity.</a:t>
          </a:r>
        </a:p>
      </dgm:t>
    </dgm:pt>
    <dgm:pt modelId="{EFD2CCAE-2C3C-4B0F-9C13-8C1D169C60B3}" type="parTrans" cxnId="{3F06257A-3611-475A-BBF3-50451C6B6367}">
      <dgm:prSet/>
      <dgm:spPr/>
      <dgm:t>
        <a:bodyPr/>
        <a:lstStyle/>
        <a:p>
          <a:endParaRPr lang="en-US"/>
        </a:p>
      </dgm:t>
    </dgm:pt>
    <dgm:pt modelId="{4FE8EB4B-3512-41B1-B746-1D105F65FA5B}" type="sibTrans" cxnId="{3F06257A-3611-475A-BBF3-50451C6B6367}">
      <dgm:prSet/>
      <dgm:spPr/>
      <dgm:t>
        <a:bodyPr/>
        <a:lstStyle/>
        <a:p>
          <a:endParaRPr lang="en-US"/>
        </a:p>
      </dgm:t>
    </dgm:pt>
    <dgm:pt modelId="{F619BEC1-1820-4E4D-A573-D18CB3735688}">
      <dgm:prSet/>
      <dgm:spPr/>
      <dgm:t>
        <a:bodyPr/>
        <a:lstStyle/>
        <a:p>
          <a:pPr>
            <a:lnSpc>
              <a:spcPct val="100000"/>
            </a:lnSpc>
            <a:defRPr b="1"/>
          </a:pPr>
          <a:r>
            <a:rPr lang="en-US"/>
            <a:t>Ensuring Model Fairness</a:t>
          </a:r>
        </a:p>
      </dgm:t>
    </dgm:pt>
    <dgm:pt modelId="{7BE5ADC7-2775-4B46-A7C1-8E7B9739CC63}" type="parTrans" cxnId="{EF21FC22-2751-46B1-88AB-6BBE3E5883FD}">
      <dgm:prSet/>
      <dgm:spPr/>
      <dgm:t>
        <a:bodyPr/>
        <a:lstStyle/>
        <a:p>
          <a:endParaRPr lang="en-US"/>
        </a:p>
      </dgm:t>
    </dgm:pt>
    <dgm:pt modelId="{DDE832A0-1F9D-45C0-A445-287619FD6839}" type="sibTrans" cxnId="{EF21FC22-2751-46B1-88AB-6BBE3E5883FD}">
      <dgm:prSet/>
      <dgm:spPr/>
      <dgm:t>
        <a:bodyPr/>
        <a:lstStyle/>
        <a:p>
          <a:endParaRPr lang="en-US"/>
        </a:p>
      </dgm:t>
    </dgm:pt>
    <dgm:pt modelId="{69C52F68-33CE-4D28-A891-862B2790249C}">
      <dgm:prSet/>
      <dgm:spPr/>
      <dgm:t>
        <a:bodyPr/>
        <a:lstStyle/>
        <a:p>
          <a:pPr>
            <a:lnSpc>
              <a:spcPct val="100000"/>
            </a:lnSpc>
          </a:pPr>
          <a:r>
            <a:rPr lang="en-US"/>
            <a:t>Ensuring fairness in NLP models is crucial to prevent bias and promote equitable outcomes across different languages and contexts.</a:t>
          </a:r>
        </a:p>
      </dgm:t>
    </dgm:pt>
    <dgm:pt modelId="{BA7157D9-4EDF-4379-9587-842C649EEA5D}" type="parTrans" cxnId="{C7DFF0D8-A1EA-46C5-9C09-CFD668CB8622}">
      <dgm:prSet/>
      <dgm:spPr/>
      <dgm:t>
        <a:bodyPr/>
        <a:lstStyle/>
        <a:p>
          <a:endParaRPr lang="en-US"/>
        </a:p>
      </dgm:t>
    </dgm:pt>
    <dgm:pt modelId="{0D26A394-DE45-40E4-B885-529F67145CEF}" type="sibTrans" cxnId="{C7DFF0D8-A1EA-46C5-9C09-CFD668CB8622}">
      <dgm:prSet/>
      <dgm:spPr/>
      <dgm:t>
        <a:bodyPr/>
        <a:lstStyle/>
        <a:p>
          <a:endParaRPr lang="en-US"/>
        </a:p>
      </dgm:t>
    </dgm:pt>
    <dgm:pt modelId="{DDD80056-3A5B-4AB0-B6F6-6307299B256B}" type="pres">
      <dgm:prSet presAssocID="{97715868-C8D0-4A1A-BA05-EF1B184AB924}" presName="Root" presStyleCnt="0">
        <dgm:presLayoutVars>
          <dgm:dir/>
          <dgm:resizeHandles val="exact"/>
        </dgm:presLayoutVars>
      </dgm:prSet>
      <dgm:spPr/>
    </dgm:pt>
    <dgm:pt modelId="{73DD854B-A538-472B-9BB1-8EF9F221BA90}" type="pres">
      <dgm:prSet presAssocID="{6CEBE964-DD26-4954-AD1E-69D6E14778D2}" presName="Composite" presStyleCnt="0"/>
      <dgm:spPr/>
    </dgm:pt>
    <dgm:pt modelId="{B64247F3-8D34-4864-80C1-AC9932E89AC2}" type="pres">
      <dgm:prSet presAssocID="{6CEBE964-DD26-4954-AD1E-69D6E14778D2}"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1959" r="21291"/>
          <a:stretch/>
        </a:blipFill>
      </dgm:spPr>
      <dgm:extLst>
        <a:ext uri="{E40237B7-FDA0-4F09-8148-C483321AD2D9}">
          <dgm14:cNvPr xmlns:dgm14="http://schemas.microsoft.com/office/drawing/2010/diagram" id="0" name="" descr="Internet of Things Concept"/>
        </a:ext>
      </dgm:extLst>
    </dgm:pt>
    <dgm:pt modelId="{B6CD3A6F-6254-45D0-8088-EC4134DBD906}" type="pres">
      <dgm:prSet presAssocID="{6CEBE964-DD26-4954-AD1E-69D6E14778D2}" presName="Subtitle" presStyleLbl="revTx" presStyleIdx="0" presStyleCnt="6">
        <dgm:presLayoutVars>
          <dgm:chMax val="0"/>
          <dgm:bulletEnabled/>
        </dgm:presLayoutVars>
      </dgm:prSet>
      <dgm:spPr/>
    </dgm:pt>
    <dgm:pt modelId="{2331A8F0-756B-429C-9444-0EE83EED74A7}" type="pres">
      <dgm:prSet presAssocID="{6CEBE964-DD26-4954-AD1E-69D6E14778D2}" presName="Description" presStyleLbl="revTx" presStyleIdx="1" presStyleCnt="6">
        <dgm:presLayoutVars>
          <dgm:bulletEnabled/>
        </dgm:presLayoutVars>
      </dgm:prSet>
      <dgm:spPr/>
    </dgm:pt>
    <dgm:pt modelId="{EA5BC046-5B43-4E8A-BBA8-6D88CCC9739D}" type="pres">
      <dgm:prSet presAssocID="{D8538C0E-6C91-43D2-B21F-60AE2A887C64}" presName="sibTrans" presStyleLbl="sibTrans2D1" presStyleIdx="0" presStyleCnt="0"/>
      <dgm:spPr/>
    </dgm:pt>
    <dgm:pt modelId="{78BE7500-7F70-49BB-A2A0-0A0B47E6F0CE}" type="pres">
      <dgm:prSet presAssocID="{D7522E04-EB54-4DE9-842F-1B7E9E4C2A88}" presName="Composite" presStyleCnt="0"/>
      <dgm:spPr/>
    </dgm:pt>
    <dgm:pt modelId="{E83626CD-C691-4059-8AEE-A026C86F25A2}" type="pres">
      <dgm:prSet presAssocID="{D7522E04-EB54-4DE9-842F-1B7E9E4C2A88}"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21757" r="11492"/>
          <a:stretch/>
        </a:blipFill>
      </dgm:spPr>
      <dgm:extLst>
        <a:ext uri="{E40237B7-FDA0-4F09-8148-C483321AD2D9}">
          <dgm14:cNvPr xmlns:dgm14="http://schemas.microsoft.com/office/drawing/2010/diagram" id="0" name="" descr="Colorful Blank Speech Bubbles with Countries Flags Concept"/>
        </a:ext>
      </dgm:extLst>
    </dgm:pt>
    <dgm:pt modelId="{72D8CF7C-184F-41C0-8B7A-E0A2C506E777}" type="pres">
      <dgm:prSet presAssocID="{D7522E04-EB54-4DE9-842F-1B7E9E4C2A88}" presName="Subtitle" presStyleLbl="revTx" presStyleIdx="2" presStyleCnt="6">
        <dgm:presLayoutVars>
          <dgm:chMax val="0"/>
          <dgm:bulletEnabled/>
        </dgm:presLayoutVars>
      </dgm:prSet>
      <dgm:spPr/>
    </dgm:pt>
    <dgm:pt modelId="{DC5B0332-37FA-4996-8751-FAD533AE2330}" type="pres">
      <dgm:prSet presAssocID="{D7522E04-EB54-4DE9-842F-1B7E9E4C2A88}" presName="Description" presStyleLbl="revTx" presStyleIdx="3" presStyleCnt="6">
        <dgm:presLayoutVars>
          <dgm:bulletEnabled/>
        </dgm:presLayoutVars>
      </dgm:prSet>
      <dgm:spPr/>
    </dgm:pt>
    <dgm:pt modelId="{2858D8DB-93F5-4CCF-90CD-0F11DB2F49CE}" type="pres">
      <dgm:prSet presAssocID="{C8F36B0A-507F-46D2-A5AF-0702141CB791}" presName="sibTrans" presStyleLbl="sibTrans2D1" presStyleIdx="0" presStyleCnt="0"/>
      <dgm:spPr/>
    </dgm:pt>
    <dgm:pt modelId="{E6D0C7CD-3A4A-4CC1-8C68-780720193DBA}" type="pres">
      <dgm:prSet presAssocID="{F619BEC1-1820-4E4D-A573-D18CB3735688}" presName="Composite" presStyleCnt="0"/>
      <dgm:spPr/>
    </dgm:pt>
    <dgm:pt modelId="{6D8FD76E-B6A1-43AE-A80E-A6409540F8EE}" type="pres">
      <dgm:prSet presAssocID="{F619BEC1-1820-4E4D-A573-D18CB3735688}"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6247" r="17003"/>
          <a:stretch/>
        </a:blipFill>
      </dgm:spPr>
      <dgm:extLst>
        <a:ext uri="{E40237B7-FDA0-4F09-8148-C483321AD2D9}">
          <dgm14:cNvPr xmlns:dgm14="http://schemas.microsoft.com/office/drawing/2010/diagram" id="0" name="" descr="Social media network communication connection"/>
        </a:ext>
      </dgm:extLst>
    </dgm:pt>
    <dgm:pt modelId="{C44CCD35-D1D2-4C47-A8CF-4F3D1E45966A}" type="pres">
      <dgm:prSet presAssocID="{F619BEC1-1820-4E4D-A573-D18CB3735688}" presName="Subtitle" presStyleLbl="revTx" presStyleIdx="4" presStyleCnt="6">
        <dgm:presLayoutVars>
          <dgm:chMax val="0"/>
          <dgm:bulletEnabled/>
        </dgm:presLayoutVars>
      </dgm:prSet>
      <dgm:spPr/>
    </dgm:pt>
    <dgm:pt modelId="{6552F09D-D1BD-47F5-9F18-8007AC872DF2}" type="pres">
      <dgm:prSet presAssocID="{F619BEC1-1820-4E4D-A573-D18CB3735688}" presName="Description" presStyleLbl="revTx" presStyleIdx="5" presStyleCnt="6">
        <dgm:presLayoutVars>
          <dgm:bulletEnabled/>
        </dgm:presLayoutVars>
      </dgm:prSet>
      <dgm:spPr/>
    </dgm:pt>
  </dgm:ptLst>
  <dgm:cxnLst>
    <dgm:cxn modelId="{3BD9D605-EA92-4973-BEF1-F6326FBF66DC}" srcId="{97715868-C8D0-4A1A-BA05-EF1B184AB924}" destId="{6CEBE964-DD26-4954-AD1E-69D6E14778D2}" srcOrd="0" destOrd="0" parTransId="{6837FFFA-5952-41F2-8435-F731F59B7B7E}" sibTransId="{D8538C0E-6C91-43D2-B21F-60AE2A887C64}"/>
    <dgm:cxn modelId="{91ACC90A-30F9-475D-B8F2-03D8808CD46F}" type="presOf" srcId="{97715868-C8D0-4A1A-BA05-EF1B184AB924}" destId="{DDD80056-3A5B-4AB0-B6F6-6307299B256B}" srcOrd="0" destOrd="0" presId="urn:microsoft.com/office/officeart/2024/3/layout/verticalVisualTextBlock1"/>
    <dgm:cxn modelId="{F926730F-5B20-4A41-B452-3A1BAE43E1F8}" type="presOf" srcId="{94F31BEB-126C-457F-832F-5598FC489DED}" destId="{2331A8F0-756B-429C-9444-0EE83EED74A7}" srcOrd="0" destOrd="0" presId="urn:microsoft.com/office/officeart/2024/3/layout/verticalVisualTextBlock1"/>
    <dgm:cxn modelId="{CD475F17-6C13-479A-AF85-1638A65EE8E9}" type="presOf" srcId="{D8538C0E-6C91-43D2-B21F-60AE2A887C64}" destId="{EA5BC046-5B43-4E8A-BBA8-6D88CCC9739D}" srcOrd="0" destOrd="0" presId="urn:microsoft.com/office/officeart/2024/3/layout/verticalVisualTextBlock1"/>
    <dgm:cxn modelId="{C7358C1C-49DE-4239-9244-85F22A110E73}" type="presOf" srcId="{C8F36B0A-507F-46D2-A5AF-0702141CB791}" destId="{2858D8DB-93F5-4CCF-90CD-0F11DB2F49CE}" srcOrd="0" destOrd="0" presId="urn:microsoft.com/office/officeart/2024/3/layout/verticalVisualTextBlock1"/>
    <dgm:cxn modelId="{EF21FC22-2751-46B1-88AB-6BBE3E5883FD}" srcId="{97715868-C8D0-4A1A-BA05-EF1B184AB924}" destId="{F619BEC1-1820-4E4D-A573-D18CB3735688}" srcOrd="2" destOrd="0" parTransId="{7BE5ADC7-2775-4B46-A7C1-8E7B9739CC63}" sibTransId="{DDE832A0-1F9D-45C0-A445-287619FD6839}"/>
    <dgm:cxn modelId="{BF74F738-782A-42F9-9608-97F90A93503D}" type="presOf" srcId="{F619BEC1-1820-4E4D-A573-D18CB3735688}" destId="{C44CCD35-D1D2-4C47-A8CF-4F3D1E45966A}" srcOrd="0" destOrd="0" presId="urn:microsoft.com/office/officeart/2024/3/layout/verticalVisualTextBlock1"/>
    <dgm:cxn modelId="{51ECDA39-A6F4-4453-8ED0-6174D82031F8}" type="presOf" srcId="{C615C33C-831D-4AEC-A5B6-F2B67A6431D7}" destId="{DC5B0332-37FA-4996-8751-FAD533AE2330}" srcOrd="0" destOrd="0" presId="urn:microsoft.com/office/officeart/2024/3/layout/verticalVisualTextBlock1"/>
    <dgm:cxn modelId="{ED95F65F-D49E-4AB3-9E5A-D927BB38D41C}" srcId="{6CEBE964-DD26-4954-AD1E-69D6E14778D2}" destId="{94F31BEB-126C-457F-832F-5598FC489DED}" srcOrd="0" destOrd="0" parTransId="{0464347A-3FBD-45C5-8CD7-DDCD029CE697}" sibTransId="{01C37385-26CE-436C-AF62-67D4A95023F4}"/>
    <dgm:cxn modelId="{90045952-1E5B-4FDD-9A23-9F5C12B6369C}" type="presOf" srcId="{6CEBE964-DD26-4954-AD1E-69D6E14778D2}" destId="{B6CD3A6F-6254-45D0-8088-EC4134DBD906}" srcOrd="0" destOrd="0" presId="urn:microsoft.com/office/officeart/2024/3/layout/verticalVisualTextBlock1"/>
    <dgm:cxn modelId="{3F06257A-3611-475A-BBF3-50451C6B6367}" srcId="{D7522E04-EB54-4DE9-842F-1B7E9E4C2A88}" destId="{C615C33C-831D-4AEC-A5B6-F2B67A6431D7}" srcOrd="0" destOrd="0" parTransId="{EFD2CCAE-2C3C-4B0F-9C13-8C1D169C60B3}" sibTransId="{4FE8EB4B-3512-41B1-B746-1D105F65FA5B}"/>
    <dgm:cxn modelId="{CF067FD6-0607-49BC-8089-3188C76C052B}" type="presOf" srcId="{69C52F68-33CE-4D28-A891-862B2790249C}" destId="{6552F09D-D1BD-47F5-9F18-8007AC872DF2}" srcOrd="0" destOrd="0" presId="urn:microsoft.com/office/officeart/2024/3/layout/verticalVisualTextBlock1"/>
    <dgm:cxn modelId="{C7DFF0D8-A1EA-46C5-9C09-CFD668CB8622}" srcId="{F619BEC1-1820-4E4D-A573-D18CB3735688}" destId="{69C52F68-33CE-4D28-A891-862B2790249C}" srcOrd="0" destOrd="0" parTransId="{BA7157D9-4EDF-4379-9587-842C649EEA5D}" sibTransId="{0D26A394-DE45-40E4-B885-529F67145CEF}"/>
    <dgm:cxn modelId="{1F03CDE2-6E31-43CD-875E-FFF9A8EDD66E}" srcId="{97715868-C8D0-4A1A-BA05-EF1B184AB924}" destId="{D7522E04-EB54-4DE9-842F-1B7E9E4C2A88}" srcOrd="1" destOrd="0" parTransId="{E2BC0420-4BF5-4EC0-84CA-CD8B7C52ABD1}" sibTransId="{C8F36B0A-507F-46D2-A5AF-0702141CB791}"/>
    <dgm:cxn modelId="{DC69DFE4-89BB-4E07-9FFC-A06A35924FB2}" type="presOf" srcId="{D7522E04-EB54-4DE9-842F-1B7E9E4C2A88}" destId="{72D8CF7C-184F-41C0-8B7A-E0A2C506E777}" srcOrd="0" destOrd="0" presId="urn:microsoft.com/office/officeart/2024/3/layout/verticalVisualTextBlock1"/>
    <dgm:cxn modelId="{0E0B61C0-F32C-46F9-B0EE-052613B0EB23}" type="presParOf" srcId="{DDD80056-3A5B-4AB0-B6F6-6307299B256B}" destId="{73DD854B-A538-472B-9BB1-8EF9F221BA90}" srcOrd="0" destOrd="0" presId="urn:microsoft.com/office/officeart/2024/3/layout/verticalVisualTextBlock1"/>
    <dgm:cxn modelId="{1A4A45DD-168E-4F4D-BF22-C299BFEF46F3}" type="presParOf" srcId="{73DD854B-A538-472B-9BB1-8EF9F221BA90}" destId="{B64247F3-8D34-4864-80C1-AC9932E89AC2}" srcOrd="0" destOrd="0" presId="urn:microsoft.com/office/officeart/2024/3/layout/verticalVisualTextBlock1"/>
    <dgm:cxn modelId="{1E3BB080-DC48-42A4-B1F0-572B8FC42AEF}" type="presParOf" srcId="{73DD854B-A538-472B-9BB1-8EF9F221BA90}" destId="{B6CD3A6F-6254-45D0-8088-EC4134DBD906}" srcOrd="1" destOrd="0" presId="urn:microsoft.com/office/officeart/2024/3/layout/verticalVisualTextBlock1"/>
    <dgm:cxn modelId="{CF46DCFC-A644-473C-9918-77F7125DDBD9}" type="presParOf" srcId="{73DD854B-A538-472B-9BB1-8EF9F221BA90}" destId="{2331A8F0-756B-429C-9444-0EE83EED74A7}" srcOrd="2" destOrd="0" presId="urn:microsoft.com/office/officeart/2024/3/layout/verticalVisualTextBlock1"/>
    <dgm:cxn modelId="{6006B243-5207-4D13-9771-A7CBF55D87CA}" type="presParOf" srcId="{DDD80056-3A5B-4AB0-B6F6-6307299B256B}" destId="{EA5BC046-5B43-4E8A-BBA8-6D88CCC9739D}" srcOrd="1" destOrd="0" presId="urn:microsoft.com/office/officeart/2024/3/layout/verticalVisualTextBlock1"/>
    <dgm:cxn modelId="{34CE5209-C641-47DB-AA9C-FFCD9AC0F9E0}" type="presParOf" srcId="{DDD80056-3A5B-4AB0-B6F6-6307299B256B}" destId="{78BE7500-7F70-49BB-A2A0-0A0B47E6F0CE}" srcOrd="2" destOrd="0" presId="urn:microsoft.com/office/officeart/2024/3/layout/verticalVisualTextBlock1"/>
    <dgm:cxn modelId="{B221E4B2-525D-41BF-AE90-F9ACB9D9A00C}" type="presParOf" srcId="{78BE7500-7F70-49BB-A2A0-0A0B47E6F0CE}" destId="{E83626CD-C691-4059-8AEE-A026C86F25A2}" srcOrd="0" destOrd="0" presId="urn:microsoft.com/office/officeart/2024/3/layout/verticalVisualTextBlock1"/>
    <dgm:cxn modelId="{1604B9F0-777E-4BD0-9F53-2BC37EFF5B12}" type="presParOf" srcId="{78BE7500-7F70-49BB-A2A0-0A0B47E6F0CE}" destId="{72D8CF7C-184F-41C0-8B7A-E0A2C506E777}" srcOrd="1" destOrd="0" presId="urn:microsoft.com/office/officeart/2024/3/layout/verticalVisualTextBlock1"/>
    <dgm:cxn modelId="{BD524E5C-0A7E-4ABB-A607-F7D9FD8D85C0}" type="presParOf" srcId="{78BE7500-7F70-49BB-A2A0-0A0B47E6F0CE}" destId="{DC5B0332-37FA-4996-8751-FAD533AE2330}" srcOrd="2" destOrd="0" presId="urn:microsoft.com/office/officeart/2024/3/layout/verticalVisualTextBlock1"/>
    <dgm:cxn modelId="{57F7A16F-4FAF-4CA2-8015-1478FC0670C8}" type="presParOf" srcId="{DDD80056-3A5B-4AB0-B6F6-6307299B256B}" destId="{2858D8DB-93F5-4CCF-90CD-0F11DB2F49CE}" srcOrd="3" destOrd="0" presId="urn:microsoft.com/office/officeart/2024/3/layout/verticalVisualTextBlock1"/>
    <dgm:cxn modelId="{D6A22EB2-579A-47AA-A265-14A5E3604A11}" type="presParOf" srcId="{DDD80056-3A5B-4AB0-B6F6-6307299B256B}" destId="{E6D0C7CD-3A4A-4CC1-8C68-780720193DBA}" srcOrd="4" destOrd="0" presId="urn:microsoft.com/office/officeart/2024/3/layout/verticalVisualTextBlock1"/>
    <dgm:cxn modelId="{230840E7-4608-4080-81EE-DF8C47964A5A}" type="presParOf" srcId="{E6D0C7CD-3A4A-4CC1-8C68-780720193DBA}" destId="{6D8FD76E-B6A1-43AE-A80E-A6409540F8EE}" srcOrd="0" destOrd="0" presId="urn:microsoft.com/office/officeart/2024/3/layout/verticalVisualTextBlock1"/>
    <dgm:cxn modelId="{73BCBFFD-F598-48FB-8575-3E58BF0A21A8}" type="presParOf" srcId="{E6D0C7CD-3A4A-4CC1-8C68-780720193DBA}" destId="{C44CCD35-D1D2-4C47-A8CF-4F3D1E45966A}" srcOrd="1" destOrd="0" presId="urn:microsoft.com/office/officeart/2024/3/layout/verticalVisualTextBlock1"/>
    <dgm:cxn modelId="{AAF9A731-4FD8-4577-91C3-5C346FA6D581}" type="presParOf" srcId="{E6D0C7CD-3A4A-4CC1-8C68-780720193DBA}" destId="{6552F09D-D1BD-47F5-9F18-8007AC872DF2}"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E3DB077-813F-418D-BEF6-EFA36397C2B8}"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161C4721-47BB-4795-92EF-99A8D4F61A84}">
      <dgm:prSet/>
      <dgm:spPr/>
      <dgm:t>
        <a:bodyPr/>
        <a:lstStyle/>
        <a:p>
          <a:pPr>
            <a:lnSpc>
              <a:spcPct val="100000"/>
            </a:lnSpc>
            <a:defRPr b="1"/>
          </a:pPr>
          <a:r>
            <a:rPr lang="en-US"/>
            <a:t>Role of Tokenization</a:t>
          </a:r>
        </a:p>
      </dgm:t>
    </dgm:pt>
    <dgm:pt modelId="{4E1B706D-C9CE-461F-986F-3CA9A47C4676}" type="parTrans" cxnId="{0AF21831-86E1-4F04-ADF5-10929BD11CCA}">
      <dgm:prSet/>
      <dgm:spPr/>
      <dgm:t>
        <a:bodyPr/>
        <a:lstStyle/>
        <a:p>
          <a:endParaRPr lang="en-US"/>
        </a:p>
      </dgm:t>
    </dgm:pt>
    <dgm:pt modelId="{F47F9B51-E397-4047-A20F-25795380D905}" type="sibTrans" cxnId="{0AF21831-86E1-4F04-ADF5-10929BD11CCA}">
      <dgm:prSet/>
      <dgm:spPr/>
      <dgm:t>
        <a:bodyPr/>
        <a:lstStyle/>
        <a:p>
          <a:pPr>
            <a:lnSpc>
              <a:spcPct val="100000"/>
            </a:lnSpc>
            <a:defRPr b="1"/>
          </a:pPr>
          <a:endParaRPr lang="en-US"/>
        </a:p>
      </dgm:t>
    </dgm:pt>
    <dgm:pt modelId="{68615432-ADB7-494C-9B7C-31DE5E5BCA0C}">
      <dgm:prSet/>
      <dgm:spPr/>
      <dgm:t>
        <a:bodyPr/>
        <a:lstStyle/>
        <a:p>
          <a:pPr>
            <a:lnSpc>
              <a:spcPct val="100000"/>
            </a:lnSpc>
          </a:pPr>
          <a:r>
            <a:rPr lang="en-US"/>
            <a:t>Tokenization is crucial for breaking down text into manageable pieces, facilitating better processing by language models.</a:t>
          </a:r>
        </a:p>
      </dgm:t>
    </dgm:pt>
    <dgm:pt modelId="{03EFC7F4-F139-4674-9098-F7B570D83916}" type="parTrans" cxnId="{F7ED41C5-702B-474F-9D33-10DFCD3D21EF}">
      <dgm:prSet/>
      <dgm:spPr/>
      <dgm:t>
        <a:bodyPr/>
        <a:lstStyle/>
        <a:p>
          <a:endParaRPr lang="en-US"/>
        </a:p>
      </dgm:t>
    </dgm:pt>
    <dgm:pt modelId="{016D02A5-BAC2-443E-BB72-1CA8E6B9DC0D}" type="sibTrans" cxnId="{F7ED41C5-702B-474F-9D33-10DFCD3D21EF}">
      <dgm:prSet/>
      <dgm:spPr/>
      <dgm:t>
        <a:bodyPr/>
        <a:lstStyle/>
        <a:p>
          <a:endParaRPr lang="en-US"/>
        </a:p>
      </dgm:t>
    </dgm:pt>
    <dgm:pt modelId="{F245EB65-67D9-4BC1-9E1D-15E1C73BFE41}">
      <dgm:prSet/>
      <dgm:spPr/>
      <dgm:t>
        <a:bodyPr/>
        <a:lstStyle/>
        <a:p>
          <a:pPr>
            <a:lnSpc>
              <a:spcPct val="100000"/>
            </a:lnSpc>
            <a:defRPr b="1"/>
          </a:pPr>
          <a:r>
            <a:rPr lang="en-US"/>
            <a:t>Importance of Embedding</a:t>
          </a:r>
        </a:p>
      </dgm:t>
    </dgm:pt>
    <dgm:pt modelId="{87D39BC3-27F2-4763-BA6D-B7F1EA0FB42B}" type="parTrans" cxnId="{5226E343-EEE8-4510-999A-78DF039FEB32}">
      <dgm:prSet/>
      <dgm:spPr/>
      <dgm:t>
        <a:bodyPr/>
        <a:lstStyle/>
        <a:p>
          <a:endParaRPr lang="en-US"/>
        </a:p>
      </dgm:t>
    </dgm:pt>
    <dgm:pt modelId="{E6B1DA73-2B4E-439F-86D5-F57899E818B2}" type="sibTrans" cxnId="{5226E343-EEE8-4510-999A-78DF039FEB32}">
      <dgm:prSet/>
      <dgm:spPr/>
      <dgm:t>
        <a:bodyPr/>
        <a:lstStyle/>
        <a:p>
          <a:pPr>
            <a:lnSpc>
              <a:spcPct val="100000"/>
            </a:lnSpc>
            <a:defRPr b="1"/>
          </a:pPr>
          <a:endParaRPr lang="en-US"/>
        </a:p>
      </dgm:t>
    </dgm:pt>
    <dgm:pt modelId="{0F0B5BA0-7DBA-4801-8E66-8EBBBCAA8AF2}">
      <dgm:prSet/>
      <dgm:spPr/>
      <dgm:t>
        <a:bodyPr/>
        <a:lstStyle/>
        <a:p>
          <a:pPr>
            <a:lnSpc>
              <a:spcPct val="100000"/>
            </a:lnSpc>
          </a:pPr>
          <a:r>
            <a:rPr lang="en-US"/>
            <a:t>Embedding transforms words into numerical representations, enabling machines to understand context and relationships in language.</a:t>
          </a:r>
        </a:p>
      </dgm:t>
    </dgm:pt>
    <dgm:pt modelId="{8F20B54B-F583-4721-A8AC-5EB3680CFBA8}" type="parTrans" cxnId="{1C0F0D24-C7EA-42D3-B82F-6CF71ED5F811}">
      <dgm:prSet/>
      <dgm:spPr/>
      <dgm:t>
        <a:bodyPr/>
        <a:lstStyle/>
        <a:p>
          <a:endParaRPr lang="en-US"/>
        </a:p>
      </dgm:t>
    </dgm:pt>
    <dgm:pt modelId="{6E6BC5E5-DFB9-4230-BEA6-3EA12419516D}" type="sibTrans" cxnId="{1C0F0D24-C7EA-42D3-B82F-6CF71ED5F811}">
      <dgm:prSet/>
      <dgm:spPr/>
      <dgm:t>
        <a:bodyPr/>
        <a:lstStyle/>
        <a:p>
          <a:endParaRPr lang="en-US"/>
        </a:p>
      </dgm:t>
    </dgm:pt>
    <dgm:pt modelId="{E2661386-C655-45FD-99BA-22D28C6BB0FC}">
      <dgm:prSet/>
      <dgm:spPr/>
      <dgm:t>
        <a:bodyPr/>
        <a:lstStyle/>
        <a:p>
          <a:pPr>
            <a:lnSpc>
              <a:spcPct val="100000"/>
            </a:lnSpc>
            <a:defRPr b="1"/>
          </a:pPr>
          <a:r>
            <a:rPr lang="en-US"/>
            <a:t>Future of NLP</a:t>
          </a:r>
        </a:p>
      </dgm:t>
    </dgm:pt>
    <dgm:pt modelId="{62330EBD-2848-47D3-AE27-33B88B28BDA5}" type="parTrans" cxnId="{B3B2FEC1-CD6C-40B2-9096-EA6000E1BC0B}">
      <dgm:prSet/>
      <dgm:spPr/>
      <dgm:t>
        <a:bodyPr/>
        <a:lstStyle/>
        <a:p>
          <a:endParaRPr lang="en-US"/>
        </a:p>
      </dgm:t>
    </dgm:pt>
    <dgm:pt modelId="{8974F17D-7B73-4F8E-A22A-C8C377260287}" type="sibTrans" cxnId="{B3B2FEC1-CD6C-40B2-9096-EA6000E1BC0B}">
      <dgm:prSet/>
      <dgm:spPr/>
      <dgm:t>
        <a:bodyPr/>
        <a:lstStyle/>
        <a:p>
          <a:endParaRPr lang="en-US"/>
        </a:p>
      </dgm:t>
    </dgm:pt>
    <dgm:pt modelId="{A49D2C07-2D93-47EB-96A9-57A512778BB5}">
      <dgm:prSet/>
      <dgm:spPr/>
      <dgm:t>
        <a:bodyPr/>
        <a:lstStyle/>
        <a:p>
          <a:pPr>
            <a:lnSpc>
              <a:spcPct val="100000"/>
            </a:lnSpc>
          </a:pPr>
          <a:r>
            <a:rPr lang="en-US"/>
            <a:t>The evolving techniques of tokenization and embedding continue to shape the advancement of natural language processing applications.</a:t>
          </a:r>
        </a:p>
      </dgm:t>
    </dgm:pt>
    <dgm:pt modelId="{F7A8D966-25A8-45BF-8D0D-2684322D43BB}" type="parTrans" cxnId="{FE884BC7-9076-4CDC-9A82-3F68E83634DB}">
      <dgm:prSet/>
      <dgm:spPr/>
      <dgm:t>
        <a:bodyPr/>
        <a:lstStyle/>
        <a:p>
          <a:endParaRPr lang="en-US"/>
        </a:p>
      </dgm:t>
    </dgm:pt>
    <dgm:pt modelId="{B38F92AD-E9BB-4E75-9B8E-78EC73A36ECF}" type="sibTrans" cxnId="{FE884BC7-9076-4CDC-9A82-3F68E83634DB}">
      <dgm:prSet/>
      <dgm:spPr/>
      <dgm:t>
        <a:bodyPr/>
        <a:lstStyle/>
        <a:p>
          <a:endParaRPr lang="en-US"/>
        </a:p>
      </dgm:t>
    </dgm:pt>
    <dgm:pt modelId="{22100FEC-DD85-4A2A-93DA-17FABAF50002}" type="pres">
      <dgm:prSet presAssocID="{AE3DB077-813F-418D-BEF6-EFA36397C2B8}" presName="Name0" presStyleCnt="0">
        <dgm:presLayoutVars>
          <dgm:dir/>
          <dgm:resizeHandles val="exact"/>
        </dgm:presLayoutVars>
      </dgm:prSet>
      <dgm:spPr/>
    </dgm:pt>
    <dgm:pt modelId="{32D096BD-CB56-49CB-9526-69790CE897CD}" type="pres">
      <dgm:prSet presAssocID="{161C4721-47BB-4795-92EF-99A8D4F61A84}" presName="compNode" presStyleCnt="0"/>
      <dgm:spPr/>
    </dgm:pt>
    <dgm:pt modelId="{D69510E4-71F0-4216-B252-E4BD67659E9C}" type="pres">
      <dgm:prSet presAssocID="{161C4721-47BB-4795-92EF-99A8D4F61A84}" presName="pictRect" presStyleLbl="revTx" presStyleIdx="0" presStyleCnt="6">
        <dgm:presLayoutVars>
          <dgm:chMax val="0"/>
          <dgm:bulletEnabled/>
        </dgm:presLayoutVars>
      </dgm:prSet>
      <dgm:spPr/>
    </dgm:pt>
    <dgm:pt modelId="{DED39528-9455-4C2F-906F-FB32325B0707}" type="pres">
      <dgm:prSet presAssocID="{161C4721-47BB-4795-92EF-99A8D4F61A84}" presName="textRect" presStyleLbl="revTx" presStyleIdx="1" presStyleCnt="6">
        <dgm:presLayoutVars>
          <dgm:bulletEnabled/>
        </dgm:presLayoutVars>
      </dgm:prSet>
      <dgm:spPr/>
    </dgm:pt>
    <dgm:pt modelId="{DE8CA4FA-8246-4CD6-A0A1-641223B15D39}" type="pres">
      <dgm:prSet presAssocID="{F47F9B51-E397-4047-A20F-25795380D905}" presName="sibTrans" presStyleLbl="sibTrans2D1" presStyleIdx="0" presStyleCnt="0"/>
      <dgm:spPr/>
    </dgm:pt>
    <dgm:pt modelId="{CECF353F-97CA-47B0-9330-312D8E7BB604}" type="pres">
      <dgm:prSet presAssocID="{F245EB65-67D9-4BC1-9E1D-15E1C73BFE41}" presName="compNode" presStyleCnt="0"/>
      <dgm:spPr/>
    </dgm:pt>
    <dgm:pt modelId="{F05AF737-1B33-435A-A0D8-556E19E414CA}" type="pres">
      <dgm:prSet presAssocID="{F245EB65-67D9-4BC1-9E1D-15E1C73BFE41}" presName="pictRect" presStyleLbl="revTx" presStyleIdx="2" presStyleCnt="6">
        <dgm:presLayoutVars>
          <dgm:chMax val="0"/>
          <dgm:bulletEnabled/>
        </dgm:presLayoutVars>
      </dgm:prSet>
      <dgm:spPr/>
    </dgm:pt>
    <dgm:pt modelId="{F78FC7FA-34E0-4C9E-BCEA-95BECB900EC9}" type="pres">
      <dgm:prSet presAssocID="{F245EB65-67D9-4BC1-9E1D-15E1C73BFE41}" presName="textRect" presStyleLbl="revTx" presStyleIdx="3" presStyleCnt="6">
        <dgm:presLayoutVars>
          <dgm:bulletEnabled/>
        </dgm:presLayoutVars>
      </dgm:prSet>
      <dgm:spPr/>
    </dgm:pt>
    <dgm:pt modelId="{41020EA2-5F01-4983-A241-89C45F3A80EB}" type="pres">
      <dgm:prSet presAssocID="{E6B1DA73-2B4E-439F-86D5-F57899E818B2}" presName="sibTrans" presStyleLbl="sibTrans2D1" presStyleIdx="0" presStyleCnt="0"/>
      <dgm:spPr/>
    </dgm:pt>
    <dgm:pt modelId="{97E35C6B-25C5-4795-8132-7DD5D3EFF7F0}" type="pres">
      <dgm:prSet presAssocID="{E2661386-C655-45FD-99BA-22D28C6BB0FC}" presName="compNode" presStyleCnt="0"/>
      <dgm:spPr/>
    </dgm:pt>
    <dgm:pt modelId="{2E5DEB98-0448-49DE-8B9E-728139A5DC27}" type="pres">
      <dgm:prSet presAssocID="{E2661386-C655-45FD-99BA-22D28C6BB0FC}" presName="pictRect" presStyleLbl="revTx" presStyleIdx="4" presStyleCnt="6">
        <dgm:presLayoutVars>
          <dgm:chMax val="0"/>
          <dgm:bulletEnabled/>
        </dgm:presLayoutVars>
      </dgm:prSet>
      <dgm:spPr/>
    </dgm:pt>
    <dgm:pt modelId="{683FBF13-559E-4A84-A3C0-D71C518C3175}" type="pres">
      <dgm:prSet presAssocID="{E2661386-C655-45FD-99BA-22D28C6BB0FC}" presName="textRect" presStyleLbl="revTx" presStyleIdx="5" presStyleCnt="6">
        <dgm:presLayoutVars>
          <dgm:bulletEnabled/>
        </dgm:presLayoutVars>
      </dgm:prSet>
      <dgm:spPr/>
    </dgm:pt>
  </dgm:ptLst>
  <dgm:cxnLst>
    <dgm:cxn modelId="{7FDE0B18-1314-483D-B542-1AB8D7F5170F}" type="presOf" srcId="{A49D2C07-2D93-47EB-96A9-57A512778BB5}" destId="{683FBF13-559E-4A84-A3C0-D71C518C3175}" srcOrd="0" destOrd="0" presId="urn:microsoft.com/office/officeart/2024/3/layout/hArchList1"/>
    <dgm:cxn modelId="{1C0F0D24-C7EA-42D3-B82F-6CF71ED5F811}" srcId="{F245EB65-67D9-4BC1-9E1D-15E1C73BFE41}" destId="{0F0B5BA0-7DBA-4801-8E66-8EBBBCAA8AF2}" srcOrd="0" destOrd="0" parTransId="{8F20B54B-F583-4721-A8AC-5EB3680CFBA8}" sibTransId="{6E6BC5E5-DFB9-4230-BEA6-3EA12419516D}"/>
    <dgm:cxn modelId="{30F7BC2A-DAC7-498E-994E-EBE30CFF5F4F}" type="presOf" srcId="{0F0B5BA0-7DBA-4801-8E66-8EBBBCAA8AF2}" destId="{F78FC7FA-34E0-4C9E-BCEA-95BECB900EC9}" srcOrd="0" destOrd="0" presId="urn:microsoft.com/office/officeart/2024/3/layout/hArchList1"/>
    <dgm:cxn modelId="{0AF21831-86E1-4F04-ADF5-10929BD11CCA}" srcId="{AE3DB077-813F-418D-BEF6-EFA36397C2B8}" destId="{161C4721-47BB-4795-92EF-99A8D4F61A84}" srcOrd="0" destOrd="0" parTransId="{4E1B706D-C9CE-461F-986F-3CA9A47C4676}" sibTransId="{F47F9B51-E397-4047-A20F-25795380D905}"/>
    <dgm:cxn modelId="{34DAC962-F767-4748-AAD7-8EFD5E0A9671}" type="presOf" srcId="{E2661386-C655-45FD-99BA-22D28C6BB0FC}" destId="{2E5DEB98-0448-49DE-8B9E-728139A5DC27}" srcOrd="0" destOrd="0" presId="urn:microsoft.com/office/officeart/2024/3/layout/hArchList1"/>
    <dgm:cxn modelId="{5226E343-EEE8-4510-999A-78DF039FEB32}" srcId="{AE3DB077-813F-418D-BEF6-EFA36397C2B8}" destId="{F245EB65-67D9-4BC1-9E1D-15E1C73BFE41}" srcOrd="1" destOrd="0" parTransId="{87D39BC3-27F2-4763-BA6D-B7F1EA0FB42B}" sibTransId="{E6B1DA73-2B4E-439F-86D5-F57899E818B2}"/>
    <dgm:cxn modelId="{775F1E7E-7B9B-4201-9AFB-7769F5AC6A3D}" type="presOf" srcId="{AE3DB077-813F-418D-BEF6-EFA36397C2B8}" destId="{22100FEC-DD85-4A2A-93DA-17FABAF50002}" srcOrd="0" destOrd="0" presId="urn:microsoft.com/office/officeart/2024/3/layout/hArchList1"/>
    <dgm:cxn modelId="{ACD6D19D-2EC1-4A11-ACFF-B04FE013943E}" type="presOf" srcId="{F47F9B51-E397-4047-A20F-25795380D905}" destId="{DE8CA4FA-8246-4CD6-A0A1-641223B15D39}" srcOrd="0" destOrd="0" presId="urn:microsoft.com/office/officeart/2024/3/layout/hArchList1"/>
    <dgm:cxn modelId="{49D819A2-3ADA-4ABE-B911-8AD220B58845}" type="presOf" srcId="{161C4721-47BB-4795-92EF-99A8D4F61A84}" destId="{D69510E4-71F0-4216-B252-E4BD67659E9C}" srcOrd="0" destOrd="0" presId="urn:microsoft.com/office/officeart/2024/3/layout/hArchList1"/>
    <dgm:cxn modelId="{9B1A2CBB-2E99-4BB7-9E30-95EDAC4447E8}" type="presOf" srcId="{68615432-ADB7-494C-9B7C-31DE5E5BCA0C}" destId="{DED39528-9455-4C2F-906F-FB32325B0707}" srcOrd="0" destOrd="0" presId="urn:microsoft.com/office/officeart/2024/3/layout/hArchList1"/>
    <dgm:cxn modelId="{B3B2FEC1-CD6C-40B2-9096-EA6000E1BC0B}" srcId="{AE3DB077-813F-418D-BEF6-EFA36397C2B8}" destId="{E2661386-C655-45FD-99BA-22D28C6BB0FC}" srcOrd="2" destOrd="0" parTransId="{62330EBD-2848-47D3-AE27-33B88B28BDA5}" sibTransId="{8974F17D-7B73-4F8E-A22A-C8C377260287}"/>
    <dgm:cxn modelId="{F7ED41C5-702B-474F-9D33-10DFCD3D21EF}" srcId="{161C4721-47BB-4795-92EF-99A8D4F61A84}" destId="{68615432-ADB7-494C-9B7C-31DE5E5BCA0C}" srcOrd="0" destOrd="0" parTransId="{03EFC7F4-F139-4674-9098-F7B570D83916}" sibTransId="{016D02A5-BAC2-443E-BB72-1CA8E6B9DC0D}"/>
    <dgm:cxn modelId="{FE884BC7-9076-4CDC-9A82-3F68E83634DB}" srcId="{E2661386-C655-45FD-99BA-22D28C6BB0FC}" destId="{A49D2C07-2D93-47EB-96A9-57A512778BB5}" srcOrd="0" destOrd="0" parTransId="{F7A8D966-25A8-45BF-8D0D-2684322D43BB}" sibTransId="{B38F92AD-E9BB-4E75-9B8E-78EC73A36ECF}"/>
    <dgm:cxn modelId="{660822E6-1141-4220-81AC-09C3CB53EA8F}" type="presOf" srcId="{E6B1DA73-2B4E-439F-86D5-F57899E818B2}" destId="{41020EA2-5F01-4983-A241-89C45F3A80EB}" srcOrd="0" destOrd="0" presId="urn:microsoft.com/office/officeart/2024/3/layout/hArchList1"/>
    <dgm:cxn modelId="{D83B5BE8-B74F-44F7-BD29-AC850FB8C250}" type="presOf" srcId="{F245EB65-67D9-4BC1-9E1D-15E1C73BFE41}" destId="{F05AF737-1B33-435A-A0D8-556E19E414CA}" srcOrd="0" destOrd="0" presId="urn:microsoft.com/office/officeart/2024/3/layout/hArchList1"/>
    <dgm:cxn modelId="{A5FC96C2-F569-47F2-A4B8-245A6175D9FF}" type="presParOf" srcId="{22100FEC-DD85-4A2A-93DA-17FABAF50002}" destId="{32D096BD-CB56-49CB-9526-69790CE897CD}" srcOrd="0" destOrd="0" presId="urn:microsoft.com/office/officeart/2024/3/layout/hArchList1"/>
    <dgm:cxn modelId="{C3025F70-FC8B-47B0-834D-37292763627B}" type="presParOf" srcId="{32D096BD-CB56-49CB-9526-69790CE897CD}" destId="{D69510E4-71F0-4216-B252-E4BD67659E9C}" srcOrd="0" destOrd="0" presId="urn:microsoft.com/office/officeart/2024/3/layout/hArchList1"/>
    <dgm:cxn modelId="{6D81D60A-BD09-494F-AF56-7F4BD05811DD}" type="presParOf" srcId="{32D096BD-CB56-49CB-9526-69790CE897CD}" destId="{DED39528-9455-4C2F-906F-FB32325B0707}" srcOrd="1" destOrd="0" presId="urn:microsoft.com/office/officeart/2024/3/layout/hArchList1"/>
    <dgm:cxn modelId="{F3FD6531-D580-4B68-B550-EF3F6569DCDC}" type="presParOf" srcId="{22100FEC-DD85-4A2A-93DA-17FABAF50002}" destId="{DE8CA4FA-8246-4CD6-A0A1-641223B15D39}" srcOrd="1" destOrd="0" presId="urn:microsoft.com/office/officeart/2024/3/layout/hArchList1"/>
    <dgm:cxn modelId="{955C1D86-5EA2-433F-B323-4CE1056E5891}" type="presParOf" srcId="{22100FEC-DD85-4A2A-93DA-17FABAF50002}" destId="{CECF353F-97CA-47B0-9330-312D8E7BB604}" srcOrd="2" destOrd="0" presId="urn:microsoft.com/office/officeart/2024/3/layout/hArchList1"/>
    <dgm:cxn modelId="{CBEF09BA-EB33-48F0-9F89-DE87D237C46A}" type="presParOf" srcId="{CECF353F-97CA-47B0-9330-312D8E7BB604}" destId="{F05AF737-1B33-435A-A0D8-556E19E414CA}" srcOrd="0" destOrd="0" presId="urn:microsoft.com/office/officeart/2024/3/layout/hArchList1"/>
    <dgm:cxn modelId="{65902AE2-7BB6-46DB-AE41-4CD6F09FC160}" type="presParOf" srcId="{CECF353F-97CA-47B0-9330-312D8E7BB604}" destId="{F78FC7FA-34E0-4C9E-BCEA-95BECB900EC9}" srcOrd="1" destOrd="0" presId="urn:microsoft.com/office/officeart/2024/3/layout/hArchList1"/>
    <dgm:cxn modelId="{BF9935D6-F51C-4FA1-90F8-0813CA7381F8}" type="presParOf" srcId="{22100FEC-DD85-4A2A-93DA-17FABAF50002}" destId="{41020EA2-5F01-4983-A241-89C45F3A80EB}" srcOrd="3" destOrd="0" presId="urn:microsoft.com/office/officeart/2024/3/layout/hArchList1"/>
    <dgm:cxn modelId="{4C90C366-507D-4353-A163-CECDF121B1D5}" type="presParOf" srcId="{22100FEC-DD85-4A2A-93DA-17FABAF50002}" destId="{97E35C6B-25C5-4795-8132-7DD5D3EFF7F0}" srcOrd="4" destOrd="0" presId="urn:microsoft.com/office/officeart/2024/3/layout/hArchList1"/>
    <dgm:cxn modelId="{DE85D5E9-0B0A-4F8E-8955-59D2CF6FE37C}" type="presParOf" srcId="{97E35C6B-25C5-4795-8132-7DD5D3EFF7F0}" destId="{2E5DEB98-0448-49DE-8B9E-728139A5DC27}" srcOrd="0" destOrd="0" presId="urn:microsoft.com/office/officeart/2024/3/layout/hArchList1"/>
    <dgm:cxn modelId="{128449AB-C5B1-4289-B123-25B89D1CCAC8}" type="presParOf" srcId="{97E35C6B-25C5-4795-8132-7DD5D3EFF7F0}" destId="{683FBF13-559E-4A84-A3C0-D71C518C3175}"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B78077-7CD5-4556-BC8F-93A257F9A243}">
      <dsp:nvSpPr>
        <dsp:cNvPr id="0" name=""/>
        <dsp:cNvSpPr/>
      </dsp:nvSpPr>
      <dsp:spPr>
        <a:xfrm>
          <a:off x="0" y="0"/>
          <a:ext cx="1809729" cy="1809729"/>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t="18647" b="14603"/>
          <a:stretch/>
        </a:blipFill>
        <a:ln>
          <a:noFill/>
        </a:ln>
        <a:effectLst/>
      </dsp:spPr>
      <dsp:style>
        <a:lnRef idx="0">
          <a:scrgbClr r="0" g="0" b="0"/>
        </a:lnRef>
        <a:fillRef idx="3">
          <a:scrgbClr r="0" g="0" b="0"/>
        </a:fillRef>
        <a:effectRef idx="2">
          <a:scrgbClr r="0" g="0" b="0"/>
        </a:effectRef>
        <a:fontRef idx="minor">
          <a:schemeClr val="lt1"/>
        </a:fontRef>
      </dsp:style>
    </dsp:sp>
    <dsp:sp modelId="{AEAFE439-8C55-47C5-AE3C-65FB128A1BCE}">
      <dsp:nvSpPr>
        <dsp:cNvPr id="0" name=""/>
        <dsp:cNvSpPr/>
      </dsp:nvSpPr>
      <dsp:spPr>
        <a:xfrm>
          <a:off x="1989729" y="0"/>
          <a:ext cx="4200050" cy="368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Word Tokenization</a:t>
          </a:r>
        </a:p>
      </dsp:txBody>
      <dsp:txXfrm>
        <a:off x="1989729" y="0"/>
        <a:ext cx="4200050" cy="368353"/>
      </dsp:txXfrm>
    </dsp:sp>
    <dsp:sp modelId="{EDE7FA6B-0395-4B7D-9C48-21C44C34A506}">
      <dsp:nvSpPr>
        <dsp:cNvPr id="0" name=""/>
        <dsp:cNvSpPr/>
      </dsp:nvSpPr>
      <dsp:spPr>
        <a:xfrm>
          <a:off x="1989729" y="368353"/>
          <a:ext cx="4200050" cy="1441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Word tokenization is the process of splitting text into individual words. It is commonly used in many natural language processing tasks.</a:t>
          </a:r>
        </a:p>
      </dsp:txBody>
      <dsp:txXfrm>
        <a:off x="1989729" y="368353"/>
        <a:ext cx="4200050" cy="1441375"/>
      </dsp:txXfrm>
    </dsp:sp>
    <dsp:sp modelId="{E0F72C7C-2EA9-43AE-B16C-8AE44C1D06A4}">
      <dsp:nvSpPr>
        <dsp:cNvPr id="0" name=""/>
        <dsp:cNvSpPr/>
      </dsp:nvSpPr>
      <dsp:spPr>
        <a:xfrm>
          <a:off x="0" y="1954508"/>
          <a:ext cx="1809729" cy="1809729"/>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7224" r="16026"/>
          <a:stretch/>
        </a:blipFill>
        <a:ln>
          <a:noFill/>
        </a:ln>
        <a:effectLst/>
      </dsp:spPr>
      <dsp:style>
        <a:lnRef idx="0">
          <a:scrgbClr r="0" g="0" b="0"/>
        </a:lnRef>
        <a:fillRef idx="3">
          <a:scrgbClr r="0" g="0" b="0"/>
        </a:fillRef>
        <a:effectRef idx="2">
          <a:scrgbClr r="0" g="0" b="0"/>
        </a:effectRef>
        <a:fontRef idx="minor">
          <a:schemeClr val="lt1"/>
        </a:fontRef>
      </dsp:style>
    </dsp:sp>
    <dsp:sp modelId="{ADF74055-550F-4679-AEE0-94260279969E}">
      <dsp:nvSpPr>
        <dsp:cNvPr id="0" name=""/>
        <dsp:cNvSpPr/>
      </dsp:nvSpPr>
      <dsp:spPr>
        <a:xfrm>
          <a:off x="1989729" y="1954508"/>
          <a:ext cx="4200050" cy="368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Subword Tokenization</a:t>
          </a:r>
        </a:p>
      </dsp:txBody>
      <dsp:txXfrm>
        <a:off x="1989729" y="1954508"/>
        <a:ext cx="4200050" cy="368353"/>
      </dsp:txXfrm>
    </dsp:sp>
    <dsp:sp modelId="{1CCE10F8-42D6-4CCC-9805-AFAF98582162}">
      <dsp:nvSpPr>
        <dsp:cNvPr id="0" name=""/>
        <dsp:cNvSpPr/>
      </dsp:nvSpPr>
      <dsp:spPr>
        <a:xfrm>
          <a:off x="1989729" y="2322862"/>
          <a:ext cx="4200050" cy="1441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Subword tokenization involves breaking down words into smaller units or subwords, improving efficiency in handling rare words.</a:t>
          </a:r>
        </a:p>
      </dsp:txBody>
      <dsp:txXfrm>
        <a:off x="1989729" y="2322862"/>
        <a:ext cx="4200050" cy="1441375"/>
      </dsp:txXfrm>
    </dsp:sp>
    <dsp:sp modelId="{9CC9211B-07A3-4A1D-8E2F-4BBAE62BB4A6}">
      <dsp:nvSpPr>
        <dsp:cNvPr id="0" name=""/>
        <dsp:cNvSpPr/>
      </dsp:nvSpPr>
      <dsp:spPr>
        <a:xfrm>
          <a:off x="0" y="3909016"/>
          <a:ext cx="1809729" cy="1809729"/>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5165" r="9830" b="-7"/>
          <a:stretch/>
        </a:blipFill>
        <a:ln>
          <a:noFill/>
        </a:ln>
        <a:effectLst/>
      </dsp:spPr>
      <dsp:style>
        <a:lnRef idx="0">
          <a:scrgbClr r="0" g="0" b="0"/>
        </a:lnRef>
        <a:fillRef idx="3">
          <a:scrgbClr r="0" g="0" b="0"/>
        </a:fillRef>
        <a:effectRef idx="2">
          <a:scrgbClr r="0" g="0" b="0"/>
        </a:effectRef>
        <a:fontRef idx="minor">
          <a:schemeClr val="lt1"/>
        </a:fontRef>
      </dsp:style>
    </dsp:sp>
    <dsp:sp modelId="{BC4355FA-1433-4C43-8A8A-80D0C41383C3}">
      <dsp:nvSpPr>
        <dsp:cNvPr id="0" name=""/>
        <dsp:cNvSpPr/>
      </dsp:nvSpPr>
      <dsp:spPr>
        <a:xfrm>
          <a:off x="1989729" y="3909016"/>
          <a:ext cx="4200050" cy="368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Character Tokenization</a:t>
          </a:r>
        </a:p>
      </dsp:txBody>
      <dsp:txXfrm>
        <a:off x="1989729" y="3909016"/>
        <a:ext cx="4200050" cy="368353"/>
      </dsp:txXfrm>
    </dsp:sp>
    <dsp:sp modelId="{CD7C8296-E3CA-4932-81E8-E16274EBBEC9}">
      <dsp:nvSpPr>
        <dsp:cNvPr id="0" name=""/>
        <dsp:cNvSpPr/>
      </dsp:nvSpPr>
      <dsp:spPr>
        <a:xfrm>
          <a:off x="1989729" y="4277370"/>
          <a:ext cx="4200050" cy="1441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Character tokenization splits text into individual characters. It is useful for languages with complex word formations and for certain machine learning models.</a:t>
          </a:r>
        </a:p>
      </dsp:txBody>
      <dsp:txXfrm>
        <a:off x="1989729" y="4277370"/>
        <a:ext cx="4200050" cy="14413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81381C-32EE-47EB-9923-1A0EF74F91E8}">
      <dsp:nvSpPr>
        <dsp:cNvPr id="0" name=""/>
        <dsp:cNvSpPr/>
      </dsp:nvSpPr>
      <dsp:spPr>
        <a:xfrm>
          <a:off x="0" y="0"/>
          <a:ext cx="1809729" cy="1809729"/>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6726" r="16524"/>
          <a:stretch/>
        </a:blipFill>
        <a:ln>
          <a:noFill/>
        </a:ln>
        <a:effectLst/>
      </dsp:spPr>
      <dsp:style>
        <a:lnRef idx="0">
          <a:scrgbClr r="0" g="0" b="0"/>
        </a:lnRef>
        <a:fillRef idx="3">
          <a:scrgbClr r="0" g="0" b="0"/>
        </a:fillRef>
        <a:effectRef idx="2">
          <a:scrgbClr r="0" g="0" b="0"/>
        </a:effectRef>
        <a:fontRef idx="minor">
          <a:schemeClr val="lt1"/>
        </a:fontRef>
      </dsp:style>
    </dsp:sp>
    <dsp:sp modelId="{86B9F3D5-D125-4FF7-BC52-5A656507BB90}">
      <dsp:nvSpPr>
        <dsp:cNvPr id="0" name=""/>
        <dsp:cNvSpPr/>
      </dsp:nvSpPr>
      <dsp:spPr>
        <a:xfrm>
          <a:off x="1989729" y="0"/>
          <a:ext cx="4200050" cy="368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Dynamic Word Representations</a:t>
          </a:r>
        </a:p>
      </dsp:txBody>
      <dsp:txXfrm>
        <a:off x="1989729" y="0"/>
        <a:ext cx="4200050" cy="368353"/>
      </dsp:txXfrm>
    </dsp:sp>
    <dsp:sp modelId="{CD47E730-559B-4099-9AF2-0AAE0FD422C6}">
      <dsp:nvSpPr>
        <dsp:cNvPr id="0" name=""/>
        <dsp:cNvSpPr/>
      </dsp:nvSpPr>
      <dsp:spPr>
        <a:xfrm>
          <a:off x="1989729" y="368353"/>
          <a:ext cx="4200050" cy="1441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Contextual embeddings provide dynamic word representations that change based on surrounding text, enhancing language understanding.</a:t>
          </a:r>
        </a:p>
      </dsp:txBody>
      <dsp:txXfrm>
        <a:off x="1989729" y="368353"/>
        <a:ext cx="4200050" cy="1441375"/>
      </dsp:txXfrm>
    </dsp:sp>
    <dsp:sp modelId="{FE43E1F3-6F58-4522-A58B-5FD9FE12A361}">
      <dsp:nvSpPr>
        <dsp:cNvPr id="0" name=""/>
        <dsp:cNvSpPr/>
      </dsp:nvSpPr>
      <dsp:spPr>
        <a:xfrm>
          <a:off x="0" y="1954508"/>
          <a:ext cx="1809729" cy="1809729"/>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28825" r="21177" b="4"/>
          <a:stretch/>
        </a:blipFill>
        <a:ln>
          <a:noFill/>
        </a:ln>
        <a:effectLst/>
      </dsp:spPr>
      <dsp:style>
        <a:lnRef idx="0">
          <a:scrgbClr r="0" g="0" b="0"/>
        </a:lnRef>
        <a:fillRef idx="3">
          <a:scrgbClr r="0" g="0" b="0"/>
        </a:fillRef>
        <a:effectRef idx="2">
          <a:scrgbClr r="0" g="0" b="0"/>
        </a:effectRef>
        <a:fontRef idx="minor">
          <a:schemeClr val="lt1"/>
        </a:fontRef>
      </dsp:style>
    </dsp:sp>
    <dsp:sp modelId="{A08BF825-3C45-48D7-A868-8B13B297DD05}">
      <dsp:nvSpPr>
        <dsp:cNvPr id="0" name=""/>
        <dsp:cNvSpPr/>
      </dsp:nvSpPr>
      <dsp:spPr>
        <a:xfrm>
          <a:off x="1989729" y="1954508"/>
          <a:ext cx="4200050" cy="368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Models like BERT</a:t>
          </a:r>
        </a:p>
      </dsp:txBody>
      <dsp:txXfrm>
        <a:off x="1989729" y="1954508"/>
        <a:ext cx="4200050" cy="368353"/>
      </dsp:txXfrm>
    </dsp:sp>
    <dsp:sp modelId="{A65CDF86-557D-4158-AAFF-266241605F81}">
      <dsp:nvSpPr>
        <dsp:cNvPr id="0" name=""/>
        <dsp:cNvSpPr/>
      </dsp:nvSpPr>
      <dsp:spPr>
        <a:xfrm>
          <a:off x="1989729" y="2322862"/>
          <a:ext cx="4200050" cy="1441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BERT is a prominent model that utilizes contextual embeddings to improve language processing tasks through better context understanding.</a:t>
          </a:r>
        </a:p>
      </dsp:txBody>
      <dsp:txXfrm>
        <a:off x="1989729" y="2322862"/>
        <a:ext cx="4200050" cy="1441375"/>
      </dsp:txXfrm>
    </dsp:sp>
    <dsp:sp modelId="{70C37C6F-4BEE-4CD4-9038-FE0E3B02B625}">
      <dsp:nvSpPr>
        <dsp:cNvPr id="0" name=""/>
        <dsp:cNvSpPr/>
      </dsp:nvSpPr>
      <dsp:spPr>
        <a:xfrm>
          <a:off x="0" y="3909016"/>
          <a:ext cx="1809729" cy="1809729"/>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5922" r="17328"/>
          <a:stretch/>
        </a:blipFill>
        <a:ln>
          <a:noFill/>
        </a:ln>
        <a:effectLst/>
      </dsp:spPr>
      <dsp:style>
        <a:lnRef idx="0">
          <a:scrgbClr r="0" g="0" b="0"/>
        </a:lnRef>
        <a:fillRef idx="3">
          <a:scrgbClr r="0" g="0" b="0"/>
        </a:fillRef>
        <a:effectRef idx="2">
          <a:scrgbClr r="0" g="0" b="0"/>
        </a:effectRef>
        <a:fontRef idx="minor">
          <a:schemeClr val="lt1"/>
        </a:fontRef>
      </dsp:style>
    </dsp:sp>
    <dsp:sp modelId="{8A0C9EA6-6127-4060-A317-8B9B8476D5A1}">
      <dsp:nvSpPr>
        <dsp:cNvPr id="0" name=""/>
        <dsp:cNvSpPr/>
      </dsp:nvSpPr>
      <dsp:spPr>
        <a:xfrm>
          <a:off x="1989729" y="3909016"/>
          <a:ext cx="4200050" cy="368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Understanding Language Nuances</a:t>
          </a:r>
        </a:p>
      </dsp:txBody>
      <dsp:txXfrm>
        <a:off x="1989729" y="3909016"/>
        <a:ext cx="4200050" cy="368353"/>
      </dsp:txXfrm>
    </dsp:sp>
    <dsp:sp modelId="{7A256C40-7AA8-4778-8E23-6419E768DD2B}">
      <dsp:nvSpPr>
        <dsp:cNvPr id="0" name=""/>
        <dsp:cNvSpPr/>
      </dsp:nvSpPr>
      <dsp:spPr>
        <a:xfrm>
          <a:off x="1989729" y="4277370"/>
          <a:ext cx="4200050" cy="1441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By considering context, these embeddings help models grasp subtle nuances and meanings in human language.</a:t>
          </a:r>
        </a:p>
      </dsp:txBody>
      <dsp:txXfrm>
        <a:off x="1989729" y="4277370"/>
        <a:ext cx="4200050" cy="144137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4247F3-8D34-4864-80C1-AC9932E89AC2}">
      <dsp:nvSpPr>
        <dsp:cNvPr id="0" name=""/>
        <dsp:cNvSpPr/>
      </dsp:nvSpPr>
      <dsp:spPr>
        <a:xfrm>
          <a:off x="0" y="0"/>
          <a:ext cx="1809729" cy="1809729"/>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1959" r="21291"/>
          <a:stretch/>
        </a:blipFill>
        <a:ln>
          <a:noFill/>
        </a:ln>
        <a:effectLst/>
      </dsp:spPr>
      <dsp:style>
        <a:lnRef idx="0">
          <a:scrgbClr r="0" g="0" b="0"/>
        </a:lnRef>
        <a:fillRef idx="3">
          <a:scrgbClr r="0" g="0" b="0"/>
        </a:fillRef>
        <a:effectRef idx="2">
          <a:scrgbClr r="0" g="0" b="0"/>
        </a:effectRef>
        <a:fontRef idx="minor">
          <a:schemeClr val="lt1"/>
        </a:fontRef>
      </dsp:style>
    </dsp:sp>
    <dsp:sp modelId="{B6CD3A6F-6254-45D0-8088-EC4134DBD906}">
      <dsp:nvSpPr>
        <dsp:cNvPr id="0" name=""/>
        <dsp:cNvSpPr/>
      </dsp:nvSpPr>
      <dsp:spPr>
        <a:xfrm>
          <a:off x="1989729" y="0"/>
          <a:ext cx="4200050" cy="368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Advancements in Technology</a:t>
          </a:r>
        </a:p>
      </dsp:txBody>
      <dsp:txXfrm>
        <a:off x="1989729" y="0"/>
        <a:ext cx="4200050" cy="368353"/>
      </dsp:txXfrm>
    </dsp:sp>
    <dsp:sp modelId="{2331A8F0-756B-429C-9444-0EE83EED74A7}">
      <dsp:nvSpPr>
        <dsp:cNvPr id="0" name=""/>
        <dsp:cNvSpPr/>
      </dsp:nvSpPr>
      <dsp:spPr>
        <a:xfrm>
          <a:off x="1989729" y="368353"/>
          <a:ext cx="4200050" cy="1441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Future developments in tokenization and embedding in NLP promise greater efficiency and accuracy in language processing tasks.</a:t>
          </a:r>
        </a:p>
      </dsp:txBody>
      <dsp:txXfrm>
        <a:off x="1989729" y="368353"/>
        <a:ext cx="4200050" cy="1441375"/>
      </dsp:txXfrm>
    </dsp:sp>
    <dsp:sp modelId="{E83626CD-C691-4059-8AEE-A026C86F25A2}">
      <dsp:nvSpPr>
        <dsp:cNvPr id="0" name=""/>
        <dsp:cNvSpPr/>
      </dsp:nvSpPr>
      <dsp:spPr>
        <a:xfrm>
          <a:off x="0" y="1954508"/>
          <a:ext cx="1809729" cy="1809729"/>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21757" r="11492"/>
          <a:stretch/>
        </a:blipFill>
        <a:ln>
          <a:noFill/>
        </a:ln>
        <a:effectLst/>
      </dsp:spPr>
      <dsp:style>
        <a:lnRef idx="0">
          <a:scrgbClr r="0" g="0" b="0"/>
        </a:lnRef>
        <a:fillRef idx="3">
          <a:scrgbClr r="0" g="0" b="0"/>
        </a:fillRef>
        <a:effectRef idx="2">
          <a:scrgbClr r="0" g="0" b="0"/>
        </a:effectRef>
        <a:fontRef idx="minor">
          <a:schemeClr val="lt1"/>
        </a:fontRef>
      </dsp:style>
    </dsp:sp>
    <dsp:sp modelId="{72D8CF7C-184F-41C0-8B7A-E0A2C506E777}">
      <dsp:nvSpPr>
        <dsp:cNvPr id="0" name=""/>
        <dsp:cNvSpPr/>
      </dsp:nvSpPr>
      <dsp:spPr>
        <a:xfrm>
          <a:off x="1989729" y="1954508"/>
          <a:ext cx="4200050" cy="368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Language Diversity Challenges</a:t>
          </a:r>
        </a:p>
      </dsp:txBody>
      <dsp:txXfrm>
        <a:off x="1989729" y="1954508"/>
        <a:ext cx="4200050" cy="368353"/>
      </dsp:txXfrm>
    </dsp:sp>
    <dsp:sp modelId="{DC5B0332-37FA-4996-8751-FAD533AE2330}">
      <dsp:nvSpPr>
        <dsp:cNvPr id="0" name=""/>
        <dsp:cNvSpPr/>
      </dsp:nvSpPr>
      <dsp:spPr>
        <a:xfrm>
          <a:off x="1989729" y="2322862"/>
          <a:ext cx="4200050" cy="1441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Managing language diversity presents significant challenges for models, requiring innovative approaches to ensure inclusivity.</a:t>
          </a:r>
        </a:p>
      </dsp:txBody>
      <dsp:txXfrm>
        <a:off x="1989729" y="2322862"/>
        <a:ext cx="4200050" cy="1441375"/>
      </dsp:txXfrm>
    </dsp:sp>
    <dsp:sp modelId="{6D8FD76E-B6A1-43AE-A80E-A6409540F8EE}">
      <dsp:nvSpPr>
        <dsp:cNvPr id="0" name=""/>
        <dsp:cNvSpPr/>
      </dsp:nvSpPr>
      <dsp:spPr>
        <a:xfrm>
          <a:off x="0" y="3909016"/>
          <a:ext cx="1809729" cy="1809729"/>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6247" r="17003"/>
          <a:stretch/>
        </a:blipFill>
        <a:ln>
          <a:noFill/>
        </a:ln>
        <a:effectLst/>
      </dsp:spPr>
      <dsp:style>
        <a:lnRef idx="0">
          <a:scrgbClr r="0" g="0" b="0"/>
        </a:lnRef>
        <a:fillRef idx="3">
          <a:scrgbClr r="0" g="0" b="0"/>
        </a:fillRef>
        <a:effectRef idx="2">
          <a:scrgbClr r="0" g="0" b="0"/>
        </a:effectRef>
        <a:fontRef idx="minor">
          <a:schemeClr val="lt1"/>
        </a:fontRef>
      </dsp:style>
    </dsp:sp>
    <dsp:sp modelId="{C44CCD35-D1D2-4C47-A8CF-4F3D1E45966A}">
      <dsp:nvSpPr>
        <dsp:cNvPr id="0" name=""/>
        <dsp:cNvSpPr/>
      </dsp:nvSpPr>
      <dsp:spPr>
        <a:xfrm>
          <a:off x="1989729" y="3909016"/>
          <a:ext cx="4200050" cy="368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Ensuring Model Fairness</a:t>
          </a:r>
        </a:p>
      </dsp:txBody>
      <dsp:txXfrm>
        <a:off x="1989729" y="3909016"/>
        <a:ext cx="4200050" cy="368353"/>
      </dsp:txXfrm>
    </dsp:sp>
    <dsp:sp modelId="{6552F09D-D1BD-47F5-9F18-8007AC872DF2}">
      <dsp:nvSpPr>
        <dsp:cNvPr id="0" name=""/>
        <dsp:cNvSpPr/>
      </dsp:nvSpPr>
      <dsp:spPr>
        <a:xfrm>
          <a:off x="1989729" y="4277370"/>
          <a:ext cx="4200050" cy="1441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Ensuring fairness in NLP models is crucial to prevent bias and promote equitable outcomes across different languages and contexts.</a:t>
          </a:r>
        </a:p>
      </dsp:txBody>
      <dsp:txXfrm>
        <a:off x="1989729" y="4277370"/>
        <a:ext cx="4200050" cy="144137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9510E4-71F0-4216-B252-E4BD67659E9C}">
      <dsp:nvSpPr>
        <dsp:cNvPr id="0" name=""/>
        <dsp:cNvSpPr/>
      </dsp:nvSpPr>
      <dsp:spPr>
        <a:xfrm>
          <a:off x="0" y="0"/>
          <a:ext cx="3403282" cy="35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Role of Tokenization</a:t>
          </a:r>
        </a:p>
      </dsp:txBody>
      <dsp:txXfrm>
        <a:off x="0" y="0"/>
        <a:ext cx="3403282" cy="355310"/>
      </dsp:txXfrm>
    </dsp:sp>
    <dsp:sp modelId="{DED39528-9455-4C2F-906F-FB32325B0707}">
      <dsp:nvSpPr>
        <dsp:cNvPr id="0" name=""/>
        <dsp:cNvSpPr/>
      </dsp:nvSpPr>
      <dsp:spPr>
        <a:xfrm>
          <a:off x="0" y="355310"/>
          <a:ext cx="3403282" cy="21328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Tokenization is crucial for breaking down text into manageable pieces, facilitating better processing by language models.</a:t>
          </a:r>
        </a:p>
      </dsp:txBody>
      <dsp:txXfrm>
        <a:off x="0" y="355310"/>
        <a:ext cx="3403282" cy="2132893"/>
      </dsp:txXfrm>
    </dsp:sp>
    <dsp:sp modelId="{F05AF737-1B33-435A-A0D8-556E19E414CA}">
      <dsp:nvSpPr>
        <dsp:cNvPr id="0" name=""/>
        <dsp:cNvSpPr/>
      </dsp:nvSpPr>
      <dsp:spPr>
        <a:xfrm>
          <a:off x="3743610" y="0"/>
          <a:ext cx="3403282" cy="35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Importance of Embedding</a:t>
          </a:r>
        </a:p>
      </dsp:txBody>
      <dsp:txXfrm>
        <a:off x="3743610" y="0"/>
        <a:ext cx="3403282" cy="355310"/>
      </dsp:txXfrm>
    </dsp:sp>
    <dsp:sp modelId="{F78FC7FA-34E0-4C9E-BCEA-95BECB900EC9}">
      <dsp:nvSpPr>
        <dsp:cNvPr id="0" name=""/>
        <dsp:cNvSpPr/>
      </dsp:nvSpPr>
      <dsp:spPr>
        <a:xfrm>
          <a:off x="3743610" y="355310"/>
          <a:ext cx="3403282" cy="21328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Embedding transforms words into numerical representations, enabling machines to understand context and relationships in language.</a:t>
          </a:r>
        </a:p>
      </dsp:txBody>
      <dsp:txXfrm>
        <a:off x="3743610" y="355310"/>
        <a:ext cx="3403282" cy="2132893"/>
      </dsp:txXfrm>
    </dsp:sp>
    <dsp:sp modelId="{2E5DEB98-0448-49DE-8B9E-728139A5DC27}">
      <dsp:nvSpPr>
        <dsp:cNvPr id="0" name=""/>
        <dsp:cNvSpPr/>
      </dsp:nvSpPr>
      <dsp:spPr>
        <a:xfrm>
          <a:off x="7487221" y="0"/>
          <a:ext cx="3403282" cy="35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Future of NLP</a:t>
          </a:r>
        </a:p>
      </dsp:txBody>
      <dsp:txXfrm>
        <a:off x="7487221" y="0"/>
        <a:ext cx="3403282" cy="355310"/>
      </dsp:txXfrm>
    </dsp:sp>
    <dsp:sp modelId="{683FBF13-559E-4A84-A3C0-D71C518C3175}">
      <dsp:nvSpPr>
        <dsp:cNvPr id="0" name=""/>
        <dsp:cNvSpPr/>
      </dsp:nvSpPr>
      <dsp:spPr>
        <a:xfrm>
          <a:off x="7487221" y="355310"/>
          <a:ext cx="3403282" cy="21328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 evolving techniques of tokenization and embedding continue to shape the advancement of natural language processing applications.</a:t>
          </a:r>
        </a:p>
      </dsp:txBody>
      <dsp:txXfrm>
        <a:off x="7487221" y="355310"/>
        <a:ext cx="3403282" cy="2132893"/>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490ADA-F488-4C45-BBDD-778A21F883BF}" type="datetimeFigureOut">
              <a:rPr lang="en-US" smtClean="0"/>
              <a:t>3/15/2025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0E63E6-AA81-47DA-8892-AA60A3DE5926}" type="slidenum">
              <a:rPr lang="en-US" smtClean="0"/>
              <a:t>‹#›</a:t>
            </a:fld>
            <a:endParaRPr lang="en-US"/>
          </a:p>
        </p:txBody>
      </p:sp>
    </p:spTree>
    <p:extLst>
      <p:ext uri="{BB962C8B-B14F-4D97-AF65-F5344CB8AC3E}">
        <p14:creationId xmlns:p14="http://schemas.microsoft.com/office/powerpoint/2010/main" val="5310659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This presentation focuses on the crucial concepts of tokenization and embedding within large language models (LLMs). We'll explore their definitions, techniques, applications, and the significant role they play in natural language processing.
</a:t>
            </a:r>
          </a:p>
        </p:txBody>
      </p:sp>
      <p:sp>
        <p:nvSpPr>
          <p:cNvPr id="4" name="Slide Number Placeholder 3"/>
          <p:cNvSpPr>
            <a:spLocks noGrp="1"/>
          </p:cNvSpPr>
          <p:nvPr>
            <p:ph type="sldNum" sz="quarter" idx="5"/>
          </p:nvPr>
        </p:nvSpPr>
        <p:spPr/>
        <p:txBody>
          <a:bodyPr/>
          <a:lstStyle/>
          <a:p>
            <a:fld id="{C2A1C6E9-ABD1-41D4-BFAB-017DF2E50DCD}" type="slidenum">
              <a:rPr lang="en-US" smtClean="0"/>
              <a:t>1</a:t>
            </a:fld>
            <a:endParaRPr lang="en-US"/>
          </a:p>
        </p:txBody>
      </p:sp>
    </p:spTree>
    <p:extLst>
      <p:ext uri="{BB962C8B-B14F-4D97-AF65-F5344CB8AC3E}">
        <p14:creationId xmlns:p14="http://schemas.microsoft.com/office/powerpoint/2010/main" val="3356835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this presentation, we will cover the introduction to large language models, dive into the details of tokenization, explore various embedding techniques, and discuss the integration of these components in LLMs. Finally, we will examine their practical applications and future implications in the field of NLP.</a:t>
            </a:r>
          </a:p>
        </p:txBody>
      </p:sp>
      <p:sp>
        <p:nvSpPr>
          <p:cNvPr id="4" name="Slide Number Placeholder 3"/>
          <p:cNvSpPr>
            <a:spLocks noGrp="1"/>
          </p:cNvSpPr>
          <p:nvPr>
            <p:ph type="sldNum" sz="quarter" idx="5"/>
          </p:nvPr>
        </p:nvSpPr>
        <p:spPr/>
        <p:txBody>
          <a:bodyPr/>
          <a:lstStyle/>
          <a:p>
            <a:fld id="{C2A1C6E9-ABD1-41D4-BFAB-017DF2E50DCD}" type="slidenum">
              <a:rPr lang="en-US" smtClean="0"/>
              <a:t>2</a:t>
            </a:fld>
            <a:endParaRPr lang="en-US"/>
          </a:p>
        </p:txBody>
      </p:sp>
    </p:spTree>
    <p:extLst>
      <p:ext uri="{BB962C8B-B14F-4D97-AF65-F5344CB8AC3E}">
        <p14:creationId xmlns:p14="http://schemas.microsoft.com/office/powerpoint/2010/main" val="5139849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Large language models are advanced deep learning architectures designed to understand and generate human-like text. They have transformed the field of NLP by enabling sophisticated language processing capabilities.</a:t>
            </a:r>
          </a:p>
        </p:txBody>
      </p:sp>
      <p:sp>
        <p:nvSpPr>
          <p:cNvPr id="4" name="Slide Number Placeholder 3"/>
          <p:cNvSpPr>
            <a:spLocks noGrp="1"/>
          </p:cNvSpPr>
          <p:nvPr>
            <p:ph type="sldNum" sz="quarter" idx="5"/>
          </p:nvPr>
        </p:nvSpPr>
        <p:spPr/>
        <p:txBody>
          <a:bodyPr/>
          <a:lstStyle/>
          <a:p>
            <a:fld id="{C2A1C6E9-ABD1-41D4-BFAB-017DF2E50DCD}" type="slidenum">
              <a:rPr lang="en-US" smtClean="0"/>
              <a:t>3</a:t>
            </a:fld>
            <a:endParaRPr lang="en-US"/>
          </a:p>
        </p:txBody>
      </p:sp>
    </p:spTree>
    <p:extLst>
      <p:ext uri="{BB962C8B-B14F-4D97-AF65-F5344CB8AC3E}">
        <p14:creationId xmlns:p14="http://schemas.microsoft.com/office/powerpoint/2010/main" val="37721375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Large language models are defined as models trained on vast amounts of text data to perform a variety of language tasks. They are significant due to their ability to understand context, generate coherent text, and their application in various industries.</a:t>
            </a:r>
          </a:p>
        </p:txBody>
      </p:sp>
      <p:sp>
        <p:nvSpPr>
          <p:cNvPr id="4" name="Slide Number Placeholder 3"/>
          <p:cNvSpPr>
            <a:spLocks noGrp="1"/>
          </p:cNvSpPr>
          <p:nvPr>
            <p:ph type="sldNum" sz="quarter" idx="5"/>
          </p:nvPr>
        </p:nvSpPr>
        <p:spPr/>
        <p:txBody>
          <a:bodyPr/>
          <a:lstStyle/>
          <a:p>
            <a:fld id="{C2A1C6E9-ABD1-41D4-BFAB-017DF2E50DCD}" type="slidenum">
              <a:rPr lang="en-US" smtClean="0"/>
              <a:t>4</a:t>
            </a:fld>
            <a:endParaRPr lang="en-US"/>
          </a:p>
        </p:txBody>
      </p:sp>
    </p:spTree>
    <p:extLst>
      <p:ext uri="{BB962C8B-B14F-4D97-AF65-F5344CB8AC3E}">
        <p14:creationId xmlns:p14="http://schemas.microsoft.com/office/powerpoint/2010/main" val="9961021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architecture of LLMs typically includes components such as transformers, attention mechanisms, and multi-layer networks. These allow LLMs to process and generate text efficiently by capturing complex language patterns.</a:t>
            </a:r>
          </a:p>
        </p:txBody>
      </p:sp>
      <p:sp>
        <p:nvSpPr>
          <p:cNvPr id="4" name="Slide Number Placeholder 3"/>
          <p:cNvSpPr>
            <a:spLocks noGrp="1"/>
          </p:cNvSpPr>
          <p:nvPr>
            <p:ph type="sldNum" sz="quarter" idx="5"/>
          </p:nvPr>
        </p:nvSpPr>
        <p:spPr/>
        <p:txBody>
          <a:bodyPr/>
          <a:lstStyle/>
          <a:p>
            <a:fld id="{C2A1C6E9-ABD1-41D4-BFAB-017DF2E50DCD}" type="slidenum">
              <a:rPr lang="en-US" smtClean="0"/>
              <a:t>5</a:t>
            </a:fld>
            <a:endParaRPr lang="en-US"/>
          </a:p>
        </p:txBody>
      </p:sp>
    </p:spTree>
    <p:extLst>
      <p:ext uri="{BB962C8B-B14F-4D97-AF65-F5344CB8AC3E}">
        <p14:creationId xmlns:p14="http://schemas.microsoft.com/office/powerpoint/2010/main" val="1898672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Popular examples of large language models include GPT (Generative Pre-trained Transformer) and BERT (Bidirectional Encoder Representations from Transformers). Each model has unique strengths and is tailored for different NLP tasks.</a:t>
            </a:r>
          </a:p>
        </p:txBody>
      </p:sp>
      <p:sp>
        <p:nvSpPr>
          <p:cNvPr id="4" name="Slide Number Placeholder 3"/>
          <p:cNvSpPr>
            <a:spLocks noGrp="1"/>
          </p:cNvSpPr>
          <p:nvPr>
            <p:ph type="sldNum" sz="quarter" idx="5"/>
          </p:nvPr>
        </p:nvSpPr>
        <p:spPr/>
        <p:txBody>
          <a:bodyPr/>
          <a:lstStyle/>
          <a:p>
            <a:fld id="{C2A1C6E9-ABD1-41D4-BFAB-017DF2E50DCD}" type="slidenum">
              <a:rPr lang="en-US" smtClean="0"/>
              <a:t>6</a:t>
            </a:fld>
            <a:endParaRPr lang="en-US"/>
          </a:p>
        </p:txBody>
      </p:sp>
    </p:spTree>
    <p:extLst>
      <p:ext uri="{BB962C8B-B14F-4D97-AF65-F5344CB8AC3E}">
        <p14:creationId xmlns:p14="http://schemas.microsoft.com/office/powerpoint/2010/main" val="3989572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Tokenization is the process of converting a text input into smaller units called tokens. This foundational step is crucial for text processing in NLP applications.</a:t>
            </a:r>
          </a:p>
        </p:txBody>
      </p:sp>
      <p:sp>
        <p:nvSpPr>
          <p:cNvPr id="4" name="Slide Number Placeholder 3"/>
          <p:cNvSpPr>
            <a:spLocks noGrp="1"/>
          </p:cNvSpPr>
          <p:nvPr>
            <p:ph type="sldNum" sz="quarter" idx="5"/>
          </p:nvPr>
        </p:nvSpPr>
        <p:spPr/>
        <p:txBody>
          <a:bodyPr/>
          <a:lstStyle/>
          <a:p>
            <a:fld id="{C2A1C6E9-ABD1-41D4-BFAB-017DF2E50DCD}" type="slidenum">
              <a:rPr lang="en-US" smtClean="0"/>
              <a:t>7</a:t>
            </a:fld>
            <a:endParaRPr lang="en-US"/>
          </a:p>
        </p:txBody>
      </p:sp>
    </p:spTree>
    <p:extLst>
      <p:ext uri="{BB962C8B-B14F-4D97-AF65-F5344CB8AC3E}">
        <p14:creationId xmlns:p14="http://schemas.microsoft.com/office/powerpoint/2010/main" val="20166742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Tokenization involves breaking down text into meaningful elements, such as words, phrases, or symbols. It helps LLMs understand and analyze text effectively.</a:t>
            </a:r>
          </a:p>
        </p:txBody>
      </p:sp>
      <p:sp>
        <p:nvSpPr>
          <p:cNvPr id="4" name="Slide Number Placeholder 3"/>
          <p:cNvSpPr>
            <a:spLocks noGrp="1"/>
          </p:cNvSpPr>
          <p:nvPr>
            <p:ph type="sldNum" sz="quarter" idx="5"/>
          </p:nvPr>
        </p:nvSpPr>
        <p:spPr/>
        <p:txBody>
          <a:bodyPr/>
          <a:lstStyle/>
          <a:p>
            <a:fld id="{C2A1C6E9-ABD1-41D4-BFAB-017DF2E50DCD}" type="slidenum">
              <a:rPr lang="en-US" smtClean="0"/>
              <a:t>8</a:t>
            </a:fld>
            <a:endParaRPr lang="en-US"/>
          </a:p>
        </p:txBody>
      </p:sp>
    </p:spTree>
    <p:extLst>
      <p:ext uri="{BB962C8B-B14F-4D97-AF65-F5344CB8AC3E}">
        <p14:creationId xmlns:p14="http://schemas.microsoft.com/office/powerpoint/2010/main" val="3813716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There are various types of tokenization methods, including word tokenization, subword tokenization (like Byte Pair Encoding), and character tokenization. Each method has its advantages and use cases.</a:t>
            </a:r>
          </a:p>
        </p:txBody>
      </p:sp>
      <p:sp>
        <p:nvSpPr>
          <p:cNvPr id="4" name="Slide Number Placeholder 3"/>
          <p:cNvSpPr>
            <a:spLocks noGrp="1"/>
          </p:cNvSpPr>
          <p:nvPr>
            <p:ph type="sldNum" sz="quarter" idx="5"/>
          </p:nvPr>
        </p:nvSpPr>
        <p:spPr/>
        <p:txBody>
          <a:bodyPr/>
          <a:lstStyle/>
          <a:p>
            <a:fld id="{C2A1C6E9-ABD1-41D4-BFAB-017DF2E50DCD}" type="slidenum">
              <a:rPr lang="en-US" smtClean="0"/>
              <a:t>9</a:t>
            </a:fld>
            <a:endParaRPr lang="en-US"/>
          </a:p>
        </p:txBody>
      </p:sp>
    </p:spTree>
    <p:extLst>
      <p:ext uri="{BB962C8B-B14F-4D97-AF65-F5344CB8AC3E}">
        <p14:creationId xmlns:p14="http://schemas.microsoft.com/office/powerpoint/2010/main" val="10980910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Tokenization poses challenges such as dealing with out-of-vocabulary words, handling different languages, and managing context. Addressing these challenges is essential for effective text representation.</a:t>
            </a:r>
          </a:p>
        </p:txBody>
      </p:sp>
      <p:sp>
        <p:nvSpPr>
          <p:cNvPr id="4" name="Slide Number Placeholder 3"/>
          <p:cNvSpPr>
            <a:spLocks noGrp="1"/>
          </p:cNvSpPr>
          <p:nvPr>
            <p:ph type="sldNum" sz="quarter" idx="5"/>
          </p:nvPr>
        </p:nvSpPr>
        <p:spPr/>
        <p:txBody>
          <a:bodyPr/>
          <a:lstStyle/>
          <a:p>
            <a:fld id="{C2A1C6E9-ABD1-41D4-BFAB-017DF2E50DCD}" type="slidenum">
              <a:rPr lang="en-US" smtClean="0"/>
              <a:t>10</a:t>
            </a:fld>
            <a:endParaRPr lang="en-US"/>
          </a:p>
        </p:txBody>
      </p:sp>
    </p:spTree>
    <p:extLst>
      <p:ext uri="{BB962C8B-B14F-4D97-AF65-F5344CB8AC3E}">
        <p14:creationId xmlns:p14="http://schemas.microsoft.com/office/powerpoint/2010/main" val="16922151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Embedding techniques are crucial for converting tokens into numerical representations that LLMs can process. These techniques capture semantic meaning and relationships between words.</a:t>
            </a:r>
          </a:p>
        </p:txBody>
      </p:sp>
      <p:sp>
        <p:nvSpPr>
          <p:cNvPr id="4" name="Slide Number Placeholder 3"/>
          <p:cNvSpPr>
            <a:spLocks noGrp="1"/>
          </p:cNvSpPr>
          <p:nvPr>
            <p:ph type="sldNum" sz="quarter" idx="5"/>
          </p:nvPr>
        </p:nvSpPr>
        <p:spPr/>
        <p:txBody>
          <a:bodyPr/>
          <a:lstStyle/>
          <a:p>
            <a:fld id="{C2A1C6E9-ABD1-41D4-BFAB-017DF2E50DCD}" type="slidenum">
              <a:rPr lang="en-US" smtClean="0"/>
              <a:t>11</a:t>
            </a:fld>
            <a:endParaRPr lang="en-US"/>
          </a:p>
        </p:txBody>
      </p:sp>
    </p:spTree>
    <p:extLst>
      <p:ext uri="{BB962C8B-B14F-4D97-AF65-F5344CB8AC3E}">
        <p14:creationId xmlns:p14="http://schemas.microsoft.com/office/powerpoint/2010/main" val="3627562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Word embeddings are dense vector representations of words that capture their meanings based on context. They allow LLMs to understand relationships and similarities between words.</a:t>
            </a:r>
          </a:p>
        </p:txBody>
      </p:sp>
      <p:sp>
        <p:nvSpPr>
          <p:cNvPr id="4" name="Slide Number Placeholder 3"/>
          <p:cNvSpPr>
            <a:spLocks noGrp="1"/>
          </p:cNvSpPr>
          <p:nvPr>
            <p:ph type="sldNum" sz="quarter" idx="5"/>
          </p:nvPr>
        </p:nvSpPr>
        <p:spPr/>
        <p:txBody>
          <a:bodyPr/>
          <a:lstStyle/>
          <a:p>
            <a:fld id="{C2A1C6E9-ABD1-41D4-BFAB-017DF2E50DCD}" type="slidenum">
              <a:rPr lang="en-US" smtClean="0"/>
              <a:t>12</a:t>
            </a:fld>
            <a:endParaRPr lang="en-US"/>
          </a:p>
        </p:txBody>
      </p:sp>
    </p:spTree>
    <p:extLst>
      <p:ext uri="{BB962C8B-B14F-4D97-AF65-F5344CB8AC3E}">
        <p14:creationId xmlns:p14="http://schemas.microsoft.com/office/powerpoint/2010/main" val="5562640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Popular embedding methods include Word2Vec, GloVe (Global Vectors for Word Representation), and FastText. Each method has unique features that make them suitable for various NLP applications.</a:t>
            </a:r>
          </a:p>
        </p:txBody>
      </p:sp>
      <p:sp>
        <p:nvSpPr>
          <p:cNvPr id="4" name="Slide Number Placeholder 3"/>
          <p:cNvSpPr>
            <a:spLocks noGrp="1"/>
          </p:cNvSpPr>
          <p:nvPr>
            <p:ph type="sldNum" sz="quarter" idx="5"/>
          </p:nvPr>
        </p:nvSpPr>
        <p:spPr/>
        <p:txBody>
          <a:bodyPr/>
          <a:lstStyle/>
          <a:p>
            <a:fld id="{C2A1C6E9-ABD1-41D4-BFAB-017DF2E50DCD}" type="slidenum">
              <a:rPr lang="en-US" smtClean="0"/>
              <a:t>13</a:t>
            </a:fld>
            <a:endParaRPr lang="en-US"/>
          </a:p>
        </p:txBody>
      </p:sp>
    </p:spTree>
    <p:extLst>
      <p:ext uri="{BB962C8B-B14F-4D97-AF65-F5344CB8AC3E}">
        <p14:creationId xmlns:p14="http://schemas.microsoft.com/office/powerpoint/2010/main" val="32786722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Contextual embeddings, used in models like BERT, take the context of words into account, providing dynamic representations that change based on the surrounding words, improving understanding of nuances in language.</a:t>
            </a:r>
          </a:p>
        </p:txBody>
      </p:sp>
      <p:sp>
        <p:nvSpPr>
          <p:cNvPr id="4" name="Slide Number Placeholder 3"/>
          <p:cNvSpPr>
            <a:spLocks noGrp="1"/>
          </p:cNvSpPr>
          <p:nvPr>
            <p:ph type="sldNum" sz="quarter" idx="5"/>
          </p:nvPr>
        </p:nvSpPr>
        <p:spPr/>
        <p:txBody>
          <a:bodyPr/>
          <a:lstStyle/>
          <a:p>
            <a:fld id="{C2A1C6E9-ABD1-41D4-BFAB-017DF2E50DCD}" type="slidenum">
              <a:rPr lang="en-US" smtClean="0"/>
              <a:t>14</a:t>
            </a:fld>
            <a:endParaRPr lang="en-US"/>
          </a:p>
        </p:txBody>
      </p:sp>
    </p:spTree>
    <p:extLst>
      <p:ext uri="{BB962C8B-B14F-4D97-AF65-F5344CB8AC3E}">
        <p14:creationId xmlns:p14="http://schemas.microsoft.com/office/powerpoint/2010/main" val="13864168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integration of tokenization and embedding is vital for LLMs to convert text data into formats suitable for processing, enabling effective learning and understanding.</a:t>
            </a:r>
          </a:p>
        </p:txBody>
      </p:sp>
      <p:sp>
        <p:nvSpPr>
          <p:cNvPr id="4" name="Slide Number Placeholder 3"/>
          <p:cNvSpPr>
            <a:spLocks noGrp="1"/>
          </p:cNvSpPr>
          <p:nvPr>
            <p:ph type="sldNum" sz="quarter" idx="5"/>
          </p:nvPr>
        </p:nvSpPr>
        <p:spPr/>
        <p:txBody>
          <a:bodyPr/>
          <a:lstStyle/>
          <a:p>
            <a:fld id="{C2A1C6E9-ABD1-41D4-BFAB-017DF2E50DCD}" type="slidenum">
              <a:rPr lang="en-US" smtClean="0"/>
              <a:t>15</a:t>
            </a:fld>
            <a:endParaRPr lang="en-US"/>
          </a:p>
        </p:txBody>
      </p:sp>
    </p:spTree>
    <p:extLst>
      <p:ext uri="{BB962C8B-B14F-4D97-AF65-F5344CB8AC3E}">
        <p14:creationId xmlns:p14="http://schemas.microsoft.com/office/powerpoint/2010/main" val="28134198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process of transforming text to embeddings involves tokenization followed by embedding generation. This pipeline is critical for LLMs to analyze and generate language.</a:t>
            </a:r>
          </a:p>
        </p:txBody>
      </p:sp>
      <p:sp>
        <p:nvSpPr>
          <p:cNvPr id="4" name="Slide Number Placeholder 3"/>
          <p:cNvSpPr>
            <a:spLocks noGrp="1"/>
          </p:cNvSpPr>
          <p:nvPr>
            <p:ph type="sldNum" sz="quarter" idx="5"/>
          </p:nvPr>
        </p:nvSpPr>
        <p:spPr/>
        <p:txBody>
          <a:bodyPr/>
          <a:lstStyle/>
          <a:p>
            <a:fld id="{C2A1C6E9-ABD1-41D4-BFAB-017DF2E50DCD}" type="slidenum">
              <a:rPr lang="en-US" smtClean="0"/>
              <a:t>16</a:t>
            </a:fld>
            <a:endParaRPr lang="en-US"/>
          </a:p>
        </p:txBody>
      </p:sp>
    </p:spTree>
    <p:extLst>
      <p:ext uri="{BB962C8B-B14F-4D97-AF65-F5344CB8AC3E}">
        <p14:creationId xmlns:p14="http://schemas.microsoft.com/office/powerpoint/2010/main" val="22882490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Tokenization plays a key role in embedding generation by defining the units of text that will be represented. Effective tokenization ensures meaningful embeddings that enhance model performance.</a:t>
            </a:r>
          </a:p>
        </p:txBody>
      </p:sp>
      <p:sp>
        <p:nvSpPr>
          <p:cNvPr id="4" name="Slide Number Placeholder 3"/>
          <p:cNvSpPr>
            <a:spLocks noGrp="1"/>
          </p:cNvSpPr>
          <p:nvPr>
            <p:ph type="sldNum" sz="quarter" idx="5"/>
          </p:nvPr>
        </p:nvSpPr>
        <p:spPr/>
        <p:txBody>
          <a:bodyPr/>
          <a:lstStyle/>
          <a:p>
            <a:fld id="{C2A1C6E9-ABD1-41D4-BFAB-017DF2E50DCD}" type="slidenum">
              <a:rPr lang="en-US" smtClean="0"/>
              <a:t>17</a:t>
            </a:fld>
            <a:endParaRPr lang="en-US"/>
          </a:p>
        </p:txBody>
      </p:sp>
    </p:spTree>
    <p:extLst>
      <p:ext uri="{BB962C8B-B14F-4D97-AF65-F5344CB8AC3E}">
        <p14:creationId xmlns:p14="http://schemas.microsoft.com/office/powerpoint/2010/main" val="26609086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Optimization techniques, such as fine-tuning and regularization, are employed to improve the performance of LLMs during the tokenization and embedding process, resulting in better language understanding.</a:t>
            </a:r>
          </a:p>
        </p:txBody>
      </p:sp>
      <p:sp>
        <p:nvSpPr>
          <p:cNvPr id="4" name="Slide Number Placeholder 3"/>
          <p:cNvSpPr>
            <a:spLocks noGrp="1"/>
          </p:cNvSpPr>
          <p:nvPr>
            <p:ph type="sldNum" sz="quarter" idx="5"/>
          </p:nvPr>
        </p:nvSpPr>
        <p:spPr/>
        <p:txBody>
          <a:bodyPr/>
          <a:lstStyle/>
          <a:p>
            <a:fld id="{C2A1C6E9-ABD1-41D4-BFAB-017DF2E50DCD}" type="slidenum">
              <a:rPr lang="en-US" smtClean="0"/>
              <a:t>18</a:t>
            </a:fld>
            <a:endParaRPr lang="en-US"/>
          </a:p>
        </p:txBody>
      </p:sp>
    </p:spTree>
    <p:extLst>
      <p:ext uri="{BB962C8B-B14F-4D97-AF65-F5344CB8AC3E}">
        <p14:creationId xmlns:p14="http://schemas.microsoft.com/office/powerpoint/2010/main" val="18390073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Tokenization and embedding techniques have far-reaching applications in areas such as translation, sentiment analysis, and question answering, impacting how we process and understand language.</a:t>
            </a:r>
          </a:p>
        </p:txBody>
      </p:sp>
      <p:sp>
        <p:nvSpPr>
          <p:cNvPr id="4" name="Slide Number Placeholder 3"/>
          <p:cNvSpPr>
            <a:spLocks noGrp="1"/>
          </p:cNvSpPr>
          <p:nvPr>
            <p:ph type="sldNum" sz="quarter" idx="5"/>
          </p:nvPr>
        </p:nvSpPr>
        <p:spPr/>
        <p:txBody>
          <a:bodyPr/>
          <a:lstStyle/>
          <a:p>
            <a:fld id="{C2A1C6E9-ABD1-41D4-BFAB-017DF2E50DCD}" type="slidenum">
              <a:rPr lang="en-US" smtClean="0"/>
              <a:t>19</a:t>
            </a:fld>
            <a:endParaRPr lang="en-US"/>
          </a:p>
        </p:txBody>
      </p:sp>
    </p:spTree>
    <p:extLst>
      <p:ext uri="{BB962C8B-B14F-4D97-AF65-F5344CB8AC3E}">
        <p14:creationId xmlns:p14="http://schemas.microsoft.com/office/powerpoint/2010/main" val="28689203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techniques are utilized in various practical applications, including machine translation, chatbots, and recommendation systems, showcasing their importance in enhancing user experiences.</a:t>
            </a:r>
          </a:p>
        </p:txBody>
      </p:sp>
      <p:sp>
        <p:nvSpPr>
          <p:cNvPr id="4" name="Slide Number Placeholder 3"/>
          <p:cNvSpPr>
            <a:spLocks noGrp="1"/>
          </p:cNvSpPr>
          <p:nvPr>
            <p:ph type="sldNum" sz="quarter" idx="5"/>
          </p:nvPr>
        </p:nvSpPr>
        <p:spPr/>
        <p:txBody>
          <a:bodyPr/>
          <a:lstStyle/>
          <a:p>
            <a:fld id="{C2A1C6E9-ABD1-41D4-BFAB-017DF2E50DCD}" type="slidenum">
              <a:rPr lang="en-US" smtClean="0"/>
              <a:t>20</a:t>
            </a:fld>
            <a:endParaRPr lang="en-US"/>
          </a:p>
        </p:txBody>
      </p:sp>
    </p:spTree>
    <p:extLst>
      <p:ext uri="{BB962C8B-B14F-4D97-AF65-F5344CB8AC3E}">
        <p14:creationId xmlns:p14="http://schemas.microsoft.com/office/powerpoint/2010/main" val="15804466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Tokenization and embedding significantly influence NLP tasks by improving accuracy and efficiency in translation, sentiment analysis, and more, thus advancing the field.</a:t>
            </a:r>
          </a:p>
        </p:txBody>
      </p:sp>
      <p:sp>
        <p:nvSpPr>
          <p:cNvPr id="4" name="Slide Number Placeholder 3"/>
          <p:cNvSpPr>
            <a:spLocks noGrp="1"/>
          </p:cNvSpPr>
          <p:nvPr>
            <p:ph type="sldNum" sz="quarter" idx="5"/>
          </p:nvPr>
        </p:nvSpPr>
        <p:spPr/>
        <p:txBody>
          <a:bodyPr/>
          <a:lstStyle/>
          <a:p>
            <a:fld id="{C2A1C6E9-ABD1-41D4-BFAB-017DF2E50DCD}" type="slidenum">
              <a:rPr lang="en-US" smtClean="0"/>
              <a:t>21</a:t>
            </a:fld>
            <a:endParaRPr lang="en-US"/>
          </a:p>
        </p:txBody>
      </p:sp>
    </p:spTree>
    <p:extLst>
      <p:ext uri="{BB962C8B-B14F-4D97-AF65-F5344CB8AC3E}">
        <p14:creationId xmlns:p14="http://schemas.microsoft.com/office/powerpoint/2010/main" val="24618974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future of tokenization and embedding in NLP holds promise with advancements in technology and methodology. However, challenges such as managing language diversity and ensuring model fairness remain.</a:t>
            </a:r>
          </a:p>
        </p:txBody>
      </p:sp>
      <p:sp>
        <p:nvSpPr>
          <p:cNvPr id="4" name="Slide Number Placeholder 3"/>
          <p:cNvSpPr>
            <a:spLocks noGrp="1"/>
          </p:cNvSpPr>
          <p:nvPr>
            <p:ph type="sldNum" sz="quarter" idx="5"/>
          </p:nvPr>
        </p:nvSpPr>
        <p:spPr/>
        <p:txBody>
          <a:bodyPr/>
          <a:lstStyle/>
          <a:p>
            <a:fld id="{C2A1C6E9-ABD1-41D4-BFAB-017DF2E50DCD}" type="slidenum">
              <a:rPr lang="en-US" smtClean="0"/>
              <a:t>22</a:t>
            </a:fld>
            <a:endParaRPr lang="en-US"/>
          </a:p>
        </p:txBody>
      </p:sp>
    </p:spTree>
    <p:extLst>
      <p:ext uri="{BB962C8B-B14F-4D97-AF65-F5344CB8AC3E}">
        <p14:creationId xmlns:p14="http://schemas.microsoft.com/office/powerpoint/2010/main" val="31306817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conclusion, tokenization and embedding are vital components of large language models, enabling them to process and understand human language. Their techniques and applications continue to evolve, shaping the future of NLP.</a:t>
            </a:r>
          </a:p>
        </p:txBody>
      </p:sp>
      <p:sp>
        <p:nvSpPr>
          <p:cNvPr id="4" name="Slide Number Placeholder 3"/>
          <p:cNvSpPr>
            <a:spLocks noGrp="1"/>
          </p:cNvSpPr>
          <p:nvPr>
            <p:ph type="sldNum" sz="quarter" idx="5"/>
          </p:nvPr>
        </p:nvSpPr>
        <p:spPr/>
        <p:txBody>
          <a:bodyPr/>
          <a:lstStyle/>
          <a:p>
            <a:fld id="{C2A1C6E9-ABD1-41D4-BFAB-017DF2E50DCD}" type="slidenum">
              <a:rPr lang="en-US" smtClean="0"/>
              <a:t>23</a:t>
            </a:fld>
            <a:endParaRPr lang="en-US"/>
          </a:p>
        </p:txBody>
      </p:sp>
    </p:spTree>
    <p:extLst>
      <p:ext uri="{BB962C8B-B14F-4D97-AF65-F5344CB8AC3E}">
        <p14:creationId xmlns:p14="http://schemas.microsoft.com/office/powerpoint/2010/main" val="15408653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3/15/2025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77536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3/15/2025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08883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3/15/2025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1738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3/15/2025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79675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3/15/2025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882353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3/15/2025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23642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3/15/2025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24925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3/15/2025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23149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3/15/2025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34992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3/15/2025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92234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3/15/2025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41677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3/15/2025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39799941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D587E41-605C-A8E4-8BA5-0E0B3797C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descr="Modern background">
            <a:extLst>
              <a:ext uri="{FF2B5EF4-FFF2-40B4-BE49-F238E27FC236}">
                <a16:creationId xmlns:a16="http://schemas.microsoft.com/office/drawing/2014/main" id="{B5FF0755-2A5E-4B28-A5DC-12F1730F7FC1}"/>
              </a:ext>
            </a:extLst>
          </p:cNvPr>
          <p:cNvPicPr>
            <a:picLocks noChangeAspect="1"/>
          </p:cNvPicPr>
          <p:nvPr/>
        </p:nvPicPr>
        <p:blipFill>
          <a:blip r:embed="rId3"/>
          <a:srcRect t="11190" r="865" b="5270"/>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EBD48A03-0DF9-3063-CB15-1BC2AEC79F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11906"/>
            <a:ext cx="12191999" cy="1246094"/>
          </a:xfrm>
          <a:prstGeom prst="rect">
            <a:avLst/>
          </a:pr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3256610B-19C1-2614-027C-4C8ABBB9BD42}"/>
              </a:ext>
            </a:extLst>
          </p:cNvPr>
          <p:cNvSpPr>
            <a:spLocks noGrp="1"/>
          </p:cNvSpPr>
          <p:nvPr>
            <p:ph type="ctrTitle"/>
          </p:nvPr>
        </p:nvSpPr>
        <p:spPr>
          <a:xfrm>
            <a:off x="320040" y="5795685"/>
            <a:ext cx="8183880" cy="960120"/>
          </a:xfrm>
        </p:spPr>
        <p:txBody>
          <a:bodyPr anchor="ctr">
            <a:normAutofit/>
          </a:bodyPr>
          <a:lstStyle/>
          <a:p>
            <a:pPr algn="l"/>
            <a:r>
              <a:rPr lang="en-US" sz="2500"/>
              <a:t>Tokenization and Embedding in Large Language Models: Techniques and Applications</a:t>
            </a:r>
          </a:p>
        </p:txBody>
      </p:sp>
      <p:sp>
        <p:nvSpPr>
          <p:cNvPr id="3" name="Subtitle 2">
            <a:extLst>
              <a:ext uri="{FF2B5EF4-FFF2-40B4-BE49-F238E27FC236}">
                <a16:creationId xmlns:a16="http://schemas.microsoft.com/office/drawing/2014/main" id="{998837B8-0A63-9181-525E-BC7A71B4CB4F}"/>
              </a:ext>
            </a:extLst>
          </p:cNvPr>
          <p:cNvSpPr>
            <a:spLocks noGrp="1"/>
          </p:cNvSpPr>
          <p:nvPr>
            <p:ph type="subTitle" idx="1"/>
          </p:nvPr>
        </p:nvSpPr>
        <p:spPr>
          <a:xfrm>
            <a:off x="8587818" y="5795685"/>
            <a:ext cx="3409109" cy="960120"/>
          </a:xfrm>
        </p:spPr>
        <p:txBody>
          <a:bodyPr anchor="ctr">
            <a:normAutofit/>
          </a:bodyPr>
          <a:lstStyle/>
          <a:p>
            <a:pPr algn="r">
              <a:lnSpc>
                <a:spcPct val="110000"/>
              </a:lnSpc>
            </a:pPr>
            <a:r>
              <a:rPr lang="en-US" sz="1600"/>
              <a:t>Understanding key concepts in natural language processing</a:t>
            </a:r>
          </a:p>
        </p:txBody>
      </p:sp>
    </p:spTree>
    <p:extLst>
      <p:ext uri="{BB962C8B-B14F-4D97-AF65-F5344CB8AC3E}">
        <p14:creationId xmlns:p14="http://schemas.microsoft.com/office/powerpoint/2010/main" val="4126837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Beautiful Hawaiian falls">
            <a:extLst>
              <a:ext uri="{FF2B5EF4-FFF2-40B4-BE49-F238E27FC236}">
                <a16:creationId xmlns:a16="http://schemas.microsoft.com/office/drawing/2014/main" id="{3CF916DF-A7E9-4608-AED2-EDAFD2BF6B5C}"/>
              </a:ext>
            </a:extLst>
          </p:cNvPr>
          <p:cNvPicPr>
            <a:picLocks noGrp="1" noChangeAspect="1"/>
          </p:cNvPicPr>
          <p:nvPr>
            <p:ph sz="half" idx="1"/>
          </p:nvPr>
        </p:nvPicPr>
        <p:blipFill>
          <a:blip r:embed="rId3"/>
          <a:srcRect r="-2" b="5187"/>
          <a:stretch/>
        </p:blipFill>
        <p:spPr>
          <a:xfrm>
            <a:off x="7345680" y="10"/>
            <a:ext cx="4846320" cy="6857990"/>
          </a:xfrm>
          <a:prstGeom prst="rect">
            <a:avLst/>
          </a:prstGeom>
        </p:spPr>
      </p:pic>
      <p:sp>
        <p:nvSpPr>
          <p:cNvPr id="2" name="Title 1">
            <a:extLst>
              <a:ext uri="{FF2B5EF4-FFF2-40B4-BE49-F238E27FC236}">
                <a16:creationId xmlns:a16="http://schemas.microsoft.com/office/drawing/2014/main" id="{7A8C23FE-22F4-BC32-6AC4-0E061420A0C9}"/>
              </a:ext>
            </a:extLst>
          </p:cNvPr>
          <p:cNvSpPr>
            <a:spLocks noGrp="1"/>
          </p:cNvSpPr>
          <p:nvPr>
            <p:ph type="title"/>
          </p:nvPr>
        </p:nvSpPr>
        <p:spPr>
          <a:xfrm>
            <a:off x="612648" y="600075"/>
            <a:ext cx="6035040" cy="1529932"/>
          </a:xfrm>
        </p:spPr>
        <p:txBody>
          <a:bodyPr vert="horz" lIns="91440" tIns="45720" rIns="91440" bIns="45720" rtlCol="0" anchor="b">
            <a:normAutofit/>
          </a:bodyPr>
          <a:lstStyle/>
          <a:p>
            <a:r>
              <a:rPr lang="en-US" b="1" kern="1200">
                <a:solidFill>
                  <a:schemeClr val="tx1"/>
                </a:solidFill>
                <a:latin typeface="+mj-lt"/>
                <a:ea typeface="+mj-ea"/>
                <a:cs typeface="+mj-cs"/>
              </a:rPr>
              <a:t>Presentation Topics</a:t>
            </a:r>
          </a:p>
        </p:txBody>
      </p:sp>
      <p:sp>
        <p:nvSpPr>
          <p:cNvPr id="4" name="Content Placeholder 3">
            <a:extLst>
              <a:ext uri="{FF2B5EF4-FFF2-40B4-BE49-F238E27FC236}">
                <a16:creationId xmlns:a16="http://schemas.microsoft.com/office/drawing/2014/main" id="{BC7EAD51-117A-44BC-D4B1-96BC0D63ABA1}"/>
              </a:ext>
            </a:extLst>
          </p:cNvPr>
          <p:cNvSpPr>
            <a:spLocks noGrp="1"/>
          </p:cNvSpPr>
          <p:nvPr>
            <p:ph sz="half" idx="2"/>
          </p:nvPr>
        </p:nvSpPr>
        <p:spPr>
          <a:xfrm>
            <a:off x="612648" y="2212848"/>
            <a:ext cx="6035040" cy="4096512"/>
          </a:xfrm>
        </p:spPr>
        <p:txBody>
          <a:bodyPr vert="horz" lIns="91440" tIns="45720" rIns="91440" bIns="45720" rtlCol="0">
            <a:normAutofit/>
          </a:bodyPr>
          <a:lstStyle/>
          <a:p>
            <a:r>
              <a:rPr lang="en-US" sz="1800" dirty="0"/>
              <a:t>Introduction to Large Language Models (LLMs)</a:t>
            </a:r>
          </a:p>
          <a:p>
            <a:r>
              <a:rPr lang="en-US" sz="1800" dirty="0"/>
              <a:t>Understanding Tokenization</a:t>
            </a:r>
          </a:p>
          <a:p>
            <a:r>
              <a:rPr lang="en-US" sz="1800" dirty="0"/>
              <a:t>Embedding Techniques</a:t>
            </a:r>
          </a:p>
          <a:p>
            <a:r>
              <a:rPr lang="en-US" sz="1800" dirty="0"/>
              <a:t>Integration of Tokenization and Embedding in LLMs</a:t>
            </a:r>
          </a:p>
          <a:p>
            <a:r>
              <a:rPr lang="en-US" sz="1800" dirty="0"/>
              <a:t>Applications and Implications</a:t>
            </a:r>
          </a:p>
        </p:txBody>
      </p:sp>
    </p:spTree>
    <p:extLst>
      <p:ext uri="{BB962C8B-B14F-4D97-AF65-F5344CB8AC3E}">
        <p14:creationId xmlns:p14="http://schemas.microsoft.com/office/powerpoint/2010/main" val="39933141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EE960E88-35EC-711E-9E6C-21B786377C41}"/>
              </a:ext>
            </a:extLst>
          </p:cNvPr>
          <p:cNvSpPr>
            <a:spLocks noGrp="1"/>
          </p:cNvSpPr>
          <p:nvPr>
            <p:ph type="ctrTitle"/>
          </p:nvPr>
        </p:nvSpPr>
        <p:spPr>
          <a:xfrm>
            <a:off x="277091" y="1814321"/>
            <a:ext cx="7772400" cy="4560920"/>
          </a:xfrm>
        </p:spPr>
        <p:txBody>
          <a:bodyPr anchor="b">
            <a:normAutofit/>
          </a:bodyPr>
          <a:lstStyle/>
          <a:p>
            <a:pPr algn="l"/>
            <a:r>
              <a:rPr lang="en-US" sz="7400"/>
              <a:t>Introduction to Large Language Models (LLMs)</a:t>
            </a:r>
          </a:p>
        </p:txBody>
      </p:sp>
    </p:spTree>
    <p:extLst>
      <p:ext uri="{BB962C8B-B14F-4D97-AF65-F5344CB8AC3E}">
        <p14:creationId xmlns:p14="http://schemas.microsoft.com/office/powerpoint/2010/main" val="806913623"/>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Red Communication bubbles with copy space are connected each other with black arrows. This image shows the social media, and online communication between people.">
            <a:extLst>
              <a:ext uri="{FF2B5EF4-FFF2-40B4-BE49-F238E27FC236}">
                <a16:creationId xmlns:a16="http://schemas.microsoft.com/office/drawing/2014/main" id="{33AB68C9-424E-44A2-A152-DD4E23A62C57}"/>
              </a:ext>
            </a:extLst>
          </p:cNvPr>
          <p:cNvPicPr>
            <a:picLocks noGrp="1" noChangeAspect="1"/>
          </p:cNvPicPr>
          <p:nvPr>
            <p:ph sz="half" idx="1"/>
          </p:nvPr>
        </p:nvPicPr>
        <p:blipFill>
          <a:blip r:embed="rId3"/>
          <a:srcRect l="19215" r="32991" b="-1"/>
          <a:stretch/>
        </p:blipFill>
        <p:spPr>
          <a:xfrm>
            <a:off x="20" y="10"/>
            <a:ext cx="4910308" cy="6857990"/>
          </a:xfrm>
          <a:prstGeom prst="rect">
            <a:avLst/>
          </a:prstGeom>
        </p:spPr>
      </p:pic>
      <p:sp>
        <p:nvSpPr>
          <p:cNvPr id="2" name="Title 1">
            <a:extLst>
              <a:ext uri="{FF2B5EF4-FFF2-40B4-BE49-F238E27FC236}">
                <a16:creationId xmlns:a16="http://schemas.microsoft.com/office/drawing/2014/main" id="{044BF581-2F0E-5F14-24DC-0432688BB4F7}"/>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Definition and Significance of LLMs</a:t>
            </a:r>
          </a:p>
        </p:txBody>
      </p:sp>
      <p:sp>
        <p:nvSpPr>
          <p:cNvPr id="4" name="Content Placeholder 3">
            <a:extLst>
              <a:ext uri="{FF2B5EF4-FFF2-40B4-BE49-F238E27FC236}">
                <a16:creationId xmlns:a16="http://schemas.microsoft.com/office/drawing/2014/main" id="{AA1D93DB-82DC-54E0-7BBB-5916A5DF124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Understanding LLMs</a:t>
            </a:r>
          </a:p>
          <a:p>
            <a:pPr marL="0" lvl="1" indent="0">
              <a:buNone/>
            </a:pPr>
            <a:r>
              <a:rPr lang="en-US" sz="1400"/>
              <a:t>Large language models are trained on vast text datasets to comprehend language and perform various tasks effectively.</a:t>
            </a:r>
          </a:p>
          <a:p>
            <a:pPr marL="0" indent="0">
              <a:spcBef>
                <a:spcPts val="2500"/>
              </a:spcBef>
              <a:buNone/>
            </a:pPr>
            <a:r>
              <a:rPr lang="en-US" sz="1400" b="1"/>
              <a:t>Contextual Understanding</a:t>
            </a:r>
          </a:p>
          <a:p>
            <a:pPr marL="0" lvl="1" indent="0">
              <a:buNone/>
            </a:pPr>
            <a:r>
              <a:rPr lang="en-US" sz="1400"/>
              <a:t>LLMs excel at understanding context, enabling them to generate relevant and coherent text based on input.</a:t>
            </a:r>
          </a:p>
          <a:p>
            <a:pPr marL="0" indent="0">
              <a:spcBef>
                <a:spcPts val="2500"/>
              </a:spcBef>
              <a:buNone/>
            </a:pPr>
            <a:r>
              <a:rPr lang="en-US" sz="1400" b="1"/>
              <a:t>Industry Applications</a:t>
            </a:r>
          </a:p>
          <a:p>
            <a:pPr marL="0" lvl="1" indent="0">
              <a:buNone/>
            </a:pPr>
            <a:r>
              <a:rPr lang="en-US" sz="1400"/>
              <a:t>The applications of LLMs span various industries, enhancing tasks such as customer support, content creation, and data analysis.</a:t>
            </a:r>
          </a:p>
        </p:txBody>
      </p:sp>
    </p:spTree>
    <p:extLst>
      <p:ext uri="{BB962C8B-B14F-4D97-AF65-F5344CB8AC3E}">
        <p14:creationId xmlns:p14="http://schemas.microsoft.com/office/powerpoint/2010/main" val="25171472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Global communication and collaboration intricately involving electronic ropes and keys through social networking of smart phones equipped with AI.">
            <a:extLst>
              <a:ext uri="{FF2B5EF4-FFF2-40B4-BE49-F238E27FC236}">
                <a16:creationId xmlns:a16="http://schemas.microsoft.com/office/drawing/2014/main" id="{5CE9FBD8-DE43-4BD3-8FCD-4FAAE437C58D}"/>
              </a:ext>
            </a:extLst>
          </p:cNvPr>
          <p:cNvPicPr>
            <a:picLocks noGrp="1" noChangeAspect="1"/>
          </p:cNvPicPr>
          <p:nvPr>
            <p:ph sz="half" idx="1"/>
          </p:nvPr>
        </p:nvPicPr>
        <p:blipFill>
          <a:blip r:embed="rId3"/>
          <a:srcRect l="30090" r="22116" b="-1"/>
          <a:stretch/>
        </p:blipFill>
        <p:spPr>
          <a:xfrm>
            <a:off x="20" y="10"/>
            <a:ext cx="4910308" cy="6857990"/>
          </a:xfrm>
          <a:prstGeom prst="rect">
            <a:avLst/>
          </a:prstGeom>
        </p:spPr>
      </p:pic>
      <p:sp>
        <p:nvSpPr>
          <p:cNvPr id="2" name="Title 1">
            <a:extLst>
              <a:ext uri="{FF2B5EF4-FFF2-40B4-BE49-F238E27FC236}">
                <a16:creationId xmlns:a16="http://schemas.microsoft.com/office/drawing/2014/main" id="{246C3A8A-7D09-F7FB-C118-070D8535F906}"/>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Key Components and Architecture</a:t>
            </a:r>
          </a:p>
        </p:txBody>
      </p:sp>
      <p:sp>
        <p:nvSpPr>
          <p:cNvPr id="4" name="Content Placeholder 3">
            <a:extLst>
              <a:ext uri="{FF2B5EF4-FFF2-40B4-BE49-F238E27FC236}">
                <a16:creationId xmlns:a16="http://schemas.microsoft.com/office/drawing/2014/main" id="{398A86DA-8022-A134-BEAC-D6AD462D81E2}"/>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Transformers in LLMs</a:t>
            </a:r>
          </a:p>
          <a:p>
            <a:pPr marL="0" lvl="1" indent="0">
              <a:buNone/>
            </a:pPr>
            <a:r>
              <a:rPr lang="en-US" sz="1400"/>
              <a:t>Transformers serve as the backbone of LLMs, enabling efficient text processing by utilizing self-attention to weigh the importance of different words.</a:t>
            </a:r>
          </a:p>
          <a:p>
            <a:pPr marL="0" indent="0">
              <a:spcBef>
                <a:spcPts val="2500"/>
              </a:spcBef>
              <a:buNone/>
            </a:pPr>
            <a:r>
              <a:rPr lang="en-US" sz="1400" b="1"/>
              <a:t>Attention Mechanisms</a:t>
            </a:r>
          </a:p>
          <a:p>
            <a:pPr marL="0" lvl="1" indent="0">
              <a:buNone/>
            </a:pPr>
            <a:r>
              <a:rPr lang="en-US" sz="1400"/>
              <a:t>Attention mechanisms allow LLMs to focus on relevant parts of the input text, enhancing understanding and contextual awareness during text generation.</a:t>
            </a:r>
          </a:p>
          <a:p>
            <a:pPr marL="0" indent="0">
              <a:spcBef>
                <a:spcPts val="2500"/>
              </a:spcBef>
              <a:buNone/>
            </a:pPr>
            <a:r>
              <a:rPr lang="en-US" sz="1400" b="1"/>
              <a:t>Multi-layer Networks</a:t>
            </a:r>
          </a:p>
          <a:p>
            <a:pPr marL="0" lvl="1" indent="0">
              <a:buNone/>
            </a:pPr>
            <a:r>
              <a:rPr lang="en-US" sz="1400"/>
              <a:t>Multi-layer networks enable LLMs to learn complex language patterns by stacking layers of neurons, enhancing representation learning.</a:t>
            </a:r>
          </a:p>
        </p:txBody>
      </p:sp>
    </p:spTree>
    <p:extLst>
      <p:ext uri="{BB962C8B-B14F-4D97-AF65-F5344CB8AC3E}">
        <p14:creationId xmlns:p14="http://schemas.microsoft.com/office/powerpoint/2010/main" val="32189368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Red, pink and orange rhododendron flowers in bloom in a garden.">
            <a:extLst>
              <a:ext uri="{FF2B5EF4-FFF2-40B4-BE49-F238E27FC236}">
                <a16:creationId xmlns:a16="http://schemas.microsoft.com/office/drawing/2014/main" id="{76FAD792-67E2-4336-BB9B-36138C6913A8}"/>
              </a:ext>
            </a:extLst>
          </p:cNvPr>
          <p:cNvPicPr>
            <a:picLocks noGrp="1" noChangeAspect="1"/>
          </p:cNvPicPr>
          <p:nvPr>
            <p:ph sz="half" idx="1"/>
          </p:nvPr>
        </p:nvPicPr>
        <p:blipFill>
          <a:blip r:embed="rId3"/>
          <a:srcRect r="5778"/>
          <a:stretch/>
        </p:blipFill>
        <p:spPr>
          <a:xfrm>
            <a:off x="7345680" y="10"/>
            <a:ext cx="4846320" cy="6857990"/>
          </a:xfrm>
          <a:prstGeom prst="rect">
            <a:avLst/>
          </a:prstGeom>
        </p:spPr>
      </p:pic>
      <p:sp>
        <p:nvSpPr>
          <p:cNvPr id="2" name="Title 1">
            <a:extLst>
              <a:ext uri="{FF2B5EF4-FFF2-40B4-BE49-F238E27FC236}">
                <a16:creationId xmlns:a16="http://schemas.microsoft.com/office/drawing/2014/main" id="{555D804C-1509-F411-0DE3-3120A75AA1BC}"/>
              </a:ext>
            </a:extLst>
          </p:cNvPr>
          <p:cNvSpPr>
            <a:spLocks noGrp="1"/>
          </p:cNvSpPr>
          <p:nvPr>
            <p:ph type="title"/>
          </p:nvPr>
        </p:nvSpPr>
        <p:spPr>
          <a:xfrm>
            <a:off x="612648" y="600075"/>
            <a:ext cx="6035040" cy="1529932"/>
          </a:xfrm>
        </p:spPr>
        <p:txBody>
          <a:bodyPr vert="horz" lIns="91440" tIns="45720" rIns="91440" bIns="45720" rtlCol="0" anchor="b">
            <a:normAutofit/>
          </a:bodyPr>
          <a:lstStyle/>
          <a:p>
            <a:r>
              <a:rPr lang="en-US" b="1" kern="1200">
                <a:solidFill>
                  <a:schemeClr val="tx1"/>
                </a:solidFill>
                <a:latin typeface="+mj-lt"/>
                <a:ea typeface="+mj-ea"/>
                <a:cs typeface="+mj-cs"/>
              </a:rPr>
              <a:t>Popular LLM Examples (GPT, BERT, Etc.)</a:t>
            </a:r>
          </a:p>
        </p:txBody>
      </p:sp>
      <p:sp>
        <p:nvSpPr>
          <p:cNvPr id="4" name="Content Placeholder 3">
            <a:extLst>
              <a:ext uri="{FF2B5EF4-FFF2-40B4-BE49-F238E27FC236}">
                <a16:creationId xmlns:a16="http://schemas.microsoft.com/office/drawing/2014/main" id="{0658FE6D-C4E9-83E2-8071-15F55FED94A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8" y="2212848"/>
            <a:ext cx="6035040" cy="4096512"/>
          </a:xfrm>
        </p:spPr>
        <p:txBody>
          <a:bodyPr>
            <a:normAutofit/>
          </a:bodyPr>
          <a:lstStyle/>
          <a:p>
            <a:pPr marL="0" indent="0">
              <a:spcBef>
                <a:spcPts val="2500"/>
              </a:spcBef>
              <a:buNone/>
            </a:pPr>
            <a:r>
              <a:rPr lang="en-US" sz="1400" b="1"/>
              <a:t>Generative Language Models</a:t>
            </a:r>
          </a:p>
          <a:p>
            <a:pPr marL="0" lvl="1" indent="0">
              <a:buNone/>
            </a:pPr>
            <a:r>
              <a:rPr lang="en-US" sz="1400"/>
              <a:t>Generative language models are designed to produce human-like text, making them ideal for creative writing and content generation.</a:t>
            </a:r>
          </a:p>
          <a:p>
            <a:pPr marL="0" indent="0">
              <a:spcBef>
                <a:spcPts val="2500"/>
              </a:spcBef>
              <a:buNone/>
            </a:pPr>
            <a:r>
              <a:rPr lang="en-US" sz="1400" b="1"/>
              <a:t>Understanding Context</a:t>
            </a:r>
          </a:p>
          <a:p>
            <a:pPr marL="0" lvl="1" indent="0">
              <a:buNone/>
            </a:pPr>
            <a:r>
              <a:rPr lang="en-US" sz="1400"/>
              <a:t>Some models excel at understanding context in text, making them suitable for tasks like sentiment analysis and language translation.</a:t>
            </a:r>
          </a:p>
          <a:p>
            <a:pPr marL="0" indent="0">
              <a:spcBef>
                <a:spcPts val="2500"/>
              </a:spcBef>
              <a:buNone/>
            </a:pPr>
            <a:r>
              <a:rPr lang="en-US" sz="1400" b="1"/>
              <a:t>Task-Specific Models</a:t>
            </a:r>
          </a:p>
          <a:p>
            <a:pPr marL="0" lvl="1" indent="0">
              <a:buNone/>
            </a:pPr>
            <a:r>
              <a:rPr lang="en-US" sz="1400"/>
              <a:t>Each model can be fine-tuned for specific natural language processing tasks, enhancing performance in those areas.</a:t>
            </a:r>
          </a:p>
        </p:txBody>
      </p:sp>
    </p:spTree>
    <p:extLst>
      <p:ext uri="{BB962C8B-B14F-4D97-AF65-F5344CB8AC3E}">
        <p14:creationId xmlns:p14="http://schemas.microsoft.com/office/powerpoint/2010/main" val="5653089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E45F86DA-A505-57DA-683B-1FB128FACB78}"/>
              </a:ext>
            </a:extLst>
          </p:cNvPr>
          <p:cNvSpPr>
            <a:spLocks noGrp="1"/>
          </p:cNvSpPr>
          <p:nvPr>
            <p:ph type="ctrTitle"/>
          </p:nvPr>
        </p:nvSpPr>
        <p:spPr>
          <a:xfrm>
            <a:off x="277091" y="1814321"/>
            <a:ext cx="7772400" cy="4560920"/>
          </a:xfrm>
        </p:spPr>
        <p:txBody>
          <a:bodyPr anchor="b">
            <a:normAutofit/>
          </a:bodyPr>
          <a:lstStyle/>
          <a:p>
            <a:pPr algn="l"/>
            <a:r>
              <a:rPr lang="en-US" sz="7400"/>
              <a:t>Understanding Tokenization</a:t>
            </a:r>
          </a:p>
        </p:txBody>
      </p:sp>
    </p:spTree>
    <p:extLst>
      <p:ext uri="{BB962C8B-B14F-4D97-AF65-F5344CB8AC3E}">
        <p14:creationId xmlns:p14="http://schemas.microsoft.com/office/powerpoint/2010/main" val="2324406313"/>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Work Life balance spelled out in old letterpress letters.">
            <a:extLst>
              <a:ext uri="{FF2B5EF4-FFF2-40B4-BE49-F238E27FC236}">
                <a16:creationId xmlns:a16="http://schemas.microsoft.com/office/drawing/2014/main" id="{DD1ABA64-F831-47B9-B879-4D879CD2EDB4}"/>
              </a:ext>
            </a:extLst>
          </p:cNvPr>
          <p:cNvPicPr>
            <a:picLocks noGrp="1" noChangeAspect="1"/>
          </p:cNvPicPr>
          <p:nvPr>
            <p:ph sz="half" idx="1"/>
          </p:nvPr>
        </p:nvPicPr>
        <p:blipFill>
          <a:blip r:embed="rId3"/>
          <a:srcRect l="12445" r="25521" b="-2"/>
          <a:stretch/>
        </p:blipFill>
        <p:spPr>
          <a:xfrm>
            <a:off x="5818632" y="-1"/>
            <a:ext cx="6373368" cy="6857999"/>
          </a:xfrm>
          <a:prstGeom prst="rect">
            <a:avLst/>
          </a:prstGeom>
        </p:spPr>
      </p:pic>
      <p:sp>
        <p:nvSpPr>
          <p:cNvPr id="2" name="Title 1">
            <a:extLst>
              <a:ext uri="{FF2B5EF4-FFF2-40B4-BE49-F238E27FC236}">
                <a16:creationId xmlns:a16="http://schemas.microsoft.com/office/drawing/2014/main" id="{90591642-18C2-B6F7-70D5-468F4F3509BA}"/>
              </a:ext>
            </a:extLst>
          </p:cNvPr>
          <p:cNvSpPr>
            <a:spLocks noGrp="1"/>
          </p:cNvSpPr>
          <p:nvPr>
            <p:ph type="title"/>
          </p:nvPr>
        </p:nvSpPr>
        <p:spPr>
          <a:xfrm>
            <a:off x="614680" y="603504"/>
            <a:ext cx="4361688" cy="1527048"/>
          </a:xfrm>
        </p:spPr>
        <p:txBody>
          <a:bodyPr vert="horz" lIns="91440" tIns="45720" rIns="91440" bIns="45720" rtlCol="0" anchor="b">
            <a:normAutofit/>
          </a:bodyPr>
          <a:lstStyle/>
          <a:p>
            <a:r>
              <a:rPr lang="en-US" b="1" kern="1200">
                <a:solidFill>
                  <a:schemeClr val="tx1"/>
                </a:solidFill>
                <a:latin typeface="+mj-lt"/>
                <a:ea typeface="+mj-ea"/>
                <a:cs typeface="+mj-cs"/>
              </a:rPr>
              <a:t>What Is Tokenization?</a:t>
            </a:r>
          </a:p>
        </p:txBody>
      </p:sp>
      <p:sp>
        <p:nvSpPr>
          <p:cNvPr id="4" name="Content Placeholder 3">
            <a:extLst>
              <a:ext uri="{FF2B5EF4-FFF2-40B4-BE49-F238E27FC236}">
                <a16:creationId xmlns:a16="http://schemas.microsoft.com/office/drawing/2014/main" id="{4A2446D0-62C8-A7E6-BB3C-F1D9EE6A2C3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4679" y="2212848"/>
            <a:ext cx="4361688" cy="4096512"/>
          </a:xfrm>
        </p:spPr>
        <p:txBody>
          <a:bodyPr>
            <a:normAutofit/>
          </a:bodyPr>
          <a:lstStyle/>
          <a:p>
            <a:pPr marL="0" indent="0">
              <a:spcBef>
                <a:spcPts val="2500"/>
              </a:spcBef>
              <a:buNone/>
            </a:pPr>
            <a:r>
              <a:rPr lang="en-US" sz="1400" b="1"/>
              <a:t>Definition of Tokenization</a:t>
            </a:r>
          </a:p>
          <a:p>
            <a:pPr marL="0" lvl="1" indent="0">
              <a:buNone/>
            </a:pPr>
            <a:r>
              <a:rPr lang="en-US" sz="1400"/>
              <a:t>Tokenization is the process of breaking text into smaller, manageable pieces for analysis and understanding.</a:t>
            </a:r>
          </a:p>
          <a:p>
            <a:pPr marL="0" indent="0">
              <a:spcBef>
                <a:spcPts val="2500"/>
              </a:spcBef>
              <a:buNone/>
            </a:pPr>
            <a:r>
              <a:rPr lang="en-US" sz="1400" b="1"/>
              <a:t>Purpose of Tokenization</a:t>
            </a:r>
          </a:p>
          <a:p>
            <a:pPr marL="0" lvl="1" indent="0">
              <a:buNone/>
            </a:pPr>
            <a:r>
              <a:rPr lang="en-US" sz="1400"/>
              <a:t>Tokenization helps language models comprehend and analyze written content effectively, improving natural language processing tasks.</a:t>
            </a:r>
          </a:p>
        </p:txBody>
      </p:sp>
    </p:spTree>
    <p:extLst>
      <p:ext uri="{BB962C8B-B14F-4D97-AF65-F5344CB8AC3E}">
        <p14:creationId xmlns:p14="http://schemas.microsoft.com/office/powerpoint/2010/main" val="5155828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6129CEC6-79C2-8147-EB51-664DFA10925B}"/>
              </a:ext>
            </a:extLst>
          </p:cNvPr>
          <p:cNvSpPr>
            <a:spLocks noGrp="1"/>
          </p:cNvSpPr>
          <p:nvPr>
            <p:ph type="title"/>
          </p:nvPr>
        </p:nvSpPr>
        <p:spPr>
          <a:xfrm>
            <a:off x="614679" y="548639"/>
            <a:ext cx="3977640" cy="5719640"/>
          </a:xfrm>
        </p:spPr>
        <p:txBody>
          <a:bodyPr anchor="t">
            <a:normAutofit/>
          </a:bodyPr>
          <a:lstStyle/>
          <a:p>
            <a:r>
              <a:rPr lang="en-US"/>
              <a:t>Types of Tokenization (Word, Subword, Character, Etc.)</a:t>
            </a:r>
          </a:p>
        </p:txBody>
      </p:sp>
      <p:graphicFrame>
        <p:nvGraphicFramePr>
          <p:cNvPr id="4" name="Content Placeholder 4">
            <a:extLst>
              <a:ext uri="{FF2B5EF4-FFF2-40B4-BE49-F238E27FC236}">
                <a16:creationId xmlns:a16="http://schemas.microsoft.com/office/drawing/2014/main" id="{3A86E9F4-F7F3-47CB-B03B-65D0E7405E32}"/>
              </a:ext>
            </a:extLst>
          </p:cNvPr>
          <p:cNvGraphicFramePr>
            <a:graphicFrameLocks noGrp="1"/>
          </p:cNvGraphicFramePr>
          <p:nvPr>
            <p:ph idx="1"/>
            <p:extLst>
              <p:ext uri="{D42A27DB-BD31-4B8C-83A1-F6EECF244321}">
                <p14:modId xmlns:p14="http://schemas.microsoft.com/office/powerpoint/2010/main" val="3987944913"/>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5387542" y="548639"/>
          <a:ext cx="6189780" cy="5719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3410909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oncept of risk analysis word cloud on a napkin with pen and cup of coffee">
            <a:extLst>
              <a:ext uri="{FF2B5EF4-FFF2-40B4-BE49-F238E27FC236}">
                <a16:creationId xmlns:a16="http://schemas.microsoft.com/office/drawing/2014/main" id="{F164B511-A37A-40D7-B7FE-E63E5E167936}"/>
              </a:ext>
            </a:extLst>
          </p:cNvPr>
          <p:cNvPicPr>
            <a:picLocks noGrp="1" noChangeAspect="1"/>
          </p:cNvPicPr>
          <p:nvPr>
            <p:ph sz="half" idx="1"/>
          </p:nvPr>
        </p:nvPicPr>
        <p:blipFill>
          <a:blip r:embed="rId3"/>
          <a:srcRect l="34020" r="18186" b="-1"/>
          <a:stretch/>
        </p:blipFill>
        <p:spPr>
          <a:xfrm>
            <a:off x="20" y="10"/>
            <a:ext cx="4910308" cy="6857990"/>
          </a:xfrm>
          <a:prstGeom prst="rect">
            <a:avLst/>
          </a:prstGeom>
        </p:spPr>
      </p:pic>
      <p:sp>
        <p:nvSpPr>
          <p:cNvPr id="2" name="Title 1">
            <a:extLst>
              <a:ext uri="{FF2B5EF4-FFF2-40B4-BE49-F238E27FC236}">
                <a16:creationId xmlns:a16="http://schemas.microsoft.com/office/drawing/2014/main" id="{CC0ECE40-F8C9-272F-3E49-CBCF45C90B0D}"/>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Challenges in Tokenization</a:t>
            </a:r>
          </a:p>
        </p:txBody>
      </p:sp>
      <p:sp>
        <p:nvSpPr>
          <p:cNvPr id="4" name="Content Placeholder 3">
            <a:extLst>
              <a:ext uri="{FF2B5EF4-FFF2-40B4-BE49-F238E27FC236}">
                <a16:creationId xmlns:a16="http://schemas.microsoft.com/office/drawing/2014/main" id="{E68DAB16-CA4E-E4BE-618D-68B9B5CE4BC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Out-of-Vocabulary Words</a:t>
            </a:r>
          </a:p>
          <a:p>
            <a:pPr marL="0" lvl="1" indent="0">
              <a:buNone/>
            </a:pPr>
            <a:r>
              <a:rPr lang="en-US" sz="1400"/>
              <a:t>One of the main challenges in tokenization is accurately processing out-of-vocabulary words that are not in the training data.</a:t>
            </a:r>
          </a:p>
          <a:p>
            <a:pPr marL="0" indent="0">
              <a:spcBef>
                <a:spcPts val="2500"/>
              </a:spcBef>
              <a:buNone/>
            </a:pPr>
            <a:r>
              <a:rPr lang="en-US" sz="1400" b="1"/>
              <a:t>Handling Different Languages</a:t>
            </a:r>
          </a:p>
          <a:p>
            <a:pPr marL="0" lvl="1" indent="0">
              <a:buNone/>
            </a:pPr>
            <a:r>
              <a:rPr lang="en-US" sz="1400"/>
              <a:t>Tokenization must adapt to various languages, each with distinct syntax and grammar rules, making it complex.</a:t>
            </a:r>
          </a:p>
          <a:p>
            <a:pPr marL="0" indent="0">
              <a:spcBef>
                <a:spcPts val="2500"/>
              </a:spcBef>
              <a:buNone/>
            </a:pPr>
            <a:r>
              <a:rPr lang="en-US" sz="1400" b="1"/>
              <a:t>Managing Context</a:t>
            </a:r>
          </a:p>
          <a:p>
            <a:pPr marL="0" lvl="1" indent="0">
              <a:buNone/>
            </a:pPr>
            <a:r>
              <a:rPr lang="en-US" sz="1400"/>
              <a:t>Understanding context is crucial for effective tokenization, as it impacts the meaning and usage of words.</a:t>
            </a:r>
          </a:p>
        </p:txBody>
      </p:sp>
    </p:spTree>
    <p:extLst>
      <p:ext uri="{BB962C8B-B14F-4D97-AF65-F5344CB8AC3E}">
        <p14:creationId xmlns:p14="http://schemas.microsoft.com/office/powerpoint/2010/main" val="41697331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8423F3FF-F958-A6FF-050B-13DD02FA4814}"/>
              </a:ext>
            </a:extLst>
          </p:cNvPr>
          <p:cNvSpPr>
            <a:spLocks noGrp="1"/>
          </p:cNvSpPr>
          <p:nvPr>
            <p:ph type="ctrTitle"/>
          </p:nvPr>
        </p:nvSpPr>
        <p:spPr>
          <a:xfrm>
            <a:off x="277091" y="1814321"/>
            <a:ext cx="7772400" cy="4560920"/>
          </a:xfrm>
        </p:spPr>
        <p:txBody>
          <a:bodyPr anchor="b">
            <a:normAutofit/>
          </a:bodyPr>
          <a:lstStyle/>
          <a:p>
            <a:pPr algn="l"/>
            <a:r>
              <a:rPr lang="en-US" sz="7400"/>
              <a:t>Embedding Techniques</a:t>
            </a:r>
          </a:p>
        </p:txBody>
      </p:sp>
    </p:spTree>
    <p:extLst>
      <p:ext uri="{BB962C8B-B14F-4D97-AF65-F5344CB8AC3E}">
        <p14:creationId xmlns:p14="http://schemas.microsoft.com/office/powerpoint/2010/main" val="637440571"/>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Inflation">
            <a:extLst>
              <a:ext uri="{FF2B5EF4-FFF2-40B4-BE49-F238E27FC236}">
                <a16:creationId xmlns:a16="http://schemas.microsoft.com/office/drawing/2014/main" id="{090606CB-7E1C-4D89-8822-5AD4680A21A0}"/>
              </a:ext>
            </a:extLst>
          </p:cNvPr>
          <p:cNvPicPr>
            <a:picLocks noGrp="1" noChangeAspect="1"/>
          </p:cNvPicPr>
          <p:nvPr>
            <p:ph sz="half" idx="1"/>
          </p:nvPr>
        </p:nvPicPr>
        <p:blipFill>
          <a:blip r:embed="rId3"/>
          <a:srcRect l="14242" r="16058"/>
          <a:stretch/>
        </p:blipFill>
        <p:spPr>
          <a:xfrm>
            <a:off x="5818632" y="-1"/>
            <a:ext cx="6373368" cy="6857999"/>
          </a:xfrm>
          <a:prstGeom prst="rect">
            <a:avLst/>
          </a:prstGeom>
        </p:spPr>
      </p:pic>
      <p:sp>
        <p:nvSpPr>
          <p:cNvPr id="2" name="Title 1">
            <a:extLst>
              <a:ext uri="{FF2B5EF4-FFF2-40B4-BE49-F238E27FC236}">
                <a16:creationId xmlns:a16="http://schemas.microsoft.com/office/drawing/2014/main" id="{2D20A85B-8F1E-955C-71A1-2649078219EE}"/>
              </a:ext>
            </a:extLst>
          </p:cNvPr>
          <p:cNvSpPr>
            <a:spLocks noGrp="1"/>
          </p:cNvSpPr>
          <p:nvPr>
            <p:ph type="title"/>
          </p:nvPr>
        </p:nvSpPr>
        <p:spPr>
          <a:xfrm>
            <a:off x="614680" y="603504"/>
            <a:ext cx="4361688" cy="1527048"/>
          </a:xfrm>
        </p:spPr>
        <p:txBody>
          <a:bodyPr vert="horz" lIns="91440" tIns="45720" rIns="91440" bIns="45720" rtlCol="0" anchor="b">
            <a:normAutofit/>
          </a:bodyPr>
          <a:lstStyle/>
          <a:p>
            <a:r>
              <a:rPr lang="en-US" b="1" kern="1200">
                <a:solidFill>
                  <a:schemeClr val="tx1"/>
                </a:solidFill>
                <a:latin typeface="+mj-lt"/>
                <a:ea typeface="+mj-ea"/>
                <a:cs typeface="+mj-cs"/>
              </a:rPr>
              <a:t>Concept of Word Embeddings</a:t>
            </a:r>
          </a:p>
        </p:txBody>
      </p:sp>
      <p:sp>
        <p:nvSpPr>
          <p:cNvPr id="4" name="Content Placeholder 3">
            <a:extLst>
              <a:ext uri="{FF2B5EF4-FFF2-40B4-BE49-F238E27FC236}">
                <a16:creationId xmlns:a16="http://schemas.microsoft.com/office/drawing/2014/main" id="{0D8E807C-0A74-4CB8-F075-C1516C12FEE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4679" y="2212848"/>
            <a:ext cx="4361688" cy="4096512"/>
          </a:xfrm>
        </p:spPr>
        <p:txBody>
          <a:bodyPr>
            <a:normAutofit/>
          </a:bodyPr>
          <a:lstStyle/>
          <a:p>
            <a:pPr marL="0" indent="0">
              <a:spcBef>
                <a:spcPts val="2500"/>
              </a:spcBef>
              <a:buNone/>
            </a:pPr>
            <a:r>
              <a:rPr lang="en-US" sz="1400" b="1"/>
              <a:t>Dense Vector Representations</a:t>
            </a:r>
          </a:p>
          <a:p>
            <a:pPr marL="0" lvl="1" indent="0">
              <a:buNone/>
            </a:pPr>
            <a:r>
              <a:rPr lang="en-US" sz="1400"/>
              <a:t>Word embeddings are dense vector representations of words, which help in capturing their meanings based on context.</a:t>
            </a:r>
          </a:p>
          <a:p>
            <a:pPr marL="0" indent="0">
              <a:spcBef>
                <a:spcPts val="2500"/>
              </a:spcBef>
              <a:buNone/>
            </a:pPr>
            <a:r>
              <a:rPr lang="en-US" sz="1400" b="1"/>
              <a:t>Understanding Relationships</a:t>
            </a:r>
          </a:p>
          <a:p>
            <a:pPr marL="0" lvl="1" indent="0">
              <a:buNone/>
            </a:pPr>
            <a:r>
              <a:rPr lang="en-US" sz="1400"/>
              <a:t>Word embeddings enable language models to comprehend relationships and similarities between words effectively.</a:t>
            </a:r>
          </a:p>
        </p:txBody>
      </p:sp>
    </p:spTree>
    <p:extLst>
      <p:ext uri="{BB962C8B-B14F-4D97-AF65-F5344CB8AC3E}">
        <p14:creationId xmlns:p14="http://schemas.microsoft.com/office/powerpoint/2010/main" val="10634695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Idea and some other marketing concepts.">
            <a:extLst>
              <a:ext uri="{FF2B5EF4-FFF2-40B4-BE49-F238E27FC236}">
                <a16:creationId xmlns:a16="http://schemas.microsoft.com/office/drawing/2014/main" id="{E6EA0CB9-6C93-4B63-960E-7941EE950A9C}"/>
              </a:ext>
            </a:extLst>
          </p:cNvPr>
          <p:cNvPicPr>
            <a:picLocks noGrp="1" noChangeAspect="1"/>
          </p:cNvPicPr>
          <p:nvPr>
            <p:ph sz="half" idx="1"/>
          </p:nvPr>
        </p:nvPicPr>
        <p:blipFill>
          <a:blip r:embed="rId3"/>
          <a:srcRect l="18105" r="37145"/>
          <a:stretch/>
        </p:blipFill>
        <p:spPr>
          <a:xfrm>
            <a:off x="20" y="10"/>
            <a:ext cx="4910308" cy="6857990"/>
          </a:xfrm>
          <a:prstGeom prst="rect">
            <a:avLst/>
          </a:prstGeom>
        </p:spPr>
      </p:pic>
      <p:sp>
        <p:nvSpPr>
          <p:cNvPr id="2" name="Title 1">
            <a:extLst>
              <a:ext uri="{FF2B5EF4-FFF2-40B4-BE49-F238E27FC236}">
                <a16:creationId xmlns:a16="http://schemas.microsoft.com/office/drawing/2014/main" id="{98162085-AC8F-55D9-6E94-866A82B2C5B8}"/>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sz="3300" b="1" kern="1200">
                <a:solidFill>
                  <a:schemeClr val="tx1"/>
                </a:solidFill>
                <a:latin typeface="+mj-lt"/>
                <a:ea typeface="+mj-ea"/>
                <a:cs typeface="+mj-cs"/>
              </a:rPr>
              <a:t>Common Embedding Methods (Word2Vec, GloVe, FastText)</a:t>
            </a:r>
          </a:p>
        </p:txBody>
      </p:sp>
      <p:sp>
        <p:nvSpPr>
          <p:cNvPr id="4" name="Content Placeholder 3">
            <a:extLst>
              <a:ext uri="{FF2B5EF4-FFF2-40B4-BE49-F238E27FC236}">
                <a16:creationId xmlns:a16="http://schemas.microsoft.com/office/drawing/2014/main" id="{EFC1388A-C25E-085E-A4E0-1DF8971448D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Word2Vec Overview</a:t>
            </a:r>
          </a:p>
          <a:p>
            <a:pPr marL="0" lvl="1" indent="0">
              <a:buNone/>
            </a:pPr>
            <a:r>
              <a:rPr lang="en-US" sz="1400"/>
              <a:t>Word2Vec is an embedding method that uses neural networks to learn word associations from large datasets, making it effective for various NLP tasks.</a:t>
            </a:r>
          </a:p>
          <a:p>
            <a:pPr marL="0" indent="0">
              <a:spcBef>
                <a:spcPts val="2500"/>
              </a:spcBef>
              <a:buNone/>
            </a:pPr>
            <a:r>
              <a:rPr lang="en-US" sz="1400" b="1"/>
              <a:t>GloVe Features</a:t>
            </a:r>
          </a:p>
          <a:p>
            <a:pPr marL="0" lvl="1" indent="0">
              <a:buNone/>
            </a:pPr>
            <a:r>
              <a:rPr lang="en-US" sz="1400"/>
              <a:t>GloVe (Global Vectors for Word Representation) captures global word co-occurrences, providing rich contextual word representations suitable for semantic analysis.</a:t>
            </a:r>
          </a:p>
          <a:p>
            <a:pPr marL="0" indent="0">
              <a:spcBef>
                <a:spcPts val="2500"/>
              </a:spcBef>
              <a:buNone/>
            </a:pPr>
            <a:r>
              <a:rPr lang="en-US" sz="1400" b="1"/>
              <a:t>FastText Advantages</a:t>
            </a:r>
          </a:p>
          <a:p>
            <a:pPr marL="0" lvl="1" indent="0">
              <a:buNone/>
            </a:pPr>
            <a:r>
              <a:rPr lang="en-US" sz="1400"/>
              <a:t>FastText extends Word2Vec by considering subword information, making it particularly useful for morphologically rich languages and out-of-vocabulary words.</a:t>
            </a:r>
          </a:p>
        </p:txBody>
      </p:sp>
    </p:spTree>
    <p:extLst>
      <p:ext uri="{BB962C8B-B14F-4D97-AF65-F5344CB8AC3E}">
        <p14:creationId xmlns:p14="http://schemas.microsoft.com/office/powerpoint/2010/main" val="19655712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F67260F7-DD35-6E0A-B98E-B310A6D25F66}"/>
              </a:ext>
            </a:extLst>
          </p:cNvPr>
          <p:cNvSpPr>
            <a:spLocks noGrp="1"/>
          </p:cNvSpPr>
          <p:nvPr>
            <p:ph type="title"/>
          </p:nvPr>
        </p:nvSpPr>
        <p:spPr>
          <a:xfrm>
            <a:off x="614679" y="548639"/>
            <a:ext cx="3977640" cy="5719640"/>
          </a:xfrm>
        </p:spPr>
        <p:txBody>
          <a:bodyPr anchor="t">
            <a:normAutofit/>
          </a:bodyPr>
          <a:lstStyle/>
          <a:p>
            <a:r>
              <a:rPr lang="en-US"/>
              <a:t>Contextual Embeddings in LLMs</a:t>
            </a:r>
          </a:p>
        </p:txBody>
      </p:sp>
      <p:graphicFrame>
        <p:nvGraphicFramePr>
          <p:cNvPr id="4" name="Content Placeholder 4">
            <a:extLst>
              <a:ext uri="{FF2B5EF4-FFF2-40B4-BE49-F238E27FC236}">
                <a16:creationId xmlns:a16="http://schemas.microsoft.com/office/drawing/2014/main" id="{8C5E10A7-5EB3-4FAE-A0C3-683B31A8E62A}"/>
              </a:ext>
            </a:extLst>
          </p:cNvPr>
          <p:cNvGraphicFramePr>
            <a:graphicFrameLocks noGrp="1"/>
          </p:cNvGraphicFramePr>
          <p:nvPr>
            <p:ph idx="1"/>
            <p:extLst>
              <p:ext uri="{D42A27DB-BD31-4B8C-83A1-F6EECF244321}">
                <p14:modId xmlns:p14="http://schemas.microsoft.com/office/powerpoint/2010/main" val="547299160"/>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5387542" y="548639"/>
          <a:ext cx="6189780" cy="5719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82259759"/>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224684F7-9E24-F7A7-EB83-F9F4235D0815}"/>
              </a:ext>
            </a:extLst>
          </p:cNvPr>
          <p:cNvSpPr>
            <a:spLocks noGrp="1"/>
          </p:cNvSpPr>
          <p:nvPr>
            <p:ph type="ctrTitle"/>
          </p:nvPr>
        </p:nvSpPr>
        <p:spPr>
          <a:xfrm>
            <a:off x="277091" y="1814321"/>
            <a:ext cx="7772400" cy="4560920"/>
          </a:xfrm>
        </p:spPr>
        <p:txBody>
          <a:bodyPr anchor="b">
            <a:normAutofit/>
          </a:bodyPr>
          <a:lstStyle/>
          <a:p>
            <a:pPr algn="l"/>
            <a:r>
              <a:rPr lang="en-US" sz="7400"/>
              <a:t>Integration of Tokenization and Embedding in LLMs</a:t>
            </a:r>
          </a:p>
        </p:txBody>
      </p:sp>
    </p:spTree>
    <p:extLst>
      <p:ext uri="{BB962C8B-B14F-4D97-AF65-F5344CB8AC3E}">
        <p14:creationId xmlns:p14="http://schemas.microsoft.com/office/powerpoint/2010/main" val="3177230643"/>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Female drawing flow chart">
            <a:extLst>
              <a:ext uri="{FF2B5EF4-FFF2-40B4-BE49-F238E27FC236}">
                <a16:creationId xmlns:a16="http://schemas.microsoft.com/office/drawing/2014/main" id="{106DF10E-EB34-4262-A623-4EE0548A2B95}"/>
              </a:ext>
            </a:extLst>
          </p:cNvPr>
          <p:cNvPicPr>
            <a:picLocks noGrp="1" noChangeAspect="1"/>
          </p:cNvPicPr>
          <p:nvPr>
            <p:ph sz="half" idx="1"/>
          </p:nvPr>
        </p:nvPicPr>
        <p:blipFill>
          <a:blip r:embed="rId3"/>
          <a:srcRect l="24369" r="28734" b="2"/>
          <a:stretch/>
        </p:blipFill>
        <p:spPr>
          <a:xfrm>
            <a:off x="20" y="10"/>
            <a:ext cx="4910308" cy="6857990"/>
          </a:xfrm>
          <a:prstGeom prst="rect">
            <a:avLst/>
          </a:prstGeom>
        </p:spPr>
      </p:pic>
      <p:sp>
        <p:nvSpPr>
          <p:cNvPr id="2" name="Title 1">
            <a:extLst>
              <a:ext uri="{FF2B5EF4-FFF2-40B4-BE49-F238E27FC236}">
                <a16:creationId xmlns:a16="http://schemas.microsoft.com/office/drawing/2014/main" id="{2D9FF1A1-62FB-D935-C8DD-FB3E5BE8D676}"/>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Process From Text to Embeddings</a:t>
            </a:r>
          </a:p>
        </p:txBody>
      </p:sp>
      <p:sp>
        <p:nvSpPr>
          <p:cNvPr id="4" name="Content Placeholder 3">
            <a:extLst>
              <a:ext uri="{FF2B5EF4-FFF2-40B4-BE49-F238E27FC236}">
                <a16:creationId xmlns:a16="http://schemas.microsoft.com/office/drawing/2014/main" id="{D80E38C0-2330-CE55-B0CC-0853939657B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Tokenization Process</a:t>
            </a:r>
          </a:p>
          <a:p>
            <a:pPr marL="0" lvl="1" indent="0">
              <a:buNone/>
            </a:pPr>
            <a:r>
              <a:rPr lang="en-US" sz="1400"/>
              <a:t>Tokenization is the first step, breaking down text into individual units or tokens for further analysis.</a:t>
            </a:r>
          </a:p>
          <a:p>
            <a:pPr marL="0" indent="0">
              <a:spcBef>
                <a:spcPts val="2500"/>
              </a:spcBef>
              <a:buNone/>
            </a:pPr>
            <a:r>
              <a:rPr lang="en-US" sz="1400" b="1"/>
              <a:t>Generating Embeddings</a:t>
            </a:r>
          </a:p>
          <a:p>
            <a:pPr marL="0" lvl="1" indent="0">
              <a:buNone/>
            </a:pPr>
            <a:r>
              <a:rPr lang="en-US" sz="1400"/>
              <a:t>After tokenization, embeddings are generated, representing words or phrases in a numerical format that algorithms can process.</a:t>
            </a:r>
          </a:p>
          <a:p>
            <a:pPr marL="0" indent="0">
              <a:spcBef>
                <a:spcPts val="2500"/>
              </a:spcBef>
              <a:buNone/>
            </a:pPr>
            <a:r>
              <a:rPr lang="en-US" sz="1400" b="1"/>
              <a:t>Importance for LLMs</a:t>
            </a:r>
          </a:p>
          <a:p>
            <a:pPr marL="0" lvl="1" indent="0">
              <a:buNone/>
            </a:pPr>
            <a:r>
              <a:rPr lang="en-US" sz="1400"/>
              <a:t>This pipeline is essential for large language models (LLMs) to analyze and generate human-like text effectively.</a:t>
            </a:r>
          </a:p>
        </p:txBody>
      </p:sp>
    </p:spTree>
    <p:extLst>
      <p:ext uri="{BB962C8B-B14F-4D97-AF65-F5344CB8AC3E}">
        <p14:creationId xmlns:p14="http://schemas.microsoft.com/office/powerpoint/2010/main" val="34150728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Shot of a businessman holding on to a bunch of cryptocurrency balloons on top of a graph against a white background">
            <a:extLst>
              <a:ext uri="{FF2B5EF4-FFF2-40B4-BE49-F238E27FC236}">
                <a16:creationId xmlns:a16="http://schemas.microsoft.com/office/drawing/2014/main" id="{E9830530-8F54-4D47-8E71-0B01F5F4A5AB}"/>
              </a:ext>
            </a:extLst>
          </p:cNvPr>
          <p:cNvPicPr>
            <a:picLocks noGrp="1" noChangeAspect="1"/>
          </p:cNvPicPr>
          <p:nvPr>
            <p:ph sz="half" idx="1"/>
          </p:nvPr>
        </p:nvPicPr>
        <p:blipFill>
          <a:blip r:embed="rId3"/>
          <a:srcRect l="20310" r="-1" b="-1"/>
          <a:stretch/>
        </p:blipFill>
        <p:spPr>
          <a:xfrm>
            <a:off x="5818632" y="-1"/>
            <a:ext cx="6373368" cy="6857999"/>
          </a:xfrm>
          <a:prstGeom prst="rect">
            <a:avLst/>
          </a:prstGeom>
        </p:spPr>
      </p:pic>
      <p:sp>
        <p:nvSpPr>
          <p:cNvPr id="2" name="Title 1">
            <a:extLst>
              <a:ext uri="{FF2B5EF4-FFF2-40B4-BE49-F238E27FC236}">
                <a16:creationId xmlns:a16="http://schemas.microsoft.com/office/drawing/2014/main" id="{4537A652-FA8D-E47E-35BE-08A47D085F76}"/>
              </a:ext>
            </a:extLst>
          </p:cNvPr>
          <p:cNvSpPr>
            <a:spLocks noGrp="1"/>
          </p:cNvSpPr>
          <p:nvPr>
            <p:ph type="title"/>
          </p:nvPr>
        </p:nvSpPr>
        <p:spPr>
          <a:xfrm>
            <a:off x="614680" y="603504"/>
            <a:ext cx="4361688" cy="1527048"/>
          </a:xfrm>
        </p:spPr>
        <p:txBody>
          <a:bodyPr vert="horz" lIns="91440" tIns="45720" rIns="91440" bIns="45720" rtlCol="0" anchor="b">
            <a:normAutofit/>
          </a:bodyPr>
          <a:lstStyle/>
          <a:p>
            <a:r>
              <a:rPr lang="en-US" sz="3100" b="1" kern="1200">
                <a:solidFill>
                  <a:schemeClr val="tx1"/>
                </a:solidFill>
                <a:latin typeface="+mj-lt"/>
                <a:ea typeface="+mj-ea"/>
                <a:cs typeface="+mj-cs"/>
              </a:rPr>
              <a:t>Role of Tokenization in Embedding Generation</a:t>
            </a:r>
          </a:p>
        </p:txBody>
      </p:sp>
      <p:sp>
        <p:nvSpPr>
          <p:cNvPr id="4" name="Content Placeholder 3">
            <a:extLst>
              <a:ext uri="{FF2B5EF4-FFF2-40B4-BE49-F238E27FC236}">
                <a16:creationId xmlns:a16="http://schemas.microsoft.com/office/drawing/2014/main" id="{FF045AD3-2BDE-1B25-8618-032E441D38E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4679" y="2212848"/>
            <a:ext cx="4361688" cy="4096512"/>
          </a:xfrm>
        </p:spPr>
        <p:txBody>
          <a:bodyPr>
            <a:normAutofit/>
          </a:bodyPr>
          <a:lstStyle/>
          <a:p>
            <a:pPr marL="0" indent="0">
              <a:spcBef>
                <a:spcPts val="2500"/>
              </a:spcBef>
              <a:buNone/>
            </a:pPr>
            <a:r>
              <a:rPr lang="en-US" sz="1400" b="1"/>
              <a:t>Importance of Tokenization</a:t>
            </a:r>
          </a:p>
          <a:p>
            <a:pPr marL="0" lvl="1" indent="0">
              <a:buNone/>
            </a:pPr>
            <a:r>
              <a:rPr lang="en-US" sz="1400"/>
              <a:t>Tokenization is essential for breaking down text into manageable units, facilitating better understanding by models.</a:t>
            </a:r>
          </a:p>
          <a:p>
            <a:pPr marL="0" indent="0">
              <a:spcBef>
                <a:spcPts val="2500"/>
              </a:spcBef>
              <a:buNone/>
            </a:pPr>
            <a:r>
              <a:rPr lang="en-US" sz="1400" b="1"/>
              <a:t>Impact on Embeddings</a:t>
            </a:r>
          </a:p>
          <a:p>
            <a:pPr marL="0" lvl="1" indent="0">
              <a:buNone/>
            </a:pPr>
            <a:r>
              <a:rPr lang="en-US" sz="1400"/>
              <a:t>Effective tokenization leads to more meaningful embeddings, which directly improve model accuracy and performance.</a:t>
            </a:r>
          </a:p>
        </p:txBody>
      </p:sp>
    </p:spTree>
    <p:extLst>
      <p:ext uri="{BB962C8B-B14F-4D97-AF65-F5344CB8AC3E}">
        <p14:creationId xmlns:p14="http://schemas.microsoft.com/office/powerpoint/2010/main" val="1626524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5" name="Content Placeholder 4" descr="Cloud computing concept isolated on white background">
            <a:extLst>
              <a:ext uri="{FF2B5EF4-FFF2-40B4-BE49-F238E27FC236}">
                <a16:creationId xmlns:a16="http://schemas.microsoft.com/office/drawing/2014/main" id="{097CE41B-964E-4CDA-8C63-F76DC1D21E77}"/>
              </a:ext>
            </a:extLst>
          </p:cNvPr>
          <p:cNvPicPr>
            <a:picLocks noGrp="1" noChangeAspect="1"/>
          </p:cNvPicPr>
          <p:nvPr>
            <p:ph sz="half" idx="1"/>
          </p:nvPr>
        </p:nvPicPr>
        <p:blipFill>
          <a:blip r:embed="rId3"/>
          <a:srcRect l="8116" r="10139" b="3"/>
          <a:stretch/>
        </p:blipFill>
        <p:spPr>
          <a:xfrm>
            <a:off x="731521" y="2011679"/>
            <a:ext cx="4684352" cy="4297680"/>
          </a:xfrm>
          <a:prstGeom prst="rect">
            <a:avLst/>
          </a:prstGeom>
        </p:spPr>
      </p:pic>
      <p:sp>
        <p:nvSpPr>
          <p:cNvPr id="2" name="Title 1">
            <a:extLst>
              <a:ext uri="{FF2B5EF4-FFF2-40B4-BE49-F238E27FC236}">
                <a16:creationId xmlns:a16="http://schemas.microsoft.com/office/drawing/2014/main" id="{CB2EFD63-20B4-45EC-2FF1-6195D6BCC6C2}"/>
              </a:ext>
            </a:extLst>
          </p:cNvPr>
          <p:cNvSpPr>
            <a:spLocks noGrp="1"/>
          </p:cNvSpPr>
          <p:nvPr>
            <p:ph type="title"/>
          </p:nvPr>
        </p:nvSpPr>
        <p:spPr>
          <a:xfrm>
            <a:off x="614679" y="548641"/>
            <a:ext cx="4779572" cy="1298448"/>
          </a:xfrm>
        </p:spPr>
        <p:txBody>
          <a:bodyPr vert="horz" lIns="91440" tIns="45720" rIns="91440" bIns="45720" rtlCol="0" anchor="t">
            <a:normAutofit/>
          </a:bodyPr>
          <a:lstStyle/>
          <a:p>
            <a:r>
              <a:rPr lang="en-US" b="1" kern="1200">
                <a:solidFill>
                  <a:schemeClr val="tx1"/>
                </a:solidFill>
                <a:latin typeface="+mj-lt"/>
                <a:ea typeface="+mj-ea"/>
                <a:cs typeface="+mj-cs"/>
              </a:rPr>
              <a:t>Optimization Techniques</a:t>
            </a:r>
          </a:p>
        </p:txBody>
      </p:sp>
      <p:sp>
        <p:nvSpPr>
          <p:cNvPr id="4" name="Content Placeholder 3">
            <a:extLst>
              <a:ext uri="{FF2B5EF4-FFF2-40B4-BE49-F238E27FC236}">
                <a16:creationId xmlns:a16="http://schemas.microsoft.com/office/drawing/2014/main" id="{CC5BCEBC-3199-6BED-1A19-876475F39B8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30551" y="548638"/>
            <a:ext cx="5546770" cy="5760721"/>
          </a:xfrm>
        </p:spPr>
        <p:txBody>
          <a:bodyPr>
            <a:normAutofit/>
          </a:bodyPr>
          <a:lstStyle/>
          <a:p>
            <a:pPr marL="0" indent="0">
              <a:spcBef>
                <a:spcPts val="2500"/>
              </a:spcBef>
              <a:buNone/>
            </a:pPr>
            <a:r>
              <a:rPr lang="en-US" sz="1400" b="1"/>
              <a:t>Fine-Tuning</a:t>
            </a:r>
          </a:p>
          <a:p>
            <a:pPr marL="0" lvl="1" indent="0">
              <a:buNone/>
            </a:pPr>
            <a:r>
              <a:rPr lang="en-US" sz="1400"/>
              <a:t>Fine-tuning is an important optimization technique that adjusts pre-trained models to improve their performance on specific tasks.</a:t>
            </a:r>
          </a:p>
          <a:p>
            <a:pPr marL="0" indent="0">
              <a:spcBef>
                <a:spcPts val="2500"/>
              </a:spcBef>
              <a:buNone/>
            </a:pPr>
            <a:r>
              <a:rPr lang="en-US" sz="1400" b="1"/>
              <a:t>Regularization</a:t>
            </a:r>
          </a:p>
          <a:p>
            <a:pPr marL="0" lvl="1" indent="0">
              <a:buNone/>
            </a:pPr>
            <a:r>
              <a:rPr lang="en-US" sz="1400"/>
              <a:t>Regularization techniques help prevent overfitting by adding constraints to the model, thus improving its generalization capabilities.</a:t>
            </a:r>
          </a:p>
          <a:p>
            <a:pPr marL="0" indent="0">
              <a:spcBef>
                <a:spcPts val="2500"/>
              </a:spcBef>
              <a:buNone/>
            </a:pPr>
            <a:r>
              <a:rPr lang="en-US" sz="1400" b="1"/>
              <a:t>Tokenization</a:t>
            </a:r>
          </a:p>
          <a:p>
            <a:pPr marL="0" lvl="1" indent="0">
              <a:buNone/>
            </a:pPr>
            <a:r>
              <a:rPr lang="en-US" sz="1400"/>
              <a:t>Tokenization is a crucial step in preprocessing text data, transforming raw text into manageable pieces for better analysis.</a:t>
            </a:r>
          </a:p>
          <a:p>
            <a:pPr marL="0" indent="0">
              <a:spcBef>
                <a:spcPts val="2500"/>
              </a:spcBef>
              <a:buNone/>
            </a:pPr>
            <a:r>
              <a:rPr lang="en-US" sz="1400" b="1"/>
              <a:t>Embedding Process</a:t>
            </a:r>
          </a:p>
          <a:p>
            <a:pPr marL="0" lvl="1" indent="0">
              <a:buNone/>
            </a:pPr>
            <a:r>
              <a:rPr lang="en-US" sz="1400"/>
              <a:t>The embedding process converts tokens into vector representations, enhancing the model's ability to understand and generate language.</a:t>
            </a:r>
          </a:p>
        </p:txBody>
      </p:sp>
    </p:spTree>
    <p:extLst>
      <p:ext uri="{BB962C8B-B14F-4D97-AF65-F5344CB8AC3E}">
        <p14:creationId xmlns:p14="http://schemas.microsoft.com/office/powerpoint/2010/main" val="19644926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7BC20506-E988-3ACB-054C-CC926DF806EC}"/>
              </a:ext>
            </a:extLst>
          </p:cNvPr>
          <p:cNvSpPr>
            <a:spLocks noGrp="1"/>
          </p:cNvSpPr>
          <p:nvPr>
            <p:ph type="ctrTitle"/>
          </p:nvPr>
        </p:nvSpPr>
        <p:spPr>
          <a:xfrm>
            <a:off x="277091" y="1814321"/>
            <a:ext cx="7772400" cy="4560920"/>
          </a:xfrm>
        </p:spPr>
        <p:txBody>
          <a:bodyPr anchor="b">
            <a:normAutofit/>
          </a:bodyPr>
          <a:lstStyle/>
          <a:p>
            <a:pPr algn="l"/>
            <a:r>
              <a:rPr lang="en-US" sz="7400"/>
              <a:t>Applications and Implications</a:t>
            </a:r>
          </a:p>
        </p:txBody>
      </p:sp>
    </p:spTree>
    <p:extLst>
      <p:ext uri="{BB962C8B-B14F-4D97-AF65-F5344CB8AC3E}">
        <p14:creationId xmlns:p14="http://schemas.microsoft.com/office/powerpoint/2010/main" val="821951128"/>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rtificial Intelligence digital concept with brain shape">
            <a:extLst>
              <a:ext uri="{FF2B5EF4-FFF2-40B4-BE49-F238E27FC236}">
                <a16:creationId xmlns:a16="http://schemas.microsoft.com/office/drawing/2014/main" id="{C46BC17A-DF0A-46DA-A233-7CF219091072}"/>
              </a:ext>
            </a:extLst>
          </p:cNvPr>
          <p:cNvPicPr>
            <a:picLocks noGrp="1" noChangeAspect="1"/>
          </p:cNvPicPr>
          <p:nvPr>
            <p:ph sz="half" idx="1"/>
          </p:nvPr>
        </p:nvPicPr>
        <p:blipFill>
          <a:blip r:embed="rId3"/>
          <a:srcRect l="35427" r="24299"/>
          <a:stretch/>
        </p:blipFill>
        <p:spPr>
          <a:xfrm>
            <a:off x="20" y="10"/>
            <a:ext cx="4910308" cy="6857990"/>
          </a:xfrm>
          <a:prstGeom prst="rect">
            <a:avLst/>
          </a:prstGeom>
        </p:spPr>
      </p:pic>
      <p:sp>
        <p:nvSpPr>
          <p:cNvPr id="2" name="Title 1">
            <a:extLst>
              <a:ext uri="{FF2B5EF4-FFF2-40B4-BE49-F238E27FC236}">
                <a16:creationId xmlns:a16="http://schemas.microsoft.com/office/drawing/2014/main" id="{1A5744D2-72FE-5AD8-663F-AF4D7444B796}"/>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sz="3300" b="1" kern="1200">
                <a:solidFill>
                  <a:schemeClr val="tx1"/>
                </a:solidFill>
                <a:latin typeface="+mj-lt"/>
                <a:ea typeface="+mj-ea"/>
                <a:cs typeface="+mj-cs"/>
              </a:rPr>
              <a:t>Practical Applications of Tokenization and Embedding</a:t>
            </a:r>
          </a:p>
        </p:txBody>
      </p:sp>
      <p:sp>
        <p:nvSpPr>
          <p:cNvPr id="4" name="Content Placeholder 3">
            <a:extLst>
              <a:ext uri="{FF2B5EF4-FFF2-40B4-BE49-F238E27FC236}">
                <a16:creationId xmlns:a16="http://schemas.microsoft.com/office/drawing/2014/main" id="{C9DA511A-9F9C-92A3-A929-8BC0DD3E0D8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Machine Translation</a:t>
            </a:r>
          </a:p>
          <a:p>
            <a:pPr marL="0" lvl="1" indent="0">
              <a:buNone/>
            </a:pPr>
            <a:r>
              <a:rPr lang="en-US" sz="1400"/>
              <a:t>Tokenization and embedding techniques play a crucial role in improving the accuracy and fluency of machine translation systems.</a:t>
            </a:r>
          </a:p>
          <a:p>
            <a:pPr marL="0" indent="0">
              <a:spcBef>
                <a:spcPts val="2500"/>
              </a:spcBef>
              <a:buNone/>
            </a:pPr>
            <a:r>
              <a:rPr lang="en-US" sz="1400" b="1"/>
              <a:t>Chatbots</a:t>
            </a:r>
          </a:p>
          <a:p>
            <a:pPr marL="0" lvl="1" indent="0">
              <a:buNone/>
            </a:pPr>
            <a:r>
              <a:rPr lang="en-US" sz="1400"/>
              <a:t>These techniques enhance chatbot functionality, enabling more natural interactions and improved understanding of user queries.</a:t>
            </a:r>
          </a:p>
          <a:p>
            <a:pPr marL="0" indent="0">
              <a:spcBef>
                <a:spcPts val="2500"/>
              </a:spcBef>
              <a:buNone/>
            </a:pPr>
            <a:r>
              <a:rPr lang="en-US" sz="1400" b="1"/>
              <a:t>Recommendation Systems</a:t>
            </a:r>
          </a:p>
          <a:p>
            <a:pPr marL="0" lvl="1" indent="0">
              <a:buNone/>
            </a:pPr>
            <a:r>
              <a:rPr lang="en-US" sz="1400"/>
              <a:t>Tokenization and embedding are essential in developing recommendation systems that personalize user experiences effectively.</a:t>
            </a:r>
          </a:p>
        </p:txBody>
      </p:sp>
    </p:spTree>
    <p:extLst>
      <p:ext uri="{BB962C8B-B14F-4D97-AF65-F5344CB8AC3E}">
        <p14:creationId xmlns:p14="http://schemas.microsoft.com/office/powerpoint/2010/main" val="13479869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3D illustration.">
            <a:extLst>
              <a:ext uri="{FF2B5EF4-FFF2-40B4-BE49-F238E27FC236}">
                <a16:creationId xmlns:a16="http://schemas.microsoft.com/office/drawing/2014/main" id="{778D9EC7-5220-435D-A030-3282150361B7}"/>
              </a:ext>
            </a:extLst>
          </p:cNvPr>
          <p:cNvPicPr>
            <a:picLocks noGrp="1" noChangeAspect="1"/>
          </p:cNvPicPr>
          <p:nvPr>
            <p:ph sz="half" idx="1"/>
          </p:nvPr>
        </p:nvPicPr>
        <p:blipFill>
          <a:blip r:embed="rId3"/>
          <a:srcRect l="7299" r="39002"/>
          <a:stretch/>
        </p:blipFill>
        <p:spPr>
          <a:xfrm>
            <a:off x="20" y="10"/>
            <a:ext cx="4910308" cy="6857990"/>
          </a:xfrm>
          <a:prstGeom prst="rect">
            <a:avLst/>
          </a:prstGeom>
        </p:spPr>
      </p:pic>
      <p:sp>
        <p:nvSpPr>
          <p:cNvPr id="2" name="Title 1">
            <a:extLst>
              <a:ext uri="{FF2B5EF4-FFF2-40B4-BE49-F238E27FC236}">
                <a16:creationId xmlns:a16="http://schemas.microsoft.com/office/drawing/2014/main" id="{291137E3-3472-DD20-9DC6-88C5C00AE938}"/>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sz="3300" b="1" kern="1200">
                <a:solidFill>
                  <a:schemeClr val="tx1"/>
                </a:solidFill>
                <a:latin typeface="+mj-lt"/>
                <a:ea typeface="+mj-ea"/>
                <a:cs typeface="+mj-cs"/>
              </a:rPr>
              <a:t>Impact on NLP Tasks (Translation, Sentiment Analysis, Etc.)</a:t>
            </a:r>
          </a:p>
        </p:txBody>
      </p:sp>
      <p:sp>
        <p:nvSpPr>
          <p:cNvPr id="4" name="Content Placeholder 3">
            <a:extLst>
              <a:ext uri="{FF2B5EF4-FFF2-40B4-BE49-F238E27FC236}">
                <a16:creationId xmlns:a16="http://schemas.microsoft.com/office/drawing/2014/main" id="{E262AE56-AADD-97D8-CB58-CF73C086987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Importance of Tokenization</a:t>
            </a:r>
          </a:p>
          <a:p>
            <a:pPr marL="0" lvl="1" indent="0">
              <a:buNone/>
            </a:pPr>
            <a:r>
              <a:rPr lang="en-US" sz="1400"/>
              <a:t>Tokenization is essential for breaking down text into meaningful components, enhancing the accuracy of NLP models.</a:t>
            </a:r>
          </a:p>
          <a:p>
            <a:pPr marL="0" indent="0">
              <a:spcBef>
                <a:spcPts val="2500"/>
              </a:spcBef>
              <a:buNone/>
            </a:pPr>
            <a:r>
              <a:rPr lang="en-US" sz="1400" b="1"/>
              <a:t>Role of Embedding</a:t>
            </a:r>
          </a:p>
          <a:p>
            <a:pPr marL="0" lvl="1" indent="0">
              <a:buNone/>
            </a:pPr>
            <a:r>
              <a:rPr lang="en-US" sz="1400"/>
              <a:t>Embedding techniques allow for representing words in a continuous vector space, improving the performance of NLP tasks.</a:t>
            </a:r>
          </a:p>
          <a:p>
            <a:pPr marL="0" indent="0">
              <a:spcBef>
                <a:spcPts val="2500"/>
              </a:spcBef>
              <a:buNone/>
            </a:pPr>
            <a:r>
              <a:rPr lang="en-US" sz="1400" b="1"/>
              <a:t>Advancing NLP Applications</a:t>
            </a:r>
          </a:p>
          <a:p>
            <a:pPr marL="0" lvl="1" indent="0">
              <a:buNone/>
            </a:pPr>
            <a:r>
              <a:rPr lang="en-US" sz="1400"/>
              <a:t>Improvements in tokenization and embedding have led to advancements in various NLP applications, including translation and sentiment analysis.</a:t>
            </a:r>
          </a:p>
        </p:txBody>
      </p:sp>
    </p:spTree>
    <p:extLst>
      <p:ext uri="{BB962C8B-B14F-4D97-AF65-F5344CB8AC3E}">
        <p14:creationId xmlns:p14="http://schemas.microsoft.com/office/powerpoint/2010/main" val="38863091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1E534121-E68B-A37A-9DE4-442734143E1E}"/>
              </a:ext>
            </a:extLst>
          </p:cNvPr>
          <p:cNvSpPr>
            <a:spLocks noGrp="1"/>
          </p:cNvSpPr>
          <p:nvPr>
            <p:ph type="title"/>
          </p:nvPr>
        </p:nvSpPr>
        <p:spPr>
          <a:xfrm>
            <a:off x="614679" y="548639"/>
            <a:ext cx="3977640" cy="5719640"/>
          </a:xfrm>
        </p:spPr>
        <p:txBody>
          <a:bodyPr anchor="t">
            <a:normAutofit/>
          </a:bodyPr>
          <a:lstStyle/>
          <a:p>
            <a:r>
              <a:rPr lang="en-US"/>
              <a:t>Future Developments and Challenges</a:t>
            </a:r>
          </a:p>
        </p:txBody>
      </p:sp>
      <p:graphicFrame>
        <p:nvGraphicFramePr>
          <p:cNvPr id="4" name="Content Placeholder 4">
            <a:extLst>
              <a:ext uri="{FF2B5EF4-FFF2-40B4-BE49-F238E27FC236}">
                <a16:creationId xmlns:a16="http://schemas.microsoft.com/office/drawing/2014/main" id="{83E53465-13B4-42D0-A4F5-C8A22F1E1721}"/>
              </a:ext>
            </a:extLst>
          </p:cNvPr>
          <p:cNvGraphicFramePr>
            <a:graphicFrameLocks noGrp="1"/>
          </p:cNvGraphicFramePr>
          <p:nvPr>
            <p:ph idx="1"/>
            <p:extLst>
              <p:ext uri="{D42A27DB-BD31-4B8C-83A1-F6EECF244321}">
                <p14:modId xmlns:p14="http://schemas.microsoft.com/office/powerpoint/2010/main" val="2095782967"/>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5387542" y="548639"/>
          <a:ext cx="6189780" cy="5719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91729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F74C59-445A-9824-B537-A392A6ECEC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F8550899-4FDD-AB9C-29EB-D53E5A0A5114}"/>
              </a:ext>
            </a:extLst>
          </p:cNvPr>
          <p:cNvSpPr>
            <a:spLocks noGrp="1"/>
          </p:cNvSpPr>
          <p:nvPr>
            <p:ph type="title"/>
          </p:nvPr>
        </p:nvSpPr>
        <p:spPr>
          <a:xfrm>
            <a:off x="612648" y="1847088"/>
            <a:ext cx="7344336" cy="1133856"/>
          </a:xfrm>
        </p:spPr>
        <p:txBody>
          <a:bodyPr anchor="b">
            <a:normAutofit/>
          </a:bodyPr>
          <a:lstStyle/>
          <a:p>
            <a:r>
              <a:rPr lang="en-US" sz="6000"/>
              <a:t>Conclusion</a:t>
            </a:r>
          </a:p>
        </p:txBody>
      </p:sp>
      <p:graphicFrame>
        <p:nvGraphicFramePr>
          <p:cNvPr id="9" name="Content Placeholder 2">
            <a:extLst>
              <a:ext uri="{FF2B5EF4-FFF2-40B4-BE49-F238E27FC236}">
                <a16:creationId xmlns:a16="http://schemas.microsoft.com/office/drawing/2014/main" id="{05665209-A372-409A-CE92-B02BCD719384}"/>
              </a:ext>
            </a:extLst>
          </p:cNvPr>
          <p:cNvGraphicFramePr>
            <a:graphicFrameLocks noGrp="1"/>
          </p:cNvGraphicFramePr>
          <p:nvPr>
            <p:ph idx="1"/>
            <p:extLst>
              <p:ext uri="{D42A27DB-BD31-4B8C-83A1-F6EECF244321}">
                <p14:modId xmlns:p14="http://schemas.microsoft.com/office/powerpoint/2010/main" val="4152541880"/>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612646" y="3593592"/>
          <a:ext cx="10890504" cy="25124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38168455"/>
      </p:ext>
    </p:extLst>
  </p:cSld>
  <p:clrMapOvr>
    <a:overrideClrMapping bg1="dk1" tx1="lt1" bg2="dk2" tx2="lt2" accent1="accent1" accent2="accent2" accent3="accent3" accent4="accent4" accent5="accent5" accent6="accent6" hlink="hlink" folHlink="folHlink"/>
  </p:clrMapOvr>
  <p:transition>
    <p:fade/>
  </p:transition>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1900</Words>
  <Application>Microsoft Office PowerPoint</Application>
  <PresentationFormat>Widescreen</PresentationFormat>
  <Paragraphs>167</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Aptos</vt:lpstr>
      <vt:lpstr>Arial</vt:lpstr>
      <vt:lpstr>Neue Haas Grotesk Text Pro</vt:lpstr>
      <vt:lpstr>VanillaVTI</vt:lpstr>
      <vt:lpstr>Tokenization and Embedding in Large Language Models: Techniques and Applications</vt:lpstr>
      <vt:lpstr>Presentation Topics</vt:lpstr>
      <vt:lpstr>Introduction to Large Language Models (LLMs)</vt:lpstr>
      <vt:lpstr>Definition and Significance of LLMs</vt:lpstr>
      <vt:lpstr>Key Components and Architecture</vt:lpstr>
      <vt:lpstr>Popular LLM Examples (GPT, BERT, Etc.)</vt:lpstr>
      <vt:lpstr>Understanding Tokenization</vt:lpstr>
      <vt:lpstr>What Is Tokenization?</vt:lpstr>
      <vt:lpstr>Types of Tokenization (Word, Subword, Character, Etc.)</vt:lpstr>
      <vt:lpstr>Challenges in Tokenization</vt:lpstr>
      <vt:lpstr>Embedding Techniques</vt:lpstr>
      <vt:lpstr>Concept of Word Embeddings</vt:lpstr>
      <vt:lpstr>Common Embedding Methods (Word2Vec, GloVe, FastText)</vt:lpstr>
      <vt:lpstr>Contextual Embeddings in LLMs</vt:lpstr>
      <vt:lpstr>Integration of Tokenization and Embedding in LLMs</vt:lpstr>
      <vt:lpstr>Process From Text to Embeddings</vt:lpstr>
      <vt:lpstr>Role of Tokenization in Embedding Generation</vt:lpstr>
      <vt:lpstr>Optimization Techniques</vt:lpstr>
      <vt:lpstr>Applications and Implications</vt:lpstr>
      <vt:lpstr>Practical Applications of Tokenization and Embedding</vt:lpstr>
      <vt:lpstr>Impact on NLP Tasks (Translation, Sentiment Analysis, Etc.)</vt:lpstr>
      <vt:lpstr>Future Developments and Challenges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Tao Hu</dc:creator>
  <cp:lastModifiedBy>Tao Hu</cp:lastModifiedBy>
  <cp:revision>1</cp:revision>
  <dcterms:created xsi:type="dcterms:W3CDTF">2025-03-15T17:33:15Z</dcterms:created>
  <dcterms:modified xsi:type="dcterms:W3CDTF">2025-03-15T17:39:18Z</dcterms:modified>
</cp:coreProperties>
</file>