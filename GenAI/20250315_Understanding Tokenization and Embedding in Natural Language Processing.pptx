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 id="25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derstanding Tokenization and Embedding in Natural Language Processing" id="{E7F49309-671A-429D-9210-B834AAFDD304}">
          <p14:sldIdLst>
            <p14:sldId id="2561"/>
            <p14:sldId id="2562"/>
          </p14:sldIdLst>
        </p14:section>
        <p14:section name="Basic Concepts of Tokenization" id="{243BDC89-51A2-49D3-A571-BFE052C2EB8E}">
          <p14:sldIdLst>
            <p14:sldId id="2563"/>
            <p14:sldId id="2564"/>
            <p14:sldId id="2565"/>
            <p14:sldId id="2566"/>
          </p14:sldIdLst>
        </p14:section>
        <p14:section name="Byte Pair Encoding (BPE) in Tokenization" id="{1B6AC725-19DB-45C2-A676-BE3767E601FF}">
          <p14:sldIdLst>
            <p14:sldId id="2567"/>
            <p14:sldId id="2568"/>
            <p14:sldId id="2569"/>
            <p14:sldId id="2570"/>
          </p14:sldIdLst>
        </p14:section>
        <p14:section name="Fundamentals of Embedding in NLP" id="{50A210B9-6451-46DE-AF96-9A4E3F773C84}">
          <p14:sldIdLst>
            <p14:sldId id="2571"/>
            <p14:sldId id="2572"/>
            <p14:sldId id="2573"/>
            <p14:sldId id="2574"/>
          </p14:sldIdLst>
        </p14:section>
        <p14:section name="Large Language Models (LLM) Embedding Layer" id="{6B68308E-3F67-4882-B1B1-9B1CEE7A5D45}">
          <p14:sldIdLst>
            <p14:sldId id="2575"/>
            <p14:sldId id="2576"/>
            <p14:sldId id="2577"/>
            <p14:sldId id="2578"/>
          </p14:sldIdLst>
        </p14:section>
        <p14:section name="Applications and Future Directions" id="{74ACBECF-E872-474A-A6BC-EAC571DCE31F}">
          <p14:sldIdLst>
            <p14:sldId id="2579"/>
            <p14:sldId id="2580"/>
            <p14:sldId id="2581"/>
            <p14:sldId id="2582"/>
          </p14:sldIdLst>
        </p14:section>
        <p14:section name="Conclusion" id="{D09590FB-C270-4186-8F82-160AA31DB5D8}">
          <p14:sldIdLst>
            <p14:sldId id="258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1" autoAdjust="0"/>
    <p:restoredTop sz="94660"/>
  </p:normalViewPr>
  <p:slideViewPr>
    <p:cSldViewPr snapToGrid="0">
      <p:cViewPr varScale="1">
        <p:scale>
          <a:sx n="95" d="100"/>
          <a:sy n="95" d="100"/>
        </p:scale>
        <p:origin x="62" y="389"/>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diagrams/_rels/data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3F9018-2113-447C-ACC9-0A2B45A1BD87}"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B0923026-033C-4790-8722-DF7C7F41ABC8}">
      <dgm:prSet/>
      <dgm:spPr/>
      <dgm:t>
        <a:bodyPr/>
        <a:lstStyle/>
        <a:p>
          <a:pPr>
            <a:lnSpc>
              <a:spcPct val="100000"/>
            </a:lnSpc>
            <a:defRPr b="1"/>
          </a:pPr>
          <a:r>
            <a:rPr lang="en-US"/>
            <a:t>Handling Punctuation</a:t>
          </a:r>
        </a:p>
      </dgm:t>
    </dgm:pt>
    <dgm:pt modelId="{A41E1D99-29E4-4505-81E4-E5E250EEE2AE}" type="parTrans" cxnId="{B57AC167-B49B-4667-BBC9-23ADB04216E9}">
      <dgm:prSet/>
      <dgm:spPr/>
      <dgm:t>
        <a:bodyPr/>
        <a:lstStyle/>
        <a:p>
          <a:endParaRPr lang="en-US"/>
        </a:p>
      </dgm:t>
    </dgm:pt>
    <dgm:pt modelId="{8C3CA252-3A56-4520-86A3-778CA5CBF73B}" type="sibTrans" cxnId="{B57AC167-B49B-4667-BBC9-23ADB04216E9}">
      <dgm:prSet/>
      <dgm:spPr/>
      <dgm:t>
        <a:bodyPr/>
        <a:lstStyle/>
        <a:p>
          <a:pPr>
            <a:lnSpc>
              <a:spcPct val="100000"/>
            </a:lnSpc>
            <a:defRPr b="1"/>
          </a:pPr>
          <a:endParaRPr lang="en-US"/>
        </a:p>
      </dgm:t>
    </dgm:pt>
    <dgm:pt modelId="{D6F2AD95-1FE0-4184-AB74-FD7F1D1410B6}">
      <dgm:prSet/>
      <dgm:spPr/>
      <dgm:t>
        <a:bodyPr/>
        <a:lstStyle/>
        <a:p>
          <a:pPr>
            <a:lnSpc>
              <a:spcPct val="100000"/>
            </a:lnSpc>
          </a:pPr>
          <a:r>
            <a:rPr lang="en-US"/>
            <a:t>One challenge in tokenization is managing punctuation effectively to ensure accurate text processing.</a:t>
          </a:r>
        </a:p>
      </dgm:t>
    </dgm:pt>
    <dgm:pt modelId="{20F15638-2E84-41C4-8150-87B6E561D29F}" type="parTrans" cxnId="{881A2E14-370B-4694-B362-F9CD2924DF6C}">
      <dgm:prSet/>
      <dgm:spPr/>
      <dgm:t>
        <a:bodyPr/>
        <a:lstStyle/>
        <a:p>
          <a:endParaRPr lang="en-US"/>
        </a:p>
      </dgm:t>
    </dgm:pt>
    <dgm:pt modelId="{6855E496-BC8A-4CCD-9110-276F6DA2AEB8}" type="sibTrans" cxnId="{881A2E14-370B-4694-B362-F9CD2924DF6C}">
      <dgm:prSet/>
      <dgm:spPr/>
      <dgm:t>
        <a:bodyPr/>
        <a:lstStyle/>
        <a:p>
          <a:endParaRPr lang="en-US"/>
        </a:p>
      </dgm:t>
    </dgm:pt>
    <dgm:pt modelId="{FE9E61CA-CB97-4523-8D66-FB9719CEEC71}">
      <dgm:prSet/>
      <dgm:spPr/>
      <dgm:t>
        <a:bodyPr/>
        <a:lstStyle/>
        <a:p>
          <a:pPr>
            <a:lnSpc>
              <a:spcPct val="100000"/>
            </a:lnSpc>
            <a:defRPr b="1"/>
          </a:pPr>
          <a:r>
            <a:rPr lang="en-US"/>
            <a:t>Contextual Meanings</a:t>
          </a:r>
        </a:p>
      </dgm:t>
    </dgm:pt>
    <dgm:pt modelId="{FA501AA7-019D-459E-8891-5CDCF132ACF6}" type="parTrans" cxnId="{CB26A517-B0C2-4A91-8BB3-4C351EF1B236}">
      <dgm:prSet/>
      <dgm:spPr/>
      <dgm:t>
        <a:bodyPr/>
        <a:lstStyle/>
        <a:p>
          <a:endParaRPr lang="en-US"/>
        </a:p>
      </dgm:t>
    </dgm:pt>
    <dgm:pt modelId="{78D0309E-04CD-470F-9482-3451D75E2E58}" type="sibTrans" cxnId="{CB26A517-B0C2-4A91-8BB3-4C351EF1B236}">
      <dgm:prSet/>
      <dgm:spPr/>
      <dgm:t>
        <a:bodyPr/>
        <a:lstStyle/>
        <a:p>
          <a:pPr>
            <a:lnSpc>
              <a:spcPct val="100000"/>
            </a:lnSpc>
            <a:defRPr b="1"/>
          </a:pPr>
          <a:endParaRPr lang="en-US"/>
        </a:p>
      </dgm:t>
    </dgm:pt>
    <dgm:pt modelId="{6F44B22C-7872-411D-B8D1-63C3C7845437}">
      <dgm:prSet/>
      <dgm:spPr/>
      <dgm:t>
        <a:bodyPr/>
        <a:lstStyle/>
        <a:p>
          <a:pPr>
            <a:lnSpc>
              <a:spcPct val="100000"/>
            </a:lnSpc>
          </a:pPr>
          <a:r>
            <a:rPr lang="en-US"/>
            <a:t>Distinguishing between different meanings of words in context is crucial for accurate tokenization.</a:t>
          </a:r>
        </a:p>
      </dgm:t>
    </dgm:pt>
    <dgm:pt modelId="{A7FA7B22-82AC-4D4D-BCD7-549DEF82B8A4}" type="parTrans" cxnId="{E50990EC-B1D7-4A33-8159-17AA4D577FEB}">
      <dgm:prSet/>
      <dgm:spPr/>
      <dgm:t>
        <a:bodyPr/>
        <a:lstStyle/>
        <a:p>
          <a:endParaRPr lang="en-US"/>
        </a:p>
      </dgm:t>
    </dgm:pt>
    <dgm:pt modelId="{F7BD6741-58DA-440B-BCDE-E3D019A8D5C2}" type="sibTrans" cxnId="{E50990EC-B1D7-4A33-8159-17AA4D577FEB}">
      <dgm:prSet/>
      <dgm:spPr/>
      <dgm:t>
        <a:bodyPr/>
        <a:lstStyle/>
        <a:p>
          <a:endParaRPr lang="en-US"/>
        </a:p>
      </dgm:t>
    </dgm:pt>
    <dgm:pt modelId="{10C768AC-4E7D-47D8-B86F-86551D3BB1D6}">
      <dgm:prSet/>
      <dgm:spPr/>
      <dgm:t>
        <a:bodyPr/>
        <a:lstStyle/>
        <a:p>
          <a:pPr>
            <a:lnSpc>
              <a:spcPct val="100000"/>
            </a:lnSpc>
            <a:defRPr b="1"/>
          </a:pPr>
          <a:r>
            <a:rPr lang="en-US"/>
            <a:t>Languages Without Spaces</a:t>
          </a:r>
        </a:p>
      </dgm:t>
    </dgm:pt>
    <dgm:pt modelId="{932B99C5-6917-4833-839F-40C4E6F8BA00}" type="parTrans" cxnId="{050B39FC-E1B8-47B5-B920-726125F83625}">
      <dgm:prSet/>
      <dgm:spPr/>
      <dgm:t>
        <a:bodyPr/>
        <a:lstStyle/>
        <a:p>
          <a:endParaRPr lang="en-US"/>
        </a:p>
      </dgm:t>
    </dgm:pt>
    <dgm:pt modelId="{997E637B-7F76-4227-AFF2-C2E615CD3B13}" type="sibTrans" cxnId="{050B39FC-E1B8-47B5-B920-726125F83625}">
      <dgm:prSet/>
      <dgm:spPr/>
      <dgm:t>
        <a:bodyPr/>
        <a:lstStyle/>
        <a:p>
          <a:endParaRPr lang="en-US"/>
        </a:p>
      </dgm:t>
    </dgm:pt>
    <dgm:pt modelId="{615D807A-FA19-4068-A4C9-D203101D79B1}">
      <dgm:prSet/>
      <dgm:spPr/>
      <dgm:t>
        <a:bodyPr/>
        <a:lstStyle/>
        <a:p>
          <a:pPr>
            <a:lnSpc>
              <a:spcPct val="100000"/>
            </a:lnSpc>
          </a:pPr>
          <a:r>
            <a:rPr lang="en-US"/>
            <a:t>Tokenization is more complex in languages that do not use spaces, requiring innovative approaches.</a:t>
          </a:r>
        </a:p>
      </dgm:t>
    </dgm:pt>
    <dgm:pt modelId="{5A8D2BB1-9C9F-485A-95C9-C21D9397E93D}" type="parTrans" cxnId="{0BEF993C-3AA4-4ECA-83D2-B989063CFA7A}">
      <dgm:prSet/>
      <dgm:spPr/>
      <dgm:t>
        <a:bodyPr/>
        <a:lstStyle/>
        <a:p>
          <a:endParaRPr lang="en-US"/>
        </a:p>
      </dgm:t>
    </dgm:pt>
    <dgm:pt modelId="{E4AA3DAC-8DED-4747-A6D1-F4ECB2C9C8D8}" type="sibTrans" cxnId="{0BEF993C-3AA4-4ECA-83D2-B989063CFA7A}">
      <dgm:prSet/>
      <dgm:spPr/>
      <dgm:t>
        <a:bodyPr/>
        <a:lstStyle/>
        <a:p>
          <a:endParaRPr lang="en-US"/>
        </a:p>
      </dgm:t>
    </dgm:pt>
    <dgm:pt modelId="{1282BEF6-2EAC-42F1-B66E-39169436EB1E}" type="pres">
      <dgm:prSet presAssocID="{B83F9018-2113-447C-ACC9-0A2B45A1BD87}" presName="Root" presStyleCnt="0">
        <dgm:presLayoutVars>
          <dgm:dir/>
          <dgm:resizeHandles val="exact"/>
        </dgm:presLayoutVars>
      </dgm:prSet>
      <dgm:spPr/>
    </dgm:pt>
    <dgm:pt modelId="{18606E15-2C90-424E-ACFA-43102CE22474}" type="pres">
      <dgm:prSet presAssocID="{B0923026-033C-4790-8722-DF7C7F41ABC8}" presName="Composite" presStyleCnt="0"/>
      <dgm:spPr/>
    </dgm:pt>
    <dgm:pt modelId="{A188A29A-0D20-47E6-96B0-04CD6F763394}" type="pres">
      <dgm:prSet presAssocID="{B0923026-033C-4790-8722-DF7C7F41ABC8}"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r="43748" b="-3"/>
          <a:stretch/>
        </a:blipFill>
      </dgm:spPr>
      <dgm:extLst>
        <a:ext uri="{E40237B7-FDA0-4F09-8148-C483321AD2D9}">
          <dgm14:cNvPr xmlns:dgm14="http://schemas.microsoft.com/office/drawing/2010/diagram" id="0" name="" descr="creativity concept"/>
        </a:ext>
      </dgm:extLst>
    </dgm:pt>
    <dgm:pt modelId="{0EC865BB-0E54-401C-AE7D-C6C975160727}" type="pres">
      <dgm:prSet presAssocID="{B0923026-033C-4790-8722-DF7C7F41ABC8}" presName="Subtitle" presStyleLbl="revTx" presStyleIdx="0" presStyleCnt="6">
        <dgm:presLayoutVars>
          <dgm:chMax val="0"/>
          <dgm:bulletEnabled/>
        </dgm:presLayoutVars>
      </dgm:prSet>
      <dgm:spPr/>
    </dgm:pt>
    <dgm:pt modelId="{53B36131-0114-4C8B-9D16-D6EBD1D66DC0}" type="pres">
      <dgm:prSet presAssocID="{B0923026-033C-4790-8722-DF7C7F41ABC8}" presName="Description" presStyleLbl="revTx" presStyleIdx="1" presStyleCnt="6">
        <dgm:presLayoutVars>
          <dgm:bulletEnabled/>
        </dgm:presLayoutVars>
      </dgm:prSet>
      <dgm:spPr/>
    </dgm:pt>
    <dgm:pt modelId="{24EECBE3-A8F8-430E-B3B9-20E0B47B50D5}" type="pres">
      <dgm:prSet presAssocID="{8C3CA252-3A56-4520-86A3-778CA5CBF73B}" presName="sibTrans" presStyleLbl="sibTrans2D1" presStyleIdx="0" presStyleCnt="0"/>
      <dgm:spPr/>
    </dgm:pt>
    <dgm:pt modelId="{288601A0-5E8A-4EF4-B01D-E32DC92C6A35}" type="pres">
      <dgm:prSet presAssocID="{FE9E61CA-CB97-4523-8D66-FB9719CEEC71}" presName="Composite" presStyleCnt="0"/>
      <dgm:spPr/>
    </dgm:pt>
    <dgm:pt modelId="{16366944-BA8F-44A8-984A-F1B5D13E3475}" type="pres">
      <dgm:prSet presAssocID="{FE9E61CA-CB97-4523-8D66-FB9719CEEC71}"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t="13779" r="-7" b="11215"/>
          <a:stretch/>
        </a:blipFill>
      </dgm:spPr>
      <dgm:extLst>
        <a:ext uri="{E40237B7-FDA0-4F09-8148-C483321AD2D9}">
          <dgm14:cNvPr xmlns:dgm14="http://schemas.microsoft.com/office/drawing/2010/diagram" id="0" name="" descr="Red, pink and orange rhododendron flowers in bloom in a garden."/>
        </a:ext>
      </dgm:extLst>
    </dgm:pt>
    <dgm:pt modelId="{94D50C51-CD3E-4063-B758-099DD3482345}" type="pres">
      <dgm:prSet presAssocID="{FE9E61CA-CB97-4523-8D66-FB9719CEEC71}" presName="Subtitle" presStyleLbl="revTx" presStyleIdx="2" presStyleCnt="6">
        <dgm:presLayoutVars>
          <dgm:chMax val="0"/>
          <dgm:bulletEnabled/>
        </dgm:presLayoutVars>
      </dgm:prSet>
      <dgm:spPr/>
    </dgm:pt>
    <dgm:pt modelId="{6994C887-BCAB-463D-87BB-D74C74E45EE9}" type="pres">
      <dgm:prSet presAssocID="{FE9E61CA-CB97-4523-8D66-FB9719CEEC71}" presName="Description" presStyleLbl="revTx" presStyleIdx="3" presStyleCnt="6">
        <dgm:presLayoutVars>
          <dgm:bulletEnabled/>
        </dgm:presLayoutVars>
      </dgm:prSet>
      <dgm:spPr/>
    </dgm:pt>
    <dgm:pt modelId="{1B13EF63-9B42-4B16-B428-C056DD902290}" type="pres">
      <dgm:prSet presAssocID="{78D0309E-04CD-470F-9482-3451D75E2E58}" presName="sibTrans" presStyleLbl="sibTrans2D1" presStyleIdx="0" presStyleCnt="0"/>
      <dgm:spPr/>
    </dgm:pt>
    <dgm:pt modelId="{9EE6FFB1-AB8D-4A81-BB83-BF7049892E79}" type="pres">
      <dgm:prSet presAssocID="{10C768AC-4E7D-47D8-B86F-86551D3BB1D6}" presName="Composite" presStyleCnt="0"/>
      <dgm:spPr/>
    </dgm:pt>
    <dgm:pt modelId="{6164E8DA-DAB3-47C9-97AB-23092806D6E2}" type="pres">
      <dgm:prSet presAssocID="{10C768AC-4E7D-47D8-B86F-86551D3BB1D6}"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1007" r="22243"/>
          <a:stretch/>
        </a:blipFill>
      </dgm:spPr>
      <dgm:extLst>
        <a:ext uri="{E40237B7-FDA0-4F09-8148-C483321AD2D9}">
          <dgm14:cNvPr xmlns:dgm14="http://schemas.microsoft.com/office/drawing/2010/diagram" id="0" name="" descr="Next Chapter is written with computer keys on black background."/>
        </a:ext>
      </dgm:extLst>
    </dgm:pt>
    <dgm:pt modelId="{221B2FC4-CB1A-4090-AED8-4500A9ACCB6B}" type="pres">
      <dgm:prSet presAssocID="{10C768AC-4E7D-47D8-B86F-86551D3BB1D6}" presName="Subtitle" presStyleLbl="revTx" presStyleIdx="4" presStyleCnt="6">
        <dgm:presLayoutVars>
          <dgm:chMax val="0"/>
          <dgm:bulletEnabled/>
        </dgm:presLayoutVars>
      </dgm:prSet>
      <dgm:spPr/>
    </dgm:pt>
    <dgm:pt modelId="{7B7B7BCB-EDF5-4CC3-92C4-7287D1B49061}" type="pres">
      <dgm:prSet presAssocID="{10C768AC-4E7D-47D8-B86F-86551D3BB1D6}" presName="Description" presStyleLbl="revTx" presStyleIdx="5" presStyleCnt="6">
        <dgm:presLayoutVars>
          <dgm:bulletEnabled/>
        </dgm:presLayoutVars>
      </dgm:prSet>
      <dgm:spPr/>
    </dgm:pt>
  </dgm:ptLst>
  <dgm:cxnLst>
    <dgm:cxn modelId="{22EE580D-90CB-4FAE-B378-5CAA39FFF78E}" type="presOf" srcId="{8C3CA252-3A56-4520-86A3-778CA5CBF73B}" destId="{24EECBE3-A8F8-430E-B3B9-20E0B47B50D5}" srcOrd="0" destOrd="0" presId="urn:microsoft.com/office/officeart/2024/3/layout/verticalVisualTextBlock1"/>
    <dgm:cxn modelId="{5614340F-0725-4362-86A8-35B6E2711172}" type="presOf" srcId="{10C768AC-4E7D-47D8-B86F-86551D3BB1D6}" destId="{221B2FC4-CB1A-4090-AED8-4500A9ACCB6B}" srcOrd="0" destOrd="0" presId="urn:microsoft.com/office/officeart/2024/3/layout/verticalVisualTextBlock1"/>
    <dgm:cxn modelId="{881A2E14-370B-4694-B362-F9CD2924DF6C}" srcId="{B0923026-033C-4790-8722-DF7C7F41ABC8}" destId="{D6F2AD95-1FE0-4184-AB74-FD7F1D1410B6}" srcOrd="0" destOrd="0" parTransId="{20F15638-2E84-41C4-8150-87B6E561D29F}" sibTransId="{6855E496-BC8A-4CCD-9110-276F6DA2AEB8}"/>
    <dgm:cxn modelId="{CB26A517-B0C2-4A91-8BB3-4C351EF1B236}" srcId="{B83F9018-2113-447C-ACC9-0A2B45A1BD87}" destId="{FE9E61CA-CB97-4523-8D66-FB9719CEEC71}" srcOrd="1" destOrd="0" parTransId="{FA501AA7-019D-459E-8891-5CDCF132ACF6}" sibTransId="{78D0309E-04CD-470F-9482-3451D75E2E58}"/>
    <dgm:cxn modelId="{8CBD2130-DBBD-4213-B593-31DBC48BF093}" type="presOf" srcId="{78D0309E-04CD-470F-9482-3451D75E2E58}" destId="{1B13EF63-9B42-4B16-B428-C056DD902290}" srcOrd="0" destOrd="0" presId="urn:microsoft.com/office/officeart/2024/3/layout/verticalVisualTextBlock1"/>
    <dgm:cxn modelId="{0BEF993C-3AA4-4ECA-83D2-B989063CFA7A}" srcId="{10C768AC-4E7D-47D8-B86F-86551D3BB1D6}" destId="{615D807A-FA19-4068-A4C9-D203101D79B1}" srcOrd="0" destOrd="0" parTransId="{5A8D2BB1-9C9F-485A-95C9-C21D9397E93D}" sibTransId="{E4AA3DAC-8DED-4747-A6D1-F4ECB2C9C8D8}"/>
    <dgm:cxn modelId="{F5285B3E-91D6-4174-8FCC-EB5CF15CB451}" type="presOf" srcId="{615D807A-FA19-4068-A4C9-D203101D79B1}" destId="{7B7B7BCB-EDF5-4CC3-92C4-7287D1B49061}" srcOrd="0" destOrd="0" presId="urn:microsoft.com/office/officeart/2024/3/layout/verticalVisualTextBlock1"/>
    <dgm:cxn modelId="{B57AC167-B49B-4667-BBC9-23ADB04216E9}" srcId="{B83F9018-2113-447C-ACC9-0A2B45A1BD87}" destId="{B0923026-033C-4790-8722-DF7C7F41ABC8}" srcOrd="0" destOrd="0" parTransId="{A41E1D99-29E4-4505-81E4-E5E250EEE2AE}" sibTransId="{8C3CA252-3A56-4520-86A3-778CA5CBF73B}"/>
    <dgm:cxn modelId="{6DF79488-8762-41CF-A8F3-6B3F7D4331CC}" type="presOf" srcId="{FE9E61CA-CB97-4523-8D66-FB9719CEEC71}" destId="{94D50C51-CD3E-4063-B758-099DD3482345}" srcOrd="0" destOrd="0" presId="urn:microsoft.com/office/officeart/2024/3/layout/verticalVisualTextBlock1"/>
    <dgm:cxn modelId="{3E84A790-5652-4839-9E21-E7F98547430A}" type="presOf" srcId="{B83F9018-2113-447C-ACC9-0A2B45A1BD87}" destId="{1282BEF6-2EAC-42F1-B66E-39169436EB1E}" srcOrd="0" destOrd="0" presId="urn:microsoft.com/office/officeart/2024/3/layout/verticalVisualTextBlock1"/>
    <dgm:cxn modelId="{74B55791-488C-4646-80EA-579FCAA22AB3}" type="presOf" srcId="{B0923026-033C-4790-8722-DF7C7F41ABC8}" destId="{0EC865BB-0E54-401C-AE7D-C6C975160727}" srcOrd="0" destOrd="0" presId="urn:microsoft.com/office/officeart/2024/3/layout/verticalVisualTextBlock1"/>
    <dgm:cxn modelId="{DF191DAC-E01E-4DD0-96C4-804D9741C8B1}" type="presOf" srcId="{D6F2AD95-1FE0-4184-AB74-FD7F1D1410B6}" destId="{53B36131-0114-4C8B-9D16-D6EBD1D66DC0}" srcOrd="0" destOrd="0" presId="urn:microsoft.com/office/officeart/2024/3/layout/verticalVisualTextBlock1"/>
    <dgm:cxn modelId="{713DDFCF-5BE1-434E-859C-2A78E208D43B}" type="presOf" srcId="{6F44B22C-7872-411D-B8D1-63C3C7845437}" destId="{6994C887-BCAB-463D-87BB-D74C74E45EE9}" srcOrd="0" destOrd="0" presId="urn:microsoft.com/office/officeart/2024/3/layout/verticalVisualTextBlock1"/>
    <dgm:cxn modelId="{E50990EC-B1D7-4A33-8159-17AA4D577FEB}" srcId="{FE9E61CA-CB97-4523-8D66-FB9719CEEC71}" destId="{6F44B22C-7872-411D-B8D1-63C3C7845437}" srcOrd="0" destOrd="0" parTransId="{A7FA7B22-82AC-4D4D-BCD7-549DEF82B8A4}" sibTransId="{F7BD6741-58DA-440B-BCDE-E3D019A8D5C2}"/>
    <dgm:cxn modelId="{050B39FC-E1B8-47B5-B920-726125F83625}" srcId="{B83F9018-2113-447C-ACC9-0A2B45A1BD87}" destId="{10C768AC-4E7D-47D8-B86F-86551D3BB1D6}" srcOrd="2" destOrd="0" parTransId="{932B99C5-6917-4833-839F-40C4E6F8BA00}" sibTransId="{997E637B-7F76-4227-AFF2-C2E615CD3B13}"/>
    <dgm:cxn modelId="{845DA836-BFB3-47B4-8F76-D1B38C005562}" type="presParOf" srcId="{1282BEF6-2EAC-42F1-B66E-39169436EB1E}" destId="{18606E15-2C90-424E-ACFA-43102CE22474}" srcOrd="0" destOrd="0" presId="urn:microsoft.com/office/officeart/2024/3/layout/verticalVisualTextBlock1"/>
    <dgm:cxn modelId="{5ABFAFD3-1E38-4134-9315-9A095C8F2A7B}" type="presParOf" srcId="{18606E15-2C90-424E-ACFA-43102CE22474}" destId="{A188A29A-0D20-47E6-96B0-04CD6F763394}" srcOrd="0" destOrd="0" presId="urn:microsoft.com/office/officeart/2024/3/layout/verticalVisualTextBlock1"/>
    <dgm:cxn modelId="{1B1386DC-6749-46E9-9DC8-A7349AF4F832}" type="presParOf" srcId="{18606E15-2C90-424E-ACFA-43102CE22474}" destId="{0EC865BB-0E54-401C-AE7D-C6C975160727}" srcOrd="1" destOrd="0" presId="urn:microsoft.com/office/officeart/2024/3/layout/verticalVisualTextBlock1"/>
    <dgm:cxn modelId="{F3CD92CB-299C-4FBC-AD1D-73611BE94119}" type="presParOf" srcId="{18606E15-2C90-424E-ACFA-43102CE22474}" destId="{53B36131-0114-4C8B-9D16-D6EBD1D66DC0}" srcOrd="2" destOrd="0" presId="urn:microsoft.com/office/officeart/2024/3/layout/verticalVisualTextBlock1"/>
    <dgm:cxn modelId="{A34B20F9-D013-40BA-8927-04A42D0CB5BB}" type="presParOf" srcId="{1282BEF6-2EAC-42F1-B66E-39169436EB1E}" destId="{24EECBE3-A8F8-430E-B3B9-20E0B47B50D5}" srcOrd="1" destOrd="0" presId="urn:microsoft.com/office/officeart/2024/3/layout/verticalVisualTextBlock1"/>
    <dgm:cxn modelId="{A815063F-E164-4599-A753-DE1F09D4758A}" type="presParOf" srcId="{1282BEF6-2EAC-42F1-B66E-39169436EB1E}" destId="{288601A0-5E8A-4EF4-B01D-E32DC92C6A35}" srcOrd="2" destOrd="0" presId="urn:microsoft.com/office/officeart/2024/3/layout/verticalVisualTextBlock1"/>
    <dgm:cxn modelId="{32CA34C7-76B4-4316-BAEF-861C3CACC765}" type="presParOf" srcId="{288601A0-5E8A-4EF4-B01D-E32DC92C6A35}" destId="{16366944-BA8F-44A8-984A-F1B5D13E3475}" srcOrd="0" destOrd="0" presId="urn:microsoft.com/office/officeart/2024/3/layout/verticalVisualTextBlock1"/>
    <dgm:cxn modelId="{7B5DFDB1-DF7F-4F0E-92C2-F2AD29BFBA49}" type="presParOf" srcId="{288601A0-5E8A-4EF4-B01D-E32DC92C6A35}" destId="{94D50C51-CD3E-4063-B758-099DD3482345}" srcOrd="1" destOrd="0" presId="urn:microsoft.com/office/officeart/2024/3/layout/verticalVisualTextBlock1"/>
    <dgm:cxn modelId="{027702FD-5FB4-459F-AE73-B3A9609E7919}" type="presParOf" srcId="{288601A0-5E8A-4EF4-B01D-E32DC92C6A35}" destId="{6994C887-BCAB-463D-87BB-D74C74E45EE9}" srcOrd="2" destOrd="0" presId="urn:microsoft.com/office/officeart/2024/3/layout/verticalVisualTextBlock1"/>
    <dgm:cxn modelId="{58F7ED91-4E33-4E30-A078-054958E2636F}" type="presParOf" srcId="{1282BEF6-2EAC-42F1-B66E-39169436EB1E}" destId="{1B13EF63-9B42-4B16-B428-C056DD902290}" srcOrd="3" destOrd="0" presId="urn:microsoft.com/office/officeart/2024/3/layout/verticalVisualTextBlock1"/>
    <dgm:cxn modelId="{CB37A183-26B2-4343-B132-1CEB47DDCA21}" type="presParOf" srcId="{1282BEF6-2EAC-42F1-B66E-39169436EB1E}" destId="{9EE6FFB1-AB8D-4A81-BB83-BF7049892E79}" srcOrd="4" destOrd="0" presId="urn:microsoft.com/office/officeart/2024/3/layout/verticalVisualTextBlock1"/>
    <dgm:cxn modelId="{6ED503E1-5A09-4973-ADFB-CB72216AB61C}" type="presParOf" srcId="{9EE6FFB1-AB8D-4A81-BB83-BF7049892E79}" destId="{6164E8DA-DAB3-47C9-97AB-23092806D6E2}" srcOrd="0" destOrd="0" presId="urn:microsoft.com/office/officeart/2024/3/layout/verticalVisualTextBlock1"/>
    <dgm:cxn modelId="{8E914CB7-BB13-4535-98B2-815EAD123842}" type="presParOf" srcId="{9EE6FFB1-AB8D-4A81-BB83-BF7049892E79}" destId="{221B2FC4-CB1A-4090-AED8-4500A9ACCB6B}" srcOrd="1" destOrd="0" presId="urn:microsoft.com/office/officeart/2024/3/layout/verticalVisualTextBlock1"/>
    <dgm:cxn modelId="{E8CDDAF8-B941-41D8-B2B2-CE87050941F8}" type="presParOf" srcId="{9EE6FFB1-AB8D-4A81-BB83-BF7049892E79}" destId="{7B7B7BCB-EDF5-4CC3-92C4-7287D1B49061}"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00767B2-2D03-4A85-AA20-D10CA218EE13}"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AEAAFA05-574F-414A-A0AB-4043C9110C36}">
      <dgm:prSet/>
      <dgm:spPr/>
      <dgm:t>
        <a:bodyPr/>
        <a:lstStyle/>
        <a:p>
          <a:pPr>
            <a:lnSpc>
              <a:spcPct val="100000"/>
            </a:lnSpc>
            <a:defRPr b="1"/>
          </a:pPr>
          <a:r>
            <a:rPr lang="en-US"/>
            <a:t>Reduced Vocabulary Size</a:t>
          </a:r>
        </a:p>
      </dgm:t>
    </dgm:pt>
    <dgm:pt modelId="{B9EC6CD2-19A2-41FC-B1DC-ACE92655CCBB}" type="parTrans" cxnId="{8B55A0CB-6D25-4B91-A370-889C57D998D8}">
      <dgm:prSet/>
      <dgm:spPr/>
      <dgm:t>
        <a:bodyPr/>
        <a:lstStyle/>
        <a:p>
          <a:endParaRPr lang="en-US"/>
        </a:p>
      </dgm:t>
    </dgm:pt>
    <dgm:pt modelId="{640305CD-EA7A-4A2B-9927-2B723CDD83D5}" type="sibTrans" cxnId="{8B55A0CB-6D25-4B91-A370-889C57D998D8}">
      <dgm:prSet/>
      <dgm:spPr/>
      <dgm:t>
        <a:bodyPr/>
        <a:lstStyle/>
        <a:p>
          <a:pPr>
            <a:lnSpc>
              <a:spcPct val="100000"/>
            </a:lnSpc>
            <a:defRPr b="1"/>
          </a:pPr>
          <a:endParaRPr lang="en-US"/>
        </a:p>
      </dgm:t>
    </dgm:pt>
    <dgm:pt modelId="{BF9EA29A-F56A-4EA4-8639-A6B9951093F2}">
      <dgm:prSet/>
      <dgm:spPr/>
      <dgm:t>
        <a:bodyPr/>
        <a:lstStyle/>
        <a:p>
          <a:pPr>
            <a:lnSpc>
              <a:spcPct val="100000"/>
            </a:lnSpc>
          </a:pPr>
          <a:r>
            <a:rPr lang="en-US"/>
            <a:t>BPE reduces the vocabulary size, making it easier to manage and process large datasets in NLP applications.</a:t>
          </a:r>
        </a:p>
      </dgm:t>
    </dgm:pt>
    <dgm:pt modelId="{72A743E6-1FCA-4A9F-9C44-C05C7803FC54}" type="parTrans" cxnId="{1F5D713F-17CE-457D-8FBF-B00C74B0ED26}">
      <dgm:prSet/>
      <dgm:spPr/>
      <dgm:t>
        <a:bodyPr/>
        <a:lstStyle/>
        <a:p>
          <a:endParaRPr lang="en-US"/>
        </a:p>
      </dgm:t>
    </dgm:pt>
    <dgm:pt modelId="{67D69D5B-69E7-41E1-9D2F-A2CF7AECE9A2}" type="sibTrans" cxnId="{1F5D713F-17CE-457D-8FBF-B00C74B0ED26}">
      <dgm:prSet/>
      <dgm:spPr/>
      <dgm:t>
        <a:bodyPr/>
        <a:lstStyle/>
        <a:p>
          <a:endParaRPr lang="en-US"/>
        </a:p>
      </dgm:t>
    </dgm:pt>
    <dgm:pt modelId="{BB066B03-9603-4DB1-9831-BFF9537D63D1}">
      <dgm:prSet/>
      <dgm:spPr/>
      <dgm:t>
        <a:bodyPr/>
        <a:lstStyle/>
        <a:p>
          <a:pPr>
            <a:lnSpc>
              <a:spcPct val="100000"/>
            </a:lnSpc>
            <a:defRPr b="1"/>
          </a:pPr>
          <a:r>
            <a:rPr lang="en-US"/>
            <a:t>Handling of Rare Words</a:t>
          </a:r>
        </a:p>
      </dgm:t>
    </dgm:pt>
    <dgm:pt modelId="{802DEA03-9199-4D3E-9006-3A1425D75D24}" type="parTrans" cxnId="{3EC43B9A-9436-44FE-A916-420E7CD849FF}">
      <dgm:prSet/>
      <dgm:spPr/>
      <dgm:t>
        <a:bodyPr/>
        <a:lstStyle/>
        <a:p>
          <a:endParaRPr lang="en-US"/>
        </a:p>
      </dgm:t>
    </dgm:pt>
    <dgm:pt modelId="{D8B44D70-AC16-440F-B967-EBDABA11DA9C}" type="sibTrans" cxnId="{3EC43B9A-9436-44FE-A916-420E7CD849FF}">
      <dgm:prSet/>
      <dgm:spPr/>
      <dgm:t>
        <a:bodyPr/>
        <a:lstStyle/>
        <a:p>
          <a:pPr>
            <a:lnSpc>
              <a:spcPct val="100000"/>
            </a:lnSpc>
            <a:defRPr b="1"/>
          </a:pPr>
          <a:endParaRPr lang="en-US"/>
        </a:p>
      </dgm:t>
    </dgm:pt>
    <dgm:pt modelId="{0D509133-02DC-40A9-8954-6E701EF3253C}">
      <dgm:prSet/>
      <dgm:spPr/>
      <dgm:t>
        <a:bodyPr/>
        <a:lstStyle/>
        <a:p>
          <a:pPr>
            <a:lnSpc>
              <a:spcPct val="100000"/>
            </a:lnSpc>
          </a:pPr>
          <a:r>
            <a:rPr lang="en-US"/>
            <a:t>BPE provides better handling of rare words, improving the overall performance of language models.</a:t>
          </a:r>
        </a:p>
      </dgm:t>
    </dgm:pt>
    <dgm:pt modelId="{951998DF-F48D-4A6B-820E-E5738FA5442A}" type="parTrans" cxnId="{5FBB9F50-8290-45C9-8B15-F5F92983B083}">
      <dgm:prSet/>
      <dgm:spPr/>
      <dgm:t>
        <a:bodyPr/>
        <a:lstStyle/>
        <a:p>
          <a:endParaRPr lang="en-US"/>
        </a:p>
      </dgm:t>
    </dgm:pt>
    <dgm:pt modelId="{97A05570-4535-4C73-B883-40C00B6C8BC7}" type="sibTrans" cxnId="{5FBB9F50-8290-45C9-8B15-F5F92983B083}">
      <dgm:prSet/>
      <dgm:spPr/>
      <dgm:t>
        <a:bodyPr/>
        <a:lstStyle/>
        <a:p>
          <a:endParaRPr lang="en-US"/>
        </a:p>
      </dgm:t>
    </dgm:pt>
    <dgm:pt modelId="{8FEC5330-D5AD-4341-9759-168002867C7A}">
      <dgm:prSet/>
      <dgm:spPr/>
      <dgm:t>
        <a:bodyPr/>
        <a:lstStyle/>
        <a:p>
          <a:pPr>
            <a:lnSpc>
              <a:spcPct val="100000"/>
            </a:lnSpc>
            <a:defRPr b="1"/>
          </a:pPr>
          <a:r>
            <a:rPr lang="en-US"/>
            <a:t>Applications in NLP</a:t>
          </a:r>
        </a:p>
      </dgm:t>
    </dgm:pt>
    <dgm:pt modelId="{28B92A16-2476-413C-912A-99B8D0488096}" type="parTrans" cxnId="{827713BA-B367-4B60-81D5-54B1F566B97D}">
      <dgm:prSet/>
      <dgm:spPr/>
      <dgm:t>
        <a:bodyPr/>
        <a:lstStyle/>
        <a:p>
          <a:endParaRPr lang="en-US"/>
        </a:p>
      </dgm:t>
    </dgm:pt>
    <dgm:pt modelId="{F125077C-5C59-4748-8698-7632A4CBCAB1}" type="sibTrans" cxnId="{827713BA-B367-4B60-81D5-54B1F566B97D}">
      <dgm:prSet/>
      <dgm:spPr/>
      <dgm:t>
        <a:bodyPr/>
        <a:lstStyle/>
        <a:p>
          <a:endParaRPr lang="en-US"/>
        </a:p>
      </dgm:t>
    </dgm:pt>
    <dgm:pt modelId="{5C0CA483-8686-4652-A29D-F5BB4E1009D7}">
      <dgm:prSet/>
      <dgm:spPr/>
      <dgm:t>
        <a:bodyPr/>
        <a:lstStyle/>
        <a:p>
          <a:pPr>
            <a:lnSpc>
              <a:spcPct val="100000"/>
            </a:lnSpc>
          </a:pPr>
          <a:r>
            <a:rPr lang="en-US"/>
            <a:t>BPE is widely used in modern NLP applications, enhancing text representation in models like transformers and neural networks.</a:t>
          </a:r>
        </a:p>
      </dgm:t>
    </dgm:pt>
    <dgm:pt modelId="{EC1404BE-48A5-47AE-A15E-64AD75FA357B}" type="parTrans" cxnId="{D73764A0-6759-4756-8DB7-84A0D276A786}">
      <dgm:prSet/>
      <dgm:spPr/>
      <dgm:t>
        <a:bodyPr/>
        <a:lstStyle/>
        <a:p>
          <a:endParaRPr lang="en-US"/>
        </a:p>
      </dgm:t>
    </dgm:pt>
    <dgm:pt modelId="{8F964B9A-EE18-4B5A-9A49-ED418AED36E0}" type="sibTrans" cxnId="{D73764A0-6759-4756-8DB7-84A0D276A786}">
      <dgm:prSet/>
      <dgm:spPr/>
      <dgm:t>
        <a:bodyPr/>
        <a:lstStyle/>
        <a:p>
          <a:endParaRPr lang="en-US"/>
        </a:p>
      </dgm:t>
    </dgm:pt>
    <dgm:pt modelId="{8561DD0C-433B-42D1-9682-00AFD9BC3074}" type="pres">
      <dgm:prSet presAssocID="{800767B2-2D03-4A85-AA20-D10CA218EE13}" presName="Root" presStyleCnt="0">
        <dgm:presLayoutVars>
          <dgm:dir/>
          <dgm:resizeHandles val="exact"/>
        </dgm:presLayoutVars>
      </dgm:prSet>
      <dgm:spPr/>
    </dgm:pt>
    <dgm:pt modelId="{3D3A0CAD-17B3-4600-BB32-03BAF775B5DC}" type="pres">
      <dgm:prSet presAssocID="{AEAAFA05-574F-414A-A0AB-4043C9110C36}" presName="Composite" presStyleCnt="0"/>
      <dgm:spPr/>
    </dgm:pt>
    <dgm:pt modelId="{5AFD48AF-5FD6-4CC5-9A94-47E18E31D3C5}" type="pres">
      <dgm:prSet presAssocID="{AEAAFA05-574F-414A-A0AB-4043C9110C36}"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6445" r="26805"/>
          <a:stretch/>
        </a:blipFill>
      </dgm:spPr>
      <dgm:extLst>
        <a:ext uri="{E40237B7-FDA0-4F09-8148-C483321AD2D9}">
          <dgm14:cNvPr xmlns:dgm14="http://schemas.microsoft.com/office/drawing/2010/diagram" id="0" name="" descr="Organic letters painted on a stone"/>
        </a:ext>
      </dgm:extLst>
    </dgm:pt>
    <dgm:pt modelId="{72279618-2414-401A-BB0F-91B274E744A2}" type="pres">
      <dgm:prSet presAssocID="{AEAAFA05-574F-414A-A0AB-4043C9110C36}" presName="Subtitle" presStyleLbl="revTx" presStyleIdx="0" presStyleCnt="6">
        <dgm:presLayoutVars>
          <dgm:chMax val="0"/>
          <dgm:bulletEnabled/>
        </dgm:presLayoutVars>
      </dgm:prSet>
      <dgm:spPr/>
    </dgm:pt>
    <dgm:pt modelId="{3DD2F52A-0D7B-4022-9CCD-5F2ED6A7A84C}" type="pres">
      <dgm:prSet presAssocID="{AEAAFA05-574F-414A-A0AB-4043C9110C36}" presName="Description" presStyleLbl="revTx" presStyleIdx="1" presStyleCnt="6">
        <dgm:presLayoutVars>
          <dgm:bulletEnabled/>
        </dgm:presLayoutVars>
      </dgm:prSet>
      <dgm:spPr/>
    </dgm:pt>
    <dgm:pt modelId="{0B75FEC6-BB10-495C-B072-2B11E7524542}" type="pres">
      <dgm:prSet presAssocID="{640305CD-EA7A-4A2B-9927-2B723CDD83D5}" presName="sibTrans" presStyleLbl="sibTrans2D1" presStyleIdx="0" presStyleCnt="0"/>
      <dgm:spPr/>
    </dgm:pt>
    <dgm:pt modelId="{CF0EBC2C-D9F2-43D3-9467-7ECE8F6FF743}" type="pres">
      <dgm:prSet presAssocID="{BB066B03-9603-4DB1-9831-BFF9537D63D1}" presName="Composite" presStyleCnt="0"/>
      <dgm:spPr/>
    </dgm:pt>
    <dgm:pt modelId="{F471C00C-5581-41CB-9ACD-9A132CA629C3}" type="pres">
      <dgm:prSet presAssocID="{BB066B03-9603-4DB1-9831-BFF9537D63D1}"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r="33250"/>
          <a:stretch/>
        </a:blipFill>
      </dgm:spPr>
      <dgm:extLst>
        <a:ext uri="{E40237B7-FDA0-4F09-8148-C483321AD2D9}">
          <dgm14:cNvPr xmlns:dgm14="http://schemas.microsoft.com/office/drawing/2010/diagram" id="0" name="" descr="Shot of a businessman looking thoughtfully at a graph against a white background"/>
        </a:ext>
      </dgm:extLst>
    </dgm:pt>
    <dgm:pt modelId="{B81F755D-1F0F-4350-A01F-6B715F34A3A8}" type="pres">
      <dgm:prSet presAssocID="{BB066B03-9603-4DB1-9831-BFF9537D63D1}" presName="Subtitle" presStyleLbl="revTx" presStyleIdx="2" presStyleCnt="6">
        <dgm:presLayoutVars>
          <dgm:chMax val="0"/>
          <dgm:bulletEnabled/>
        </dgm:presLayoutVars>
      </dgm:prSet>
      <dgm:spPr/>
    </dgm:pt>
    <dgm:pt modelId="{92D14832-2574-4A4F-B137-0E3786D48A78}" type="pres">
      <dgm:prSet presAssocID="{BB066B03-9603-4DB1-9831-BFF9537D63D1}" presName="Description" presStyleLbl="revTx" presStyleIdx="3" presStyleCnt="6">
        <dgm:presLayoutVars>
          <dgm:bulletEnabled/>
        </dgm:presLayoutVars>
      </dgm:prSet>
      <dgm:spPr/>
    </dgm:pt>
    <dgm:pt modelId="{07028CE4-5D01-4C19-9929-2C642A6C4682}" type="pres">
      <dgm:prSet presAssocID="{D8B44D70-AC16-440F-B967-EBDABA11DA9C}" presName="sibTrans" presStyleLbl="sibTrans2D1" presStyleIdx="0" presStyleCnt="0"/>
      <dgm:spPr/>
    </dgm:pt>
    <dgm:pt modelId="{581109BB-430E-4186-A182-3C914B0FECA5}" type="pres">
      <dgm:prSet presAssocID="{8FEC5330-D5AD-4341-9759-168002867C7A}" presName="Composite" presStyleCnt="0"/>
      <dgm:spPr/>
    </dgm:pt>
    <dgm:pt modelId="{FDF2860A-527F-408D-8B89-1B3AD5DCC5A9}" type="pres">
      <dgm:prSet presAssocID="{8FEC5330-D5AD-4341-9759-168002867C7A}"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9081" r="14169"/>
          <a:stretch/>
        </a:blipFill>
      </dgm:spPr>
      <dgm:extLst>
        <a:ext uri="{E40237B7-FDA0-4F09-8148-C483321AD2D9}">
          <dgm14:cNvPr xmlns:dgm14="http://schemas.microsoft.com/office/drawing/2010/diagram" id="0" name="" descr="Global communication and collaboration intricately involving electronic ropes and keys through social networking of smart phones equipped with AI."/>
        </a:ext>
      </dgm:extLst>
    </dgm:pt>
    <dgm:pt modelId="{33ABE45E-F4FC-4C23-8411-871D96E0B329}" type="pres">
      <dgm:prSet presAssocID="{8FEC5330-D5AD-4341-9759-168002867C7A}" presName="Subtitle" presStyleLbl="revTx" presStyleIdx="4" presStyleCnt="6">
        <dgm:presLayoutVars>
          <dgm:chMax val="0"/>
          <dgm:bulletEnabled/>
        </dgm:presLayoutVars>
      </dgm:prSet>
      <dgm:spPr/>
    </dgm:pt>
    <dgm:pt modelId="{E151A547-58B8-4D8B-B1E5-621F8A359F82}" type="pres">
      <dgm:prSet presAssocID="{8FEC5330-D5AD-4341-9759-168002867C7A}" presName="Description" presStyleLbl="revTx" presStyleIdx="5" presStyleCnt="6">
        <dgm:presLayoutVars>
          <dgm:bulletEnabled/>
        </dgm:presLayoutVars>
      </dgm:prSet>
      <dgm:spPr/>
    </dgm:pt>
  </dgm:ptLst>
  <dgm:cxnLst>
    <dgm:cxn modelId="{DFCC4E29-3A21-4802-881D-05DE3AB8FCA5}" type="presOf" srcId="{AEAAFA05-574F-414A-A0AB-4043C9110C36}" destId="{72279618-2414-401A-BB0F-91B274E744A2}" srcOrd="0" destOrd="0" presId="urn:microsoft.com/office/officeart/2024/3/layout/verticalVisualTextBlock1"/>
    <dgm:cxn modelId="{8D99533B-6DB9-492E-AE9F-4B5C90D1175A}" type="presOf" srcId="{8FEC5330-D5AD-4341-9759-168002867C7A}" destId="{33ABE45E-F4FC-4C23-8411-871D96E0B329}" srcOrd="0" destOrd="0" presId="urn:microsoft.com/office/officeart/2024/3/layout/verticalVisualTextBlock1"/>
    <dgm:cxn modelId="{1F5D713F-17CE-457D-8FBF-B00C74B0ED26}" srcId="{AEAAFA05-574F-414A-A0AB-4043C9110C36}" destId="{BF9EA29A-F56A-4EA4-8639-A6B9951093F2}" srcOrd="0" destOrd="0" parTransId="{72A743E6-1FCA-4A9F-9C44-C05C7803FC54}" sibTransId="{67D69D5B-69E7-41E1-9D2F-A2CF7AECE9A2}"/>
    <dgm:cxn modelId="{5FBB9F50-8290-45C9-8B15-F5F92983B083}" srcId="{BB066B03-9603-4DB1-9831-BFF9537D63D1}" destId="{0D509133-02DC-40A9-8954-6E701EF3253C}" srcOrd="0" destOrd="0" parTransId="{951998DF-F48D-4A6B-820E-E5738FA5442A}" sibTransId="{97A05570-4535-4C73-B883-40C00B6C8BC7}"/>
    <dgm:cxn modelId="{AFECC774-E946-4397-B11E-50EA1A727760}" type="presOf" srcId="{640305CD-EA7A-4A2B-9927-2B723CDD83D5}" destId="{0B75FEC6-BB10-495C-B072-2B11E7524542}" srcOrd="0" destOrd="0" presId="urn:microsoft.com/office/officeart/2024/3/layout/verticalVisualTextBlock1"/>
    <dgm:cxn modelId="{3EC43B9A-9436-44FE-A916-420E7CD849FF}" srcId="{800767B2-2D03-4A85-AA20-D10CA218EE13}" destId="{BB066B03-9603-4DB1-9831-BFF9537D63D1}" srcOrd="1" destOrd="0" parTransId="{802DEA03-9199-4D3E-9006-3A1425D75D24}" sibTransId="{D8B44D70-AC16-440F-B967-EBDABA11DA9C}"/>
    <dgm:cxn modelId="{D73764A0-6759-4756-8DB7-84A0D276A786}" srcId="{8FEC5330-D5AD-4341-9759-168002867C7A}" destId="{5C0CA483-8686-4652-A29D-F5BB4E1009D7}" srcOrd="0" destOrd="0" parTransId="{EC1404BE-48A5-47AE-A15E-64AD75FA357B}" sibTransId="{8F964B9A-EE18-4B5A-9A49-ED418AED36E0}"/>
    <dgm:cxn modelId="{41E5C6A1-6C89-4926-8332-4079D9EC2F70}" type="presOf" srcId="{D8B44D70-AC16-440F-B967-EBDABA11DA9C}" destId="{07028CE4-5D01-4C19-9929-2C642A6C4682}" srcOrd="0" destOrd="0" presId="urn:microsoft.com/office/officeart/2024/3/layout/verticalVisualTextBlock1"/>
    <dgm:cxn modelId="{5DF852B3-E7E4-4FD9-8937-C7F88EE742F0}" type="presOf" srcId="{5C0CA483-8686-4652-A29D-F5BB4E1009D7}" destId="{E151A547-58B8-4D8B-B1E5-621F8A359F82}" srcOrd="0" destOrd="0" presId="urn:microsoft.com/office/officeart/2024/3/layout/verticalVisualTextBlock1"/>
    <dgm:cxn modelId="{827713BA-B367-4B60-81D5-54B1F566B97D}" srcId="{800767B2-2D03-4A85-AA20-D10CA218EE13}" destId="{8FEC5330-D5AD-4341-9759-168002867C7A}" srcOrd="2" destOrd="0" parTransId="{28B92A16-2476-413C-912A-99B8D0488096}" sibTransId="{F125077C-5C59-4748-8698-7632A4CBCAB1}"/>
    <dgm:cxn modelId="{BB4F84C4-9B24-4421-9B8F-F53443F8EE71}" type="presOf" srcId="{BB066B03-9603-4DB1-9831-BFF9537D63D1}" destId="{B81F755D-1F0F-4350-A01F-6B715F34A3A8}" srcOrd="0" destOrd="0" presId="urn:microsoft.com/office/officeart/2024/3/layout/verticalVisualTextBlock1"/>
    <dgm:cxn modelId="{8B55A0CB-6D25-4B91-A370-889C57D998D8}" srcId="{800767B2-2D03-4A85-AA20-D10CA218EE13}" destId="{AEAAFA05-574F-414A-A0AB-4043C9110C36}" srcOrd="0" destOrd="0" parTransId="{B9EC6CD2-19A2-41FC-B1DC-ACE92655CCBB}" sibTransId="{640305CD-EA7A-4A2B-9927-2B723CDD83D5}"/>
    <dgm:cxn modelId="{5FB5F2D5-0D0C-468F-901A-ACD4694BD8EA}" type="presOf" srcId="{800767B2-2D03-4A85-AA20-D10CA218EE13}" destId="{8561DD0C-433B-42D1-9682-00AFD9BC3074}" srcOrd="0" destOrd="0" presId="urn:microsoft.com/office/officeart/2024/3/layout/verticalVisualTextBlock1"/>
    <dgm:cxn modelId="{8BB7D9E2-FB80-40AA-B41F-CD855F52838A}" type="presOf" srcId="{0D509133-02DC-40A9-8954-6E701EF3253C}" destId="{92D14832-2574-4A4F-B137-0E3786D48A78}" srcOrd="0" destOrd="0" presId="urn:microsoft.com/office/officeart/2024/3/layout/verticalVisualTextBlock1"/>
    <dgm:cxn modelId="{7D8806F6-DEE2-47AC-BCDC-7EEC0EBA834D}" type="presOf" srcId="{BF9EA29A-F56A-4EA4-8639-A6B9951093F2}" destId="{3DD2F52A-0D7B-4022-9CCD-5F2ED6A7A84C}" srcOrd="0" destOrd="0" presId="urn:microsoft.com/office/officeart/2024/3/layout/verticalVisualTextBlock1"/>
    <dgm:cxn modelId="{98673C6C-D1BB-4FF8-AEE9-BED782ED6C3B}" type="presParOf" srcId="{8561DD0C-433B-42D1-9682-00AFD9BC3074}" destId="{3D3A0CAD-17B3-4600-BB32-03BAF775B5DC}" srcOrd="0" destOrd="0" presId="urn:microsoft.com/office/officeart/2024/3/layout/verticalVisualTextBlock1"/>
    <dgm:cxn modelId="{E8B89C4C-B181-4786-AB36-40F2E15A188B}" type="presParOf" srcId="{3D3A0CAD-17B3-4600-BB32-03BAF775B5DC}" destId="{5AFD48AF-5FD6-4CC5-9A94-47E18E31D3C5}" srcOrd="0" destOrd="0" presId="urn:microsoft.com/office/officeart/2024/3/layout/verticalVisualTextBlock1"/>
    <dgm:cxn modelId="{BB7E0A96-4522-4EC7-ABB2-7E1909CCC521}" type="presParOf" srcId="{3D3A0CAD-17B3-4600-BB32-03BAF775B5DC}" destId="{72279618-2414-401A-BB0F-91B274E744A2}" srcOrd="1" destOrd="0" presId="urn:microsoft.com/office/officeart/2024/3/layout/verticalVisualTextBlock1"/>
    <dgm:cxn modelId="{B397A7B1-3706-42DB-837A-D15FB3BA934F}" type="presParOf" srcId="{3D3A0CAD-17B3-4600-BB32-03BAF775B5DC}" destId="{3DD2F52A-0D7B-4022-9CCD-5F2ED6A7A84C}" srcOrd="2" destOrd="0" presId="urn:microsoft.com/office/officeart/2024/3/layout/verticalVisualTextBlock1"/>
    <dgm:cxn modelId="{14E33E96-4D25-40F7-94B3-8E3D2A39B943}" type="presParOf" srcId="{8561DD0C-433B-42D1-9682-00AFD9BC3074}" destId="{0B75FEC6-BB10-495C-B072-2B11E7524542}" srcOrd="1" destOrd="0" presId="urn:microsoft.com/office/officeart/2024/3/layout/verticalVisualTextBlock1"/>
    <dgm:cxn modelId="{8EDF5BCD-66C7-4D66-AAC1-F46E8C7F93CF}" type="presParOf" srcId="{8561DD0C-433B-42D1-9682-00AFD9BC3074}" destId="{CF0EBC2C-D9F2-43D3-9467-7ECE8F6FF743}" srcOrd="2" destOrd="0" presId="urn:microsoft.com/office/officeart/2024/3/layout/verticalVisualTextBlock1"/>
    <dgm:cxn modelId="{17579059-3C72-4FD1-9087-9B819642FD5D}" type="presParOf" srcId="{CF0EBC2C-D9F2-43D3-9467-7ECE8F6FF743}" destId="{F471C00C-5581-41CB-9ACD-9A132CA629C3}" srcOrd="0" destOrd="0" presId="urn:microsoft.com/office/officeart/2024/3/layout/verticalVisualTextBlock1"/>
    <dgm:cxn modelId="{051B0DF1-A318-4723-AFFC-DD4CE6D3B7C5}" type="presParOf" srcId="{CF0EBC2C-D9F2-43D3-9467-7ECE8F6FF743}" destId="{B81F755D-1F0F-4350-A01F-6B715F34A3A8}" srcOrd="1" destOrd="0" presId="urn:microsoft.com/office/officeart/2024/3/layout/verticalVisualTextBlock1"/>
    <dgm:cxn modelId="{5B5C5BAB-EDBC-4E5F-9FF9-D323DB29B403}" type="presParOf" srcId="{CF0EBC2C-D9F2-43D3-9467-7ECE8F6FF743}" destId="{92D14832-2574-4A4F-B137-0E3786D48A78}" srcOrd="2" destOrd="0" presId="urn:microsoft.com/office/officeart/2024/3/layout/verticalVisualTextBlock1"/>
    <dgm:cxn modelId="{04CC84B2-5D0D-4F36-A320-B776B438262B}" type="presParOf" srcId="{8561DD0C-433B-42D1-9682-00AFD9BC3074}" destId="{07028CE4-5D01-4C19-9929-2C642A6C4682}" srcOrd="3" destOrd="0" presId="urn:microsoft.com/office/officeart/2024/3/layout/verticalVisualTextBlock1"/>
    <dgm:cxn modelId="{3BD28C6F-9DE8-4CE9-B82B-3DA088C29072}" type="presParOf" srcId="{8561DD0C-433B-42D1-9682-00AFD9BC3074}" destId="{581109BB-430E-4186-A182-3C914B0FECA5}" srcOrd="4" destOrd="0" presId="urn:microsoft.com/office/officeart/2024/3/layout/verticalVisualTextBlock1"/>
    <dgm:cxn modelId="{3579BBFB-2F6A-41AE-BD1D-F49BDCEBC7CF}" type="presParOf" srcId="{581109BB-430E-4186-A182-3C914B0FECA5}" destId="{FDF2860A-527F-408D-8B89-1B3AD5DCC5A9}" srcOrd="0" destOrd="0" presId="urn:microsoft.com/office/officeart/2024/3/layout/verticalVisualTextBlock1"/>
    <dgm:cxn modelId="{12BC0546-DEBD-4F7F-81CF-FEC6B6388B56}" type="presParOf" srcId="{581109BB-430E-4186-A182-3C914B0FECA5}" destId="{33ABE45E-F4FC-4C23-8411-871D96E0B329}" srcOrd="1" destOrd="0" presId="urn:microsoft.com/office/officeart/2024/3/layout/verticalVisualTextBlock1"/>
    <dgm:cxn modelId="{DF303B76-6AFB-4FC9-AD39-FA56D0B7D0CF}" type="presParOf" srcId="{581109BB-430E-4186-A182-3C914B0FECA5}" destId="{E151A547-58B8-4D8B-B1E5-621F8A359F82}"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4220613-197C-44FD-843C-F77280A8AC29}"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CCDC7CF2-BF37-4F61-BFAB-DA564F5AAB5B}">
      <dgm:prSet/>
      <dgm:spPr/>
      <dgm:t>
        <a:bodyPr/>
        <a:lstStyle/>
        <a:p>
          <a:pPr>
            <a:lnSpc>
              <a:spcPct val="100000"/>
            </a:lnSpc>
            <a:defRPr b="1"/>
          </a:pPr>
          <a:r>
            <a:rPr lang="en-US"/>
            <a:t>Importance of Tokenization</a:t>
          </a:r>
        </a:p>
      </dgm:t>
    </dgm:pt>
    <dgm:pt modelId="{7794D935-87D5-4CC4-8708-1090917C7B43}" type="parTrans" cxnId="{1E6FB328-3260-4211-BF36-F8CE40C1F692}">
      <dgm:prSet/>
      <dgm:spPr/>
      <dgm:t>
        <a:bodyPr/>
        <a:lstStyle/>
        <a:p>
          <a:endParaRPr lang="en-US"/>
        </a:p>
      </dgm:t>
    </dgm:pt>
    <dgm:pt modelId="{0D21CF2C-281A-4132-BBAC-BF0783D6DA0D}" type="sibTrans" cxnId="{1E6FB328-3260-4211-BF36-F8CE40C1F692}">
      <dgm:prSet/>
      <dgm:spPr/>
      <dgm:t>
        <a:bodyPr/>
        <a:lstStyle/>
        <a:p>
          <a:pPr>
            <a:lnSpc>
              <a:spcPct val="100000"/>
            </a:lnSpc>
            <a:defRPr b="1"/>
          </a:pPr>
          <a:endParaRPr lang="en-US"/>
        </a:p>
      </dgm:t>
    </dgm:pt>
    <dgm:pt modelId="{760A5786-5BED-4293-BBBA-3AA2EB8910B7}">
      <dgm:prSet/>
      <dgm:spPr/>
      <dgm:t>
        <a:bodyPr/>
        <a:lstStyle/>
        <a:p>
          <a:pPr>
            <a:lnSpc>
              <a:spcPct val="100000"/>
            </a:lnSpc>
          </a:pPr>
          <a:r>
            <a:rPr lang="en-US"/>
            <a:t>Tokenization is a crucial step in natural language processing, breaking text into manageable pieces for analysis.</a:t>
          </a:r>
        </a:p>
      </dgm:t>
    </dgm:pt>
    <dgm:pt modelId="{52111DAB-6680-4CE3-8DF8-E882E30C73F5}" type="parTrans" cxnId="{CCA41135-2E51-4713-BCED-197208DDF0A3}">
      <dgm:prSet/>
      <dgm:spPr/>
      <dgm:t>
        <a:bodyPr/>
        <a:lstStyle/>
        <a:p>
          <a:endParaRPr lang="en-US"/>
        </a:p>
      </dgm:t>
    </dgm:pt>
    <dgm:pt modelId="{20A92C02-8E32-4C8B-8708-B7D30DC9CBE1}" type="sibTrans" cxnId="{CCA41135-2E51-4713-BCED-197208DDF0A3}">
      <dgm:prSet/>
      <dgm:spPr/>
      <dgm:t>
        <a:bodyPr/>
        <a:lstStyle/>
        <a:p>
          <a:endParaRPr lang="en-US"/>
        </a:p>
      </dgm:t>
    </dgm:pt>
    <dgm:pt modelId="{EA4E299D-DC17-4114-9285-AEC8D16432CA}">
      <dgm:prSet/>
      <dgm:spPr/>
      <dgm:t>
        <a:bodyPr/>
        <a:lstStyle/>
        <a:p>
          <a:pPr>
            <a:lnSpc>
              <a:spcPct val="100000"/>
            </a:lnSpc>
            <a:defRPr b="1"/>
          </a:pPr>
          <a:r>
            <a:rPr lang="en-US"/>
            <a:t>Role of Embeddings</a:t>
          </a:r>
        </a:p>
      </dgm:t>
    </dgm:pt>
    <dgm:pt modelId="{2ACA755E-C991-4B4C-B684-B90D81BBCEC9}" type="parTrans" cxnId="{3CE96964-802E-4A06-A977-DBD6384B3B40}">
      <dgm:prSet/>
      <dgm:spPr/>
      <dgm:t>
        <a:bodyPr/>
        <a:lstStyle/>
        <a:p>
          <a:endParaRPr lang="en-US"/>
        </a:p>
      </dgm:t>
    </dgm:pt>
    <dgm:pt modelId="{2CB4AACB-DC0B-4E46-9D4A-458C2DA4FC56}" type="sibTrans" cxnId="{3CE96964-802E-4A06-A977-DBD6384B3B40}">
      <dgm:prSet/>
      <dgm:spPr/>
      <dgm:t>
        <a:bodyPr/>
        <a:lstStyle/>
        <a:p>
          <a:pPr>
            <a:lnSpc>
              <a:spcPct val="100000"/>
            </a:lnSpc>
            <a:defRPr b="1"/>
          </a:pPr>
          <a:endParaRPr lang="en-US"/>
        </a:p>
      </dgm:t>
    </dgm:pt>
    <dgm:pt modelId="{29E04E79-30D0-421A-BDE6-C6188A06DB4F}">
      <dgm:prSet/>
      <dgm:spPr/>
      <dgm:t>
        <a:bodyPr/>
        <a:lstStyle/>
        <a:p>
          <a:pPr>
            <a:lnSpc>
              <a:spcPct val="100000"/>
            </a:lnSpc>
          </a:pPr>
          <a:r>
            <a:rPr lang="en-US"/>
            <a:t>Embeddings provide a way to represent words in a continuous vector space, enabling meaningful comparisons and computations.</a:t>
          </a:r>
        </a:p>
      </dgm:t>
    </dgm:pt>
    <dgm:pt modelId="{7A6CFC98-CDAE-44E7-9B40-5C736C9BEE4A}" type="parTrans" cxnId="{D461E2DA-D21F-4F6C-893D-6E1D5B054D8E}">
      <dgm:prSet/>
      <dgm:spPr/>
      <dgm:t>
        <a:bodyPr/>
        <a:lstStyle/>
        <a:p>
          <a:endParaRPr lang="en-US"/>
        </a:p>
      </dgm:t>
    </dgm:pt>
    <dgm:pt modelId="{BC7B7C0C-1E6E-4976-878E-9596373C3D38}" type="sibTrans" cxnId="{D461E2DA-D21F-4F6C-893D-6E1D5B054D8E}">
      <dgm:prSet/>
      <dgm:spPr/>
      <dgm:t>
        <a:bodyPr/>
        <a:lstStyle/>
        <a:p>
          <a:endParaRPr lang="en-US"/>
        </a:p>
      </dgm:t>
    </dgm:pt>
    <dgm:pt modelId="{C567B62D-D2D5-4047-9281-481AFFDD5052}">
      <dgm:prSet/>
      <dgm:spPr/>
      <dgm:t>
        <a:bodyPr/>
        <a:lstStyle/>
        <a:p>
          <a:pPr>
            <a:lnSpc>
              <a:spcPct val="100000"/>
            </a:lnSpc>
            <a:defRPr b="1"/>
          </a:pPr>
          <a:r>
            <a:rPr lang="en-US"/>
            <a:t>Future of NLP</a:t>
          </a:r>
        </a:p>
      </dgm:t>
    </dgm:pt>
    <dgm:pt modelId="{A5ED5B09-0C90-4A3F-9109-484ECC82B63F}" type="parTrans" cxnId="{8CD7F30A-D56C-43E6-B580-DCF208BF544C}">
      <dgm:prSet/>
      <dgm:spPr/>
      <dgm:t>
        <a:bodyPr/>
        <a:lstStyle/>
        <a:p>
          <a:endParaRPr lang="en-US"/>
        </a:p>
      </dgm:t>
    </dgm:pt>
    <dgm:pt modelId="{6A9A9666-D915-40AC-ABDD-F02A95D5E95C}" type="sibTrans" cxnId="{8CD7F30A-D56C-43E6-B580-DCF208BF544C}">
      <dgm:prSet/>
      <dgm:spPr/>
      <dgm:t>
        <a:bodyPr/>
        <a:lstStyle/>
        <a:p>
          <a:endParaRPr lang="en-US"/>
        </a:p>
      </dgm:t>
    </dgm:pt>
    <dgm:pt modelId="{A7FE8556-B76C-4EFD-85DC-23421D3FE4DF}">
      <dgm:prSet/>
      <dgm:spPr/>
      <dgm:t>
        <a:bodyPr/>
        <a:lstStyle/>
        <a:p>
          <a:pPr>
            <a:lnSpc>
              <a:spcPct val="100000"/>
            </a:lnSpc>
          </a:pPr>
          <a:r>
            <a:rPr lang="en-US"/>
            <a:t>As technology evolves, tokenization and embedding techniques will continue to advance, impacting NLP applications and development.</a:t>
          </a:r>
        </a:p>
      </dgm:t>
    </dgm:pt>
    <dgm:pt modelId="{F8EE42CB-5823-44A5-BCE6-DAE280991CE6}" type="parTrans" cxnId="{B2B05CB0-CFC7-449C-A7D7-AD171FF282C0}">
      <dgm:prSet/>
      <dgm:spPr/>
      <dgm:t>
        <a:bodyPr/>
        <a:lstStyle/>
        <a:p>
          <a:endParaRPr lang="en-US"/>
        </a:p>
      </dgm:t>
    </dgm:pt>
    <dgm:pt modelId="{031DE8B4-66F0-4B63-AA62-7FF46DC6F58B}" type="sibTrans" cxnId="{B2B05CB0-CFC7-449C-A7D7-AD171FF282C0}">
      <dgm:prSet/>
      <dgm:spPr/>
      <dgm:t>
        <a:bodyPr/>
        <a:lstStyle/>
        <a:p>
          <a:endParaRPr lang="en-US"/>
        </a:p>
      </dgm:t>
    </dgm:pt>
    <dgm:pt modelId="{6A05D3BB-C7B0-4AC4-875A-70EE4F8A3838}" type="pres">
      <dgm:prSet presAssocID="{44220613-197C-44FD-843C-F77280A8AC29}" presName="Name0" presStyleCnt="0">
        <dgm:presLayoutVars>
          <dgm:dir/>
          <dgm:resizeHandles val="exact"/>
        </dgm:presLayoutVars>
      </dgm:prSet>
      <dgm:spPr/>
    </dgm:pt>
    <dgm:pt modelId="{D5534BA6-62D8-4712-8E9A-1D7B56261561}" type="pres">
      <dgm:prSet presAssocID="{CCDC7CF2-BF37-4F61-BFAB-DA564F5AAB5B}" presName="compNode" presStyleCnt="0"/>
      <dgm:spPr/>
    </dgm:pt>
    <dgm:pt modelId="{4CC28759-82CF-49EA-A8A4-4B5D334D8EB7}" type="pres">
      <dgm:prSet presAssocID="{CCDC7CF2-BF37-4F61-BFAB-DA564F5AAB5B}" presName="pictRect" presStyleLbl="revTx" presStyleIdx="0" presStyleCnt="6">
        <dgm:presLayoutVars>
          <dgm:chMax val="0"/>
          <dgm:bulletEnabled/>
        </dgm:presLayoutVars>
      </dgm:prSet>
      <dgm:spPr/>
    </dgm:pt>
    <dgm:pt modelId="{020BF6B8-AF96-4B6D-B0B3-94C2AE7BBB33}" type="pres">
      <dgm:prSet presAssocID="{CCDC7CF2-BF37-4F61-BFAB-DA564F5AAB5B}" presName="textRect" presStyleLbl="revTx" presStyleIdx="1" presStyleCnt="6">
        <dgm:presLayoutVars>
          <dgm:bulletEnabled/>
        </dgm:presLayoutVars>
      </dgm:prSet>
      <dgm:spPr/>
    </dgm:pt>
    <dgm:pt modelId="{5FD06482-562B-43E5-BE9B-7B51B2173817}" type="pres">
      <dgm:prSet presAssocID="{0D21CF2C-281A-4132-BBAC-BF0783D6DA0D}" presName="sibTrans" presStyleLbl="sibTrans2D1" presStyleIdx="0" presStyleCnt="0"/>
      <dgm:spPr/>
    </dgm:pt>
    <dgm:pt modelId="{54ACBAEF-EC24-442A-81D9-CFE19AD49B46}" type="pres">
      <dgm:prSet presAssocID="{EA4E299D-DC17-4114-9285-AEC8D16432CA}" presName="compNode" presStyleCnt="0"/>
      <dgm:spPr/>
    </dgm:pt>
    <dgm:pt modelId="{02A405E6-54F9-4CBE-868F-0DE075C30437}" type="pres">
      <dgm:prSet presAssocID="{EA4E299D-DC17-4114-9285-AEC8D16432CA}" presName="pictRect" presStyleLbl="revTx" presStyleIdx="2" presStyleCnt="6">
        <dgm:presLayoutVars>
          <dgm:chMax val="0"/>
          <dgm:bulletEnabled/>
        </dgm:presLayoutVars>
      </dgm:prSet>
      <dgm:spPr/>
    </dgm:pt>
    <dgm:pt modelId="{A5EF71EF-5137-47A2-8109-216F0327A9FC}" type="pres">
      <dgm:prSet presAssocID="{EA4E299D-DC17-4114-9285-AEC8D16432CA}" presName="textRect" presStyleLbl="revTx" presStyleIdx="3" presStyleCnt="6">
        <dgm:presLayoutVars>
          <dgm:bulletEnabled/>
        </dgm:presLayoutVars>
      </dgm:prSet>
      <dgm:spPr/>
    </dgm:pt>
    <dgm:pt modelId="{8D789E27-CBAF-495C-AB03-7D4358920679}" type="pres">
      <dgm:prSet presAssocID="{2CB4AACB-DC0B-4E46-9D4A-458C2DA4FC56}" presName="sibTrans" presStyleLbl="sibTrans2D1" presStyleIdx="0" presStyleCnt="0"/>
      <dgm:spPr/>
    </dgm:pt>
    <dgm:pt modelId="{C7181745-9C7C-423D-BE7D-A70E808B8F2C}" type="pres">
      <dgm:prSet presAssocID="{C567B62D-D2D5-4047-9281-481AFFDD5052}" presName="compNode" presStyleCnt="0"/>
      <dgm:spPr/>
    </dgm:pt>
    <dgm:pt modelId="{CEA60D61-24B8-4BB3-8138-1799051ADBC2}" type="pres">
      <dgm:prSet presAssocID="{C567B62D-D2D5-4047-9281-481AFFDD5052}" presName="pictRect" presStyleLbl="revTx" presStyleIdx="4" presStyleCnt="6">
        <dgm:presLayoutVars>
          <dgm:chMax val="0"/>
          <dgm:bulletEnabled/>
        </dgm:presLayoutVars>
      </dgm:prSet>
      <dgm:spPr/>
    </dgm:pt>
    <dgm:pt modelId="{2963B37B-A1BB-45F3-A060-69E59B26C9F8}" type="pres">
      <dgm:prSet presAssocID="{C567B62D-D2D5-4047-9281-481AFFDD5052}" presName="textRect" presStyleLbl="revTx" presStyleIdx="5" presStyleCnt="6">
        <dgm:presLayoutVars>
          <dgm:bulletEnabled/>
        </dgm:presLayoutVars>
      </dgm:prSet>
      <dgm:spPr/>
    </dgm:pt>
  </dgm:ptLst>
  <dgm:cxnLst>
    <dgm:cxn modelId="{8CD7F30A-D56C-43E6-B580-DCF208BF544C}" srcId="{44220613-197C-44FD-843C-F77280A8AC29}" destId="{C567B62D-D2D5-4047-9281-481AFFDD5052}" srcOrd="2" destOrd="0" parTransId="{A5ED5B09-0C90-4A3F-9109-484ECC82B63F}" sibTransId="{6A9A9666-D915-40AC-ABDD-F02A95D5E95C}"/>
    <dgm:cxn modelId="{89947E12-95E6-4099-8490-54061F18DC46}" type="presOf" srcId="{760A5786-5BED-4293-BBBA-3AA2EB8910B7}" destId="{020BF6B8-AF96-4B6D-B0B3-94C2AE7BBB33}" srcOrd="0" destOrd="0" presId="urn:microsoft.com/office/officeart/2024/3/layout/hArchList1"/>
    <dgm:cxn modelId="{1E6FB328-3260-4211-BF36-F8CE40C1F692}" srcId="{44220613-197C-44FD-843C-F77280A8AC29}" destId="{CCDC7CF2-BF37-4F61-BFAB-DA564F5AAB5B}" srcOrd="0" destOrd="0" parTransId="{7794D935-87D5-4CC4-8708-1090917C7B43}" sibTransId="{0D21CF2C-281A-4132-BBAC-BF0783D6DA0D}"/>
    <dgm:cxn modelId="{CCA41135-2E51-4713-BCED-197208DDF0A3}" srcId="{CCDC7CF2-BF37-4F61-BFAB-DA564F5AAB5B}" destId="{760A5786-5BED-4293-BBBA-3AA2EB8910B7}" srcOrd="0" destOrd="0" parTransId="{52111DAB-6680-4CE3-8DF8-E882E30C73F5}" sibTransId="{20A92C02-8E32-4C8B-8708-B7D30DC9CBE1}"/>
    <dgm:cxn modelId="{3CE96964-802E-4A06-A977-DBD6384B3B40}" srcId="{44220613-197C-44FD-843C-F77280A8AC29}" destId="{EA4E299D-DC17-4114-9285-AEC8D16432CA}" srcOrd="1" destOrd="0" parTransId="{2ACA755E-C991-4B4C-B684-B90D81BBCEC9}" sibTransId="{2CB4AACB-DC0B-4E46-9D4A-458C2DA4FC56}"/>
    <dgm:cxn modelId="{EFB48B4A-AF66-4265-B6E6-64D4AF66E07C}" type="presOf" srcId="{C567B62D-D2D5-4047-9281-481AFFDD5052}" destId="{CEA60D61-24B8-4BB3-8138-1799051ADBC2}" srcOrd="0" destOrd="0" presId="urn:microsoft.com/office/officeart/2024/3/layout/hArchList1"/>
    <dgm:cxn modelId="{6B3CAD75-38FA-44EF-BEDA-A394918475BA}" type="presOf" srcId="{EA4E299D-DC17-4114-9285-AEC8D16432CA}" destId="{02A405E6-54F9-4CBE-868F-0DE075C30437}" srcOrd="0" destOrd="0" presId="urn:microsoft.com/office/officeart/2024/3/layout/hArchList1"/>
    <dgm:cxn modelId="{30B9428F-F1E5-4495-8C1D-940577CF544B}" type="presOf" srcId="{A7FE8556-B76C-4EFD-85DC-23421D3FE4DF}" destId="{2963B37B-A1BB-45F3-A060-69E59B26C9F8}" srcOrd="0" destOrd="0" presId="urn:microsoft.com/office/officeart/2024/3/layout/hArchList1"/>
    <dgm:cxn modelId="{7E1D72AD-C2C4-45B3-9095-402F4198BEEE}" type="presOf" srcId="{44220613-197C-44FD-843C-F77280A8AC29}" destId="{6A05D3BB-C7B0-4AC4-875A-70EE4F8A3838}" srcOrd="0" destOrd="0" presId="urn:microsoft.com/office/officeart/2024/3/layout/hArchList1"/>
    <dgm:cxn modelId="{B2B05CB0-CFC7-449C-A7D7-AD171FF282C0}" srcId="{C567B62D-D2D5-4047-9281-481AFFDD5052}" destId="{A7FE8556-B76C-4EFD-85DC-23421D3FE4DF}" srcOrd="0" destOrd="0" parTransId="{F8EE42CB-5823-44A5-BCE6-DAE280991CE6}" sibTransId="{031DE8B4-66F0-4B63-AA62-7FF46DC6F58B}"/>
    <dgm:cxn modelId="{7AED7CBC-4DA4-49D4-8D71-37A97E613F84}" type="presOf" srcId="{CCDC7CF2-BF37-4F61-BFAB-DA564F5AAB5B}" destId="{4CC28759-82CF-49EA-A8A4-4B5D334D8EB7}" srcOrd="0" destOrd="0" presId="urn:microsoft.com/office/officeart/2024/3/layout/hArchList1"/>
    <dgm:cxn modelId="{8756CAC3-DB57-4FC7-AFD4-A6F4B1C07407}" type="presOf" srcId="{0D21CF2C-281A-4132-BBAC-BF0783D6DA0D}" destId="{5FD06482-562B-43E5-BE9B-7B51B2173817}" srcOrd="0" destOrd="0" presId="urn:microsoft.com/office/officeart/2024/3/layout/hArchList1"/>
    <dgm:cxn modelId="{D461E2DA-D21F-4F6C-893D-6E1D5B054D8E}" srcId="{EA4E299D-DC17-4114-9285-AEC8D16432CA}" destId="{29E04E79-30D0-421A-BDE6-C6188A06DB4F}" srcOrd="0" destOrd="0" parTransId="{7A6CFC98-CDAE-44E7-9B40-5C736C9BEE4A}" sibTransId="{BC7B7C0C-1E6E-4976-878E-9596373C3D38}"/>
    <dgm:cxn modelId="{8D98A6E7-1D55-4A3D-B0AA-E82A688BCBB5}" type="presOf" srcId="{29E04E79-30D0-421A-BDE6-C6188A06DB4F}" destId="{A5EF71EF-5137-47A2-8109-216F0327A9FC}" srcOrd="0" destOrd="0" presId="urn:microsoft.com/office/officeart/2024/3/layout/hArchList1"/>
    <dgm:cxn modelId="{C3F1EBE9-0C9B-4DA6-A45B-2FFACF9CA63F}" type="presOf" srcId="{2CB4AACB-DC0B-4E46-9D4A-458C2DA4FC56}" destId="{8D789E27-CBAF-495C-AB03-7D4358920679}" srcOrd="0" destOrd="0" presId="urn:microsoft.com/office/officeart/2024/3/layout/hArchList1"/>
    <dgm:cxn modelId="{BB868159-E585-4407-9E0F-53031E82994F}" type="presParOf" srcId="{6A05D3BB-C7B0-4AC4-875A-70EE4F8A3838}" destId="{D5534BA6-62D8-4712-8E9A-1D7B56261561}" srcOrd="0" destOrd="0" presId="urn:microsoft.com/office/officeart/2024/3/layout/hArchList1"/>
    <dgm:cxn modelId="{7F05E064-C2B5-4B91-AAFD-CD3A1B664A0E}" type="presParOf" srcId="{D5534BA6-62D8-4712-8E9A-1D7B56261561}" destId="{4CC28759-82CF-49EA-A8A4-4B5D334D8EB7}" srcOrd="0" destOrd="0" presId="urn:microsoft.com/office/officeart/2024/3/layout/hArchList1"/>
    <dgm:cxn modelId="{5D3D693D-56BC-4B24-91A4-A3AFDD922C74}" type="presParOf" srcId="{D5534BA6-62D8-4712-8E9A-1D7B56261561}" destId="{020BF6B8-AF96-4B6D-B0B3-94C2AE7BBB33}" srcOrd="1" destOrd="0" presId="urn:microsoft.com/office/officeart/2024/3/layout/hArchList1"/>
    <dgm:cxn modelId="{939A73F2-546E-4460-95AC-6E0023FBCE40}" type="presParOf" srcId="{6A05D3BB-C7B0-4AC4-875A-70EE4F8A3838}" destId="{5FD06482-562B-43E5-BE9B-7B51B2173817}" srcOrd="1" destOrd="0" presId="urn:microsoft.com/office/officeart/2024/3/layout/hArchList1"/>
    <dgm:cxn modelId="{440AAAB3-5118-4A6E-9074-821C259D435C}" type="presParOf" srcId="{6A05D3BB-C7B0-4AC4-875A-70EE4F8A3838}" destId="{54ACBAEF-EC24-442A-81D9-CFE19AD49B46}" srcOrd="2" destOrd="0" presId="urn:microsoft.com/office/officeart/2024/3/layout/hArchList1"/>
    <dgm:cxn modelId="{2172878B-7B7B-476E-8287-900F6C0ACA43}" type="presParOf" srcId="{54ACBAEF-EC24-442A-81D9-CFE19AD49B46}" destId="{02A405E6-54F9-4CBE-868F-0DE075C30437}" srcOrd="0" destOrd="0" presId="urn:microsoft.com/office/officeart/2024/3/layout/hArchList1"/>
    <dgm:cxn modelId="{23D76D73-C658-4FA1-A173-170D3D95A24B}" type="presParOf" srcId="{54ACBAEF-EC24-442A-81D9-CFE19AD49B46}" destId="{A5EF71EF-5137-47A2-8109-216F0327A9FC}" srcOrd="1" destOrd="0" presId="urn:microsoft.com/office/officeart/2024/3/layout/hArchList1"/>
    <dgm:cxn modelId="{7F5BCDEC-E209-4B26-B8E7-72BB7C352825}" type="presParOf" srcId="{6A05D3BB-C7B0-4AC4-875A-70EE4F8A3838}" destId="{8D789E27-CBAF-495C-AB03-7D4358920679}" srcOrd="3" destOrd="0" presId="urn:microsoft.com/office/officeart/2024/3/layout/hArchList1"/>
    <dgm:cxn modelId="{13F9B974-8E4C-4234-B245-C16E47A3B797}" type="presParOf" srcId="{6A05D3BB-C7B0-4AC4-875A-70EE4F8A3838}" destId="{C7181745-9C7C-423D-BE7D-A70E808B8F2C}" srcOrd="4" destOrd="0" presId="urn:microsoft.com/office/officeart/2024/3/layout/hArchList1"/>
    <dgm:cxn modelId="{ADF6E4A5-BEE7-4ADA-B80F-5B4A161EA0C1}" type="presParOf" srcId="{C7181745-9C7C-423D-BE7D-A70E808B8F2C}" destId="{CEA60D61-24B8-4BB3-8138-1799051ADBC2}" srcOrd="0" destOrd="0" presId="urn:microsoft.com/office/officeart/2024/3/layout/hArchList1"/>
    <dgm:cxn modelId="{ACE05DCD-B8CF-4B98-97C9-0D2047C9F08D}" type="presParOf" srcId="{C7181745-9C7C-423D-BE7D-A70E808B8F2C}" destId="{2963B37B-A1BB-45F3-A060-69E59B26C9F8}"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8A29A-0D20-47E6-96B0-04CD6F763394}">
      <dsp:nvSpPr>
        <dsp:cNvPr id="0" name=""/>
        <dsp:cNvSpPr/>
      </dsp:nvSpPr>
      <dsp:spPr>
        <a:xfrm>
          <a:off x="0" y="0"/>
          <a:ext cx="1809729" cy="180972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r="43748" b="-3"/>
          <a:stretch/>
        </a:blipFill>
        <a:ln>
          <a:noFill/>
        </a:ln>
        <a:effectLst/>
      </dsp:spPr>
      <dsp:style>
        <a:lnRef idx="0">
          <a:scrgbClr r="0" g="0" b="0"/>
        </a:lnRef>
        <a:fillRef idx="3">
          <a:scrgbClr r="0" g="0" b="0"/>
        </a:fillRef>
        <a:effectRef idx="2">
          <a:scrgbClr r="0" g="0" b="0"/>
        </a:effectRef>
        <a:fontRef idx="minor">
          <a:schemeClr val="lt1"/>
        </a:fontRef>
      </dsp:style>
    </dsp:sp>
    <dsp:sp modelId="{0EC865BB-0E54-401C-AE7D-C6C975160727}">
      <dsp:nvSpPr>
        <dsp:cNvPr id="0" name=""/>
        <dsp:cNvSpPr/>
      </dsp:nvSpPr>
      <dsp:spPr>
        <a:xfrm>
          <a:off x="1989729" y="0"/>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Handling Punctuation</a:t>
          </a:r>
        </a:p>
      </dsp:txBody>
      <dsp:txXfrm>
        <a:off x="1989729" y="0"/>
        <a:ext cx="4200050" cy="368353"/>
      </dsp:txXfrm>
    </dsp:sp>
    <dsp:sp modelId="{53B36131-0114-4C8B-9D16-D6EBD1D66DC0}">
      <dsp:nvSpPr>
        <dsp:cNvPr id="0" name=""/>
        <dsp:cNvSpPr/>
      </dsp:nvSpPr>
      <dsp:spPr>
        <a:xfrm>
          <a:off x="1989729" y="368353"/>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One challenge in tokenization is managing punctuation effectively to ensure accurate text processing.</a:t>
          </a:r>
        </a:p>
      </dsp:txBody>
      <dsp:txXfrm>
        <a:off x="1989729" y="368353"/>
        <a:ext cx="4200050" cy="1441375"/>
      </dsp:txXfrm>
    </dsp:sp>
    <dsp:sp modelId="{16366944-BA8F-44A8-984A-F1B5D13E3475}">
      <dsp:nvSpPr>
        <dsp:cNvPr id="0" name=""/>
        <dsp:cNvSpPr/>
      </dsp:nvSpPr>
      <dsp:spPr>
        <a:xfrm>
          <a:off x="0" y="1954508"/>
          <a:ext cx="1809729" cy="180972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t="13779" r="-7" b="11215"/>
          <a:stretch/>
        </a:blipFill>
        <a:ln>
          <a:noFill/>
        </a:ln>
        <a:effectLst/>
      </dsp:spPr>
      <dsp:style>
        <a:lnRef idx="0">
          <a:scrgbClr r="0" g="0" b="0"/>
        </a:lnRef>
        <a:fillRef idx="3">
          <a:scrgbClr r="0" g="0" b="0"/>
        </a:fillRef>
        <a:effectRef idx="2">
          <a:scrgbClr r="0" g="0" b="0"/>
        </a:effectRef>
        <a:fontRef idx="minor">
          <a:schemeClr val="lt1"/>
        </a:fontRef>
      </dsp:style>
    </dsp:sp>
    <dsp:sp modelId="{94D50C51-CD3E-4063-B758-099DD3482345}">
      <dsp:nvSpPr>
        <dsp:cNvPr id="0" name=""/>
        <dsp:cNvSpPr/>
      </dsp:nvSpPr>
      <dsp:spPr>
        <a:xfrm>
          <a:off x="1989729" y="1954508"/>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Contextual Meanings</a:t>
          </a:r>
        </a:p>
      </dsp:txBody>
      <dsp:txXfrm>
        <a:off x="1989729" y="1954508"/>
        <a:ext cx="4200050" cy="368353"/>
      </dsp:txXfrm>
    </dsp:sp>
    <dsp:sp modelId="{6994C887-BCAB-463D-87BB-D74C74E45EE9}">
      <dsp:nvSpPr>
        <dsp:cNvPr id="0" name=""/>
        <dsp:cNvSpPr/>
      </dsp:nvSpPr>
      <dsp:spPr>
        <a:xfrm>
          <a:off x="1989729" y="2322862"/>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Distinguishing between different meanings of words in context is crucial for accurate tokenization.</a:t>
          </a:r>
        </a:p>
      </dsp:txBody>
      <dsp:txXfrm>
        <a:off x="1989729" y="2322862"/>
        <a:ext cx="4200050" cy="1441375"/>
      </dsp:txXfrm>
    </dsp:sp>
    <dsp:sp modelId="{6164E8DA-DAB3-47C9-97AB-23092806D6E2}">
      <dsp:nvSpPr>
        <dsp:cNvPr id="0" name=""/>
        <dsp:cNvSpPr/>
      </dsp:nvSpPr>
      <dsp:spPr>
        <a:xfrm>
          <a:off x="0" y="3909016"/>
          <a:ext cx="1809729" cy="180972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1007" r="22243"/>
          <a:stretch/>
        </a:blipFill>
        <a:ln>
          <a:noFill/>
        </a:ln>
        <a:effectLst/>
      </dsp:spPr>
      <dsp:style>
        <a:lnRef idx="0">
          <a:scrgbClr r="0" g="0" b="0"/>
        </a:lnRef>
        <a:fillRef idx="3">
          <a:scrgbClr r="0" g="0" b="0"/>
        </a:fillRef>
        <a:effectRef idx="2">
          <a:scrgbClr r="0" g="0" b="0"/>
        </a:effectRef>
        <a:fontRef idx="minor">
          <a:schemeClr val="lt1"/>
        </a:fontRef>
      </dsp:style>
    </dsp:sp>
    <dsp:sp modelId="{221B2FC4-CB1A-4090-AED8-4500A9ACCB6B}">
      <dsp:nvSpPr>
        <dsp:cNvPr id="0" name=""/>
        <dsp:cNvSpPr/>
      </dsp:nvSpPr>
      <dsp:spPr>
        <a:xfrm>
          <a:off x="1989729" y="3909016"/>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Languages Without Spaces</a:t>
          </a:r>
        </a:p>
      </dsp:txBody>
      <dsp:txXfrm>
        <a:off x="1989729" y="3909016"/>
        <a:ext cx="4200050" cy="368353"/>
      </dsp:txXfrm>
    </dsp:sp>
    <dsp:sp modelId="{7B7B7BCB-EDF5-4CC3-92C4-7287D1B49061}">
      <dsp:nvSpPr>
        <dsp:cNvPr id="0" name=""/>
        <dsp:cNvSpPr/>
      </dsp:nvSpPr>
      <dsp:spPr>
        <a:xfrm>
          <a:off x="1989729" y="4277370"/>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Tokenization is more complex in languages that do not use spaces, requiring innovative approaches.</a:t>
          </a:r>
        </a:p>
      </dsp:txBody>
      <dsp:txXfrm>
        <a:off x="1989729" y="4277370"/>
        <a:ext cx="4200050" cy="14413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FD48AF-5FD6-4CC5-9A94-47E18E31D3C5}">
      <dsp:nvSpPr>
        <dsp:cNvPr id="0" name=""/>
        <dsp:cNvSpPr/>
      </dsp:nvSpPr>
      <dsp:spPr>
        <a:xfrm>
          <a:off x="0" y="0"/>
          <a:ext cx="1809729" cy="180972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6445" r="26805"/>
          <a:stretch/>
        </a:blipFill>
        <a:ln>
          <a:noFill/>
        </a:ln>
        <a:effectLst/>
      </dsp:spPr>
      <dsp:style>
        <a:lnRef idx="0">
          <a:scrgbClr r="0" g="0" b="0"/>
        </a:lnRef>
        <a:fillRef idx="3">
          <a:scrgbClr r="0" g="0" b="0"/>
        </a:fillRef>
        <a:effectRef idx="2">
          <a:scrgbClr r="0" g="0" b="0"/>
        </a:effectRef>
        <a:fontRef idx="minor">
          <a:schemeClr val="lt1"/>
        </a:fontRef>
      </dsp:style>
    </dsp:sp>
    <dsp:sp modelId="{72279618-2414-401A-BB0F-91B274E744A2}">
      <dsp:nvSpPr>
        <dsp:cNvPr id="0" name=""/>
        <dsp:cNvSpPr/>
      </dsp:nvSpPr>
      <dsp:spPr>
        <a:xfrm>
          <a:off x="1989729" y="0"/>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Reduced Vocabulary Size</a:t>
          </a:r>
        </a:p>
      </dsp:txBody>
      <dsp:txXfrm>
        <a:off x="1989729" y="0"/>
        <a:ext cx="4200050" cy="368353"/>
      </dsp:txXfrm>
    </dsp:sp>
    <dsp:sp modelId="{3DD2F52A-0D7B-4022-9CCD-5F2ED6A7A84C}">
      <dsp:nvSpPr>
        <dsp:cNvPr id="0" name=""/>
        <dsp:cNvSpPr/>
      </dsp:nvSpPr>
      <dsp:spPr>
        <a:xfrm>
          <a:off x="1989729" y="368353"/>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BPE reduces the vocabulary size, making it easier to manage and process large datasets in NLP applications.</a:t>
          </a:r>
        </a:p>
      </dsp:txBody>
      <dsp:txXfrm>
        <a:off x="1989729" y="368353"/>
        <a:ext cx="4200050" cy="1441375"/>
      </dsp:txXfrm>
    </dsp:sp>
    <dsp:sp modelId="{F471C00C-5581-41CB-9ACD-9A132CA629C3}">
      <dsp:nvSpPr>
        <dsp:cNvPr id="0" name=""/>
        <dsp:cNvSpPr/>
      </dsp:nvSpPr>
      <dsp:spPr>
        <a:xfrm>
          <a:off x="0" y="1954508"/>
          <a:ext cx="1809729" cy="180972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r="33250"/>
          <a:stretch/>
        </a:blipFill>
        <a:ln>
          <a:noFill/>
        </a:ln>
        <a:effectLst/>
      </dsp:spPr>
      <dsp:style>
        <a:lnRef idx="0">
          <a:scrgbClr r="0" g="0" b="0"/>
        </a:lnRef>
        <a:fillRef idx="3">
          <a:scrgbClr r="0" g="0" b="0"/>
        </a:fillRef>
        <a:effectRef idx="2">
          <a:scrgbClr r="0" g="0" b="0"/>
        </a:effectRef>
        <a:fontRef idx="minor">
          <a:schemeClr val="lt1"/>
        </a:fontRef>
      </dsp:style>
    </dsp:sp>
    <dsp:sp modelId="{B81F755D-1F0F-4350-A01F-6B715F34A3A8}">
      <dsp:nvSpPr>
        <dsp:cNvPr id="0" name=""/>
        <dsp:cNvSpPr/>
      </dsp:nvSpPr>
      <dsp:spPr>
        <a:xfrm>
          <a:off x="1989729" y="1954508"/>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Handling of Rare Words</a:t>
          </a:r>
        </a:p>
      </dsp:txBody>
      <dsp:txXfrm>
        <a:off x="1989729" y="1954508"/>
        <a:ext cx="4200050" cy="368353"/>
      </dsp:txXfrm>
    </dsp:sp>
    <dsp:sp modelId="{92D14832-2574-4A4F-B137-0E3786D48A78}">
      <dsp:nvSpPr>
        <dsp:cNvPr id="0" name=""/>
        <dsp:cNvSpPr/>
      </dsp:nvSpPr>
      <dsp:spPr>
        <a:xfrm>
          <a:off x="1989729" y="2322862"/>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BPE provides better handling of rare words, improving the overall performance of language models.</a:t>
          </a:r>
        </a:p>
      </dsp:txBody>
      <dsp:txXfrm>
        <a:off x="1989729" y="2322862"/>
        <a:ext cx="4200050" cy="1441375"/>
      </dsp:txXfrm>
    </dsp:sp>
    <dsp:sp modelId="{FDF2860A-527F-408D-8B89-1B3AD5DCC5A9}">
      <dsp:nvSpPr>
        <dsp:cNvPr id="0" name=""/>
        <dsp:cNvSpPr/>
      </dsp:nvSpPr>
      <dsp:spPr>
        <a:xfrm>
          <a:off x="0" y="3909016"/>
          <a:ext cx="1809729" cy="180972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9081" r="14169"/>
          <a:stretch/>
        </a:blipFill>
        <a:ln>
          <a:noFill/>
        </a:ln>
        <a:effectLst/>
      </dsp:spPr>
      <dsp:style>
        <a:lnRef idx="0">
          <a:scrgbClr r="0" g="0" b="0"/>
        </a:lnRef>
        <a:fillRef idx="3">
          <a:scrgbClr r="0" g="0" b="0"/>
        </a:fillRef>
        <a:effectRef idx="2">
          <a:scrgbClr r="0" g="0" b="0"/>
        </a:effectRef>
        <a:fontRef idx="minor">
          <a:schemeClr val="lt1"/>
        </a:fontRef>
      </dsp:style>
    </dsp:sp>
    <dsp:sp modelId="{33ABE45E-F4FC-4C23-8411-871D96E0B329}">
      <dsp:nvSpPr>
        <dsp:cNvPr id="0" name=""/>
        <dsp:cNvSpPr/>
      </dsp:nvSpPr>
      <dsp:spPr>
        <a:xfrm>
          <a:off x="1989729" y="3909016"/>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Applications in NLP</a:t>
          </a:r>
        </a:p>
      </dsp:txBody>
      <dsp:txXfrm>
        <a:off x="1989729" y="3909016"/>
        <a:ext cx="4200050" cy="368353"/>
      </dsp:txXfrm>
    </dsp:sp>
    <dsp:sp modelId="{E151A547-58B8-4D8B-B1E5-621F8A359F82}">
      <dsp:nvSpPr>
        <dsp:cNvPr id="0" name=""/>
        <dsp:cNvSpPr/>
      </dsp:nvSpPr>
      <dsp:spPr>
        <a:xfrm>
          <a:off x="1989729" y="4277370"/>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BPE is widely used in modern NLP applications, enhancing text representation in models like transformers and neural networks.</a:t>
          </a:r>
        </a:p>
      </dsp:txBody>
      <dsp:txXfrm>
        <a:off x="1989729" y="4277370"/>
        <a:ext cx="4200050" cy="14413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C28759-82CF-49EA-A8A4-4B5D334D8EB7}">
      <dsp:nvSpPr>
        <dsp:cNvPr id="0" name=""/>
        <dsp:cNvSpPr/>
      </dsp:nvSpPr>
      <dsp:spPr>
        <a:xfrm>
          <a:off x="0" y="0"/>
          <a:ext cx="3403282" cy="35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Importance of Tokenization</a:t>
          </a:r>
        </a:p>
      </dsp:txBody>
      <dsp:txXfrm>
        <a:off x="0" y="0"/>
        <a:ext cx="3403282" cy="355310"/>
      </dsp:txXfrm>
    </dsp:sp>
    <dsp:sp modelId="{020BF6B8-AF96-4B6D-B0B3-94C2AE7BBB33}">
      <dsp:nvSpPr>
        <dsp:cNvPr id="0" name=""/>
        <dsp:cNvSpPr/>
      </dsp:nvSpPr>
      <dsp:spPr>
        <a:xfrm>
          <a:off x="0" y="355310"/>
          <a:ext cx="3403282" cy="2132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Tokenization is a crucial step in natural language processing, breaking text into manageable pieces for analysis.</a:t>
          </a:r>
        </a:p>
      </dsp:txBody>
      <dsp:txXfrm>
        <a:off x="0" y="355310"/>
        <a:ext cx="3403282" cy="2132893"/>
      </dsp:txXfrm>
    </dsp:sp>
    <dsp:sp modelId="{02A405E6-54F9-4CBE-868F-0DE075C30437}">
      <dsp:nvSpPr>
        <dsp:cNvPr id="0" name=""/>
        <dsp:cNvSpPr/>
      </dsp:nvSpPr>
      <dsp:spPr>
        <a:xfrm>
          <a:off x="3743610" y="0"/>
          <a:ext cx="3403282" cy="35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Role of Embeddings</a:t>
          </a:r>
        </a:p>
      </dsp:txBody>
      <dsp:txXfrm>
        <a:off x="3743610" y="0"/>
        <a:ext cx="3403282" cy="355310"/>
      </dsp:txXfrm>
    </dsp:sp>
    <dsp:sp modelId="{A5EF71EF-5137-47A2-8109-216F0327A9FC}">
      <dsp:nvSpPr>
        <dsp:cNvPr id="0" name=""/>
        <dsp:cNvSpPr/>
      </dsp:nvSpPr>
      <dsp:spPr>
        <a:xfrm>
          <a:off x="3743610" y="355310"/>
          <a:ext cx="3403282" cy="2132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Embeddings provide a way to represent words in a continuous vector space, enabling meaningful comparisons and computations.</a:t>
          </a:r>
        </a:p>
      </dsp:txBody>
      <dsp:txXfrm>
        <a:off x="3743610" y="355310"/>
        <a:ext cx="3403282" cy="2132893"/>
      </dsp:txXfrm>
    </dsp:sp>
    <dsp:sp modelId="{CEA60D61-24B8-4BB3-8138-1799051ADBC2}">
      <dsp:nvSpPr>
        <dsp:cNvPr id="0" name=""/>
        <dsp:cNvSpPr/>
      </dsp:nvSpPr>
      <dsp:spPr>
        <a:xfrm>
          <a:off x="7487221" y="0"/>
          <a:ext cx="3403282" cy="35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Future of NLP</a:t>
          </a:r>
        </a:p>
      </dsp:txBody>
      <dsp:txXfrm>
        <a:off x="7487221" y="0"/>
        <a:ext cx="3403282" cy="355310"/>
      </dsp:txXfrm>
    </dsp:sp>
    <dsp:sp modelId="{2963B37B-A1BB-45F3-A060-69E59B26C9F8}">
      <dsp:nvSpPr>
        <dsp:cNvPr id="0" name=""/>
        <dsp:cNvSpPr/>
      </dsp:nvSpPr>
      <dsp:spPr>
        <a:xfrm>
          <a:off x="7487221" y="355310"/>
          <a:ext cx="3403282" cy="2132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As technology evolves, tokenization and embedding techniques will continue to advance, impacting NLP applications and development.</a:t>
          </a:r>
        </a:p>
      </dsp:txBody>
      <dsp:txXfrm>
        <a:off x="7487221" y="355310"/>
        <a:ext cx="3403282" cy="2132893"/>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E1A22-1023-4C4A-AFAC-43F2CD903580}" type="datetimeFigureOut">
              <a:rPr lang="en-US" smtClean="0"/>
              <a:t>3/15/2025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A47043-4141-4750-8594-9E55E65293D9}" type="slidenum">
              <a:rPr lang="en-US" smtClean="0"/>
              <a:t>‹#›</a:t>
            </a:fld>
            <a:endParaRPr lang="en-US"/>
          </a:p>
        </p:txBody>
      </p:sp>
    </p:spTree>
    <p:extLst>
      <p:ext uri="{BB962C8B-B14F-4D97-AF65-F5344CB8AC3E}">
        <p14:creationId xmlns:p14="http://schemas.microsoft.com/office/powerpoint/2010/main" val="301734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This presentation will provide an in-depth understanding of tokenization and embedding in NLP. We will explore basic concepts, techniques like Byte Pair Encoding, the fundamentals of embedding, and the role of embedding layers in large language models. Finally, we will discuss practical applications and future directions in this field.
</a:t>
            </a:r>
          </a:p>
        </p:txBody>
      </p:sp>
      <p:sp>
        <p:nvSpPr>
          <p:cNvPr id="4" name="Slide Number Placeholder 3"/>
          <p:cNvSpPr>
            <a:spLocks noGrp="1"/>
          </p:cNvSpPr>
          <p:nvPr>
            <p:ph type="sldNum" sz="quarter" idx="5"/>
          </p:nvPr>
        </p:nvSpPr>
        <p:spPr/>
        <p:txBody>
          <a:bodyPr/>
          <a:lstStyle/>
          <a:p>
            <a:fld id="{14FD2C8F-BE1D-4184-9EEC-EF7B44FBE777}" type="slidenum">
              <a:rPr lang="en-US" smtClean="0"/>
              <a:t>1</a:t>
            </a:fld>
            <a:endParaRPr lang="en-US"/>
          </a:p>
        </p:txBody>
      </p:sp>
    </p:spTree>
    <p:extLst>
      <p:ext uri="{BB962C8B-B14F-4D97-AF65-F5344CB8AC3E}">
        <p14:creationId xmlns:p14="http://schemas.microsoft.com/office/powerpoint/2010/main" val="4261840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presentation, we will cover the basic concepts of tokenization, including its definition, types, and challenges. We will look at Byte Pair Encoding as a tokenization method, discuss the fundamentals of embedding in NLP, and explore the embedding layer in large language models. Lastly, we will examine practical applications and future trends in NLP.</a:t>
            </a:r>
          </a:p>
        </p:txBody>
      </p:sp>
      <p:sp>
        <p:nvSpPr>
          <p:cNvPr id="4" name="Slide Number Placeholder 3"/>
          <p:cNvSpPr>
            <a:spLocks noGrp="1"/>
          </p:cNvSpPr>
          <p:nvPr>
            <p:ph type="sldNum" sz="quarter" idx="5"/>
          </p:nvPr>
        </p:nvSpPr>
        <p:spPr/>
        <p:txBody>
          <a:bodyPr/>
          <a:lstStyle/>
          <a:p>
            <a:fld id="{14FD2C8F-BE1D-4184-9EEC-EF7B44FBE777}" type="slidenum">
              <a:rPr lang="en-US" smtClean="0"/>
              <a:t>2</a:t>
            </a:fld>
            <a:endParaRPr lang="en-US"/>
          </a:p>
        </p:txBody>
      </p:sp>
    </p:spTree>
    <p:extLst>
      <p:ext uri="{BB962C8B-B14F-4D97-AF65-F5344CB8AC3E}">
        <p14:creationId xmlns:p14="http://schemas.microsoft.com/office/powerpoint/2010/main" val="3932926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Tokenization is a fundamental step in NLP that involves breaking text into smaller units, or tokens. Understanding this process is crucial for transforming raw text into a format suitable for analysis and modeling.</a:t>
            </a:r>
          </a:p>
        </p:txBody>
      </p:sp>
      <p:sp>
        <p:nvSpPr>
          <p:cNvPr id="4" name="Slide Number Placeholder 3"/>
          <p:cNvSpPr>
            <a:spLocks noGrp="1"/>
          </p:cNvSpPr>
          <p:nvPr>
            <p:ph type="sldNum" sz="quarter" idx="5"/>
          </p:nvPr>
        </p:nvSpPr>
        <p:spPr/>
        <p:txBody>
          <a:bodyPr/>
          <a:lstStyle/>
          <a:p>
            <a:fld id="{14FD2C8F-BE1D-4184-9EEC-EF7B44FBE777}" type="slidenum">
              <a:rPr lang="en-US" smtClean="0"/>
              <a:t>3</a:t>
            </a:fld>
            <a:endParaRPr lang="en-US"/>
          </a:p>
        </p:txBody>
      </p:sp>
    </p:spTree>
    <p:extLst>
      <p:ext uri="{BB962C8B-B14F-4D97-AF65-F5344CB8AC3E}">
        <p14:creationId xmlns:p14="http://schemas.microsoft.com/office/powerpoint/2010/main" val="1025826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Tokenization is the process of dividing text into meaningful components, such as words or phrases. It is important because it helps machines understand and process text data, enabling further analysis and applications in NLP.</a:t>
            </a:r>
          </a:p>
        </p:txBody>
      </p:sp>
      <p:sp>
        <p:nvSpPr>
          <p:cNvPr id="4" name="Slide Number Placeholder 3"/>
          <p:cNvSpPr>
            <a:spLocks noGrp="1"/>
          </p:cNvSpPr>
          <p:nvPr>
            <p:ph type="sldNum" sz="quarter" idx="5"/>
          </p:nvPr>
        </p:nvSpPr>
        <p:spPr/>
        <p:txBody>
          <a:bodyPr/>
          <a:lstStyle/>
          <a:p>
            <a:fld id="{14FD2C8F-BE1D-4184-9EEC-EF7B44FBE777}" type="slidenum">
              <a:rPr lang="en-US" smtClean="0"/>
              <a:t>4</a:t>
            </a:fld>
            <a:endParaRPr lang="en-US"/>
          </a:p>
        </p:txBody>
      </p:sp>
    </p:spTree>
    <p:extLst>
      <p:ext uri="{BB962C8B-B14F-4D97-AF65-F5344CB8AC3E}">
        <p14:creationId xmlns:p14="http://schemas.microsoft.com/office/powerpoint/2010/main" val="3381503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Tokenization can be categorized into different types: word tokenization, which divides text into words; character tokenization, which splits text into individual characters; and subword tokenization, which breaks down words into smaller meaningful units. Each type has its advantages and is used in various NLP tasks.</a:t>
            </a:r>
          </a:p>
        </p:txBody>
      </p:sp>
      <p:sp>
        <p:nvSpPr>
          <p:cNvPr id="4" name="Slide Number Placeholder 3"/>
          <p:cNvSpPr>
            <a:spLocks noGrp="1"/>
          </p:cNvSpPr>
          <p:nvPr>
            <p:ph type="sldNum" sz="quarter" idx="5"/>
          </p:nvPr>
        </p:nvSpPr>
        <p:spPr/>
        <p:txBody>
          <a:bodyPr/>
          <a:lstStyle/>
          <a:p>
            <a:fld id="{14FD2C8F-BE1D-4184-9EEC-EF7B44FBE777}" type="slidenum">
              <a:rPr lang="en-US" smtClean="0"/>
              <a:t>5</a:t>
            </a:fld>
            <a:endParaRPr lang="en-US"/>
          </a:p>
        </p:txBody>
      </p:sp>
    </p:spTree>
    <p:extLst>
      <p:ext uri="{BB962C8B-B14F-4D97-AF65-F5344CB8AC3E}">
        <p14:creationId xmlns:p14="http://schemas.microsoft.com/office/powerpoint/2010/main" val="2523833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Tokenization presents several challenges, including handling punctuation, distinguishing between different meanings in context, and dealing with languages that do not use spaces. Addressing these challenges is crucial for effective text processing.</a:t>
            </a:r>
          </a:p>
        </p:txBody>
      </p:sp>
      <p:sp>
        <p:nvSpPr>
          <p:cNvPr id="4" name="Slide Number Placeholder 3"/>
          <p:cNvSpPr>
            <a:spLocks noGrp="1"/>
          </p:cNvSpPr>
          <p:nvPr>
            <p:ph type="sldNum" sz="quarter" idx="5"/>
          </p:nvPr>
        </p:nvSpPr>
        <p:spPr/>
        <p:txBody>
          <a:bodyPr/>
          <a:lstStyle/>
          <a:p>
            <a:fld id="{14FD2C8F-BE1D-4184-9EEC-EF7B44FBE777}" type="slidenum">
              <a:rPr lang="en-US" smtClean="0"/>
              <a:t>6</a:t>
            </a:fld>
            <a:endParaRPr lang="en-US"/>
          </a:p>
        </p:txBody>
      </p:sp>
    </p:spTree>
    <p:extLst>
      <p:ext uri="{BB962C8B-B14F-4D97-AF65-F5344CB8AC3E}">
        <p14:creationId xmlns:p14="http://schemas.microsoft.com/office/powerpoint/2010/main" val="3516508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Byte Pair Encoding (BPE) is a popular subword tokenization technique that helps address the limitations of traditional tokenization methods. It merges the most frequent pairs of characters or subwords, allowing for a more efficient representation of text.</a:t>
            </a:r>
          </a:p>
        </p:txBody>
      </p:sp>
      <p:sp>
        <p:nvSpPr>
          <p:cNvPr id="4" name="Slide Number Placeholder 3"/>
          <p:cNvSpPr>
            <a:spLocks noGrp="1"/>
          </p:cNvSpPr>
          <p:nvPr>
            <p:ph type="sldNum" sz="quarter" idx="5"/>
          </p:nvPr>
        </p:nvSpPr>
        <p:spPr/>
        <p:txBody>
          <a:bodyPr/>
          <a:lstStyle/>
          <a:p>
            <a:fld id="{14FD2C8F-BE1D-4184-9EEC-EF7B44FBE777}" type="slidenum">
              <a:rPr lang="en-US" smtClean="0"/>
              <a:t>7</a:t>
            </a:fld>
            <a:endParaRPr lang="en-US"/>
          </a:p>
        </p:txBody>
      </p:sp>
    </p:spTree>
    <p:extLst>
      <p:ext uri="{BB962C8B-B14F-4D97-AF65-F5344CB8AC3E}">
        <p14:creationId xmlns:p14="http://schemas.microsoft.com/office/powerpoint/2010/main" val="18275407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BPE is an algorithmic approach to tokenization that iteratively replaces the most frequent pairs of bytes or characters with a single, unused byte or character. This method helps in handling out-of-vocabulary words and reducing the vocabulary size.</a:t>
            </a:r>
          </a:p>
        </p:txBody>
      </p:sp>
      <p:sp>
        <p:nvSpPr>
          <p:cNvPr id="4" name="Slide Number Placeholder 3"/>
          <p:cNvSpPr>
            <a:spLocks noGrp="1"/>
          </p:cNvSpPr>
          <p:nvPr>
            <p:ph type="sldNum" sz="quarter" idx="5"/>
          </p:nvPr>
        </p:nvSpPr>
        <p:spPr/>
        <p:txBody>
          <a:bodyPr/>
          <a:lstStyle/>
          <a:p>
            <a:fld id="{14FD2C8F-BE1D-4184-9EEC-EF7B44FBE777}" type="slidenum">
              <a:rPr lang="en-US" smtClean="0"/>
              <a:t>8</a:t>
            </a:fld>
            <a:endParaRPr lang="en-US"/>
          </a:p>
        </p:txBody>
      </p:sp>
    </p:spTree>
    <p:extLst>
      <p:ext uri="{BB962C8B-B14F-4D97-AF65-F5344CB8AC3E}">
        <p14:creationId xmlns:p14="http://schemas.microsoft.com/office/powerpoint/2010/main" val="3513083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BPE algorithm starts with a list of all characters in the text and iteratively merges the most common pairs into new tokens. This process continues until a predefined vocabulary size is reached, effectively balancing the need for comprehensiveness and efficiency.</a:t>
            </a:r>
          </a:p>
        </p:txBody>
      </p:sp>
      <p:sp>
        <p:nvSpPr>
          <p:cNvPr id="4" name="Slide Number Placeholder 3"/>
          <p:cNvSpPr>
            <a:spLocks noGrp="1"/>
          </p:cNvSpPr>
          <p:nvPr>
            <p:ph type="sldNum" sz="quarter" idx="5"/>
          </p:nvPr>
        </p:nvSpPr>
        <p:spPr/>
        <p:txBody>
          <a:bodyPr/>
          <a:lstStyle/>
          <a:p>
            <a:fld id="{14FD2C8F-BE1D-4184-9EEC-EF7B44FBE777}" type="slidenum">
              <a:rPr lang="en-US" smtClean="0"/>
              <a:t>9</a:t>
            </a:fld>
            <a:endParaRPr lang="en-US"/>
          </a:p>
        </p:txBody>
      </p:sp>
    </p:spTree>
    <p:extLst>
      <p:ext uri="{BB962C8B-B14F-4D97-AF65-F5344CB8AC3E}">
        <p14:creationId xmlns:p14="http://schemas.microsoft.com/office/powerpoint/2010/main" val="31311522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BPE has several advantages, including reduced vocabulary size and better handling of rare words. It is widely used in modern NLP applications, particularly in language models that require efficient and accurate text representation.</a:t>
            </a:r>
          </a:p>
        </p:txBody>
      </p:sp>
      <p:sp>
        <p:nvSpPr>
          <p:cNvPr id="4" name="Slide Number Placeholder 3"/>
          <p:cNvSpPr>
            <a:spLocks noGrp="1"/>
          </p:cNvSpPr>
          <p:nvPr>
            <p:ph type="sldNum" sz="quarter" idx="5"/>
          </p:nvPr>
        </p:nvSpPr>
        <p:spPr/>
        <p:txBody>
          <a:bodyPr/>
          <a:lstStyle/>
          <a:p>
            <a:fld id="{14FD2C8F-BE1D-4184-9EEC-EF7B44FBE777}" type="slidenum">
              <a:rPr lang="en-US" smtClean="0"/>
              <a:t>10</a:t>
            </a:fld>
            <a:endParaRPr lang="en-US"/>
          </a:p>
        </p:txBody>
      </p:sp>
    </p:spTree>
    <p:extLst>
      <p:ext uri="{BB962C8B-B14F-4D97-AF65-F5344CB8AC3E}">
        <p14:creationId xmlns:p14="http://schemas.microsoft.com/office/powerpoint/2010/main" val="1612127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Embeddings are a crucial part of NLP that allows words or phrases to be represented as vectors in a continuous vector space. This representation helps capture semantic relationships and contextual information.</a:t>
            </a:r>
          </a:p>
        </p:txBody>
      </p:sp>
      <p:sp>
        <p:nvSpPr>
          <p:cNvPr id="4" name="Slide Number Placeholder 3"/>
          <p:cNvSpPr>
            <a:spLocks noGrp="1"/>
          </p:cNvSpPr>
          <p:nvPr>
            <p:ph type="sldNum" sz="quarter" idx="5"/>
          </p:nvPr>
        </p:nvSpPr>
        <p:spPr/>
        <p:txBody>
          <a:bodyPr/>
          <a:lstStyle/>
          <a:p>
            <a:fld id="{14FD2C8F-BE1D-4184-9EEC-EF7B44FBE777}" type="slidenum">
              <a:rPr lang="en-US" smtClean="0"/>
              <a:t>11</a:t>
            </a:fld>
            <a:endParaRPr lang="en-US"/>
          </a:p>
        </p:txBody>
      </p:sp>
    </p:spTree>
    <p:extLst>
      <p:ext uri="{BB962C8B-B14F-4D97-AF65-F5344CB8AC3E}">
        <p14:creationId xmlns:p14="http://schemas.microsoft.com/office/powerpoint/2010/main" val="1405247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NLP, embedding refers to the mapping of discrete tokens (like words) to continuous vector spaces. This process allows algorithms to understand semantic meanings, enabling machines to perform better in tasks like translation, sentiment analysis, and more.</a:t>
            </a:r>
          </a:p>
        </p:txBody>
      </p:sp>
      <p:sp>
        <p:nvSpPr>
          <p:cNvPr id="4" name="Slide Number Placeholder 3"/>
          <p:cNvSpPr>
            <a:spLocks noGrp="1"/>
          </p:cNvSpPr>
          <p:nvPr>
            <p:ph type="sldNum" sz="quarter" idx="5"/>
          </p:nvPr>
        </p:nvSpPr>
        <p:spPr/>
        <p:txBody>
          <a:bodyPr/>
          <a:lstStyle/>
          <a:p>
            <a:fld id="{14FD2C8F-BE1D-4184-9EEC-EF7B44FBE777}" type="slidenum">
              <a:rPr lang="en-US" smtClean="0"/>
              <a:t>12</a:t>
            </a:fld>
            <a:endParaRPr lang="en-US"/>
          </a:p>
        </p:txBody>
      </p:sp>
    </p:spTree>
    <p:extLst>
      <p:ext uri="{BB962C8B-B14F-4D97-AF65-F5344CB8AC3E}">
        <p14:creationId xmlns:p14="http://schemas.microsoft.com/office/powerpoint/2010/main" val="112796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Embeddings are essential in NLP because they enable models to grasp linguistic features and relationships between words. They improve performance on various tasks, allowing for better context understanding and generalization.</a:t>
            </a:r>
          </a:p>
        </p:txBody>
      </p:sp>
      <p:sp>
        <p:nvSpPr>
          <p:cNvPr id="4" name="Slide Number Placeholder 3"/>
          <p:cNvSpPr>
            <a:spLocks noGrp="1"/>
          </p:cNvSpPr>
          <p:nvPr>
            <p:ph type="sldNum" sz="quarter" idx="5"/>
          </p:nvPr>
        </p:nvSpPr>
        <p:spPr/>
        <p:txBody>
          <a:bodyPr/>
          <a:lstStyle/>
          <a:p>
            <a:fld id="{14FD2C8F-BE1D-4184-9EEC-EF7B44FBE777}" type="slidenum">
              <a:rPr lang="en-US" smtClean="0"/>
              <a:t>13</a:t>
            </a:fld>
            <a:endParaRPr lang="en-US"/>
          </a:p>
        </p:txBody>
      </p:sp>
    </p:spTree>
    <p:extLst>
      <p:ext uri="{BB962C8B-B14F-4D97-AF65-F5344CB8AC3E}">
        <p14:creationId xmlns:p14="http://schemas.microsoft.com/office/powerpoint/2010/main" val="42691555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Some common embedding techniques include Word2Vec, GloVe, and FastText. These methods differ in how they create word vectors and capture semantic similarities, each with its own strengths and applications.</a:t>
            </a:r>
          </a:p>
        </p:txBody>
      </p:sp>
      <p:sp>
        <p:nvSpPr>
          <p:cNvPr id="4" name="Slide Number Placeholder 3"/>
          <p:cNvSpPr>
            <a:spLocks noGrp="1"/>
          </p:cNvSpPr>
          <p:nvPr>
            <p:ph type="sldNum" sz="quarter" idx="5"/>
          </p:nvPr>
        </p:nvSpPr>
        <p:spPr/>
        <p:txBody>
          <a:bodyPr/>
          <a:lstStyle/>
          <a:p>
            <a:fld id="{14FD2C8F-BE1D-4184-9EEC-EF7B44FBE777}" type="slidenum">
              <a:rPr lang="en-US" smtClean="0"/>
              <a:t>14</a:t>
            </a:fld>
            <a:endParaRPr lang="en-US"/>
          </a:p>
        </p:txBody>
      </p:sp>
    </p:spTree>
    <p:extLst>
      <p:ext uri="{BB962C8B-B14F-4D97-AF65-F5344CB8AC3E}">
        <p14:creationId xmlns:p14="http://schemas.microsoft.com/office/powerpoint/2010/main" val="10259747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Large language models incorporate embeddings to process and generate text efficiently. The embedding layer is critical for transforming input text into numerical representations that the model can understand.</a:t>
            </a:r>
          </a:p>
        </p:txBody>
      </p:sp>
      <p:sp>
        <p:nvSpPr>
          <p:cNvPr id="4" name="Slide Number Placeholder 3"/>
          <p:cNvSpPr>
            <a:spLocks noGrp="1"/>
          </p:cNvSpPr>
          <p:nvPr>
            <p:ph type="sldNum" sz="quarter" idx="5"/>
          </p:nvPr>
        </p:nvSpPr>
        <p:spPr/>
        <p:txBody>
          <a:bodyPr/>
          <a:lstStyle/>
          <a:p>
            <a:fld id="{14FD2C8F-BE1D-4184-9EEC-EF7B44FBE777}" type="slidenum">
              <a:rPr lang="en-US" smtClean="0"/>
              <a:t>15</a:t>
            </a:fld>
            <a:endParaRPr lang="en-US"/>
          </a:p>
        </p:txBody>
      </p:sp>
    </p:spTree>
    <p:extLst>
      <p:ext uri="{BB962C8B-B14F-4D97-AF65-F5344CB8AC3E}">
        <p14:creationId xmlns:p14="http://schemas.microsoft.com/office/powerpoint/2010/main" val="413745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Large language models, such as GPT and BERT, leverage vast amounts of data and sophisticated architectures to understand and generate human-like text. The embedding layer is a foundational component of these models.</a:t>
            </a:r>
          </a:p>
        </p:txBody>
      </p:sp>
      <p:sp>
        <p:nvSpPr>
          <p:cNvPr id="4" name="Slide Number Placeholder 3"/>
          <p:cNvSpPr>
            <a:spLocks noGrp="1"/>
          </p:cNvSpPr>
          <p:nvPr>
            <p:ph type="sldNum" sz="quarter" idx="5"/>
          </p:nvPr>
        </p:nvSpPr>
        <p:spPr/>
        <p:txBody>
          <a:bodyPr/>
          <a:lstStyle/>
          <a:p>
            <a:fld id="{14FD2C8F-BE1D-4184-9EEC-EF7B44FBE777}" type="slidenum">
              <a:rPr lang="en-US" smtClean="0"/>
              <a:t>16</a:t>
            </a:fld>
            <a:endParaRPr lang="en-US"/>
          </a:p>
        </p:txBody>
      </p:sp>
    </p:spTree>
    <p:extLst>
      <p:ext uri="{BB962C8B-B14F-4D97-AF65-F5344CB8AC3E}">
        <p14:creationId xmlns:p14="http://schemas.microsoft.com/office/powerpoint/2010/main" val="25553752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embedding layer in large language models serves to convert input text into dense vectors. This transformation allows the models to process text more effectively and capture intricate relationships between words and phrases.</a:t>
            </a:r>
          </a:p>
        </p:txBody>
      </p:sp>
      <p:sp>
        <p:nvSpPr>
          <p:cNvPr id="4" name="Slide Number Placeholder 3"/>
          <p:cNvSpPr>
            <a:spLocks noGrp="1"/>
          </p:cNvSpPr>
          <p:nvPr>
            <p:ph type="sldNum" sz="quarter" idx="5"/>
          </p:nvPr>
        </p:nvSpPr>
        <p:spPr/>
        <p:txBody>
          <a:bodyPr/>
          <a:lstStyle/>
          <a:p>
            <a:fld id="{14FD2C8F-BE1D-4184-9EEC-EF7B44FBE777}" type="slidenum">
              <a:rPr lang="en-US" smtClean="0"/>
              <a:t>17</a:t>
            </a:fld>
            <a:endParaRPr lang="en-US"/>
          </a:p>
        </p:txBody>
      </p:sp>
    </p:spTree>
    <p:extLst>
      <p:ext uri="{BB962C8B-B14F-4D97-AF65-F5344CB8AC3E}">
        <p14:creationId xmlns:p14="http://schemas.microsoft.com/office/powerpoint/2010/main" val="23308613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large language models, embeddings are generated using learned representations from training data. These embeddings are adjusted during training to minimize error, resulting in effective contextual representations for understanding and generating text.</a:t>
            </a:r>
          </a:p>
        </p:txBody>
      </p:sp>
      <p:sp>
        <p:nvSpPr>
          <p:cNvPr id="4" name="Slide Number Placeholder 3"/>
          <p:cNvSpPr>
            <a:spLocks noGrp="1"/>
          </p:cNvSpPr>
          <p:nvPr>
            <p:ph type="sldNum" sz="quarter" idx="5"/>
          </p:nvPr>
        </p:nvSpPr>
        <p:spPr/>
        <p:txBody>
          <a:bodyPr/>
          <a:lstStyle/>
          <a:p>
            <a:fld id="{14FD2C8F-BE1D-4184-9EEC-EF7B44FBE777}" type="slidenum">
              <a:rPr lang="en-US" smtClean="0"/>
              <a:t>18</a:t>
            </a:fld>
            <a:endParaRPr lang="en-US"/>
          </a:p>
        </p:txBody>
      </p:sp>
    </p:spTree>
    <p:extLst>
      <p:ext uri="{BB962C8B-B14F-4D97-AF65-F5344CB8AC3E}">
        <p14:creationId xmlns:p14="http://schemas.microsoft.com/office/powerpoint/2010/main" val="40102155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Tokenization and embedding are foundational concepts in NLP, with numerous applications in various domains. As technology advances, there are exciting opportunities for further improvements and innovative applications.</a:t>
            </a:r>
          </a:p>
        </p:txBody>
      </p:sp>
      <p:sp>
        <p:nvSpPr>
          <p:cNvPr id="4" name="Slide Number Placeholder 3"/>
          <p:cNvSpPr>
            <a:spLocks noGrp="1"/>
          </p:cNvSpPr>
          <p:nvPr>
            <p:ph type="sldNum" sz="quarter" idx="5"/>
          </p:nvPr>
        </p:nvSpPr>
        <p:spPr/>
        <p:txBody>
          <a:bodyPr/>
          <a:lstStyle/>
          <a:p>
            <a:fld id="{14FD2C8F-BE1D-4184-9EEC-EF7B44FBE777}" type="slidenum">
              <a:rPr lang="en-US" smtClean="0"/>
              <a:t>19</a:t>
            </a:fld>
            <a:endParaRPr lang="en-US"/>
          </a:p>
        </p:txBody>
      </p:sp>
    </p:spTree>
    <p:extLst>
      <p:ext uri="{BB962C8B-B14F-4D97-AF65-F5344CB8AC3E}">
        <p14:creationId xmlns:p14="http://schemas.microsoft.com/office/powerpoint/2010/main" val="30767307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Tokenization and embedding techniques are applied in diverse areas, including sentiment analysis, machine translation, chatbot development, and information retrieval. Their effectiveness is evident in many modern NLP applications.</a:t>
            </a:r>
          </a:p>
        </p:txBody>
      </p:sp>
      <p:sp>
        <p:nvSpPr>
          <p:cNvPr id="4" name="Slide Number Placeholder 3"/>
          <p:cNvSpPr>
            <a:spLocks noGrp="1"/>
          </p:cNvSpPr>
          <p:nvPr>
            <p:ph type="sldNum" sz="quarter" idx="5"/>
          </p:nvPr>
        </p:nvSpPr>
        <p:spPr/>
        <p:txBody>
          <a:bodyPr/>
          <a:lstStyle/>
          <a:p>
            <a:fld id="{14FD2C8F-BE1D-4184-9EEC-EF7B44FBE777}" type="slidenum">
              <a:rPr lang="en-US" smtClean="0"/>
              <a:t>20</a:t>
            </a:fld>
            <a:endParaRPr lang="en-US"/>
          </a:p>
        </p:txBody>
      </p:sp>
    </p:spTree>
    <p:extLst>
      <p:ext uri="{BB962C8B-B14F-4D97-AF65-F5344CB8AC3E}">
        <p14:creationId xmlns:p14="http://schemas.microsoft.com/office/powerpoint/2010/main" val="15358500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Recent advancements in NLP include the development of deep learning models, improved tokenization techniques, and enhanced embedding methods. These innovations are driving significant progress in the field.</a:t>
            </a:r>
          </a:p>
        </p:txBody>
      </p:sp>
      <p:sp>
        <p:nvSpPr>
          <p:cNvPr id="4" name="Slide Number Placeholder 3"/>
          <p:cNvSpPr>
            <a:spLocks noGrp="1"/>
          </p:cNvSpPr>
          <p:nvPr>
            <p:ph type="sldNum" sz="quarter" idx="5"/>
          </p:nvPr>
        </p:nvSpPr>
        <p:spPr/>
        <p:txBody>
          <a:bodyPr/>
          <a:lstStyle/>
          <a:p>
            <a:fld id="{14FD2C8F-BE1D-4184-9EEC-EF7B44FBE777}" type="slidenum">
              <a:rPr lang="en-US" smtClean="0"/>
              <a:t>21</a:t>
            </a:fld>
            <a:endParaRPr lang="en-US"/>
          </a:p>
        </p:txBody>
      </p:sp>
    </p:spTree>
    <p:extLst>
      <p:ext uri="{BB962C8B-B14F-4D97-AF65-F5344CB8AC3E}">
        <p14:creationId xmlns:p14="http://schemas.microsoft.com/office/powerpoint/2010/main" val="32244866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Looking ahead, we can expect continued improvements in tokenization and embedding techniques, including better handling of multilingual texts, more efficient models, and enhanced interpretability. The future of NLP holds great promise.</a:t>
            </a:r>
          </a:p>
        </p:txBody>
      </p:sp>
      <p:sp>
        <p:nvSpPr>
          <p:cNvPr id="4" name="Slide Number Placeholder 3"/>
          <p:cNvSpPr>
            <a:spLocks noGrp="1"/>
          </p:cNvSpPr>
          <p:nvPr>
            <p:ph type="sldNum" sz="quarter" idx="5"/>
          </p:nvPr>
        </p:nvSpPr>
        <p:spPr/>
        <p:txBody>
          <a:bodyPr/>
          <a:lstStyle/>
          <a:p>
            <a:fld id="{14FD2C8F-BE1D-4184-9EEC-EF7B44FBE777}" type="slidenum">
              <a:rPr lang="en-US" smtClean="0"/>
              <a:t>22</a:t>
            </a:fld>
            <a:endParaRPr lang="en-US"/>
          </a:p>
        </p:txBody>
      </p:sp>
    </p:spTree>
    <p:extLst>
      <p:ext uri="{BB962C8B-B14F-4D97-AF65-F5344CB8AC3E}">
        <p14:creationId xmlns:p14="http://schemas.microsoft.com/office/powerpoint/2010/main" val="32968129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conclusion, understanding tokenization and embedding is essential for anyone looking to work in natural language processing. These concepts form the backbone of numerous applications and will continue to evolve, shaping the future of NLP.</a:t>
            </a:r>
          </a:p>
        </p:txBody>
      </p:sp>
      <p:sp>
        <p:nvSpPr>
          <p:cNvPr id="4" name="Slide Number Placeholder 3"/>
          <p:cNvSpPr>
            <a:spLocks noGrp="1"/>
          </p:cNvSpPr>
          <p:nvPr>
            <p:ph type="sldNum" sz="quarter" idx="5"/>
          </p:nvPr>
        </p:nvSpPr>
        <p:spPr/>
        <p:txBody>
          <a:bodyPr/>
          <a:lstStyle/>
          <a:p>
            <a:fld id="{14FD2C8F-BE1D-4184-9EEC-EF7B44FBE777}" type="slidenum">
              <a:rPr lang="en-US" smtClean="0"/>
              <a:t>23</a:t>
            </a:fld>
            <a:endParaRPr lang="en-US"/>
          </a:p>
        </p:txBody>
      </p:sp>
    </p:spTree>
    <p:extLst>
      <p:ext uri="{BB962C8B-B14F-4D97-AF65-F5344CB8AC3E}">
        <p14:creationId xmlns:p14="http://schemas.microsoft.com/office/powerpoint/2010/main" val="502333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3/15/2025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90176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3/15/2025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53240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3/15/2025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29142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3/15/2025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39642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3/15/2025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92236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3/15/2025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2498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3/15/2025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70628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3/15/2025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15087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3/15/2025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54140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3/15/2025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89407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3/15/2025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0614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3/15/2025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5608220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Internet Network of Connected Devices and Apps.">
            <a:extLst>
              <a:ext uri="{FF2B5EF4-FFF2-40B4-BE49-F238E27FC236}">
                <a16:creationId xmlns:a16="http://schemas.microsoft.com/office/drawing/2014/main" id="{F4A26C8D-0FDE-4942-8DB8-A60A3C92A605}"/>
              </a:ext>
            </a:extLst>
          </p:cNvPr>
          <p:cNvPicPr>
            <a:picLocks noChangeAspect="1"/>
          </p:cNvPicPr>
          <p:nvPr/>
        </p:nvPicPr>
        <p:blipFill>
          <a:blip r:embed="rId3"/>
          <a:srcRect t="12448" r="9091" b="10943"/>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76A10D8F-D463-70E5-239B-17AD65E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CA10D29-DBAA-1C8E-C7D8-C7657A3B774A}"/>
              </a:ext>
            </a:extLst>
          </p:cNvPr>
          <p:cNvSpPr>
            <a:spLocks noGrp="1"/>
          </p:cNvSpPr>
          <p:nvPr>
            <p:ph type="ctrTitle"/>
          </p:nvPr>
        </p:nvSpPr>
        <p:spPr>
          <a:xfrm>
            <a:off x="286506" y="603315"/>
            <a:ext cx="5649211" cy="3685731"/>
          </a:xfrm>
        </p:spPr>
        <p:txBody>
          <a:bodyPr anchor="t">
            <a:normAutofit/>
          </a:bodyPr>
          <a:lstStyle/>
          <a:p>
            <a:pPr algn="l"/>
            <a:r>
              <a:rPr lang="en-US" sz="4600"/>
              <a:t>Understanding Tokenization and Embedding in Natural Language Processing</a:t>
            </a:r>
          </a:p>
        </p:txBody>
      </p:sp>
      <p:sp>
        <p:nvSpPr>
          <p:cNvPr id="3" name="Subtitle 2">
            <a:extLst>
              <a:ext uri="{FF2B5EF4-FFF2-40B4-BE49-F238E27FC236}">
                <a16:creationId xmlns:a16="http://schemas.microsoft.com/office/drawing/2014/main" id="{8F582C1E-11C7-20FC-0AFB-6EAB78B9DFC5}"/>
              </a:ext>
            </a:extLst>
          </p:cNvPr>
          <p:cNvSpPr>
            <a:spLocks noGrp="1"/>
          </p:cNvSpPr>
          <p:nvPr>
            <p:ph type="subTitle" idx="1"/>
          </p:nvPr>
        </p:nvSpPr>
        <p:spPr>
          <a:xfrm>
            <a:off x="286507" y="4437176"/>
            <a:ext cx="4007587" cy="1290807"/>
          </a:xfrm>
        </p:spPr>
        <p:txBody>
          <a:bodyPr anchor="ctr">
            <a:normAutofit/>
          </a:bodyPr>
          <a:lstStyle/>
          <a:p>
            <a:pPr algn="l"/>
            <a:r>
              <a:rPr lang="en-US" sz="2200"/>
              <a:t>Key concepts and techniques in NLP explained</a:t>
            </a:r>
          </a:p>
        </p:txBody>
      </p:sp>
    </p:spTree>
    <p:extLst>
      <p:ext uri="{BB962C8B-B14F-4D97-AF65-F5344CB8AC3E}">
        <p14:creationId xmlns:p14="http://schemas.microsoft.com/office/powerpoint/2010/main" val="75188232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DEA596-4487-2ABC-6B5D-E4F687D88263}"/>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b="1" kern="1200">
                <a:solidFill>
                  <a:schemeClr val="tx1"/>
                </a:solidFill>
                <a:latin typeface="+mj-lt"/>
                <a:ea typeface="+mj-ea"/>
                <a:cs typeface="+mj-cs"/>
              </a:rPr>
              <a:t>Presentation Topics</a:t>
            </a:r>
          </a:p>
        </p:txBody>
      </p:sp>
      <p:sp>
        <p:nvSpPr>
          <p:cNvPr id="4" name="Content Placeholder 3">
            <a:extLst>
              <a:ext uri="{FF2B5EF4-FFF2-40B4-BE49-F238E27FC236}">
                <a16:creationId xmlns:a16="http://schemas.microsoft.com/office/drawing/2014/main" id="{5F0F6084-56B6-0639-BAEA-BDFA9594FD54}"/>
              </a:ext>
            </a:extLst>
          </p:cNvPr>
          <p:cNvSpPr>
            <a:spLocks noGrp="1"/>
          </p:cNvSpPr>
          <p:nvPr>
            <p:ph sz="half" idx="2"/>
          </p:nvPr>
        </p:nvSpPr>
        <p:spPr>
          <a:xfrm>
            <a:off x="614679" y="2212848"/>
            <a:ext cx="4361688" cy="4096512"/>
          </a:xfrm>
        </p:spPr>
        <p:txBody>
          <a:bodyPr vert="horz" lIns="91440" tIns="45720" rIns="91440" bIns="45720" rtlCol="0">
            <a:normAutofit/>
          </a:bodyPr>
          <a:lstStyle/>
          <a:p>
            <a:r>
              <a:rPr lang="en-US" sz="1800"/>
              <a:t>Basic Concepts of Tokenization</a:t>
            </a:r>
          </a:p>
          <a:p>
            <a:r>
              <a:rPr lang="en-US" sz="1800"/>
              <a:t>Byte Pair Encoding (BPE) in Tokenization</a:t>
            </a:r>
          </a:p>
          <a:p>
            <a:r>
              <a:rPr lang="en-US" sz="1800"/>
              <a:t>Fundamentals of Embedding in NLP</a:t>
            </a:r>
          </a:p>
          <a:p>
            <a:r>
              <a:rPr lang="en-US" sz="1800"/>
              <a:t>Large Language Models (LLM) Embedding Layer</a:t>
            </a:r>
          </a:p>
          <a:p>
            <a:r>
              <a:rPr lang="en-US" sz="1800"/>
              <a:t>Applications and Future Directions</a:t>
            </a:r>
          </a:p>
        </p:txBody>
      </p:sp>
      <p:sp>
        <p:nvSpPr>
          <p:cNvPr id="6" name="Content Placeholder 5">
            <a:extLst>
              <a:ext uri="{FF2B5EF4-FFF2-40B4-BE49-F238E27FC236}">
                <a16:creationId xmlns:a16="http://schemas.microsoft.com/office/drawing/2014/main" id="{638F60B5-9381-DF50-DAA5-38AD55570047}"/>
              </a:ext>
            </a:extLst>
          </p:cNvPr>
          <p:cNvSpPr>
            <a:spLocks noGrp="1"/>
          </p:cNvSpPr>
          <p:nvPr>
            <p:ph sz="half" idx="1"/>
          </p:nvPr>
        </p:nvSpPr>
        <p:spPr/>
        <p:txBody>
          <a:bodyPr/>
          <a:lstStyle/>
          <a:p>
            <a:endParaRPr lang="en-US" dirty="0"/>
          </a:p>
        </p:txBody>
      </p:sp>
    </p:spTree>
    <p:extLst>
      <p:ext uri="{BB962C8B-B14F-4D97-AF65-F5344CB8AC3E}">
        <p14:creationId xmlns:p14="http://schemas.microsoft.com/office/powerpoint/2010/main" val="5658444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39F1326-4594-C5F9-CEE7-B4A196D81BA8}"/>
              </a:ext>
            </a:extLst>
          </p:cNvPr>
          <p:cNvSpPr>
            <a:spLocks noGrp="1"/>
          </p:cNvSpPr>
          <p:nvPr>
            <p:ph type="ctrTitle"/>
          </p:nvPr>
        </p:nvSpPr>
        <p:spPr>
          <a:xfrm>
            <a:off x="277091" y="1814321"/>
            <a:ext cx="7772400" cy="4560920"/>
          </a:xfrm>
        </p:spPr>
        <p:txBody>
          <a:bodyPr anchor="b">
            <a:normAutofit/>
          </a:bodyPr>
          <a:lstStyle/>
          <a:p>
            <a:pPr algn="l"/>
            <a:r>
              <a:rPr lang="en-US" sz="7400"/>
              <a:t>Basic Concepts of Tokenization</a:t>
            </a:r>
          </a:p>
        </p:txBody>
      </p:sp>
    </p:spTree>
    <p:extLst>
      <p:ext uri="{BB962C8B-B14F-4D97-AF65-F5344CB8AC3E}">
        <p14:creationId xmlns:p14="http://schemas.microsoft.com/office/powerpoint/2010/main" val="423012553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One of the 10 gears is red.">
            <a:extLst>
              <a:ext uri="{FF2B5EF4-FFF2-40B4-BE49-F238E27FC236}">
                <a16:creationId xmlns:a16="http://schemas.microsoft.com/office/drawing/2014/main" id="{B97802DF-46AE-4C00-B882-B2476D0ED22C}"/>
              </a:ext>
            </a:extLst>
          </p:cNvPr>
          <p:cNvPicPr>
            <a:picLocks noGrp="1" noChangeAspect="1"/>
          </p:cNvPicPr>
          <p:nvPr>
            <p:ph sz="half" idx="1"/>
          </p:nvPr>
        </p:nvPicPr>
        <p:blipFill>
          <a:blip r:embed="rId3"/>
          <a:srcRect l="20831" r="21889" b="-1"/>
          <a:stretch/>
        </p:blipFill>
        <p:spPr>
          <a:xfrm>
            <a:off x="20" y="10"/>
            <a:ext cx="4910308" cy="6857990"/>
          </a:xfrm>
          <a:prstGeom prst="rect">
            <a:avLst/>
          </a:prstGeom>
        </p:spPr>
      </p:pic>
      <p:sp>
        <p:nvSpPr>
          <p:cNvPr id="2" name="Title 1">
            <a:extLst>
              <a:ext uri="{FF2B5EF4-FFF2-40B4-BE49-F238E27FC236}">
                <a16:creationId xmlns:a16="http://schemas.microsoft.com/office/drawing/2014/main" id="{2070C0F8-C0C0-7F1C-C710-310AC320E17B}"/>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sz="3300" b="1" kern="1200">
                <a:solidFill>
                  <a:schemeClr val="tx1"/>
                </a:solidFill>
                <a:latin typeface="+mj-lt"/>
                <a:ea typeface="+mj-ea"/>
                <a:cs typeface="+mj-cs"/>
              </a:rPr>
              <a:t>Definition and Importance of Tokenization</a:t>
            </a:r>
          </a:p>
        </p:txBody>
      </p:sp>
      <p:sp>
        <p:nvSpPr>
          <p:cNvPr id="4" name="Content Placeholder 3">
            <a:extLst>
              <a:ext uri="{FF2B5EF4-FFF2-40B4-BE49-F238E27FC236}">
                <a16:creationId xmlns:a16="http://schemas.microsoft.com/office/drawing/2014/main" id="{68AF0DAA-C9D8-9013-0C42-11E20DAED47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What is Tokenization?</a:t>
            </a:r>
          </a:p>
          <a:p>
            <a:pPr marL="0" lvl="1" indent="0">
              <a:buNone/>
            </a:pPr>
            <a:r>
              <a:rPr lang="en-US" sz="1400"/>
              <a:t>Tokenization involves breaking down text into smaller units like words or phrases, making it easier to analyze.</a:t>
            </a:r>
          </a:p>
          <a:p>
            <a:pPr marL="0" indent="0">
              <a:spcBef>
                <a:spcPts val="2500"/>
              </a:spcBef>
              <a:buNone/>
            </a:pPr>
            <a:r>
              <a:rPr lang="en-US" sz="1400" b="1"/>
              <a:t>Role in NLP</a:t>
            </a:r>
          </a:p>
          <a:p>
            <a:pPr marL="0" lvl="1" indent="0">
              <a:buNone/>
            </a:pPr>
            <a:r>
              <a:rPr lang="en-US" sz="1400"/>
              <a:t>Tokenization is crucial in Natural Language Processing as it allows machines to interpret and manipulate text data effectively.</a:t>
            </a:r>
          </a:p>
          <a:p>
            <a:pPr marL="0" indent="0">
              <a:spcBef>
                <a:spcPts val="2500"/>
              </a:spcBef>
              <a:buNone/>
            </a:pPr>
            <a:r>
              <a:rPr lang="en-US" sz="1400" b="1"/>
              <a:t>Facilitating Analysis</a:t>
            </a:r>
          </a:p>
          <a:p>
            <a:pPr marL="0" lvl="1" indent="0">
              <a:buNone/>
            </a:pPr>
            <a:r>
              <a:rPr lang="en-US" sz="1400"/>
              <a:t>By tokenizing text, we enable further analysis, such as sentiment analysis, topic modeling, and machine learning tasks.</a:t>
            </a:r>
          </a:p>
        </p:txBody>
      </p:sp>
    </p:spTree>
    <p:extLst>
      <p:ext uri="{BB962C8B-B14F-4D97-AF65-F5344CB8AC3E}">
        <p14:creationId xmlns:p14="http://schemas.microsoft.com/office/powerpoint/2010/main" val="926575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ustomers in Puzzle Words">
            <a:extLst>
              <a:ext uri="{FF2B5EF4-FFF2-40B4-BE49-F238E27FC236}">
                <a16:creationId xmlns:a16="http://schemas.microsoft.com/office/drawing/2014/main" id="{7AED6F7E-8747-4044-BDE4-6E9822DC7E50}"/>
              </a:ext>
            </a:extLst>
          </p:cNvPr>
          <p:cNvPicPr>
            <a:picLocks noGrp="1" noChangeAspect="1"/>
          </p:cNvPicPr>
          <p:nvPr>
            <p:ph sz="half" idx="1"/>
          </p:nvPr>
        </p:nvPicPr>
        <p:blipFill>
          <a:blip r:embed="rId3"/>
          <a:srcRect l="29655" r="23174" b="-1"/>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A4D64E10-1E9A-7D5D-BC29-EB6410C22790}"/>
              </a:ext>
            </a:extLst>
          </p:cNvPr>
          <p:cNvSpPr>
            <a:spLocks noGrp="1"/>
          </p:cNvSpPr>
          <p:nvPr>
            <p:ph type="title"/>
          </p:nvPr>
        </p:nvSpPr>
        <p:spPr>
          <a:xfrm>
            <a:off x="612648" y="600075"/>
            <a:ext cx="6035040" cy="1529932"/>
          </a:xfrm>
        </p:spPr>
        <p:txBody>
          <a:bodyPr vert="horz" lIns="91440" tIns="45720" rIns="91440" bIns="45720" rtlCol="0" anchor="b">
            <a:normAutofit/>
          </a:bodyPr>
          <a:lstStyle/>
          <a:p>
            <a:r>
              <a:rPr lang="en-US" sz="3300" b="1" kern="1200">
                <a:solidFill>
                  <a:schemeClr val="tx1"/>
                </a:solidFill>
                <a:latin typeface="+mj-lt"/>
                <a:ea typeface="+mj-ea"/>
                <a:cs typeface="+mj-cs"/>
              </a:rPr>
              <a:t>Types of Tokenization: Word, Character, and Subword</a:t>
            </a:r>
          </a:p>
        </p:txBody>
      </p:sp>
      <p:sp>
        <p:nvSpPr>
          <p:cNvPr id="4" name="Content Placeholder 3">
            <a:extLst>
              <a:ext uri="{FF2B5EF4-FFF2-40B4-BE49-F238E27FC236}">
                <a16:creationId xmlns:a16="http://schemas.microsoft.com/office/drawing/2014/main" id="{16977D18-0BB6-D6DA-60A3-71718182AD4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212848"/>
            <a:ext cx="6035040" cy="4096512"/>
          </a:xfrm>
        </p:spPr>
        <p:txBody>
          <a:bodyPr>
            <a:normAutofit/>
          </a:bodyPr>
          <a:lstStyle/>
          <a:p>
            <a:pPr marL="0" indent="0">
              <a:spcBef>
                <a:spcPts val="2500"/>
              </a:spcBef>
              <a:buNone/>
            </a:pPr>
            <a:r>
              <a:rPr lang="en-US" sz="1400" b="1"/>
              <a:t>Word Tokenization</a:t>
            </a:r>
          </a:p>
          <a:p>
            <a:pPr marL="0" lvl="1" indent="0">
              <a:buNone/>
            </a:pPr>
            <a:r>
              <a:rPr lang="en-US" sz="1400"/>
              <a:t>Word tokenization divides text into distinct words, making it useful for tasks like text classification and sentiment analysis.</a:t>
            </a:r>
          </a:p>
          <a:p>
            <a:pPr marL="0" indent="0">
              <a:spcBef>
                <a:spcPts val="2500"/>
              </a:spcBef>
              <a:buNone/>
            </a:pPr>
            <a:r>
              <a:rPr lang="en-US" sz="1400" b="1"/>
              <a:t>Character Tokenization</a:t>
            </a:r>
          </a:p>
          <a:p>
            <a:pPr marL="0" lvl="1" indent="0">
              <a:buNone/>
            </a:pPr>
            <a:r>
              <a:rPr lang="en-US" sz="1400"/>
              <a:t>Character tokenization splits text into individual characters, allowing for fine-grained analysis and handling of rare words.</a:t>
            </a:r>
          </a:p>
          <a:p>
            <a:pPr marL="0" indent="0">
              <a:spcBef>
                <a:spcPts val="2500"/>
              </a:spcBef>
              <a:buNone/>
            </a:pPr>
            <a:r>
              <a:rPr lang="en-US" sz="1400" b="1"/>
              <a:t>Subword Tokenization</a:t>
            </a:r>
          </a:p>
          <a:p>
            <a:pPr marL="0" lvl="1" indent="0">
              <a:buNone/>
            </a:pPr>
            <a:r>
              <a:rPr lang="en-US" sz="1400"/>
              <a:t>Subword tokenization breaks down words into smaller meaningful units, enabling better handling of vocabulary and out-of-vocabulary words.</a:t>
            </a:r>
          </a:p>
        </p:txBody>
      </p:sp>
    </p:spTree>
    <p:extLst>
      <p:ext uri="{BB962C8B-B14F-4D97-AF65-F5344CB8AC3E}">
        <p14:creationId xmlns:p14="http://schemas.microsoft.com/office/powerpoint/2010/main" val="5002387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33F041D9-25F3-84CA-28FB-3480A1CDC81F}"/>
              </a:ext>
            </a:extLst>
          </p:cNvPr>
          <p:cNvSpPr>
            <a:spLocks noGrp="1"/>
          </p:cNvSpPr>
          <p:nvPr>
            <p:ph type="title"/>
          </p:nvPr>
        </p:nvSpPr>
        <p:spPr>
          <a:xfrm>
            <a:off x="614679" y="548639"/>
            <a:ext cx="3977640" cy="5719640"/>
          </a:xfrm>
        </p:spPr>
        <p:txBody>
          <a:bodyPr anchor="t">
            <a:normAutofit/>
          </a:bodyPr>
          <a:lstStyle/>
          <a:p>
            <a:r>
              <a:rPr lang="en-US"/>
              <a:t>Challenges in Tokenization</a:t>
            </a:r>
          </a:p>
        </p:txBody>
      </p:sp>
      <p:graphicFrame>
        <p:nvGraphicFramePr>
          <p:cNvPr id="4" name="Content Placeholder 4">
            <a:extLst>
              <a:ext uri="{FF2B5EF4-FFF2-40B4-BE49-F238E27FC236}">
                <a16:creationId xmlns:a16="http://schemas.microsoft.com/office/drawing/2014/main" id="{8607D40E-EA62-4528-8DCB-23DBDDE732D0}"/>
              </a:ext>
            </a:extLst>
          </p:cNvPr>
          <p:cNvGraphicFramePr>
            <a:graphicFrameLocks noGrp="1"/>
          </p:cNvGraphicFramePr>
          <p:nvPr>
            <p:ph idx="1"/>
            <p:extLst>
              <p:ext uri="{D42A27DB-BD31-4B8C-83A1-F6EECF244321}">
                <p14:modId xmlns:p14="http://schemas.microsoft.com/office/powerpoint/2010/main" val="3170920024"/>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719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4060774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940F8BCF-A953-FA75-4373-988A9E28F793}"/>
              </a:ext>
            </a:extLst>
          </p:cNvPr>
          <p:cNvSpPr>
            <a:spLocks noGrp="1"/>
          </p:cNvSpPr>
          <p:nvPr>
            <p:ph type="ctrTitle"/>
          </p:nvPr>
        </p:nvSpPr>
        <p:spPr>
          <a:xfrm>
            <a:off x="277091" y="1814321"/>
            <a:ext cx="7772400" cy="4560920"/>
          </a:xfrm>
        </p:spPr>
        <p:txBody>
          <a:bodyPr anchor="b">
            <a:normAutofit/>
          </a:bodyPr>
          <a:lstStyle/>
          <a:p>
            <a:pPr algn="l"/>
            <a:r>
              <a:rPr lang="en-US" sz="7400"/>
              <a:t>Byte Pair Encoding (BPE) in Tokenization</a:t>
            </a:r>
          </a:p>
        </p:txBody>
      </p:sp>
    </p:spTree>
    <p:extLst>
      <p:ext uri="{BB962C8B-B14F-4D97-AF65-F5344CB8AC3E}">
        <p14:creationId xmlns:p14="http://schemas.microsoft.com/office/powerpoint/2010/main" val="272351469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Shot of a businessman holding on to a bunch of cryptocurrency balloons on top of a graph against a white background">
            <a:extLst>
              <a:ext uri="{FF2B5EF4-FFF2-40B4-BE49-F238E27FC236}">
                <a16:creationId xmlns:a16="http://schemas.microsoft.com/office/drawing/2014/main" id="{1A55350F-E9A4-4E4C-94D6-C389A6DD36B4}"/>
              </a:ext>
            </a:extLst>
          </p:cNvPr>
          <p:cNvPicPr>
            <a:picLocks noGrp="1" noChangeAspect="1"/>
          </p:cNvPicPr>
          <p:nvPr>
            <p:ph sz="half" idx="1"/>
          </p:nvPr>
        </p:nvPicPr>
        <p:blipFill>
          <a:blip r:embed="rId3"/>
          <a:srcRect l="38161" r="441" b="-1"/>
          <a:stretch/>
        </p:blipFill>
        <p:spPr>
          <a:xfrm>
            <a:off x="20" y="10"/>
            <a:ext cx="4910308" cy="6857990"/>
          </a:xfrm>
          <a:prstGeom prst="rect">
            <a:avLst/>
          </a:prstGeom>
        </p:spPr>
      </p:pic>
      <p:sp>
        <p:nvSpPr>
          <p:cNvPr id="2" name="Title 1">
            <a:extLst>
              <a:ext uri="{FF2B5EF4-FFF2-40B4-BE49-F238E27FC236}">
                <a16:creationId xmlns:a16="http://schemas.microsoft.com/office/drawing/2014/main" id="{E7BDD9B2-E1C3-7B0B-89A2-FC0A7249905F}"/>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Introduction to BPE</a:t>
            </a:r>
          </a:p>
        </p:txBody>
      </p:sp>
      <p:sp>
        <p:nvSpPr>
          <p:cNvPr id="4" name="Content Placeholder 3">
            <a:extLst>
              <a:ext uri="{FF2B5EF4-FFF2-40B4-BE49-F238E27FC236}">
                <a16:creationId xmlns:a16="http://schemas.microsoft.com/office/drawing/2014/main" id="{BFBB102E-4A4E-B38A-1FF1-144C5382D16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Algorithmic Tokenization</a:t>
            </a:r>
          </a:p>
          <a:p>
            <a:pPr marL="0" lvl="1" indent="0">
              <a:buNone/>
            </a:pPr>
            <a:r>
              <a:rPr lang="en-US" sz="1400"/>
              <a:t>BPE utilizes an algorithmic method to tokenize text by replacing frequent byte pairs, enhancing text processing efficiency.</a:t>
            </a:r>
          </a:p>
          <a:p>
            <a:pPr marL="0" indent="0">
              <a:spcBef>
                <a:spcPts val="2500"/>
              </a:spcBef>
              <a:buNone/>
            </a:pPr>
            <a:r>
              <a:rPr lang="en-US" sz="1400" b="1"/>
              <a:t>Handling OOV Words</a:t>
            </a:r>
          </a:p>
          <a:p>
            <a:pPr marL="0" lvl="1" indent="0">
              <a:buNone/>
            </a:pPr>
            <a:r>
              <a:rPr lang="en-US" sz="1400"/>
              <a:t>One of the key advantages of BPE is its ability to effectively manage out-of-vocabulary (OOV) words in language processing.</a:t>
            </a:r>
          </a:p>
          <a:p>
            <a:pPr marL="0" indent="0">
              <a:spcBef>
                <a:spcPts val="2500"/>
              </a:spcBef>
              <a:buNone/>
            </a:pPr>
            <a:r>
              <a:rPr lang="en-US" sz="1400" b="1"/>
              <a:t>Vocabulary Size Reduction</a:t>
            </a:r>
          </a:p>
          <a:p>
            <a:pPr marL="0" lvl="1" indent="0">
              <a:buNone/>
            </a:pPr>
            <a:r>
              <a:rPr lang="en-US" sz="1400"/>
              <a:t>BPE significantly reduces the vocabulary size, resulting in more efficient models and lesser memory consumption.</a:t>
            </a:r>
          </a:p>
        </p:txBody>
      </p:sp>
    </p:spTree>
    <p:extLst>
      <p:ext uri="{BB962C8B-B14F-4D97-AF65-F5344CB8AC3E}">
        <p14:creationId xmlns:p14="http://schemas.microsoft.com/office/powerpoint/2010/main" val="26792126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Wireless Symbol">
            <a:extLst>
              <a:ext uri="{FF2B5EF4-FFF2-40B4-BE49-F238E27FC236}">
                <a16:creationId xmlns:a16="http://schemas.microsoft.com/office/drawing/2014/main" id="{AFBB923F-D365-4697-85C8-20B3AB492A81}"/>
              </a:ext>
            </a:extLst>
          </p:cNvPr>
          <p:cNvPicPr>
            <a:picLocks noGrp="1" noChangeAspect="1"/>
          </p:cNvPicPr>
          <p:nvPr>
            <p:ph sz="half" idx="1"/>
          </p:nvPr>
        </p:nvPicPr>
        <p:blipFill>
          <a:blip r:embed="rId3"/>
          <a:srcRect l="24856" r="29678"/>
          <a:stretch/>
        </p:blipFill>
        <p:spPr>
          <a:xfrm>
            <a:off x="20" y="10"/>
            <a:ext cx="4910308" cy="6857990"/>
          </a:xfrm>
          <a:prstGeom prst="rect">
            <a:avLst/>
          </a:prstGeom>
        </p:spPr>
      </p:pic>
      <p:sp>
        <p:nvSpPr>
          <p:cNvPr id="2" name="Title 1">
            <a:extLst>
              <a:ext uri="{FF2B5EF4-FFF2-40B4-BE49-F238E27FC236}">
                <a16:creationId xmlns:a16="http://schemas.microsoft.com/office/drawing/2014/main" id="{3D12FB48-3263-D613-3A1A-6FFFD19192D2}"/>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How BPE Works: Merging Frequent Pairs</a:t>
            </a:r>
          </a:p>
        </p:txBody>
      </p:sp>
      <p:sp>
        <p:nvSpPr>
          <p:cNvPr id="4" name="Content Placeholder 3">
            <a:extLst>
              <a:ext uri="{FF2B5EF4-FFF2-40B4-BE49-F238E27FC236}">
                <a16:creationId xmlns:a16="http://schemas.microsoft.com/office/drawing/2014/main" id="{7FF6E503-ECCF-D1EB-0516-A5912514621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Initial Character List</a:t>
            </a:r>
          </a:p>
          <a:p>
            <a:pPr marL="0" lvl="1" indent="0">
              <a:buNone/>
            </a:pPr>
            <a:r>
              <a:rPr lang="en-US" sz="1400"/>
              <a:t>The BPE algorithm begins by listing all individual characters present in the source text, establishing a foundational set for processing.</a:t>
            </a:r>
          </a:p>
          <a:p>
            <a:pPr marL="0" indent="0">
              <a:spcBef>
                <a:spcPts val="2500"/>
              </a:spcBef>
              <a:buNone/>
            </a:pPr>
            <a:r>
              <a:rPr lang="en-US" sz="1400" b="1"/>
              <a:t>Merging Common Pairs</a:t>
            </a:r>
          </a:p>
          <a:p>
            <a:pPr marL="0" lvl="1" indent="0">
              <a:buNone/>
            </a:pPr>
            <a:r>
              <a:rPr lang="en-US" sz="1400"/>
              <a:t>The algorithm identifies and merges the most frequently occurring character pairs to form new tokens, enhancing efficiency.</a:t>
            </a:r>
          </a:p>
          <a:p>
            <a:pPr marL="0" indent="0">
              <a:spcBef>
                <a:spcPts val="2500"/>
              </a:spcBef>
              <a:buNone/>
            </a:pPr>
            <a:r>
              <a:rPr lang="en-US" sz="1400" b="1"/>
              <a:t>Vocabulary Size Limitation</a:t>
            </a:r>
          </a:p>
          <a:p>
            <a:pPr marL="0" lvl="1" indent="0">
              <a:buNone/>
            </a:pPr>
            <a:r>
              <a:rPr lang="en-US" sz="1400"/>
              <a:t>Merging continues until a specific vocabulary size is achieved, balancing the need for comprehensive representation with processing efficiency.</a:t>
            </a:r>
          </a:p>
        </p:txBody>
      </p:sp>
    </p:spTree>
    <p:extLst>
      <p:ext uri="{BB962C8B-B14F-4D97-AF65-F5344CB8AC3E}">
        <p14:creationId xmlns:p14="http://schemas.microsoft.com/office/powerpoint/2010/main" val="16108269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F432F618-B861-F368-9CCE-523C02B64D15}"/>
              </a:ext>
            </a:extLst>
          </p:cNvPr>
          <p:cNvSpPr>
            <a:spLocks noGrp="1"/>
          </p:cNvSpPr>
          <p:nvPr>
            <p:ph type="title"/>
          </p:nvPr>
        </p:nvSpPr>
        <p:spPr>
          <a:xfrm>
            <a:off x="614679" y="548639"/>
            <a:ext cx="3977640" cy="5719640"/>
          </a:xfrm>
        </p:spPr>
        <p:txBody>
          <a:bodyPr anchor="t">
            <a:normAutofit/>
          </a:bodyPr>
          <a:lstStyle/>
          <a:p>
            <a:r>
              <a:rPr lang="en-US"/>
              <a:t>Advantages and Use Cases of BPE</a:t>
            </a:r>
          </a:p>
        </p:txBody>
      </p:sp>
      <p:graphicFrame>
        <p:nvGraphicFramePr>
          <p:cNvPr id="4" name="Content Placeholder 4">
            <a:extLst>
              <a:ext uri="{FF2B5EF4-FFF2-40B4-BE49-F238E27FC236}">
                <a16:creationId xmlns:a16="http://schemas.microsoft.com/office/drawing/2014/main" id="{F2A17BA9-F337-4E87-B4F6-2B30321CBCAF}"/>
              </a:ext>
            </a:extLst>
          </p:cNvPr>
          <p:cNvGraphicFramePr>
            <a:graphicFrameLocks noGrp="1"/>
          </p:cNvGraphicFramePr>
          <p:nvPr>
            <p:ph idx="1"/>
            <p:extLst>
              <p:ext uri="{D42A27DB-BD31-4B8C-83A1-F6EECF244321}">
                <p14:modId xmlns:p14="http://schemas.microsoft.com/office/powerpoint/2010/main" val="3685897214"/>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719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7092470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9113C07F-BF65-85D5-8610-E51A05ACBC5A}"/>
              </a:ext>
            </a:extLst>
          </p:cNvPr>
          <p:cNvSpPr>
            <a:spLocks noGrp="1"/>
          </p:cNvSpPr>
          <p:nvPr>
            <p:ph type="ctrTitle"/>
          </p:nvPr>
        </p:nvSpPr>
        <p:spPr>
          <a:xfrm>
            <a:off x="277091" y="1814321"/>
            <a:ext cx="7772400" cy="4560920"/>
          </a:xfrm>
        </p:spPr>
        <p:txBody>
          <a:bodyPr anchor="b">
            <a:normAutofit/>
          </a:bodyPr>
          <a:lstStyle/>
          <a:p>
            <a:pPr algn="l"/>
            <a:r>
              <a:rPr lang="en-US" sz="7400"/>
              <a:t>Fundamentals of Embedding in NLP</a:t>
            </a:r>
          </a:p>
        </p:txBody>
      </p:sp>
    </p:spTree>
    <p:extLst>
      <p:ext uri="{BB962C8B-B14F-4D97-AF65-F5344CB8AC3E}">
        <p14:creationId xmlns:p14="http://schemas.microsoft.com/office/powerpoint/2010/main" val="308916705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igital letters ebook alphabet reading file on screen">
            <a:extLst>
              <a:ext uri="{FF2B5EF4-FFF2-40B4-BE49-F238E27FC236}">
                <a16:creationId xmlns:a16="http://schemas.microsoft.com/office/drawing/2014/main" id="{198046C2-5C51-421A-9642-54974657879C}"/>
              </a:ext>
            </a:extLst>
          </p:cNvPr>
          <p:cNvPicPr>
            <a:picLocks noGrp="1" noChangeAspect="1"/>
          </p:cNvPicPr>
          <p:nvPr>
            <p:ph sz="half" idx="1"/>
          </p:nvPr>
        </p:nvPicPr>
        <p:blipFill>
          <a:blip r:embed="rId3"/>
          <a:srcRect l="7856" r="51870"/>
          <a:stretch/>
        </p:blipFill>
        <p:spPr>
          <a:xfrm>
            <a:off x="20" y="10"/>
            <a:ext cx="4910308" cy="6857990"/>
          </a:xfrm>
          <a:prstGeom prst="rect">
            <a:avLst/>
          </a:prstGeom>
        </p:spPr>
      </p:pic>
      <p:sp>
        <p:nvSpPr>
          <p:cNvPr id="2" name="Title 1">
            <a:extLst>
              <a:ext uri="{FF2B5EF4-FFF2-40B4-BE49-F238E27FC236}">
                <a16:creationId xmlns:a16="http://schemas.microsoft.com/office/drawing/2014/main" id="{1DD9CE91-5C54-515D-F1C7-988F0C85B325}"/>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What Is Embedding?</a:t>
            </a:r>
          </a:p>
        </p:txBody>
      </p:sp>
      <p:sp>
        <p:nvSpPr>
          <p:cNvPr id="4" name="Content Placeholder 3">
            <a:extLst>
              <a:ext uri="{FF2B5EF4-FFF2-40B4-BE49-F238E27FC236}">
                <a16:creationId xmlns:a16="http://schemas.microsoft.com/office/drawing/2014/main" id="{9A24B93F-A833-130A-6DA1-DA5E2E43B6B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Definition of Embedding</a:t>
            </a:r>
          </a:p>
          <a:p>
            <a:pPr marL="0" lvl="1" indent="0">
              <a:buNone/>
            </a:pPr>
            <a:r>
              <a:rPr lang="en-US" sz="1400"/>
              <a:t>Embedding in NLP is the process of converting discrete tokens into continuous vector representations, facilitating better machine understanding.</a:t>
            </a:r>
          </a:p>
          <a:p>
            <a:pPr marL="0" indent="0">
              <a:spcBef>
                <a:spcPts val="2500"/>
              </a:spcBef>
              <a:buNone/>
            </a:pPr>
            <a:r>
              <a:rPr lang="en-US" sz="1400" b="1"/>
              <a:t>Semantic Understanding</a:t>
            </a:r>
          </a:p>
          <a:p>
            <a:pPr marL="0" lvl="1" indent="0">
              <a:buNone/>
            </a:pPr>
            <a:r>
              <a:rPr lang="en-US" sz="1400"/>
              <a:t>This mapping enables algorithms to discern semantic meanings, which enhances their performance in various tasks.</a:t>
            </a:r>
          </a:p>
          <a:p>
            <a:pPr marL="0" indent="0">
              <a:spcBef>
                <a:spcPts val="2500"/>
              </a:spcBef>
              <a:buNone/>
            </a:pPr>
            <a:r>
              <a:rPr lang="en-US" sz="1400" b="1"/>
              <a:t>Applications in NLP</a:t>
            </a:r>
          </a:p>
          <a:p>
            <a:pPr marL="0" lvl="1" indent="0">
              <a:buNone/>
            </a:pPr>
            <a:r>
              <a:rPr lang="en-US" sz="1400"/>
              <a:t>Embeddings are crucial for improving machine learning tasks such as translation, sentiment analysis, and more.</a:t>
            </a:r>
          </a:p>
        </p:txBody>
      </p:sp>
    </p:spTree>
    <p:extLst>
      <p:ext uri="{BB962C8B-B14F-4D97-AF65-F5344CB8AC3E}">
        <p14:creationId xmlns:p14="http://schemas.microsoft.com/office/powerpoint/2010/main" val="33090477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Idea and some other marketing concepts.">
            <a:extLst>
              <a:ext uri="{FF2B5EF4-FFF2-40B4-BE49-F238E27FC236}">
                <a16:creationId xmlns:a16="http://schemas.microsoft.com/office/drawing/2014/main" id="{036A21CC-0EEB-406D-8A05-480AD698D5B0}"/>
              </a:ext>
            </a:extLst>
          </p:cNvPr>
          <p:cNvPicPr>
            <a:picLocks noGrp="1" noChangeAspect="1"/>
          </p:cNvPicPr>
          <p:nvPr>
            <p:ph sz="half" idx="1"/>
          </p:nvPr>
        </p:nvPicPr>
        <p:blipFill>
          <a:blip r:embed="rId3"/>
          <a:srcRect l="18397" r="37436"/>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82CE6D4A-A410-C6D4-A566-1A95D5BB9298}"/>
              </a:ext>
            </a:extLst>
          </p:cNvPr>
          <p:cNvSpPr>
            <a:spLocks noGrp="1"/>
          </p:cNvSpPr>
          <p:nvPr>
            <p:ph type="title"/>
          </p:nvPr>
        </p:nvSpPr>
        <p:spPr>
          <a:xfrm>
            <a:off x="612648" y="600075"/>
            <a:ext cx="6035040" cy="1529932"/>
          </a:xfrm>
        </p:spPr>
        <p:txBody>
          <a:bodyPr vert="horz" lIns="91440" tIns="45720" rIns="91440" bIns="45720" rtlCol="0" anchor="b">
            <a:normAutofit/>
          </a:bodyPr>
          <a:lstStyle/>
          <a:p>
            <a:r>
              <a:rPr lang="en-US" b="1" kern="1200">
                <a:solidFill>
                  <a:schemeClr val="tx1"/>
                </a:solidFill>
                <a:latin typeface="+mj-lt"/>
                <a:ea typeface="+mj-ea"/>
                <a:cs typeface="+mj-cs"/>
              </a:rPr>
              <a:t>Importance of Embedding in NLP</a:t>
            </a:r>
          </a:p>
        </p:txBody>
      </p:sp>
      <p:sp>
        <p:nvSpPr>
          <p:cNvPr id="4" name="Content Placeholder 3">
            <a:extLst>
              <a:ext uri="{FF2B5EF4-FFF2-40B4-BE49-F238E27FC236}">
                <a16:creationId xmlns:a16="http://schemas.microsoft.com/office/drawing/2014/main" id="{234E8364-B5C0-1076-7F33-0BE76A35601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212848"/>
            <a:ext cx="6035040" cy="4096512"/>
          </a:xfrm>
        </p:spPr>
        <p:txBody>
          <a:bodyPr>
            <a:normAutofit/>
          </a:bodyPr>
          <a:lstStyle/>
          <a:p>
            <a:pPr marL="0" indent="0">
              <a:spcBef>
                <a:spcPts val="2500"/>
              </a:spcBef>
              <a:buNone/>
            </a:pPr>
            <a:r>
              <a:rPr lang="en-US" sz="1400" b="1"/>
              <a:t>Understanding Linguistic Features</a:t>
            </a:r>
          </a:p>
          <a:p>
            <a:pPr marL="0" lvl="1" indent="0">
              <a:buNone/>
            </a:pPr>
            <a:r>
              <a:rPr lang="en-US" sz="1400"/>
              <a:t>Embeddings help models understand linguistic features by converting words into numerical representations.</a:t>
            </a:r>
          </a:p>
          <a:p>
            <a:pPr marL="0" indent="0">
              <a:spcBef>
                <a:spcPts val="2500"/>
              </a:spcBef>
              <a:buNone/>
            </a:pPr>
            <a:r>
              <a:rPr lang="en-US" sz="1400" b="1"/>
              <a:t>Improving Model Performance</a:t>
            </a:r>
          </a:p>
          <a:p>
            <a:pPr marL="0" lvl="1" indent="0">
              <a:buNone/>
            </a:pPr>
            <a:r>
              <a:rPr lang="en-US" sz="1400"/>
              <a:t>By using embeddings, models can improve their performance across various NLP tasks, enhancing their overall effectiveness.</a:t>
            </a:r>
          </a:p>
          <a:p>
            <a:pPr marL="0" indent="0">
              <a:spcBef>
                <a:spcPts val="2500"/>
              </a:spcBef>
              <a:buNone/>
            </a:pPr>
            <a:r>
              <a:rPr lang="en-US" sz="1400" b="1"/>
              <a:t>Context Understanding</a:t>
            </a:r>
          </a:p>
          <a:p>
            <a:pPr marL="0" lvl="1" indent="0">
              <a:buNone/>
            </a:pPr>
            <a:r>
              <a:rPr lang="en-US" sz="1400"/>
              <a:t>Embeddings facilitate better understanding of context, allowing models to make more accurate predictions based on word relationships.</a:t>
            </a:r>
          </a:p>
        </p:txBody>
      </p:sp>
    </p:spTree>
    <p:extLst>
      <p:ext uri="{BB962C8B-B14F-4D97-AF65-F5344CB8AC3E}">
        <p14:creationId xmlns:p14="http://schemas.microsoft.com/office/powerpoint/2010/main" val="12769260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loud computing concept isolated on white background">
            <a:extLst>
              <a:ext uri="{FF2B5EF4-FFF2-40B4-BE49-F238E27FC236}">
                <a16:creationId xmlns:a16="http://schemas.microsoft.com/office/drawing/2014/main" id="{B14952EB-C060-4489-BB23-D789F2585B6C}"/>
              </a:ext>
            </a:extLst>
          </p:cNvPr>
          <p:cNvPicPr>
            <a:picLocks noGrp="1" noChangeAspect="1"/>
          </p:cNvPicPr>
          <p:nvPr>
            <p:ph sz="half" idx="1"/>
          </p:nvPr>
        </p:nvPicPr>
        <p:blipFill>
          <a:blip r:embed="rId3"/>
          <a:srcRect l="22140" r="24160"/>
          <a:stretch/>
        </p:blipFill>
        <p:spPr>
          <a:xfrm>
            <a:off x="20" y="10"/>
            <a:ext cx="4910308" cy="6857990"/>
          </a:xfrm>
          <a:prstGeom prst="rect">
            <a:avLst/>
          </a:prstGeom>
        </p:spPr>
      </p:pic>
      <p:sp>
        <p:nvSpPr>
          <p:cNvPr id="2" name="Title 1">
            <a:extLst>
              <a:ext uri="{FF2B5EF4-FFF2-40B4-BE49-F238E27FC236}">
                <a16:creationId xmlns:a16="http://schemas.microsoft.com/office/drawing/2014/main" id="{128FD276-2CC8-9A7B-09B9-FF4D2F125F3F}"/>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Common Embedding Techniques</a:t>
            </a:r>
          </a:p>
        </p:txBody>
      </p:sp>
      <p:sp>
        <p:nvSpPr>
          <p:cNvPr id="4" name="Content Placeholder 3">
            <a:extLst>
              <a:ext uri="{FF2B5EF4-FFF2-40B4-BE49-F238E27FC236}">
                <a16:creationId xmlns:a16="http://schemas.microsoft.com/office/drawing/2014/main" id="{D8BDE135-AF1E-9DA4-2DE1-F23448D6C4C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Word2Vec</a:t>
            </a:r>
          </a:p>
          <a:p>
            <a:pPr marL="0" lvl="1" indent="0">
              <a:buNone/>
            </a:pPr>
            <a:r>
              <a:rPr lang="en-US" sz="1400"/>
              <a:t>Word2Vec is a popular technique that uses neural networks to create word vectors based on context within text.</a:t>
            </a:r>
          </a:p>
          <a:p>
            <a:pPr marL="0" indent="0">
              <a:spcBef>
                <a:spcPts val="2500"/>
              </a:spcBef>
              <a:buNone/>
            </a:pPr>
            <a:r>
              <a:rPr lang="en-US" sz="1400" b="1"/>
              <a:t>GloVe</a:t>
            </a:r>
          </a:p>
          <a:p>
            <a:pPr marL="0" lvl="1" indent="0">
              <a:buNone/>
            </a:pPr>
            <a:r>
              <a:rPr lang="en-US" sz="1400"/>
              <a:t>GloVe (Global Vectors for Word Representation) captures global statistical information of words to create meaningful embeddings.</a:t>
            </a:r>
          </a:p>
          <a:p>
            <a:pPr marL="0" indent="0">
              <a:spcBef>
                <a:spcPts val="2500"/>
              </a:spcBef>
              <a:buNone/>
            </a:pPr>
            <a:r>
              <a:rPr lang="en-US" sz="1400" b="1"/>
              <a:t>FastText</a:t>
            </a:r>
          </a:p>
          <a:p>
            <a:pPr marL="0" lvl="1" indent="0">
              <a:buNone/>
            </a:pPr>
            <a:r>
              <a:rPr lang="en-US" sz="1400"/>
              <a:t>FastText enhances Word2Vec by considering subword information, which helps in understanding rare words and morphological variations.</a:t>
            </a:r>
          </a:p>
        </p:txBody>
      </p:sp>
    </p:spTree>
    <p:extLst>
      <p:ext uri="{BB962C8B-B14F-4D97-AF65-F5344CB8AC3E}">
        <p14:creationId xmlns:p14="http://schemas.microsoft.com/office/powerpoint/2010/main" val="39307230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4D719F64-8FAF-67A3-95F4-AEE36D51BA86}"/>
              </a:ext>
            </a:extLst>
          </p:cNvPr>
          <p:cNvSpPr>
            <a:spLocks noGrp="1"/>
          </p:cNvSpPr>
          <p:nvPr>
            <p:ph type="ctrTitle"/>
          </p:nvPr>
        </p:nvSpPr>
        <p:spPr>
          <a:xfrm>
            <a:off x="277091" y="1814321"/>
            <a:ext cx="7772400" cy="4560920"/>
          </a:xfrm>
        </p:spPr>
        <p:txBody>
          <a:bodyPr anchor="b">
            <a:normAutofit/>
          </a:bodyPr>
          <a:lstStyle/>
          <a:p>
            <a:pPr algn="l"/>
            <a:r>
              <a:rPr lang="en-US" sz="7400"/>
              <a:t>Large Language Models (LLM) Embedding Layer</a:t>
            </a:r>
          </a:p>
        </p:txBody>
      </p:sp>
    </p:spTree>
    <p:extLst>
      <p:ext uri="{BB962C8B-B14F-4D97-AF65-F5344CB8AC3E}">
        <p14:creationId xmlns:p14="http://schemas.microsoft.com/office/powerpoint/2010/main" val="398871259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A8FEFFB3-B920-49D7-91CE-9744D14E64FB}"/>
              </a:ext>
            </a:extLst>
          </p:cNvPr>
          <p:cNvPicPr>
            <a:picLocks noGrp="1" noChangeAspect="1"/>
          </p:cNvPicPr>
          <p:nvPr>
            <p:ph sz="half" idx="1"/>
          </p:nvPr>
        </p:nvPicPr>
        <p:blipFill>
          <a:blip r:embed="rId3"/>
          <a:srcRect l="19215" r="32991" b="-1"/>
          <a:stretch/>
        </p:blipFill>
        <p:spPr>
          <a:xfrm>
            <a:off x="20" y="10"/>
            <a:ext cx="4910308" cy="6857990"/>
          </a:xfrm>
          <a:prstGeom prst="rect">
            <a:avLst/>
          </a:prstGeom>
        </p:spPr>
      </p:pic>
      <p:sp>
        <p:nvSpPr>
          <p:cNvPr id="2" name="Title 1">
            <a:extLst>
              <a:ext uri="{FF2B5EF4-FFF2-40B4-BE49-F238E27FC236}">
                <a16:creationId xmlns:a16="http://schemas.microsoft.com/office/drawing/2014/main" id="{CD3BBD7E-EB96-FA18-8A79-D5D054159A05}"/>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Overview of Large Language Models</a:t>
            </a:r>
          </a:p>
        </p:txBody>
      </p:sp>
      <p:sp>
        <p:nvSpPr>
          <p:cNvPr id="4" name="Content Placeholder 3">
            <a:extLst>
              <a:ext uri="{FF2B5EF4-FFF2-40B4-BE49-F238E27FC236}">
                <a16:creationId xmlns:a16="http://schemas.microsoft.com/office/drawing/2014/main" id="{5D45DA77-DB50-D929-5F44-3E0E3BACCFA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Understanding Human-like Text</a:t>
            </a:r>
          </a:p>
          <a:p>
            <a:pPr marL="0" lvl="1" indent="0">
              <a:buNone/>
            </a:pPr>
            <a:r>
              <a:rPr lang="en-US" sz="1400"/>
              <a:t>Large language models are designed to comprehend and generate text that resembles human language, enhancing communication with machines.</a:t>
            </a:r>
          </a:p>
          <a:p>
            <a:pPr marL="0" indent="0">
              <a:spcBef>
                <a:spcPts val="2500"/>
              </a:spcBef>
              <a:buNone/>
            </a:pPr>
            <a:r>
              <a:rPr lang="en-US" sz="1400" b="1"/>
              <a:t>Advanced Architectures</a:t>
            </a:r>
          </a:p>
          <a:p>
            <a:pPr marL="0" lvl="1" indent="0">
              <a:buNone/>
            </a:pPr>
            <a:r>
              <a:rPr lang="en-US" sz="1400"/>
              <a:t>These models utilize sophisticated architectures that allow for better understanding of context and semantics in language processing.</a:t>
            </a:r>
          </a:p>
          <a:p>
            <a:pPr marL="0" indent="0">
              <a:spcBef>
                <a:spcPts val="2500"/>
              </a:spcBef>
              <a:buNone/>
            </a:pPr>
            <a:r>
              <a:rPr lang="en-US" sz="1400" b="1"/>
              <a:t>Role of Embedding Layer</a:t>
            </a:r>
          </a:p>
          <a:p>
            <a:pPr marL="0" lvl="1" indent="0">
              <a:buNone/>
            </a:pPr>
            <a:r>
              <a:rPr lang="en-US" sz="1400"/>
              <a:t>The embedding layer is crucial for converting words into numerical forms that can be processed by the model, foundational for language understanding.</a:t>
            </a:r>
          </a:p>
        </p:txBody>
      </p:sp>
    </p:spTree>
    <p:extLst>
      <p:ext uri="{BB962C8B-B14F-4D97-AF65-F5344CB8AC3E}">
        <p14:creationId xmlns:p14="http://schemas.microsoft.com/office/powerpoint/2010/main" val="12535850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A0496CE4-FAEA-4AFF-A876-377767F28234}"/>
              </a:ext>
            </a:extLst>
          </p:cNvPr>
          <p:cNvPicPr>
            <a:picLocks noGrp="1" noChangeAspect="1"/>
          </p:cNvPicPr>
          <p:nvPr>
            <p:ph sz="half" idx="1"/>
          </p:nvPr>
        </p:nvPicPr>
        <p:blipFill>
          <a:blip r:embed="rId3"/>
          <a:srcRect l="18971" r="40139"/>
          <a:stretch/>
        </p:blipFill>
        <p:spPr>
          <a:xfrm>
            <a:off x="5818632" y="-1"/>
            <a:ext cx="6373368" cy="6857999"/>
          </a:xfrm>
          <a:prstGeom prst="rect">
            <a:avLst/>
          </a:prstGeom>
        </p:spPr>
      </p:pic>
      <p:sp>
        <p:nvSpPr>
          <p:cNvPr id="2" name="Title 1">
            <a:extLst>
              <a:ext uri="{FF2B5EF4-FFF2-40B4-BE49-F238E27FC236}">
                <a16:creationId xmlns:a16="http://schemas.microsoft.com/office/drawing/2014/main" id="{9C62AE02-AC4B-3915-26C8-7309AD689884}"/>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sz="3300" b="1" kern="1200">
                <a:solidFill>
                  <a:schemeClr val="tx1"/>
                </a:solidFill>
                <a:latin typeface="+mj-lt"/>
                <a:ea typeface="+mj-ea"/>
                <a:cs typeface="+mj-cs"/>
              </a:rPr>
              <a:t>Role of the Embedding Layer in LLMs</a:t>
            </a:r>
          </a:p>
        </p:txBody>
      </p:sp>
      <p:sp>
        <p:nvSpPr>
          <p:cNvPr id="4" name="Content Placeholder 3">
            <a:extLst>
              <a:ext uri="{FF2B5EF4-FFF2-40B4-BE49-F238E27FC236}">
                <a16:creationId xmlns:a16="http://schemas.microsoft.com/office/drawing/2014/main" id="{06C9EF4B-B23A-46E1-3197-1FB9B7A3133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4679" y="2212848"/>
            <a:ext cx="4361688" cy="4096512"/>
          </a:xfrm>
        </p:spPr>
        <p:txBody>
          <a:bodyPr>
            <a:normAutofit/>
          </a:bodyPr>
          <a:lstStyle/>
          <a:p>
            <a:pPr marL="0" indent="0">
              <a:spcBef>
                <a:spcPts val="2500"/>
              </a:spcBef>
              <a:buNone/>
            </a:pPr>
            <a:r>
              <a:rPr lang="en-US" sz="1400" b="1"/>
              <a:t>Text to Vector Transformation</a:t>
            </a:r>
          </a:p>
          <a:p>
            <a:pPr marL="0" lvl="1" indent="0">
              <a:buNone/>
            </a:pPr>
            <a:r>
              <a:rPr lang="en-US" sz="1400"/>
              <a:t>The embedding layer transforms input text into dense vectors, representing words in a numerical format.</a:t>
            </a:r>
          </a:p>
          <a:p>
            <a:pPr marL="0" indent="0">
              <a:spcBef>
                <a:spcPts val="2500"/>
              </a:spcBef>
              <a:buNone/>
            </a:pPr>
            <a:r>
              <a:rPr lang="en-US" sz="1400" b="1"/>
              <a:t>Capturing Relationships</a:t>
            </a:r>
          </a:p>
          <a:p>
            <a:pPr marL="0" lvl="1" indent="0">
              <a:buNone/>
            </a:pPr>
            <a:r>
              <a:rPr lang="en-US" sz="1400"/>
              <a:t>The embedding layer captures intricate relationships between words and phrases, enhancing the model's understanding of context.</a:t>
            </a:r>
          </a:p>
        </p:txBody>
      </p:sp>
    </p:spTree>
    <p:extLst>
      <p:ext uri="{BB962C8B-B14F-4D97-AF65-F5344CB8AC3E}">
        <p14:creationId xmlns:p14="http://schemas.microsoft.com/office/powerpoint/2010/main" val="37708325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Illustration of linked circles represents people in social network.">
            <a:extLst>
              <a:ext uri="{FF2B5EF4-FFF2-40B4-BE49-F238E27FC236}">
                <a16:creationId xmlns:a16="http://schemas.microsoft.com/office/drawing/2014/main" id="{23988655-B23C-45E9-9309-6CFDD1872CAA}"/>
              </a:ext>
            </a:extLst>
          </p:cNvPr>
          <p:cNvPicPr>
            <a:picLocks noGrp="1" noChangeAspect="1"/>
          </p:cNvPicPr>
          <p:nvPr>
            <p:ph sz="half" idx="1"/>
          </p:nvPr>
        </p:nvPicPr>
        <p:blipFill>
          <a:blip r:embed="rId3"/>
          <a:srcRect l="19879" r="36624" b="-1"/>
          <a:stretch/>
        </p:blipFill>
        <p:spPr>
          <a:xfrm>
            <a:off x="20" y="10"/>
            <a:ext cx="4910308" cy="6857990"/>
          </a:xfrm>
          <a:prstGeom prst="rect">
            <a:avLst/>
          </a:prstGeom>
        </p:spPr>
      </p:pic>
      <p:sp>
        <p:nvSpPr>
          <p:cNvPr id="2" name="Title 1">
            <a:extLst>
              <a:ext uri="{FF2B5EF4-FFF2-40B4-BE49-F238E27FC236}">
                <a16:creationId xmlns:a16="http://schemas.microsoft.com/office/drawing/2014/main" id="{E7DEEBA1-94AF-5E1B-7A75-135BA52254A9}"/>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How Embeddings Are Generated in LLMs</a:t>
            </a:r>
          </a:p>
        </p:txBody>
      </p:sp>
      <p:sp>
        <p:nvSpPr>
          <p:cNvPr id="4" name="Content Placeholder 3">
            <a:extLst>
              <a:ext uri="{FF2B5EF4-FFF2-40B4-BE49-F238E27FC236}">
                <a16:creationId xmlns:a16="http://schemas.microsoft.com/office/drawing/2014/main" id="{ED2A8C04-9C18-E0AD-3E6F-B79228FF304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Learned Representations</a:t>
            </a:r>
          </a:p>
          <a:p>
            <a:pPr marL="0" lvl="1" indent="0">
              <a:buNone/>
            </a:pPr>
            <a:r>
              <a:rPr lang="en-US" sz="1400"/>
              <a:t>Embeddings in LLMs start as learned representations derived from vast amounts of training data.</a:t>
            </a:r>
          </a:p>
          <a:p>
            <a:pPr marL="0" indent="0">
              <a:spcBef>
                <a:spcPts val="2500"/>
              </a:spcBef>
              <a:buNone/>
            </a:pPr>
            <a:r>
              <a:rPr lang="en-US" sz="1400" b="1"/>
              <a:t>Error Minimization</a:t>
            </a:r>
          </a:p>
          <a:p>
            <a:pPr marL="0" lvl="1" indent="0">
              <a:buNone/>
            </a:pPr>
            <a:r>
              <a:rPr lang="en-US" sz="1400"/>
              <a:t>During training, embeddings are fine-tuned to minimize the error in predictions, enhancing their effectiveness.</a:t>
            </a:r>
          </a:p>
          <a:p>
            <a:pPr marL="0" indent="0">
              <a:spcBef>
                <a:spcPts val="2500"/>
              </a:spcBef>
              <a:buNone/>
            </a:pPr>
            <a:r>
              <a:rPr lang="en-US" sz="1400" b="1"/>
              <a:t>Contextual Representations</a:t>
            </a:r>
          </a:p>
          <a:p>
            <a:pPr marL="0" lvl="1" indent="0">
              <a:buNone/>
            </a:pPr>
            <a:r>
              <a:rPr lang="en-US" sz="1400"/>
              <a:t>Final embeddings result in effective contextual representations for understanding and generating coherent text.</a:t>
            </a:r>
          </a:p>
        </p:txBody>
      </p:sp>
    </p:spTree>
    <p:extLst>
      <p:ext uri="{BB962C8B-B14F-4D97-AF65-F5344CB8AC3E}">
        <p14:creationId xmlns:p14="http://schemas.microsoft.com/office/powerpoint/2010/main" val="10974765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01C0F3-D13F-7516-EEE2-6545AB85E345}"/>
              </a:ext>
            </a:extLst>
          </p:cNvPr>
          <p:cNvSpPr>
            <a:spLocks noGrp="1"/>
          </p:cNvSpPr>
          <p:nvPr>
            <p:ph type="ctrTitle"/>
          </p:nvPr>
        </p:nvSpPr>
        <p:spPr>
          <a:xfrm>
            <a:off x="277091" y="1814321"/>
            <a:ext cx="7772400" cy="4560920"/>
          </a:xfrm>
        </p:spPr>
        <p:txBody>
          <a:bodyPr anchor="b">
            <a:normAutofit/>
          </a:bodyPr>
          <a:lstStyle/>
          <a:p>
            <a:pPr algn="l"/>
            <a:r>
              <a:rPr lang="en-US" sz="7400"/>
              <a:t>Applications and Future Directions</a:t>
            </a:r>
          </a:p>
        </p:txBody>
      </p:sp>
    </p:spTree>
    <p:extLst>
      <p:ext uri="{BB962C8B-B14F-4D97-AF65-F5344CB8AC3E}">
        <p14:creationId xmlns:p14="http://schemas.microsoft.com/office/powerpoint/2010/main" val="2755169802"/>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3d illustration">
            <a:extLst>
              <a:ext uri="{FF2B5EF4-FFF2-40B4-BE49-F238E27FC236}">
                <a16:creationId xmlns:a16="http://schemas.microsoft.com/office/drawing/2014/main" id="{52C3B7A2-78EC-4731-95B4-6056999354E2}"/>
              </a:ext>
            </a:extLst>
          </p:cNvPr>
          <p:cNvPicPr>
            <a:picLocks noGrp="1" noChangeAspect="1"/>
          </p:cNvPicPr>
          <p:nvPr>
            <p:ph sz="half" idx="1"/>
          </p:nvPr>
        </p:nvPicPr>
        <p:blipFill>
          <a:blip r:embed="rId3"/>
          <a:srcRect r="1" b="8255"/>
          <a:stretch/>
        </p:blipFill>
        <p:spPr>
          <a:xfrm>
            <a:off x="731521" y="2011679"/>
            <a:ext cx="4684352" cy="4297680"/>
          </a:xfrm>
          <a:prstGeom prst="rect">
            <a:avLst/>
          </a:prstGeom>
        </p:spPr>
      </p:pic>
      <p:sp>
        <p:nvSpPr>
          <p:cNvPr id="2" name="Title 1">
            <a:extLst>
              <a:ext uri="{FF2B5EF4-FFF2-40B4-BE49-F238E27FC236}">
                <a16:creationId xmlns:a16="http://schemas.microsoft.com/office/drawing/2014/main" id="{742687A9-DECF-AC6E-64E6-F32D46EFAED7}"/>
              </a:ext>
            </a:extLst>
          </p:cNvPr>
          <p:cNvSpPr>
            <a:spLocks noGrp="1"/>
          </p:cNvSpPr>
          <p:nvPr>
            <p:ph type="title"/>
          </p:nvPr>
        </p:nvSpPr>
        <p:spPr>
          <a:xfrm>
            <a:off x="614679" y="548641"/>
            <a:ext cx="4779572" cy="1298448"/>
          </a:xfrm>
        </p:spPr>
        <p:txBody>
          <a:bodyPr vert="horz" lIns="91440" tIns="45720" rIns="91440" bIns="45720" rtlCol="0" anchor="t">
            <a:normAutofit/>
          </a:bodyPr>
          <a:lstStyle/>
          <a:p>
            <a:r>
              <a:rPr lang="en-US" sz="2800" b="1" kern="1200">
                <a:solidFill>
                  <a:schemeClr val="tx1"/>
                </a:solidFill>
                <a:latin typeface="+mj-lt"/>
                <a:ea typeface="+mj-ea"/>
                <a:cs typeface="+mj-cs"/>
              </a:rPr>
              <a:t>Practical Applications of Tokenization and Embedding</a:t>
            </a:r>
          </a:p>
        </p:txBody>
      </p:sp>
      <p:sp>
        <p:nvSpPr>
          <p:cNvPr id="4" name="Content Placeholder 3">
            <a:extLst>
              <a:ext uri="{FF2B5EF4-FFF2-40B4-BE49-F238E27FC236}">
                <a16:creationId xmlns:a16="http://schemas.microsoft.com/office/drawing/2014/main" id="{FFA932A0-A9B8-B879-721B-851477A634B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1" y="548638"/>
            <a:ext cx="5546770" cy="5760721"/>
          </a:xfrm>
        </p:spPr>
        <p:txBody>
          <a:bodyPr>
            <a:normAutofit/>
          </a:bodyPr>
          <a:lstStyle/>
          <a:p>
            <a:pPr marL="0" indent="0">
              <a:spcBef>
                <a:spcPts val="2500"/>
              </a:spcBef>
              <a:buNone/>
            </a:pPr>
            <a:r>
              <a:rPr lang="en-US" sz="1400" b="1"/>
              <a:t>Sentiment Analysis</a:t>
            </a:r>
          </a:p>
          <a:p>
            <a:pPr marL="0" lvl="1" indent="0">
              <a:buNone/>
            </a:pPr>
            <a:r>
              <a:rPr lang="en-US" sz="1400"/>
              <a:t>Tokenization and embedding techniques are vital for accurately analyzing sentiments in text data, enhancing understanding of user emotions.</a:t>
            </a:r>
          </a:p>
          <a:p>
            <a:pPr marL="0" indent="0">
              <a:spcBef>
                <a:spcPts val="2500"/>
              </a:spcBef>
              <a:buNone/>
            </a:pPr>
            <a:r>
              <a:rPr lang="en-US" sz="1400" b="1"/>
              <a:t>Machine Translation</a:t>
            </a:r>
          </a:p>
          <a:p>
            <a:pPr marL="0" lvl="1" indent="0">
              <a:buNone/>
            </a:pPr>
            <a:r>
              <a:rPr lang="en-US" sz="1400"/>
              <a:t>These techniques improve machine translation systems, enabling more accurate and fluent translations across different languages.</a:t>
            </a:r>
          </a:p>
          <a:p>
            <a:pPr marL="0" indent="0">
              <a:spcBef>
                <a:spcPts val="2500"/>
              </a:spcBef>
              <a:buNone/>
            </a:pPr>
            <a:r>
              <a:rPr lang="en-US" sz="1400" b="1"/>
              <a:t>Chatbot Development</a:t>
            </a:r>
          </a:p>
          <a:p>
            <a:pPr marL="0" lvl="1" indent="0">
              <a:buNone/>
            </a:pPr>
            <a:r>
              <a:rPr lang="en-US" sz="1400"/>
              <a:t>Tokenization and embedding enhance chatbot interactions, allowing for more natural conversations and better understanding of user queries.</a:t>
            </a:r>
          </a:p>
          <a:p>
            <a:pPr marL="0" indent="0">
              <a:spcBef>
                <a:spcPts val="2500"/>
              </a:spcBef>
              <a:buNone/>
            </a:pPr>
            <a:r>
              <a:rPr lang="en-US" sz="1400" b="1"/>
              <a:t>Information Retrieval</a:t>
            </a:r>
          </a:p>
          <a:p>
            <a:pPr marL="0" lvl="1" indent="0">
              <a:buNone/>
            </a:pPr>
            <a:r>
              <a:rPr lang="en-US" sz="1400"/>
              <a:t>These methods enable efficient information retrieval from large datasets, ensuring users find relevant data quickly and accurately.</a:t>
            </a:r>
          </a:p>
        </p:txBody>
      </p:sp>
    </p:spTree>
    <p:extLst>
      <p:ext uri="{BB962C8B-B14F-4D97-AF65-F5344CB8AC3E}">
        <p14:creationId xmlns:p14="http://schemas.microsoft.com/office/powerpoint/2010/main" val="29446084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igital Brain with abstract binary data code">
            <a:extLst>
              <a:ext uri="{FF2B5EF4-FFF2-40B4-BE49-F238E27FC236}">
                <a16:creationId xmlns:a16="http://schemas.microsoft.com/office/drawing/2014/main" id="{85F39E43-350E-4789-97AD-81665E161072}"/>
              </a:ext>
            </a:extLst>
          </p:cNvPr>
          <p:cNvPicPr>
            <a:picLocks noGrp="1" noChangeAspect="1"/>
          </p:cNvPicPr>
          <p:nvPr>
            <p:ph sz="half" idx="1"/>
          </p:nvPr>
        </p:nvPicPr>
        <p:blipFill>
          <a:blip r:embed="rId3"/>
          <a:srcRect l="12994" r="33307"/>
          <a:stretch/>
        </p:blipFill>
        <p:spPr>
          <a:xfrm>
            <a:off x="20" y="10"/>
            <a:ext cx="4910308" cy="6857990"/>
          </a:xfrm>
          <a:prstGeom prst="rect">
            <a:avLst/>
          </a:prstGeom>
        </p:spPr>
      </p:pic>
      <p:sp>
        <p:nvSpPr>
          <p:cNvPr id="2" name="Title 1">
            <a:extLst>
              <a:ext uri="{FF2B5EF4-FFF2-40B4-BE49-F238E27FC236}">
                <a16:creationId xmlns:a16="http://schemas.microsoft.com/office/drawing/2014/main" id="{9E8B6E1D-6444-9079-08F2-FA2E3A717C66}"/>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Current Advancements in NLP</a:t>
            </a:r>
          </a:p>
        </p:txBody>
      </p:sp>
      <p:sp>
        <p:nvSpPr>
          <p:cNvPr id="4" name="Content Placeholder 3">
            <a:extLst>
              <a:ext uri="{FF2B5EF4-FFF2-40B4-BE49-F238E27FC236}">
                <a16:creationId xmlns:a16="http://schemas.microsoft.com/office/drawing/2014/main" id="{0E8142D1-CA85-9FD2-268C-7283690D22A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Deep Learning Models</a:t>
            </a:r>
          </a:p>
          <a:p>
            <a:pPr marL="0" lvl="1" indent="0">
              <a:buNone/>
            </a:pPr>
            <a:r>
              <a:rPr lang="en-US" sz="1400"/>
              <a:t>Recent advancements in deep learning models have greatly improved the performance of NLP tasks, enabling better understanding of language.</a:t>
            </a:r>
          </a:p>
          <a:p>
            <a:pPr marL="0" indent="0">
              <a:spcBef>
                <a:spcPts val="2500"/>
              </a:spcBef>
              <a:buNone/>
            </a:pPr>
            <a:r>
              <a:rPr lang="en-US" sz="1400" b="1"/>
              <a:t>Tokenization Techniques</a:t>
            </a:r>
          </a:p>
          <a:p>
            <a:pPr marL="0" lvl="1" indent="0">
              <a:buNone/>
            </a:pPr>
            <a:r>
              <a:rPr lang="en-US" sz="1400"/>
              <a:t>Improved tokenization techniques are essential for breaking down text into manageable parts, enhancing the processing of language data.</a:t>
            </a:r>
          </a:p>
          <a:p>
            <a:pPr marL="0" indent="0">
              <a:spcBef>
                <a:spcPts val="2500"/>
              </a:spcBef>
              <a:buNone/>
            </a:pPr>
            <a:r>
              <a:rPr lang="en-US" sz="1400" b="1"/>
              <a:t>Enhanced Embedding Methods</a:t>
            </a:r>
          </a:p>
          <a:p>
            <a:pPr marL="0" lvl="1" indent="0">
              <a:buNone/>
            </a:pPr>
            <a:r>
              <a:rPr lang="en-US" sz="1400"/>
              <a:t>New embedding methods provide richer representations of words, leading to better context understanding in NLP applications.</a:t>
            </a:r>
          </a:p>
        </p:txBody>
      </p:sp>
    </p:spTree>
    <p:extLst>
      <p:ext uri="{BB962C8B-B14F-4D97-AF65-F5344CB8AC3E}">
        <p14:creationId xmlns:p14="http://schemas.microsoft.com/office/powerpoint/2010/main" val="2643230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Blockchain, Data, Internet, Security System, Computer Network">
            <a:extLst>
              <a:ext uri="{FF2B5EF4-FFF2-40B4-BE49-F238E27FC236}">
                <a16:creationId xmlns:a16="http://schemas.microsoft.com/office/drawing/2014/main" id="{0F3E907C-B4F9-46EA-AB66-9B0F4842C004}"/>
              </a:ext>
            </a:extLst>
          </p:cNvPr>
          <p:cNvPicPr>
            <a:picLocks noGrp="1" noChangeAspect="1"/>
          </p:cNvPicPr>
          <p:nvPr>
            <p:ph sz="half" idx="1"/>
          </p:nvPr>
        </p:nvPicPr>
        <p:blipFill>
          <a:blip r:embed="rId3"/>
          <a:srcRect l="41469" r="18257"/>
          <a:stretch/>
        </p:blipFill>
        <p:spPr>
          <a:xfrm>
            <a:off x="20" y="10"/>
            <a:ext cx="4910308" cy="6857990"/>
          </a:xfrm>
          <a:prstGeom prst="rect">
            <a:avLst/>
          </a:prstGeom>
        </p:spPr>
      </p:pic>
      <p:sp>
        <p:nvSpPr>
          <p:cNvPr id="2" name="Title 1">
            <a:extLst>
              <a:ext uri="{FF2B5EF4-FFF2-40B4-BE49-F238E27FC236}">
                <a16:creationId xmlns:a16="http://schemas.microsoft.com/office/drawing/2014/main" id="{C7DB0941-05CB-E718-B715-BBEFE644C009}"/>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Future Trends and Potential Improvements</a:t>
            </a:r>
          </a:p>
        </p:txBody>
      </p:sp>
      <p:sp>
        <p:nvSpPr>
          <p:cNvPr id="4" name="Content Placeholder 3">
            <a:extLst>
              <a:ext uri="{FF2B5EF4-FFF2-40B4-BE49-F238E27FC236}">
                <a16:creationId xmlns:a16="http://schemas.microsoft.com/office/drawing/2014/main" id="{5A5F3A55-369E-1FF7-E85A-08C4893F918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Tokenization Techniques</a:t>
            </a:r>
          </a:p>
          <a:p>
            <a:pPr marL="0" lvl="1" indent="0">
              <a:buNone/>
            </a:pPr>
            <a:r>
              <a:rPr lang="en-US" sz="1400"/>
              <a:t>Advancements in tokenization techniques will improve the processing of multilingual texts and enhance overall performance.</a:t>
            </a:r>
          </a:p>
          <a:p>
            <a:pPr marL="0" indent="0">
              <a:spcBef>
                <a:spcPts val="2500"/>
              </a:spcBef>
              <a:buNone/>
            </a:pPr>
            <a:r>
              <a:rPr lang="en-US" sz="1400" b="1"/>
              <a:t>Embedding Improvements</a:t>
            </a:r>
          </a:p>
          <a:p>
            <a:pPr marL="0" lvl="1" indent="0">
              <a:buNone/>
            </a:pPr>
            <a:r>
              <a:rPr lang="en-US" sz="1400"/>
              <a:t>Future models will feature more efficient embedding methods, allowing for better representation of language semantics.</a:t>
            </a:r>
          </a:p>
          <a:p>
            <a:pPr marL="0" indent="0">
              <a:spcBef>
                <a:spcPts val="2500"/>
              </a:spcBef>
              <a:buNone/>
            </a:pPr>
            <a:r>
              <a:rPr lang="en-US" sz="1400" b="1"/>
              <a:t>Interpretability in NLP</a:t>
            </a:r>
          </a:p>
          <a:p>
            <a:pPr marL="0" lvl="1" indent="0">
              <a:buNone/>
            </a:pPr>
            <a:r>
              <a:rPr lang="en-US" sz="1400"/>
              <a:t>Enhanced interpretability will allow users to understand model decisions, fostering trust in NLP applications.</a:t>
            </a:r>
          </a:p>
        </p:txBody>
      </p:sp>
    </p:spTree>
    <p:extLst>
      <p:ext uri="{BB962C8B-B14F-4D97-AF65-F5344CB8AC3E}">
        <p14:creationId xmlns:p14="http://schemas.microsoft.com/office/powerpoint/2010/main" val="15449543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F74C59-445A-9824-B537-A392A6ECEC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1BDCF8FB-9039-1833-0966-3B3747E8F9CD}"/>
              </a:ext>
            </a:extLst>
          </p:cNvPr>
          <p:cNvSpPr>
            <a:spLocks noGrp="1"/>
          </p:cNvSpPr>
          <p:nvPr>
            <p:ph type="title"/>
          </p:nvPr>
        </p:nvSpPr>
        <p:spPr>
          <a:xfrm>
            <a:off x="612648" y="1847088"/>
            <a:ext cx="7344336" cy="1133856"/>
          </a:xfrm>
        </p:spPr>
        <p:txBody>
          <a:bodyPr anchor="b">
            <a:normAutofit/>
          </a:bodyPr>
          <a:lstStyle/>
          <a:p>
            <a:r>
              <a:rPr lang="en-US" sz="6000"/>
              <a:t>Conclusion</a:t>
            </a:r>
          </a:p>
        </p:txBody>
      </p:sp>
      <p:graphicFrame>
        <p:nvGraphicFramePr>
          <p:cNvPr id="9" name="Content Placeholder 2">
            <a:extLst>
              <a:ext uri="{FF2B5EF4-FFF2-40B4-BE49-F238E27FC236}">
                <a16:creationId xmlns:a16="http://schemas.microsoft.com/office/drawing/2014/main" id="{C5CC4C19-45B7-42AC-03CB-D2767C25CD29}"/>
              </a:ext>
            </a:extLst>
          </p:cNvPr>
          <p:cNvGraphicFramePr>
            <a:graphicFrameLocks noGrp="1"/>
          </p:cNvGraphicFramePr>
          <p:nvPr>
            <p:ph idx="1"/>
            <p:extLst>
              <p:ext uri="{D42A27DB-BD31-4B8C-83A1-F6EECF244321}">
                <p14:modId xmlns:p14="http://schemas.microsoft.com/office/powerpoint/2010/main" val="4207525859"/>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12646" y="3593592"/>
          <a:ext cx="10890504" cy="25124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22328362"/>
      </p:ext>
    </p:extLst>
  </p:cSld>
  <p:clrMapOvr>
    <a:overrideClrMapping bg1="dk1" tx1="lt1" bg2="dk2" tx2="lt2" accent1="accent1" accent2="accent2" accent3="accent3" accent4="accent4" accent5="accent5" accent6="accent6" hlink="hlink" folHlink="folHlink"/>
  </p:clrMapOvr>
  <p:transition>
    <p:fade/>
  </p:transition>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TotalTime>
  <Words>2092</Words>
  <Application>Microsoft Office PowerPoint</Application>
  <PresentationFormat>Widescreen</PresentationFormat>
  <Paragraphs>171</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Arial</vt:lpstr>
      <vt:lpstr>Neue Haas Grotesk Text Pro</vt:lpstr>
      <vt:lpstr>VanillaVTI</vt:lpstr>
      <vt:lpstr>Understanding Tokenization and Embedding in Natural Language Processing</vt:lpstr>
      <vt:lpstr>Presentation Topics</vt:lpstr>
      <vt:lpstr>Basic Concepts of Tokenization</vt:lpstr>
      <vt:lpstr>Definition and Importance of Tokenization</vt:lpstr>
      <vt:lpstr>Types of Tokenization: Word, Character, and Subword</vt:lpstr>
      <vt:lpstr>Challenges in Tokenization</vt:lpstr>
      <vt:lpstr>Byte Pair Encoding (BPE) in Tokenization</vt:lpstr>
      <vt:lpstr>Introduction to BPE</vt:lpstr>
      <vt:lpstr>How BPE Works: Merging Frequent Pairs</vt:lpstr>
      <vt:lpstr>Advantages and Use Cases of BPE</vt:lpstr>
      <vt:lpstr>Fundamentals of Embedding in NLP</vt:lpstr>
      <vt:lpstr>What Is Embedding?</vt:lpstr>
      <vt:lpstr>Importance of Embedding in NLP</vt:lpstr>
      <vt:lpstr>Common Embedding Techniques</vt:lpstr>
      <vt:lpstr>Large Language Models (LLM) Embedding Layer</vt:lpstr>
      <vt:lpstr>Overview of Large Language Models</vt:lpstr>
      <vt:lpstr>Role of the Embedding Layer in LLMs</vt:lpstr>
      <vt:lpstr>How Embeddings Are Generated in LLMs</vt:lpstr>
      <vt:lpstr>Applications and Future Directions</vt:lpstr>
      <vt:lpstr>Practical Applications of Tokenization and Embedding</vt:lpstr>
      <vt:lpstr>Current Advancements in NLP</vt:lpstr>
      <vt:lpstr>Future Trends and Potential Improvements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Tao Hu</dc:creator>
  <cp:lastModifiedBy>Tao Hu</cp:lastModifiedBy>
  <cp:revision>1</cp:revision>
  <dcterms:created xsi:type="dcterms:W3CDTF">2025-03-15T17:39:23Z</dcterms:created>
  <dcterms:modified xsi:type="dcterms:W3CDTF">2025-03-15T21:01:10Z</dcterms:modified>
</cp:coreProperties>
</file>