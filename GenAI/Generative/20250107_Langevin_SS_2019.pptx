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6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5fd1c965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5fd1c965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5fd1c965c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fd1c965c6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5fd1c965c6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5fd1c965c6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fd1c965c6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fd1c965c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5fd1c965c6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fd1c965c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fd1c965c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5fd1c965c6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fd1c965c6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5fd1c965c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5fd1c965c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5fd1c965c6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5fd1c965c6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5fd1c965c6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fda3b93ec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fda3b93ec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5fda3b93ec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5f37c35644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5f37c35644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5f37c35644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f37c3564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5f37c3564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5f37c35644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fd1c965c6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5fd1c965c6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5fd1c965c6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fd1c965c6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fd1c965c6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5fd1c965c6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5f37c35644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5f37c35644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5f37c35644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5f37c3564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5f37c3564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5f37c35644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5f37c35644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5f37c35644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5f37c35644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5f3b605d49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5f3b605d49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5f3b605d49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5fd1c965c6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5fd1c965c6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5fd1c965c6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f37c35644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f37c35644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5f37c35644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5f3b605d49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5f3b605d49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5f3b605d49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5f3b605d49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5f3b605d49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5f3b605d49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f3b605d49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5f3b605d49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5f3b605d49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5f3b605d49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5f3b605d49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5f3b605d49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5f3b605d49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5f3b605d49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5f3b605d49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5f3b605d49_0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5f3b605d49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5f3b605d49_0_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5f3b605d49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5f3b605d49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5f3b605d49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f3b605d49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f3b605d49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5f3b605d49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5f3b605d49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5f3b605d49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5f3b605d49_0_1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5f3b605d49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5f3b605d49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5f3b605d49_0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5f4433ee89_3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5f4433ee89_3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5f4433ee89_3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5f3b605d49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5f3b605d49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5f3b605d49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5f3b605d49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5f3b605d49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5f3b605d49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5f3b605d49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5f3b605d49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5f3b605d49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5f4590e993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5f4590e993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5f4590e993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5f3b605d49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5f3b605d49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5f3b605d49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gif"/><Relationship Id="rId4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10" Type="http://schemas.openxmlformats.org/officeDocument/2006/relationships/image" Target="../media/image19.png"/><Relationship Id="rId9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54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55.png"/><Relationship Id="rId9" Type="http://schemas.openxmlformats.org/officeDocument/2006/relationships/image" Target="../media/image47.png"/><Relationship Id="rId5" Type="http://schemas.openxmlformats.org/officeDocument/2006/relationships/image" Target="../media/image56.png"/><Relationship Id="rId6" Type="http://schemas.openxmlformats.org/officeDocument/2006/relationships/image" Target="../media/image54.png"/><Relationship Id="rId7" Type="http://schemas.openxmlformats.org/officeDocument/2006/relationships/image" Target="../media/image36.png"/><Relationship Id="rId8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Relationship Id="rId4" Type="http://schemas.openxmlformats.org/officeDocument/2006/relationships/image" Target="../media/image71.png"/><Relationship Id="rId5" Type="http://schemas.openxmlformats.org/officeDocument/2006/relationships/image" Target="../media/image74.png"/><Relationship Id="rId6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68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Relationship Id="rId4" Type="http://schemas.openxmlformats.org/officeDocument/2006/relationships/image" Target="../media/image57.png"/><Relationship Id="rId5" Type="http://schemas.openxmlformats.org/officeDocument/2006/relationships/image" Target="../media/image69.png"/><Relationship Id="rId6" Type="http://schemas.openxmlformats.org/officeDocument/2006/relationships/image" Target="../media/image51.png"/><Relationship Id="rId7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58.png"/><Relationship Id="rId5" Type="http://schemas.openxmlformats.org/officeDocument/2006/relationships/image" Target="../media/image75.png"/><Relationship Id="rId6" Type="http://schemas.openxmlformats.org/officeDocument/2006/relationships/image" Target="../media/image60.png"/><Relationship Id="rId7" Type="http://schemas.openxmlformats.org/officeDocument/2006/relationships/image" Target="../media/image89.png"/><Relationship Id="rId8" Type="http://schemas.openxmlformats.org/officeDocument/2006/relationships/image" Target="../media/image7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67.png"/><Relationship Id="rId6" Type="http://schemas.openxmlformats.org/officeDocument/2006/relationships/image" Target="../media/image65.png"/><Relationship Id="rId7" Type="http://schemas.openxmlformats.org/officeDocument/2006/relationships/image" Target="../media/image7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3.png"/><Relationship Id="rId4" Type="http://schemas.openxmlformats.org/officeDocument/2006/relationships/image" Target="../media/image91.png"/><Relationship Id="rId5" Type="http://schemas.openxmlformats.org/officeDocument/2006/relationships/image" Target="../media/image88.png"/><Relationship Id="rId6" Type="http://schemas.openxmlformats.org/officeDocument/2006/relationships/image" Target="../media/image77.png"/><Relationship Id="rId7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6.png"/><Relationship Id="rId4" Type="http://schemas.openxmlformats.org/officeDocument/2006/relationships/image" Target="../media/image87.png"/><Relationship Id="rId5" Type="http://schemas.openxmlformats.org/officeDocument/2006/relationships/image" Target="../media/image84.png"/><Relationship Id="rId6" Type="http://schemas.openxmlformats.org/officeDocument/2006/relationships/image" Target="../media/image73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6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103.png"/><Relationship Id="rId7" Type="http://schemas.openxmlformats.org/officeDocument/2006/relationships/image" Target="../media/image94.png"/><Relationship Id="rId8" Type="http://schemas.openxmlformats.org/officeDocument/2006/relationships/image" Target="../media/image10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3.png"/><Relationship Id="rId4" Type="http://schemas.openxmlformats.org/officeDocument/2006/relationships/image" Target="../media/image76.png"/><Relationship Id="rId5" Type="http://schemas.openxmlformats.org/officeDocument/2006/relationships/image" Target="../media/image101.png"/><Relationship Id="rId6" Type="http://schemas.openxmlformats.org/officeDocument/2006/relationships/image" Target="../media/image8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0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3.png"/><Relationship Id="rId4" Type="http://schemas.openxmlformats.org/officeDocument/2006/relationships/image" Target="../media/image94.png"/><Relationship Id="rId9" Type="http://schemas.openxmlformats.org/officeDocument/2006/relationships/image" Target="../media/image106.png"/><Relationship Id="rId5" Type="http://schemas.openxmlformats.org/officeDocument/2006/relationships/image" Target="../media/image80.png"/><Relationship Id="rId6" Type="http://schemas.openxmlformats.org/officeDocument/2006/relationships/image" Target="../media/image87.png"/><Relationship Id="rId7" Type="http://schemas.openxmlformats.org/officeDocument/2006/relationships/image" Target="../media/image79.png"/><Relationship Id="rId8" Type="http://schemas.openxmlformats.org/officeDocument/2006/relationships/image" Target="../media/image9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8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99.png"/><Relationship Id="rId5" Type="http://schemas.openxmlformats.org/officeDocument/2006/relationships/image" Target="../media/image57.png"/><Relationship Id="rId6" Type="http://schemas.openxmlformats.org/officeDocument/2006/relationships/image" Target="../media/image119.png"/><Relationship Id="rId7" Type="http://schemas.openxmlformats.org/officeDocument/2006/relationships/image" Target="../media/image9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2.png"/><Relationship Id="rId4" Type="http://schemas.openxmlformats.org/officeDocument/2006/relationships/image" Target="../media/image96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5.png"/><Relationship Id="rId4" Type="http://schemas.openxmlformats.org/officeDocument/2006/relationships/image" Target="../media/image98.png"/><Relationship Id="rId5" Type="http://schemas.openxmlformats.org/officeDocument/2006/relationships/image" Target="../media/image95.png"/><Relationship Id="rId6" Type="http://schemas.openxmlformats.org/officeDocument/2006/relationships/image" Target="../media/image117.png"/><Relationship Id="rId7" Type="http://schemas.openxmlformats.org/officeDocument/2006/relationships/image" Target="../media/image97.png"/><Relationship Id="rId8" Type="http://schemas.openxmlformats.org/officeDocument/2006/relationships/image" Target="../media/image10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0.png"/><Relationship Id="rId4" Type="http://schemas.openxmlformats.org/officeDocument/2006/relationships/image" Target="../media/image95.png"/><Relationship Id="rId10" Type="http://schemas.openxmlformats.org/officeDocument/2006/relationships/image" Target="../media/image73.png"/><Relationship Id="rId9" Type="http://schemas.openxmlformats.org/officeDocument/2006/relationships/image" Target="../media/image115.png"/><Relationship Id="rId5" Type="http://schemas.openxmlformats.org/officeDocument/2006/relationships/image" Target="../media/image109.png"/><Relationship Id="rId6" Type="http://schemas.openxmlformats.org/officeDocument/2006/relationships/image" Target="../media/image112.png"/><Relationship Id="rId7" Type="http://schemas.openxmlformats.org/officeDocument/2006/relationships/image" Target="../media/image104.png"/><Relationship Id="rId8" Type="http://schemas.openxmlformats.org/officeDocument/2006/relationships/image" Target="../media/image10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4.png"/><Relationship Id="rId4" Type="http://schemas.openxmlformats.org/officeDocument/2006/relationships/image" Target="../media/image109.png"/><Relationship Id="rId5" Type="http://schemas.openxmlformats.org/officeDocument/2006/relationships/image" Target="../media/image98.png"/><Relationship Id="rId6" Type="http://schemas.openxmlformats.org/officeDocument/2006/relationships/image" Target="../media/image110.png"/><Relationship Id="rId7" Type="http://schemas.openxmlformats.org/officeDocument/2006/relationships/image" Target="../media/image118.png"/><Relationship Id="rId8" Type="http://schemas.openxmlformats.org/officeDocument/2006/relationships/image" Target="../media/image1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1.png"/><Relationship Id="rId4" Type="http://schemas.openxmlformats.org/officeDocument/2006/relationships/image" Target="../media/image1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2875" y="1414725"/>
            <a:ext cx="87345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4100">
                <a:latin typeface="Open Sans"/>
                <a:ea typeface="Open Sans"/>
                <a:cs typeface="Open Sans"/>
                <a:sym typeface="Open Sans"/>
              </a:rPr>
              <a:t>Langevin Dynamics </a:t>
            </a:r>
            <a:endParaRPr sz="4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4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for sampling and </a:t>
            </a:r>
            <a:endParaRPr sz="4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4100">
                <a:latin typeface="Open Sans"/>
                <a:ea typeface="Open Sans"/>
                <a:cs typeface="Open Sans"/>
                <a:sym typeface="Open Sans"/>
              </a:rPr>
              <a:t>global</a:t>
            </a:r>
            <a:r>
              <a:rPr lang="en-US" sz="4100">
                <a:latin typeface="Open Sans"/>
                <a:ea typeface="Open Sans"/>
                <a:cs typeface="Open Sans"/>
                <a:sym typeface="Open Sans"/>
              </a:rPr>
              <a:t> optimization</a:t>
            </a:r>
            <a:endParaRPr b="0" i="0" sz="4100" u="none" cap="none" strike="noStrike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086731" y="3137623"/>
            <a:ext cx="6858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US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Kirill </a:t>
            </a:r>
            <a:r>
              <a:rPr i="1"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Neklyudov</a:t>
            </a:r>
            <a:endParaRPr i="1"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7065" y="3576526"/>
            <a:ext cx="1929545" cy="1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067"/>
                </a:solidFill>
              </a:rPr>
              <a:t>Goals of this talk</a:t>
            </a:r>
            <a:endParaRPr>
              <a:solidFill>
                <a:srgbClr val="33B067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28650" y="1563400"/>
            <a:ext cx="6318300" cy="22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Introduction to the Langevin dynamics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Derive basics (1st half)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Outline some important results (2nd half)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Recommend some literature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067"/>
                </a:solidFill>
              </a:rPr>
              <a:t>Langevin Equation</a:t>
            </a:r>
            <a:endParaRPr>
              <a:solidFill>
                <a:srgbClr val="33B067"/>
              </a:solidFill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803900"/>
            <a:ext cx="4928759" cy="37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374251" y="1039450"/>
            <a:ext cx="5296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Ito Stochastic Differential Equation (SDE)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5"/>
          <p:cNvGrpSpPr/>
          <p:nvPr/>
        </p:nvGrpSpPr>
        <p:grpSpPr>
          <a:xfrm>
            <a:off x="2242350" y="2333875"/>
            <a:ext cx="3991250" cy="575725"/>
            <a:chOff x="2242350" y="2181475"/>
            <a:chExt cx="3991250" cy="575725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2242350" y="2359088"/>
              <a:ext cx="6645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Force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 flipH="1" rot="10800000">
              <a:off x="2374338" y="2181475"/>
              <a:ext cx="248100" cy="2757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4414100" y="2359100"/>
              <a:ext cx="18195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Random fluctuations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 flipH="1" rot="10800000">
              <a:off x="5129738" y="2181475"/>
              <a:ext cx="248100" cy="2757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571500" y="1617075"/>
            <a:ext cx="1671000" cy="2389175"/>
            <a:chOff x="571500" y="1617075"/>
            <a:chExt cx="1671000" cy="2389175"/>
          </a:xfrm>
        </p:grpSpPr>
        <p:sp>
          <p:nvSpPr>
            <p:cNvPr id="112" name="Google Shape;112;p15"/>
            <p:cNvSpPr/>
            <p:nvPr/>
          </p:nvSpPr>
          <p:spPr>
            <a:xfrm>
              <a:off x="571500" y="3335150"/>
              <a:ext cx="1671000" cy="671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571500" y="1617075"/>
              <a:ext cx="997200" cy="671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374251" y="2716625"/>
            <a:ext cx="6496498" cy="1166013"/>
            <a:chOff x="374251" y="2716625"/>
            <a:chExt cx="6496498" cy="1166013"/>
          </a:xfrm>
        </p:grpSpPr>
        <p:pic>
          <p:nvPicPr>
            <p:cNvPr id="115" name="Google Shape;115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1500" y="3458763"/>
              <a:ext cx="6299249" cy="423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5"/>
            <p:cNvSpPr txBox="1"/>
            <p:nvPr/>
          </p:nvSpPr>
          <p:spPr>
            <a:xfrm>
              <a:off x="374251" y="2716625"/>
              <a:ext cx="52965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Discrete approximation: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4919375" y="1617075"/>
            <a:ext cx="2017000" cy="2389175"/>
            <a:chOff x="4919375" y="1617075"/>
            <a:chExt cx="2017000" cy="2389175"/>
          </a:xfrm>
        </p:grpSpPr>
        <p:sp>
          <p:nvSpPr>
            <p:cNvPr id="118" name="Google Shape;118;p15"/>
            <p:cNvSpPr/>
            <p:nvPr/>
          </p:nvSpPr>
          <p:spPr>
            <a:xfrm>
              <a:off x="5134575" y="3335150"/>
              <a:ext cx="1801800" cy="671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4919375" y="1617075"/>
              <a:ext cx="694800" cy="671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4269645"/>
            <a:ext cx="6496502" cy="411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1-d simulation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161254" y="937700"/>
            <a:ext cx="2616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Langevin equation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00" y="1622350"/>
            <a:ext cx="3770657" cy="3216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6"/>
          <p:cNvGrpSpPr/>
          <p:nvPr/>
        </p:nvGrpSpPr>
        <p:grpSpPr>
          <a:xfrm>
            <a:off x="4986044" y="937700"/>
            <a:ext cx="3770657" cy="3901000"/>
            <a:chOff x="4986044" y="937700"/>
            <a:chExt cx="3770657" cy="3901000"/>
          </a:xfrm>
        </p:grpSpPr>
        <p:sp>
          <p:nvSpPr>
            <p:cNvPr id="130" name="Google Shape;130;p16"/>
            <p:cNvSpPr txBox="1"/>
            <p:nvPr/>
          </p:nvSpPr>
          <p:spPr>
            <a:xfrm>
              <a:off x="5366200" y="937700"/>
              <a:ext cx="31029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Fokker-Planck equation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1" name="Google Shape;131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86044" y="1622350"/>
              <a:ext cx="3770657" cy="3216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067"/>
                </a:solidFill>
              </a:rPr>
              <a:t>Derivation of the Fokker-Planck equation</a:t>
            </a:r>
            <a:endParaRPr>
              <a:solidFill>
                <a:srgbClr val="33B067"/>
              </a:solidFill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323" y="2471152"/>
            <a:ext cx="2296349" cy="3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457488" y="821219"/>
            <a:ext cx="4996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Langevin equation: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57488" y="1893225"/>
            <a:ext cx="4996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Increments of the Brownian motion: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25" y="4139012"/>
            <a:ext cx="3712851" cy="706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17"/>
          <p:cNvGrpSpPr/>
          <p:nvPr/>
        </p:nvGrpSpPr>
        <p:grpSpPr>
          <a:xfrm>
            <a:off x="457500" y="2925688"/>
            <a:ext cx="5226900" cy="1046187"/>
            <a:chOff x="457500" y="2925688"/>
            <a:chExt cx="5226900" cy="1046187"/>
          </a:xfrm>
        </p:grpSpPr>
        <p:grpSp>
          <p:nvGrpSpPr>
            <p:cNvPr id="143" name="Google Shape;143;p17"/>
            <p:cNvGrpSpPr/>
            <p:nvPr/>
          </p:nvGrpSpPr>
          <p:grpSpPr>
            <a:xfrm>
              <a:off x="457500" y="2925688"/>
              <a:ext cx="5226900" cy="1046187"/>
              <a:chOff x="457500" y="2925688"/>
              <a:chExt cx="5226900" cy="1046187"/>
            </a:xfrm>
          </p:grpSpPr>
          <p:sp>
            <p:nvSpPr>
              <p:cNvPr id="144" name="Google Shape;144;p17"/>
              <p:cNvSpPr txBox="1"/>
              <p:nvPr/>
            </p:nvSpPr>
            <p:spPr>
              <a:xfrm>
                <a:off x="457500" y="2925688"/>
                <a:ext cx="5226900" cy="58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latin typeface="Calibri"/>
                    <a:ea typeface="Calibri"/>
                    <a:cs typeface="Calibri"/>
                    <a:sym typeface="Calibri"/>
                  </a:rPr>
                  <a:t>Consider a small increment of          : </a:t>
                </a:r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45" name="Google Shape;145;p1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50413" y="3624075"/>
                <a:ext cx="4453549" cy="347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46" name="Google Shape;146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271850" y="3058499"/>
              <a:ext cx="600300" cy="317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7" name="Google Shape;14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3325" y="1404125"/>
            <a:ext cx="3985301" cy="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14425" y="1205825"/>
            <a:ext cx="5363523" cy="40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>
            <p:ph type="title"/>
          </p:nvPr>
        </p:nvSpPr>
        <p:spPr>
          <a:xfrm>
            <a:off x="628650" y="6361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067"/>
                </a:solidFill>
              </a:rPr>
              <a:t>Derivation of the Fokker-Planck equation</a:t>
            </a:r>
            <a:endParaRPr/>
          </a:p>
        </p:txBody>
      </p:sp>
      <p:pic>
        <p:nvPicPr>
          <p:cNvPr id="155" name="Google Shape;15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850" y="1507173"/>
            <a:ext cx="5280899" cy="646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657" y="2442950"/>
            <a:ext cx="8259995" cy="762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18"/>
          <p:cNvGrpSpPr/>
          <p:nvPr/>
        </p:nvGrpSpPr>
        <p:grpSpPr>
          <a:xfrm>
            <a:off x="6035750" y="1773125"/>
            <a:ext cx="2408400" cy="595475"/>
            <a:chOff x="6035750" y="1773125"/>
            <a:chExt cx="2408400" cy="595475"/>
          </a:xfrm>
        </p:grpSpPr>
        <p:sp>
          <p:nvSpPr>
            <p:cNvPr id="158" name="Google Shape;158;p18"/>
            <p:cNvSpPr/>
            <p:nvPr/>
          </p:nvSpPr>
          <p:spPr>
            <a:xfrm rot="5400000">
              <a:off x="7096850" y="1021300"/>
              <a:ext cx="286200" cy="2408400"/>
            </a:xfrm>
            <a:prstGeom prst="leftBrace">
              <a:avLst>
                <a:gd fmla="val 8333" name="adj1"/>
                <a:gd fmla="val 50226" name="adj2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0000"/>
                </a:solidFill>
              </a:endParaRPr>
            </a:p>
          </p:txBody>
        </p:sp>
        <p:pic>
          <p:nvPicPr>
            <p:cNvPr id="159" name="Google Shape;15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150775" y="1773125"/>
              <a:ext cx="174825" cy="233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8"/>
          <p:cNvGrpSpPr/>
          <p:nvPr/>
        </p:nvGrpSpPr>
        <p:grpSpPr>
          <a:xfrm>
            <a:off x="449275" y="3425000"/>
            <a:ext cx="7004700" cy="1378800"/>
            <a:chOff x="449275" y="3425000"/>
            <a:chExt cx="7004700" cy="1378800"/>
          </a:xfrm>
        </p:grpSpPr>
        <p:pic>
          <p:nvPicPr>
            <p:cNvPr id="161" name="Google Shape;161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3650" y="4041200"/>
              <a:ext cx="6614986" cy="76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8"/>
            <p:cNvSpPr txBox="1"/>
            <p:nvPr/>
          </p:nvSpPr>
          <p:spPr>
            <a:xfrm>
              <a:off x="449275" y="3425000"/>
              <a:ext cx="7004700" cy="6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Using the change of variables formula, we obtain: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8"/>
          <p:cNvSpPr txBox="1"/>
          <p:nvPr/>
        </p:nvSpPr>
        <p:spPr>
          <a:xfrm>
            <a:off x="449275" y="991100"/>
            <a:ext cx="4080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Density of particle distribution: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18"/>
          <p:cNvGrpSpPr/>
          <p:nvPr/>
        </p:nvGrpSpPr>
        <p:grpSpPr>
          <a:xfrm>
            <a:off x="4288850" y="870675"/>
            <a:ext cx="1746900" cy="683100"/>
            <a:chOff x="4604750" y="903800"/>
            <a:chExt cx="1746900" cy="683100"/>
          </a:xfrm>
        </p:grpSpPr>
        <p:sp>
          <p:nvSpPr>
            <p:cNvPr id="165" name="Google Shape;165;p18"/>
            <p:cNvSpPr txBox="1"/>
            <p:nvPr/>
          </p:nvSpPr>
          <p:spPr>
            <a:xfrm>
              <a:off x="4604750" y="903800"/>
              <a:ext cx="1746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Unknown density!</a:t>
              </a:r>
              <a:endParaRPr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5208225" y="1328000"/>
              <a:ext cx="248100" cy="258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00" y="4117661"/>
            <a:ext cx="8839201" cy="78091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067"/>
                </a:solidFill>
              </a:rPr>
              <a:t>Changing variables</a:t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350" y="1455488"/>
            <a:ext cx="3368275" cy="3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451025" y="846850"/>
            <a:ext cx="4995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change of variables: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7625" y="1416337"/>
            <a:ext cx="1209925" cy="33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7700" y="1205701"/>
            <a:ext cx="1209925" cy="758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9"/>
          <p:cNvGrpSpPr/>
          <p:nvPr/>
        </p:nvGrpSpPr>
        <p:grpSpPr>
          <a:xfrm>
            <a:off x="2307200" y="1853400"/>
            <a:ext cx="1656600" cy="759150"/>
            <a:chOff x="2307200" y="1853400"/>
            <a:chExt cx="1656600" cy="759150"/>
          </a:xfrm>
        </p:grpSpPr>
        <p:sp>
          <p:nvSpPr>
            <p:cNvPr id="179" name="Google Shape;179;p19"/>
            <p:cNvSpPr txBox="1"/>
            <p:nvPr/>
          </p:nvSpPr>
          <p:spPr>
            <a:xfrm>
              <a:off x="2307200" y="2029650"/>
              <a:ext cx="1656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We can’t invert this</a:t>
              </a:r>
              <a:endParaRPr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 flipH="1" rot="10800000">
              <a:off x="2931588" y="1853400"/>
              <a:ext cx="248100" cy="2757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1" name="Google Shape;18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055900"/>
            <a:ext cx="8839203" cy="79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025" y="2113150"/>
            <a:ext cx="8337554" cy="7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75" y="3249800"/>
            <a:ext cx="4074500" cy="6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925" y="3249800"/>
            <a:ext cx="4295749" cy="6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675" y="3249800"/>
            <a:ext cx="4074500" cy="6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9925" y="3249800"/>
            <a:ext cx="4295749" cy="6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/>
              <a:t>Changing variables</a:t>
            </a:r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7612" y="1043555"/>
            <a:ext cx="8375776" cy="739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8667" y="2273975"/>
            <a:ext cx="8514981" cy="67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894975" y="2340238"/>
            <a:ext cx="366600" cy="538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4045050" y="2239448"/>
            <a:ext cx="4883400" cy="67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1481075" y="2247400"/>
            <a:ext cx="1329300" cy="67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8675" y="4132175"/>
            <a:ext cx="5293555" cy="6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2898" y="3097575"/>
            <a:ext cx="6298225" cy="4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44250"/>
            <a:ext cx="6545625" cy="7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/>
              <a:t>Changing variables</a:t>
            </a:r>
            <a:endParaRPr/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450" y="2879057"/>
            <a:ext cx="5188877" cy="40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50" y="2292613"/>
            <a:ext cx="4089000" cy="36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650" y="3503251"/>
            <a:ext cx="4212450" cy="4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07650" y="945425"/>
            <a:ext cx="4995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From the previous slide: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544075" y="1476275"/>
            <a:ext cx="553500" cy="538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06725" y="2790225"/>
            <a:ext cx="2175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Equation for the increment</a:t>
            </a:r>
            <a:endParaRPr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(Langevin equation)</a:t>
            </a:r>
            <a:endParaRPr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21"/>
          <p:cNvGrpSpPr/>
          <p:nvPr/>
        </p:nvGrpSpPr>
        <p:grpSpPr>
          <a:xfrm>
            <a:off x="407650" y="4007725"/>
            <a:ext cx="7525176" cy="1081150"/>
            <a:chOff x="407650" y="4007725"/>
            <a:chExt cx="7525176" cy="1081150"/>
          </a:xfrm>
        </p:grpSpPr>
        <p:pic>
          <p:nvPicPr>
            <p:cNvPr id="214" name="Google Shape;214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8650" y="4590625"/>
              <a:ext cx="3101900" cy="36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171100" y="4459815"/>
              <a:ext cx="2761726" cy="629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21"/>
            <p:cNvSpPr txBox="1"/>
            <p:nvPr/>
          </p:nvSpPr>
          <p:spPr>
            <a:xfrm>
              <a:off x="407650" y="4007725"/>
              <a:ext cx="14703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Note that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3974000" y="4482900"/>
              <a:ext cx="997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since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1"/>
          <p:cNvGrpSpPr/>
          <p:nvPr/>
        </p:nvGrpSpPr>
        <p:grpSpPr>
          <a:xfrm>
            <a:off x="1921525" y="3913600"/>
            <a:ext cx="1753200" cy="493325"/>
            <a:chOff x="1921525" y="3913600"/>
            <a:chExt cx="1753200" cy="493325"/>
          </a:xfrm>
        </p:grpSpPr>
        <p:pic>
          <p:nvPicPr>
            <p:cNvPr id="219" name="Google Shape;219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90987" y="4165875"/>
              <a:ext cx="414280" cy="241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21"/>
            <p:cNvSpPr/>
            <p:nvPr/>
          </p:nvSpPr>
          <p:spPr>
            <a:xfrm rot="-5400000">
              <a:off x="2698075" y="3137050"/>
              <a:ext cx="200100" cy="17532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/>
              <a:t>Changing variables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459675" y="909325"/>
            <a:ext cx="4995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Finally!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50" y="1587650"/>
            <a:ext cx="4362851" cy="36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2"/>
          <p:cNvGrpSpPr/>
          <p:nvPr/>
        </p:nvGrpSpPr>
        <p:grpSpPr>
          <a:xfrm>
            <a:off x="459675" y="2103138"/>
            <a:ext cx="4995900" cy="1521887"/>
            <a:chOff x="459675" y="2103138"/>
            <a:chExt cx="4995900" cy="1521887"/>
          </a:xfrm>
        </p:grpSpPr>
        <p:sp>
          <p:nvSpPr>
            <p:cNvPr id="230" name="Google Shape;230;p22"/>
            <p:cNvSpPr txBox="1"/>
            <p:nvPr/>
          </p:nvSpPr>
          <p:spPr>
            <a:xfrm>
              <a:off x="459675" y="2103138"/>
              <a:ext cx="49959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With a little more efforts (homework):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1" name="Google Shape;231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5250" y="2832475"/>
              <a:ext cx="4399050" cy="792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2"/>
          <p:cNvGrpSpPr/>
          <p:nvPr/>
        </p:nvGrpSpPr>
        <p:grpSpPr>
          <a:xfrm>
            <a:off x="2034725" y="3930563"/>
            <a:ext cx="6298777" cy="667675"/>
            <a:chOff x="2034725" y="4081538"/>
            <a:chExt cx="6298777" cy="667675"/>
          </a:xfrm>
        </p:grpSpPr>
        <p:pic>
          <p:nvPicPr>
            <p:cNvPr id="233" name="Google Shape;233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51626" y="4081538"/>
              <a:ext cx="4681876" cy="66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22"/>
            <p:cNvSpPr txBox="1"/>
            <p:nvPr/>
          </p:nvSpPr>
          <p:spPr>
            <a:xfrm>
              <a:off x="2034725" y="4123925"/>
              <a:ext cx="17001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Reminder:</a:t>
              </a:r>
              <a:endParaRPr b="1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Derivation of the Fokker-Planck equation</a:t>
            </a:r>
            <a:endParaRPr/>
          </a:p>
        </p:txBody>
      </p:sp>
      <p:pic>
        <p:nvPicPr>
          <p:cNvPr id="241" name="Google Shape;2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25" y="1010237"/>
            <a:ext cx="6419960" cy="74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3"/>
          <p:cNvGrpSpPr/>
          <p:nvPr/>
        </p:nvGrpSpPr>
        <p:grpSpPr>
          <a:xfrm>
            <a:off x="455925" y="3634000"/>
            <a:ext cx="7111302" cy="1139700"/>
            <a:chOff x="455925" y="3634000"/>
            <a:chExt cx="7111302" cy="1139700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5925" y="3634000"/>
              <a:ext cx="7111302" cy="681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17125" y="4468650"/>
              <a:ext cx="2031201" cy="305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" name="Google Shape;245;p23"/>
          <p:cNvGrpSpPr/>
          <p:nvPr/>
        </p:nvGrpSpPr>
        <p:grpSpPr>
          <a:xfrm>
            <a:off x="455925" y="1969039"/>
            <a:ext cx="6597675" cy="1313886"/>
            <a:chOff x="455925" y="1969039"/>
            <a:chExt cx="6597675" cy="1313886"/>
          </a:xfrm>
        </p:grpSpPr>
        <p:pic>
          <p:nvPicPr>
            <p:cNvPr id="246" name="Google Shape;246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5925" y="1969039"/>
              <a:ext cx="4136611" cy="349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5925" y="2537659"/>
              <a:ext cx="4136600" cy="7452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3"/>
            <p:cNvSpPr/>
            <p:nvPr/>
          </p:nvSpPr>
          <p:spPr>
            <a:xfrm>
              <a:off x="4828975" y="1987650"/>
              <a:ext cx="295800" cy="1168200"/>
            </a:xfrm>
            <a:prstGeom prst="rightBrace">
              <a:avLst>
                <a:gd fmla="val 15938" name="adj1"/>
                <a:gd fmla="val 50000" name="adj2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4878600" y="2360675"/>
              <a:ext cx="21750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Change of variables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23"/>
          <p:cNvSpPr txBox="1"/>
          <p:nvPr/>
        </p:nvSpPr>
        <p:spPr>
          <a:xfrm>
            <a:off x="7053600" y="1146108"/>
            <a:ext cx="20904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Increment of the density</a:t>
            </a:r>
            <a:endParaRPr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p23"/>
          <p:cNvGrpSpPr/>
          <p:nvPr/>
        </p:nvGrpSpPr>
        <p:grpSpPr>
          <a:xfrm>
            <a:off x="3739775" y="3194950"/>
            <a:ext cx="3892200" cy="1110150"/>
            <a:chOff x="3739775" y="3194950"/>
            <a:chExt cx="3892200" cy="1110150"/>
          </a:xfrm>
        </p:grpSpPr>
        <p:sp>
          <p:nvSpPr>
            <p:cNvPr id="252" name="Google Shape;252;p23"/>
            <p:cNvSpPr/>
            <p:nvPr/>
          </p:nvSpPr>
          <p:spPr>
            <a:xfrm>
              <a:off x="3739775" y="3634000"/>
              <a:ext cx="3892200" cy="671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5382725" y="3194950"/>
              <a:ext cx="6096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???</a:t>
              </a:r>
              <a:endParaRPr b="1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Derivation of the Fokker-Planck equation</a:t>
            </a:r>
            <a:endParaRPr/>
          </a:p>
        </p:txBody>
      </p:sp>
      <p:pic>
        <p:nvPicPr>
          <p:cNvPr id="260" name="Google Shape;2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752" y="980774"/>
            <a:ext cx="4786824" cy="69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4"/>
          <p:cNvGrpSpPr/>
          <p:nvPr/>
        </p:nvGrpSpPr>
        <p:grpSpPr>
          <a:xfrm>
            <a:off x="457750" y="1858825"/>
            <a:ext cx="3246736" cy="582900"/>
            <a:chOff x="457750" y="1858825"/>
            <a:chExt cx="3246736" cy="582900"/>
          </a:xfrm>
        </p:grpSpPr>
        <p:pic>
          <p:nvPicPr>
            <p:cNvPr id="262" name="Google Shape;26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18525" y="1986937"/>
              <a:ext cx="1085961" cy="326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24"/>
            <p:cNvSpPr txBox="1"/>
            <p:nvPr/>
          </p:nvSpPr>
          <p:spPr>
            <a:xfrm>
              <a:off x="457750" y="1858825"/>
              <a:ext cx="1561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0th order: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24"/>
          <p:cNvGrpSpPr/>
          <p:nvPr/>
        </p:nvGrpSpPr>
        <p:grpSpPr>
          <a:xfrm>
            <a:off x="457750" y="2704163"/>
            <a:ext cx="7414306" cy="582913"/>
            <a:chOff x="457750" y="2704163"/>
            <a:chExt cx="7414306" cy="582913"/>
          </a:xfrm>
        </p:grpSpPr>
        <p:pic>
          <p:nvPicPr>
            <p:cNvPr id="265" name="Google Shape;265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18525" y="2704175"/>
              <a:ext cx="5253531" cy="58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4"/>
            <p:cNvSpPr txBox="1"/>
            <p:nvPr/>
          </p:nvSpPr>
          <p:spPr>
            <a:xfrm>
              <a:off x="457750" y="2704163"/>
              <a:ext cx="1561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st order: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24"/>
          <p:cNvGrpSpPr/>
          <p:nvPr/>
        </p:nvGrpSpPr>
        <p:grpSpPr>
          <a:xfrm>
            <a:off x="457750" y="3568075"/>
            <a:ext cx="7485301" cy="691800"/>
            <a:chOff x="457750" y="3568075"/>
            <a:chExt cx="7485301" cy="691800"/>
          </a:xfrm>
        </p:grpSpPr>
        <p:sp>
          <p:nvSpPr>
            <p:cNvPr id="268" name="Google Shape;268;p24"/>
            <p:cNvSpPr txBox="1"/>
            <p:nvPr/>
          </p:nvSpPr>
          <p:spPr>
            <a:xfrm>
              <a:off x="457750" y="3622513"/>
              <a:ext cx="17097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nd order: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9" name="Google Shape;269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18526" y="3568075"/>
              <a:ext cx="5324526" cy="691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Taking the expectation</a:t>
            </a:r>
            <a:endParaRPr/>
          </a:p>
        </p:txBody>
      </p:sp>
      <p:pic>
        <p:nvPicPr>
          <p:cNvPr id="276" name="Google Shape;2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275" y="1575600"/>
            <a:ext cx="2250176" cy="3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75" y="2654077"/>
            <a:ext cx="8362948" cy="65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277" y="4204825"/>
            <a:ext cx="3471376" cy="653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25"/>
          <p:cNvGrpSpPr/>
          <p:nvPr/>
        </p:nvGrpSpPr>
        <p:grpSpPr>
          <a:xfrm>
            <a:off x="402250" y="887475"/>
            <a:ext cx="3246736" cy="582900"/>
            <a:chOff x="457750" y="1858825"/>
            <a:chExt cx="3246736" cy="582900"/>
          </a:xfrm>
        </p:grpSpPr>
        <p:pic>
          <p:nvPicPr>
            <p:cNvPr id="280" name="Google Shape;280;p2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18525" y="1986937"/>
              <a:ext cx="1085961" cy="326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5"/>
            <p:cNvSpPr txBox="1"/>
            <p:nvPr/>
          </p:nvSpPr>
          <p:spPr>
            <a:xfrm>
              <a:off x="457750" y="1858825"/>
              <a:ext cx="1561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0th order: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25"/>
          <p:cNvGrpSpPr/>
          <p:nvPr/>
        </p:nvGrpSpPr>
        <p:grpSpPr>
          <a:xfrm>
            <a:off x="402250" y="1990625"/>
            <a:ext cx="7414306" cy="582913"/>
            <a:chOff x="457750" y="2704163"/>
            <a:chExt cx="7414306" cy="582913"/>
          </a:xfrm>
        </p:grpSpPr>
        <p:pic>
          <p:nvPicPr>
            <p:cNvPr id="283" name="Google Shape;283;p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18525" y="2704175"/>
              <a:ext cx="5253531" cy="58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5"/>
            <p:cNvSpPr txBox="1"/>
            <p:nvPr/>
          </p:nvSpPr>
          <p:spPr>
            <a:xfrm>
              <a:off x="457750" y="2704163"/>
              <a:ext cx="1561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1st order: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5" name="Google Shape;28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14450" y="3832350"/>
            <a:ext cx="3022488" cy="3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05900" y="3307775"/>
            <a:ext cx="1730315" cy="3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25" y="3573899"/>
            <a:ext cx="7385076" cy="729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950" y="939175"/>
            <a:ext cx="5558329" cy="6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Taking the expectation (2nd order)</a:t>
            </a:r>
            <a:endParaRPr/>
          </a:p>
        </p:txBody>
      </p:sp>
      <p:pic>
        <p:nvPicPr>
          <p:cNvPr id="295" name="Google Shape;2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450" y="1804000"/>
            <a:ext cx="8839202" cy="653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525" y="2651000"/>
            <a:ext cx="7370931" cy="72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26"/>
          <p:cNvGrpSpPr/>
          <p:nvPr/>
        </p:nvGrpSpPr>
        <p:grpSpPr>
          <a:xfrm>
            <a:off x="5492375" y="1736950"/>
            <a:ext cx="3177300" cy="1457125"/>
            <a:chOff x="5492375" y="1736950"/>
            <a:chExt cx="3177300" cy="1457125"/>
          </a:xfrm>
        </p:grpSpPr>
        <p:sp>
          <p:nvSpPr>
            <p:cNvPr id="298" name="Google Shape;298;p26"/>
            <p:cNvSpPr/>
            <p:nvPr/>
          </p:nvSpPr>
          <p:spPr>
            <a:xfrm>
              <a:off x="5492375" y="1736950"/>
              <a:ext cx="3177300" cy="7293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6735875" y="2729375"/>
              <a:ext cx="690300" cy="464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26"/>
          <p:cNvGrpSpPr/>
          <p:nvPr/>
        </p:nvGrpSpPr>
        <p:grpSpPr>
          <a:xfrm>
            <a:off x="6014275" y="2729375"/>
            <a:ext cx="534300" cy="753175"/>
            <a:chOff x="6014275" y="2729375"/>
            <a:chExt cx="534300" cy="753175"/>
          </a:xfrm>
        </p:grpSpPr>
        <p:sp>
          <p:nvSpPr>
            <p:cNvPr id="301" name="Google Shape;301;p26"/>
            <p:cNvSpPr/>
            <p:nvPr/>
          </p:nvSpPr>
          <p:spPr>
            <a:xfrm>
              <a:off x="6014275" y="2729375"/>
              <a:ext cx="534300" cy="464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2" name="Google Shape;302;p2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80538" y="3285437"/>
              <a:ext cx="401782" cy="1971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3" name="Google Shape;303;p26"/>
          <p:cNvGrpSpPr/>
          <p:nvPr/>
        </p:nvGrpSpPr>
        <p:grpSpPr>
          <a:xfrm>
            <a:off x="648911" y="3214200"/>
            <a:ext cx="2967927" cy="969300"/>
            <a:chOff x="648911" y="3214200"/>
            <a:chExt cx="2967927" cy="969300"/>
          </a:xfrm>
        </p:grpSpPr>
        <p:sp>
          <p:nvSpPr>
            <p:cNvPr id="304" name="Google Shape;304;p26"/>
            <p:cNvSpPr/>
            <p:nvPr/>
          </p:nvSpPr>
          <p:spPr>
            <a:xfrm rot="1128705">
              <a:off x="1226059" y="3599663"/>
              <a:ext cx="2423559" cy="198374"/>
            </a:xfrm>
            <a:prstGeom prst="rightArrow">
              <a:avLst>
                <a:gd fmla="val 31427" name="adj1"/>
                <a:gd fmla="val 157486" name="adj2"/>
              </a:avLst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 rot="6688321">
              <a:off x="480228" y="3641481"/>
              <a:ext cx="823665" cy="198549"/>
            </a:xfrm>
            <a:prstGeom prst="rightArrow">
              <a:avLst>
                <a:gd fmla="val 31427" name="adj1"/>
                <a:gd fmla="val 157486" name="adj2"/>
              </a:avLst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26"/>
          <p:cNvGrpSpPr/>
          <p:nvPr/>
        </p:nvGrpSpPr>
        <p:grpSpPr>
          <a:xfrm>
            <a:off x="5492375" y="3491700"/>
            <a:ext cx="1002300" cy="1099975"/>
            <a:chOff x="5857550" y="2037575"/>
            <a:chExt cx="1002300" cy="1099975"/>
          </a:xfrm>
        </p:grpSpPr>
        <p:sp>
          <p:nvSpPr>
            <p:cNvPr id="307" name="Google Shape;307;p26"/>
            <p:cNvSpPr/>
            <p:nvPr/>
          </p:nvSpPr>
          <p:spPr>
            <a:xfrm>
              <a:off x="5857550" y="2037575"/>
              <a:ext cx="1002300" cy="811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8" name="Google Shape;308;p2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57800" y="2940437"/>
              <a:ext cx="401782" cy="1971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" name="Google Shape;309;p26"/>
          <p:cNvGrpSpPr/>
          <p:nvPr/>
        </p:nvGrpSpPr>
        <p:grpSpPr>
          <a:xfrm>
            <a:off x="2305400" y="3491700"/>
            <a:ext cx="1002300" cy="1190450"/>
            <a:chOff x="2305400" y="3491700"/>
            <a:chExt cx="1002300" cy="1190450"/>
          </a:xfrm>
        </p:grpSpPr>
        <p:sp>
          <p:nvSpPr>
            <p:cNvPr id="310" name="Google Shape;310;p26"/>
            <p:cNvSpPr/>
            <p:nvPr/>
          </p:nvSpPr>
          <p:spPr>
            <a:xfrm>
              <a:off x="2305400" y="3491700"/>
              <a:ext cx="1002300" cy="811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1" name="Google Shape;311;p2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305400" y="4370117"/>
              <a:ext cx="1002300" cy="3120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" name="Google Shape;312;p26"/>
          <p:cNvGrpSpPr/>
          <p:nvPr/>
        </p:nvGrpSpPr>
        <p:grpSpPr>
          <a:xfrm>
            <a:off x="410800" y="3491700"/>
            <a:ext cx="1853100" cy="1255200"/>
            <a:chOff x="410800" y="3491700"/>
            <a:chExt cx="1853100" cy="1255200"/>
          </a:xfrm>
        </p:grpSpPr>
        <p:sp>
          <p:nvSpPr>
            <p:cNvPr id="313" name="Google Shape;313;p26"/>
            <p:cNvSpPr/>
            <p:nvPr/>
          </p:nvSpPr>
          <p:spPr>
            <a:xfrm>
              <a:off x="410800" y="3491700"/>
              <a:ext cx="1853100" cy="811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4" name="Google Shape;314;p2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36887" y="4420900"/>
              <a:ext cx="1400919" cy="32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Derivation of the Fokker-Planck equation</a:t>
            </a:r>
            <a:endParaRPr/>
          </a:p>
        </p:txBody>
      </p:sp>
      <p:pic>
        <p:nvPicPr>
          <p:cNvPr id="321" name="Google Shape;3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0075"/>
            <a:ext cx="5994071" cy="57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58250"/>
            <a:ext cx="7495001" cy="8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6661400" y="1069283"/>
            <a:ext cx="20904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Increment of the density</a:t>
            </a:r>
            <a:endParaRPr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" name="Google Shape;324;p27"/>
          <p:cNvGrpSpPr/>
          <p:nvPr/>
        </p:nvGrpSpPr>
        <p:grpSpPr>
          <a:xfrm>
            <a:off x="152400" y="1734563"/>
            <a:ext cx="8764050" cy="1304274"/>
            <a:chOff x="152400" y="1734563"/>
            <a:chExt cx="8764050" cy="1304274"/>
          </a:xfrm>
        </p:grpSpPr>
        <p:pic>
          <p:nvPicPr>
            <p:cNvPr id="325" name="Google Shape;325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2400" y="1734563"/>
              <a:ext cx="7402473" cy="1304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7"/>
            <p:cNvSpPr txBox="1"/>
            <p:nvPr/>
          </p:nvSpPr>
          <p:spPr>
            <a:xfrm>
              <a:off x="7735050" y="2198750"/>
              <a:ext cx="11814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Taylor series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27"/>
          <p:cNvSpPr/>
          <p:nvPr/>
        </p:nvSpPr>
        <p:spPr>
          <a:xfrm>
            <a:off x="3174575" y="1734575"/>
            <a:ext cx="4284900" cy="133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121375" y="1818725"/>
            <a:ext cx="6338100" cy="1923075"/>
            <a:chOff x="1121375" y="1818725"/>
            <a:chExt cx="6338100" cy="1923075"/>
          </a:xfrm>
        </p:grpSpPr>
        <p:sp>
          <p:nvSpPr>
            <p:cNvPr id="329" name="Google Shape;329;p27"/>
            <p:cNvSpPr/>
            <p:nvPr/>
          </p:nvSpPr>
          <p:spPr>
            <a:xfrm>
              <a:off x="1188300" y="1818725"/>
              <a:ext cx="234300" cy="416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1121375" y="3115100"/>
              <a:ext cx="6338100" cy="626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27"/>
          <p:cNvGrpSpPr/>
          <p:nvPr/>
        </p:nvGrpSpPr>
        <p:grpSpPr>
          <a:xfrm>
            <a:off x="1121375" y="1818725"/>
            <a:ext cx="3040800" cy="2331325"/>
            <a:chOff x="1121375" y="1818725"/>
            <a:chExt cx="3040800" cy="2331325"/>
          </a:xfrm>
        </p:grpSpPr>
        <p:sp>
          <p:nvSpPr>
            <p:cNvPr id="332" name="Google Shape;332;p27"/>
            <p:cNvSpPr/>
            <p:nvPr/>
          </p:nvSpPr>
          <p:spPr>
            <a:xfrm>
              <a:off x="1621050" y="1818725"/>
              <a:ext cx="1398300" cy="416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1121375" y="3733950"/>
              <a:ext cx="3040800" cy="416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27"/>
          <p:cNvGrpSpPr/>
          <p:nvPr/>
        </p:nvGrpSpPr>
        <p:grpSpPr>
          <a:xfrm>
            <a:off x="152400" y="3068675"/>
            <a:ext cx="1648775" cy="765600"/>
            <a:chOff x="152400" y="3068675"/>
            <a:chExt cx="1648775" cy="765600"/>
          </a:xfrm>
        </p:grpSpPr>
        <p:sp>
          <p:nvSpPr>
            <p:cNvPr id="335" name="Google Shape;335;p27"/>
            <p:cNvSpPr/>
            <p:nvPr/>
          </p:nvSpPr>
          <p:spPr>
            <a:xfrm>
              <a:off x="1121375" y="3068675"/>
              <a:ext cx="679800" cy="765600"/>
            </a:xfrm>
            <a:prstGeom prst="mathMultiply">
              <a:avLst>
                <a:gd fmla="val 4097" name="adj1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152400" y="3068675"/>
              <a:ext cx="679800" cy="765600"/>
            </a:xfrm>
            <a:prstGeom prst="mathMultiply">
              <a:avLst>
                <a:gd fmla="val 4097" name="adj1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7" name="Google Shape;33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347068"/>
            <a:ext cx="7886700" cy="5480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27"/>
          <p:cNvGrpSpPr/>
          <p:nvPr/>
        </p:nvGrpSpPr>
        <p:grpSpPr>
          <a:xfrm>
            <a:off x="7405801" y="3885825"/>
            <a:ext cx="1059724" cy="1105346"/>
            <a:chOff x="7405801" y="3885825"/>
            <a:chExt cx="1059724" cy="1105346"/>
          </a:xfrm>
        </p:grpSpPr>
        <p:sp>
          <p:nvSpPr>
            <p:cNvPr id="339" name="Google Shape;339;p27"/>
            <p:cNvSpPr/>
            <p:nvPr/>
          </p:nvSpPr>
          <p:spPr>
            <a:xfrm rot="-2699236">
              <a:off x="7299022" y="4574664"/>
              <a:ext cx="953958" cy="92914"/>
            </a:xfrm>
            <a:prstGeom prst="rightArrow">
              <a:avLst>
                <a:gd fmla="val 28761" name="adj1"/>
                <a:gd fmla="val 118005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7"/>
            <p:cNvSpPr txBox="1"/>
            <p:nvPr/>
          </p:nvSpPr>
          <p:spPr>
            <a:xfrm>
              <a:off x="8083925" y="3885825"/>
              <a:ext cx="381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 break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Fokker-Planck equation</a:t>
            </a:r>
            <a:endParaRPr/>
          </a:p>
        </p:txBody>
      </p:sp>
      <p:pic>
        <p:nvPicPr>
          <p:cNvPr id="353" name="Google Shape;3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000" y="828075"/>
            <a:ext cx="7166025" cy="5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1362" y="1494150"/>
            <a:ext cx="7121250" cy="35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type="title"/>
          </p:nvPr>
        </p:nvSpPr>
        <p:spPr>
          <a:xfrm>
            <a:off x="385800" y="45250"/>
            <a:ext cx="84702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Stationary distribution of the Langevin dynamics</a:t>
            </a:r>
            <a:endParaRPr/>
          </a:p>
        </p:txBody>
      </p:sp>
      <p:pic>
        <p:nvPicPr>
          <p:cNvPr id="361" name="Google Shape;3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0" y="1039450"/>
            <a:ext cx="7166025" cy="563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30"/>
          <p:cNvGrpSpPr/>
          <p:nvPr/>
        </p:nvGrpSpPr>
        <p:grpSpPr>
          <a:xfrm>
            <a:off x="196800" y="3447350"/>
            <a:ext cx="8343201" cy="1316487"/>
            <a:chOff x="196800" y="3447350"/>
            <a:chExt cx="8343201" cy="1316487"/>
          </a:xfrm>
        </p:grpSpPr>
        <p:sp>
          <p:nvSpPr>
            <p:cNvPr id="363" name="Google Shape;363;p30"/>
            <p:cNvSpPr txBox="1"/>
            <p:nvPr/>
          </p:nvSpPr>
          <p:spPr>
            <a:xfrm>
              <a:off x="196800" y="3447350"/>
              <a:ext cx="56379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With a little efforts (homework), we obtain: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0"/>
            <p:cNvSpPr txBox="1"/>
            <p:nvPr/>
          </p:nvSpPr>
          <p:spPr>
            <a:xfrm>
              <a:off x="6606275" y="4161225"/>
              <a:ext cx="913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when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5" name="Google Shape;36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26200" y="4141514"/>
              <a:ext cx="913800" cy="622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6800" y="4141525"/>
              <a:ext cx="6374310" cy="622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" name="Google Shape;367;p30"/>
          <p:cNvGrpSpPr/>
          <p:nvPr/>
        </p:nvGrpSpPr>
        <p:grpSpPr>
          <a:xfrm>
            <a:off x="231500" y="1765513"/>
            <a:ext cx="6296700" cy="582900"/>
            <a:chOff x="231500" y="1765513"/>
            <a:chExt cx="6296700" cy="582900"/>
          </a:xfrm>
        </p:grpSpPr>
        <p:sp>
          <p:nvSpPr>
            <p:cNvPr id="368" name="Google Shape;368;p30"/>
            <p:cNvSpPr txBox="1"/>
            <p:nvPr/>
          </p:nvSpPr>
          <p:spPr>
            <a:xfrm>
              <a:off x="1974500" y="1765513"/>
              <a:ext cx="45537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(density does not change anymore)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9" name="Google Shape;369;p3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1500" y="1890585"/>
              <a:ext cx="1571234" cy="279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0" name="Google Shape;370;p30"/>
          <p:cNvGrpSpPr/>
          <p:nvPr/>
        </p:nvGrpSpPr>
        <p:grpSpPr>
          <a:xfrm>
            <a:off x="196800" y="2490612"/>
            <a:ext cx="8740700" cy="682688"/>
            <a:chOff x="196800" y="2490612"/>
            <a:chExt cx="8740700" cy="682688"/>
          </a:xfrm>
        </p:grpSpPr>
        <p:sp>
          <p:nvSpPr>
            <p:cNvPr id="371" name="Google Shape;371;p30"/>
            <p:cNvSpPr txBox="1"/>
            <p:nvPr/>
          </p:nvSpPr>
          <p:spPr>
            <a:xfrm>
              <a:off x="196800" y="2511425"/>
              <a:ext cx="685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Let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0"/>
            <p:cNvSpPr txBox="1"/>
            <p:nvPr/>
          </p:nvSpPr>
          <p:spPr>
            <a:xfrm>
              <a:off x="7228700" y="2590400"/>
              <a:ext cx="1708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Gibbs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3" name="Google Shape;373;p3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83199" y="2490612"/>
              <a:ext cx="6347432" cy="636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Sampling via the Langevin dynamics</a:t>
            </a:r>
            <a:endParaRPr/>
          </a:p>
        </p:txBody>
      </p:sp>
      <p:pic>
        <p:nvPicPr>
          <p:cNvPr id="380" name="Google Shape;3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25" y="975162"/>
            <a:ext cx="3985301" cy="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60" y="3191037"/>
            <a:ext cx="3477817" cy="34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31"/>
          <p:cNvGrpSpPr/>
          <p:nvPr/>
        </p:nvGrpSpPr>
        <p:grpSpPr>
          <a:xfrm>
            <a:off x="399000" y="1334850"/>
            <a:ext cx="8205375" cy="1165788"/>
            <a:chOff x="399000" y="1334850"/>
            <a:chExt cx="8205375" cy="1165788"/>
          </a:xfrm>
        </p:grpSpPr>
        <p:sp>
          <p:nvSpPr>
            <p:cNvPr id="383" name="Google Shape;383;p31"/>
            <p:cNvSpPr txBox="1"/>
            <p:nvPr/>
          </p:nvSpPr>
          <p:spPr>
            <a:xfrm>
              <a:off x="399000" y="1334850"/>
              <a:ext cx="6049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Particles have the stationary distribution: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4" name="Google Shape;384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8651" y="1870548"/>
              <a:ext cx="6049197" cy="582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31"/>
            <p:cNvSpPr txBox="1"/>
            <p:nvPr/>
          </p:nvSpPr>
          <p:spPr>
            <a:xfrm>
              <a:off x="6895575" y="1917738"/>
              <a:ext cx="1708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Gibbs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31"/>
          <p:cNvSpPr txBox="1"/>
          <p:nvPr/>
        </p:nvSpPr>
        <p:spPr>
          <a:xfrm>
            <a:off x="4978750" y="901400"/>
            <a:ext cx="1590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Langevin equation</a:t>
            </a:r>
            <a:endParaRPr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31"/>
          <p:cNvGrpSpPr/>
          <p:nvPr/>
        </p:nvGrpSpPr>
        <p:grpSpPr>
          <a:xfrm>
            <a:off x="399000" y="2500650"/>
            <a:ext cx="4704350" cy="613000"/>
            <a:chOff x="399000" y="2500650"/>
            <a:chExt cx="4704350" cy="613000"/>
          </a:xfrm>
        </p:grpSpPr>
        <p:pic>
          <p:nvPicPr>
            <p:cNvPr id="388" name="Google Shape;388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69109" y="2500650"/>
              <a:ext cx="1434241" cy="58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1"/>
            <p:cNvSpPr txBox="1"/>
            <p:nvPr/>
          </p:nvSpPr>
          <p:spPr>
            <a:xfrm>
              <a:off x="399000" y="2530750"/>
              <a:ext cx="3304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We want to sample from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0" name="Google Shape;39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6350" y="3784175"/>
            <a:ext cx="8108678" cy="638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p31"/>
          <p:cNvGrpSpPr/>
          <p:nvPr/>
        </p:nvGrpSpPr>
        <p:grpSpPr>
          <a:xfrm>
            <a:off x="399000" y="4513800"/>
            <a:ext cx="6710498" cy="582900"/>
            <a:chOff x="399000" y="4513800"/>
            <a:chExt cx="6710498" cy="582900"/>
          </a:xfrm>
        </p:grpSpPr>
        <p:sp>
          <p:nvSpPr>
            <p:cNvPr id="392" name="Google Shape;392;p31"/>
            <p:cNvSpPr txBox="1"/>
            <p:nvPr/>
          </p:nvSpPr>
          <p:spPr>
            <a:xfrm>
              <a:off x="399000" y="4513800"/>
              <a:ext cx="9627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Note!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3" name="Google Shape;393;p3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361699" y="4667150"/>
              <a:ext cx="5747800" cy="305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4" name="Google Shape;394;p31"/>
          <p:cNvSpPr/>
          <p:nvPr/>
        </p:nvSpPr>
        <p:spPr>
          <a:xfrm>
            <a:off x="6276500" y="4391250"/>
            <a:ext cx="775200" cy="828000"/>
          </a:xfrm>
          <a:prstGeom prst="mathMultiply">
            <a:avLst>
              <a:gd fmla="val 4097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950" y="1372200"/>
            <a:ext cx="4503007" cy="36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Sampling via the Langevin dynamics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364300" y="789300"/>
            <a:ext cx="5993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Stochastic Differential Equation for sampling: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32"/>
          <p:cNvGrpSpPr/>
          <p:nvPr/>
        </p:nvGrpSpPr>
        <p:grpSpPr>
          <a:xfrm>
            <a:off x="364300" y="1850975"/>
            <a:ext cx="5993400" cy="951025"/>
            <a:chOff x="364300" y="1850975"/>
            <a:chExt cx="5993400" cy="951025"/>
          </a:xfrm>
        </p:grpSpPr>
        <p:pic>
          <p:nvPicPr>
            <p:cNvPr id="404" name="Google Shape;40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5950" y="2494875"/>
              <a:ext cx="4906005" cy="307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32"/>
            <p:cNvSpPr txBox="1"/>
            <p:nvPr/>
          </p:nvSpPr>
          <p:spPr>
            <a:xfrm>
              <a:off x="364300" y="1850975"/>
              <a:ext cx="59934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Discrete approximation: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32"/>
          <p:cNvGrpSpPr/>
          <p:nvPr/>
        </p:nvGrpSpPr>
        <p:grpSpPr>
          <a:xfrm>
            <a:off x="412625" y="2802000"/>
            <a:ext cx="4887687" cy="1762550"/>
            <a:chOff x="412625" y="2802000"/>
            <a:chExt cx="4887687" cy="1762550"/>
          </a:xfrm>
        </p:grpSpPr>
        <p:pic>
          <p:nvPicPr>
            <p:cNvPr id="407" name="Google Shape;407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4588" y="3476250"/>
              <a:ext cx="4605725" cy="534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2"/>
            <p:cNvSpPr txBox="1"/>
            <p:nvPr/>
          </p:nvSpPr>
          <p:spPr>
            <a:xfrm>
              <a:off x="412625" y="2802000"/>
              <a:ext cx="2796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More popular way: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9" name="Google Shape;409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94599" y="4257425"/>
              <a:ext cx="2764063" cy="307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0" name="Google Shape;41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9050" y="843259"/>
            <a:ext cx="4257423" cy="5676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Langevin dynamics for the Bayesian inference</a:t>
            </a:r>
            <a:endParaRPr/>
          </a:p>
        </p:txBody>
      </p:sp>
      <p:pic>
        <p:nvPicPr>
          <p:cNvPr id="417" name="Google Shape;4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75" y="1108209"/>
            <a:ext cx="7886702" cy="81586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3"/>
          <p:cNvSpPr txBox="1"/>
          <p:nvPr/>
        </p:nvSpPr>
        <p:spPr>
          <a:xfrm>
            <a:off x="229700" y="950725"/>
            <a:ext cx="1999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Predictive</a:t>
            </a: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distribution</a:t>
            </a:r>
            <a:endParaRPr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33"/>
          <p:cNvGrpSpPr/>
          <p:nvPr/>
        </p:nvGrpSpPr>
        <p:grpSpPr>
          <a:xfrm>
            <a:off x="6356925" y="865350"/>
            <a:ext cx="2349250" cy="841525"/>
            <a:chOff x="6365575" y="1108200"/>
            <a:chExt cx="2349250" cy="841525"/>
          </a:xfrm>
        </p:grpSpPr>
        <p:sp>
          <p:nvSpPr>
            <p:cNvPr id="420" name="Google Shape;420;p33"/>
            <p:cNvSpPr/>
            <p:nvPr/>
          </p:nvSpPr>
          <p:spPr>
            <a:xfrm>
              <a:off x="6365575" y="1533625"/>
              <a:ext cx="2108700" cy="416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3"/>
            <p:cNvSpPr txBox="1"/>
            <p:nvPr/>
          </p:nvSpPr>
          <p:spPr>
            <a:xfrm>
              <a:off x="6715325" y="1108200"/>
              <a:ext cx="19995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We need samples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2" name="Google Shape;42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375" y="3377625"/>
            <a:ext cx="6425496" cy="7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375" y="4260650"/>
            <a:ext cx="6857000" cy="71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33"/>
          <p:cNvGrpSpPr/>
          <p:nvPr/>
        </p:nvGrpSpPr>
        <p:grpSpPr>
          <a:xfrm>
            <a:off x="454375" y="2086438"/>
            <a:ext cx="6390800" cy="370500"/>
            <a:chOff x="454375" y="2086438"/>
            <a:chExt cx="6390800" cy="370500"/>
          </a:xfrm>
        </p:grpSpPr>
        <p:pic>
          <p:nvPicPr>
            <p:cNvPr id="425" name="Google Shape;425;p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4375" y="2110829"/>
              <a:ext cx="4473949" cy="3217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3"/>
            <p:cNvSpPr txBox="1"/>
            <p:nvPr/>
          </p:nvSpPr>
          <p:spPr>
            <a:xfrm>
              <a:off x="5239275" y="2086438"/>
              <a:ext cx="16059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Langevin equation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33"/>
          <p:cNvGrpSpPr/>
          <p:nvPr/>
        </p:nvGrpSpPr>
        <p:grpSpPr>
          <a:xfrm>
            <a:off x="454375" y="2742100"/>
            <a:ext cx="6947900" cy="467200"/>
            <a:chOff x="454375" y="2742100"/>
            <a:chExt cx="6947900" cy="467200"/>
          </a:xfrm>
        </p:grpSpPr>
        <p:pic>
          <p:nvPicPr>
            <p:cNvPr id="428" name="Google Shape;428;p3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4375" y="2742100"/>
              <a:ext cx="4473947" cy="46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3"/>
            <p:cNvSpPr txBox="1"/>
            <p:nvPr/>
          </p:nvSpPr>
          <p:spPr>
            <a:xfrm>
              <a:off x="5239275" y="2798500"/>
              <a:ext cx="2163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Discrete approximation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33"/>
          <p:cNvGrpSpPr/>
          <p:nvPr/>
        </p:nvGrpSpPr>
        <p:grpSpPr>
          <a:xfrm>
            <a:off x="391450" y="2063650"/>
            <a:ext cx="5805450" cy="1197000"/>
            <a:chOff x="391450" y="2063650"/>
            <a:chExt cx="5805450" cy="1197000"/>
          </a:xfrm>
        </p:grpSpPr>
        <p:sp>
          <p:nvSpPr>
            <p:cNvPr id="431" name="Google Shape;431;p33"/>
            <p:cNvSpPr/>
            <p:nvPr/>
          </p:nvSpPr>
          <p:spPr>
            <a:xfrm>
              <a:off x="391450" y="2063650"/>
              <a:ext cx="4695900" cy="1197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3"/>
            <p:cNvSpPr txBox="1"/>
            <p:nvPr/>
          </p:nvSpPr>
          <p:spPr>
            <a:xfrm>
              <a:off x="5272900" y="2214450"/>
              <a:ext cx="924000" cy="7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???</a:t>
              </a:r>
              <a:endParaRPr b="1" sz="3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33"/>
          <p:cNvGrpSpPr/>
          <p:nvPr/>
        </p:nvGrpSpPr>
        <p:grpSpPr>
          <a:xfrm>
            <a:off x="2364450" y="3314225"/>
            <a:ext cx="3704700" cy="1717200"/>
            <a:chOff x="2364450" y="3314225"/>
            <a:chExt cx="3704700" cy="1717200"/>
          </a:xfrm>
        </p:grpSpPr>
        <p:sp>
          <p:nvSpPr>
            <p:cNvPr id="434" name="Google Shape;434;p33"/>
            <p:cNvSpPr/>
            <p:nvPr/>
          </p:nvSpPr>
          <p:spPr>
            <a:xfrm>
              <a:off x="2364450" y="3314225"/>
              <a:ext cx="2566200" cy="1717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3"/>
            <p:cNvSpPr txBox="1"/>
            <p:nvPr/>
          </p:nvSpPr>
          <p:spPr>
            <a:xfrm>
              <a:off x="5145150" y="3815525"/>
              <a:ext cx="924000" cy="7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???</a:t>
              </a:r>
              <a:endParaRPr b="1" sz="3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4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Borkar, Mitter, 1999</a:t>
            </a:r>
            <a:endParaRPr/>
          </a:p>
        </p:txBody>
      </p:sp>
      <p:pic>
        <p:nvPicPr>
          <p:cNvPr id="442" name="Google Shape;4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495513"/>
            <a:ext cx="3252600" cy="287912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4"/>
          <p:cNvSpPr txBox="1"/>
          <p:nvPr/>
        </p:nvSpPr>
        <p:spPr>
          <a:xfrm>
            <a:off x="225550" y="797975"/>
            <a:ext cx="2307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Consider a SDE: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4" name="Google Shape;444;p34"/>
          <p:cNvGrpSpPr/>
          <p:nvPr/>
        </p:nvGrpSpPr>
        <p:grpSpPr>
          <a:xfrm>
            <a:off x="346975" y="3434775"/>
            <a:ext cx="5135925" cy="1034225"/>
            <a:chOff x="346975" y="3434775"/>
            <a:chExt cx="5135925" cy="1034225"/>
          </a:xfrm>
        </p:grpSpPr>
        <p:pic>
          <p:nvPicPr>
            <p:cNvPr id="445" name="Google Shape;44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1250" y="4142025"/>
              <a:ext cx="4771651" cy="32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4"/>
            <p:cNvSpPr txBox="1"/>
            <p:nvPr/>
          </p:nvSpPr>
          <p:spPr>
            <a:xfrm>
              <a:off x="346975" y="3434775"/>
              <a:ext cx="1422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Calibri"/>
                  <a:ea typeface="Calibri"/>
                  <a:cs typeface="Calibri"/>
                  <a:sym typeface="Calibri"/>
                </a:rPr>
                <a:t>Theorem</a:t>
              </a:r>
              <a:endParaRPr b="1"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34"/>
          <p:cNvGrpSpPr/>
          <p:nvPr/>
        </p:nvGrpSpPr>
        <p:grpSpPr>
          <a:xfrm>
            <a:off x="225550" y="1945663"/>
            <a:ext cx="5594923" cy="1453887"/>
            <a:chOff x="225550" y="1945663"/>
            <a:chExt cx="5594923" cy="1453887"/>
          </a:xfrm>
        </p:grpSpPr>
        <p:sp>
          <p:nvSpPr>
            <p:cNvPr id="448" name="Google Shape;448;p34"/>
            <p:cNvSpPr txBox="1"/>
            <p:nvPr/>
          </p:nvSpPr>
          <p:spPr>
            <a:xfrm>
              <a:off x="225550" y="1945663"/>
              <a:ext cx="3252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Discrete approximation</a:t>
              </a: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49" name="Google Shape;449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8650" y="2641425"/>
              <a:ext cx="5191823" cy="326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Google Shape;450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28650" y="3148550"/>
              <a:ext cx="1650500" cy="25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1" name="Google Shape;451;p34"/>
          <p:cNvGrpSpPr/>
          <p:nvPr/>
        </p:nvGrpSpPr>
        <p:grpSpPr>
          <a:xfrm>
            <a:off x="6255038" y="2309988"/>
            <a:ext cx="2645537" cy="658401"/>
            <a:chOff x="6255038" y="2309988"/>
            <a:chExt cx="2645537" cy="658401"/>
          </a:xfrm>
        </p:grpSpPr>
        <p:pic>
          <p:nvPicPr>
            <p:cNvPr id="452" name="Google Shape;452;p3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55038" y="2680488"/>
              <a:ext cx="2645537" cy="28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34"/>
            <p:cNvSpPr txBox="1"/>
            <p:nvPr/>
          </p:nvSpPr>
          <p:spPr>
            <a:xfrm>
              <a:off x="6496313" y="2309988"/>
              <a:ext cx="2163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Stationary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4" name="Google Shape;454;p34"/>
          <p:cNvGrpSpPr/>
          <p:nvPr/>
        </p:nvGrpSpPr>
        <p:grpSpPr>
          <a:xfrm>
            <a:off x="5482892" y="1125025"/>
            <a:ext cx="2746682" cy="658395"/>
            <a:chOff x="5482892" y="1125025"/>
            <a:chExt cx="2746682" cy="658395"/>
          </a:xfrm>
        </p:grpSpPr>
        <p:pic>
          <p:nvPicPr>
            <p:cNvPr id="455" name="Google Shape;455;p3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482892" y="1495520"/>
              <a:ext cx="2746682" cy="28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34"/>
            <p:cNvSpPr txBox="1"/>
            <p:nvPr/>
          </p:nvSpPr>
          <p:spPr>
            <a:xfrm>
              <a:off x="5721275" y="1125025"/>
              <a:ext cx="2163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Stationary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Sketch of the proof</a:t>
            </a:r>
            <a:endParaRPr/>
          </a:p>
        </p:txBody>
      </p:sp>
      <p:pic>
        <p:nvPicPr>
          <p:cNvPr id="463" name="Google Shape;4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25" y="909975"/>
            <a:ext cx="4703339" cy="5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25" y="1718613"/>
            <a:ext cx="3573552" cy="27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125" y="2281800"/>
            <a:ext cx="3484138" cy="275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p35"/>
          <p:cNvGrpSpPr/>
          <p:nvPr/>
        </p:nvGrpSpPr>
        <p:grpSpPr>
          <a:xfrm>
            <a:off x="130125" y="3590900"/>
            <a:ext cx="4484298" cy="1255200"/>
            <a:chOff x="130125" y="3590900"/>
            <a:chExt cx="4484298" cy="1255200"/>
          </a:xfrm>
        </p:grpSpPr>
        <p:sp>
          <p:nvSpPr>
            <p:cNvPr id="467" name="Google Shape;467;p35"/>
            <p:cNvSpPr txBox="1"/>
            <p:nvPr/>
          </p:nvSpPr>
          <p:spPr>
            <a:xfrm>
              <a:off x="229650" y="3590900"/>
              <a:ext cx="12663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Calibri"/>
                  <a:ea typeface="Calibri"/>
                  <a:cs typeface="Calibri"/>
                  <a:sym typeface="Calibri"/>
                </a:rPr>
                <a:t>Lemma</a:t>
              </a:r>
              <a:endParaRPr b="1"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8" name="Google Shape;468;p3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30125" y="4225850"/>
              <a:ext cx="4484298" cy="620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9" name="Google Shape;469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6425" y="773725"/>
            <a:ext cx="6032527" cy="452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3350" y="2792925"/>
            <a:ext cx="3567106" cy="33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6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happened to the noise?</a:t>
            </a:r>
            <a:endParaRPr/>
          </a:p>
        </p:txBody>
      </p:sp>
      <p:grpSp>
        <p:nvGrpSpPr>
          <p:cNvPr id="477" name="Google Shape;477;p36"/>
          <p:cNvGrpSpPr/>
          <p:nvPr/>
        </p:nvGrpSpPr>
        <p:grpSpPr>
          <a:xfrm>
            <a:off x="568725" y="3678625"/>
            <a:ext cx="5094199" cy="582900"/>
            <a:chOff x="568725" y="3479125"/>
            <a:chExt cx="5094199" cy="582900"/>
          </a:xfrm>
        </p:grpSpPr>
        <p:sp>
          <p:nvSpPr>
            <p:cNvPr id="478" name="Google Shape;478;p36"/>
            <p:cNvSpPr txBox="1"/>
            <p:nvPr/>
          </p:nvSpPr>
          <p:spPr>
            <a:xfrm>
              <a:off x="568725" y="3479125"/>
              <a:ext cx="17634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Lemma says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79" name="Google Shape;47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10324" y="3596741"/>
              <a:ext cx="3252600" cy="3476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" name="Google Shape;480;p36"/>
          <p:cNvGrpSpPr/>
          <p:nvPr/>
        </p:nvGrpSpPr>
        <p:grpSpPr>
          <a:xfrm>
            <a:off x="568725" y="1067838"/>
            <a:ext cx="5308675" cy="370512"/>
            <a:chOff x="568725" y="1067838"/>
            <a:chExt cx="5308675" cy="370512"/>
          </a:xfrm>
        </p:grpSpPr>
        <p:pic>
          <p:nvPicPr>
            <p:cNvPr id="481" name="Google Shape;48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725" y="1150438"/>
              <a:ext cx="3252600" cy="2879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36"/>
            <p:cNvSpPr txBox="1"/>
            <p:nvPr/>
          </p:nvSpPr>
          <p:spPr>
            <a:xfrm>
              <a:off x="4271500" y="1067838"/>
              <a:ext cx="16059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Original dynamics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p36"/>
          <p:cNvGrpSpPr/>
          <p:nvPr/>
        </p:nvGrpSpPr>
        <p:grpSpPr>
          <a:xfrm>
            <a:off x="568725" y="1669125"/>
            <a:ext cx="6856025" cy="674225"/>
            <a:chOff x="568725" y="1669125"/>
            <a:chExt cx="6856025" cy="674225"/>
          </a:xfrm>
        </p:grpSpPr>
        <p:pic>
          <p:nvPicPr>
            <p:cNvPr id="484" name="Google Shape;484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8725" y="1669125"/>
              <a:ext cx="4427352" cy="674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36"/>
            <p:cNvSpPr txBox="1"/>
            <p:nvPr/>
          </p:nvSpPr>
          <p:spPr>
            <a:xfrm>
              <a:off x="5400350" y="1820988"/>
              <a:ext cx="20244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The same but integrated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" name="Google Shape;486;p36"/>
          <p:cNvGrpSpPr/>
          <p:nvPr/>
        </p:nvGrpSpPr>
        <p:grpSpPr>
          <a:xfrm>
            <a:off x="568725" y="2574125"/>
            <a:ext cx="7682850" cy="674225"/>
            <a:chOff x="568725" y="2574125"/>
            <a:chExt cx="7682850" cy="674225"/>
          </a:xfrm>
        </p:grpSpPr>
        <p:pic>
          <p:nvPicPr>
            <p:cNvPr id="487" name="Google Shape;487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68725" y="2574125"/>
              <a:ext cx="5633510" cy="674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6"/>
            <p:cNvSpPr txBox="1"/>
            <p:nvPr/>
          </p:nvSpPr>
          <p:spPr>
            <a:xfrm>
              <a:off x="6645675" y="2725988"/>
              <a:ext cx="16059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Our approximation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36"/>
          <p:cNvGrpSpPr/>
          <p:nvPr/>
        </p:nvGrpSpPr>
        <p:grpSpPr>
          <a:xfrm>
            <a:off x="3926775" y="2619800"/>
            <a:ext cx="1358100" cy="1028925"/>
            <a:chOff x="3926775" y="2619800"/>
            <a:chExt cx="1358100" cy="1028925"/>
          </a:xfrm>
        </p:grpSpPr>
        <p:sp>
          <p:nvSpPr>
            <p:cNvPr id="490" name="Google Shape;490;p36"/>
            <p:cNvSpPr/>
            <p:nvPr/>
          </p:nvSpPr>
          <p:spPr>
            <a:xfrm>
              <a:off x="4391625" y="2619800"/>
              <a:ext cx="428400" cy="582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6"/>
            <p:cNvSpPr txBox="1"/>
            <p:nvPr/>
          </p:nvSpPr>
          <p:spPr>
            <a:xfrm>
              <a:off x="3926775" y="3278225"/>
              <a:ext cx="13581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Free speed-up?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8175" y="553000"/>
            <a:ext cx="4935327" cy="370147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7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happened to the noise?</a:t>
            </a:r>
            <a:endParaRPr/>
          </a:p>
        </p:txBody>
      </p:sp>
      <p:pic>
        <p:nvPicPr>
          <p:cNvPr id="499" name="Google Shape;49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1325" y="476800"/>
            <a:ext cx="5032673" cy="377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5699" y="4513091"/>
            <a:ext cx="3252600" cy="3476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37"/>
          <p:cNvGrpSpPr/>
          <p:nvPr/>
        </p:nvGrpSpPr>
        <p:grpSpPr>
          <a:xfrm>
            <a:off x="4327000" y="4071650"/>
            <a:ext cx="3091500" cy="888600"/>
            <a:chOff x="4327000" y="4071650"/>
            <a:chExt cx="3091500" cy="888600"/>
          </a:xfrm>
        </p:grpSpPr>
        <p:sp>
          <p:nvSpPr>
            <p:cNvPr id="502" name="Google Shape;502;p37"/>
            <p:cNvSpPr/>
            <p:nvPr/>
          </p:nvSpPr>
          <p:spPr>
            <a:xfrm>
              <a:off x="5416000" y="4442150"/>
              <a:ext cx="913500" cy="5181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7"/>
            <p:cNvSpPr txBox="1"/>
            <p:nvPr/>
          </p:nvSpPr>
          <p:spPr>
            <a:xfrm>
              <a:off x="4327000" y="4071650"/>
              <a:ext cx="30915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Computational efforts are hidden here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8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Sketch of the proof</a:t>
            </a:r>
            <a:endParaRPr/>
          </a:p>
        </p:txBody>
      </p:sp>
      <p:grpSp>
        <p:nvGrpSpPr>
          <p:cNvPr id="510" name="Google Shape;510;p38"/>
          <p:cNvGrpSpPr/>
          <p:nvPr/>
        </p:nvGrpSpPr>
        <p:grpSpPr>
          <a:xfrm>
            <a:off x="183400" y="1195464"/>
            <a:ext cx="9213750" cy="3109325"/>
            <a:chOff x="183400" y="1195464"/>
            <a:chExt cx="9213750" cy="3109325"/>
          </a:xfrm>
        </p:grpSpPr>
        <p:sp>
          <p:nvSpPr>
            <p:cNvPr id="511" name="Google Shape;511;p38"/>
            <p:cNvSpPr txBox="1"/>
            <p:nvPr/>
          </p:nvSpPr>
          <p:spPr>
            <a:xfrm>
              <a:off x="211150" y="1494200"/>
              <a:ext cx="13431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Calibri"/>
                  <a:ea typeface="Calibri"/>
                  <a:cs typeface="Calibri"/>
                  <a:sym typeface="Calibri"/>
                </a:rPr>
                <a:t>Lemma 1</a:t>
              </a:r>
              <a:endParaRPr b="1"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2" name="Google Shape;512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3400" y="2012150"/>
              <a:ext cx="4484298" cy="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51384" y="1195464"/>
              <a:ext cx="4145766" cy="3109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4" name="Google Shape;514;p38"/>
          <p:cNvGrpSpPr/>
          <p:nvPr/>
        </p:nvGrpSpPr>
        <p:grpSpPr>
          <a:xfrm>
            <a:off x="183392" y="820038"/>
            <a:ext cx="2746682" cy="658395"/>
            <a:chOff x="5482892" y="1125025"/>
            <a:chExt cx="2746682" cy="658395"/>
          </a:xfrm>
        </p:grpSpPr>
        <p:pic>
          <p:nvPicPr>
            <p:cNvPr id="515" name="Google Shape;515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82892" y="1495520"/>
              <a:ext cx="2746682" cy="28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38"/>
            <p:cNvSpPr txBox="1"/>
            <p:nvPr/>
          </p:nvSpPr>
          <p:spPr>
            <a:xfrm>
              <a:off x="5721275" y="1125025"/>
              <a:ext cx="2163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Stationary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38"/>
          <p:cNvGrpSpPr/>
          <p:nvPr/>
        </p:nvGrpSpPr>
        <p:grpSpPr>
          <a:xfrm>
            <a:off x="171400" y="4037775"/>
            <a:ext cx="5157175" cy="972050"/>
            <a:chOff x="171400" y="4037775"/>
            <a:chExt cx="5157175" cy="972050"/>
          </a:xfrm>
        </p:grpSpPr>
        <p:pic>
          <p:nvPicPr>
            <p:cNvPr id="518" name="Google Shape;518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56925" y="4682850"/>
              <a:ext cx="4771651" cy="32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38"/>
            <p:cNvSpPr txBox="1"/>
            <p:nvPr/>
          </p:nvSpPr>
          <p:spPr>
            <a:xfrm>
              <a:off x="171400" y="4037775"/>
              <a:ext cx="1422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Calibri"/>
                  <a:ea typeface="Calibri"/>
                  <a:cs typeface="Calibri"/>
                  <a:sym typeface="Calibri"/>
                </a:rPr>
                <a:t>Theorem</a:t>
              </a:r>
              <a:endParaRPr b="1"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38"/>
          <p:cNvGrpSpPr/>
          <p:nvPr/>
        </p:nvGrpSpPr>
        <p:grpSpPr>
          <a:xfrm>
            <a:off x="3355213" y="820025"/>
            <a:ext cx="2645537" cy="658401"/>
            <a:chOff x="6255038" y="2309988"/>
            <a:chExt cx="2645537" cy="658401"/>
          </a:xfrm>
        </p:grpSpPr>
        <p:pic>
          <p:nvPicPr>
            <p:cNvPr id="521" name="Google Shape;521;p3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55038" y="2680488"/>
              <a:ext cx="2645537" cy="28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38"/>
            <p:cNvSpPr txBox="1"/>
            <p:nvPr/>
          </p:nvSpPr>
          <p:spPr>
            <a:xfrm>
              <a:off x="6496313" y="2309988"/>
              <a:ext cx="2163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Stationary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38"/>
          <p:cNvGrpSpPr/>
          <p:nvPr/>
        </p:nvGrpSpPr>
        <p:grpSpPr>
          <a:xfrm>
            <a:off x="171400" y="2549638"/>
            <a:ext cx="5499901" cy="1394249"/>
            <a:chOff x="171400" y="2549638"/>
            <a:chExt cx="5499901" cy="1394249"/>
          </a:xfrm>
        </p:grpSpPr>
        <p:grpSp>
          <p:nvGrpSpPr>
            <p:cNvPr id="524" name="Google Shape;524;p38"/>
            <p:cNvGrpSpPr/>
            <p:nvPr/>
          </p:nvGrpSpPr>
          <p:grpSpPr>
            <a:xfrm>
              <a:off x="183400" y="2549638"/>
              <a:ext cx="1760924" cy="888787"/>
              <a:chOff x="183400" y="2549638"/>
              <a:chExt cx="1760924" cy="888787"/>
            </a:xfrm>
          </p:grpSpPr>
          <p:sp>
            <p:nvSpPr>
              <p:cNvPr id="525" name="Google Shape;525;p38"/>
              <p:cNvSpPr txBox="1"/>
              <p:nvPr/>
            </p:nvSpPr>
            <p:spPr>
              <a:xfrm>
                <a:off x="183400" y="2549638"/>
                <a:ext cx="1398600" cy="58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latin typeface="Calibri"/>
                    <a:ea typeface="Calibri"/>
                    <a:cs typeface="Calibri"/>
                    <a:sym typeface="Calibri"/>
                  </a:rPr>
                  <a:t>Lemma 2</a:t>
                </a:r>
                <a:endParaRPr b="1"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26" name="Google Shape;526;p38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183400" y="3132550"/>
                <a:ext cx="1760924" cy="305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7" name="Google Shape;527;p3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71400" y="3643312"/>
              <a:ext cx="5499901" cy="300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9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Global optimization</a:t>
            </a:r>
            <a:endParaRPr/>
          </a:p>
        </p:txBody>
      </p:sp>
      <p:pic>
        <p:nvPicPr>
          <p:cNvPr id="534" name="Google Shape;5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6" y="1039450"/>
            <a:ext cx="7695851" cy="38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0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Temperature annealing</a:t>
            </a:r>
            <a:endParaRPr/>
          </a:p>
        </p:txBody>
      </p:sp>
      <p:pic>
        <p:nvPicPr>
          <p:cNvPr id="541" name="Google Shape;54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200" y="975162"/>
            <a:ext cx="3985301" cy="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0"/>
          <p:cNvSpPr txBox="1"/>
          <p:nvPr/>
        </p:nvSpPr>
        <p:spPr>
          <a:xfrm>
            <a:off x="4479200" y="901400"/>
            <a:ext cx="15909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Langevin equation</a:t>
            </a:r>
            <a:endParaRPr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00" y="2882497"/>
            <a:ext cx="4336997" cy="350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4" name="Google Shape;544;p40"/>
          <p:cNvGrpSpPr/>
          <p:nvPr/>
        </p:nvGrpSpPr>
        <p:grpSpPr>
          <a:xfrm>
            <a:off x="311200" y="1334850"/>
            <a:ext cx="8619626" cy="1293838"/>
            <a:chOff x="311200" y="1334850"/>
            <a:chExt cx="8619626" cy="1293838"/>
          </a:xfrm>
        </p:grpSpPr>
        <p:sp>
          <p:nvSpPr>
            <p:cNvPr id="545" name="Google Shape;545;p40"/>
            <p:cNvSpPr txBox="1"/>
            <p:nvPr/>
          </p:nvSpPr>
          <p:spPr>
            <a:xfrm>
              <a:off x="399000" y="1334850"/>
              <a:ext cx="60492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Calibri"/>
                  <a:ea typeface="Calibri"/>
                  <a:cs typeface="Calibri"/>
                  <a:sym typeface="Calibri"/>
                </a:rPr>
                <a:t>Particles have the stationary distribution: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0"/>
            <p:cNvSpPr txBox="1"/>
            <p:nvPr/>
          </p:nvSpPr>
          <p:spPr>
            <a:xfrm>
              <a:off x="6467700" y="2045788"/>
              <a:ext cx="1708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Gibbs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47" name="Google Shape;547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17025" y="1917739"/>
              <a:ext cx="913800" cy="622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8" name="Google Shape;548;p4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11200" y="1972150"/>
              <a:ext cx="6049198" cy="6070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9" name="Google Shape;549;p40"/>
          <p:cNvGrpSpPr/>
          <p:nvPr/>
        </p:nvGrpSpPr>
        <p:grpSpPr>
          <a:xfrm>
            <a:off x="5607450" y="4303325"/>
            <a:ext cx="3136500" cy="576725"/>
            <a:chOff x="5607450" y="4303325"/>
            <a:chExt cx="3136500" cy="576725"/>
          </a:xfrm>
        </p:grpSpPr>
        <p:sp>
          <p:nvSpPr>
            <p:cNvPr id="550" name="Google Shape;550;p40"/>
            <p:cNvSpPr txBox="1"/>
            <p:nvPr/>
          </p:nvSpPr>
          <p:spPr>
            <a:xfrm>
              <a:off x="5607450" y="4481950"/>
              <a:ext cx="31365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Concentrates on the global minima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0"/>
            <p:cNvSpPr/>
            <p:nvPr/>
          </p:nvSpPr>
          <p:spPr>
            <a:xfrm flipH="1" rot="10800000">
              <a:off x="6733338" y="4303325"/>
              <a:ext cx="248100" cy="2757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2" name="Google Shape;552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34090" y="3511850"/>
            <a:ext cx="5275808" cy="8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Annealing example</a:t>
            </a:r>
            <a:endParaRPr/>
          </a:p>
        </p:txBody>
      </p:sp>
      <p:pic>
        <p:nvPicPr>
          <p:cNvPr id="559" name="Google Shape;5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00" y="1173344"/>
            <a:ext cx="7606597" cy="3799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698" y="1173342"/>
            <a:ext cx="7606599" cy="3799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350"/>
            <a:ext cx="8839200" cy="1631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7" name="Google Shape;567;p42"/>
          <p:cNvGrpSpPr/>
          <p:nvPr/>
        </p:nvGrpSpPr>
        <p:grpSpPr>
          <a:xfrm>
            <a:off x="228600" y="2681863"/>
            <a:ext cx="3983300" cy="370712"/>
            <a:chOff x="373925" y="2658775"/>
            <a:chExt cx="3983300" cy="370712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3925" y="2723612"/>
              <a:ext cx="1760929" cy="30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2332525" y="2658775"/>
              <a:ext cx="20247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Distribution of particles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0" name="Google Shape;57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126" y="2555912"/>
            <a:ext cx="4083412" cy="64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1" name="Google Shape;571;p42"/>
          <p:cNvGrpSpPr/>
          <p:nvPr/>
        </p:nvGrpSpPr>
        <p:grpSpPr>
          <a:xfrm>
            <a:off x="228600" y="1927113"/>
            <a:ext cx="6424300" cy="370706"/>
            <a:chOff x="228600" y="1927113"/>
            <a:chExt cx="6424300" cy="370706"/>
          </a:xfrm>
        </p:grpSpPr>
        <p:sp>
          <p:nvSpPr>
            <p:cNvPr id="572" name="Google Shape;572;p42"/>
            <p:cNvSpPr txBox="1"/>
            <p:nvPr/>
          </p:nvSpPr>
          <p:spPr>
            <a:xfrm>
              <a:off x="5062000" y="1927113"/>
              <a:ext cx="15909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Langevin equation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3" name="Google Shape;573;p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28600" y="1927118"/>
              <a:ext cx="4769831" cy="370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4" name="Google Shape;574;p42"/>
          <p:cNvGrpSpPr/>
          <p:nvPr/>
        </p:nvGrpSpPr>
        <p:grpSpPr>
          <a:xfrm>
            <a:off x="228600" y="1731325"/>
            <a:ext cx="7655600" cy="762250"/>
            <a:chOff x="391450" y="2218576"/>
            <a:chExt cx="7655600" cy="1197000"/>
          </a:xfrm>
        </p:grpSpPr>
        <p:sp>
          <p:nvSpPr>
            <p:cNvPr id="575" name="Google Shape;575;p42"/>
            <p:cNvSpPr/>
            <p:nvPr/>
          </p:nvSpPr>
          <p:spPr>
            <a:xfrm>
              <a:off x="391450" y="2218576"/>
              <a:ext cx="6469200" cy="1197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2"/>
            <p:cNvSpPr txBox="1"/>
            <p:nvPr/>
          </p:nvSpPr>
          <p:spPr>
            <a:xfrm>
              <a:off x="7123050" y="2218582"/>
              <a:ext cx="924000" cy="10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???</a:t>
              </a:r>
              <a:endParaRPr b="1" sz="3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p42"/>
          <p:cNvGrpSpPr/>
          <p:nvPr/>
        </p:nvGrpSpPr>
        <p:grpSpPr>
          <a:xfrm>
            <a:off x="506925" y="3436600"/>
            <a:ext cx="6819799" cy="1279600"/>
            <a:chOff x="506925" y="3436600"/>
            <a:chExt cx="6819799" cy="1279600"/>
          </a:xfrm>
        </p:grpSpPr>
        <p:grpSp>
          <p:nvGrpSpPr>
            <p:cNvPr id="578" name="Google Shape;578;p42"/>
            <p:cNvGrpSpPr/>
            <p:nvPr/>
          </p:nvGrpSpPr>
          <p:grpSpPr>
            <a:xfrm>
              <a:off x="506925" y="3436600"/>
              <a:ext cx="3167850" cy="1279588"/>
              <a:chOff x="506925" y="3436600"/>
              <a:chExt cx="3167850" cy="1279588"/>
            </a:xfrm>
          </p:grpSpPr>
          <p:pic>
            <p:nvPicPr>
              <p:cNvPr id="579" name="Google Shape;579;p4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134850" y="4192938"/>
                <a:ext cx="1318849" cy="523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0" name="Google Shape;580;p42"/>
              <p:cNvSpPr txBox="1"/>
              <p:nvPr/>
            </p:nvSpPr>
            <p:spPr>
              <a:xfrm>
                <a:off x="1913775" y="3855838"/>
                <a:ext cx="1761000" cy="3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Annealing schedule</a:t>
                </a:r>
                <a:endParaRPr b="1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42"/>
              <p:cNvSpPr txBox="1"/>
              <p:nvPr/>
            </p:nvSpPr>
            <p:spPr>
              <a:xfrm>
                <a:off x="506925" y="3436600"/>
                <a:ext cx="1494900" cy="62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latin typeface="Calibri"/>
                    <a:ea typeface="Calibri"/>
                    <a:cs typeface="Calibri"/>
                    <a:sym typeface="Calibri"/>
                  </a:rPr>
                  <a:t>Theorem:</a:t>
                </a:r>
                <a:endParaRPr b="1"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82" name="Google Shape;582;p4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58250" y="4177625"/>
              <a:ext cx="2468474" cy="538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650"/>
            <a:ext cx="8839201" cy="1954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9" name="Google Shape;589;p43"/>
          <p:cNvGrpSpPr/>
          <p:nvPr/>
        </p:nvGrpSpPr>
        <p:grpSpPr>
          <a:xfrm>
            <a:off x="272650" y="2784512"/>
            <a:ext cx="8611888" cy="641250"/>
            <a:chOff x="272650" y="2708312"/>
            <a:chExt cx="8611888" cy="641250"/>
          </a:xfrm>
        </p:grpSpPr>
        <p:sp>
          <p:nvSpPr>
            <p:cNvPr id="590" name="Google Shape;590;p43"/>
            <p:cNvSpPr txBox="1"/>
            <p:nvPr/>
          </p:nvSpPr>
          <p:spPr>
            <a:xfrm>
              <a:off x="2048425" y="2834263"/>
              <a:ext cx="20247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Distribution of particles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1" name="Google Shape;59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01126" y="2708312"/>
              <a:ext cx="4083412" cy="64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2" name="Google Shape;592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2650" y="2876238"/>
              <a:ext cx="1601319" cy="30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3" name="Google Shape;593;p43"/>
          <p:cNvGrpSpPr/>
          <p:nvPr/>
        </p:nvGrpSpPr>
        <p:grpSpPr>
          <a:xfrm>
            <a:off x="210900" y="3592700"/>
            <a:ext cx="8234626" cy="1357726"/>
            <a:chOff x="210900" y="3592700"/>
            <a:chExt cx="8234626" cy="1357726"/>
          </a:xfrm>
        </p:grpSpPr>
        <p:pic>
          <p:nvPicPr>
            <p:cNvPr id="594" name="Google Shape;594;p4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52175" y="4364538"/>
              <a:ext cx="2493351" cy="530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5" name="Google Shape;595;p43"/>
            <p:cNvGrpSpPr/>
            <p:nvPr/>
          </p:nvGrpSpPr>
          <p:grpSpPr>
            <a:xfrm>
              <a:off x="210900" y="3592700"/>
              <a:ext cx="3463875" cy="621600"/>
              <a:chOff x="210900" y="3592700"/>
              <a:chExt cx="3463875" cy="621600"/>
            </a:xfrm>
          </p:grpSpPr>
          <p:sp>
            <p:nvSpPr>
              <p:cNvPr id="596" name="Google Shape;596;p43"/>
              <p:cNvSpPr txBox="1"/>
              <p:nvPr/>
            </p:nvSpPr>
            <p:spPr>
              <a:xfrm>
                <a:off x="1913775" y="3855838"/>
                <a:ext cx="1761000" cy="3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>
                    <a:solidFill>
                      <a:schemeClr val="accent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Annealing schedule</a:t>
                </a:r>
                <a:endParaRPr b="1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43"/>
              <p:cNvSpPr txBox="1"/>
              <p:nvPr/>
            </p:nvSpPr>
            <p:spPr>
              <a:xfrm>
                <a:off x="210900" y="3592700"/>
                <a:ext cx="1494900" cy="62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latin typeface="Calibri"/>
                    <a:ea typeface="Calibri"/>
                    <a:cs typeface="Calibri"/>
                    <a:sym typeface="Calibri"/>
                  </a:rPr>
                  <a:t>Theorem:</a:t>
                </a:r>
                <a:endParaRPr b="1"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98" name="Google Shape;598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320150" y="4309150"/>
              <a:ext cx="948462" cy="53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9" name="Google Shape;599;p4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804279" y="4309151"/>
              <a:ext cx="2117096" cy="641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0" name="Google Shape;600;p43"/>
          <p:cNvGrpSpPr/>
          <p:nvPr/>
        </p:nvGrpSpPr>
        <p:grpSpPr>
          <a:xfrm>
            <a:off x="272650" y="2127700"/>
            <a:ext cx="8514599" cy="337475"/>
            <a:chOff x="272650" y="2127700"/>
            <a:chExt cx="8514599" cy="337475"/>
          </a:xfrm>
        </p:grpSpPr>
        <p:pic>
          <p:nvPicPr>
            <p:cNvPr id="601" name="Google Shape;601;p4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72650" y="2127700"/>
              <a:ext cx="5836779" cy="33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p4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779227" y="2143750"/>
              <a:ext cx="2008023" cy="305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59875"/>
            <a:ext cx="8839202" cy="19664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9" name="Google Shape;609;p44"/>
          <p:cNvGrpSpPr/>
          <p:nvPr/>
        </p:nvGrpSpPr>
        <p:grpSpPr>
          <a:xfrm>
            <a:off x="192850" y="2037488"/>
            <a:ext cx="8761252" cy="1044437"/>
            <a:chOff x="192850" y="2037488"/>
            <a:chExt cx="8761252" cy="1044437"/>
          </a:xfrm>
        </p:grpSpPr>
        <p:pic>
          <p:nvPicPr>
            <p:cNvPr id="610" name="Google Shape;61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8850" y="2565288"/>
              <a:ext cx="1601319" cy="30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2850" y="2565050"/>
              <a:ext cx="1760929" cy="30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4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73688" y="2354049"/>
              <a:ext cx="3480414" cy="72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258675" y="2188913"/>
              <a:ext cx="20247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Continuous process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4"/>
            <p:cNvSpPr txBox="1"/>
            <p:nvPr/>
          </p:nvSpPr>
          <p:spPr>
            <a:xfrm>
              <a:off x="2283363" y="2188913"/>
              <a:ext cx="20247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Discrete approximation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4"/>
            <p:cNvSpPr txBox="1"/>
            <p:nvPr/>
          </p:nvSpPr>
          <p:spPr>
            <a:xfrm>
              <a:off x="6201550" y="2037488"/>
              <a:ext cx="20247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Stationary distribution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16" name="Google Shape;616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4027" y="4259850"/>
            <a:ext cx="6243554" cy="599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44"/>
          <p:cNvGrpSpPr/>
          <p:nvPr/>
        </p:nvGrpSpPr>
        <p:grpSpPr>
          <a:xfrm>
            <a:off x="1085088" y="3110063"/>
            <a:ext cx="7137800" cy="937463"/>
            <a:chOff x="1085088" y="3262463"/>
            <a:chExt cx="7137800" cy="937463"/>
          </a:xfrm>
        </p:grpSpPr>
        <p:pic>
          <p:nvPicPr>
            <p:cNvPr id="618" name="Google Shape;618;p4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85088" y="3600375"/>
              <a:ext cx="6973824" cy="59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4"/>
            <p:cNvSpPr txBox="1"/>
            <p:nvPr/>
          </p:nvSpPr>
          <p:spPr>
            <a:xfrm>
              <a:off x="3733798" y="3262475"/>
              <a:ext cx="16764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Discretization error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4"/>
            <p:cNvSpPr txBox="1"/>
            <p:nvPr/>
          </p:nvSpPr>
          <p:spPr>
            <a:xfrm>
              <a:off x="6198188" y="3262463"/>
              <a:ext cx="20247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Convergence speed</a:t>
              </a:r>
              <a:endParaRPr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5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Further reading</a:t>
            </a:r>
            <a:endParaRPr/>
          </a:p>
        </p:txBody>
      </p:sp>
      <p:pic>
        <p:nvPicPr>
          <p:cNvPr id="627" name="Google Shape;62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300" y="1039444"/>
            <a:ext cx="2456185" cy="379925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28" name="Google Shape;62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6800" y="1039450"/>
            <a:ext cx="2679874" cy="37992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6"/>
          <p:cNvSpPr txBox="1"/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33B067"/>
      </a:dk1>
      <a:lt1>
        <a:srgbClr val="FFFFFF"/>
      </a:lt1>
      <a:dk2>
        <a:srgbClr val="000000"/>
      </a:dk2>
      <a:lt2>
        <a:srgbClr val="00000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3B067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