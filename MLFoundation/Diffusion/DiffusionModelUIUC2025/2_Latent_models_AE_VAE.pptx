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05" r:id="rId2"/>
    <p:sldId id="589" r:id="rId3"/>
    <p:sldId id="344" r:id="rId4"/>
    <p:sldId id="345" r:id="rId5"/>
    <p:sldId id="346" r:id="rId6"/>
    <p:sldId id="347" r:id="rId7"/>
    <p:sldId id="348" r:id="rId8"/>
    <p:sldId id="590" r:id="rId9"/>
    <p:sldId id="350" r:id="rId10"/>
    <p:sldId id="591" r:id="rId11"/>
    <p:sldId id="592" r:id="rId12"/>
    <p:sldId id="593" r:id="rId13"/>
    <p:sldId id="355" r:id="rId14"/>
    <p:sldId id="594" r:id="rId15"/>
    <p:sldId id="595" r:id="rId16"/>
    <p:sldId id="596" r:id="rId17"/>
    <p:sldId id="597" r:id="rId18"/>
    <p:sldId id="598" r:id="rId19"/>
    <p:sldId id="599" r:id="rId20"/>
    <p:sldId id="600" r:id="rId21"/>
    <p:sldId id="601" r:id="rId22"/>
    <p:sldId id="602" r:id="rId23"/>
    <p:sldId id="603" r:id="rId24"/>
    <p:sldId id="604" r:id="rId25"/>
    <p:sldId id="605" r:id="rId26"/>
    <p:sldId id="369" r:id="rId27"/>
    <p:sldId id="606" r:id="rId28"/>
    <p:sldId id="607" r:id="rId29"/>
    <p:sldId id="608" r:id="rId30"/>
    <p:sldId id="609" r:id="rId31"/>
    <p:sldId id="610" r:id="rId32"/>
    <p:sldId id="611" r:id="rId33"/>
    <p:sldId id="612" r:id="rId34"/>
    <p:sldId id="613" r:id="rId35"/>
    <p:sldId id="614" r:id="rId36"/>
    <p:sldId id="615" r:id="rId37"/>
    <p:sldId id="616" r:id="rId38"/>
    <p:sldId id="617" r:id="rId39"/>
    <p:sldId id="618" r:id="rId40"/>
    <p:sldId id="619" r:id="rId41"/>
    <p:sldId id="624" r:id="rId42"/>
    <p:sldId id="407" r:id="rId43"/>
    <p:sldId id="257" r:id="rId44"/>
    <p:sldId id="527" r:id="rId45"/>
    <p:sldId id="528" r:id="rId46"/>
    <p:sldId id="529" r:id="rId47"/>
    <p:sldId id="530" r:id="rId48"/>
    <p:sldId id="531" r:id="rId49"/>
    <p:sldId id="532" r:id="rId50"/>
    <p:sldId id="536" r:id="rId51"/>
    <p:sldId id="533" r:id="rId52"/>
    <p:sldId id="535" r:id="rId53"/>
    <p:sldId id="537" r:id="rId54"/>
    <p:sldId id="540" r:id="rId55"/>
    <p:sldId id="541" r:id="rId56"/>
    <p:sldId id="262" r:id="rId57"/>
    <p:sldId id="263" r:id="rId58"/>
    <p:sldId id="264" r:id="rId59"/>
    <p:sldId id="440" r:id="rId60"/>
    <p:sldId id="411" r:id="rId61"/>
    <p:sldId id="412" r:id="rId62"/>
    <p:sldId id="413" r:id="rId63"/>
    <p:sldId id="441" r:id="rId64"/>
    <p:sldId id="625" r:id="rId6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021D2-D899-EC9E-2580-77244F3F2A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847188-19E3-29D2-BFED-2C8C412271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9F710-0F2D-C4E3-FB55-69A74581A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9EB76-9358-440D-8B1D-06ABDA8579D5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563FF-56A3-15A0-4611-C0586BEBE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2B0F2E-FF21-3A49-5DFD-407F37B86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454DC-5AD5-4C6B-ACA8-433D4F196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530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09E8A-FE4B-3542-723F-8D16E29D7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F4962-3433-D569-D8E3-5DBEE35BB5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3DFF94-F971-568F-17E5-12268B40D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9EB76-9358-440D-8B1D-06ABDA8579D5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2422F-D3A6-E24E-C8A7-DA8DFAEBA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E493D-9393-DBC4-3496-121FA4CDE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454DC-5AD5-4C6B-ACA8-433D4F196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087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F0779-AACB-70A9-4DBC-57D33F329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D36CBB-D40E-BAEB-A130-8E361758F1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E82EE3-B543-8F5A-44DB-A72165817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9EB76-9358-440D-8B1D-06ABDA8579D5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8C727-375D-21C2-3536-7A73A52ED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B2BD8-4A20-1F8E-31EF-69C26FC59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454DC-5AD5-4C6B-ACA8-433D4F196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586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D0A0D-FF5F-DAAC-3D88-6479474C1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32CBD-DB7C-BC87-5489-E6AEA405B0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2020B9-AEBD-5DEB-1B29-5B2D5A05E0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6131F0-1204-8007-D9DD-BAC994F93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9EB76-9358-440D-8B1D-06ABDA8579D5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17DAF1-08DC-CAAB-36BC-03E2E5421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3457A1-6F63-8173-EBF6-D8B8BCDB5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454DC-5AD5-4C6B-ACA8-433D4F196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622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AA688-D128-081F-1BFD-542D5F13F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5224FE-1012-2DBB-9805-7375AADA8B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BB17B5-18DA-F40E-EBD3-BFBD6AB2E6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DC3C01-D7F3-34F9-E149-5FB1A3284F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A8A22C-E7BE-F3F0-A214-A39B2A01A8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541365-D040-3AE6-B23F-5E9AAEF1F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9EB76-9358-440D-8B1D-06ABDA8579D5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F6F48A-A1FD-0DE9-F8D3-1AE7F5C18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47A9F4-E581-A4D4-2F6A-05141748D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454DC-5AD5-4C6B-ACA8-433D4F196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353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0783A-D4FB-5777-F02F-FB7A3F757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002E13-1CD6-7AEB-E2A4-018D604D5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9EB76-9358-440D-8B1D-06ABDA8579D5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45886D-B52A-FDCC-BDED-881A78A47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EB1CD4-9A46-283C-F48E-D9A5A194C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454DC-5AD5-4C6B-ACA8-433D4F196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79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D2F583-724E-F729-0CD6-F138AD1D8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9EB76-9358-440D-8B1D-06ABDA8579D5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9DFF43-D0CD-DA2C-9835-C5F63BA1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3D5ADF-7922-A90B-26D6-E9DD113EE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454DC-5AD5-4C6B-ACA8-433D4F196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257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51E9E-6855-9AB2-6521-2971460E5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A2A31-352D-987E-2DAD-A98827E893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FAA558-54D0-BA35-268C-863F0A7D9F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B5F7EB-5FEC-F824-C2E0-4DEA080A8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9EB76-9358-440D-8B1D-06ABDA8579D5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E42DAD-AF02-7457-B516-B9074C934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CED807-B32A-16EC-5FD4-638F33876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454DC-5AD5-4C6B-ACA8-433D4F196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701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59114-2A57-5A84-546C-93BD38511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FA78C8-9CD2-0FF7-7B62-959BE53C87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9B3818-07DC-8F76-F2A9-624AA6B91E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7364CE-14FB-9886-49B1-DAFC254D8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9EB76-9358-440D-8B1D-06ABDA8579D5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4B6B82-CADE-AB5E-2BC0-9750DBF35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C1D348-9D6C-09DF-C7EA-0B7E9D283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454DC-5AD5-4C6B-ACA8-433D4F196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986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DF663-BFF3-EE64-F9A2-FEEBA5815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80B0A6-CBF3-1597-D3D8-EFDF2C3999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3F7269-E203-8926-26D4-45271F47F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9EB76-9358-440D-8B1D-06ABDA8579D5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B5D0B4-5348-1218-67A6-8960AEFAC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F2EA9-5755-85F1-223F-2B54404D2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454DC-5AD5-4C6B-ACA8-433D4F196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642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AFED32-13F9-BFCF-0B12-666EA8F96A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4E4112-7FB7-F9D9-A261-F7424F6DCD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3E8CF-C356-E2FF-4D97-BC24AB745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9EB76-9358-440D-8B1D-06ABDA8579D5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1D7C7-0A42-FE97-8A25-13091DB19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0F0A97-5258-7928-3E8A-273EC90EF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454DC-5AD5-4C6B-ACA8-433D4F196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815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7C5C9D-08BB-D677-256F-C9BC2A7BB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CEDB85-AD0E-3C93-8D66-C7A2D3CB5A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F442F9-3542-F8A1-8FBE-934AA869D5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79EB76-9358-440D-8B1D-06ABDA8579D5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5C90F-008F-D8D2-A264-72A493A3EA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82EAA7-13B9-0F91-E326-E6DC093E83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7454DC-5AD5-4C6B-ACA8-433D4F196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767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0.png"/><Relationship Id="rId7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10.png"/><Relationship Id="rId3" Type="http://schemas.openxmlformats.org/officeDocument/2006/relationships/image" Target="../media/image10.png"/><Relationship Id="rId12" Type="http://schemas.openxmlformats.org/officeDocument/2006/relationships/image" Target="../media/image22.png"/><Relationship Id="rId17" Type="http://schemas.openxmlformats.org/officeDocument/2006/relationships/image" Target="../media/image15.png"/><Relationship Id="rId2" Type="http://schemas.openxmlformats.org/officeDocument/2006/relationships/image" Target="../media/image14.png"/><Relationship Id="rId16" Type="http://schemas.openxmlformats.org/officeDocument/2006/relationships/image" Target="../media/image184.png"/><Relationship Id="rId1" Type="http://schemas.openxmlformats.org/officeDocument/2006/relationships/slideLayout" Target="../slideLayouts/slideLayout2.xml"/><Relationship Id="rId15" Type="http://schemas.openxmlformats.org/officeDocument/2006/relationships/image" Target="../media/image1710.png"/><Relationship Id="rId4" Type="http://schemas.openxmlformats.org/officeDocument/2006/relationships/image" Target="../media/image9.png"/><Relationship Id="rId14" Type="http://schemas.openxmlformats.org/officeDocument/2006/relationships/image" Target="../media/image16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8" Type="http://schemas.openxmlformats.org/officeDocument/2006/relationships/image" Target="../media/image184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7" Type="http://schemas.openxmlformats.org/officeDocument/2006/relationships/image" Target="../media/image1710.png"/><Relationship Id="rId2" Type="http://schemas.openxmlformats.org/officeDocument/2006/relationships/image" Target="../media/image14.png"/><Relationship Id="rId16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5" Type="http://schemas.openxmlformats.org/officeDocument/2006/relationships/image" Target="../media/image2310.png"/><Relationship Id="rId10" Type="http://schemas.openxmlformats.org/officeDocument/2006/relationships/image" Target="../media/image9.png"/><Relationship Id="rId4" Type="http://schemas.openxmlformats.org/officeDocument/2006/relationships/image" Target="../media/image17.svg"/><Relationship Id="rId9" Type="http://schemas.openxmlformats.org/officeDocument/2006/relationships/image" Target="../media/image10.png"/><Relationship Id="rId1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10.png"/><Relationship Id="rId3" Type="http://schemas.openxmlformats.org/officeDocument/2006/relationships/image" Target="../media/image24.svg"/><Relationship Id="rId12" Type="http://schemas.openxmlformats.org/officeDocument/2006/relationships/image" Target="../media/image22.png"/><Relationship Id="rId2" Type="http://schemas.openxmlformats.org/officeDocument/2006/relationships/image" Target="../media/image23.png"/><Relationship Id="rId16" Type="http://schemas.openxmlformats.org/officeDocument/2006/relationships/image" Target="../media/image18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15" Type="http://schemas.openxmlformats.org/officeDocument/2006/relationships/image" Target="../media/image1710.png"/><Relationship Id="rId4" Type="http://schemas.openxmlformats.org/officeDocument/2006/relationships/image" Target="../media/image10.png"/><Relationship Id="rId14" Type="http://schemas.openxmlformats.org/officeDocument/2006/relationships/image" Target="../media/image16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svg"/><Relationship Id="rId7" Type="http://schemas.openxmlformats.org/officeDocument/2006/relationships/image" Target="../media/image30.png"/><Relationship Id="rId12" Type="http://schemas.openxmlformats.org/officeDocument/2006/relationships/image" Target="../media/image38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19.png"/><Relationship Id="rId3" Type="http://schemas.openxmlformats.org/officeDocument/2006/relationships/image" Target="../media/image26.svg"/><Relationship Id="rId7" Type="http://schemas.openxmlformats.org/officeDocument/2006/relationships/image" Target="../media/image30.png"/><Relationship Id="rId12" Type="http://schemas.openxmlformats.org/officeDocument/2006/relationships/image" Target="../media/image382.png"/><Relationship Id="rId17" Type="http://schemas.openxmlformats.org/officeDocument/2006/relationships/image" Target="../media/image36.png"/><Relationship Id="rId2" Type="http://schemas.openxmlformats.org/officeDocument/2006/relationships/image" Target="../media/image25.png"/><Relationship Id="rId16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5" Type="http://schemas.openxmlformats.org/officeDocument/2006/relationships/image" Target="../media/image34.png"/><Relationship Id="rId4" Type="http://schemas.openxmlformats.org/officeDocument/2006/relationships/image" Target="../media/image27.png"/><Relationship Id="rId1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6.svg"/><Relationship Id="rId7" Type="http://schemas.openxmlformats.org/officeDocument/2006/relationships/image" Target="../media/image382.png"/><Relationship Id="rId12" Type="http://schemas.openxmlformats.org/officeDocument/2006/relationships/image" Target="../media/image3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35.png"/><Relationship Id="rId10" Type="http://schemas.openxmlformats.org/officeDocument/2006/relationships/image" Target="../media/image34.png"/><Relationship Id="rId9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6.svg"/><Relationship Id="rId7" Type="http://schemas.openxmlformats.org/officeDocument/2006/relationships/image" Target="../media/image382.png"/><Relationship Id="rId12" Type="http://schemas.openxmlformats.org/officeDocument/2006/relationships/image" Target="../media/image3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35.png"/><Relationship Id="rId10" Type="http://schemas.openxmlformats.org/officeDocument/2006/relationships/image" Target="../media/image34.png"/><Relationship Id="rId9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6.svg"/><Relationship Id="rId7" Type="http://schemas.openxmlformats.org/officeDocument/2006/relationships/image" Target="../media/image382.png"/><Relationship Id="rId12" Type="http://schemas.openxmlformats.org/officeDocument/2006/relationships/image" Target="../media/image3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35.png"/><Relationship Id="rId10" Type="http://schemas.openxmlformats.org/officeDocument/2006/relationships/image" Target="../media/image34.png"/><Relationship Id="rId9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7.png"/><Relationship Id="rId7" Type="http://schemas.openxmlformats.org/officeDocument/2006/relationships/image" Target="../media/image4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0.png"/><Relationship Id="rId4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42.png"/><Relationship Id="rId7" Type="http://schemas.openxmlformats.org/officeDocument/2006/relationships/image" Target="../media/image38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37.png"/><Relationship Id="rId10" Type="http://schemas.openxmlformats.org/officeDocument/2006/relationships/image" Target="../media/image10.png"/><Relationship Id="rId4" Type="http://schemas.openxmlformats.org/officeDocument/2006/relationships/image" Target="../media/image43.png"/><Relationship Id="rId9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38.png"/><Relationship Id="rId12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45.png"/><Relationship Id="rId5" Type="http://schemas.openxmlformats.org/officeDocument/2006/relationships/image" Target="../media/image37.png"/><Relationship Id="rId10" Type="http://schemas.openxmlformats.org/officeDocument/2006/relationships/image" Target="../media/image44.png"/><Relationship Id="rId4" Type="http://schemas.openxmlformats.org/officeDocument/2006/relationships/image" Target="../media/image43.png"/><Relationship Id="rId9" Type="http://schemas.openxmlformats.org/officeDocument/2006/relationships/image" Target="../media/image40.png"/><Relationship Id="rId1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7" Type="http://schemas.openxmlformats.org/officeDocument/2006/relationships/image" Target="../media/image5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51.gi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26.svg"/><Relationship Id="rId7" Type="http://schemas.openxmlformats.org/officeDocument/2006/relationships/image" Target="../media/image5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51.gi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26.svg"/><Relationship Id="rId7" Type="http://schemas.openxmlformats.org/officeDocument/2006/relationships/image" Target="../media/image5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10" Type="http://schemas.openxmlformats.org/officeDocument/2006/relationships/image" Target="../media/image57.png"/><Relationship Id="rId4" Type="http://schemas.openxmlformats.org/officeDocument/2006/relationships/image" Target="../media/image51.gif"/><Relationship Id="rId9" Type="http://schemas.openxmlformats.org/officeDocument/2006/relationships/image" Target="../media/image56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26.svg"/><Relationship Id="rId7" Type="http://schemas.openxmlformats.org/officeDocument/2006/relationships/image" Target="../media/image54.png"/><Relationship Id="rId12" Type="http://schemas.openxmlformats.org/officeDocument/2006/relationships/image" Target="../media/image5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56.png"/><Relationship Id="rId5" Type="http://schemas.openxmlformats.org/officeDocument/2006/relationships/image" Target="../media/image49.png"/><Relationship Id="rId10" Type="http://schemas.openxmlformats.org/officeDocument/2006/relationships/image" Target="../media/image59.png"/><Relationship Id="rId4" Type="http://schemas.openxmlformats.org/officeDocument/2006/relationships/image" Target="../media/image51.gif"/><Relationship Id="rId9" Type="http://schemas.openxmlformats.org/officeDocument/2006/relationships/image" Target="../media/image55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26.svg"/><Relationship Id="rId7" Type="http://schemas.openxmlformats.org/officeDocument/2006/relationships/image" Target="../media/image6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26.svg"/><Relationship Id="rId7" Type="http://schemas.openxmlformats.org/officeDocument/2006/relationships/image" Target="../media/image6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10" Type="http://schemas.openxmlformats.org/officeDocument/2006/relationships/image" Target="../media/image66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9.png"/><Relationship Id="rId3" Type="http://schemas.openxmlformats.org/officeDocument/2006/relationships/image" Target="../media/image26.svg"/><Relationship Id="rId7" Type="http://schemas.openxmlformats.org/officeDocument/2006/relationships/image" Target="../media/image63.png"/><Relationship Id="rId12" Type="http://schemas.openxmlformats.org/officeDocument/2006/relationships/image" Target="../media/image6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5" Type="http://schemas.openxmlformats.org/officeDocument/2006/relationships/image" Target="../media/image61.png"/><Relationship Id="rId10" Type="http://schemas.openxmlformats.org/officeDocument/2006/relationships/image" Target="../media/image66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67.png"/><Relationship Id="rId3" Type="http://schemas.openxmlformats.org/officeDocument/2006/relationships/image" Target="../media/image26.svg"/><Relationship Id="rId7" Type="http://schemas.openxmlformats.org/officeDocument/2006/relationships/image" Target="../media/image61.png"/><Relationship Id="rId12" Type="http://schemas.openxmlformats.org/officeDocument/2006/relationships/image" Target="../media/image6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11" Type="http://schemas.openxmlformats.org/officeDocument/2006/relationships/image" Target="../media/image65.png"/><Relationship Id="rId5" Type="http://schemas.openxmlformats.org/officeDocument/2006/relationships/image" Target="../media/image71.png"/><Relationship Id="rId15" Type="http://schemas.openxmlformats.org/officeDocument/2006/relationships/image" Target="../media/image69.png"/><Relationship Id="rId10" Type="http://schemas.openxmlformats.org/officeDocument/2006/relationships/image" Target="../media/image64.png"/><Relationship Id="rId4" Type="http://schemas.openxmlformats.org/officeDocument/2006/relationships/image" Target="../media/image70.png"/><Relationship Id="rId9" Type="http://schemas.openxmlformats.org/officeDocument/2006/relationships/image" Target="../media/image63.png"/><Relationship Id="rId14" Type="http://schemas.openxmlformats.org/officeDocument/2006/relationships/image" Target="../media/image68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26.svg"/><Relationship Id="rId7" Type="http://schemas.openxmlformats.org/officeDocument/2006/relationships/image" Target="../media/image6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image" Target="../media/image62.png"/><Relationship Id="rId10" Type="http://schemas.openxmlformats.org/officeDocument/2006/relationships/image" Target="../media/image74.png"/><Relationship Id="rId4" Type="http://schemas.openxmlformats.org/officeDocument/2006/relationships/image" Target="../media/image60.png"/><Relationship Id="rId9" Type="http://schemas.openxmlformats.org/officeDocument/2006/relationships/image" Target="../media/image73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26.svg"/><Relationship Id="rId7" Type="http://schemas.openxmlformats.org/officeDocument/2006/relationships/image" Target="../media/image61.png"/><Relationship Id="rId12" Type="http://schemas.openxmlformats.org/officeDocument/2006/relationships/image" Target="../media/image7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11" Type="http://schemas.openxmlformats.org/officeDocument/2006/relationships/image" Target="../media/image75.png"/><Relationship Id="rId5" Type="http://schemas.openxmlformats.org/officeDocument/2006/relationships/image" Target="../media/image62.png"/><Relationship Id="rId10" Type="http://schemas.openxmlformats.org/officeDocument/2006/relationships/image" Target="../media/image74.png"/><Relationship Id="rId4" Type="http://schemas.openxmlformats.org/officeDocument/2006/relationships/image" Target="../media/image60.png"/><Relationship Id="rId9" Type="http://schemas.openxmlformats.org/officeDocument/2006/relationships/image" Target="../media/image73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7.png"/><Relationship Id="rId3" Type="http://schemas.openxmlformats.org/officeDocument/2006/relationships/image" Target="../media/image26.svg"/><Relationship Id="rId7" Type="http://schemas.openxmlformats.org/officeDocument/2006/relationships/image" Target="../media/image61.png"/><Relationship Id="rId12" Type="http://schemas.openxmlformats.org/officeDocument/2006/relationships/image" Target="../media/image7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11" Type="http://schemas.openxmlformats.org/officeDocument/2006/relationships/image" Target="../media/image75.png"/><Relationship Id="rId5" Type="http://schemas.openxmlformats.org/officeDocument/2006/relationships/image" Target="../media/image62.png"/><Relationship Id="rId10" Type="http://schemas.openxmlformats.org/officeDocument/2006/relationships/image" Target="../media/image74.png"/><Relationship Id="rId4" Type="http://schemas.openxmlformats.org/officeDocument/2006/relationships/image" Target="../media/image60.png"/><Relationship Id="rId9" Type="http://schemas.openxmlformats.org/officeDocument/2006/relationships/image" Target="../media/image73.png"/><Relationship Id="rId14" Type="http://schemas.openxmlformats.org/officeDocument/2006/relationships/image" Target="../media/image78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g"/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82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g"/><Relationship Id="rId7" Type="http://schemas.openxmlformats.org/officeDocument/2006/relationships/image" Target="../media/image83.png"/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gif"/><Relationship Id="rId5" Type="http://schemas.openxmlformats.org/officeDocument/2006/relationships/image" Target="../media/image37.png"/><Relationship Id="rId4" Type="http://schemas.openxmlformats.org/officeDocument/2006/relationships/image" Target="../media/image82.jpe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81.jpg"/><Relationship Id="rId7" Type="http://schemas.openxmlformats.org/officeDocument/2006/relationships/image" Target="../media/image51.gif"/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82.jpeg"/><Relationship Id="rId4" Type="http://schemas.openxmlformats.org/officeDocument/2006/relationships/image" Target="../media/image84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81.jpg"/><Relationship Id="rId7" Type="http://schemas.openxmlformats.org/officeDocument/2006/relationships/image" Target="../media/image83.png"/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gif"/><Relationship Id="rId5" Type="http://schemas.openxmlformats.org/officeDocument/2006/relationships/image" Target="../media/image37.png"/><Relationship Id="rId4" Type="http://schemas.openxmlformats.org/officeDocument/2006/relationships/image" Target="../media/image82.jpe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jpg"/><Relationship Id="rId3" Type="http://schemas.openxmlformats.org/officeDocument/2006/relationships/image" Target="../media/image81.jpg"/><Relationship Id="rId7" Type="http://schemas.openxmlformats.org/officeDocument/2006/relationships/image" Target="../media/image83.png"/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gif"/><Relationship Id="rId5" Type="http://schemas.openxmlformats.org/officeDocument/2006/relationships/image" Target="../media/image37.png"/><Relationship Id="rId4" Type="http://schemas.openxmlformats.org/officeDocument/2006/relationships/image" Target="../media/image82.jpe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81.jpg"/><Relationship Id="rId7" Type="http://schemas.openxmlformats.org/officeDocument/2006/relationships/image" Target="../media/image83.png"/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gif"/><Relationship Id="rId5" Type="http://schemas.openxmlformats.org/officeDocument/2006/relationships/image" Target="../media/image37.png"/><Relationship Id="rId4" Type="http://schemas.openxmlformats.org/officeDocument/2006/relationships/image" Target="../media/image82.jpeg"/><Relationship Id="rId9" Type="http://schemas.openxmlformats.org/officeDocument/2006/relationships/image" Target="../media/image85.jp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jpg"/><Relationship Id="rId13" Type="http://schemas.openxmlformats.org/officeDocument/2006/relationships/image" Target="../media/image92.png"/><Relationship Id="rId3" Type="http://schemas.openxmlformats.org/officeDocument/2006/relationships/image" Target="../media/image82.jpeg"/><Relationship Id="rId7" Type="http://schemas.openxmlformats.org/officeDocument/2006/relationships/image" Target="../media/image80.jpg"/><Relationship Id="rId12" Type="http://schemas.openxmlformats.org/officeDocument/2006/relationships/image" Target="../media/image91.png"/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5.jpg"/><Relationship Id="rId11" Type="http://schemas.openxmlformats.org/officeDocument/2006/relationships/image" Target="../media/image90.png"/><Relationship Id="rId5" Type="http://schemas.openxmlformats.org/officeDocument/2006/relationships/image" Target="../media/image86.png"/><Relationship Id="rId15" Type="http://schemas.openxmlformats.org/officeDocument/2006/relationships/image" Target="../media/image83.png"/><Relationship Id="rId10" Type="http://schemas.openxmlformats.org/officeDocument/2006/relationships/image" Target="../media/image89.jpg"/><Relationship Id="rId4" Type="http://schemas.openxmlformats.org/officeDocument/2006/relationships/image" Target="../media/image37.png"/><Relationship Id="rId9" Type="http://schemas.openxmlformats.org/officeDocument/2006/relationships/image" Target="../media/image88.jpg"/><Relationship Id="rId14" Type="http://schemas.openxmlformats.org/officeDocument/2006/relationships/image" Target="../media/image51.gi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jpg"/><Relationship Id="rId13" Type="http://schemas.openxmlformats.org/officeDocument/2006/relationships/image" Target="../media/image92.png"/><Relationship Id="rId3" Type="http://schemas.openxmlformats.org/officeDocument/2006/relationships/image" Target="../media/image82.jpeg"/><Relationship Id="rId7" Type="http://schemas.openxmlformats.org/officeDocument/2006/relationships/image" Target="../media/image80.jpg"/><Relationship Id="rId12" Type="http://schemas.openxmlformats.org/officeDocument/2006/relationships/image" Target="../media/image91.png"/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5.jpg"/><Relationship Id="rId11" Type="http://schemas.openxmlformats.org/officeDocument/2006/relationships/image" Target="../media/image90.png"/><Relationship Id="rId5" Type="http://schemas.openxmlformats.org/officeDocument/2006/relationships/image" Target="../media/image86.png"/><Relationship Id="rId10" Type="http://schemas.openxmlformats.org/officeDocument/2006/relationships/image" Target="../media/image89.jpg"/><Relationship Id="rId4" Type="http://schemas.openxmlformats.org/officeDocument/2006/relationships/image" Target="../media/image37.png"/><Relationship Id="rId9" Type="http://schemas.openxmlformats.org/officeDocument/2006/relationships/image" Target="../media/image88.jpg"/><Relationship Id="rId14" Type="http://schemas.openxmlformats.org/officeDocument/2006/relationships/image" Target="../media/image51.gif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37.png"/><Relationship Id="rId7" Type="http://schemas.openxmlformats.org/officeDocument/2006/relationships/image" Target="../media/image89.jpg"/><Relationship Id="rId12" Type="http://schemas.openxmlformats.org/officeDocument/2006/relationships/image" Target="../media/image51.gif"/><Relationship Id="rId2" Type="http://schemas.openxmlformats.org/officeDocument/2006/relationships/image" Target="../media/image8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jpg"/><Relationship Id="rId11" Type="http://schemas.openxmlformats.org/officeDocument/2006/relationships/image" Target="../media/image93.jpg"/><Relationship Id="rId5" Type="http://schemas.openxmlformats.org/officeDocument/2006/relationships/image" Target="../media/image85.jpg"/><Relationship Id="rId10" Type="http://schemas.openxmlformats.org/officeDocument/2006/relationships/image" Target="../media/image92.png"/><Relationship Id="rId4" Type="http://schemas.openxmlformats.org/officeDocument/2006/relationships/image" Target="../media/image86.png"/><Relationship Id="rId9" Type="http://schemas.openxmlformats.org/officeDocument/2006/relationships/image" Target="../media/image91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13" Type="http://schemas.openxmlformats.org/officeDocument/2006/relationships/image" Target="../media/image103.png"/><Relationship Id="rId18" Type="http://schemas.openxmlformats.org/officeDocument/2006/relationships/image" Target="../media/image108.png"/><Relationship Id="rId3" Type="http://schemas.openxmlformats.org/officeDocument/2006/relationships/image" Target="../media/image90.png"/><Relationship Id="rId7" Type="http://schemas.openxmlformats.org/officeDocument/2006/relationships/image" Target="../media/image97.png"/><Relationship Id="rId12" Type="http://schemas.openxmlformats.org/officeDocument/2006/relationships/image" Target="../media/image102.png"/><Relationship Id="rId17" Type="http://schemas.openxmlformats.org/officeDocument/2006/relationships/image" Target="../media/image107.png"/><Relationship Id="rId2" Type="http://schemas.openxmlformats.org/officeDocument/2006/relationships/image" Target="../media/image80.jpg"/><Relationship Id="rId16" Type="http://schemas.openxmlformats.org/officeDocument/2006/relationships/image" Target="../media/image106.png"/><Relationship Id="rId20" Type="http://schemas.openxmlformats.org/officeDocument/2006/relationships/image" Target="../media/image93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6.png"/><Relationship Id="rId11" Type="http://schemas.openxmlformats.org/officeDocument/2006/relationships/image" Target="../media/image101.png"/><Relationship Id="rId5" Type="http://schemas.openxmlformats.org/officeDocument/2006/relationships/image" Target="../media/image95.png"/><Relationship Id="rId15" Type="http://schemas.openxmlformats.org/officeDocument/2006/relationships/image" Target="../media/image105.png"/><Relationship Id="rId10" Type="http://schemas.openxmlformats.org/officeDocument/2006/relationships/image" Target="../media/image100.png"/><Relationship Id="rId19" Type="http://schemas.openxmlformats.org/officeDocument/2006/relationships/image" Target="../media/image51.gif"/><Relationship Id="rId4" Type="http://schemas.openxmlformats.org/officeDocument/2006/relationships/image" Target="../media/image94.png"/><Relationship Id="rId9" Type="http://schemas.openxmlformats.org/officeDocument/2006/relationships/image" Target="../media/image99.png"/><Relationship Id="rId14" Type="http://schemas.openxmlformats.org/officeDocument/2006/relationships/image" Target="../media/image104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13" Type="http://schemas.openxmlformats.org/officeDocument/2006/relationships/image" Target="../media/image103.png"/><Relationship Id="rId18" Type="http://schemas.openxmlformats.org/officeDocument/2006/relationships/image" Target="../media/image108.png"/><Relationship Id="rId3" Type="http://schemas.openxmlformats.org/officeDocument/2006/relationships/image" Target="../media/image90.png"/><Relationship Id="rId21" Type="http://schemas.openxmlformats.org/officeDocument/2006/relationships/image" Target="../media/image93.jpg"/><Relationship Id="rId7" Type="http://schemas.openxmlformats.org/officeDocument/2006/relationships/image" Target="../media/image97.png"/><Relationship Id="rId12" Type="http://schemas.openxmlformats.org/officeDocument/2006/relationships/image" Target="../media/image102.png"/><Relationship Id="rId17" Type="http://schemas.openxmlformats.org/officeDocument/2006/relationships/image" Target="../media/image107.png"/><Relationship Id="rId2" Type="http://schemas.openxmlformats.org/officeDocument/2006/relationships/image" Target="../media/image80.jpg"/><Relationship Id="rId16" Type="http://schemas.openxmlformats.org/officeDocument/2006/relationships/image" Target="../media/image106.png"/><Relationship Id="rId20" Type="http://schemas.openxmlformats.org/officeDocument/2006/relationships/image" Target="../media/image109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6.png"/><Relationship Id="rId11" Type="http://schemas.openxmlformats.org/officeDocument/2006/relationships/image" Target="../media/image101.png"/><Relationship Id="rId5" Type="http://schemas.openxmlformats.org/officeDocument/2006/relationships/image" Target="../media/image95.png"/><Relationship Id="rId15" Type="http://schemas.openxmlformats.org/officeDocument/2006/relationships/image" Target="../media/image105.png"/><Relationship Id="rId10" Type="http://schemas.openxmlformats.org/officeDocument/2006/relationships/image" Target="../media/image100.png"/><Relationship Id="rId19" Type="http://schemas.openxmlformats.org/officeDocument/2006/relationships/image" Target="../media/image51.gif"/><Relationship Id="rId4" Type="http://schemas.openxmlformats.org/officeDocument/2006/relationships/image" Target="../media/image94.png"/><Relationship Id="rId9" Type="http://schemas.openxmlformats.org/officeDocument/2006/relationships/image" Target="../media/image99.png"/><Relationship Id="rId14" Type="http://schemas.openxmlformats.org/officeDocument/2006/relationships/image" Target="../media/image10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gif"/><Relationship Id="rId2" Type="http://schemas.openxmlformats.org/officeDocument/2006/relationships/image" Target="../media/image109.jp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109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gif"/><Relationship Id="rId4" Type="http://schemas.openxmlformats.org/officeDocument/2006/relationships/image" Target="../media/image110.jp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gif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gif"/><Relationship Id="rId2" Type="http://schemas.openxmlformats.org/officeDocument/2006/relationships/image" Target="../media/image11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2.png"/><Relationship Id="rId4" Type="http://schemas.openxmlformats.org/officeDocument/2006/relationships/image" Target="../media/image109.jp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jp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3" Type="http://schemas.openxmlformats.org/officeDocument/2006/relationships/image" Target="../media/image115.png"/><Relationship Id="rId7" Type="http://schemas.openxmlformats.org/officeDocument/2006/relationships/image" Target="../media/image118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7.png"/><Relationship Id="rId5" Type="http://schemas.openxmlformats.org/officeDocument/2006/relationships/image" Target="../media/image113.jpg"/><Relationship Id="rId4" Type="http://schemas.openxmlformats.org/officeDocument/2006/relationships/image" Target="../media/image116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jpg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jpg"/><Relationship Id="rId2" Type="http://schemas.openxmlformats.org/officeDocument/2006/relationships/image" Target="../media/image121.jp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jp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jpg"/><Relationship Id="rId2" Type="http://schemas.openxmlformats.org/officeDocument/2006/relationships/image" Target="../media/image110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4.jp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4C78186-D365-AAB5-1776-ED8CC4BADDE0}"/>
              </a:ext>
            </a:extLst>
          </p:cNvPr>
          <p:cNvSpPr txBox="1"/>
          <p:nvPr/>
        </p:nvSpPr>
        <p:spPr>
          <a:xfrm>
            <a:off x="187287" y="444959"/>
            <a:ext cx="7176388" cy="55789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latin typeface="Arial Rounded MT Bold" panose="020F0704030504030204" pitchFamily="34" charset="7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>
                <a:latin typeface="Arial Rounded MT Bold" panose="020F0704030504030204" pitchFamily="34" charset="77"/>
              </a:rPr>
              <a:t>The whole tutorial in a nutshell (only pictures and intuitions) 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>
                <a:latin typeface="Arial Rounded MT Bold" panose="020F0704030504030204" pitchFamily="34" charset="77"/>
              </a:rPr>
              <a:t>Quick probability warmup (Bayes, MLE, EM)</a:t>
            </a:r>
          </a:p>
          <a:p>
            <a:pPr marL="742950" lvl="1" indent="-285750">
              <a:buFontTx/>
              <a:buChar char="-"/>
            </a:pPr>
            <a:r>
              <a:rPr lang="en-US" dirty="0">
                <a:latin typeface="Arial Rounded MT Bold" panose="020F0704030504030204" pitchFamily="34" charset="77"/>
              </a:rPr>
              <a:t>Bayes</a:t>
            </a:r>
          </a:p>
          <a:p>
            <a:pPr marL="742950" lvl="1" indent="-285750">
              <a:buFontTx/>
              <a:buChar char="-"/>
            </a:pPr>
            <a:r>
              <a:rPr lang="en-US" dirty="0">
                <a:latin typeface="Arial Rounded MT Bold" panose="020F0704030504030204" pitchFamily="34" charset="77"/>
              </a:rPr>
              <a:t>Maximum likelihood estimation (MLE)</a:t>
            </a:r>
          </a:p>
          <a:p>
            <a:pPr marL="742950" lvl="1" indent="-285750">
              <a:buFontTx/>
              <a:buChar char="-"/>
            </a:pPr>
            <a:r>
              <a:rPr lang="en-US" dirty="0">
                <a:latin typeface="Arial Rounded MT Bold" panose="020F0704030504030204" pitchFamily="34" charset="77"/>
              </a:rPr>
              <a:t>Expectation maximization (EM)</a:t>
            </a:r>
          </a:p>
          <a:p>
            <a:pPr lvl="1"/>
            <a:endParaRPr lang="en-US" dirty="0">
              <a:latin typeface="Arial Rounded MT Bold" panose="020F0704030504030204" pitchFamily="34" charset="7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>
                <a:latin typeface="Arial Rounded MT Bold" panose="020F0704030504030204" pitchFamily="34" charset="77"/>
              </a:rPr>
              <a:t>Latent variable models: AE, VAE and visualization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>
                <a:latin typeface="Arial Rounded MT Bold" panose="020F0704030504030204" pitchFamily="34" charset="77"/>
              </a:rPr>
              <a:t>Hierarchical VAE to Diffusion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>
                <a:latin typeface="Arial Rounded MT Bold" panose="020F0704030504030204" pitchFamily="34" charset="77"/>
              </a:rPr>
              <a:t>Diffusion take 2: Score based models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>
                <a:latin typeface="Arial Rounded MT Bold" panose="020F0704030504030204" pitchFamily="34" charset="77"/>
              </a:rPr>
              <a:t>GAN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>
                <a:latin typeface="Arial Rounded MT Bold" panose="020F0704030504030204" pitchFamily="34" charset="77"/>
              </a:rPr>
              <a:t>Normalizing flows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>
                <a:latin typeface="Arial Rounded MT Bold" panose="020F0704030504030204" pitchFamily="34" charset="77"/>
              </a:rPr>
              <a:t>Wrap up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dirty="0">
              <a:latin typeface="Arial Rounded MT Bold" panose="020F0704030504030204" pitchFamily="34" charset="7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dirty="0">
              <a:latin typeface="Arial Rounded MT Bold" panose="020F0704030504030204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976CAA-98DE-B650-317E-0A7D9DA6C55F}"/>
              </a:ext>
            </a:extLst>
          </p:cNvPr>
          <p:cNvSpPr txBox="1"/>
          <p:nvPr/>
        </p:nvSpPr>
        <p:spPr>
          <a:xfrm>
            <a:off x="276411" y="260293"/>
            <a:ext cx="1249894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Roadmap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2929BF-BF17-4609-9920-98BA3587A914}"/>
              </a:ext>
            </a:extLst>
          </p:cNvPr>
          <p:cNvSpPr txBox="1"/>
          <p:nvPr/>
        </p:nvSpPr>
        <p:spPr>
          <a:xfrm>
            <a:off x="10074930" y="834081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30m</a:t>
            </a:r>
            <a:endParaRPr lang="en-US" sz="1400" dirty="0">
              <a:solidFill>
                <a:srgbClr val="C00000"/>
              </a:solidFill>
              <a:latin typeface="Arial Rounded MT Bold" panose="020F0704030504030204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903486-A779-AC31-3FE7-4DA061F7EF85}"/>
              </a:ext>
            </a:extLst>
          </p:cNvPr>
          <p:cNvSpPr txBox="1"/>
          <p:nvPr/>
        </p:nvSpPr>
        <p:spPr>
          <a:xfrm>
            <a:off x="10074930" y="1210845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30m</a:t>
            </a:r>
            <a:endParaRPr lang="en-US" sz="1400" dirty="0">
              <a:solidFill>
                <a:srgbClr val="C00000"/>
              </a:solidFill>
              <a:latin typeface="Arial Rounded MT Bold" panose="020F0704030504030204" pitchFamily="34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6245B7-DA9A-B37D-EAE4-0BE8CC6ED256}"/>
              </a:ext>
            </a:extLst>
          </p:cNvPr>
          <p:cNvSpPr txBox="1"/>
          <p:nvPr/>
        </p:nvSpPr>
        <p:spPr>
          <a:xfrm>
            <a:off x="10074930" y="2679932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45m</a:t>
            </a:r>
            <a:endParaRPr lang="en-US" sz="1400" dirty="0">
              <a:solidFill>
                <a:srgbClr val="C00000"/>
              </a:solidFill>
              <a:latin typeface="Arial Rounded MT Bold" panose="020F0704030504030204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F1110E-F92A-D273-C9D1-A61800231490}"/>
              </a:ext>
            </a:extLst>
          </p:cNvPr>
          <p:cNvSpPr txBox="1"/>
          <p:nvPr/>
        </p:nvSpPr>
        <p:spPr>
          <a:xfrm>
            <a:off x="10051962" y="3088287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60m</a:t>
            </a:r>
            <a:endParaRPr lang="en-US" sz="1400" dirty="0">
              <a:solidFill>
                <a:srgbClr val="C00000"/>
              </a:solidFill>
              <a:latin typeface="Arial Rounded MT Bold" panose="020F0704030504030204" pitchFamily="34" charset="7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B66BB9-9CE3-96AE-85A9-636A519DD140}"/>
              </a:ext>
            </a:extLst>
          </p:cNvPr>
          <p:cNvSpPr txBox="1"/>
          <p:nvPr/>
        </p:nvSpPr>
        <p:spPr>
          <a:xfrm>
            <a:off x="10063446" y="3521357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30m</a:t>
            </a:r>
            <a:endParaRPr lang="en-US" sz="1400" dirty="0">
              <a:solidFill>
                <a:srgbClr val="C00000"/>
              </a:solidFill>
              <a:latin typeface="Arial Rounded MT Bold" panose="020F0704030504030204" pitchFamily="34" charset="7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F9B653-57D4-6A5D-D56F-0A8ACA74497B}"/>
              </a:ext>
            </a:extLst>
          </p:cNvPr>
          <p:cNvSpPr txBox="1"/>
          <p:nvPr/>
        </p:nvSpPr>
        <p:spPr>
          <a:xfrm>
            <a:off x="10063446" y="3873671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15m</a:t>
            </a:r>
            <a:endParaRPr lang="en-US" sz="1400" dirty="0">
              <a:solidFill>
                <a:srgbClr val="C00000"/>
              </a:solidFill>
              <a:latin typeface="Arial Rounded MT Bold" panose="020F0704030504030204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91FF15-2E2A-8124-F888-09EC5BCBBF7B}"/>
              </a:ext>
            </a:extLst>
          </p:cNvPr>
          <p:cNvSpPr txBox="1"/>
          <p:nvPr/>
        </p:nvSpPr>
        <p:spPr>
          <a:xfrm>
            <a:off x="10051962" y="4243003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15m</a:t>
            </a:r>
            <a:endParaRPr lang="en-US" sz="1400" dirty="0">
              <a:solidFill>
                <a:srgbClr val="C00000"/>
              </a:solidFill>
              <a:latin typeface="Arial Rounded MT Bold" panose="020F0704030504030204" pitchFamily="34" charset="7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FB1214-C8B2-B053-E198-144031CB36B1}"/>
              </a:ext>
            </a:extLst>
          </p:cNvPr>
          <p:cNvSpPr txBox="1"/>
          <p:nvPr/>
        </p:nvSpPr>
        <p:spPr>
          <a:xfrm>
            <a:off x="10051962" y="4595317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10m</a:t>
            </a:r>
            <a:endParaRPr lang="en-US" sz="1400" dirty="0">
              <a:solidFill>
                <a:srgbClr val="C00000"/>
              </a:solidFill>
              <a:latin typeface="Arial Rounded MT Bold" panose="020F0704030504030204" pitchFamily="34" charset="77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6B9CA01-126A-5736-4890-F762850454EE}"/>
              </a:ext>
            </a:extLst>
          </p:cNvPr>
          <p:cNvCxnSpPr>
            <a:cxnSpLocks/>
          </p:cNvCxnSpPr>
          <p:nvPr/>
        </p:nvCxnSpPr>
        <p:spPr>
          <a:xfrm flipH="1">
            <a:off x="9600788" y="5098931"/>
            <a:ext cx="155823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545DF47-95EC-163F-EDA0-6B48B193A8C5}"/>
              </a:ext>
            </a:extLst>
          </p:cNvPr>
          <p:cNvSpPr txBox="1"/>
          <p:nvPr/>
        </p:nvSpPr>
        <p:spPr>
          <a:xfrm>
            <a:off x="9774290" y="5169407"/>
            <a:ext cx="1211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~ 4 hours</a:t>
            </a:r>
            <a:endParaRPr lang="en-US" sz="1400" dirty="0">
              <a:solidFill>
                <a:srgbClr val="C00000"/>
              </a:solidFill>
              <a:latin typeface="Arial Rounded MT Bold" panose="020F070403050403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751599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DEA59-12E8-738F-82BD-C37C06027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C48192E-E57F-43CB-DD40-9229292E04D2}"/>
              </a:ext>
            </a:extLst>
          </p:cNvPr>
          <p:cNvSpPr txBox="1"/>
          <p:nvPr/>
        </p:nvSpPr>
        <p:spPr>
          <a:xfrm>
            <a:off x="276411" y="260293"/>
            <a:ext cx="2249014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Data Compression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A6AA2EE-93A5-8AB8-F5C9-521BC76441E1}"/>
              </a:ext>
            </a:extLst>
          </p:cNvPr>
          <p:cNvSpPr txBox="1"/>
          <p:nvPr/>
        </p:nvSpPr>
        <p:spPr>
          <a:xfrm>
            <a:off x="207283" y="812519"/>
            <a:ext cx="9155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Goal</a:t>
            </a:r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: Represent high dimensional data		   with lower dimensions</a:t>
            </a:r>
            <a:r>
              <a:rPr lang="zh-TW" altLang="en-US" dirty="0">
                <a:latin typeface="Arial Rounded MT Bold" panose="020F0704030504030204" pitchFamily="34" charset="77"/>
                <a:sym typeface="Wingdings" pitchFamily="2" charset="2"/>
              </a:rPr>
              <a:t> 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237" name="Picture 236">
            <a:extLst>
              <a:ext uri="{FF2B5EF4-FFF2-40B4-BE49-F238E27FC236}">
                <a16:creationId xmlns:a16="http://schemas.microsoft.com/office/drawing/2014/main" id="{3303F46F-C096-480F-008F-029AF6A0E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179" y="863415"/>
            <a:ext cx="941222" cy="267539"/>
          </a:xfrm>
          <a:prstGeom prst="rect">
            <a:avLst/>
          </a:prstGeom>
        </p:spPr>
      </p:pic>
      <p:pic>
        <p:nvPicPr>
          <p:cNvPr id="239" name="Picture 238">
            <a:extLst>
              <a:ext uri="{FF2B5EF4-FFF2-40B4-BE49-F238E27FC236}">
                <a16:creationId xmlns:a16="http://schemas.microsoft.com/office/drawing/2014/main" id="{944B0338-4B21-4307-D80E-593683F129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503" y="852954"/>
            <a:ext cx="941223" cy="27604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3830A2E-64D8-91C1-52BD-5A15C1706A43}"/>
              </a:ext>
            </a:extLst>
          </p:cNvPr>
          <p:cNvSpPr txBox="1"/>
          <p:nvPr/>
        </p:nvSpPr>
        <p:spPr>
          <a:xfrm>
            <a:off x="207282" y="1443982"/>
            <a:ext cx="5107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Recall – Principal Component Analysis (PCA)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9DC06B4A-52F6-FB33-61CD-535565619758}"/>
              </a:ext>
            </a:extLst>
          </p:cNvPr>
          <p:cNvGrpSpPr/>
          <p:nvPr/>
        </p:nvGrpSpPr>
        <p:grpSpPr>
          <a:xfrm>
            <a:off x="6226844" y="1989719"/>
            <a:ext cx="3467103" cy="1448805"/>
            <a:chOff x="6226844" y="1989719"/>
            <a:chExt cx="3467103" cy="1448805"/>
          </a:xfrm>
        </p:grpSpPr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1C1218DA-404F-86F6-E3E6-0B5B401F8A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36369" y="1989719"/>
              <a:ext cx="0" cy="144880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4A7C4B30-B2F1-0308-DCA5-5BAF3120C6A3}"/>
                </a:ext>
              </a:extLst>
            </p:cNvPr>
            <p:cNvCxnSpPr>
              <a:cxnSpLocks/>
            </p:cNvCxnSpPr>
            <p:nvPr/>
          </p:nvCxnSpPr>
          <p:spPr>
            <a:xfrm>
              <a:off x="6226844" y="3428999"/>
              <a:ext cx="3467103" cy="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A80AABC1-4972-B274-309E-A53815A008A8}"/>
                </a:ext>
              </a:extLst>
            </p:cNvPr>
            <p:cNvSpPr/>
            <p:nvPr/>
          </p:nvSpPr>
          <p:spPr>
            <a:xfrm>
              <a:off x="6656821" y="3060017"/>
              <a:ext cx="106851" cy="10685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9AA96EBE-5468-59C2-D3B3-F4E890CBF089}"/>
                </a:ext>
              </a:extLst>
            </p:cNvPr>
            <p:cNvSpPr/>
            <p:nvPr/>
          </p:nvSpPr>
          <p:spPr>
            <a:xfrm>
              <a:off x="6975045" y="2842866"/>
              <a:ext cx="106851" cy="10685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E949B351-C590-BB61-EF1F-570EB9112340}"/>
                </a:ext>
              </a:extLst>
            </p:cNvPr>
            <p:cNvSpPr/>
            <p:nvPr/>
          </p:nvSpPr>
          <p:spPr>
            <a:xfrm>
              <a:off x="7201596" y="3082507"/>
              <a:ext cx="106851" cy="10685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050C28A9-3E5D-E248-8EBE-5497542615CC}"/>
                </a:ext>
              </a:extLst>
            </p:cNvPr>
            <p:cNvSpPr/>
            <p:nvPr/>
          </p:nvSpPr>
          <p:spPr>
            <a:xfrm>
              <a:off x="7472517" y="2549083"/>
              <a:ext cx="106851" cy="10685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4AD84F47-7F59-7048-0E20-E6CC4FFD50F4}"/>
                </a:ext>
              </a:extLst>
            </p:cNvPr>
            <p:cNvSpPr/>
            <p:nvPr/>
          </p:nvSpPr>
          <p:spPr>
            <a:xfrm>
              <a:off x="7441302" y="2842866"/>
              <a:ext cx="106851" cy="10685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02F2C3A5-E9A1-A42F-EC4F-AC9CD69EC09B}"/>
                </a:ext>
              </a:extLst>
            </p:cNvPr>
            <p:cNvSpPr/>
            <p:nvPr/>
          </p:nvSpPr>
          <p:spPr>
            <a:xfrm>
              <a:off x="7794492" y="2789440"/>
              <a:ext cx="106851" cy="10685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6C9E2647-EF36-0504-2394-E8B44996E947}"/>
                </a:ext>
              </a:extLst>
            </p:cNvPr>
            <p:cNvSpPr/>
            <p:nvPr/>
          </p:nvSpPr>
          <p:spPr>
            <a:xfrm>
              <a:off x="7730112" y="2191884"/>
              <a:ext cx="106851" cy="10685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1810DD1C-9378-701F-2D78-72ECD0787B88}"/>
                </a:ext>
              </a:extLst>
            </p:cNvPr>
            <p:cNvSpPr/>
            <p:nvPr/>
          </p:nvSpPr>
          <p:spPr>
            <a:xfrm>
              <a:off x="8128633" y="2607270"/>
              <a:ext cx="106851" cy="10685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6C105564-C993-32B5-09C8-19E408245C4A}"/>
                </a:ext>
              </a:extLst>
            </p:cNvPr>
            <p:cNvSpPr/>
            <p:nvPr/>
          </p:nvSpPr>
          <p:spPr>
            <a:xfrm>
              <a:off x="8486410" y="2119538"/>
              <a:ext cx="106851" cy="10685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030BFBC6-C31B-B5A1-54B3-63C1DFEFC14F}"/>
                </a:ext>
              </a:extLst>
            </p:cNvPr>
            <p:cNvSpPr/>
            <p:nvPr/>
          </p:nvSpPr>
          <p:spPr>
            <a:xfrm>
              <a:off x="8671705" y="2714121"/>
              <a:ext cx="106851" cy="10685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4CF2C2DE-9938-ECCE-AA3D-6ED50F652594}"/>
                </a:ext>
              </a:extLst>
            </p:cNvPr>
            <p:cNvSpPr/>
            <p:nvPr/>
          </p:nvSpPr>
          <p:spPr>
            <a:xfrm>
              <a:off x="6339744" y="3244508"/>
              <a:ext cx="106851" cy="10685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5D464B2B-925E-1A4B-C729-DB0A9381B29E}"/>
                </a:ext>
              </a:extLst>
            </p:cNvPr>
            <p:cNvSpPr/>
            <p:nvPr/>
          </p:nvSpPr>
          <p:spPr>
            <a:xfrm>
              <a:off x="8893864" y="2205088"/>
              <a:ext cx="106851" cy="10685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767114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40390-3669-6BF9-109B-B94AD50BD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821D75B7-17A8-8446-A317-E31D28C2BF32}"/>
              </a:ext>
            </a:extLst>
          </p:cNvPr>
          <p:cNvGrpSpPr/>
          <p:nvPr/>
        </p:nvGrpSpPr>
        <p:grpSpPr>
          <a:xfrm>
            <a:off x="6226844" y="1989719"/>
            <a:ext cx="3467103" cy="1448805"/>
            <a:chOff x="6226844" y="1989719"/>
            <a:chExt cx="3467103" cy="1448805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257667BC-ADFE-080E-6A0A-091F22CB60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36369" y="1989719"/>
              <a:ext cx="0" cy="144880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77B7BA9C-660C-54D5-EB70-9786FDE3A5D7}"/>
                </a:ext>
              </a:extLst>
            </p:cNvPr>
            <p:cNvCxnSpPr>
              <a:cxnSpLocks/>
            </p:cNvCxnSpPr>
            <p:nvPr/>
          </p:nvCxnSpPr>
          <p:spPr>
            <a:xfrm>
              <a:off x="6226844" y="3428999"/>
              <a:ext cx="3467103" cy="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004A33B-ADEE-2423-9EC8-85F1B82441ED}"/>
                </a:ext>
              </a:extLst>
            </p:cNvPr>
            <p:cNvSpPr/>
            <p:nvPr/>
          </p:nvSpPr>
          <p:spPr>
            <a:xfrm>
              <a:off x="6656821" y="3060017"/>
              <a:ext cx="106851" cy="10685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2811813C-125B-6427-389B-43DA4C7AEB07}"/>
                </a:ext>
              </a:extLst>
            </p:cNvPr>
            <p:cNvSpPr/>
            <p:nvPr/>
          </p:nvSpPr>
          <p:spPr>
            <a:xfrm>
              <a:off x="6975045" y="2842866"/>
              <a:ext cx="106851" cy="10685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074F129-78C9-411B-773C-B683D424F32E}"/>
                </a:ext>
              </a:extLst>
            </p:cNvPr>
            <p:cNvSpPr/>
            <p:nvPr/>
          </p:nvSpPr>
          <p:spPr>
            <a:xfrm>
              <a:off x="7201596" y="3082507"/>
              <a:ext cx="106851" cy="10685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F89AF160-F3E9-56EE-ADEC-955C2832B20F}"/>
                </a:ext>
              </a:extLst>
            </p:cNvPr>
            <p:cNvSpPr/>
            <p:nvPr/>
          </p:nvSpPr>
          <p:spPr>
            <a:xfrm>
              <a:off x="7472517" y="2549083"/>
              <a:ext cx="106851" cy="10685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38A97BCD-8418-71CC-F028-0EBAF0723F7C}"/>
                </a:ext>
              </a:extLst>
            </p:cNvPr>
            <p:cNvSpPr/>
            <p:nvPr/>
          </p:nvSpPr>
          <p:spPr>
            <a:xfrm>
              <a:off x="7441302" y="2842866"/>
              <a:ext cx="106851" cy="10685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77B91B10-3161-F6A9-2ABA-BD0D1950645F}"/>
                </a:ext>
              </a:extLst>
            </p:cNvPr>
            <p:cNvSpPr/>
            <p:nvPr/>
          </p:nvSpPr>
          <p:spPr>
            <a:xfrm>
              <a:off x="7794492" y="2789440"/>
              <a:ext cx="106851" cy="10685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57A249B-35C7-D9F8-2B36-A0ADE27E3E30}"/>
                </a:ext>
              </a:extLst>
            </p:cNvPr>
            <p:cNvSpPr/>
            <p:nvPr/>
          </p:nvSpPr>
          <p:spPr>
            <a:xfrm>
              <a:off x="7730112" y="2191884"/>
              <a:ext cx="106851" cy="10685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C9A095B7-318E-2A22-2DE8-6A051880EA33}"/>
                </a:ext>
              </a:extLst>
            </p:cNvPr>
            <p:cNvSpPr/>
            <p:nvPr/>
          </p:nvSpPr>
          <p:spPr>
            <a:xfrm>
              <a:off x="8128633" y="2607270"/>
              <a:ext cx="106851" cy="10685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9E67D32F-C478-F995-F995-C8B0E8983350}"/>
                </a:ext>
              </a:extLst>
            </p:cNvPr>
            <p:cNvSpPr/>
            <p:nvPr/>
          </p:nvSpPr>
          <p:spPr>
            <a:xfrm>
              <a:off x="8486410" y="2119538"/>
              <a:ext cx="106851" cy="10685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423D7484-2F59-E91F-31E8-EBC5C26F5CD6}"/>
                </a:ext>
              </a:extLst>
            </p:cNvPr>
            <p:cNvSpPr/>
            <p:nvPr/>
          </p:nvSpPr>
          <p:spPr>
            <a:xfrm>
              <a:off x="8671705" y="2714121"/>
              <a:ext cx="106851" cy="10685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E9E6EEB4-C243-A45B-AE3B-94926211EC29}"/>
                </a:ext>
              </a:extLst>
            </p:cNvPr>
            <p:cNvSpPr/>
            <p:nvPr/>
          </p:nvSpPr>
          <p:spPr>
            <a:xfrm>
              <a:off x="6339744" y="3244508"/>
              <a:ext cx="106851" cy="10685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E93E6927-97BF-C404-7AEE-304FD666A5A9}"/>
                </a:ext>
              </a:extLst>
            </p:cNvPr>
            <p:cNvSpPr/>
            <p:nvPr/>
          </p:nvSpPr>
          <p:spPr>
            <a:xfrm>
              <a:off x="8893864" y="2205088"/>
              <a:ext cx="106851" cy="10685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344FBC2-D9A8-810C-C7E8-39A11E90ACE4}"/>
              </a:ext>
            </a:extLst>
          </p:cNvPr>
          <p:cNvCxnSpPr>
            <a:cxnSpLocks/>
          </p:cNvCxnSpPr>
          <p:nvPr/>
        </p:nvCxnSpPr>
        <p:spPr>
          <a:xfrm flipV="1">
            <a:off x="6269193" y="2041898"/>
            <a:ext cx="3250387" cy="129381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7BD3451-66F1-0BC3-995B-BB40C72868E2}"/>
              </a:ext>
            </a:extLst>
          </p:cNvPr>
          <p:cNvSpPr txBox="1"/>
          <p:nvPr/>
        </p:nvSpPr>
        <p:spPr>
          <a:xfrm>
            <a:off x="276411" y="260293"/>
            <a:ext cx="2249014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Data Compression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20D470F-C512-C907-F2B5-CE9E95C61DF1}"/>
              </a:ext>
            </a:extLst>
          </p:cNvPr>
          <p:cNvSpPr txBox="1"/>
          <p:nvPr/>
        </p:nvSpPr>
        <p:spPr>
          <a:xfrm>
            <a:off x="207283" y="812519"/>
            <a:ext cx="9155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Goal</a:t>
            </a:r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: Represent high dimensional data		   with lower dimensions</a:t>
            </a:r>
            <a:r>
              <a:rPr lang="zh-TW" altLang="en-US" dirty="0">
                <a:latin typeface="Arial Rounded MT Bold" panose="020F0704030504030204" pitchFamily="34" charset="77"/>
                <a:sym typeface="Wingdings" pitchFamily="2" charset="2"/>
              </a:rPr>
              <a:t> 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237" name="Picture 236">
            <a:extLst>
              <a:ext uri="{FF2B5EF4-FFF2-40B4-BE49-F238E27FC236}">
                <a16:creationId xmlns:a16="http://schemas.microsoft.com/office/drawing/2014/main" id="{186CDFDA-F213-D919-A8C5-70B89B9A1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179" y="863415"/>
            <a:ext cx="941222" cy="267539"/>
          </a:xfrm>
          <a:prstGeom prst="rect">
            <a:avLst/>
          </a:prstGeom>
        </p:spPr>
      </p:pic>
      <p:pic>
        <p:nvPicPr>
          <p:cNvPr id="239" name="Picture 238">
            <a:extLst>
              <a:ext uri="{FF2B5EF4-FFF2-40B4-BE49-F238E27FC236}">
                <a16:creationId xmlns:a16="http://schemas.microsoft.com/office/drawing/2014/main" id="{F6958DC4-9DC9-B6BF-08B0-ECF5C83488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503" y="852954"/>
            <a:ext cx="941223" cy="27604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313D4F3-DDB6-CF3C-C5B0-5361B5280DE8}"/>
              </a:ext>
            </a:extLst>
          </p:cNvPr>
          <p:cNvSpPr txBox="1"/>
          <p:nvPr/>
        </p:nvSpPr>
        <p:spPr>
          <a:xfrm>
            <a:off x="207282" y="1443982"/>
            <a:ext cx="5107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Recall – Principal Component Analysis (PCA)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996CFDE-6030-DA16-23D6-90B0F608349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712496" y="1813314"/>
            <a:ext cx="410340" cy="306224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6E7CD8C-8346-8EC9-6CBB-A40350D53B16}"/>
              </a:ext>
            </a:extLst>
          </p:cNvPr>
          <p:cNvCxnSpPr>
            <a:cxnSpLocks/>
          </p:cNvCxnSpPr>
          <p:nvPr/>
        </p:nvCxnSpPr>
        <p:spPr>
          <a:xfrm flipH="1" flipV="1">
            <a:off x="7930681" y="2119538"/>
            <a:ext cx="369441" cy="84563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BB318ADE-691D-0B3E-E7C3-537BB05EAE7F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642746" y="1693728"/>
            <a:ext cx="410341" cy="30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4667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0BA6A-4366-9495-5D9D-D65F3481B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 59">
            <a:extLst>
              <a:ext uri="{FF2B5EF4-FFF2-40B4-BE49-F238E27FC236}">
                <a16:creationId xmlns:a16="http://schemas.microsoft.com/office/drawing/2014/main" id="{3A72F352-48F0-993B-16F2-DA194D40A716}"/>
              </a:ext>
            </a:extLst>
          </p:cNvPr>
          <p:cNvGrpSpPr/>
          <p:nvPr/>
        </p:nvGrpSpPr>
        <p:grpSpPr>
          <a:xfrm>
            <a:off x="6226844" y="1989719"/>
            <a:ext cx="3467103" cy="1448805"/>
            <a:chOff x="6226844" y="1989719"/>
            <a:chExt cx="3467103" cy="1448805"/>
          </a:xfrm>
        </p:grpSpPr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0ED07E42-0BDD-E976-E8A3-C7D1C960AB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36369" y="1989719"/>
              <a:ext cx="0" cy="144880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45D620DA-F430-4DD1-0D68-B11AC26DF815}"/>
                </a:ext>
              </a:extLst>
            </p:cNvPr>
            <p:cNvCxnSpPr>
              <a:cxnSpLocks/>
            </p:cNvCxnSpPr>
            <p:nvPr/>
          </p:nvCxnSpPr>
          <p:spPr>
            <a:xfrm>
              <a:off x="6226844" y="3428999"/>
              <a:ext cx="3467103" cy="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B6D99E00-941F-A9DF-E9CA-B8E9DDC44CBB}"/>
                </a:ext>
              </a:extLst>
            </p:cNvPr>
            <p:cNvSpPr/>
            <p:nvPr/>
          </p:nvSpPr>
          <p:spPr>
            <a:xfrm>
              <a:off x="6656821" y="3060017"/>
              <a:ext cx="106851" cy="10685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F3FBBBDA-111E-38EE-B7B8-6026BF564133}"/>
                </a:ext>
              </a:extLst>
            </p:cNvPr>
            <p:cNvSpPr/>
            <p:nvPr/>
          </p:nvSpPr>
          <p:spPr>
            <a:xfrm>
              <a:off x="6975045" y="2842866"/>
              <a:ext cx="106851" cy="10685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5DA3A005-C945-EE14-9681-6B9B8ADAFC59}"/>
                </a:ext>
              </a:extLst>
            </p:cNvPr>
            <p:cNvSpPr/>
            <p:nvPr/>
          </p:nvSpPr>
          <p:spPr>
            <a:xfrm>
              <a:off x="7201596" y="3082507"/>
              <a:ext cx="106851" cy="10685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548257DB-FAD0-BC4A-9CBF-F6F8E66E1487}"/>
                </a:ext>
              </a:extLst>
            </p:cNvPr>
            <p:cNvSpPr/>
            <p:nvPr/>
          </p:nvSpPr>
          <p:spPr>
            <a:xfrm>
              <a:off x="7472517" y="2549083"/>
              <a:ext cx="106851" cy="10685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A6F43899-9588-5FEB-C4DD-D3957311E8EB}"/>
                </a:ext>
              </a:extLst>
            </p:cNvPr>
            <p:cNvSpPr/>
            <p:nvPr/>
          </p:nvSpPr>
          <p:spPr>
            <a:xfrm>
              <a:off x="7441302" y="2842866"/>
              <a:ext cx="106851" cy="10685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4F0BB95D-97BE-B184-155A-7B5519C404AD}"/>
                </a:ext>
              </a:extLst>
            </p:cNvPr>
            <p:cNvSpPr/>
            <p:nvPr/>
          </p:nvSpPr>
          <p:spPr>
            <a:xfrm>
              <a:off x="7794492" y="2789440"/>
              <a:ext cx="106851" cy="10685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0529B94B-DC56-BFC4-1699-B6174577932F}"/>
                </a:ext>
              </a:extLst>
            </p:cNvPr>
            <p:cNvSpPr/>
            <p:nvPr/>
          </p:nvSpPr>
          <p:spPr>
            <a:xfrm>
              <a:off x="7730112" y="2191884"/>
              <a:ext cx="106851" cy="10685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97552BA4-BB4D-FF6D-79C0-18D87DE47BD5}"/>
                </a:ext>
              </a:extLst>
            </p:cNvPr>
            <p:cNvSpPr/>
            <p:nvPr/>
          </p:nvSpPr>
          <p:spPr>
            <a:xfrm>
              <a:off x="8128633" y="2607270"/>
              <a:ext cx="106851" cy="10685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C445AE03-B034-9F90-17A6-1CB8A064E05C}"/>
                </a:ext>
              </a:extLst>
            </p:cNvPr>
            <p:cNvSpPr/>
            <p:nvPr/>
          </p:nvSpPr>
          <p:spPr>
            <a:xfrm>
              <a:off x="8486410" y="2119538"/>
              <a:ext cx="106851" cy="10685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2B5B5685-088F-266C-72CC-250A00BA9EA8}"/>
                </a:ext>
              </a:extLst>
            </p:cNvPr>
            <p:cNvSpPr/>
            <p:nvPr/>
          </p:nvSpPr>
          <p:spPr>
            <a:xfrm>
              <a:off x="8671705" y="2714121"/>
              <a:ext cx="106851" cy="10685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7F95B07B-CDED-19BD-93D3-75CFE62AE36B}"/>
                </a:ext>
              </a:extLst>
            </p:cNvPr>
            <p:cNvSpPr/>
            <p:nvPr/>
          </p:nvSpPr>
          <p:spPr>
            <a:xfrm>
              <a:off x="6339744" y="3244508"/>
              <a:ext cx="106851" cy="10685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A7212B54-2183-496E-E645-4642BD64259D}"/>
                </a:ext>
              </a:extLst>
            </p:cNvPr>
            <p:cNvSpPr/>
            <p:nvPr/>
          </p:nvSpPr>
          <p:spPr>
            <a:xfrm>
              <a:off x="8893864" y="2205088"/>
              <a:ext cx="106851" cy="10685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0376B9F-D19C-3213-0401-BC8D28FF359B}"/>
              </a:ext>
            </a:extLst>
          </p:cNvPr>
          <p:cNvSpPr txBox="1"/>
          <p:nvPr/>
        </p:nvSpPr>
        <p:spPr>
          <a:xfrm>
            <a:off x="276411" y="260293"/>
            <a:ext cx="2249014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Data Compression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5F84D8B-B7E5-E8D7-879E-408BA69F6E99}"/>
              </a:ext>
            </a:extLst>
          </p:cNvPr>
          <p:cNvSpPr txBox="1"/>
          <p:nvPr/>
        </p:nvSpPr>
        <p:spPr>
          <a:xfrm>
            <a:off x="207283" y="812519"/>
            <a:ext cx="9155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Goal</a:t>
            </a:r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: Represent high dimensional data		   with lower dimensions</a:t>
            </a:r>
            <a:r>
              <a:rPr lang="zh-TW" altLang="en-US" dirty="0">
                <a:latin typeface="Arial Rounded MT Bold" panose="020F0704030504030204" pitchFamily="34" charset="77"/>
                <a:sym typeface="Wingdings" pitchFamily="2" charset="2"/>
              </a:rPr>
              <a:t> 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237" name="Picture 236">
            <a:extLst>
              <a:ext uri="{FF2B5EF4-FFF2-40B4-BE49-F238E27FC236}">
                <a16:creationId xmlns:a16="http://schemas.microsoft.com/office/drawing/2014/main" id="{7A542B85-FCEA-BF53-2C51-C81863ABA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179" y="863415"/>
            <a:ext cx="941222" cy="267539"/>
          </a:xfrm>
          <a:prstGeom prst="rect">
            <a:avLst/>
          </a:prstGeom>
        </p:spPr>
      </p:pic>
      <p:pic>
        <p:nvPicPr>
          <p:cNvPr id="239" name="Picture 238">
            <a:extLst>
              <a:ext uri="{FF2B5EF4-FFF2-40B4-BE49-F238E27FC236}">
                <a16:creationId xmlns:a16="http://schemas.microsoft.com/office/drawing/2014/main" id="{9B1105EE-A351-C85D-CFE3-CC8CED59B6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503" y="852954"/>
            <a:ext cx="941223" cy="27604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A500770-18E5-0FBA-105C-10B2A14E2FA9}"/>
              </a:ext>
            </a:extLst>
          </p:cNvPr>
          <p:cNvSpPr txBox="1"/>
          <p:nvPr/>
        </p:nvSpPr>
        <p:spPr>
          <a:xfrm>
            <a:off x="207282" y="1443982"/>
            <a:ext cx="5107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Recall – Principal Component Analysis (PCA)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8843E7A-A00C-A52F-EDE0-67F46103087E}"/>
              </a:ext>
            </a:extLst>
          </p:cNvPr>
          <p:cNvSpPr/>
          <p:nvPr/>
        </p:nvSpPr>
        <p:spPr>
          <a:xfrm>
            <a:off x="8893864" y="2205088"/>
            <a:ext cx="106851" cy="1068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53B84F-2B1A-5250-A863-6F4569FBE7C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712496" y="1813314"/>
            <a:ext cx="410340" cy="3062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4EC2D16-D004-82FB-1BAE-1F31C8970BBA}"/>
              </a:ext>
            </a:extLst>
          </p:cNvPr>
          <p:cNvSpPr txBox="1"/>
          <p:nvPr/>
        </p:nvSpPr>
        <p:spPr>
          <a:xfrm>
            <a:off x="582309" y="1961101"/>
            <a:ext cx="4230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Compress: Linear projection 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826C8D3-5ED9-C68C-64F9-2ED1CD9A61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9836" y="2010151"/>
            <a:ext cx="1132132" cy="262477"/>
          </a:xfrm>
          <a:prstGeom prst="rect">
            <a:avLst/>
          </a:prstGeom>
        </p:spPr>
      </p:pic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BB41052-82B2-28C5-FCDF-96C1C07CD786}"/>
              </a:ext>
            </a:extLst>
          </p:cNvPr>
          <p:cNvCxnSpPr>
            <a:cxnSpLocks/>
          </p:cNvCxnSpPr>
          <p:nvPr/>
        </p:nvCxnSpPr>
        <p:spPr>
          <a:xfrm>
            <a:off x="8561352" y="2226389"/>
            <a:ext cx="73709" cy="1367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B1D1D58-2B3F-C19C-A975-3AC2C40874C0}"/>
              </a:ext>
            </a:extLst>
          </p:cNvPr>
          <p:cNvCxnSpPr>
            <a:cxnSpLocks/>
          </p:cNvCxnSpPr>
          <p:nvPr/>
        </p:nvCxnSpPr>
        <p:spPr>
          <a:xfrm flipH="1" flipV="1">
            <a:off x="8593854" y="2469819"/>
            <a:ext cx="115742" cy="2608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326BF6E-1BC7-A7B2-45DC-57095DA4E643}"/>
              </a:ext>
            </a:extLst>
          </p:cNvPr>
          <p:cNvCxnSpPr>
            <a:cxnSpLocks/>
          </p:cNvCxnSpPr>
          <p:nvPr/>
        </p:nvCxnSpPr>
        <p:spPr>
          <a:xfrm>
            <a:off x="7799411" y="2293923"/>
            <a:ext cx="152639" cy="3372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9A56762-C53C-F7DF-E6BB-965968273612}"/>
              </a:ext>
            </a:extLst>
          </p:cNvPr>
          <p:cNvCxnSpPr>
            <a:cxnSpLocks/>
          </p:cNvCxnSpPr>
          <p:nvPr/>
        </p:nvCxnSpPr>
        <p:spPr>
          <a:xfrm>
            <a:off x="7522659" y="2610430"/>
            <a:ext cx="83101" cy="1898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17873D7-E189-1CD2-174E-C64265B7582A}"/>
              </a:ext>
            </a:extLst>
          </p:cNvPr>
          <p:cNvCxnSpPr>
            <a:cxnSpLocks/>
          </p:cNvCxnSpPr>
          <p:nvPr/>
        </p:nvCxnSpPr>
        <p:spPr>
          <a:xfrm>
            <a:off x="7059855" y="2925795"/>
            <a:ext cx="38184" cy="688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0A610FB-3CF2-78A4-9846-BBD88183BE21}"/>
              </a:ext>
            </a:extLst>
          </p:cNvPr>
          <p:cNvCxnSpPr>
            <a:cxnSpLocks/>
          </p:cNvCxnSpPr>
          <p:nvPr/>
        </p:nvCxnSpPr>
        <p:spPr>
          <a:xfrm flipH="1" flipV="1">
            <a:off x="7202931" y="2978483"/>
            <a:ext cx="35954" cy="986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D87A7BBC-FE18-03C1-57A5-B6345ABE986A}"/>
              </a:ext>
            </a:extLst>
          </p:cNvPr>
          <p:cNvCxnSpPr>
            <a:cxnSpLocks/>
          </p:cNvCxnSpPr>
          <p:nvPr/>
        </p:nvCxnSpPr>
        <p:spPr>
          <a:xfrm flipH="1" flipV="1">
            <a:off x="7797158" y="2748928"/>
            <a:ext cx="26392" cy="637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732F2FBC-1B32-008F-E231-F1D90331C2BC}"/>
              </a:ext>
            </a:extLst>
          </p:cNvPr>
          <p:cNvSpPr txBox="1"/>
          <p:nvPr/>
        </p:nvSpPr>
        <p:spPr>
          <a:xfrm>
            <a:off x="571263" y="2411479"/>
            <a:ext cx="4743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De-compress: Linear projection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04194B73-B2EC-3787-131F-F575D99A20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0365" y="2475268"/>
            <a:ext cx="1076933" cy="227616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41A2C2F4-926F-0C93-D71D-3DCA5E0B154C}"/>
              </a:ext>
            </a:extLst>
          </p:cNvPr>
          <p:cNvGrpSpPr/>
          <p:nvPr/>
        </p:nvGrpSpPr>
        <p:grpSpPr>
          <a:xfrm>
            <a:off x="6269193" y="2041898"/>
            <a:ext cx="3250387" cy="1346558"/>
            <a:chOff x="6269193" y="2041898"/>
            <a:chExt cx="3250387" cy="1346558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90E141C0-6576-82F4-0822-FC905CD310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69193" y="2041898"/>
              <a:ext cx="3250387" cy="1293813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Multiplication Sign 13">
              <a:extLst>
                <a:ext uri="{FF2B5EF4-FFF2-40B4-BE49-F238E27FC236}">
                  <a16:creationId xmlns:a16="http://schemas.microsoft.com/office/drawing/2014/main" id="{CBBC30DA-A76E-E48C-2B67-4414F5BD88A7}"/>
                </a:ext>
              </a:extLst>
            </p:cNvPr>
            <p:cNvSpPr/>
            <p:nvPr/>
          </p:nvSpPr>
          <p:spPr>
            <a:xfrm>
              <a:off x="8561506" y="2298352"/>
              <a:ext cx="159929" cy="173039"/>
            </a:xfrm>
            <a:prstGeom prst="mathMultiply">
              <a:avLst/>
            </a:prstGeom>
            <a:solidFill>
              <a:schemeClr val="accent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Multiplication Sign 14">
              <a:extLst>
                <a:ext uri="{FF2B5EF4-FFF2-40B4-BE49-F238E27FC236}">
                  <a16:creationId xmlns:a16="http://schemas.microsoft.com/office/drawing/2014/main" id="{4E111F4F-886A-26EA-4035-5AA2132B386B}"/>
                </a:ext>
              </a:extLst>
            </p:cNvPr>
            <p:cNvSpPr/>
            <p:nvPr/>
          </p:nvSpPr>
          <p:spPr>
            <a:xfrm>
              <a:off x="8491670" y="2344996"/>
              <a:ext cx="159929" cy="173039"/>
            </a:xfrm>
            <a:prstGeom prst="mathMultiply">
              <a:avLst/>
            </a:prstGeom>
            <a:solidFill>
              <a:schemeClr val="accent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Multiplication Sign 16">
              <a:extLst>
                <a:ext uri="{FF2B5EF4-FFF2-40B4-BE49-F238E27FC236}">
                  <a16:creationId xmlns:a16="http://schemas.microsoft.com/office/drawing/2014/main" id="{815A6DA5-5826-6432-4F48-0A8731B6A890}"/>
                </a:ext>
              </a:extLst>
            </p:cNvPr>
            <p:cNvSpPr/>
            <p:nvPr/>
          </p:nvSpPr>
          <p:spPr>
            <a:xfrm>
              <a:off x="7894632" y="2566431"/>
              <a:ext cx="159929" cy="173039"/>
            </a:xfrm>
            <a:prstGeom prst="mathMultiply">
              <a:avLst/>
            </a:prstGeom>
            <a:solidFill>
              <a:schemeClr val="accent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Multiplication Sign 18">
              <a:extLst>
                <a:ext uri="{FF2B5EF4-FFF2-40B4-BE49-F238E27FC236}">
                  <a16:creationId xmlns:a16="http://schemas.microsoft.com/office/drawing/2014/main" id="{A4FD37B8-A1DA-2DF8-8632-137E16BAFDF0}"/>
                </a:ext>
              </a:extLst>
            </p:cNvPr>
            <p:cNvSpPr/>
            <p:nvPr/>
          </p:nvSpPr>
          <p:spPr>
            <a:xfrm>
              <a:off x="7714231" y="2645334"/>
              <a:ext cx="159929" cy="173039"/>
            </a:xfrm>
            <a:prstGeom prst="mathMultiply">
              <a:avLst/>
            </a:prstGeom>
            <a:solidFill>
              <a:schemeClr val="accent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Multiplication Sign 19">
              <a:extLst>
                <a:ext uri="{FF2B5EF4-FFF2-40B4-BE49-F238E27FC236}">
                  <a16:creationId xmlns:a16="http://schemas.microsoft.com/office/drawing/2014/main" id="{2146F613-7575-569C-59E9-0A8306894B15}"/>
                </a:ext>
              </a:extLst>
            </p:cNvPr>
            <p:cNvSpPr/>
            <p:nvPr/>
          </p:nvSpPr>
          <p:spPr>
            <a:xfrm>
              <a:off x="7537637" y="2703138"/>
              <a:ext cx="159929" cy="173039"/>
            </a:xfrm>
            <a:prstGeom prst="mathMultiply">
              <a:avLst/>
            </a:prstGeom>
            <a:solidFill>
              <a:schemeClr val="accent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Multiplication Sign 20">
              <a:extLst>
                <a:ext uri="{FF2B5EF4-FFF2-40B4-BE49-F238E27FC236}">
                  <a16:creationId xmlns:a16="http://schemas.microsoft.com/office/drawing/2014/main" id="{EF7219AF-E41E-C320-14C6-E5D37716366A}"/>
                </a:ext>
              </a:extLst>
            </p:cNvPr>
            <p:cNvSpPr/>
            <p:nvPr/>
          </p:nvSpPr>
          <p:spPr>
            <a:xfrm>
              <a:off x="7018074" y="2923249"/>
              <a:ext cx="159929" cy="173039"/>
            </a:xfrm>
            <a:prstGeom prst="mathMultiply">
              <a:avLst/>
            </a:prstGeom>
            <a:solidFill>
              <a:schemeClr val="accent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Multiplication Sign 22">
              <a:extLst>
                <a:ext uri="{FF2B5EF4-FFF2-40B4-BE49-F238E27FC236}">
                  <a16:creationId xmlns:a16="http://schemas.microsoft.com/office/drawing/2014/main" id="{5C59481D-A971-62ED-B9F2-DD1E8E9B1F44}"/>
                </a:ext>
              </a:extLst>
            </p:cNvPr>
            <p:cNvSpPr/>
            <p:nvPr/>
          </p:nvSpPr>
          <p:spPr>
            <a:xfrm>
              <a:off x="7128373" y="2883274"/>
              <a:ext cx="159929" cy="173039"/>
            </a:xfrm>
            <a:prstGeom prst="mathMultiply">
              <a:avLst/>
            </a:prstGeom>
            <a:solidFill>
              <a:schemeClr val="accent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Multiplication Sign 24">
              <a:extLst>
                <a:ext uri="{FF2B5EF4-FFF2-40B4-BE49-F238E27FC236}">
                  <a16:creationId xmlns:a16="http://schemas.microsoft.com/office/drawing/2014/main" id="{B3E6594E-1687-A859-3F22-954AECF3908B}"/>
                </a:ext>
              </a:extLst>
            </p:cNvPr>
            <p:cNvSpPr/>
            <p:nvPr/>
          </p:nvSpPr>
          <p:spPr>
            <a:xfrm>
              <a:off x="6647918" y="3052426"/>
              <a:ext cx="159929" cy="173039"/>
            </a:xfrm>
            <a:prstGeom prst="mathMultiply">
              <a:avLst/>
            </a:prstGeom>
            <a:solidFill>
              <a:schemeClr val="accent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Multiplication Sign 28">
              <a:extLst>
                <a:ext uri="{FF2B5EF4-FFF2-40B4-BE49-F238E27FC236}">
                  <a16:creationId xmlns:a16="http://schemas.microsoft.com/office/drawing/2014/main" id="{4AE1943A-DDD9-7642-B835-339153194A4D}"/>
                </a:ext>
              </a:extLst>
            </p:cNvPr>
            <p:cNvSpPr/>
            <p:nvPr/>
          </p:nvSpPr>
          <p:spPr>
            <a:xfrm>
              <a:off x="6303650" y="3215417"/>
              <a:ext cx="159929" cy="173039"/>
            </a:xfrm>
            <a:prstGeom prst="mathMultiply">
              <a:avLst/>
            </a:prstGeom>
            <a:solidFill>
              <a:schemeClr val="accent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Multiplication Sign 31">
              <a:extLst>
                <a:ext uri="{FF2B5EF4-FFF2-40B4-BE49-F238E27FC236}">
                  <a16:creationId xmlns:a16="http://schemas.microsoft.com/office/drawing/2014/main" id="{DDF032DE-7AC8-B458-E0A7-57DA0B05EA5E}"/>
                </a:ext>
              </a:extLst>
            </p:cNvPr>
            <p:cNvSpPr/>
            <p:nvPr/>
          </p:nvSpPr>
          <p:spPr>
            <a:xfrm>
              <a:off x="8856466" y="2177844"/>
              <a:ext cx="159929" cy="173039"/>
            </a:xfrm>
            <a:prstGeom prst="mathMultiply">
              <a:avLst/>
            </a:prstGeom>
            <a:solidFill>
              <a:schemeClr val="accent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Multiplication Sign 45">
              <a:extLst>
                <a:ext uri="{FF2B5EF4-FFF2-40B4-BE49-F238E27FC236}">
                  <a16:creationId xmlns:a16="http://schemas.microsoft.com/office/drawing/2014/main" id="{8F938252-BE4B-F140-F54C-FB37832EB9A8}"/>
                </a:ext>
              </a:extLst>
            </p:cNvPr>
            <p:cNvSpPr/>
            <p:nvPr/>
          </p:nvSpPr>
          <p:spPr>
            <a:xfrm>
              <a:off x="8082038" y="2498966"/>
              <a:ext cx="159929" cy="173039"/>
            </a:xfrm>
            <a:prstGeom prst="mathMultiply">
              <a:avLst/>
            </a:prstGeom>
            <a:solidFill>
              <a:schemeClr val="accent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965352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EAB2F-4607-EF71-64FF-448378CC1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3F0BE29-1B9D-B68D-30F3-CB45B85C5779}"/>
              </a:ext>
            </a:extLst>
          </p:cNvPr>
          <p:cNvSpPr txBox="1"/>
          <p:nvPr/>
        </p:nvSpPr>
        <p:spPr>
          <a:xfrm>
            <a:off x="276411" y="260293"/>
            <a:ext cx="2249014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Data Compression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DFAEC84-D43A-A174-863F-1799ECB44FA2}"/>
              </a:ext>
            </a:extLst>
          </p:cNvPr>
          <p:cNvSpPr txBox="1"/>
          <p:nvPr/>
        </p:nvSpPr>
        <p:spPr>
          <a:xfrm>
            <a:off x="207283" y="812519"/>
            <a:ext cx="9155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Goal</a:t>
            </a:r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: Represent high dimensional data		   with lower dimensions</a:t>
            </a:r>
            <a:r>
              <a:rPr lang="zh-TW" altLang="en-US" dirty="0">
                <a:latin typeface="Arial Rounded MT Bold" panose="020F0704030504030204" pitchFamily="34" charset="77"/>
                <a:sym typeface="Wingdings" pitchFamily="2" charset="2"/>
              </a:rPr>
              <a:t> 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237" name="Picture 236">
            <a:extLst>
              <a:ext uri="{FF2B5EF4-FFF2-40B4-BE49-F238E27FC236}">
                <a16:creationId xmlns:a16="http://schemas.microsoft.com/office/drawing/2014/main" id="{D3DBC44B-DC45-EAB9-0CD4-125F401DD5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179" y="863415"/>
            <a:ext cx="941222" cy="267539"/>
          </a:xfrm>
          <a:prstGeom prst="rect">
            <a:avLst/>
          </a:prstGeom>
        </p:spPr>
      </p:pic>
      <p:pic>
        <p:nvPicPr>
          <p:cNvPr id="239" name="Picture 238">
            <a:extLst>
              <a:ext uri="{FF2B5EF4-FFF2-40B4-BE49-F238E27FC236}">
                <a16:creationId xmlns:a16="http://schemas.microsoft.com/office/drawing/2014/main" id="{EF4B2144-2ADB-952F-5636-180B7017D5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503" y="852954"/>
            <a:ext cx="941223" cy="27604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004742A-449A-D322-55EE-757A1B06DF85}"/>
              </a:ext>
            </a:extLst>
          </p:cNvPr>
          <p:cNvSpPr txBox="1"/>
          <p:nvPr/>
        </p:nvSpPr>
        <p:spPr>
          <a:xfrm>
            <a:off x="207282" y="1443982"/>
            <a:ext cx="5107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Recall – Principal Component Analysis (PCA)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sp>
        <p:nvSpPr>
          <p:cNvPr id="55" name="Trapezoid 54">
            <a:extLst>
              <a:ext uri="{FF2B5EF4-FFF2-40B4-BE49-F238E27FC236}">
                <a16:creationId xmlns:a16="http://schemas.microsoft.com/office/drawing/2014/main" id="{51A4A121-7537-7079-451F-F2FB19C734A7}"/>
              </a:ext>
            </a:extLst>
          </p:cNvPr>
          <p:cNvSpPr/>
          <p:nvPr/>
        </p:nvSpPr>
        <p:spPr>
          <a:xfrm rot="5400000">
            <a:off x="1613477" y="2767797"/>
            <a:ext cx="1943350" cy="731864"/>
          </a:xfrm>
          <a:prstGeom prst="trapezoid">
            <a:avLst>
              <a:gd name="adj" fmla="val 42499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9376D0E-DCB4-AB83-E9F1-6260F2438E76}"/>
              </a:ext>
            </a:extLst>
          </p:cNvPr>
          <p:cNvSpPr txBox="1"/>
          <p:nvPr/>
        </p:nvSpPr>
        <p:spPr>
          <a:xfrm rot="5400000">
            <a:off x="1970984" y="2987469"/>
            <a:ext cx="1244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Encoder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sp>
        <p:nvSpPr>
          <p:cNvPr id="75" name="Trapezoid 74">
            <a:extLst>
              <a:ext uri="{FF2B5EF4-FFF2-40B4-BE49-F238E27FC236}">
                <a16:creationId xmlns:a16="http://schemas.microsoft.com/office/drawing/2014/main" id="{1BDF1057-8046-EB90-70DF-FB59F516E003}"/>
              </a:ext>
            </a:extLst>
          </p:cNvPr>
          <p:cNvSpPr/>
          <p:nvPr/>
        </p:nvSpPr>
        <p:spPr>
          <a:xfrm rot="16200000" flipH="1">
            <a:off x="3398574" y="2792575"/>
            <a:ext cx="1943350" cy="731864"/>
          </a:xfrm>
          <a:prstGeom prst="trapezoid">
            <a:avLst>
              <a:gd name="adj" fmla="val 42499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5733977-56DB-ED93-FACF-E51E2C6EE8EC}"/>
              </a:ext>
            </a:extLst>
          </p:cNvPr>
          <p:cNvSpPr txBox="1"/>
          <p:nvPr/>
        </p:nvSpPr>
        <p:spPr>
          <a:xfrm rot="5400000">
            <a:off x="3815633" y="2942497"/>
            <a:ext cx="11475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Decoder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F61B6BC8-5EE0-603B-F044-27D4FDB8DF13}"/>
              </a:ext>
            </a:extLst>
          </p:cNvPr>
          <p:cNvCxnSpPr>
            <a:cxnSpLocks/>
          </p:cNvCxnSpPr>
          <p:nvPr/>
        </p:nvCxnSpPr>
        <p:spPr>
          <a:xfrm rot="16200000" flipV="1">
            <a:off x="5555492" y="3655570"/>
            <a:ext cx="0" cy="85001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D6BD3A38-0E9D-9623-B528-CF5E76A4AE50}"/>
              </a:ext>
            </a:extLst>
          </p:cNvPr>
          <p:cNvCxnSpPr>
            <a:cxnSpLocks/>
          </p:cNvCxnSpPr>
          <p:nvPr/>
        </p:nvCxnSpPr>
        <p:spPr>
          <a:xfrm rot="16200000">
            <a:off x="4957839" y="3069093"/>
            <a:ext cx="203414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4" name="Group 93">
            <a:extLst>
              <a:ext uri="{FF2B5EF4-FFF2-40B4-BE49-F238E27FC236}">
                <a16:creationId xmlns:a16="http://schemas.microsoft.com/office/drawing/2014/main" id="{F3AA79EA-F4C2-CAD0-E0E4-E63B95F6DDC0}"/>
              </a:ext>
            </a:extLst>
          </p:cNvPr>
          <p:cNvGrpSpPr/>
          <p:nvPr/>
        </p:nvGrpSpPr>
        <p:grpSpPr>
          <a:xfrm rot="16200000">
            <a:off x="4718157" y="2791268"/>
            <a:ext cx="1674665" cy="808831"/>
            <a:chOff x="6339744" y="2335332"/>
            <a:chExt cx="2534102" cy="1223921"/>
          </a:xfrm>
          <a:solidFill>
            <a:schemeClr val="accent2"/>
          </a:solidFill>
        </p:grpSpPr>
        <p:sp>
          <p:nvSpPr>
            <p:cNvPr id="96" name="Multiplication Sign 95">
              <a:extLst>
                <a:ext uri="{FF2B5EF4-FFF2-40B4-BE49-F238E27FC236}">
                  <a16:creationId xmlns:a16="http://schemas.microsoft.com/office/drawing/2014/main" id="{8194C565-90A1-02EA-AFD2-396AB9821C3C}"/>
                </a:ext>
              </a:extLst>
            </p:cNvPr>
            <p:cNvSpPr/>
            <p:nvPr/>
          </p:nvSpPr>
          <p:spPr>
            <a:xfrm>
              <a:off x="8587882" y="2335332"/>
              <a:ext cx="285964" cy="309406"/>
            </a:xfrm>
            <a:prstGeom prst="mathMultiply">
              <a:avLst/>
            </a:prstGeom>
            <a:grpFill/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Multiplication Sign 96">
              <a:extLst>
                <a:ext uri="{FF2B5EF4-FFF2-40B4-BE49-F238E27FC236}">
                  <a16:creationId xmlns:a16="http://schemas.microsoft.com/office/drawing/2014/main" id="{E230003F-AC68-7AC3-C2C1-34FF02D119C2}"/>
                </a:ext>
              </a:extLst>
            </p:cNvPr>
            <p:cNvSpPr/>
            <p:nvPr/>
          </p:nvSpPr>
          <p:spPr>
            <a:xfrm>
              <a:off x="8518046" y="2381976"/>
              <a:ext cx="285964" cy="309406"/>
            </a:xfrm>
            <a:prstGeom prst="mathMultiply">
              <a:avLst/>
            </a:prstGeom>
            <a:grpFill/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Multiplication Sign 97">
              <a:extLst>
                <a:ext uri="{FF2B5EF4-FFF2-40B4-BE49-F238E27FC236}">
                  <a16:creationId xmlns:a16="http://schemas.microsoft.com/office/drawing/2014/main" id="{EB656686-72A8-FD0A-EC8F-9D7C46CA6A2F}"/>
                </a:ext>
              </a:extLst>
            </p:cNvPr>
            <p:cNvSpPr/>
            <p:nvPr/>
          </p:nvSpPr>
          <p:spPr>
            <a:xfrm>
              <a:off x="7921008" y="2603411"/>
              <a:ext cx="285964" cy="309406"/>
            </a:xfrm>
            <a:prstGeom prst="mathMultiply">
              <a:avLst/>
            </a:prstGeom>
            <a:grpFill/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Multiplication Sign 98">
              <a:extLst>
                <a:ext uri="{FF2B5EF4-FFF2-40B4-BE49-F238E27FC236}">
                  <a16:creationId xmlns:a16="http://schemas.microsoft.com/office/drawing/2014/main" id="{D60E8DA1-6A3D-A406-57F2-30DACA33F0F4}"/>
                </a:ext>
              </a:extLst>
            </p:cNvPr>
            <p:cNvSpPr/>
            <p:nvPr/>
          </p:nvSpPr>
          <p:spPr>
            <a:xfrm>
              <a:off x="7564013" y="2740118"/>
              <a:ext cx="285964" cy="309406"/>
            </a:xfrm>
            <a:prstGeom prst="mathMultiply">
              <a:avLst/>
            </a:prstGeom>
            <a:grpFill/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Multiplication Sign 99">
              <a:extLst>
                <a:ext uri="{FF2B5EF4-FFF2-40B4-BE49-F238E27FC236}">
                  <a16:creationId xmlns:a16="http://schemas.microsoft.com/office/drawing/2014/main" id="{B9F66E58-EF8D-09E3-BA7C-B7F14C939200}"/>
                </a:ext>
              </a:extLst>
            </p:cNvPr>
            <p:cNvSpPr/>
            <p:nvPr/>
          </p:nvSpPr>
          <p:spPr>
            <a:xfrm>
              <a:off x="7154749" y="2920254"/>
              <a:ext cx="285964" cy="309406"/>
            </a:xfrm>
            <a:prstGeom prst="mathMultiply">
              <a:avLst/>
            </a:prstGeom>
            <a:grpFill/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Multiplication Sign 100">
              <a:extLst>
                <a:ext uri="{FF2B5EF4-FFF2-40B4-BE49-F238E27FC236}">
                  <a16:creationId xmlns:a16="http://schemas.microsoft.com/office/drawing/2014/main" id="{979745B8-9B95-02B9-90E3-1A430E61CCDF}"/>
                </a:ext>
              </a:extLst>
            </p:cNvPr>
            <p:cNvSpPr/>
            <p:nvPr/>
          </p:nvSpPr>
          <p:spPr>
            <a:xfrm>
              <a:off x="6339744" y="3249847"/>
              <a:ext cx="285964" cy="309406"/>
            </a:xfrm>
            <a:prstGeom prst="mathMultiply">
              <a:avLst/>
            </a:prstGeom>
            <a:grpFill/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Multiplication Sign 101">
              <a:extLst>
                <a:ext uri="{FF2B5EF4-FFF2-40B4-BE49-F238E27FC236}">
                  <a16:creationId xmlns:a16="http://schemas.microsoft.com/office/drawing/2014/main" id="{29BEF9A9-EF2D-3927-2C87-8A1A0CA970B7}"/>
                </a:ext>
              </a:extLst>
            </p:cNvPr>
            <p:cNvSpPr/>
            <p:nvPr/>
          </p:nvSpPr>
          <p:spPr>
            <a:xfrm>
              <a:off x="8108414" y="2535946"/>
              <a:ext cx="285964" cy="309406"/>
            </a:xfrm>
            <a:prstGeom prst="mathMultiply">
              <a:avLst/>
            </a:prstGeom>
            <a:grpFill/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4" name="Picture 103">
            <a:extLst>
              <a:ext uri="{FF2B5EF4-FFF2-40B4-BE49-F238E27FC236}">
                <a16:creationId xmlns:a16="http://schemas.microsoft.com/office/drawing/2014/main" id="{7380CA02-3CC3-2D17-BF09-548BABD19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839" y="4269831"/>
            <a:ext cx="941222" cy="267539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1459D234-8180-C814-67DD-6357E4B4A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3662" y="4239894"/>
            <a:ext cx="941223" cy="276047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76000DE7-FA4B-A2E4-3DE6-7FE5584891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8832" y="4239894"/>
            <a:ext cx="950592" cy="278795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6DA43B0D-D12F-F23A-31A0-1A96856F70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3071" y="4736339"/>
            <a:ext cx="2474692" cy="265031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FDCBA1D2-0313-D1F7-B1D3-633C87E8C716}"/>
              </a:ext>
            </a:extLst>
          </p:cNvPr>
          <p:cNvGrpSpPr/>
          <p:nvPr/>
        </p:nvGrpSpPr>
        <p:grpSpPr>
          <a:xfrm rot="16200000">
            <a:off x="454402" y="2693030"/>
            <a:ext cx="2037969" cy="851610"/>
            <a:chOff x="6226844" y="1989719"/>
            <a:chExt cx="3467103" cy="1448805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6FB03860-B535-04D4-70CA-3079B8179A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36369" y="1989719"/>
              <a:ext cx="0" cy="144880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EA444EA5-8DFB-5401-F645-49671FF4F5BB}"/>
                </a:ext>
              </a:extLst>
            </p:cNvPr>
            <p:cNvCxnSpPr>
              <a:cxnSpLocks/>
            </p:cNvCxnSpPr>
            <p:nvPr/>
          </p:nvCxnSpPr>
          <p:spPr>
            <a:xfrm>
              <a:off x="6226844" y="3428999"/>
              <a:ext cx="3467103" cy="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3947862-DE31-AB09-17A9-CB3460A7BACF}"/>
                </a:ext>
              </a:extLst>
            </p:cNvPr>
            <p:cNvSpPr/>
            <p:nvPr/>
          </p:nvSpPr>
          <p:spPr>
            <a:xfrm>
              <a:off x="6656821" y="3060017"/>
              <a:ext cx="106851" cy="10685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477D261-37FA-5092-8564-0E44A00B5F94}"/>
                </a:ext>
              </a:extLst>
            </p:cNvPr>
            <p:cNvSpPr/>
            <p:nvPr/>
          </p:nvSpPr>
          <p:spPr>
            <a:xfrm>
              <a:off x="6975045" y="2842866"/>
              <a:ext cx="106851" cy="10685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AB409FC-3500-BFB0-D047-17F0F141FF2F}"/>
                </a:ext>
              </a:extLst>
            </p:cNvPr>
            <p:cNvSpPr/>
            <p:nvPr/>
          </p:nvSpPr>
          <p:spPr>
            <a:xfrm>
              <a:off x="7201596" y="3082507"/>
              <a:ext cx="106851" cy="10685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E3A51C4-A222-7E4D-BE0B-EF300F75C944}"/>
                </a:ext>
              </a:extLst>
            </p:cNvPr>
            <p:cNvSpPr/>
            <p:nvPr/>
          </p:nvSpPr>
          <p:spPr>
            <a:xfrm>
              <a:off x="7472517" y="2549083"/>
              <a:ext cx="106851" cy="10685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80BA82A-FAD6-1DAE-2265-47921833F5C2}"/>
                </a:ext>
              </a:extLst>
            </p:cNvPr>
            <p:cNvSpPr/>
            <p:nvPr/>
          </p:nvSpPr>
          <p:spPr>
            <a:xfrm>
              <a:off x="7441302" y="2842866"/>
              <a:ext cx="106851" cy="10685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8C4D537-092C-8004-7191-175DADF548C6}"/>
                </a:ext>
              </a:extLst>
            </p:cNvPr>
            <p:cNvSpPr/>
            <p:nvPr/>
          </p:nvSpPr>
          <p:spPr>
            <a:xfrm>
              <a:off x="7794492" y="2789440"/>
              <a:ext cx="106851" cy="10685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37DEEC2A-827F-5522-034A-AD2766DC2A62}"/>
                </a:ext>
              </a:extLst>
            </p:cNvPr>
            <p:cNvSpPr/>
            <p:nvPr/>
          </p:nvSpPr>
          <p:spPr>
            <a:xfrm>
              <a:off x="7730112" y="2191884"/>
              <a:ext cx="106851" cy="10685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BC87903-AE94-9A1F-2224-356F24405463}"/>
                </a:ext>
              </a:extLst>
            </p:cNvPr>
            <p:cNvSpPr/>
            <p:nvPr/>
          </p:nvSpPr>
          <p:spPr>
            <a:xfrm>
              <a:off x="8128633" y="2607270"/>
              <a:ext cx="106851" cy="10685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31FE0F1-7A57-2AC3-AD66-0B08738F5CB9}"/>
                </a:ext>
              </a:extLst>
            </p:cNvPr>
            <p:cNvSpPr/>
            <p:nvPr/>
          </p:nvSpPr>
          <p:spPr>
            <a:xfrm>
              <a:off x="8486410" y="2119538"/>
              <a:ext cx="106851" cy="10685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267FD8A-ABC3-853A-F135-FED04AC7E815}"/>
                </a:ext>
              </a:extLst>
            </p:cNvPr>
            <p:cNvSpPr/>
            <p:nvPr/>
          </p:nvSpPr>
          <p:spPr>
            <a:xfrm>
              <a:off x="8671705" y="2714121"/>
              <a:ext cx="106851" cy="10685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4F9A8FB9-69F8-41D7-DE46-3247B2C95C1B}"/>
                </a:ext>
              </a:extLst>
            </p:cNvPr>
            <p:cNvSpPr/>
            <p:nvPr/>
          </p:nvSpPr>
          <p:spPr>
            <a:xfrm>
              <a:off x="6339744" y="3244508"/>
              <a:ext cx="106851" cy="10685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3DAFF2C-8378-2D96-C5F2-E7B295F4B222}"/>
                </a:ext>
              </a:extLst>
            </p:cNvPr>
            <p:cNvSpPr/>
            <p:nvPr/>
          </p:nvSpPr>
          <p:spPr>
            <a:xfrm>
              <a:off x="8893864" y="2205088"/>
              <a:ext cx="106851" cy="10685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6E015B9-EB8C-E1D9-8CB3-DFE309018738}"/>
              </a:ext>
            </a:extLst>
          </p:cNvPr>
          <p:cNvCxnSpPr>
            <a:cxnSpLocks/>
          </p:cNvCxnSpPr>
          <p:nvPr/>
        </p:nvCxnSpPr>
        <p:spPr>
          <a:xfrm flipH="1" flipV="1">
            <a:off x="2494967" y="3963517"/>
            <a:ext cx="299233" cy="63990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Picture 39">
            <a:extLst>
              <a:ext uri="{FF2B5EF4-FFF2-40B4-BE49-F238E27FC236}">
                <a16:creationId xmlns:a16="http://schemas.microsoft.com/office/drawing/2014/main" id="{E0F7FBBA-1243-B381-D221-E9F9C3CC4A0C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348423" y="3714904"/>
            <a:ext cx="252067" cy="188110"/>
          </a:xfrm>
          <a:prstGeom prst="rect">
            <a:avLst/>
          </a:prstGeom>
        </p:spPr>
      </p:pic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3B89B24-8512-7F5F-700F-80ABD9B5C364}"/>
              </a:ext>
            </a:extLst>
          </p:cNvPr>
          <p:cNvCxnSpPr>
            <a:cxnSpLocks/>
          </p:cNvCxnSpPr>
          <p:nvPr/>
        </p:nvCxnSpPr>
        <p:spPr>
          <a:xfrm flipH="1" flipV="1">
            <a:off x="4324353" y="3919941"/>
            <a:ext cx="299233" cy="63990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Picture 41">
            <a:extLst>
              <a:ext uri="{FF2B5EF4-FFF2-40B4-BE49-F238E27FC236}">
                <a16:creationId xmlns:a16="http://schemas.microsoft.com/office/drawing/2014/main" id="{781C1D4B-9843-D1C7-FCDB-16FE0358FC5F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177809" y="3671328"/>
            <a:ext cx="252067" cy="18811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5E20506B-7C0E-9D21-BBBA-A5A9475A2602}"/>
              </a:ext>
            </a:extLst>
          </p:cNvPr>
          <p:cNvGrpSpPr/>
          <p:nvPr/>
        </p:nvGrpSpPr>
        <p:grpSpPr>
          <a:xfrm rot="17423462">
            <a:off x="2440950" y="2690263"/>
            <a:ext cx="2031692" cy="841682"/>
            <a:chOff x="6269193" y="2041898"/>
            <a:chExt cx="3250387" cy="1346558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B9DC7FF8-9346-F8D6-97CC-9DC8BA9CA4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69193" y="2041898"/>
              <a:ext cx="3250387" cy="1293813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Multiplication Sign 35">
              <a:extLst>
                <a:ext uri="{FF2B5EF4-FFF2-40B4-BE49-F238E27FC236}">
                  <a16:creationId xmlns:a16="http://schemas.microsoft.com/office/drawing/2014/main" id="{C17DC9CC-D20B-FC14-3061-A73147C00764}"/>
                </a:ext>
              </a:extLst>
            </p:cNvPr>
            <p:cNvSpPr/>
            <p:nvPr/>
          </p:nvSpPr>
          <p:spPr>
            <a:xfrm>
              <a:off x="8561506" y="2298352"/>
              <a:ext cx="159929" cy="173039"/>
            </a:xfrm>
            <a:prstGeom prst="mathMultiply">
              <a:avLst/>
            </a:prstGeom>
            <a:solidFill>
              <a:schemeClr val="accent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Multiplication Sign 37">
              <a:extLst>
                <a:ext uri="{FF2B5EF4-FFF2-40B4-BE49-F238E27FC236}">
                  <a16:creationId xmlns:a16="http://schemas.microsoft.com/office/drawing/2014/main" id="{5752D3A2-D013-F561-7430-31C6907F02DB}"/>
                </a:ext>
              </a:extLst>
            </p:cNvPr>
            <p:cNvSpPr/>
            <p:nvPr/>
          </p:nvSpPr>
          <p:spPr>
            <a:xfrm>
              <a:off x="8491670" y="2344996"/>
              <a:ext cx="159929" cy="173039"/>
            </a:xfrm>
            <a:prstGeom prst="mathMultiply">
              <a:avLst/>
            </a:prstGeom>
            <a:solidFill>
              <a:schemeClr val="accent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Multiplication Sign 38">
              <a:extLst>
                <a:ext uri="{FF2B5EF4-FFF2-40B4-BE49-F238E27FC236}">
                  <a16:creationId xmlns:a16="http://schemas.microsoft.com/office/drawing/2014/main" id="{4A01E593-8FCC-4FB3-DBE1-1391E756ABC5}"/>
                </a:ext>
              </a:extLst>
            </p:cNvPr>
            <p:cNvSpPr/>
            <p:nvPr/>
          </p:nvSpPr>
          <p:spPr>
            <a:xfrm>
              <a:off x="7894632" y="2566431"/>
              <a:ext cx="159929" cy="173039"/>
            </a:xfrm>
            <a:prstGeom prst="mathMultiply">
              <a:avLst/>
            </a:prstGeom>
            <a:solidFill>
              <a:schemeClr val="accent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Multiplication Sign 42">
              <a:extLst>
                <a:ext uri="{FF2B5EF4-FFF2-40B4-BE49-F238E27FC236}">
                  <a16:creationId xmlns:a16="http://schemas.microsoft.com/office/drawing/2014/main" id="{BB58302D-07BF-BBB5-60E6-D73BED3D889B}"/>
                </a:ext>
              </a:extLst>
            </p:cNvPr>
            <p:cNvSpPr/>
            <p:nvPr/>
          </p:nvSpPr>
          <p:spPr>
            <a:xfrm>
              <a:off x="7714231" y="2645334"/>
              <a:ext cx="159929" cy="173039"/>
            </a:xfrm>
            <a:prstGeom prst="mathMultiply">
              <a:avLst/>
            </a:prstGeom>
            <a:solidFill>
              <a:schemeClr val="accent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Multiplication Sign 44">
              <a:extLst>
                <a:ext uri="{FF2B5EF4-FFF2-40B4-BE49-F238E27FC236}">
                  <a16:creationId xmlns:a16="http://schemas.microsoft.com/office/drawing/2014/main" id="{2AC81D08-4640-1BFF-8E20-E775821CD45B}"/>
                </a:ext>
              </a:extLst>
            </p:cNvPr>
            <p:cNvSpPr/>
            <p:nvPr/>
          </p:nvSpPr>
          <p:spPr>
            <a:xfrm>
              <a:off x="7537637" y="2703138"/>
              <a:ext cx="159929" cy="173039"/>
            </a:xfrm>
            <a:prstGeom prst="mathMultiply">
              <a:avLst/>
            </a:prstGeom>
            <a:solidFill>
              <a:schemeClr val="accent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Multiplication Sign 45">
              <a:extLst>
                <a:ext uri="{FF2B5EF4-FFF2-40B4-BE49-F238E27FC236}">
                  <a16:creationId xmlns:a16="http://schemas.microsoft.com/office/drawing/2014/main" id="{2C07352D-E16B-D131-A307-D6569A2A00F9}"/>
                </a:ext>
              </a:extLst>
            </p:cNvPr>
            <p:cNvSpPr/>
            <p:nvPr/>
          </p:nvSpPr>
          <p:spPr>
            <a:xfrm>
              <a:off x="7018074" y="2923249"/>
              <a:ext cx="159929" cy="173039"/>
            </a:xfrm>
            <a:prstGeom prst="mathMultiply">
              <a:avLst/>
            </a:prstGeom>
            <a:solidFill>
              <a:schemeClr val="accent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Multiplication Sign 46">
              <a:extLst>
                <a:ext uri="{FF2B5EF4-FFF2-40B4-BE49-F238E27FC236}">
                  <a16:creationId xmlns:a16="http://schemas.microsoft.com/office/drawing/2014/main" id="{B7B0686C-0FA4-E460-AB67-8EDCE1F05677}"/>
                </a:ext>
              </a:extLst>
            </p:cNvPr>
            <p:cNvSpPr/>
            <p:nvPr/>
          </p:nvSpPr>
          <p:spPr>
            <a:xfrm>
              <a:off x="7128373" y="2883274"/>
              <a:ext cx="159929" cy="173039"/>
            </a:xfrm>
            <a:prstGeom prst="mathMultiply">
              <a:avLst/>
            </a:prstGeom>
            <a:solidFill>
              <a:schemeClr val="accent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Multiplication Sign 47">
              <a:extLst>
                <a:ext uri="{FF2B5EF4-FFF2-40B4-BE49-F238E27FC236}">
                  <a16:creationId xmlns:a16="http://schemas.microsoft.com/office/drawing/2014/main" id="{36728BC1-6496-AA58-F9D0-5AFBE5EB7834}"/>
                </a:ext>
              </a:extLst>
            </p:cNvPr>
            <p:cNvSpPr/>
            <p:nvPr/>
          </p:nvSpPr>
          <p:spPr>
            <a:xfrm>
              <a:off x="6647918" y="3052426"/>
              <a:ext cx="159929" cy="173039"/>
            </a:xfrm>
            <a:prstGeom prst="mathMultiply">
              <a:avLst/>
            </a:prstGeom>
            <a:solidFill>
              <a:schemeClr val="accent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Multiplication Sign 48">
              <a:extLst>
                <a:ext uri="{FF2B5EF4-FFF2-40B4-BE49-F238E27FC236}">
                  <a16:creationId xmlns:a16="http://schemas.microsoft.com/office/drawing/2014/main" id="{7C407F1A-E63B-3681-C4C3-2B79FDDE0B3C}"/>
                </a:ext>
              </a:extLst>
            </p:cNvPr>
            <p:cNvSpPr/>
            <p:nvPr/>
          </p:nvSpPr>
          <p:spPr>
            <a:xfrm>
              <a:off x="6303650" y="3215417"/>
              <a:ext cx="159929" cy="173039"/>
            </a:xfrm>
            <a:prstGeom prst="mathMultiply">
              <a:avLst/>
            </a:prstGeom>
            <a:solidFill>
              <a:schemeClr val="accent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Multiplication Sign 49">
              <a:extLst>
                <a:ext uri="{FF2B5EF4-FFF2-40B4-BE49-F238E27FC236}">
                  <a16:creationId xmlns:a16="http://schemas.microsoft.com/office/drawing/2014/main" id="{63B87904-CDC9-A565-197E-5ED55AC9D863}"/>
                </a:ext>
              </a:extLst>
            </p:cNvPr>
            <p:cNvSpPr/>
            <p:nvPr/>
          </p:nvSpPr>
          <p:spPr>
            <a:xfrm>
              <a:off x="8856466" y="2177844"/>
              <a:ext cx="159929" cy="173039"/>
            </a:xfrm>
            <a:prstGeom prst="mathMultiply">
              <a:avLst/>
            </a:prstGeom>
            <a:solidFill>
              <a:schemeClr val="accent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Multiplication Sign 50">
              <a:extLst>
                <a:ext uri="{FF2B5EF4-FFF2-40B4-BE49-F238E27FC236}">
                  <a16:creationId xmlns:a16="http://schemas.microsoft.com/office/drawing/2014/main" id="{C9A80F45-DED7-E7E8-1E9A-208D5A96B3DA}"/>
                </a:ext>
              </a:extLst>
            </p:cNvPr>
            <p:cNvSpPr/>
            <p:nvPr/>
          </p:nvSpPr>
          <p:spPr>
            <a:xfrm>
              <a:off x="8082038" y="2498966"/>
              <a:ext cx="159929" cy="173039"/>
            </a:xfrm>
            <a:prstGeom prst="mathMultiply">
              <a:avLst/>
            </a:prstGeom>
            <a:solidFill>
              <a:schemeClr val="accent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305675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406B3-AB3B-EE8D-FA6E-9C7CF28F9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A18059-2237-E37F-6F0E-17FA497990C9}"/>
              </a:ext>
            </a:extLst>
          </p:cNvPr>
          <p:cNvSpPr txBox="1"/>
          <p:nvPr/>
        </p:nvSpPr>
        <p:spPr>
          <a:xfrm>
            <a:off x="276411" y="260293"/>
            <a:ext cx="2249014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Data Compression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06FF121-12B9-AE03-EFBE-15BCE537E643}"/>
              </a:ext>
            </a:extLst>
          </p:cNvPr>
          <p:cNvSpPr txBox="1"/>
          <p:nvPr/>
        </p:nvSpPr>
        <p:spPr>
          <a:xfrm>
            <a:off x="207283" y="812519"/>
            <a:ext cx="9155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Goal</a:t>
            </a:r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: Represent high dimensional data		   with lower dimensions</a:t>
            </a:r>
            <a:r>
              <a:rPr lang="zh-TW" altLang="en-US" dirty="0">
                <a:latin typeface="Arial Rounded MT Bold" panose="020F0704030504030204" pitchFamily="34" charset="77"/>
                <a:sym typeface="Wingdings" pitchFamily="2" charset="2"/>
              </a:rPr>
              <a:t> 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237" name="Picture 236">
            <a:extLst>
              <a:ext uri="{FF2B5EF4-FFF2-40B4-BE49-F238E27FC236}">
                <a16:creationId xmlns:a16="http://schemas.microsoft.com/office/drawing/2014/main" id="{BCF4CEB6-C38C-9665-31EF-C9F2802144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179" y="863415"/>
            <a:ext cx="941222" cy="267539"/>
          </a:xfrm>
          <a:prstGeom prst="rect">
            <a:avLst/>
          </a:prstGeom>
        </p:spPr>
      </p:pic>
      <p:pic>
        <p:nvPicPr>
          <p:cNvPr id="239" name="Picture 238">
            <a:extLst>
              <a:ext uri="{FF2B5EF4-FFF2-40B4-BE49-F238E27FC236}">
                <a16:creationId xmlns:a16="http://schemas.microsoft.com/office/drawing/2014/main" id="{FEA06F51-9332-C59B-4A93-9A28F81D9B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503" y="852954"/>
            <a:ext cx="941223" cy="27604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D2E5494-899E-EDD2-CF96-BCE066DB1E9B}"/>
              </a:ext>
            </a:extLst>
          </p:cNvPr>
          <p:cNvSpPr txBox="1"/>
          <p:nvPr/>
        </p:nvSpPr>
        <p:spPr>
          <a:xfrm>
            <a:off x="207282" y="1443982"/>
            <a:ext cx="5107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Recall – Principal Component Analysis (PCA)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7A8715-54BC-ABDF-7AE5-6F61859D4558}"/>
              </a:ext>
            </a:extLst>
          </p:cNvPr>
          <p:cNvSpPr txBox="1"/>
          <p:nvPr/>
        </p:nvSpPr>
        <p:spPr>
          <a:xfrm>
            <a:off x="1105251" y="5486484"/>
            <a:ext cx="5107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Can we do better than linear compression?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56F4BB-C3DB-B329-E1CE-85BAC0AF9E2C}"/>
              </a:ext>
            </a:extLst>
          </p:cNvPr>
          <p:cNvSpPr txBox="1"/>
          <p:nvPr/>
        </p:nvSpPr>
        <p:spPr>
          <a:xfrm>
            <a:off x="6248678" y="5486484"/>
            <a:ext cx="5107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Yes! Make encoder/ decoder non-linear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70F0ED7-651D-EBE4-2BA3-F114BC9821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839" y="4269831"/>
            <a:ext cx="941222" cy="26753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6B73274-DB62-6EF6-80A9-D0C4B719A5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3662" y="4239894"/>
            <a:ext cx="941223" cy="27604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3C09E14-1519-4AEB-371A-F377B1E0C5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8832" y="4239894"/>
            <a:ext cx="950592" cy="27879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8F750C-1701-377C-27C9-1F71723E23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3071" y="4736339"/>
            <a:ext cx="2474692" cy="265031"/>
          </a:xfrm>
          <a:prstGeom prst="rect">
            <a:avLst/>
          </a:prstGeom>
        </p:spPr>
      </p:pic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0795BF90-D6C2-3F10-1155-D6376543C104}"/>
              </a:ext>
            </a:extLst>
          </p:cNvPr>
          <p:cNvCxnSpPr>
            <a:cxnSpLocks/>
          </p:cNvCxnSpPr>
          <p:nvPr/>
        </p:nvCxnSpPr>
        <p:spPr>
          <a:xfrm flipH="1" flipV="1">
            <a:off x="2494967" y="3963517"/>
            <a:ext cx="299233" cy="63990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Picture 59">
            <a:extLst>
              <a:ext uri="{FF2B5EF4-FFF2-40B4-BE49-F238E27FC236}">
                <a16:creationId xmlns:a16="http://schemas.microsoft.com/office/drawing/2014/main" id="{3A9784DB-3833-5986-03DD-F91258B1A216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348423" y="3714904"/>
            <a:ext cx="252067" cy="188110"/>
          </a:xfrm>
          <a:prstGeom prst="rect">
            <a:avLst/>
          </a:prstGeom>
        </p:spPr>
      </p:pic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5B8D29A0-8DBB-8063-56DD-3DF8F6D06E12}"/>
              </a:ext>
            </a:extLst>
          </p:cNvPr>
          <p:cNvCxnSpPr>
            <a:cxnSpLocks/>
          </p:cNvCxnSpPr>
          <p:nvPr/>
        </p:nvCxnSpPr>
        <p:spPr>
          <a:xfrm flipH="1" flipV="1">
            <a:off x="4324353" y="3919941"/>
            <a:ext cx="299233" cy="63990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Picture 61">
            <a:extLst>
              <a:ext uri="{FF2B5EF4-FFF2-40B4-BE49-F238E27FC236}">
                <a16:creationId xmlns:a16="http://schemas.microsoft.com/office/drawing/2014/main" id="{469C6F07-CA55-BB2E-C29F-D813F7A98BE1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177809" y="3671328"/>
            <a:ext cx="252067" cy="188110"/>
          </a:xfrm>
          <a:prstGeom prst="rect">
            <a:avLst/>
          </a:prstGeom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30990200-4DF0-E98B-F064-10E5E2ED7DC6}"/>
              </a:ext>
            </a:extLst>
          </p:cNvPr>
          <p:cNvGrpSpPr/>
          <p:nvPr/>
        </p:nvGrpSpPr>
        <p:grpSpPr>
          <a:xfrm>
            <a:off x="1047582" y="2052023"/>
            <a:ext cx="4932915" cy="2085796"/>
            <a:chOff x="1047582" y="2052023"/>
            <a:chExt cx="4932915" cy="2085796"/>
          </a:xfrm>
        </p:grpSpPr>
        <p:sp>
          <p:nvSpPr>
            <p:cNvPr id="33" name="Trapezoid 32">
              <a:extLst>
                <a:ext uri="{FF2B5EF4-FFF2-40B4-BE49-F238E27FC236}">
                  <a16:creationId xmlns:a16="http://schemas.microsoft.com/office/drawing/2014/main" id="{4CDE430E-8CF1-7D3D-F858-A491790F7A1D}"/>
                </a:ext>
              </a:extLst>
            </p:cNvPr>
            <p:cNvSpPr/>
            <p:nvPr/>
          </p:nvSpPr>
          <p:spPr>
            <a:xfrm rot="5400000">
              <a:off x="1613477" y="2767797"/>
              <a:ext cx="1943350" cy="731864"/>
            </a:xfrm>
            <a:prstGeom prst="trapezoid">
              <a:avLst>
                <a:gd name="adj" fmla="val 42499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445A760-4EEA-3885-41F2-656CDA2E5011}"/>
                </a:ext>
              </a:extLst>
            </p:cNvPr>
            <p:cNvSpPr txBox="1"/>
            <p:nvPr/>
          </p:nvSpPr>
          <p:spPr>
            <a:xfrm rot="5400000">
              <a:off x="1970984" y="2987469"/>
              <a:ext cx="12449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latin typeface="Arial Rounded MT Bold" panose="020F0704030504030204" pitchFamily="34" charset="77"/>
                  <a:sym typeface="Wingdings" pitchFamily="2" charset="2"/>
                </a:rPr>
                <a:t>Encoder</a:t>
              </a:r>
              <a:endParaRPr lang="en-US" dirty="0">
                <a:latin typeface="Arial Rounded MT Bold" panose="020F0704030504030204" pitchFamily="34" charset="77"/>
              </a:endParaRPr>
            </a:p>
          </p:txBody>
        </p:sp>
        <p:sp>
          <p:nvSpPr>
            <p:cNvPr id="37" name="Trapezoid 36">
              <a:extLst>
                <a:ext uri="{FF2B5EF4-FFF2-40B4-BE49-F238E27FC236}">
                  <a16:creationId xmlns:a16="http://schemas.microsoft.com/office/drawing/2014/main" id="{96F4F481-468F-3CFC-564E-F0E03CDBB578}"/>
                </a:ext>
              </a:extLst>
            </p:cNvPr>
            <p:cNvSpPr/>
            <p:nvPr/>
          </p:nvSpPr>
          <p:spPr>
            <a:xfrm rot="16200000" flipH="1">
              <a:off x="3398574" y="2792575"/>
              <a:ext cx="1943350" cy="731864"/>
            </a:xfrm>
            <a:prstGeom prst="trapezoid">
              <a:avLst>
                <a:gd name="adj" fmla="val 42499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ECC019B-32CA-6008-85E4-21861B6076DF}"/>
                </a:ext>
              </a:extLst>
            </p:cNvPr>
            <p:cNvSpPr txBox="1"/>
            <p:nvPr/>
          </p:nvSpPr>
          <p:spPr>
            <a:xfrm rot="5400000">
              <a:off x="3815633" y="2942497"/>
              <a:ext cx="114758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dirty="0">
                  <a:latin typeface="Arial Rounded MT Bold" panose="020F0704030504030204" pitchFamily="34" charset="77"/>
                  <a:sym typeface="Wingdings" pitchFamily="2" charset="2"/>
                </a:rPr>
                <a:t>Decoder</a:t>
              </a:r>
              <a:endParaRPr lang="en-US" dirty="0">
                <a:latin typeface="Arial Rounded MT Bold" panose="020F0704030504030204" pitchFamily="34" charset="77"/>
              </a:endParaRP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020E5B88-E3C9-9184-7F8D-4A064A3BD0A3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555492" y="3655570"/>
              <a:ext cx="0" cy="85001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B51BA1EB-BF0A-7344-D901-A62BE76F7D3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957839" y="3069093"/>
              <a:ext cx="203414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9B6E8FB2-6529-23B8-33F4-4FB4B4E71D1C}"/>
                </a:ext>
              </a:extLst>
            </p:cNvPr>
            <p:cNvGrpSpPr/>
            <p:nvPr/>
          </p:nvGrpSpPr>
          <p:grpSpPr>
            <a:xfrm rot="16200000">
              <a:off x="4718157" y="2791268"/>
              <a:ext cx="1674665" cy="808831"/>
              <a:chOff x="6339744" y="2335332"/>
              <a:chExt cx="2534102" cy="1223921"/>
            </a:xfrm>
            <a:solidFill>
              <a:schemeClr val="accent2"/>
            </a:solidFill>
          </p:grpSpPr>
          <p:sp>
            <p:nvSpPr>
              <p:cNvPr id="47" name="Multiplication Sign 46">
                <a:extLst>
                  <a:ext uri="{FF2B5EF4-FFF2-40B4-BE49-F238E27FC236}">
                    <a16:creationId xmlns:a16="http://schemas.microsoft.com/office/drawing/2014/main" id="{270D301B-E057-EB7E-B855-3CD03FC7044A}"/>
                  </a:ext>
                </a:extLst>
              </p:cNvPr>
              <p:cNvSpPr/>
              <p:nvPr/>
            </p:nvSpPr>
            <p:spPr>
              <a:xfrm>
                <a:off x="8587882" y="2335332"/>
                <a:ext cx="285964" cy="309406"/>
              </a:xfrm>
              <a:prstGeom prst="mathMultiply">
                <a:avLst/>
              </a:prstGeom>
              <a:grpFill/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Multiplication Sign 48">
                <a:extLst>
                  <a:ext uri="{FF2B5EF4-FFF2-40B4-BE49-F238E27FC236}">
                    <a16:creationId xmlns:a16="http://schemas.microsoft.com/office/drawing/2014/main" id="{5F65744A-F70C-DFFE-9992-B56DA6546486}"/>
                  </a:ext>
                </a:extLst>
              </p:cNvPr>
              <p:cNvSpPr/>
              <p:nvPr/>
            </p:nvSpPr>
            <p:spPr>
              <a:xfrm>
                <a:off x="8518046" y="2381976"/>
                <a:ext cx="285964" cy="309406"/>
              </a:xfrm>
              <a:prstGeom prst="mathMultiply">
                <a:avLst/>
              </a:prstGeom>
              <a:grpFill/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Multiplication Sign 50">
                <a:extLst>
                  <a:ext uri="{FF2B5EF4-FFF2-40B4-BE49-F238E27FC236}">
                    <a16:creationId xmlns:a16="http://schemas.microsoft.com/office/drawing/2014/main" id="{FA33CC01-CE4B-42E9-5F87-87C49AD92EC4}"/>
                  </a:ext>
                </a:extLst>
              </p:cNvPr>
              <p:cNvSpPr/>
              <p:nvPr/>
            </p:nvSpPr>
            <p:spPr>
              <a:xfrm>
                <a:off x="7921008" y="2603411"/>
                <a:ext cx="285964" cy="309406"/>
              </a:xfrm>
              <a:prstGeom prst="mathMultiply">
                <a:avLst/>
              </a:prstGeom>
              <a:grpFill/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Multiplication Sign 52">
                <a:extLst>
                  <a:ext uri="{FF2B5EF4-FFF2-40B4-BE49-F238E27FC236}">
                    <a16:creationId xmlns:a16="http://schemas.microsoft.com/office/drawing/2014/main" id="{45FB1B37-1B78-E342-149A-EAD01B871AF9}"/>
                  </a:ext>
                </a:extLst>
              </p:cNvPr>
              <p:cNvSpPr/>
              <p:nvPr/>
            </p:nvSpPr>
            <p:spPr>
              <a:xfrm>
                <a:off x="7564013" y="2740118"/>
                <a:ext cx="285964" cy="309406"/>
              </a:xfrm>
              <a:prstGeom prst="mathMultiply">
                <a:avLst/>
              </a:prstGeom>
              <a:grpFill/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Multiplication Sign 53">
                <a:extLst>
                  <a:ext uri="{FF2B5EF4-FFF2-40B4-BE49-F238E27FC236}">
                    <a16:creationId xmlns:a16="http://schemas.microsoft.com/office/drawing/2014/main" id="{0302F702-CA42-9C1A-6E5D-0C63CC77B4BF}"/>
                  </a:ext>
                </a:extLst>
              </p:cNvPr>
              <p:cNvSpPr/>
              <p:nvPr/>
            </p:nvSpPr>
            <p:spPr>
              <a:xfrm>
                <a:off x="7154749" y="2920254"/>
                <a:ext cx="285964" cy="309406"/>
              </a:xfrm>
              <a:prstGeom prst="mathMultiply">
                <a:avLst/>
              </a:prstGeom>
              <a:grpFill/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Multiplication Sign 55">
                <a:extLst>
                  <a:ext uri="{FF2B5EF4-FFF2-40B4-BE49-F238E27FC236}">
                    <a16:creationId xmlns:a16="http://schemas.microsoft.com/office/drawing/2014/main" id="{56B49337-FC76-5BB2-2BF6-6D7B10EECEA0}"/>
                  </a:ext>
                </a:extLst>
              </p:cNvPr>
              <p:cNvSpPr/>
              <p:nvPr/>
            </p:nvSpPr>
            <p:spPr>
              <a:xfrm>
                <a:off x="6339744" y="3249847"/>
                <a:ext cx="285964" cy="309406"/>
              </a:xfrm>
              <a:prstGeom prst="mathMultiply">
                <a:avLst/>
              </a:prstGeom>
              <a:grpFill/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Multiplication Sign 56">
                <a:extLst>
                  <a:ext uri="{FF2B5EF4-FFF2-40B4-BE49-F238E27FC236}">
                    <a16:creationId xmlns:a16="http://schemas.microsoft.com/office/drawing/2014/main" id="{8CD45BEB-3737-0297-194E-5636177B9076}"/>
                  </a:ext>
                </a:extLst>
              </p:cNvPr>
              <p:cNvSpPr/>
              <p:nvPr/>
            </p:nvSpPr>
            <p:spPr>
              <a:xfrm>
                <a:off x="8108414" y="2535946"/>
                <a:ext cx="285964" cy="309406"/>
              </a:xfrm>
              <a:prstGeom prst="mathMultiply">
                <a:avLst/>
              </a:prstGeom>
              <a:grpFill/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E36C1B8-57C7-1EDB-58DA-97B2FEC510FA}"/>
                </a:ext>
              </a:extLst>
            </p:cNvPr>
            <p:cNvGrpSpPr/>
            <p:nvPr/>
          </p:nvGrpSpPr>
          <p:grpSpPr>
            <a:xfrm rot="16200000">
              <a:off x="454402" y="2693030"/>
              <a:ext cx="2037969" cy="851610"/>
              <a:chOff x="6226844" y="1989719"/>
              <a:chExt cx="3467103" cy="1448805"/>
            </a:xfrm>
          </p:grpSpPr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C56C11A6-D5CA-627A-F012-E55045D5A73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236369" y="1989719"/>
                <a:ext cx="0" cy="1448805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F0364549-8CD8-DC22-C582-C3E280763A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26844" y="3428999"/>
                <a:ext cx="3467103" cy="1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78ED9278-8C0F-059C-A3D0-E5231FEE18F0}"/>
                  </a:ext>
                </a:extLst>
              </p:cNvPr>
              <p:cNvSpPr/>
              <p:nvPr/>
            </p:nvSpPr>
            <p:spPr>
              <a:xfrm>
                <a:off x="6656821" y="3060017"/>
                <a:ext cx="106851" cy="10685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7C4F07A1-3556-DB6D-FD09-1FD7498785A3}"/>
                  </a:ext>
                </a:extLst>
              </p:cNvPr>
              <p:cNvSpPr/>
              <p:nvPr/>
            </p:nvSpPr>
            <p:spPr>
              <a:xfrm>
                <a:off x="6975045" y="2842866"/>
                <a:ext cx="106851" cy="10685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DBB18795-A0EE-832F-AC2A-1255F8974B8C}"/>
                  </a:ext>
                </a:extLst>
              </p:cNvPr>
              <p:cNvSpPr/>
              <p:nvPr/>
            </p:nvSpPr>
            <p:spPr>
              <a:xfrm>
                <a:off x="7201596" y="3082507"/>
                <a:ext cx="106851" cy="10685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CC95E596-38D4-9E91-116B-479A1C1DA60C}"/>
                  </a:ext>
                </a:extLst>
              </p:cNvPr>
              <p:cNvSpPr/>
              <p:nvPr/>
            </p:nvSpPr>
            <p:spPr>
              <a:xfrm>
                <a:off x="7472517" y="2549083"/>
                <a:ext cx="106851" cy="10685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F1D0DF87-293B-CBC6-E36C-573460CA9511}"/>
                  </a:ext>
                </a:extLst>
              </p:cNvPr>
              <p:cNvSpPr/>
              <p:nvPr/>
            </p:nvSpPr>
            <p:spPr>
              <a:xfrm>
                <a:off x="7441302" y="2842866"/>
                <a:ext cx="106851" cy="10685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DD15B639-BD0D-6523-0ECC-00BA57A0DF5D}"/>
                  </a:ext>
                </a:extLst>
              </p:cNvPr>
              <p:cNvSpPr/>
              <p:nvPr/>
            </p:nvSpPr>
            <p:spPr>
              <a:xfrm>
                <a:off x="7794492" y="2789440"/>
                <a:ext cx="106851" cy="10685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253024B5-C899-2A44-1787-D06B8DE75521}"/>
                  </a:ext>
                </a:extLst>
              </p:cNvPr>
              <p:cNvSpPr/>
              <p:nvPr/>
            </p:nvSpPr>
            <p:spPr>
              <a:xfrm>
                <a:off x="7730112" y="2191884"/>
                <a:ext cx="106851" cy="10685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EC822032-CD26-67CD-2194-E5F9E44219D0}"/>
                  </a:ext>
                </a:extLst>
              </p:cNvPr>
              <p:cNvSpPr/>
              <p:nvPr/>
            </p:nvSpPr>
            <p:spPr>
              <a:xfrm>
                <a:off x="8128633" y="2607270"/>
                <a:ext cx="106851" cy="10685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C59C6EA9-E40D-F44F-A3DB-9881FE52F0D6}"/>
                  </a:ext>
                </a:extLst>
              </p:cNvPr>
              <p:cNvSpPr/>
              <p:nvPr/>
            </p:nvSpPr>
            <p:spPr>
              <a:xfrm>
                <a:off x="8486410" y="2119538"/>
                <a:ext cx="106851" cy="10685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739AA468-723D-E0A2-D623-4674288EB508}"/>
                  </a:ext>
                </a:extLst>
              </p:cNvPr>
              <p:cNvSpPr/>
              <p:nvPr/>
            </p:nvSpPr>
            <p:spPr>
              <a:xfrm>
                <a:off x="8671705" y="2714121"/>
                <a:ext cx="106851" cy="10685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E913FA39-1865-8A73-C527-4D3BFA6DBCCE}"/>
                  </a:ext>
                </a:extLst>
              </p:cNvPr>
              <p:cNvSpPr/>
              <p:nvPr/>
            </p:nvSpPr>
            <p:spPr>
              <a:xfrm>
                <a:off x="6339744" y="3244508"/>
                <a:ext cx="106851" cy="10685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605F08B6-FFAF-3F12-B997-9B37919D649C}"/>
                  </a:ext>
                </a:extLst>
              </p:cNvPr>
              <p:cNvSpPr/>
              <p:nvPr/>
            </p:nvSpPr>
            <p:spPr>
              <a:xfrm>
                <a:off x="8893864" y="2205088"/>
                <a:ext cx="106851" cy="10685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E19EFAE8-118A-3210-CF95-D43723B8976E}"/>
                </a:ext>
              </a:extLst>
            </p:cNvPr>
            <p:cNvGrpSpPr/>
            <p:nvPr/>
          </p:nvGrpSpPr>
          <p:grpSpPr>
            <a:xfrm rot="17423462">
              <a:off x="2440950" y="2690263"/>
              <a:ext cx="2031692" cy="841682"/>
              <a:chOff x="6269193" y="2041898"/>
              <a:chExt cx="3250387" cy="1346558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F7A0EC12-7401-1E00-DF10-349E7032D83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269193" y="2041898"/>
                <a:ext cx="3250387" cy="1293813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Multiplication Sign 34">
                <a:extLst>
                  <a:ext uri="{FF2B5EF4-FFF2-40B4-BE49-F238E27FC236}">
                    <a16:creationId xmlns:a16="http://schemas.microsoft.com/office/drawing/2014/main" id="{EB41CFE8-AE6A-EEFB-6979-86620C222855}"/>
                  </a:ext>
                </a:extLst>
              </p:cNvPr>
              <p:cNvSpPr/>
              <p:nvPr/>
            </p:nvSpPr>
            <p:spPr>
              <a:xfrm>
                <a:off x="8561506" y="2298352"/>
                <a:ext cx="159929" cy="173039"/>
              </a:xfrm>
              <a:prstGeom prst="mathMultiply">
                <a:avLst/>
              </a:prstGeom>
              <a:solidFill>
                <a:schemeClr val="accent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Multiplication Sign 51">
                <a:extLst>
                  <a:ext uri="{FF2B5EF4-FFF2-40B4-BE49-F238E27FC236}">
                    <a16:creationId xmlns:a16="http://schemas.microsoft.com/office/drawing/2014/main" id="{F43874B0-BD7C-AECE-CE99-CE877B23A25D}"/>
                  </a:ext>
                </a:extLst>
              </p:cNvPr>
              <p:cNvSpPr/>
              <p:nvPr/>
            </p:nvSpPr>
            <p:spPr>
              <a:xfrm>
                <a:off x="8491670" y="2344996"/>
                <a:ext cx="159929" cy="173039"/>
              </a:xfrm>
              <a:prstGeom prst="mathMultiply">
                <a:avLst/>
              </a:prstGeom>
              <a:solidFill>
                <a:schemeClr val="accent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Multiplication Sign 54">
                <a:extLst>
                  <a:ext uri="{FF2B5EF4-FFF2-40B4-BE49-F238E27FC236}">
                    <a16:creationId xmlns:a16="http://schemas.microsoft.com/office/drawing/2014/main" id="{2D1E3578-4564-50D5-A0AF-BEC306644BB9}"/>
                  </a:ext>
                </a:extLst>
              </p:cNvPr>
              <p:cNvSpPr/>
              <p:nvPr/>
            </p:nvSpPr>
            <p:spPr>
              <a:xfrm>
                <a:off x="7894632" y="2566431"/>
                <a:ext cx="159929" cy="173039"/>
              </a:xfrm>
              <a:prstGeom prst="mathMultiply">
                <a:avLst/>
              </a:prstGeom>
              <a:solidFill>
                <a:schemeClr val="accent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Multiplication Sign 57">
                <a:extLst>
                  <a:ext uri="{FF2B5EF4-FFF2-40B4-BE49-F238E27FC236}">
                    <a16:creationId xmlns:a16="http://schemas.microsoft.com/office/drawing/2014/main" id="{E7570B53-0E3F-0370-07FA-C3CF08D82541}"/>
                  </a:ext>
                </a:extLst>
              </p:cNvPr>
              <p:cNvSpPr/>
              <p:nvPr/>
            </p:nvSpPr>
            <p:spPr>
              <a:xfrm>
                <a:off x="7714231" y="2645334"/>
                <a:ext cx="159929" cy="173039"/>
              </a:xfrm>
              <a:prstGeom prst="mathMultiply">
                <a:avLst/>
              </a:prstGeom>
              <a:solidFill>
                <a:schemeClr val="accent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Multiplication Sign 62">
                <a:extLst>
                  <a:ext uri="{FF2B5EF4-FFF2-40B4-BE49-F238E27FC236}">
                    <a16:creationId xmlns:a16="http://schemas.microsoft.com/office/drawing/2014/main" id="{72B544EC-5D68-E654-CC51-2D81A9CBC64E}"/>
                  </a:ext>
                </a:extLst>
              </p:cNvPr>
              <p:cNvSpPr/>
              <p:nvPr/>
            </p:nvSpPr>
            <p:spPr>
              <a:xfrm>
                <a:off x="7537637" y="2703138"/>
                <a:ext cx="159929" cy="173039"/>
              </a:xfrm>
              <a:prstGeom prst="mathMultiply">
                <a:avLst/>
              </a:prstGeom>
              <a:solidFill>
                <a:schemeClr val="accent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Multiplication Sign 64">
                <a:extLst>
                  <a:ext uri="{FF2B5EF4-FFF2-40B4-BE49-F238E27FC236}">
                    <a16:creationId xmlns:a16="http://schemas.microsoft.com/office/drawing/2014/main" id="{337CFD3D-9747-EA13-620C-DA80E2F5D2E1}"/>
                  </a:ext>
                </a:extLst>
              </p:cNvPr>
              <p:cNvSpPr/>
              <p:nvPr/>
            </p:nvSpPr>
            <p:spPr>
              <a:xfrm>
                <a:off x="7018074" y="2923249"/>
                <a:ext cx="159929" cy="173039"/>
              </a:xfrm>
              <a:prstGeom prst="mathMultiply">
                <a:avLst/>
              </a:prstGeom>
              <a:solidFill>
                <a:schemeClr val="accent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Multiplication Sign 65">
                <a:extLst>
                  <a:ext uri="{FF2B5EF4-FFF2-40B4-BE49-F238E27FC236}">
                    <a16:creationId xmlns:a16="http://schemas.microsoft.com/office/drawing/2014/main" id="{46A3B16F-E133-1B06-35D5-BF0379A5AEF0}"/>
                  </a:ext>
                </a:extLst>
              </p:cNvPr>
              <p:cNvSpPr/>
              <p:nvPr/>
            </p:nvSpPr>
            <p:spPr>
              <a:xfrm>
                <a:off x="7128373" y="2883274"/>
                <a:ext cx="159929" cy="173039"/>
              </a:xfrm>
              <a:prstGeom prst="mathMultiply">
                <a:avLst/>
              </a:prstGeom>
              <a:solidFill>
                <a:schemeClr val="accent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Multiplication Sign 66">
                <a:extLst>
                  <a:ext uri="{FF2B5EF4-FFF2-40B4-BE49-F238E27FC236}">
                    <a16:creationId xmlns:a16="http://schemas.microsoft.com/office/drawing/2014/main" id="{41BD33BF-C268-87D2-9F3C-475CB526A186}"/>
                  </a:ext>
                </a:extLst>
              </p:cNvPr>
              <p:cNvSpPr/>
              <p:nvPr/>
            </p:nvSpPr>
            <p:spPr>
              <a:xfrm>
                <a:off x="6647918" y="3052426"/>
                <a:ext cx="159929" cy="173039"/>
              </a:xfrm>
              <a:prstGeom prst="mathMultiply">
                <a:avLst/>
              </a:prstGeom>
              <a:solidFill>
                <a:schemeClr val="accent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Multiplication Sign 67">
                <a:extLst>
                  <a:ext uri="{FF2B5EF4-FFF2-40B4-BE49-F238E27FC236}">
                    <a16:creationId xmlns:a16="http://schemas.microsoft.com/office/drawing/2014/main" id="{53DBB275-3E85-C7CC-9B6E-E11FF612F9E8}"/>
                  </a:ext>
                </a:extLst>
              </p:cNvPr>
              <p:cNvSpPr/>
              <p:nvPr/>
            </p:nvSpPr>
            <p:spPr>
              <a:xfrm>
                <a:off x="6303650" y="3215417"/>
                <a:ext cx="159929" cy="173039"/>
              </a:xfrm>
              <a:prstGeom prst="mathMultiply">
                <a:avLst/>
              </a:prstGeom>
              <a:solidFill>
                <a:schemeClr val="accent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Multiplication Sign 68">
                <a:extLst>
                  <a:ext uri="{FF2B5EF4-FFF2-40B4-BE49-F238E27FC236}">
                    <a16:creationId xmlns:a16="http://schemas.microsoft.com/office/drawing/2014/main" id="{35A06662-4341-4510-35DF-81CEB96279BF}"/>
                  </a:ext>
                </a:extLst>
              </p:cNvPr>
              <p:cNvSpPr/>
              <p:nvPr/>
            </p:nvSpPr>
            <p:spPr>
              <a:xfrm>
                <a:off x="8856466" y="2177844"/>
                <a:ext cx="159929" cy="173039"/>
              </a:xfrm>
              <a:prstGeom prst="mathMultiply">
                <a:avLst/>
              </a:prstGeom>
              <a:solidFill>
                <a:schemeClr val="accent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Multiplication Sign 69">
                <a:extLst>
                  <a:ext uri="{FF2B5EF4-FFF2-40B4-BE49-F238E27FC236}">
                    <a16:creationId xmlns:a16="http://schemas.microsoft.com/office/drawing/2014/main" id="{5DA48CF9-B154-6727-4E7B-56ABA4C3FB7A}"/>
                  </a:ext>
                </a:extLst>
              </p:cNvPr>
              <p:cNvSpPr/>
              <p:nvPr/>
            </p:nvSpPr>
            <p:spPr>
              <a:xfrm>
                <a:off x="8082038" y="2498966"/>
                <a:ext cx="159929" cy="173039"/>
              </a:xfrm>
              <a:prstGeom prst="mathMultiply">
                <a:avLst/>
              </a:prstGeom>
              <a:solidFill>
                <a:schemeClr val="accent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06532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ECF4E-4659-B86E-1549-40AA1BF05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Freeform: Shape 228">
            <a:extLst>
              <a:ext uri="{FF2B5EF4-FFF2-40B4-BE49-F238E27FC236}">
                <a16:creationId xmlns:a16="http://schemas.microsoft.com/office/drawing/2014/main" id="{CE7AF075-6AC0-6C9B-3558-BB843968C5C6}"/>
              </a:ext>
            </a:extLst>
          </p:cNvPr>
          <p:cNvSpPr/>
          <p:nvPr/>
        </p:nvSpPr>
        <p:spPr>
          <a:xfrm>
            <a:off x="1138969" y="4042486"/>
            <a:ext cx="754380" cy="1554480"/>
          </a:xfrm>
          <a:custGeom>
            <a:avLst/>
            <a:gdLst>
              <a:gd name="connsiteX0" fmla="*/ 754380 w 754380"/>
              <a:gd name="connsiteY0" fmla="*/ 1554480 h 1554480"/>
              <a:gd name="connsiteX1" fmla="*/ 613410 w 754380"/>
              <a:gd name="connsiteY1" fmla="*/ 1497330 h 1554480"/>
              <a:gd name="connsiteX2" fmla="*/ 613410 w 754380"/>
              <a:gd name="connsiteY2" fmla="*/ 1356360 h 1554480"/>
              <a:gd name="connsiteX3" fmla="*/ 491490 w 754380"/>
              <a:gd name="connsiteY3" fmla="*/ 1173480 h 1554480"/>
              <a:gd name="connsiteX4" fmla="*/ 647700 w 754380"/>
              <a:gd name="connsiteY4" fmla="*/ 1032510 h 1554480"/>
              <a:gd name="connsiteX5" fmla="*/ 502920 w 754380"/>
              <a:gd name="connsiteY5" fmla="*/ 906780 h 1554480"/>
              <a:gd name="connsiteX6" fmla="*/ 331470 w 754380"/>
              <a:gd name="connsiteY6" fmla="*/ 887730 h 1554480"/>
              <a:gd name="connsiteX7" fmla="*/ 468630 w 754380"/>
              <a:gd name="connsiteY7" fmla="*/ 689610 h 1554480"/>
              <a:gd name="connsiteX8" fmla="*/ 354330 w 754380"/>
              <a:gd name="connsiteY8" fmla="*/ 499110 h 1554480"/>
              <a:gd name="connsiteX9" fmla="*/ 106680 w 754380"/>
              <a:gd name="connsiteY9" fmla="*/ 716280 h 1554480"/>
              <a:gd name="connsiteX10" fmla="*/ 57150 w 754380"/>
              <a:gd name="connsiteY10" fmla="*/ 285750 h 1554480"/>
              <a:gd name="connsiteX11" fmla="*/ 411480 w 754380"/>
              <a:gd name="connsiteY11" fmla="*/ 186690 h 1554480"/>
              <a:gd name="connsiteX12" fmla="*/ 0 w 754380"/>
              <a:gd name="connsiteY12" fmla="*/ 0 h 1554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54380" h="1554480">
                <a:moveTo>
                  <a:pt x="754380" y="1554480"/>
                </a:moveTo>
                <a:cubicBezTo>
                  <a:pt x="695642" y="1542415"/>
                  <a:pt x="636905" y="1530350"/>
                  <a:pt x="613410" y="1497330"/>
                </a:cubicBezTo>
                <a:cubicBezTo>
                  <a:pt x="589915" y="1464310"/>
                  <a:pt x="633730" y="1410335"/>
                  <a:pt x="613410" y="1356360"/>
                </a:cubicBezTo>
                <a:cubicBezTo>
                  <a:pt x="593090" y="1302385"/>
                  <a:pt x="485775" y="1227455"/>
                  <a:pt x="491490" y="1173480"/>
                </a:cubicBezTo>
                <a:cubicBezTo>
                  <a:pt x="497205" y="1119505"/>
                  <a:pt x="645795" y="1076960"/>
                  <a:pt x="647700" y="1032510"/>
                </a:cubicBezTo>
                <a:cubicBezTo>
                  <a:pt x="649605" y="988060"/>
                  <a:pt x="555625" y="930910"/>
                  <a:pt x="502920" y="906780"/>
                </a:cubicBezTo>
                <a:cubicBezTo>
                  <a:pt x="450215" y="882650"/>
                  <a:pt x="337185" y="923925"/>
                  <a:pt x="331470" y="887730"/>
                </a:cubicBezTo>
                <a:cubicBezTo>
                  <a:pt x="325755" y="851535"/>
                  <a:pt x="464820" y="754380"/>
                  <a:pt x="468630" y="689610"/>
                </a:cubicBezTo>
                <a:cubicBezTo>
                  <a:pt x="472440" y="624840"/>
                  <a:pt x="414655" y="494665"/>
                  <a:pt x="354330" y="499110"/>
                </a:cubicBezTo>
                <a:cubicBezTo>
                  <a:pt x="294005" y="503555"/>
                  <a:pt x="156210" y="751840"/>
                  <a:pt x="106680" y="716280"/>
                </a:cubicBezTo>
                <a:cubicBezTo>
                  <a:pt x="57150" y="680720"/>
                  <a:pt x="6350" y="374015"/>
                  <a:pt x="57150" y="285750"/>
                </a:cubicBezTo>
                <a:cubicBezTo>
                  <a:pt x="107950" y="197485"/>
                  <a:pt x="421005" y="234315"/>
                  <a:pt x="411480" y="186690"/>
                </a:cubicBezTo>
                <a:cubicBezTo>
                  <a:pt x="401955" y="139065"/>
                  <a:pt x="200977" y="69532"/>
                  <a:pt x="0" y="0"/>
                </a:cubicBezTo>
              </a:path>
            </a:pathLst>
          </a:custGeom>
          <a:noFill/>
          <a:ln w="57150"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9009F1-E105-61E7-289D-C17DD8523DFE}"/>
              </a:ext>
            </a:extLst>
          </p:cNvPr>
          <p:cNvSpPr txBox="1"/>
          <p:nvPr/>
        </p:nvSpPr>
        <p:spPr>
          <a:xfrm>
            <a:off x="276411" y="260293"/>
            <a:ext cx="2284600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Auto Encoder (AE)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2F72BAD-8B12-8AA4-5B00-D60B41183914}"/>
              </a:ext>
            </a:extLst>
          </p:cNvPr>
          <p:cNvSpPr txBox="1"/>
          <p:nvPr/>
        </p:nvSpPr>
        <p:spPr>
          <a:xfrm>
            <a:off x="439225" y="629625"/>
            <a:ext cx="960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PCA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59B24F0-D0F2-EBDA-372C-6DFCC794C19C}"/>
              </a:ext>
            </a:extLst>
          </p:cNvPr>
          <p:cNvCxnSpPr>
            <a:cxnSpLocks/>
          </p:cNvCxnSpPr>
          <p:nvPr/>
        </p:nvCxnSpPr>
        <p:spPr>
          <a:xfrm rot="16200000" flipV="1">
            <a:off x="1529809" y="5254162"/>
            <a:ext cx="0" cy="85001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64E5338-5776-F2CE-A598-6B586F8F4CF3}"/>
              </a:ext>
            </a:extLst>
          </p:cNvPr>
          <p:cNvCxnSpPr>
            <a:cxnSpLocks/>
          </p:cNvCxnSpPr>
          <p:nvPr/>
        </p:nvCxnSpPr>
        <p:spPr>
          <a:xfrm rot="16200000">
            <a:off x="932156" y="4667685"/>
            <a:ext cx="203414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0B4CB76B-51BF-6C24-E071-DAF02063356E}"/>
              </a:ext>
            </a:extLst>
          </p:cNvPr>
          <p:cNvSpPr/>
          <p:nvPr/>
        </p:nvSpPr>
        <p:spPr>
          <a:xfrm rot="16200000">
            <a:off x="1732744" y="5369800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8192BC4-CE07-210C-5923-99533059437A}"/>
              </a:ext>
            </a:extLst>
          </p:cNvPr>
          <p:cNvSpPr/>
          <p:nvPr/>
        </p:nvSpPr>
        <p:spPr>
          <a:xfrm rot="16200000">
            <a:off x="1605342" y="5183099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AD73B1C-C9FF-B0B7-9AA4-031C5E0398D4}"/>
              </a:ext>
            </a:extLst>
          </p:cNvPr>
          <p:cNvSpPr/>
          <p:nvPr/>
        </p:nvSpPr>
        <p:spPr>
          <a:xfrm rot="16200000">
            <a:off x="1745938" y="5050181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F859A96-B7DD-7AFA-0C14-8137CFD66500}"/>
              </a:ext>
            </a:extLst>
          </p:cNvPr>
          <p:cNvSpPr/>
          <p:nvPr/>
        </p:nvSpPr>
        <p:spPr>
          <a:xfrm rot="16200000">
            <a:off x="1432981" y="4891233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3FA0468-574F-AB12-8461-162658F0BA86}"/>
              </a:ext>
            </a:extLst>
          </p:cNvPr>
          <p:cNvSpPr/>
          <p:nvPr/>
        </p:nvSpPr>
        <p:spPr>
          <a:xfrm rot="16200000">
            <a:off x="1605342" y="4909547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A31BF12-E425-8530-B00B-E157DEEDA0C6}"/>
              </a:ext>
            </a:extLst>
          </p:cNvPr>
          <p:cNvSpPr/>
          <p:nvPr/>
        </p:nvSpPr>
        <p:spPr>
          <a:xfrm rot="16200000">
            <a:off x="1573997" y="4702332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183966D-CEDB-CF4C-DB10-0B4076144BBE}"/>
              </a:ext>
            </a:extLst>
          </p:cNvPr>
          <p:cNvSpPr/>
          <p:nvPr/>
        </p:nvSpPr>
        <p:spPr>
          <a:xfrm rot="16200000">
            <a:off x="1223412" y="4740103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CF48AE9-9835-4DE8-A695-6BE298995B2A}"/>
              </a:ext>
            </a:extLst>
          </p:cNvPr>
          <p:cNvSpPr/>
          <p:nvPr/>
        </p:nvSpPr>
        <p:spPr>
          <a:xfrm rot="16200000">
            <a:off x="1467118" y="4506292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7BDAFD45-B41C-63C4-E312-21B2BE6EB2BE}"/>
              </a:ext>
            </a:extLst>
          </p:cNvPr>
          <p:cNvSpPr/>
          <p:nvPr/>
        </p:nvSpPr>
        <p:spPr>
          <a:xfrm rot="16200000">
            <a:off x="1180967" y="4296384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13624158-0CA0-516D-2D4C-822A96367B31}"/>
              </a:ext>
            </a:extLst>
          </p:cNvPr>
          <p:cNvSpPr/>
          <p:nvPr/>
        </p:nvSpPr>
        <p:spPr>
          <a:xfrm rot="16200000">
            <a:off x="1529807" y="4187673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CF8FBCC8-7560-787C-AB99-021BD5BAE4D2}"/>
              </a:ext>
            </a:extLst>
          </p:cNvPr>
          <p:cNvSpPr/>
          <p:nvPr/>
        </p:nvSpPr>
        <p:spPr>
          <a:xfrm rot="16200000">
            <a:off x="1840984" y="5555828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92C671CF-9BB6-731A-9292-CA8A2628B3E5}"/>
              </a:ext>
            </a:extLst>
          </p:cNvPr>
          <p:cNvSpPr/>
          <p:nvPr/>
        </p:nvSpPr>
        <p:spPr>
          <a:xfrm rot="16200000">
            <a:off x="1231159" y="4057333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rapezoid 54">
            <a:extLst>
              <a:ext uri="{FF2B5EF4-FFF2-40B4-BE49-F238E27FC236}">
                <a16:creationId xmlns:a16="http://schemas.microsoft.com/office/drawing/2014/main" id="{BE2FB18F-A089-A517-A7EC-F47110270DF1}"/>
              </a:ext>
            </a:extLst>
          </p:cNvPr>
          <p:cNvSpPr/>
          <p:nvPr/>
        </p:nvSpPr>
        <p:spPr>
          <a:xfrm rot="5400000">
            <a:off x="1613030" y="4342966"/>
            <a:ext cx="1943350" cy="731864"/>
          </a:xfrm>
          <a:prstGeom prst="trapezoid">
            <a:avLst>
              <a:gd name="adj" fmla="val 42499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2A696DF-61C8-11A5-6C7B-DDB97E645FB2}"/>
              </a:ext>
            </a:extLst>
          </p:cNvPr>
          <p:cNvSpPr txBox="1"/>
          <p:nvPr/>
        </p:nvSpPr>
        <p:spPr>
          <a:xfrm rot="5400000">
            <a:off x="1970537" y="4562638"/>
            <a:ext cx="1244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Encoder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sp>
        <p:nvSpPr>
          <p:cNvPr id="75" name="Trapezoid 74">
            <a:extLst>
              <a:ext uri="{FF2B5EF4-FFF2-40B4-BE49-F238E27FC236}">
                <a16:creationId xmlns:a16="http://schemas.microsoft.com/office/drawing/2014/main" id="{5D90F5AE-FA35-F75E-1E1D-9C3C44A76B2A}"/>
              </a:ext>
            </a:extLst>
          </p:cNvPr>
          <p:cNvSpPr/>
          <p:nvPr/>
        </p:nvSpPr>
        <p:spPr>
          <a:xfrm rot="16200000" flipH="1">
            <a:off x="3398127" y="4367744"/>
            <a:ext cx="1943350" cy="731864"/>
          </a:xfrm>
          <a:prstGeom prst="trapezoid">
            <a:avLst>
              <a:gd name="adj" fmla="val 42499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6FB4253-0B83-FCAF-86DE-B9F83B79A949}"/>
              </a:ext>
            </a:extLst>
          </p:cNvPr>
          <p:cNvSpPr txBox="1"/>
          <p:nvPr/>
        </p:nvSpPr>
        <p:spPr>
          <a:xfrm rot="5400000">
            <a:off x="3815186" y="4517666"/>
            <a:ext cx="11475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Decoder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E3EE9C7A-90E4-977D-1E81-A1880A7A822C}"/>
              </a:ext>
            </a:extLst>
          </p:cNvPr>
          <p:cNvCxnSpPr>
            <a:cxnSpLocks/>
          </p:cNvCxnSpPr>
          <p:nvPr/>
        </p:nvCxnSpPr>
        <p:spPr>
          <a:xfrm rot="16200000" flipV="1">
            <a:off x="5555045" y="5230739"/>
            <a:ext cx="0" cy="85001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2D711A46-D6F3-4434-DB03-187BBF02D27F}"/>
              </a:ext>
            </a:extLst>
          </p:cNvPr>
          <p:cNvCxnSpPr>
            <a:cxnSpLocks/>
          </p:cNvCxnSpPr>
          <p:nvPr/>
        </p:nvCxnSpPr>
        <p:spPr>
          <a:xfrm rot="16200000">
            <a:off x="4957392" y="4644262"/>
            <a:ext cx="203414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0" name="TextBox 309">
            <a:extLst>
              <a:ext uri="{FF2B5EF4-FFF2-40B4-BE49-F238E27FC236}">
                <a16:creationId xmlns:a16="http://schemas.microsoft.com/office/drawing/2014/main" id="{7D452FD5-A53E-B3D1-36E6-1BBCE1313BDE}"/>
              </a:ext>
            </a:extLst>
          </p:cNvPr>
          <p:cNvSpPr txBox="1"/>
          <p:nvPr/>
        </p:nvSpPr>
        <p:spPr>
          <a:xfrm>
            <a:off x="439225" y="3040949"/>
            <a:ext cx="66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AE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sp>
        <p:nvSpPr>
          <p:cNvPr id="320" name="Freeform: Shape 319">
            <a:extLst>
              <a:ext uri="{FF2B5EF4-FFF2-40B4-BE49-F238E27FC236}">
                <a16:creationId xmlns:a16="http://schemas.microsoft.com/office/drawing/2014/main" id="{D9BF731F-E048-6E06-F8D5-F5DF81E24A28}"/>
              </a:ext>
            </a:extLst>
          </p:cNvPr>
          <p:cNvSpPr/>
          <p:nvPr/>
        </p:nvSpPr>
        <p:spPr>
          <a:xfrm>
            <a:off x="2351664" y="5202585"/>
            <a:ext cx="640601" cy="1320026"/>
          </a:xfrm>
          <a:custGeom>
            <a:avLst/>
            <a:gdLst>
              <a:gd name="connsiteX0" fmla="*/ 754380 w 754380"/>
              <a:gd name="connsiteY0" fmla="*/ 1554480 h 1554480"/>
              <a:gd name="connsiteX1" fmla="*/ 613410 w 754380"/>
              <a:gd name="connsiteY1" fmla="*/ 1497330 h 1554480"/>
              <a:gd name="connsiteX2" fmla="*/ 613410 w 754380"/>
              <a:gd name="connsiteY2" fmla="*/ 1356360 h 1554480"/>
              <a:gd name="connsiteX3" fmla="*/ 491490 w 754380"/>
              <a:gd name="connsiteY3" fmla="*/ 1173480 h 1554480"/>
              <a:gd name="connsiteX4" fmla="*/ 647700 w 754380"/>
              <a:gd name="connsiteY4" fmla="*/ 1032510 h 1554480"/>
              <a:gd name="connsiteX5" fmla="*/ 502920 w 754380"/>
              <a:gd name="connsiteY5" fmla="*/ 906780 h 1554480"/>
              <a:gd name="connsiteX6" fmla="*/ 331470 w 754380"/>
              <a:gd name="connsiteY6" fmla="*/ 887730 h 1554480"/>
              <a:gd name="connsiteX7" fmla="*/ 468630 w 754380"/>
              <a:gd name="connsiteY7" fmla="*/ 689610 h 1554480"/>
              <a:gd name="connsiteX8" fmla="*/ 354330 w 754380"/>
              <a:gd name="connsiteY8" fmla="*/ 499110 h 1554480"/>
              <a:gd name="connsiteX9" fmla="*/ 106680 w 754380"/>
              <a:gd name="connsiteY9" fmla="*/ 716280 h 1554480"/>
              <a:gd name="connsiteX10" fmla="*/ 57150 w 754380"/>
              <a:gd name="connsiteY10" fmla="*/ 285750 h 1554480"/>
              <a:gd name="connsiteX11" fmla="*/ 411480 w 754380"/>
              <a:gd name="connsiteY11" fmla="*/ 186690 h 1554480"/>
              <a:gd name="connsiteX12" fmla="*/ 0 w 754380"/>
              <a:gd name="connsiteY12" fmla="*/ 0 h 1554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54380" h="1554480">
                <a:moveTo>
                  <a:pt x="754380" y="1554480"/>
                </a:moveTo>
                <a:cubicBezTo>
                  <a:pt x="695642" y="1542415"/>
                  <a:pt x="636905" y="1530350"/>
                  <a:pt x="613410" y="1497330"/>
                </a:cubicBezTo>
                <a:cubicBezTo>
                  <a:pt x="589915" y="1464310"/>
                  <a:pt x="633730" y="1410335"/>
                  <a:pt x="613410" y="1356360"/>
                </a:cubicBezTo>
                <a:cubicBezTo>
                  <a:pt x="593090" y="1302385"/>
                  <a:pt x="485775" y="1227455"/>
                  <a:pt x="491490" y="1173480"/>
                </a:cubicBezTo>
                <a:cubicBezTo>
                  <a:pt x="497205" y="1119505"/>
                  <a:pt x="645795" y="1076960"/>
                  <a:pt x="647700" y="1032510"/>
                </a:cubicBezTo>
                <a:cubicBezTo>
                  <a:pt x="649605" y="988060"/>
                  <a:pt x="555625" y="930910"/>
                  <a:pt x="502920" y="906780"/>
                </a:cubicBezTo>
                <a:cubicBezTo>
                  <a:pt x="450215" y="882650"/>
                  <a:pt x="337185" y="923925"/>
                  <a:pt x="331470" y="887730"/>
                </a:cubicBezTo>
                <a:cubicBezTo>
                  <a:pt x="325755" y="851535"/>
                  <a:pt x="464820" y="754380"/>
                  <a:pt x="468630" y="689610"/>
                </a:cubicBezTo>
                <a:cubicBezTo>
                  <a:pt x="472440" y="624840"/>
                  <a:pt x="414655" y="494665"/>
                  <a:pt x="354330" y="499110"/>
                </a:cubicBezTo>
                <a:cubicBezTo>
                  <a:pt x="294005" y="503555"/>
                  <a:pt x="156210" y="751840"/>
                  <a:pt x="106680" y="716280"/>
                </a:cubicBezTo>
                <a:cubicBezTo>
                  <a:pt x="57150" y="680720"/>
                  <a:pt x="6350" y="374015"/>
                  <a:pt x="57150" y="285750"/>
                </a:cubicBezTo>
                <a:cubicBezTo>
                  <a:pt x="107950" y="197485"/>
                  <a:pt x="421005" y="234315"/>
                  <a:pt x="411480" y="186690"/>
                </a:cubicBezTo>
                <a:cubicBezTo>
                  <a:pt x="401955" y="139065"/>
                  <a:pt x="200977" y="69532"/>
                  <a:pt x="0" y="0"/>
                </a:cubicBezTo>
              </a:path>
            </a:pathLst>
          </a:custGeom>
          <a:noFill/>
          <a:ln w="57150"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1" name="Freeform: Shape 320">
            <a:extLst>
              <a:ext uri="{FF2B5EF4-FFF2-40B4-BE49-F238E27FC236}">
                <a16:creationId xmlns:a16="http://schemas.microsoft.com/office/drawing/2014/main" id="{4D23A577-B6D4-CD89-4332-61DC7B937A74}"/>
              </a:ext>
            </a:extLst>
          </p:cNvPr>
          <p:cNvSpPr/>
          <p:nvPr/>
        </p:nvSpPr>
        <p:spPr>
          <a:xfrm>
            <a:off x="4070860" y="5183099"/>
            <a:ext cx="640601" cy="1320026"/>
          </a:xfrm>
          <a:custGeom>
            <a:avLst/>
            <a:gdLst>
              <a:gd name="connsiteX0" fmla="*/ 754380 w 754380"/>
              <a:gd name="connsiteY0" fmla="*/ 1554480 h 1554480"/>
              <a:gd name="connsiteX1" fmla="*/ 613410 w 754380"/>
              <a:gd name="connsiteY1" fmla="*/ 1497330 h 1554480"/>
              <a:gd name="connsiteX2" fmla="*/ 613410 w 754380"/>
              <a:gd name="connsiteY2" fmla="*/ 1356360 h 1554480"/>
              <a:gd name="connsiteX3" fmla="*/ 491490 w 754380"/>
              <a:gd name="connsiteY3" fmla="*/ 1173480 h 1554480"/>
              <a:gd name="connsiteX4" fmla="*/ 647700 w 754380"/>
              <a:gd name="connsiteY4" fmla="*/ 1032510 h 1554480"/>
              <a:gd name="connsiteX5" fmla="*/ 502920 w 754380"/>
              <a:gd name="connsiteY5" fmla="*/ 906780 h 1554480"/>
              <a:gd name="connsiteX6" fmla="*/ 331470 w 754380"/>
              <a:gd name="connsiteY6" fmla="*/ 887730 h 1554480"/>
              <a:gd name="connsiteX7" fmla="*/ 468630 w 754380"/>
              <a:gd name="connsiteY7" fmla="*/ 689610 h 1554480"/>
              <a:gd name="connsiteX8" fmla="*/ 354330 w 754380"/>
              <a:gd name="connsiteY8" fmla="*/ 499110 h 1554480"/>
              <a:gd name="connsiteX9" fmla="*/ 106680 w 754380"/>
              <a:gd name="connsiteY9" fmla="*/ 716280 h 1554480"/>
              <a:gd name="connsiteX10" fmla="*/ 57150 w 754380"/>
              <a:gd name="connsiteY10" fmla="*/ 285750 h 1554480"/>
              <a:gd name="connsiteX11" fmla="*/ 411480 w 754380"/>
              <a:gd name="connsiteY11" fmla="*/ 186690 h 1554480"/>
              <a:gd name="connsiteX12" fmla="*/ 0 w 754380"/>
              <a:gd name="connsiteY12" fmla="*/ 0 h 1554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54380" h="1554480">
                <a:moveTo>
                  <a:pt x="754380" y="1554480"/>
                </a:moveTo>
                <a:cubicBezTo>
                  <a:pt x="695642" y="1542415"/>
                  <a:pt x="636905" y="1530350"/>
                  <a:pt x="613410" y="1497330"/>
                </a:cubicBezTo>
                <a:cubicBezTo>
                  <a:pt x="589915" y="1464310"/>
                  <a:pt x="633730" y="1410335"/>
                  <a:pt x="613410" y="1356360"/>
                </a:cubicBezTo>
                <a:cubicBezTo>
                  <a:pt x="593090" y="1302385"/>
                  <a:pt x="485775" y="1227455"/>
                  <a:pt x="491490" y="1173480"/>
                </a:cubicBezTo>
                <a:cubicBezTo>
                  <a:pt x="497205" y="1119505"/>
                  <a:pt x="645795" y="1076960"/>
                  <a:pt x="647700" y="1032510"/>
                </a:cubicBezTo>
                <a:cubicBezTo>
                  <a:pt x="649605" y="988060"/>
                  <a:pt x="555625" y="930910"/>
                  <a:pt x="502920" y="906780"/>
                </a:cubicBezTo>
                <a:cubicBezTo>
                  <a:pt x="450215" y="882650"/>
                  <a:pt x="337185" y="923925"/>
                  <a:pt x="331470" y="887730"/>
                </a:cubicBezTo>
                <a:cubicBezTo>
                  <a:pt x="325755" y="851535"/>
                  <a:pt x="464820" y="754380"/>
                  <a:pt x="468630" y="689610"/>
                </a:cubicBezTo>
                <a:cubicBezTo>
                  <a:pt x="472440" y="624840"/>
                  <a:pt x="414655" y="494665"/>
                  <a:pt x="354330" y="499110"/>
                </a:cubicBezTo>
                <a:cubicBezTo>
                  <a:pt x="294005" y="503555"/>
                  <a:pt x="156210" y="751840"/>
                  <a:pt x="106680" y="716280"/>
                </a:cubicBezTo>
                <a:cubicBezTo>
                  <a:pt x="57150" y="680720"/>
                  <a:pt x="6350" y="374015"/>
                  <a:pt x="57150" y="285750"/>
                </a:cubicBezTo>
                <a:cubicBezTo>
                  <a:pt x="107950" y="197485"/>
                  <a:pt x="421005" y="234315"/>
                  <a:pt x="411480" y="186690"/>
                </a:cubicBezTo>
                <a:cubicBezTo>
                  <a:pt x="401955" y="139065"/>
                  <a:pt x="200977" y="69532"/>
                  <a:pt x="0" y="0"/>
                </a:cubicBezTo>
              </a:path>
            </a:pathLst>
          </a:custGeom>
          <a:noFill/>
          <a:ln w="57150"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2" name="Freeform: Shape 321">
            <a:extLst>
              <a:ext uri="{FF2B5EF4-FFF2-40B4-BE49-F238E27FC236}">
                <a16:creationId xmlns:a16="http://schemas.microsoft.com/office/drawing/2014/main" id="{861EC0CC-6BD1-BA21-1188-E4BA6C6906D2}"/>
              </a:ext>
            </a:extLst>
          </p:cNvPr>
          <p:cNvSpPr/>
          <p:nvPr/>
        </p:nvSpPr>
        <p:spPr>
          <a:xfrm>
            <a:off x="5143716" y="3987781"/>
            <a:ext cx="754380" cy="1554480"/>
          </a:xfrm>
          <a:custGeom>
            <a:avLst/>
            <a:gdLst>
              <a:gd name="connsiteX0" fmla="*/ 754380 w 754380"/>
              <a:gd name="connsiteY0" fmla="*/ 1554480 h 1554480"/>
              <a:gd name="connsiteX1" fmla="*/ 613410 w 754380"/>
              <a:gd name="connsiteY1" fmla="*/ 1497330 h 1554480"/>
              <a:gd name="connsiteX2" fmla="*/ 613410 w 754380"/>
              <a:gd name="connsiteY2" fmla="*/ 1356360 h 1554480"/>
              <a:gd name="connsiteX3" fmla="*/ 491490 w 754380"/>
              <a:gd name="connsiteY3" fmla="*/ 1173480 h 1554480"/>
              <a:gd name="connsiteX4" fmla="*/ 647700 w 754380"/>
              <a:gd name="connsiteY4" fmla="*/ 1032510 h 1554480"/>
              <a:gd name="connsiteX5" fmla="*/ 502920 w 754380"/>
              <a:gd name="connsiteY5" fmla="*/ 906780 h 1554480"/>
              <a:gd name="connsiteX6" fmla="*/ 331470 w 754380"/>
              <a:gd name="connsiteY6" fmla="*/ 887730 h 1554480"/>
              <a:gd name="connsiteX7" fmla="*/ 468630 w 754380"/>
              <a:gd name="connsiteY7" fmla="*/ 689610 h 1554480"/>
              <a:gd name="connsiteX8" fmla="*/ 354330 w 754380"/>
              <a:gd name="connsiteY8" fmla="*/ 499110 h 1554480"/>
              <a:gd name="connsiteX9" fmla="*/ 106680 w 754380"/>
              <a:gd name="connsiteY9" fmla="*/ 716280 h 1554480"/>
              <a:gd name="connsiteX10" fmla="*/ 57150 w 754380"/>
              <a:gd name="connsiteY10" fmla="*/ 285750 h 1554480"/>
              <a:gd name="connsiteX11" fmla="*/ 411480 w 754380"/>
              <a:gd name="connsiteY11" fmla="*/ 186690 h 1554480"/>
              <a:gd name="connsiteX12" fmla="*/ 0 w 754380"/>
              <a:gd name="connsiteY12" fmla="*/ 0 h 1554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54380" h="1554480">
                <a:moveTo>
                  <a:pt x="754380" y="1554480"/>
                </a:moveTo>
                <a:cubicBezTo>
                  <a:pt x="695642" y="1542415"/>
                  <a:pt x="636905" y="1530350"/>
                  <a:pt x="613410" y="1497330"/>
                </a:cubicBezTo>
                <a:cubicBezTo>
                  <a:pt x="589915" y="1464310"/>
                  <a:pt x="633730" y="1410335"/>
                  <a:pt x="613410" y="1356360"/>
                </a:cubicBezTo>
                <a:cubicBezTo>
                  <a:pt x="593090" y="1302385"/>
                  <a:pt x="485775" y="1227455"/>
                  <a:pt x="491490" y="1173480"/>
                </a:cubicBezTo>
                <a:cubicBezTo>
                  <a:pt x="497205" y="1119505"/>
                  <a:pt x="645795" y="1076960"/>
                  <a:pt x="647700" y="1032510"/>
                </a:cubicBezTo>
                <a:cubicBezTo>
                  <a:pt x="649605" y="988060"/>
                  <a:pt x="555625" y="930910"/>
                  <a:pt x="502920" y="906780"/>
                </a:cubicBezTo>
                <a:cubicBezTo>
                  <a:pt x="450215" y="882650"/>
                  <a:pt x="337185" y="923925"/>
                  <a:pt x="331470" y="887730"/>
                </a:cubicBezTo>
                <a:cubicBezTo>
                  <a:pt x="325755" y="851535"/>
                  <a:pt x="464820" y="754380"/>
                  <a:pt x="468630" y="689610"/>
                </a:cubicBezTo>
                <a:cubicBezTo>
                  <a:pt x="472440" y="624840"/>
                  <a:pt x="414655" y="494665"/>
                  <a:pt x="354330" y="499110"/>
                </a:cubicBezTo>
                <a:cubicBezTo>
                  <a:pt x="294005" y="503555"/>
                  <a:pt x="156210" y="751840"/>
                  <a:pt x="106680" y="716280"/>
                </a:cubicBezTo>
                <a:cubicBezTo>
                  <a:pt x="57150" y="680720"/>
                  <a:pt x="6350" y="374015"/>
                  <a:pt x="57150" y="285750"/>
                </a:cubicBezTo>
                <a:cubicBezTo>
                  <a:pt x="107950" y="197485"/>
                  <a:pt x="421005" y="234315"/>
                  <a:pt x="411480" y="186690"/>
                </a:cubicBezTo>
                <a:cubicBezTo>
                  <a:pt x="401955" y="139065"/>
                  <a:pt x="200977" y="69532"/>
                  <a:pt x="0" y="0"/>
                </a:cubicBezTo>
              </a:path>
            </a:pathLst>
          </a:custGeom>
          <a:noFill/>
          <a:ln w="57150"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3" name="Oval 322">
            <a:extLst>
              <a:ext uri="{FF2B5EF4-FFF2-40B4-BE49-F238E27FC236}">
                <a16:creationId xmlns:a16="http://schemas.microsoft.com/office/drawing/2014/main" id="{D938901C-B647-6E9E-A48A-609BEC0C652D}"/>
              </a:ext>
            </a:extLst>
          </p:cNvPr>
          <p:cNvSpPr/>
          <p:nvPr/>
        </p:nvSpPr>
        <p:spPr>
          <a:xfrm rot="16200000">
            <a:off x="5737491" y="5315095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4" name="Oval 323">
            <a:extLst>
              <a:ext uri="{FF2B5EF4-FFF2-40B4-BE49-F238E27FC236}">
                <a16:creationId xmlns:a16="http://schemas.microsoft.com/office/drawing/2014/main" id="{2CBF4BA4-0F3C-28C9-3D68-7AE86E3C7379}"/>
              </a:ext>
            </a:extLst>
          </p:cNvPr>
          <p:cNvSpPr/>
          <p:nvPr/>
        </p:nvSpPr>
        <p:spPr>
          <a:xfrm rot="16200000">
            <a:off x="5610089" y="5128394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5" name="Oval 324">
            <a:extLst>
              <a:ext uri="{FF2B5EF4-FFF2-40B4-BE49-F238E27FC236}">
                <a16:creationId xmlns:a16="http://schemas.microsoft.com/office/drawing/2014/main" id="{8895063B-E2B4-046E-F035-E76F6AE37275}"/>
              </a:ext>
            </a:extLst>
          </p:cNvPr>
          <p:cNvSpPr/>
          <p:nvPr/>
        </p:nvSpPr>
        <p:spPr>
          <a:xfrm rot="16200000">
            <a:off x="5750685" y="4995476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6" name="Oval 325">
            <a:extLst>
              <a:ext uri="{FF2B5EF4-FFF2-40B4-BE49-F238E27FC236}">
                <a16:creationId xmlns:a16="http://schemas.microsoft.com/office/drawing/2014/main" id="{DDA8A432-9308-174E-7C38-AEA10E6F9885}"/>
              </a:ext>
            </a:extLst>
          </p:cNvPr>
          <p:cNvSpPr/>
          <p:nvPr/>
        </p:nvSpPr>
        <p:spPr>
          <a:xfrm rot="16200000">
            <a:off x="5437728" y="4836528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7" name="Oval 326">
            <a:extLst>
              <a:ext uri="{FF2B5EF4-FFF2-40B4-BE49-F238E27FC236}">
                <a16:creationId xmlns:a16="http://schemas.microsoft.com/office/drawing/2014/main" id="{009DE0F7-3F07-1CF5-1316-CA6AE9AD8F8E}"/>
              </a:ext>
            </a:extLst>
          </p:cNvPr>
          <p:cNvSpPr/>
          <p:nvPr/>
        </p:nvSpPr>
        <p:spPr>
          <a:xfrm rot="16200000">
            <a:off x="5610089" y="4854842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8" name="Oval 327">
            <a:extLst>
              <a:ext uri="{FF2B5EF4-FFF2-40B4-BE49-F238E27FC236}">
                <a16:creationId xmlns:a16="http://schemas.microsoft.com/office/drawing/2014/main" id="{D0391B77-5CA7-DBB5-F57C-A4B2CBFE9A80}"/>
              </a:ext>
            </a:extLst>
          </p:cNvPr>
          <p:cNvSpPr/>
          <p:nvPr/>
        </p:nvSpPr>
        <p:spPr>
          <a:xfrm rot="16200000">
            <a:off x="5578744" y="4647627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9" name="Oval 328">
            <a:extLst>
              <a:ext uri="{FF2B5EF4-FFF2-40B4-BE49-F238E27FC236}">
                <a16:creationId xmlns:a16="http://schemas.microsoft.com/office/drawing/2014/main" id="{D91DEE41-9A76-021B-953E-4C015BFD41F1}"/>
              </a:ext>
            </a:extLst>
          </p:cNvPr>
          <p:cNvSpPr/>
          <p:nvPr/>
        </p:nvSpPr>
        <p:spPr>
          <a:xfrm rot="16200000">
            <a:off x="5228159" y="4685398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0" name="Oval 329">
            <a:extLst>
              <a:ext uri="{FF2B5EF4-FFF2-40B4-BE49-F238E27FC236}">
                <a16:creationId xmlns:a16="http://schemas.microsoft.com/office/drawing/2014/main" id="{C3B0A5D4-F760-2A03-0E87-C7F9A1E0C3A7}"/>
              </a:ext>
            </a:extLst>
          </p:cNvPr>
          <p:cNvSpPr/>
          <p:nvPr/>
        </p:nvSpPr>
        <p:spPr>
          <a:xfrm rot="16200000">
            <a:off x="5471865" y="4451587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1" name="Oval 330">
            <a:extLst>
              <a:ext uri="{FF2B5EF4-FFF2-40B4-BE49-F238E27FC236}">
                <a16:creationId xmlns:a16="http://schemas.microsoft.com/office/drawing/2014/main" id="{3680E662-9CBD-0150-B69D-D37ED313FD98}"/>
              </a:ext>
            </a:extLst>
          </p:cNvPr>
          <p:cNvSpPr/>
          <p:nvPr/>
        </p:nvSpPr>
        <p:spPr>
          <a:xfrm rot="16200000">
            <a:off x="5185714" y="4241679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2" name="Oval 331">
            <a:extLst>
              <a:ext uri="{FF2B5EF4-FFF2-40B4-BE49-F238E27FC236}">
                <a16:creationId xmlns:a16="http://schemas.microsoft.com/office/drawing/2014/main" id="{B986372B-B0C1-B0A3-4BDC-EC0DB407DEF9}"/>
              </a:ext>
            </a:extLst>
          </p:cNvPr>
          <p:cNvSpPr/>
          <p:nvPr/>
        </p:nvSpPr>
        <p:spPr>
          <a:xfrm rot="16200000">
            <a:off x="5534554" y="4132968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3" name="Oval 332">
            <a:extLst>
              <a:ext uri="{FF2B5EF4-FFF2-40B4-BE49-F238E27FC236}">
                <a16:creationId xmlns:a16="http://schemas.microsoft.com/office/drawing/2014/main" id="{3E328C20-1349-FB65-BF97-6EABD2464F2F}"/>
              </a:ext>
            </a:extLst>
          </p:cNvPr>
          <p:cNvSpPr/>
          <p:nvPr/>
        </p:nvSpPr>
        <p:spPr>
          <a:xfrm rot="16200000">
            <a:off x="5845731" y="5501123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4" name="Oval 333">
            <a:extLst>
              <a:ext uri="{FF2B5EF4-FFF2-40B4-BE49-F238E27FC236}">
                <a16:creationId xmlns:a16="http://schemas.microsoft.com/office/drawing/2014/main" id="{17DF2270-7C7C-06A1-4296-01479020AB97}"/>
              </a:ext>
            </a:extLst>
          </p:cNvPr>
          <p:cNvSpPr/>
          <p:nvPr/>
        </p:nvSpPr>
        <p:spPr>
          <a:xfrm rot="16200000">
            <a:off x="5235906" y="4002628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5" name="TextBox 334">
            <a:extLst>
              <a:ext uri="{FF2B5EF4-FFF2-40B4-BE49-F238E27FC236}">
                <a16:creationId xmlns:a16="http://schemas.microsoft.com/office/drawing/2014/main" id="{F3E5F9B5-17C4-551A-95EF-1B969DE111AA}"/>
              </a:ext>
            </a:extLst>
          </p:cNvPr>
          <p:cNvSpPr txBox="1"/>
          <p:nvPr/>
        </p:nvSpPr>
        <p:spPr>
          <a:xfrm>
            <a:off x="6648742" y="3595347"/>
            <a:ext cx="48493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Encoder/ Decoder learns a low dimensional manifold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 Rounded MT Bold" panose="020F0704030504030204" pitchFamily="34" charset="77"/>
              <a:sym typeface="Wingdings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Map data        to points on the manifold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457" name="Picture 456">
            <a:extLst>
              <a:ext uri="{FF2B5EF4-FFF2-40B4-BE49-F238E27FC236}">
                <a16:creationId xmlns:a16="http://schemas.microsoft.com/office/drawing/2014/main" id="{6F3A860C-1603-0C91-C4FD-8F5311A00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773" y="4464333"/>
            <a:ext cx="313431" cy="242387"/>
          </a:xfrm>
          <a:prstGeom prst="rect">
            <a:avLst/>
          </a:prstGeom>
        </p:spPr>
      </p:pic>
      <p:pic>
        <p:nvPicPr>
          <p:cNvPr id="459" name="Picture 458">
            <a:extLst>
              <a:ext uri="{FF2B5EF4-FFF2-40B4-BE49-F238E27FC236}">
                <a16:creationId xmlns:a16="http://schemas.microsoft.com/office/drawing/2014/main" id="{5CCDF378-37F8-3DC5-B455-625A9FCBED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8806" y="4443010"/>
            <a:ext cx="242387" cy="242387"/>
          </a:xfrm>
          <a:prstGeom prst="rect">
            <a:avLst/>
          </a:prstGeom>
        </p:spPr>
      </p:pic>
      <p:pic>
        <p:nvPicPr>
          <p:cNvPr id="464" name="Picture 463">
            <a:extLst>
              <a:ext uri="{FF2B5EF4-FFF2-40B4-BE49-F238E27FC236}">
                <a16:creationId xmlns:a16="http://schemas.microsoft.com/office/drawing/2014/main" id="{36E40EF9-FE49-8A63-0EFE-418FCBF302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4839" y="3297546"/>
            <a:ext cx="941222" cy="267539"/>
          </a:xfrm>
          <a:prstGeom prst="rect">
            <a:avLst/>
          </a:prstGeom>
        </p:spPr>
      </p:pic>
      <p:pic>
        <p:nvPicPr>
          <p:cNvPr id="465" name="Picture 464">
            <a:extLst>
              <a:ext uri="{FF2B5EF4-FFF2-40B4-BE49-F238E27FC236}">
                <a16:creationId xmlns:a16="http://schemas.microsoft.com/office/drawing/2014/main" id="{14A32A3B-5569-6F05-8810-AF3098F214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3662" y="3267609"/>
            <a:ext cx="941223" cy="276047"/>
          </a:xfrm>
          <a:prstGeom prst="rect">
            <a:avLst/>
          </a:prstGeom>
        </p:spPr>
      </p:pic>
      <p:pic>
        <p:nvPicPr>
          <p:cNvPr id="466" name="Picture 465">
            <a:extLst>
              <a:ext uri="{FF2B5EF4-FFF2-40B4-BE49-F238E27FC236}">
                <a16:creationId xmlns:a16="http://schemas.microsoft.com/office/drawing/2014/main" id="{85507CED-716E-DFDA-C3CD-84D6B3DCB4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8832" y="3267609"/>
            <a:ext cx="950592" cy="278795"/>
          </a:xfrm>
          <a:prstGeom prst="rect">
            <a:avLst/>
          </a:prstGeom>
        </p:spPr>
      </p:pic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20DE0A73-4DFC-CE46-6167-FFF58B2ACBFE}"/>
              </a:ext>
            </a:extLst>
          </p:cNvPr>
          <p:cNvCxnSpPr>
            <a:cxnSpLocks/>
          </p:cNvCxnSpPr>
          <p:nvPr/>
        </p:nvCxnSpPr>
        <p:spPr>
          <a:xfrm flipH="1" flipV="1">
            <a:off x="3094457" y="2389686"/>
            <a:ext cx="154090" cy="32951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8" name="Picture 467">
            <a:extLst>
              <a:ext uri="{FF2B5EF4-FFF2-40B4-BE49-F238E27FC236}">
                <a16:creationId xmlns:a16="http://schemas.microsoft.com/office/drawing/2014/main" id="{88DCA9C8-5E8F-1D81-8D2A-25503C553932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947913" y="2141073"/>
            <a:ext cx="252067" cy="188110"/>
          </a:xfrm>
          <a:prstGeom prst="rect">
            <a:avLst/>
          </a:prstGeom>
        </p:spPr>
      </p:pic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E45D6297-34D9-7C33-5D9D-D04E6C6806DB}"/>
              </a:ext>
            </a:extLst>
          </p:cNvPr>
          <p:cNvCxnSpPr>
            <a:cxnSpLocks/>
          </p:cNvCxnSpPr>
          <p:nvPr/>
        </p:nvCxnSpPr>
        <p:spPr>
          <a:xfrm flipH="1" flipV="1">
            <a:off x="4219089" y="2384548"/>
            <a:ext cx="156493" cy="33465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0" name="Picture 469">
            <a:extLst>
              <a:ext uri="{FF2B5EF4-FFF2-40B4-BE49-F238E27FC236}">
                <a16:creationId xmlns:a16="http://schemas.microsoft.com/office/drawing/2014/main" id="{B7CD50F8-7032-6CA4-0074-1DB7517A837A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072545" y="2135935"/>
            <a:ext cx="252067" cy="188110"/>
          </a:xfrm>
          <a:prstGeom prst="rect">
            <a:avLst/>
          </a:prstGeom>
        </p:spPr>
      </p:pic>
      <p:grpSp>
        <p:nvGrpSpPr>
          <p:cNvPr id="61" name="Group 60">
            <a:extLst>
              <a:ext uri="{FF2B5EF4-FFF2-40B4-BE49-F238E27FC236}">
                <a16:creationId xmlns:a16="http://schemas.microsoft.com/office/drawing/2014/main" id="{0534841A-D1A0-A1B8-B215-957034ACF8AF}"/>
              </a:ext>
            </a:extLst>
          </p:cNvPr>
          <p:cNvGrpSpPr/>
          <p:nvPr/>
        </p:nvGrpSpPr>
        <p:grpSpPr>
          <a:xfrm>
            <a:off x="1808627" y="672367"/>
            <a:ext cx="3663238" cy="1567362"/>
            <a:chOff x="1047582" y="2052023"/>
            <a:chExt cx="4932915" cy="2110610"/>
          </a:xfrm>
        </p:grpSpPr>
        <p:sp>
          <p:nvSpPr>
            <p:cNvPr id="62" name="Trapezoid 61">
              <a:extLst>
                <a:ext uri="{FF2B5EF4-FFF2-40B4-BE49-F238E27FC236}">
                  <a16:creationId xmlns:a16="http://schemas.microsoft.com/office/drawing/2014/main" id="{BA2B940F-0AA4-71DE-7015-CED1E6E847F5}"/>
                </a:ext>
              </a:extLst>
            </p:cNvPr>
            <p:cNvSpPr/>
            <p:nvPr/>
          </p:nvSpPr>
          <p:spPr>
            <a:xfrm rot="5400000">
              <a:off x="1613477" y="2767797"/>
              <a:ext cx="1943350" cy="731864"/>
            </a:xfrm>
            <a:prstGeom prst="trapezoid">
              <a:avLst>
                <a:gd name="adj" fmla="val 42499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8E857B5C-E606-A26E-7515-AA899EC147CA}"/>
                </a:ext>
              </a:extLst>
            </p:cNvPr>
            <p:cNvSpPr txBox="1"/>
            <p:nvPr/>
          </p:nvSpPr>
          <p:spPr>
            <a:xfrm rot="5400000">
              <a:off x="1786986" y="3128187"/>
              <a:ext cx="1612994" cy="4558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600" dirty="0">
                  <a:latin typeface="Arial Rounded MT Bold" panose="020F0704030504030204" pitchFamily="34" charset="77"/>
                  <a:sym typeface="Wingdings" pitchFamily="2" charset="2"/>
                </a:rPr>
                <a:t>Encoder</a:t>
              </a:r>
              <a:endParaRPr lang="en-US" sz="1600" dirty="0">
                <a:latin typeface="Arial Rounded MT Bold" panose="020F0704030504030204" pitchFamily="34" charset="77"/>
              </a:endParaRPr>
            </a:p>
          </p:txBody>
        </p:sp>
        <p:sp>
          <p:nvSpPr>
            <p:cNvPr id="471" name="Trapezoid 470">
              <a:extLst>
                <a:ext uri="{FF2B5EF4-FFF2-40B4-BE49-F238E27FC236}">
                  <a16:creationId xmlns:a16="http://schemas.microsoft.com/office/drawing/2014/main" id="{DF515B7B-EFBD-CA40-F408-8FFCBA3D8C7A}"/>
                </a:ext>
              </a:extLst>
            </p:cNvPr>
            <p:cNvSpPr/>
            <p:nvPr/>
          </p:nvSpPr>
          <p:spPr>
            <a:xfrm rot="16200000" flipH="1">
              <a:off x="3398574" y="2792575"/>
              <a:ext cx="1943350" cy="731864"/>
            </a:xfrm>
            <a:prstGeom prst="trapezoid">
              <a:avLst>
                <a:gd name="adj" fmla="val 42499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2" name="TextBox 471">
              <a:extLst>
                <a:ext uri="{FF2B5EF4-FFF2-40B4-BE49-F238E27FC236}">
                  <a16:creationId xmlns:a16="http://schemas.microsoft.com/office/drawing/2014/main" id="{FC4A02A1-8F83-44D8-5B28-152A51BBF9E5}"/>
                </a:ext>
              </a:extLst>
            </p:cNvPr>
            <p:cNvSpPr txBox="1"/>
            <p:nvPr/>
          </p:nvSpPr>
          <p:spPr>
            <a:xfrm rot="5400000">
              <a:off x="3625820" y="3089024"/>
              <a:ext cx="1527205" cy="4558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1600" dirty="0">
                  <a:latin typeface="Arial Rounded MT Bold" panose="020F0704030504030204" pitchFamily="34" charset="77"/>
                  <a:sym typeface="Wingdings" pitchFamily="2" charset="2"/>
                </a:rPr>
                <a:t>Decoder</a:t>
              </a:r>
              <a:endParaRPr lang="en-US" sz="1600" dirty="0">
                <a:latin typeface="Arial Rounded MT Bold" panose="020F0704030504030204" pitchFamily="34" charset="77"/>
              </a:endParaRPr>
            </a:p>
          </p:txBody>
        </p:sp>
        <p:cxnSp>
          <p:nvCxnSpPr>
            <p:cNvPr id="473" name="Straight Arrow Connector 472">
              <a:extLst>
                <a:ext uri="{FF2B5EF4-FFF2-40B4-BE49-F238E27FC236}">
                  <a16:creationId xmlns:a16="http://schemas.microsoft.com/office/drawing/2014/main" id="{52516EDB-AC15-D2FD-6403-1EB600DDA489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555492" y="3655570"/>
              <a:ext cx="0" cy="85001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Straight Arrow Connector 473">
              <a:extLst>
                <a:ext uri="{FF2B5EF4-FFF2-40B4-BE49-F238E27FC236}">
                  <a16:creationId xmlns:a16="http://schemas.microsoft.com/office/drawing/2014/main" id="{E67F5634-3F22-96F2-0B63-9FA3B70AFE3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957839" y="3069093"/>
              <a:ext cx="203414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76" name="Group 475">
              <a:extLst>
                <a:ext uri="{FF2B5EF4-FFF2-40B4-BE49-F238E27FC236}">
                  <a16:creationId xmlns:a16="http://schemas.microsoft.com/office/drawing/2014/main" id="{E1990F28-DE97-C477-0E63-C049CE97B8E4}"/>
                </a:ext>
              </a:extLst>
            </p:cNvPr>
            <p:cNvGrpSpPr/>
            <p:nvPr/>
          </p:nvGrpSpPr>
          <p:grpSpPr>
            <a:xfrm rot="16200000">
              <a:off x="4718157" y="2791268"/>
              <a:ext cx="1674665" cy="808831"/>
              <a:chOff x="6339744" y="2335332"/>
              <a:chExt cx="2534102" cy="1223921"/>
            </a:xfrm>
            <a:solidFill>
              <a:schemeClr val="accent2"/>
            </a:solidFill>
          </p:grpSpPr>
          <p:sp>
            <p:nvSpPr>
              <p:cNvPr id="505" name="Multiplication Sign 504">
                <a:extLst>
                  <a:ext uri="{FF2B5EF4-FFF2-40B4-BE49-F238E27FC236}">
                    <a16:creationId xmlns:a16="http://schemas.microsoft.com/office/drawing/2014/main" id="{0B835C7B-F0DE-0A53-7E2C-76B30143C1DE}"/>
                  </a:ext>
                </a:extLst>
              </p:cNvPr>
              <p:cNvSpPr/>
              <p:nvPr/>
            </p:nvSpPr>
            <p:spPr>
              <a:xfrm>
                <a:off x="8587882" y="2335332"/>
                <a:ext cx="285964" cy="309406"/>
              </a:xfrm>
              <a:prstGeom prst="mathMultiply">
                <a:avLst/>
              </a:prstGeom>
              <a:grpFill/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6" name="Multiplication Sign 505">
                <a:extLst>
                  <a:ext uri="{FF2B5EF4-FFF2-40B4-BE49-F238E27FC236}">
                    <a16:creationId xmlns:a16="http://schemas.microsoft.com/office/drawing/2014/main" id="{17DBA07D-B35E-4710-1870-A565AF4A5E7A}"/>
                  </a:ext>
                </a:extLst>
              </p:cNvPr>
              <p:cNvSpPr/>
              <p:nvPr/>
            </p:nvSpPr>
            <p:spPr>
              <a:xfrm>
                <a:off x="8518046" y="2381976"/>
                <a:ext cx="285964" cy="309406"/>
              </a:xfrm>
              <a:prstGeom prst="mathMultiply">
                <a:avLst/>
              </a:prstGeom>
              <a:grpFill/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7" name="Multiplication Sign 506">
                <a:extLst>
                  <a:ext uri="{FF2B5EF4-FFF2-40B4-BE49-F238E27FC236}">
                    <a16:creationId xmlns:a16="http://schemas.microsoft.com/office/drawing/2014/main" id="{44CA4D22-50BA-5483-2F1A-3E793F678E07}"/>
                  </a:ext>
                </a:extLst>
              </p:cNvPr>
              <p:cNvSpPr/>
              <p:nvPr/>
            </p:nvSpPr>
            <p:spPr>
              <a:xfrm>
                <a:off x="7921008" y="2603411"/>
                <a:ext cx="285964" cy="309406"/>
              </a:xfrm>
              <a:prstGeom prst="mathMultiply">
                <a:avLst/>
              </a:prstGeom>
              <a:grpFill/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8" name="Multiplication Sign 507">
                <a:extLst>
                  <a:ext uri="{FF2B5EF4-FFF2-40B4-BE49-F238E27FC236}">
                    <a16:creationId xmlns:a16="http://schemas.microsoft.com/office/drawing/2014/main" id="{DEA20864-80C1-E3B4-8216-4B8F712E4515}"/>
                  </a:ext>
                </a:extLst>
              </p:cNvPr>
              <p:cNvSpPr/>
              <p:nvPr/>
            </p:nvSpPr>
            <p:spPr>
              <a:xfrm>
                <a:off x="7564013" y="2740118"/>
                <a:ext cx="285964" cy="309406"/>
              </a:xfrm>
              <a:prstGeom prst="mathMultiply">
                <a:avLst/>
              </a:prstGeom>
              <a:grpFill/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9" name="Multiplication Sign 508">
                <a:extLst>
                  <a:ext uri="{FF2B5EF4-FFF2-40B4-BE49-F238E27FC236}">
                    <a16:creationId xmlns:a16="http://schemas.microsoft.com/office/drawing/2014/main" id="{39E3346E-79F5-399C-0CDF-84F09AEBDF59}"/>
                  </a:ext>
                </a:extLst>
              </p:cNvPr>
              <p:cNvSpPr/>
              <p:nvPr/>
            </p:nvSpPr>
            <p:spPr>
              <a:xfrm>
                <a:off x="7154749" y="2920254"/>
                <a:ext cx="285964" cy="309406"/>
              </a:xfrm>
              <a:prstGeom prst="mathMultiply">
                <a:avLst/>
              </a:prstGeom>
              <a:grpFill/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0" name="Multiplication Sign 509">
                <a:extLst>
                  <a:ext uri="{FF2B5EF4-FFF2-40B4-BE49-F238E27FC236}">
                    <a16:creationId xmlns:a16="http://schemas.microsoft.com/office/drawing/2014/main" id="{9AFC15B7-E71B-FF66-7D06-6273C7F1DBCF}"/>
                  </a:ext>
                </a:extLst>
              </p:cNvPr>
              <p:cNvSpPr/>
              <p:nvPr/>
            </p:nvSpPr>
            <p:spPr>
              <a:xfrm>
                <a:off x="6339744" y="3249847"/>
                <a:ext cx="285964" cy="309406"/>
              </a:xfrm>
              <a:prstGeom prst="mathMultiply">
                <a:avLst/>
              </a:prstGeom>
              <a:grpFill/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1" name="Multiplication Sign 510">
                <a:extLst>
                  <a:ext uri="{FF2B5EF4-FFF2-40B4-BE49-F238E27FC236}">
                    <a16:creationId xmlns:a16="http://schemas.microsoft.com/office/drawing/2014/main" id="{8CA25302-082F-D683-191E-F13DE0FE69CD}"/>
                  </a:ext>
                </a:extLst>
              </p:cNvPr>
              <p:cNvSpPr/>
              <p:nvPr/>
            </p:nvSpPr>
            <p:spPr>
              <a:xfrm>
                <a:off x="8108414" y="2535946"/>
                <a:ext cx="285964" cy="309406"/>
              </a:xfrm>
              <a:prstGeom prst="mathMultiply">
                <a:avLst/>
              </a:prstGeom>
              <a:grpFill/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77" name="Group 476">
              <a:extLst>
                <a:ext uri="{FF2B5EF4-FFF2-40B4-BE49-F238E27FC236}">
                  <a16:creationId xmlns:a16="http://schemas.microsoft.com/office/drawing/2014/main" id="{7349A654-8FE6-313E-8B6B-080AB684A79F}"/>
                </a:ext>
              </a:extLst>
            </p:cNvPr>
            <p:cNvGrpSpPr/>
            <p:nvPr/>
          </p:nvGrpSpPr>
          <p:grpSpPr>
            <a:xfrm rot="16200000">
              <a:off x="454402" y="2693030"/>
              <a:ext cx="2037969" cy="851610"/>
              <a:chOff x="6226844" y="1989719"/>
              <a:chExt cx="3467103" cy="1448805"/>
            </a:xfrm>
          </p:grpSpPr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421CDDF7-EA12-619A-C55C-406FB74B02C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236369" y="1989719"/>
                <a:ext cx="0" cy="1448805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4D923001-6A1F-319D-0055-61638FBE24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26844" y="3428999"/>
                <a:ext cx="3467103" cy="1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3" name="Oval 492">
                <a:extLst>
                  <a:ext uri="{FF2B5EF4-FFF2-40B4-BE49-F238E27FC236}">
                    <a16:creationId xmlns:a16="http://schemas.microsoft.com/office/drawing/2014/main" id="{1195C4D8-A96C-17C5-0B3B-45136239E860}"/>
                  </a:ext>
                </a:extLst>
              </p:cNvPr>
              <p:cNvSpPr/>
              <p:nvPr/>
            </p:nvSpPr>
            <p:spPr>
              <a:xfrm>
                <a:off x="6656821" y="3060017"/>
                <a:ext cx="106851" cy="10685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4" name="Oval 493">
                <a:extLst>
                  <a:ext uri="{FF2B5EF4-FFF2-40B4-BE49-F238E27FC236}">
                    <a16:creationId xmlns:a16="http://schemas.microsoft.com/office/drawing/2014/main" id="{296B6C5C-8BF7-0459-3595-818DCDBB727E}"/>
                  </a:ext>
                </a:extLst>
              </p:cNvPr>
              <p:cNvSpPr/>
              <p:nvPr/>
            </p:nvSpPr>
            <p:spPr>
              <a:xfrm>
                <a:off x="6975045" y="2842866"/>
                <a:ext cx="106851" cy="10685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5" name="Oval 494">
                <a:extLst>
                  <a:ext uri="{FF2B5EF4-FFF2-40B4-BE49-F238E27FC236}">
                    <a16:creationId xmlns:a16="http://schemas.microsoft.com/office/drawing/2014/main" id="{86042396-01A4-6711-4F28-E092CD6216B1}"/>
                  </a:ext>
                </a:extLst>
              </p:cNvPr>
              <p:cNvSpPr/>
              <p:nvPr/>
            </p:nvSpPr>
            <p:spPr>
              <a:xfrm>
                <a:off x="7201596" y="3082507"/>
                <a:ext cx="106851" cy="10685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6" name="Oval 495">
                <a:extLst>
                  <a:ext uri="{FF2B5EF4-FFF2-40B4-BE49-F238E27FC236}">
                    <a16:creationId xmlns:a16="http://schemas.microsoft.com/office/drawing/2014/main" id="{73F9508E-3F6E-A8C1-D288-8FE4B3DA812E}"/>
                  </a:ext>
                </a:extLst>
              </p:cNvPr>
              <p:cNvSpPr/>
              <p:nvPr/>
            </p:nvSpPr>
            <p:spPr>
              <a:xfrm>
                <a:off x="7472517" y="2549083"/>
                <a:ext cx="106851" cy="10685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7" name="Oval 496">
                <a:extLst>
                  <a:ext uri="{FF2B5EF4-FFF2-40B4-BE49-F238E27FC236}">
                    <a16:creationId xmlns:a16="http://schemas.microsoft.com/office/drawing/2014/main" id="{7361D4C2-7FC0-A17F-9D83-5390DB0B74EA}"/>
                  </a:ext>
                </a:extLst>
              </p:cNvPr>
              <p:cNvSpPr/>
              <p:nvPr/>
            </p:nvSpPr>
            <p:spPr>
              <a:xfrm>
                <a:off x="7441302" y="2842866"/>
                <a:ext cx="106851" cy="10685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8" name="Oval 497">
                <a:extLst>
                  <a:ext uri="{FF2B5EF4-FFF2-40B4-BE49-F238E27FC236}">
                    <a16:creationId xmlns:a16="http://schemas.microsoft.com/office/drawing/2014/main" id="{4DCD50D6-B925-A524-BAA8-186B715803BB}"/>
                  </a:ext>
                </a:extLst>
              </p:cNvPr>
              <p:cNvSpPr/>
              <p:nvPr/>
            </p:nvSpPr>
            <p:spPr>
              <a:xfrm>
                <a:off x="7794492" y="2789440"/>
                <a:ext cx="106851" cy="10685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9" name="Oval 498">
                <a:extLst>
                  <a:ext uri="{FF2B5EF4-FFF2-40B4-BE49-F238E27FC236}">
                    <a16:creationId xmlns:a16="http://schemas.microsoft.com/office/drawing/2014/main" id="{6102D5AB-91FD-9CCB-5795-BBA85265BDC4}"/>
                  </a:ext>
                </a:extLst>
              </p:cNvPr>
              <p:cNvSpPr/>
              <p:nvPr/>
            </p:nvSpPr>
            <p:spPr>
              <a:xfrm>
                <a:off x="7730112" y="2191884"/>
                <a:ext cx="106851" cy="10685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0" name="Oval 499">
                <a:extLst>
                  <a:ext uri="{FF2B5EF4-FFF2-40B4-BE49-F238E27FC236}">
                    <a16:creationId xmlns:a16="http://schemas.microsoft.com/office/drawing/2014/main" id="{454C7899-30A1-1680-A640-AECBFC0A3280}"/>
                  </a:ext>
                </a:extLst>
              </p:cNvPr>
              <p:cNvSpPr/>
              <p:nvPr/>
            </p:nvSpPr>
            <p:spPr>
              <a:xfrm>
                <a:off x="8128633" y="2607270"/>
                <a:ext cx="106851" cy="10685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1" name="Oval 500">
                <a:extLst>
                  <a:ext uri="{FF2B5EF4-FFF2-40B4-BE49-F238E27FC236}">
                    <a16:creationId xmlns:a16="http://schemas.microsoft.com/office/drawing/2014/main" id="{D23CACE1-54C6-C69D-A492-4DFC6E9303FB}"/>
                  </a:ext>
                </a:extLst>
              </p:cNvPr>
              <p:cNvSpPr/>
              <p:nvPr/>
            </p:nvSpPr>
            <p:spPr>
              <a:xfrm>
                <a:off x="8486410" y="2119538"/>
                <a:ext cx="106851" cy="10685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2" name="Oval 501">
                <a:extLst>
                  <a:ext uri="{FF2B5EF4-FFF2-40B4-BE49-F238E27FC236}">
                    <a16:creationId xmlns:a16="http://schemas.microsoft.com/office/drawing/2014/main" id="{51729E4A-2940-42EC-5B70-9121CFFC9F9B}"/>
                  </a:ext>
                </a:extLst>
              </p:cNvPr>
              <p:cNvSpPr/>
              <p:nvPr/>
            </p:nvSpPr>
            <p:spPr>
              <a:xfrm>
                <a:off x="8671705" y="2714121"/>
                <a:ext cx="106851" cy="10685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3" name="Oval 502">
                <a:extLst>
                  <a:ext uri="{FF2B5EF4-FFF2-40B4-BE49-F238E27FC236}">
                    <a16:creationId xmlns:a16="http://schemas.microsoft.com/office/drawing/2014/main" id="{837F9CFB-44E6-26F0-E520-084FD29EE48C}"/>
                  </a:ext>
                </a:extLst>
              </p:cNvPr>
              <p:cNvSpPr/>
              <p:nvPr/>
            </p:nvSpPr>
            <p:spPr>
              <a:xfrm>
                <a:off x="6339744" y="3244508"/>
                <a:ext cx="106851" cy="10685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4" name="Oval 503">
                <a:extLst>
                  <a:ext uri="{FF2B5EF4-FFF2-40B4-BE49-F238E27FC236}">
                    <a16:creationId xmlns:a16="http://schemas.microsoft.com/office/drawing/2014/main" id="{96ECACE3-D987-9BB1-0879-193E69770F87}"/>
                  </a:ext>
                </a:extLst>
              </p:cNvPr>
              <p:cNvSpPr/>
              <p:nvPr/>
            </p:nvSpPr>
            <p:spPr>
              <a:xfrm>
                <a:off x="8893864" y="2205088"/>
                <a:ext cx="106851" cy="10685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78" name="Group 477">
              <a:extLst>
                <a:ext uri="{FF2B5EF4-FFF2-40B4-BE49-F238E27FC236}">
                  <a16:creationId xmlns:a16="http://schemas.microsoft.com/office/drawing/2014/main" id="{17E27FBE-A03B-BE92-8722-5DA36398D48A}"/>
                </a:ext>
              </a:extLst>
            </p:cNvPr>
            <p:cNvGrpSpPr/>
            <p:nvPr/>
          </p:nvGrpSpPr>
          <p:grpSpPr>
            <a:xfrm rot="17423462">
              <a:off x="2440950" y="2690263"/>
              <a:ext cx="2031692" cy="841682"/>
              <a:chOff x="6269193" y="2041898"/>
              <a:chExt cx="3250387" cy="1346558"/>
            </a:xfrm>
          </p:grpSpPr>
          <p:cxnSp>
            <p:nvCxnSpPr>
              <p:cNvPr id="479" name="Straight Arrow Connector 478">
                <a:extLst>
                  <a:ext uri="{FF2B5EF4-FFF2-40B4-BE49-F238E27FC236}">
                    <a16:creationId xmlns:a16="http://schemas.microsoft.com/office/drawing/2014/main" id="{38C1F26F-1E21-37D5-324D-EAEEC73BFA9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269193" y="2041898"/>
                <a:ext cx="3250387" cy="1293813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0" name="Multiplication Sign 479">
                <a:extLst>
                  <a:ext uri="{FF2B5EF4-FFF2-40B4-BE49-F238E27FC236}">
                    <a16:creationId xmlns:a16="http://schemas.microsoft.com/office/drawing/2014/main" id="{43358FE4-A606-AEEE-4FEB-67416495F6B6}"/>
                  </a:ext>
                </a:extLst>
              </p:cNvPr>
              <p:cNvSpPr/>
              <p:nvPr/>
            </p:nvSpPr>
            <p:spPr>
              <a:xfrm>
                <a:off x="8561506" y="2298352"/>
                <a:ext cx="159929" cy="173039"/>
              </a:xfrm>
              <a:prstGeom prst="mathMultiply">
                <a:avLst/>
              </a:prstGeom>
              <a:solidFill>
                <a:schemeClr val="accent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1" name="Multiplication Sign 480">
                <a:extLst>
                  <a:ext uri="{FF2B5EF4-FFF2-40B4-BE49-F238E27FC236}">
                    <a16:creationId xmlns:a16="http://schemas.microsoft.com/office/drawing/2014/main" id="{16EC380E-0BD0-5093-7F4C-6D2BC581DC26}"/>
                  </a:ext>
                </a:extLst>
              </p:cNvPr>
              <p:cNvSpPr/>
              <p:nvPr/>
            </p:nvSpPr>
            <p:spPr>
              <a:xfrm>
                <a:off x="8491670" y="2344996"/>
                <a:ext cx="159929" cy="173039"/>
              </a:xfrm>
              <a:prstGeom prst="mathMultiply">
                <a:avLst/>
              </a:prstGeom>
              <a:solidFill>
                <a:schemeClr val="accent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2" name="Multiplication Sign 481">
                <a:extLst>
                  <a:ext uri="{FF2B5EF4-FFF2-40B4-BE49-F238E27FC236}">
                    <a16:creationId xmlns:a16="http://schemas.microsoft.com/office/drawing/2014/main" id="{17498A61-5FC9-79DC-F4A1-E1FD013A71F9}"/>
                  </a:ext>
                </a:extLst>
              </p:cNvPr>
              <p:cNvSpPr/>
              <p:nvPr/>
            </p:nvSpPr>
            <p:spPr>
              <a:xfrm>
                <a:off x="7894632" y="2566431"/>
                <a:ext cx="159929" cy="173039"/>
              </a:xfrm>
              <a:prstGeom prst="mathMultiply">
                <a:avLst/>
              </a:prstGeom>
              <a:solidFill>
                <a:schemeClr val="accent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3" name="Multiplication Sign 482">
                <a:extLst>
                  <a:ext uri="{FF2B5EF4-FFF2-40B4-BE49-F238E27FC236}">
                    <a16:creationId xmlns:a16="http://schemas.microsoft.com/office/drawing/2014/main" id="{DFF3059E-71BF-A8A4-C5F9-FA09AB6DC6A8}"/>
                  </a:ext>
                </a:extLst>
              </p:cNvPr>
              <p:cNvSpPr/>
              <p:nvPr/>
            </p:nvSpPr>
            <p:spPr>
              <a:xfrm>
                <a:off x="7714231" y="2645334"/>
                <a:ext cx="159929" cy="173039"/>
              </a:xfrm>
              <a:prstGeom prst="mathMultiply">
                <a:avLst/>
              </a:prstGeom>
              <a:solidFill>
                <a:schemeClr val="accent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4" name="Multiplication Sign 483">
                <a:extLst>
                  <a:ext uri="{FF2B5EF4-FFF2-40B4-BE49-F238E27FC236}">
                    <a16:creationId xmlns:a16="http://schemas.microsoft.com/office/drawing/2014/main" id="{37626447-17E0-1D97-57BD-18C2AA5086FB}"/>
                  </a:ext>
                </a:extLst>
              </p:cNvPr>
              <p:cNvSpPr/>
              <p:nvPr/>
            </p:nvSpPr>
            <p:spPr>
              <a:xfrm>
                <a:off x="7537637" y="2703138"/>
                <a:ext cx="159929" cy="173039"/>
              </a:xfrm>
              <a:prstGeom prst="mathMultiply">
                <a:avLst/>
              </a:prstGeom>
              <a:solidFill>
                <a:schemeClr val="accent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5" name="Multiplication Sign 484">
                <a:extLst>
                  <a:ext uri="{FF2B5EF4-FFF2-40B4-BE49-F238E27FC236}">
                    <a16:creationId xmlns:a16="http://schemas.microsoft.com/office/drawing/2014/main" id="{7E9204C4-332B-8960-A1FE-A2A13FD87D20}"/>
                  </a:ext>
                </a:extLst>
              </p:cNvPr>
              <p:cNvSpPr/>
              <p:nvPr/>
            </p:nvSpPr>
            <p:spPr>
              <a:xfrm>
                <a:off x="7018074" y="2923249"/>
                <a:ext cx="159929" cy="173039"/>
              </a:xfrm>
              <a:prstGeom prst="mathMultiply">
                <a:avLst/>
              </a:prstGeom>
              <a:solidFill>
                <a:schemeClr val="accent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6" name="Multiplication Sign 485">
                <a:extLst>
                  <a:ext uri="{FF2B5EF4-FFF2-40B4-BE49-F238E27FC236}">
                    <a16:creationId xmlns:a16="http://schemas.microsoft.com/office/drawing/2014/main" id="{320DC0EB-B7A7-2BEB-A215-808B2E7DBD8D}"/>
                  </a:ext>
                </a:extLst>
              </p:cNvPr>
              <p:cNvSpPr/>
              <p:nvPr/>
            </p:nvSpPr>
            <p:spPr>
              <a:xfrm>
                <a:off x="7128373" y="2883274"/>
                <a:ext cx="159929" cy="173039"/>
              </a:xfrm>
              <a:prstGeom prst="mathMultiply">
                <a:avLst/>
              </a:prstGeom>
              <a:solidFill>
                <a:schemeClr val="accent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7" name="Multiplication Sign 486">
                <a:extLst>
                  <a:ext uri="{FF2B5EF4-FFF2-40B4-BE49-F238E27FC236}">
                    <a16:creationId xmlns:a16="http://schemas.microsoft.com/office/drawing/2014/main" id="{BE40E093-3593-063E-CC08-4137A57742CE}"/>
                  </a:ext>
                </a:extLst>
              </p:cNvPr>
              <p:cNvSpPr/>
              <p:nvPr/>
            </p:nvSpPr>
            <p:spPr>
              <a:xfrm>
                <a:off x="6647918" y="3052426"/>
                <a:ext cx="159929" cy="173039"/>
              </a:xfrm>
              <a:prstGeom prst="mathMultiply">
                <a:avLst/>
              </a:prstGeom>
              <a:solidFill>
                <a:schemeClr val="accent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8" name="Multiplication Sign 487">
                <a:extLst>
                  <a:ext uri="{FF2B5EF4-FFF2-40B4-BE49-F238E27FC236}">
                    <a16:creationId xmlns:a16="http://schemas.microsoft.com/office/drawing/2014/main" id="{6614CEAB-8230-E6CA-9518-500CB68185FF}"/>
                  </a:ext>
                </a:extLst>
              </p:cNvPr>
              <p:cNvSpPr/>
              <p:nvPr/>
            </p:nvSpPr>
            <p:spPr>
              <a:xfrm>
                <a:off x="6303650" y="3215417"/>
                <a:ext cx="159929" cy="173039"/>
              </a:xfrm>
              <a:prstGeom prst="mathMultiply">
                <a:avLst/>
              </a:prstGeom>
              <a:solidFill>
                <a:schemeClr val="accent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9" name="Multiplication Sign 488">
                <a:extLst>
                  <a:ext uri="{FF2B5EF4-FFF2-40B4-BE49-F238E27FC236}">
                    <a16:creationId xmlns:a16="http://schemas.microsoft.com/office/drawing/2014/main" id="{517F0571-70F1-752F-5607-2B335BDEACD4}"/>
                  </a:ext>
                </a:extLst>
              </p:cNvPr>
              <p:cNvSpPr/>
              <p:nvPr/>
            </p:nvSpPr>
            <p:spPr>
              <a:xfrm>
                <a:off x="8856466" y="2177844"/>
                <a:ext cx="159929" cy="173039"/>
              </a:xfrm>
              <a:prstGeom prst="mathMultiply">
                <a:avLst/>
              </a:prstGeom>
              <a:solidFill>
                <a:schemeClr val="accent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0" name="Multiplication Sign 489">
                <a:extLst>
                  <a:ext uri="{FF2B5EF4-FFF2-40B4-BE49-F238E27FC236}">
                    <a16:creationId xmlns:a16="http://schemas.microsoft.com/office/drawing/2014/main" id="{4D6E27A6-1635-8D3E-FD46-E01EFBB43F3A}"/>
                  </a:ext>
                </a:extLst>
              </p:cNvPr>
              <p:cNvSpPr/>
              <p:nvPr/>
            </p:nvSpPr>
            <p:spPr>
              <a:xfrm>
                <a:off x="8082038" y="2498966"/>
                <a:ext cx="159929" cy="173039"/>
              </a:xfrm>
              <a:prstGeom prst="mathMultiply">
                <a:avLst/>
              </a:prstGeom>
              <a:solidFill>
                <a:schemeClr val="accent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1BDE04B8-5037-498A-331B-3EB70A03B9A1}"/>
              </a:ext>
            </a:extLst>
          </p:cNvPr>
          <p:cNvGrpSpPr/>
          <p:nvPr/>
        </p:nvGrpSpPr>
        <p:grpSpPr>
          <a:xfrm rot="17568267">
            <a:off x="2494320" y="4357639"/>
            <a:ext cx="2031692" cy="841682"/>
            <a:chOff x="6269193" y="2041898"/>
            <a:chExt cx="3250387" cy="1346558"/>
          </a:xfrm>
        </p:grpSpPr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87E10130-7098-208B-5565-6619D2E20D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69193" y="2041898"/>
              <a:ext cx="3250387" cy="1293813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Multiplication Sign 65">
              <a:extLst>
                <a:ext uri="{FF2B5EF4-FFF2-40B4-BE49-F238E27FC236}">
                  <a16:creationId xmlns:a16="http://schemas.microsoft.com/office/drawing/2014/main" id="{8EE72E40-AB0B-800C-2B14-4CAF9DD70381}"/>
                </a:ext>
              </a:extLst>
            </p:cNvPr>
            <p:cNvSpPr/>
            <p:nvPr/>
          </p:nvSpPr>
          <p:spPr>
            <a:xfrm>
              <a:off x="8561506" y="2298352"/>
              <a:ext cx="159929" cy="173039"/>
            </a:xfrm>
            <a:prstGeom prst="mathMultiply">
              <a:avLst/>
            </a:prstGeom>
            <a:solidFill>
              <a:schemeClr val="accent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Multiplication Sign 66">
              <a:extLst>
                <a:ext uri="{FF2B5EF4-FFF2-40B4-BE49-F238E27FC236}">
                  <a16:creationId xmlns:a16="http://schemas.microsoft.com/office/drawing/2014/main" id="{DEFBDF5D-09C9-9B9E-7EF7-F4E87077796A}"/>
                </a:ext>
              </a:extLst>
            </p:cNvPr>
            <p:cNvSpPr/>
            <p:nvPr/>
          </p:nvSpPr>
          <p:spPr>
            <a:xfrm>
              <a:off x="8491670" y="2344996"/>
              <a:ext cx="159929" cy="173039"/>
            </a:xfrm>
            <a:prstGeom prst="mathMultiply">
              <a:avLst/>
            </a:prstGeom>
            <a:solidFill>
              <a:schemeClr val="accent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Multiplication Sign 67">
              <a:extLst>
                <a:ext uri="{FF2B5EF4-FFF2-40B4-BE49-F238E27FC236}">
                  <a16:creationId xmlns:a16="http://schemas.microsoft.com/office/drawing/2014/main" id="{380FE7F1-1946-59DB-B69B-04DBB5F6CF58}"/>
                </a:ext>
              </a:extLst>
            </p:cNvPr>
            <p:cNvSpPr/>
            <p:nvPr/>
          </p:nvSpPr>
          <p:spPr>
            <a:xfrm>
              <a:off x="7894632" y="2566431"/>
              <a:ext cx="159929" cy="173039"/>
            </a:xfrm>
            <a:prstGeom prst="mathMultiply">
              <a:avLst/>
            </a:prstGeom>
            <a:solidFill>
              <a:schemeClr val="accent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Multiplication Sign 68">
              <a:extLst>
                <a:ext uri="{FF2B5EF4-FFF2-40B4-BE49-F238E27FC236}">
                  <a16:creationId xmlns:a16="http://schemas.microsoft.com/office/drawing/2014/main" id="{56533BCD-9348-EAAA-4EA6-5D570AE34976}"/>
                </a:ext>
              </a:extLst>
            </p:cNvPr>
            <p:cNvSpPr/>
            <p:nvPr/>
          </p:nvSpPr>
          <p:spPr>
            <a:xfrm>
              <a:off x="7714231" y="2645334"/>
              <a:ext cx="159929" cy="173039"/>
            </a:xfrm>
            <a:prstGeom prst="mathMultiply">
              <a:avLst/>
            </a:prstGeom>
            <a:solidFill>
              <a:schemeClr val="accent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Multiplication Sign 69">
              <a:extLst>
                <a:ext uri="{FF2B5EF4-FFF2-40B4-BE49-F238E27FC236}">
                  <a16:creationId xmlns:a16="http://schemas.microsoft.com/office/drawing/2014/main" id="{C623EECE-5C97-6B56-3F2A-CC9EEC3B5168}"/>
                </a:ext>
              </a:extLst>
            </p:cNvPr>
            <p:cNvSpPr/>
            <p:nvPr/>
          </p:nvSpPr>
          <p:spPr>
            <a:xfrm>
              <a:off x="7537637" y="2703138"/>
              <a:ext cx="159929" cy="173039"/>
            </a:xfrm>
            <a:prstGeom prst="mathMultiply">
              <a:avLst/>
            </a:prstGeom>
            <a:solidFill>
              <a:schemeClr val="accent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Multiplication Sign 70">
              <a:extLst>
                <a:ext uri="{FF2B5EF4-FFF2-40B4-BE49-F238E27FC236}">
                  <a16:creationId xmlns:a16="http://schemas.microsoft.com/office/drawing/2014/main" id="{82069F17-22F8-2E68-50E9-A91BE275A742}"/>
                </a:ext>
              </a:extLst>
            </p:cNvPr>
            <p:cNvSpPr/>
            <p:nvPr/>
          </p:nvSpPr>
          <p:spPr>
            <a:xfrm>
              <a:off x="7018074" y="2923249"/>
              <a:ext cx="159929" cy="173039"/>
            </a:xfrm>
            <a:prstGeom prst="mathMultiply">
              <a:avLst/>
            </a:prstGeom>
            <a:solidFill>
              <a:schemeClr val="accent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Multiplication Sign 71">
              <a:extLst>
                <a:ext uri="{FF2B5EF4-FFF2-40B4-BE49-F238E27FC236}">
                  <a16:creationId xmlns:a16="http://schemas.microsoft.com/office/drawing/2014/main" id="{A05A1C4C-C85D-B8D5-6136-A1D72675B8D6}"/>
                </a:ext>
              </a:extLst>
            </p:cNvPr>
            <p:cNvSpPr/>
            <p:nvPr/>
          </p:nvSpPr>
          <p:spPr>
            <a:xfrm>
              <a:off x="7128373" y="2883274"/>
              <a:ext cx="159929" cy="173039"/>
            </a:xfrm>
            <a:prstGeom prst="mathMultiply">
              <a:avLst/>
            </a:prstGeom>
            <a:solidFill>
              <a:schemeClr val="accent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Multiplication Sign 72">
              <a:extLst>
                <a:ext uri="{FF2B5EF4-FFF2-40B4-BE49-F238E27FC236}">
                  <a16:creationId xmlns:a16="http://schemas.microsoft.com/office/drawing/2014/main" id="{E42A6DFD-89E4-30AF-AD71-3E7FE09C76EE}"/>
                </a:ext>
              </a:extLst>
            </p:cNvPr>
            <p:cNvSpPr/>
            <p:nvPr/>
          </p:nvSpPr>
          <p:spPr>
            <a:xfrm>
              <a:off x="6647918" y="3052426"/>
              <a:ext cx="159929" cy="173039"/>
            </a:xfrm>
            <a:prstGeom prst="mathMultiply">
              <a:avLst/>
            </a:prstGeom>
            <a:solidFill>
              <a:schemeClr val="accent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Multiplication Sign 73">
              <a:extLst>
                <a:ext uri="{FF2B5EF4-FFF2-40B4-BE49-F238E27FC236}">
                  <a16:creationId xmlns:a16="http://schemas.microsoft.com/office/drawing/2014/main" id="{3B50C3DC-A19F-E371-FDF2-FF1FD51A87FF}"/>
                </a:ext>
              </a:extLst>
            </p:cNvPr>
            <p:cNvSpPr/>
            <p:nvPr/>
          </p:nvSpPr>
          <p:spPr>
            <a:xfrm>
              <a:off x="6303650" y="3215417"/>
              <a:ext cx="159929" cy="173039"/>
            </a:xfrm>
            <a:prstGeom prst="mathMultiply">
              <a:avLst/>
            </a:prstGeom>
            <a:solidFill>
              <a:schemeClr val="accent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Multiplication Sign 75">
              <a:extLst>
                <a:ext uri="{FF2B5EF4-FFF2-40B4-BE49-F238E27FC236}">
                  <a16:creationId xmlns:a16="http://schemas.microsoft.com/office/drawing/2014/main" id="{F58CD309-AC68-3E8A-7D6E-4CFB0F0B7950}"/>
                </a:ext>
              </a:extLst>
            </p:cNvPr>
            <p:cNvSpPr/>
            <p:nvPr/>
          </p:nvSpPr>
          <p:spPr>
            <a:xfrm>
              <a:off x="8856466" y="2177844"/>
              <a:ext cx="159929" cy="173039"/>
            </a:xfrm>
            <a:prstGeom prst="mathMultiply">
              <a:avLst/>
            </a:prstGeom>
            <a:solidFill>
              <a:schemeClr val="accent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Multiplication Sign 77">
              <a:extLst>
                <a:ext uri="{FF2B5EF4-FFF2-40B4-BE49-F238E27FC236}">
                  <a16:creationId xmlns:a16="http://schemas.microsoft.com/office/drawing/2014/main" id="{4F024E4C-C2B5-9281-90AB-34943B17BEC1}"/>
                </a:ext>
              </a:extLst>
            </p:cNvPr>
            <p:cNvSpPr/>
            <p:nvPr/>
          </p:nvSpPr>
          <p:spPr>
            <a:xfrm>
              <a:off x="8082038" y="2498966"/>
              <a:ext cx="159929" cy="173039"/>
            </a:xfrm>
            <a:prstGeom prst="mathMultiply">
              <a:avLst/>
            </a:prstGeom>
            <a:solidFill>
              <a:schemeClr val="accent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267093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A2AB3-E225-AB15-BECF-0F1BC22C3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B7DEE7-34D1-FDFF-DD10-9FEB37B1401B}"/>
              </a:ext>
            </a:extLst>
          </p:cNvPr>
          <p:cNvSpPr txBox="1"/>
          <p:nvPr/>
        </p:nvSpPr>
        <p:spPr>
          <a:xfrm>
            <a:off x="276411" y="260293"/>
            <a:ext cx="2284600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Auto Encoder (AE)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534BC2E-BFDE-A135-2DEC-BF308D12423F}"/>
              </a:ext>
            </a:extLst>
          </p:cNvPr>
          <p:cNvSpPr/>
          <p:nvPr/>
        </p:nvSpPr>
        <p:spPr>
          <a:xfrm>
            <a:off x="1138969" y="2047695"/>
            <a:ext cx="754380" cy="1554480"/>
          </a:xfrm>
          <a:custGeom>
            <a:avLst/>
            <a:gdLst>
              <a:gd name="connsiteX0" fmla="*/ 754380 w 754380"/>
              <a:gd name="connsiteY0" fmla="*/ 1554480 h 1554480"/>
              <a:gd name="connsiteX1" fmla="*/ 613410 w 754380"/>
              <a:gd name="connsiteY1" fmla="*/ 1497330 h 1554480"/>
              <a:gd name="connsiteX2" fmla="*/ 613410 w 754380"/>
              <a:gd name="connsiteY2" fmla="*/ 1356360 h 1554480"/>
              <a:gd name="connsiteX3" fmla="*/ 491490 w 754380"/>
              <a:gd name="connsiteY3" fmla="*/ 1173480 h 1554480"/>
              <a:gd name="connsiteX4" fmla="*/ 647700 w 754380"/>
              <a:gd name="connsiteY4" fmla="*/ 1032510 h 1554480"/>
              <a:gd name="connsiteX5" fmla="*/ 502920 w 754380"/>
              <a:gd name="connsiteY5" fmla="*/ 906780 h 1554480"/>
              <a:gd name="connsiteX6" fmla="*/ 331470 w 754380"/>
              <a:gd name="connsiteY6" fmla="*/ 887730 h 1554480"/>
              <a:gd name="connsiteX7" fmla="*/ 468630 w 754380"/>
              <a:gd name="connsiteY7" fmla="*/ 689610 h 1554480"/>
              <a:gd name="connsiteX8" fmla="*/ 354330 w 754380"/>
              <a:gd name="connsiteY8" fmla="*/ 499110 h 1554480"/>
              <a:gd name="connsiteX9" fmla="*/ 106680 w 754380"/>
              <a:gd name="connsiteY9" fmla="*/ 716280 h 1554480"/>
              <a:gd name="connsiteX10" fmla="*/ 57150 w 754380"/>
              <a:gd name="connsiteY10" fmla="*/ 285750 h 1554480"/>
              <a:gd name="connsiteX11" fmla="*/ 411480 w 754380"/>
              <a:gd name="connsiteY11" fmla="*/ 186690 h 1554480"/>
              <a:gd name="connsiteX12" fmla="*/ 0 w 754380"/>
              <a:gd name="connsiteY12" fmla="*/ 0 h 1554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54380" h="1554480">
                <a:moveTo>
                  <a:pt x="754380" y="1554480"/>
                </a:moveTo>
                <a:cubicBezTo>
                  <a:pt x="695642" y="1542415"/>
                  <a:pt x="636905" y="1530350"/>
                  <a:pt x="613410" y="1497330"/>
                </a:cubicBezTo>
                <a:cubicBezTo>
                  <a:pt x="589915" y="1464310"/>
                  <a:pt x="633730" y="1410335"/>
                  <a:pt x="613410" y="1356360"/>
                </a:cubicBezTo>
                <a:cubicBezTo>
                  <a:pt x="593090" y="1302385"/>
                  <a:pt x="485775" y="1227455"/>
                  <a:pt x="491490" y="1173480"/>
                </a:cubicBezTo>
                <a:cubicBezTo>
                  <a:pt x="497205" y="1119505"/>
                  <a:pt x="645795" y="1076960"/>
                  <a:pt x="647700" y="1032510"/>
                </a:cubicBezTo>
                <a:cubicBezTo>
                  <a:pt x="649605" y="988060"/>
                  <a:pt x="555625" y="930910"/>
                  <a:pt x="502920" y="906780"/>
                </a:cubicBezTo>
                <a:cubicBezTo>
                  <a:pt x="450215" y="882650"/>
                  <a:pt x="337185" y="923925"/>
                  <a:pt x="331470" y="887730"/>
                </a:cubicBezTo>
                <a:cubicBezTo>
                  <a:pt x="325755" y="851535"/>
                  <a:pt x="464820" y="754380"/>
                  <a:pt x="468630" y="689610"/>
                </a:cubicBezTo>
                <a:cubicBezTo>
                  <a:pt x="472440" y="624840"/>
                  <a:pt x="414655" y="494665"/>
                  <a:pt x="354330" y="499110"/>
                </a:cubicBezTo>
                <a:cubicBezTo>
                  <a:pt x="294005" y="503555"/>
                  <a:pt x="156210" y="751840"/>
                  <a:pt x="106680" y="716280"/>
                </a:cubicBezTo>
                <a:cubicBezTo>
                  <a:pt x="57150" y="680720"/>
                  <a:pt x="6350" y="374015"/>
                  <a:pt x="57150" y="285750"/>
                </a:cubicBezTo>
                <a:cubicBezTo>
                  <a:pt x="107950" y="197485"/>
                  <a:pt x="421005" y="234315"/>
                  <a:pt x="411480" y="186690"/>
                </a:cubicBezTo>
                <a:cubicBezTo>
                  <a:pt x="401955" y="139065"/>
                  <a:pt x="200977" y="69532"/>
                  <a:pt x="0" y="0"/>
                </a:cubicBezTo>
              </a:path>
            </a:pathLst>
          </a:custGeom>
          <a:noFill/>
          <a:ln w="57150"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8EE2B05-C684-6EA4-783D-5893161A0860}"/>
              </a:ext>
            </a:extLst>
          </p:cNvPr>
          <p:cNvCxnSpPr>
            <a:cxnSpLocks/>
          </p:cNvCxnSpPr>
          <p:nvPr/>
        </p:nvCxnSpPr>
        <p:spPr>
          <a:xfrm rot="16200000" flipV="1">
            <a:off x="1529809" y="3259371"/>
            <a:ext cx="0" cy="85001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8B76EDF-5D1D-C8EB-78A5-8A50157A3A63}"/>
              </a:ext>
            </a:extLst>
          </p:cNvPr>
          <p:cNvCxnSpPr>
            <a:cxnSpLocks/>
          </p:cNvCxnSpPr>
          <p:nvPr/>
        </p:nvCxnSpPr>
        <p:spPr>
          <a:xfrm rot="16200000">
            <a:off x="932156" y="2672894"/>
            <a:ext cx="203414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CD78B2D5-E93B-DE05-1935-FEAF09BB4732}"/>
              </a:ext>
            </a:extLst>
          </p:cNvPr>
          <p:cNvSpPr/>
          <p:nvPr/>
        </p:nvSpPr>
        <p:spPr>
          <a:xfrm rot="16200000">
            <a:off x="1732744" y="3375009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9AC9F75-F9FC-5DF5-FC3F-188EA8A70740}"/>
              </a:ext>
            </a:extLst>
          </p:cNvPr>
          <p:cNvSpPr/>
          <p:nvPr/>
        </p:nvSpPr>
        <p:spPr>
          <a:xfrm rot="16200000">
            <a:off x="1605342" y="3188308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12585C9-BD31-71A0-76DF-E49FD0ABF620}"/>
              </a:ext>
            </a:extLst>
          </p:cNvPr>
          <p:cNvSpPr/>
          <p:nvPr/>
        </p:nvSpPr>
        <p:spPr>
          <a:xfrm rot="16200000">
            <a:off x="1745938" y="3055390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92C01C2-F35C-6879-8FED-F1ABB069BC69}"/>
              </a:ext>
            </a:extLst>
          </p:cNvPr>
          <p:cNvSpPr/>
          <p:nvPr/>
        </p:nvSpPr>
        <p:spPr>
          <a:xfrm rot="16200000">
            <a:off x="1432981" y="2896442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B6C4E5C-B47C-720E-52BD-E762FF9A4CEB}"/>
              </a:ext>
            </a:extLst>
          </p:cNvPr>
          <p:cNvSpPr/>
          <p:nvPr/>
        </p:nvSpPr>
        <p:spPr>
          <a:xfrm rot="16200000">
            <a:off x="1605342" y="2914756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F88735C-AB05-9B96-D9C5-D4D3E849D429}"/>
              </a:ext>
            </a:extLst>
          </p:cNvPr>
          <p:cNvSpPr/>
          <p:nvPr/>
        </p:nvSpPr>
        <p:spPr>
          <a:xfrm rot="16200000">
            <a:off x="1573997" y="2707541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5E0DD26-5A41-2F88-56F0-252ABEFB49AA}"/>
              </a:ext>
            </a:extLst>
          </p:cNvPr>
          <p:cNvSpPr/>
          <p:nvPr/>
        </p:nvSpPr>
        <p:spPr>
          <a:xfrm rot="16200000">
            <a:off x="1223412" y="2745312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652C843-8BC9-78E3-7026-D74CB66AAF8B}"/>
              </a:ext>
            </a:extLst>
          </p:cNvPr>
          <p:cNvSpPr/>
          <p:nvPr/>
        </p:nvSpPr>
        <p:spPr>
          <a:xfrm rot="16200000">
            <a:off x="1467118" y="2511501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16C1C12-2232-9B9F-A876-C49CA9B37072}"/>
              </a:ext>
            </a:extLst>
          </p:cNvPr>
          <p:cNvSpPr/>
          <p:nvPr/>
        </p:nvSpPr>
        <p:spPr>
          <a:xfrm rot="16200000">
            <a:off x="1180967" y="2301593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035093D-471C-19A9-DC87-B134255FA0B8}"/>
              </a:ext>
            </a:extLst>
          </p:cNvPr>
          <p:cNvSpPr/>
          <p:nvPr/>
        </p:nvSpPr>
        <p:spPr>
          <a:xfrm rot="16200000">
            <a:off x="1529807" y="2192882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B868643-3317-B6BA-AD90-556A68E766C6}"/>
              </a:ext>
            </a:extLst>
          </p:cNvPr>
          <p:cNvSpPr/>
          <p:nvPr/>
        </p:nvSpPr>
        <p:spPr>
          <a:xfrm rot="16200000">
            <a:off x="1840984" y="3561037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3CAFC7A-7569-5343-D1A6-05CB3041C5B5}"/>
              </a:ext>
            </a:extLst>
          </p:cNvPr>
          <p:cNvSpPr/>
          <p:nvPr/>
        </p:nvSpPr>
        <p:spPr>
          <a:xfrm rot="16200000">
            <a:off x="1231159" y="2062542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rapezoid 40">
            <a:extLst>
              <a:ext uri="{FF2B5EF4-FFF2-40B4-BE49-F238E27FC236}">
                <a16:creationId xmlns:a16="http://schemas.microsoft.com/office/drawing/2014/main" id="{5E1BDB3D-2558-D15E-7236-6C843E616E93}"/>
              </a:ext>
            </a:extLst>
          </p:cNvPr>
          <p:cNvSpPr/>
          <p:nvPr/>
        </p:nvSpPr>
        <p:spPr>
          <a:xfrm rot="5400000">
            <a:off x="1613030" y="2348175"/>
            <a:ext cx="1943350" cy="731864"/>
          </a:xfrm>
          <a:prstGeom prst="trapezoid">
            <a:avLst>
              <a:gd name="adj" fmla="val 42499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DD6B4AA-5B9B-0FD0-CD31-80852D739402}"/>
              </a:ext>
            </a:extLst>
          </p:cNvPr>
          <p:cNvSpPr txBox="1"/>
          <p:nvPr/>
        </p:nvSpPr>
        <p:spPr>
          <a:xfrm rot="5400000">
            <a:off x="1970537" y="2567847"/>
            <a:ext cx="1244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Encoder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sp>
        <p:nvSpPr>
          <p:cNvPr id="60" name="Trapezoid 59">
            <a:extLst>
              <a:ext uri="{FF2B5EF4-FFF2-40B4-BE49-F238E27FC236}">
                <a16:creationId xmlns:a16="http://schemas.microsoft.com/office/drawing/2014/main" id="{B2C7C87A-25C8-E248-FE70-A8033F03DAF2}"/>
              </a:ext>
            </a:extLst>
          </p:cNvPr>
          <p:cNvSpPr/>
          <p:nvPr/>
        </p:nvSpPr>
        <p:spPr>
          <a:xfrm rot="16200000" flipH="1">
            <a:off x="3398127" y="2372953"/>
            <a:ext cx="1943350" cy="731864"/>
          </a:xfrm>
          <a:prstGeom prst="trapezoid">
            <a:avLst>
              <a:gd name="adj" fmla="val 42499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DB6A787E-0BA8-DE49-52ED-4025927CB3FA}"/>
              </a:ext>
            </a:extLst>
          </p:cNvPr>
          <p:cNvSpPr txBox="1"/>
          <p:nvPr/>
        </p:nvSpPr>
        <p:spPr>
          <a:xfrm rot="5400000">
            <a:off x="3815186" y="2522875"/>
            <a:ext cx="11475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Decoder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D7694734-261F-E11C-75F9-D160A8C678F0}"/>
              </a:ext>
            </a:extLst>
          </p:cNvPr>
          <p:cNvCxnSpPr>
            <a:cxnSpLocks/>
          </p:cNvCxnSpPr>
          <p:nvPr/>
        </p:nvCxnSpPr>
        <p:spPr>
          <a:xfrm rot="16200000" flipV="1">
            <a:off x="5555045" y="3235948"/>
            <a:ext cx="0" cy="85001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0" name="Straight Arrow Connector 449">
            <a:extLst>
              <a:ext uri="{FF2B5EF4-FFF2-40B4-BE49-F238E27FC236}">
                <a16:creationId xmlns:a16="http://schemas.microsoft.com/office/drawing/2014/main" id="{B5032653-1A60-9C4F-0811-C5B3674DE714}"/>
              </a:ext>
            </a:extLst>
          </p:cNvPr>
          <p:cNvCxnSpPr>
            <a:cxnSpLocks/>
          </p:cNvCxnSpPr>
          <p:nvPr/>
        </p:nvCxnSpPr>
        <p:spPr>
          <a:xfrm rot="16200000">
            <a:off x="4957392" y="2649471"/>
            <a:ext cx="203414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1" name="Freeform: Shape 450">
            <a:extLst>
              <a:ext uri="{FF2B5EF4-FFF2-40B4-BE49-F238E27FC236}">
                <a16:creationId xmlns:a16="http://schemas.microsoft.com/office/drawing/2014/main" id="{5B439B52-3867-B342-67B4-86F68FA9B10F}"/>
              </a:ext>
            </a:extLst>
          </p:cNvPr>
          <p:cNvSpPr/>
          <p:nvPr/>
        </p:nvSpPr>
        <p:spPr>
          <a:xfrm>
            <a:off x="5143716" y="1992990"/>
            <a:ext cx="754380" cy="1554480"/>
          </a:xfrm>
          <a:custGeom>
            <a:avLst/>
            <a:gdLst>
              <a:gd name="connsiteX0" fmla="*/ 754380 w 754380"/>
              <a:gd name="connsiteY0" fmla="*/ 1554480 h 1554480"/>
              <a:gd name="connsiteX1" fmla="*/ 613410 w 754380"/>
              <a:gd name="connsiteY1" fmla="*/ 1497330 h 1554480"/>
              <a:gd name="connsiteX2" fmla="*/ 613410 w 754380"/>
              <a:gd name="connsiteY2" fmla="*/ 1356360 h 1554480"/>
              <a:gd name="connsiteX3" fmla="*/ 491490 w 754380"/>
              <a:gd name="connsiteY3" fmla="*/ 1173480 h 1554480"/>
              <a:gd name="connsiteX4" fmla="*/ 647700 w 754380"/>
              <a:gd name="connsiteY4" fmla="*/ 1032510 h 1554480"/>
              <a:gd name="connsiteX5" fmla="*/ 502920 w 754380"/>
              <a:gd name="connsiteY5" fmla="*/ 906780 h 1554480"/>
              <a:gd name="connsiteX6" fmla="*/ 331470 w 754380"/>
              <a:gd name="connsiteY6" fmla="*/ 887730 h 1554480"/>
              <a:gd name="connsiteX7" fmla="*/ 468630 w 754380"/>
              <a:gd name="connsiteY7" fmla="*/ 689610 h 1554480"/>
              <a:gd name="connsiteX8" fmla="*/ 354330 w 754380"/>
              <a:gd name="connsiteY8" fmla="*/ 499110 h 1554480"/>
              <a:gd name="connsiteX9" fmla="*/ 106680 w 754380"/>
              <a:gd name="connsiteY9" fmla="*/ 716280 h 1554480"/>
              <a:gd name="connsiteX10" fmla="*/ 57150 w 754380"/>
              <a:gd name="connsiteY10" fmla="*/ 285750 h 1554480"/>
              <a:gd name="connsiteX11" fmla="*/ 411480 w 754380"/>
              <a:gd name="connsiteY11" fmla="*/ 186690 h 1554480"/>
              <a:gd name="connsiteX12" fmla="*/ 0 w 754380"/>
              <a:gd name="connsiteY12" fmla="*/ 0 h 1554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54380" h="1554480">
                <a:moveTo>
                  <a:pt x="754380" y="1554480"/>
                </a:moveTo>
                <a:cubicBezTo>
                  <a:pt x="695642" y="1542415"/>
                  <a:pt x="636905" y="1530350"/>
                  <a:pt x="613410" y="1497330"/>
                </a:cubicBezTo>
                <a:cubicBezTo>
                  <a:pt x="589915" y="1464310"/>
                  <a:pt x="633730" y="1410335"/>
                  <a:pt x="613410" y="1356360"/>
                </a:cubicBezTo>
                <a:cubicBezTo>
                  <a:pt x="593090" y="1302385"/>
                  <a:pt x="485775" y="1227455"/>
                  <a:pt x="491490" y="1173480"/>
                </a:cubicBezTo>
                <a:cubicBezTo>
                  <a:pt x="497205" y="1119505"/>
                  <a:pt x="645795" y="1076960"/>
                  <a:pt x="647700" y="1032510"/>
                </a:cubicBezTo>
                <a:cubicBezTo>
                  <a:pt x="649605" y="988060"/>
                  <a:pt x="555625" y="930910"/>
                  <a:pt x="502920" y="906780"/>
                </a:cubicBezTo>
                <a:cubicBezTo>
                  <a:pt x="450215" y="882650"/>
                  <a:pt x="337185" y="923925"/>
                  <a:pt x="331470" y="887730"/>
                </a:cubicBezTo>
                <a:cubicBezTo>
                  <a:pt x="325755" y="851535"/>
                  <a:pt x="464820" y="754380"/>
                  <a:pt x="468630" y="689610"/>
                </a:cubicBezTo>
                <a:cubicBezTo>
                  <a:pt x="472440" y="624840"/>
                  <a:pt x="414655" y="494665"/>
                  <a:pt x="354330" y="499110"/>
                </a:cubicBezTo>
                <a:cubicBezTo>
                  <a:pt x="294005" y="503555"/>
                  <a:pt x="156210" y="751840"/>
                  <a:pt x="106680" y="716280"/>
                </a:cubicBezTo>
                <a:cubicBezTo>
                  <a:pt x="57150" y="680720"/>
                  <a:pt x="6350" y="374015"/>
                  <a:pt x="57150" y="285750"/>
                </a:cubicBezTo>
                <a:cubicBezTo>
                  <a:pt x="107950" y="197485"/>
                  <a:pt x="421005" y="234315"/>
                  <a:pt x="411480" y="186690"/>
                </a:cubicBezTo>
                <a:cubicBezTo>
                  <a:pt x="401955" y="139065"/>
                  <a:pt x="200977" y="69532"/>
                  <a:pt x="0" y="0"/>
                </a:cubicBezTo>
              </a:path>
            </a:pathLst>
          </a:custGeom>
          <a:noFill/>
          <a:ln w="57150"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2" name="Oval 451">
            <a:extLst>
              <a:ext uri="{FF2B5EF4-FFF2-40B4-BE49-F238E27FC236}">
                <a16:creationId xmlns:a16="http://schemas.microsoft.com/office/drawing/2014/main" id="{DD27FFCD-D01B-23D7-D721-52216C8C0FB4}"/>
              </a:ext>
            </a:extLst>
          </p:cNvPr>
          <p:cNvSpPr/>
          <p:nvPr/>
        </p:nvSpPr>
        <p:spPr>
          <a:xfrm rot="16200000">
            <a:off x="5737491" y="3320304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3" name="Oval 452">
            <a:extLst>
              <a:ext uri="{FF2B5EF4-FFF2-40B4-BE49-F238E27FC236}">
                <a16:creationId xmlns:a16="http://schemas.microsoft.com/office/drawing/2014/main" id="{3CFD91B5-0694-32BA-B940-EC79142E6F75}"/>
              </a:ext>
            </a:extLst>
          </p:cNvPr>
          <p:cNvSpPr/>
          <p:nvPr/>
        </p:nvSpPr>
        <p:spPr>
          <a:xfrm rot="16200000">
            <a:off x="5610089" y="3133603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4" name="Oval 453">
            <a:extLst>
              <a:ext uri="{FF2B5EF4-FFF2-40B4-BE49-F238E27FC236}">
                <a16:creationId xmlns:a16="http://schemas.microsoft.com/office/drawing/2014/main" id="{C8C7F81B-CD9B-D0E9-CA36-F58C54BD0052}"/>
              </a:ext>
            </a:extLst>
          </p:cNvPr>
          <p:cNvSpPr/>
          <p:nvPr/>
        </p:nvSpPr>
        <p:spPr>
          <a:xfrm rot="16200000">
            <a:off x="5750685" y="3000685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5" name="Oval 454">
            <a:extLst>
              <a:ext uri="{FF2B5EF4-FFF2-40B4-BE49-F238E27FC236}">
                <a16:creationId xmlns:a16="http://schemas.microsoft.com/office/drawing/2014/main" id="{3BEC2EFB-1730-C30C-F53B-7FF138A60D8B}"/>
              </a:ext>
            </a:extLst>
          </p:cNvPr>
          <p:cNvSpPr/>
          <p:nvPr/>
        </p:nvSpPr>
        <p:spPr>
          <a:xfrm rot="16200000">
            <a:off x="5437728" y="2841737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6" name="Oval 455">
            <a:extLst>
              <a:ext uri="{FF2B5EF4-FFF2-40B4-BE49-F238E27FC236}">
                <a16:creationId xmlns:a16="http://schemas.microsoft.com/office/drawing/2014/main" id="{5CAF086E-CE98-970F-71E9-4F727800C224}"/>
              </a:ext>
            </a:extLst>
          </p:cNvPr>
          <p:cNvSpPr/>
          <p:nvPr/>
        </p:nvSpPr>
        <p:spPr>
          <a:xfrm rot="16200000">
            <a:off x="5610089" y="2860051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8" name="Oval 457">
            <a:extLst>
              <a:ext uri="{FF2B5EF4-FFF2-40B4-BE49-F238E27FC236}">
                <a16:creationId xmlns:a16="http://schemas.microsoft.com/office/drawing/2014/main" id="{F75ED246-F5A2-FD07-1967-A6976825D8F2}"/>
              </a:ext>
            </a:extLst>
          </p:cNvPr>
          <p:cNvSpPr/>
          <p:nvPr/>
        </p:nvSpPr>
        <p:spPr>
          <a:xfrm rot="16200000">
            <a:off x="5578744" y="2652836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0" name="Oval 459">
            <a:extLst>
              <a:ext uri="{FF2B5EF4-FFF2-40B4-BE49-F238E27FC236}">
                <a16:creationId xmlns:a16="http://schemas.microsoft.com/office/drawing/2014/main" id="{B62BAB5D-EBC1-2D9A-A29D-F0CE44EAF2F6}"/>
              </a:ext>
            </a:extLst>
          </p:cNvPr>
          <p:cNvSpPr/>
          <p:nvPr/>
        </p:nvSpPr>
        <p:spPr>
          <a:xfrm rot="16200000">
            <a:off x="5228159" y="2690607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1" name="Oval 460">
            <a:extLst>
              <a:ext uri="{FF2B5EF4-FFF2-40B4-BE49-F238E27FC236}">
                <a16:creationId xmlns:a16="http://schemas.microsoft.com/office/drawing/2014/main" id="{6018989B-D7DA-712E-A2DC-BD18E21C2BEC}"/>
              </a:ext>
            </a:extLst>
          </p:cNvPr>
          <p:cNvSpPr/>
          <p:nvPr/>
        </p:nvSpPr>
        <p:spPr>
          <a:xfrm rot="16200000">
            <a:off x="5471865" y="2456796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2" name="Oval 461">
            <a:extLst>
              <a:ext uri="{FF2B5EF4-FFF2-40B4-BE49-F238E27FC236}">
                <a16:creationId xmlns:a16="http://schemas.microsoft.com/office/drawing/2014/main" id="{D2C9A178-87E8-CF77-5889-C19464448DC3}"/>
              </a:ext>
            </a:extLst>
          </p:cNvPr>
          <p:cNvSpPr/>
          <p:nvPr/>
        </p:nvSpPr>
        <p:spPr>
          <a:xfrm rot="16200000">
            <a:off x="5185714" y="2246888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3" name="Oval 462">
            <a:extLst>
              <a:ext uri="{FF2B5EF4-FFF2-40B4-BE49-F238E27FC236}">
                <a16:creationId xmlns:a16="http://schemas.microsoft.com/office/drawing/2014/main" id="{01EC9693-8E3E-1C7A-2F40-A7C2295DB89C}"/>
              </a:ext>
            </a:extLst>
          </p:cNvPr>
          <p:cNvSpPr/>
          <p:nvPr/>
        </p:nvSpPr>
        <p:spPr>
          <a:xfrm rot="16200000">
            <a:off x="5534554" y="2138177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4" name="Oval 463">
            <a:extLst>
              <a:ext uri="{FF2B5EF4-FFF2-40B4-BE49-F238E27FC236}">
                <a16:creationId xmlns:a16="http://schemas.microsoft.com/office/drawing/2014/main" id="{815FA019-5AF8-7D6B-213B-A23D3592093A}"/>
              </a:ext>
            </a:extLst>
          </p:cNvPr>
          <p:cNvSpPr/>
          <p:nvPr/>
        </p:nvSpPr>
        <p:spPr>
          <a:xfrm rot="16200000">
            <a:off x="5845731" y="3506332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5" name="Oval 464">
            <a:extLst>
              <a:ext uri="{FF2B5EF4-FFF2-40B4-BE49-F238E27FC236}">
                <a16:creationId xmlns:a16="http://schemas.microsoft.com/office/drawing/2014/main" id="{48554E8F-AD7C-E194-7E90-1B44F82E1F03}"/>
              </a:ext>
            </a:extLst>
          </p:cNvPr>
          <p:cNvSpPr/>
          <p:nvPr/>
        </p:nvSpPr>
        <p:spPr>
          <a:xfrm rot="16200000">
            <a:off x="5235906" y="2007837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6" name="TextBox 465">
            <a:extLst>
              <a:ext uri="{FF2B5EF4-FFF2-40B4-BE49-F238E27FC236}">
                <a16:creationId xmlns:a16="http://schemas.microsoft.com/office/drawing/2014/main" id="{73690B95-4B3E-2814-0EA8-168E40F2F803}"/>
              </a:ext>
            </a:extLst>
          </p:cNvPr>
          <p:cNvSpPr txBox="1"/>
          <p:nvPr/>
        </p:nvSpPr>
        <p:spPr>
          <a:xfrm>
            <a:off x="6648742" y="1600556"/>
            <a:ext cx="48493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Encoder/ Decoder learns a low dimensional manifold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 Rounded MT Bold" panose="020F0704030504030204" pitchFamily="34" charset="77"/>
              <a:sym typeface="Wingdings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Map data        to points on the manifold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467" name="Picture 466">
            <a:extLst>
              <a:ext uri="{FF2B5EF4-FFF2-40B4-BE49-F238E27FC236}">
                <a16:creationId xmlns:a16="http://schemas.microsoft.com/office/drawing/2014/main" id="{281C7B8C-C762-9BD6-3725-557E46BDE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773" y="2469542"/>
            <a:ext cx="313431" cy="242387"/>
          </a:xfrm>
          <a:prstGeom prst="rect">
            <a:avLst/>
          </a:prstGeom>
        </p:spPr>
      </p:pic>
      <p:pic>
        <p:nvPicPr>
          <p:cNvPr id="468" name="Picture 467">
            <a:extLst>
              <a:ext uri="{FF2B5EF4-FFF2-40B4-BE49-F238E27FC236}">
                <a16:creationId xmlns:a16="http://schemas.microsoft.com/office/drawing/2014/main" id="{1D12C036-2003-0FC9-F833-70F74F59CF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8806" y="2448219"/>
            <a:ext cx="242387" cy="242387"/>
          </a:xfrm>
          <a:prstGeom prst="rect">
            <a:avLst/>
          </a:prstGeom>
        </p:spPr>
      </p:pic>
      <p:sp>
        <p:nvSpPr>
          <p:cNvPr id="469" name="TextBox 468">
            <a:extLst>
              <a:ext uri="{FF2B5EF4-FFF2-40B4-BE49-F238E27FC236}">
                <a16:creationId xmlns:a16="http://schemas.microsoft.com/office/drawing/2014/main" id="{E7EEB184-3D40-429D-E555-AE2D859699E4}"/>
              </a:ext>
            </a:extLst>
          </p:cNvPr>
          <p:cNvSpPr txBox="1"/>
          <p:nvPr/>
        </p:nvSpPr>
        <p:spPr>
          <a:xfrm>
            <a:off x="6657796" y="2905293"/>
            <a:ext cx="54628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39725" indent="-339725"/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77"/>
                <a:sym typeface="Wingdings" pitchFamily="2" charset="2"/>
              </a:rPr>
              <a:t>! </a:t>
            </a:r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   AE can do ANY mapping if the reconstruction is good!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sp>
        <p:nvSpPr>
          <p:cNvPr id="470" name="TextBox 469">
            <a:extLst>
              <a:ext uri="{FF2B5EF4-FFF2-40B4-BE49-F238E27FC236}">
                <a16:creationId xmlns:a16="http://schemas.microsoft.com/office/drawing/2014/main" id="{1553CC9B-4817-D209-E06C-AB20A3282183}"/>
              </a:ext>
            </a:extLst>
          </p:cNvPr>
          <p:cNvSpPr txBox="1"/>
          <p:nvPr/>
        </p:nvSpPr>
        <p:spPr>
          <a:xfrm>
            <a:off x="1002452" y="805988"/>
            <a:ext cx="66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AE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471" name="Picture 470">
            <a:extLst>
              <a:ext uri="{FF2B5EF4-FFF2-40B4-BE49-F238E27FC236}">
                <a16:creationId xmlns:a16="http://schemas.microsoft.com/office/drawing/2014/main" id="{769DB4B3-26B0-6105-6AA5-18DFEA669E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4839" y="1302755"/>
            <a:ext cx="941222" cy="267539"/>
          </a:xfrm>
          <a:prstGeom prst="rect">
            <a:avLst/>
          </a:prstGeom>
        </p:spPr>
      </p:pic>
      <p:pic>
        <p:nvPicPr>
          <p:cNvPr id="472" name="Picture 471">
            <a:extLst>
              <a:ext uri="{FF2B5EF4-FFF2-40B4-BE49-F238E27FC236}">
                <a16:creationId xmlns:a16="http://schemas.microsoft.com/office/drawing/2014/main" id="{7623D2AC-A04F-BE72-8828-0F4FA33BE4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3662" y="1272818"/>
            <a:ext cx="941223" cy="276047"/>
          </a:xfrm>
          <a:prstGeom prst="rect">
            <a:avLst/>
          </a:prstGeom>
        </p:spPr>
      </p:pic>
      <p:pic>
        <p:nvPicPr>
          <p:cNvPr id="473" name="Picture 472">
            <a:extLst>
              <a:ext uri="{FF2B5EF4-FFF2-40B4-BE49-F238E27FC236}">
                <a16:creationId xmlns:a16="http://schemas.microsoft.com/office/drawing/2014/main" id="{DF39EC86-2305-D310-7D94-0E065F8F4E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8832" y="1272818"/>
            <a:ext cx="950592" cy="278795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6432E760-3231-08EA-B4AF-D4B446DA0D88}"/>
              </a:ext>
            </a:extLst>
          </p:cNvPr>
          <p:cNvGrpSpPr/>
          <p:nvPr/>
        </p:nvGrpSpPr>
        <p:grpSpPr>
          <a:xfrm rot="17501103">
            <a:off x="2575828" y="2329254"/>
            <a:ext cx="1879499" cy="778489"/>
            <a:chOff x="6269193" y="2041898"/>
            <a:chExt cx="3250387" cy="1346558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94567177-148B-4161-880E-794CF35F04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69193" y="2041898"/>
              <a:ext cx="3250387" cy="1293813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Multiplication Sign 4">
              <a:extLst>
                <a:ext uri="{FF2B5EF4-FFF2-40B4-BE49-F238E27FC236}">
                  <a16:creationId xmlns:a16="http://schemas.microsoft.com/office/drawing/2014/main" id="{6097AE3B-27F0-8EA1-DD58-836E100588C1}"/>
                </a:ext>
              </a:extLst>
            </p:cNvPr>
            <p:cNvSpPr/>
            <p:nvPr/>
          </p:nvSpPr>
          <p:spPr>
            <a:xfrm>
              <a:off x="8561506" y="2298352"/>
              <a:ext cx="159929" cy="173039"/>
            </a:xfrm>
            <a:prstGeom prst="mathMultiply">
              <a:avLst/>
            </a:prstGeom>
            <a:solidFill>
              <a:schemeClr val="accent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Multiplication Sign 6">
              <a:extLst>
                <a:ext uri="{FF2B5EF4-FFF2-40B4-BE49-F238E27FC236}">
                  <a16:creationId xmlns:a16="http://schemas.microsoft.com/office/drawing/2014/main" id="{91B2C412-12C2-5F89-8FB0-7C438F2D4923}"/>
                </a:ext>
              </a:extLst>
            </p:cNvPr>
            <p:cNvSpPr/>
            <p:nvPr/>
          </p:nvSpPr>
          <p:spPr>
            <a:xfrm>
              <a:off x="8491670" y="2344996"/>
              <a:ext cx="159929" cy="173039"/>
            </a:xfrm>
            <a:prstGeom prst="mathMultiply">
              <a:avLst/>
            </a:prstGeom>
            <a:solidFill>
              <a:schemeClr val="accent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Multiplication Sign 7">
              <a:extLst>
                <a:ext uri="{FF2B5EF4-FFF2-40B4-BE49-F238E27FC236}">
                  <a16:creationId xmlns:a16="http://schemas.microsoft.com/office/drawing/2014/main" id="{9550D47E-3D0A-7588-A232-46458B4A4BEE}"/>
                </a:ext>
              </a:extLst>
            </p:cNvPr>
            <p:cNvSpPr/>
            <p:nvPr/>
          </p:nvSpPr>
          <p:spPr>
            <a:xfrm>
              <a:off x="7894632" y="2566431"/>
              <a:ext cx="159929" cy="173039"/>
            </a:xfrm>
            <a:prstGeom prst="mathMultiply">
              <a:avLst/>
            </a:prstGeom>
            <a:solidFill>
              <a:schemeClr val="accent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Multiplication Sign 8">
              <a:extLst>
                <a:ext uri="{FF2B5EF4-FFF2-40B4-BE49-F238E27FC236}">
                  <a16:creationId xmlns:a16="http://schemas.microsoft.com/office/drawing/2014/main" id="{CFECC2FB-6D33-F9AA-9974-B372140D57D8}"/>
                </a:ext>
              </a:extLst>
            </p:cNvPr>
            <p:cNvSpPr/>
            <p:nvPr/>
          </p:nvSpPr>
          <p:spPr>
            <a:xfrm>
              <a:off x="7714231" y="2645334"/>
              <a:ext cx="159929" cy="173039"/>
            </a:xfrm>
            <a:prstGeom prst="mathMultiply">
              <a:avLst/>
            </a:prstGeom>
            <a:solidFill>
              <a:schemeClr val="accent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Multiplication Sign 9">
              <a:extLst>
                <a:ext uri="{FF2B5EF4-FFF2-40B4-BE49-F238E27FC236}">
                  <a16:creationId xmlns:a16="http://schemas.microsoft.com/office/drawing/2014/main" id="{AE3F7DAD-768B-8923-E109-0DDCE8CBC2EA}"/>
                </a:ext>
              </a:extLst>
            </p:cNvPr>
            <p:cNvSpPr/>
            <p:nvPr/>
          </p:nvSpPr>
          <p:spPr>
            <a:xfrm>
              <a:off x="7537637" y="2703138"/>
              <a:ext cx="159929" cy="173039"/>
            </a:xfrm>
            <a:prstGeom prst="mathMultiply">
              <a:avLst/>
            </a:prstGeom>
            <a:solidFill>
              <a:schemeClr val="accent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Multiplication Sign 10">
              <a:extLst>
                <a:ext uri="{FF2B5EF4-FFF2-40B4-BE49-F238E27FC236}">
                  <a16:creationId xmlns:a16="http://schemas.microsoft.com/office/drawing/2014/main" id="{4F4F6D74-0B22-119D-BD07-9BC07293575F}"/>
                </a:ext>
              </a:extLst>
            </p:cNvPr>
            <p:cNvSpPr/>
            <p:nvPr/>
          </p:nvSpPr>
          <p:spPr>
            <a:xfrm>
              <a:off x="7018074" y="2923249"/>
              <a:ext cx="159929" cy="173039"/>
            </a:xfrm>
            <a:prstGeom prst="mathMultiply">
              <a:avLst/>
            </a:prstGeom>
            <a:solidFill>
              <a:schemeClr val="accent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Multiplication Sign 11">
              <a:extLst>
                <a:ext uri="{FF2B5EF4-FFF2-40B4-BE49-F238E27FC236}">
                  <a16:creationId xmlns:a16="http://schemas.microsoft.com/office/drawing/2014/main" id="{A1657F3D-C5BE-65BB-4D55-F45BCB6C2409}"/>
                </a:ext>
              </a:extLst>
            </p:cNvPr>
            <p:cNvSpPr/>
            <p:nvPr/>
          </p:nvSpPr>
          <p:spPr>
            <a:xfrm>
              <a:off x="7128373" y="2883274"/>
              <a:ext cx="159929" cy="173039"/>
            </a:xfrm>
            <a:prstGeom prst="mathMultiply">
              <a:avLst/>
            </a:prstGeom>
            <a:solidFill>
              <a:schemeClr val="accent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Multiplication Sign 12">
              <a:extLst>
                <a:ext uri="{FF2B5EF4-FFF2-40B4-BE49-F238E27FC236}">
                  <a16:creationId xmlns:a16="http://schemas.microsoft.com/office/drawing/2014/main" id="{1999435C-7306-3283-F320-1B263B434048}"/>
                </a:ext>
              </a:extLst>
            </p:cNvPr>
            <p:cNvSpPr/>
            <p:nvPr/>
          </p:nvSpPr>
          <p:spPr>
            <a:xfrm>
              <a:off x="6647918" y="3052426"/>
              <a:ext cx="159929" cy="173039"/>
            </a:xfrm>
            <a:prstGeom prst="mathMultiply">
              <a:avLst/>
            </a:prstGeom>
            <a:solidFill>
              <a:schemeClr val="accent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Multiplication Sign 13">
              <a:extLst>
                <a:ext uri="{FF2B5EF4-FFF2-40B4-BE49-F238E27FC236}">
                  <a16:creationId xmlns:a16="http://schemas.microsoft.com/office/drawing/2014/main" id="{4A6020C5-C68B-FA71-A4AF-EF01BBFD4FEB}"/>
                </a:ext>
              </a:extLst>
            </p:cNvPr>
            <p:cNvSpPr/>
            <p:nvPr/>
          </p:nvSpPr>
          <p:spPr>
            <a:xfrm>
              <a:off x="6303650" y="3215417"/>
              <a:ext cx="159929" cy="173039"/>
            </a:xfrm>
            <a:prstGeom prst="mathMultiply">
              <a:avLst/>
            </a:prstGeom>
            <a:solidFill>
              <a:schemeClr val="accent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Multiplication Sign 14">
              <a:extLst>
                <a:ext uri="{FF2B5EF4-FFF2-40B4-BE49-F238E27FC236}">
                  <a16:creationId xmlns:a16="http://schemas.microsoft.com/office/drawing/2014/main" id="{2FD6238C-E14A-5651-0601-149AAE2D853F}"/>
                </a:ext>
              </a:extLst>
            </p:cNvPr>
            <p:cNvSpPr/>
            <p:nvPr/>
          </p:nvSpPr>
          <p:spPr>
            <a:xfrm>
              <a:off x="8856466" y="2177844"/>
              <a:ext cx="159929" cy="173039"/>
            </a:xfrm>
            <a:prstGeom prst="mathMultiply">
              <a:avLst/>
            </a:prstGeom>
            <a:solidFill>
              <a:schemeClr val="accent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Multiplication Sign 45">
              <a:extLst>
                <a:ext uri="{FF2B5EF4-FFF2-40B4-BE49-F238E27FC236}">
                  <a16:creationId xmlns:a16="http://schemas.microsoft.com/office/drawing/2014/main" id="{5492331B-EA5D-D74E-4BEE-6F4062A37904}"/>
                </a:ext>
              </a:extLst>
            </p:cNvPr>
            <p:cNvSpPr/>
            <p:nvPr/>
          </p:nvSpPr>
          <p:spPr>
            <a:xfrm>
              <a:off x="8082038" y="2498966"/>
              <a:ext cx="159929" cy="173039"/>
            </a:xfrm>
            <a:prstGeom prst="mathMultiply">
              <a:avLst/>
            </a:prstGeom>
            <a:solidFill>
              <a:schemeClr val="accent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230072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46B50-9D20-B212-13A4-4565931C3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Freeform: Shape 228">
            <a:extLst>
              <a:ext uri="{FF2B5EF4-FFF2-40B4-BE49-F238E27FC236}">
                <a16:creationId xmlns:a16="http://schemas.microsoft.com/office/drawing/2014/main" id="{B951D7B6-93B7-24ED-53E1-03F9A48F61B3}"/>
              </a:ext>
            </a:extLst>
          </p:cNvPr>
          <p:cNvSpPr/>
          <p:nvPr/>
        </p:nvSpPr>
        <p:spPr>
          <a:xfrm>
            <a:off x="1138969" y="2047695"/>
            <a:ext cx="754380" cy="1554480"/>
          </a:xfrm>
          <a:custGeom>
            <a:avLst/>
            <a:gdLst>
              <a:gd name="connsiteX0" fmla="*/ 754380 w 754380"/>
              <a:gd name="connsiteY0" fmla="*/ 1554480 h 1554480"/>
              <a:gd name="connsiteX1" fmla="*/ 613410 w 754380"/>
              <a:gd name="connsiteY1" fmla="*/ 1497330 h 1554480"/>
              <a:gd name="connsiteX2" fmla="*/ 613410 w 754380"/>
              <a:gd name="connsiteY2" fmla="*/ 1356360 h 1554480"/>
              <a:gd name="connsiteX3" fmla="*/ 491490 w 754380"/>
              <a:gd name="connsiteY3" fmla="*/ 1173480 h 1554480"/>
              <a:gd name="connsiteX4" fmla="*/ 647700 w 754380"/>
              <a:gd name="connsiteY4" fmla="*/ 1032510 h 1554480"/>
              <a:gd name="connsiteX5" fmla="*/ 502920 w 754380"/>
              <a:gd name="connsiteY5" fmla="*/ 906780 h 1554480"/>
              <a:gd name="connsiteX6" fmla="*/ 331470 w 754380"/>
              <a:gd name="connsiteY6" fmla="*/ 887730 h 1554480"/>
              <a:gd name="connsiteX7" fmla="*/ 468630 w 754380"/>
              <a:gd name="connsiteY7" fmla="*/ 689610 h 1554480"/>
              <a:gd name="connsiteX8" fmla="*/ 354330 w 754380"/>
              <a:gd name="connsiteY8" fmla="*/ 499110 h 1554480"/>
              <a:gd name="connsiteX9" fmla="*/ 106680 w 754380"/>
              <a:gd name="connsiteY9" fmla="*/ 716280 h 1554480"/>
              <a:gd name="connsiteX10" fmla="*/ 57150 w 754380"/>
              <a:gd name="connsiteY10" fmla="*/ 285750 h 1554480"/>
              <a:gd name="connsiteX11" fmla="*/ 411480 w 754380"/>
              <a:gd name="connsiteY11" fmla="*/ 186690 h 1554480"/>
              <a:gd name="connsiteX12" fmla="*/ 0 w 754380"/>
              <a:gd name="connsiteY12" fmla="*/ 0 h 1554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54380" h="1554480">
                <a:moveTo>
                  <a:pt x="754380" y="1554480"/>
                </a:moveTo>
                <a:cubicBezTo>
                  <a:pt x="695642" y="1542415"/>
                  <a:pt x="636905" y="1530350"/>
                  <a:pt x="613410" y="1497330"/>
                </a:cubicBezTo>
                <a:cubicBezTo>
                  <a:pt x="589915" y="1464310"/>
                  <a:pt x="633730" y="1410335"/>
                  <a:pt x="613410" y="1356360"/>
                </a:cubicBezTo>
                <a:cubicBezTo>
                  <a:pt x="593090" y="1302385"/>
                  <a:pt x="485775" y="1227455"/>
                  <a:pt x="491490" y="1173480"/>
                </a:cubicBezTo>
                <a:cubicBezTo>
                  <a:pt x="497205" y="1119505"/>
                  <a:pt x="645795" y="1076960"/>
                  <a:pt x="647700" y="1032510"/>
                </a:cubicBezTo>
                <a:cubicBezTo>
                  <a:pt x="649605" y="988060"/>
                  <a:pt x="555625" y="930910"/>
                  <a:pt x="502920" y="906780"/>
                </a:cubicBezTo>
                <a:cubicBezTo>
                  <a:pt x="450215" y="882650"/>
                  <a:pt x="337185" y="923925"/>
                  <a:pt x="331470" y="887730"/>
                </a:cubicBezTo>
                <a:cubicBezTo>
                  <a:pt x="325755" y="851535"/>
                  <a:pt x="464820" y="754380"/>
                  <a:pt x="468630" y="689610"/>
                </a:cubicBezTo>
                <a:cubicBezTo>
                  <a:pt x="472440" y="624840"/>
                  <a:pt x="414655" y="494665"/>
                  <a:pt x="354330" y="499110"/>
                </a:cubicBezTo>
                <a:cubicBezTo>
                  <a:pt x="294005" y="503555"/>
                  <a:pt x="156210" y="751840"/>
                  <a:pt x="106680" y="716280"/>
                </a:cubicBezTo>
                <a:cubicBezTo>
                  <a:pt x="57150" y="680720"/>
                  <a:pt x="6350" y="374015"/>
                  <a:pt x="57150" y="285750"/>
                </a:cubicBezTo>
                <a:cubicBezTo>
                  <a:pt x="107950" y="197485"/>
                  <a:pt x="421005" y="234315"/>
                  <a:pt x="411480" y="186690"/>
                </a:cubicBezTo>
                <a:cubicBezTo>
                  <a:pt x="401955" y="139065"/>
                  <a:pt x="200977" y="69532"/>
                  <a:pt x="0" y="0"/>
                </a:cubicBezTo>
              </a:path>
            </a:pathLst>
          </a:custGeom>
          <a:noFill/>
          <a:ln w="57150"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01D183-0F76-2A66-661A-96A15F77C484}"/>
              </a:ext>
            </a:extLst>
          </p:cNvPr>
          <p:cNvSpPr txBox="1"/>
          <p:nvPr/>
        </p:nvSpPr>
        <p:spPr>
          <a:xfrm>
            <a:off x="276411" y="260293"/>
            <a:ext cx="2284600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Auto Encoder (AE)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54D5CBB-10C6-60F1-E3D1-3B727152EE59}"/>
              </a:ext>
            </a:extLst>
          </p:cNvPr>
          <p:cNvCxnSpPr>
            <a:cxnSpLocks/>
          </p:cNvCxnSpPr>
          <p:nvPr/>
        </p:nvCxnSpPr>
        <p:spPr>
          <a:xfrm rot="16200000" flipV="1">
            <a:off x="1529809" y="3259371"/>
            <a:ext cx="0" cy="85001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623DA37-0886-2A0E-23B9-4FB6CBB7791C}"/>
              </a:ext>
            </a:extLst>
          </p:cNvPr>
          <p:cNvCxnSpPr>
            <a:cxnSpLocks/>
          </p:cNvCxnSpPr>
          <p:nvPr/>
        </p:nvCxnSpPr>
        <p:spPr>
          <a:xfrm rot="16200000">
            <a:off x="932156" y="2672894"/>
            <a:ext cx="203414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6B001CD6-AEC6-3B35-2570-8ACA07C8AF08}"/>
              </a:ext>
            </a:extLst>
          </p:cNvPr>
          <p:cNvSpPr/>
          <p:nvPr/>
        </p:nvSpPr>
        <p:spPr>
          <a:xfrm rot="16200000">
            <a:off x="1732744" y="3375009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7F1C7FF-8A28-895E-ECE1-4D1DED3D6815}"/>
              </a:ext>
            </a:extLst>
          </p:cNvPr>
          <p:cNvSpPr/>
          <p:nvPr/>
        </p:nvSpPr>
        <p:spPr>
          <a:xfrm rot="16200000">
            <a:off x="1605342" y="3188308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ADF9C9A-590D-63CD-8148-4245550E4644}"/>
              </a:ext>
            </a:extLst>
          </p:cNvPr>
          <p:cNvSpPr/>
          <p:nvPr/>
        </p:nvSpPr>
        <p:spPr>
          <a:xfrm rot="16200000">
            <a:off x="1745938" y="3055390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ACF62A1-E009-82CF-7A50-F2735A004C9A}"/>
              </a:ext>
            </a:extLst>
          </p:cNvPr>
          <p:cNvSpPr/>
          <p:nvPr/>
        </p:nvSpPr>
        <p:spPr>
          <a:xfrm rot="16200000">
            <a:off x="1432981" y="2896442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7A2A2BF6-0F84-6E64-7D85-0E38439B1182}"/>
              </a:ext>
            </a:extLst>
          </p:cNvPr>
          <p:cNvSpPr/>
          <p:nvPr/>
        </p:nvSpPr>
        <p:spPr>
          <a:xfrm rot="16200000">
            <a:off x="1605342" y="2914756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D47C47B-BBBE-8686-BC8B-2934C1882C6C}"/>
              </a:ext>
            </a:extLst>
          </p:cNvPr>
          <p:cNvSpPr/>
          <p:nvPr/>
        </p:nvSpPr>
        <p:spPr>
          <a:xfrm rot="16200000">
            <a:off x="1573997" y="2707541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EAC6676-CA46-8EB1-E52E-05FD729CD8EC}"/>
              </a:ext>
            </a:extLst>
          </p:cNvPr>
          <p:cNvSpPr/>
          <p:nvPr/>
        </p:nvSpPr>
        <p:spPr>
          <a:xfrm rot="16200000">
            <a:off x="1223412" y="2745312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B3D7FBF-1BD7-D2D5-3AB5-F668B39ED6AE}"/>
              </a:ext>
            </a:extLst>
          </p:cNvPr>
          <p:cNvSpPr/>
          <p:nvPr/>
        </p:nvSpPr>
        <p:spPr>
          <a:xfrm rot="16200000">
            <a:off x="1467118" y="2511501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8118A5FD-616D-E8FF-7AAC-547018640348}"/>
              </a:ext>
            </a:extLst>
          </p:cNvPr>
          <p:cNvSpPr/>
          <p:nvPr/>
        </p:nvSpPr>
        <p:spPr>
          <a:xfrm rot="16200000">
            <a:off x="1180967" y="2301593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E5BAF425-0D2B-B81C-3479-FB69142E2BB3}"/>
              </a:ext>
            </a:extLst>
          </p:cNvPr>
          <p:cNvSpPr/>
          <p:nvPr/>
        </p:nvSpPr>
        <p:spPr>
          <a:xfrm rot="16200000">
            <a:off x="1529807" y="2192882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B01B3B31-FFCF-F493-AAD4-6F353DA1FABE}"/>
              </a:ext>
            </a:extLst>
          </p:cNvPr>
          <p:cNvSpPr/>
          <p:nvPr/>
        </p:nvSpPr>
        <p:spPr>
          <a:xfrm rot="16200000">
            <a:off x="1840984" y="3561037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782B8472-E04B-C213-973D-1EC3A6A1CD16}"/>
              </a:ext>
            </a:extLst>
          </p:cNvPr>
          <p:cNvSpPr/>
          <p:nvPr/>
        </p:nvSpPr>
        <p:spPr>
          <a:xfrm rot="16200000">
            <a:off x="1231159" y="2062542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rapezoid 54">
            <a:extLst>
              <a:ext uri="{FF2B5EF4-FFF2-40B4-BE49-F238E27FC236}">
                <a16:creationId xmlns:a16="http://schemas.microsoft.com/office/drawing/2014/main" id="{0E83E296-A44C-574B-ED4B-E25629199A93}"/>
              </a:ext>
            </a:extLst>
          </p:cNvPr>
          <p:cNvSpPr/>
          <p:nvPr/>
        </p:nvSpPr>
        <p:spPr>
          <a:xfrm rot="5400000">
            <a:off x="1613030" y="2348175"/>
            <a:ext cx="1943350" cy="731864"/>
          </a:xfrm>
          <a:prstGeom prst="trapezoid">
            <a:avLst>
              <a:gd name="adj" fmla="val 42499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1F32430-2847-F325-7325-A59D62482CC0}"/>
              </a:ext>
            </a:extLst>
          </p:cNvPr>
          <p:cNvSpPr txBox="1"/>
          <p:nvPr/>
        </p:nvSpPr>
        <p:spPr>
          <a:xfrm rot="5400000">
            <a:off x="1970537" y="2567847"/>
            <a:ext cx="1244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Encoder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sp>
        <p:nvSpPr>
          <p:cNvPr id="75" name="Trapezoid 74">
            <a:extLst>
              <a:ext uri="{FF2B5EF4-FFF2-40B4-BE49-F238E27FC236}">
                <a16:creationId xmlns:a16="http://schemas.microsoft.com/office/drawing/2014/main" id="{C9192AD3-3E25-A073-5C6D-F0E5B68C9379}"/>
              </a:ext>
            </a:extLst>
          </p:cNvPr>
          <p:cNvSpPr/>
          <p:nvPr/>
        </p:nvSpPr>
        <p:spPr>
          <a:xfrm rot="16200000" flipH="1">
            <a:off x="3398127" y="2372953"/>
            <a:ext cx="1943350" cy="731864"/>
          </a:xfrm>
          <a:prstGeom prst="trapezoid">
            <a:avLst>
              <a:gd name="adj" fmla="val 42499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E3C17A7-ED14-180E-792F-DA9E0E45610C}"/>
              </a:ext>
            </a:extLst>
          </p:cNvPr>
          <p:cNvSpPr txBox="1"/>
          <p:nvPr/>
        </p:nvSpPr>
        <p:spPr>
          <a:xfrm rot="5400000">
            <a:off x="3815186" y="2522875"/>
            <a:ext cx="11475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Decoder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E06A6CDE-BE11-6FC3-E5D4-32CB9117F4C6}"/>
              </a:ext>
            </a:extLst>
          </p:cNvPr>
          <p:cNvCxnSpPr>
            <a:cxnSpLocks/>
          </p:cNvCxnSpPr>
          <p:nvPr/>
        </p:nvCxnSpPr>
        <p:spPr>
          <a:xfrm rot="16200000" flipV="1">
            <a:off x="5555045" y="3235948"/>
            <a:ext cx="0" cy="85001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A0CA8B29-9F27-DAB9-1FBF-167E68E38558}"/>
              </a:ext>
            </a:extLst>
          </p:cNvPr>
          <p:cNvCxnSpPr>
            <a:cxnSpLocks/>
          </p:cNvCxnSpPr>
          <p:nvPr/>
        </p:nvCxnSpPr>
        <p:spPr>
          <a:xfrm rot="16200000">
            <a:off x="4957392" y="2649471"/>
            <a:ext cx="203414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2" name="Freeform: Shape 321">
            <a:extLst>
              <a:ext uri="{FF2B5EF4-FFF2-40B4-BE49-F238E27FC236}">
                <a16:creationId xmlns:a16="http://schemas.microsoft.com/office/drawing/2014/main" id="{0BA3C069-C65D-A882-B4F3-6EF952A26EB7}"/>
              </a:ext>
            </a:extLst>
          </p:cNvPr>
          <p:cNvSpPr/>
          <p:nvPr/>
        </p:nvSpPr>
        <p:spPr>
          <a:xfrm>
            <a:off x="5143716" y="1992990"/>
            <a:ext cx="754380" cy="1554480"/>
          </a:xfrm>
          <a:custGeom>
            <a:avLst/>
            <a:gdLst>
              <a:gd name="connsiteX0" fmla="*/ 754380 w 754380"/>
              <a:gd name="connsiteY0" fmla="*/ 1554480 h 1554480"/>
              <a:gd name="connsiteX1" fmla="*/ 613410 w 754380"/>
              <a:gd name="connsiteY1" fmla="*/ 1497330 h 1554480"/>
              <a:gd name="connsiteX2" fmla="*/ 613410 w 754380"/>
              <a:gd name="connsiteY2" fmla="*/ 1356360 h 1554480"/>
              <a:gd name="connsiteX3" fmla="*/ 491490 w 754380"/>
              <a:gd name="connsiteY3" fmla="*/ 1173480 h 1554480"/>
              <a:gd name="connsiteX4" fmla="*/ 647700 w 754380"/>
              <a:gd name="connsiteY4" fmla="*/ 1032510 h 1554480"/>
              <a:gd name="connsiteX5" fmla="*/ 502920 w 754380"/>
              <a:gd name="connsiteY5" fmla="*/ 906780 h 1554480"/>
              <a:gd name="connsiteX6" fmla="*/ 331470 w 754380"/>
              <a:gd name="connsiteY6" fmla="*/ 887730 h 1554480"/>
              <a:gd name="connsiteX7" fmla="*/ 468630 w 754380"/>
              <a:gd name="connsiteY7" fmla="*/ 689610 h 1554480"/>
              <a:gd name="connsiteX8" fmla="*/ 354330 w 754380"/>
              <a:gd name="connsiteY8" fmla="*/ 499110 h 1554480"/>
              <a:gd name="connsiteX9" fmla="*/ 106680 w 754380"/>
              <a:gd name="connsiteY9" fmla="*/ 716280 h 1554480"/>
              <a:gd name="connsiteX10" fmla="*/ 57150 w 754380"/>
              <a:gd name="connsiteY10" fmla="*/ 285750 h 1554480"/>
              <a:gd name="connsiteX11" fmla="*/ 411480 w 754380"/>
              <a:gd name="connsiteY11" fmla="*/ 186690 h 1554480"/>
              <a:gd name="connsiteX12" fmla="*/ 0 w 754380"/>
              <a:gd name="connsiteY12" fmla="*/ 0 h 1554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54380" h="1554480">
                <a:moveTo>
                  <a:pt x="754380" y="1554480"/>
                </a:moveTo>
                <a:cubicBezTo>
                  <a:pt x="695642" y="1542415"/>
                  <a:pt x="636905" y="1530350"/>
                  <a:pt x="613410" y="1497330"/>
                </a:cubicBezTo>
                <a:cubicBezTo>
                  <a:pt x="589915" y="1464310"/>
                  <a:pt x="633730" y="1410335"/>
                  <a:pt x="613410" y="1356360"/>
                </a:cubicBezTo>
                <a:cubicBezTo>
                  <a:pt x="593090" y="1302385"/>
                  <a:pt x="485775" y="1227455"/>
                  <a:pt x="491490" y="1173480"/>
                </a:cubicBezTo>
                <a:cubicBezTo>
                  <a:pt x="497205" y="1119505"/>
                  <a:pt x="645795" y="1076960"/>
                  <a:pt x="647700" y="1032510"/>
                </a:cubicBezTo>
                <a:cubicBezTo>
                  <a:pt x="649605" y="988060"/>
                  <a:pt x="555625" y="930910"/>
                  <a:pt x="502920" y="906780"/>
                </a:cubicBezTo>
                <a:cubicBezTo>
                  <a:pt x="450215" y="882650"/>
                  <a:pt x="337185" y="923925"/>
                  <a:pt x="331470" y="887730"/>
                </a:cubicBezTo>
                <a:cubicBezTo>
                  <a:pt x="325755" y="851535"/>
                  <a:pt x="464820" y="754380"/>
                  <a:pt x="468630" y="689610"/>
                </a:cubicBezTo>
                <a:cubicBezTo>
                  <a:pt x="472440" y="624840"/>
                  <a:pt x="414655" y="494665"/>
                  <a:pt x="354330" y="499110"/>
                </a:cubicBezTo>
                <a:cubicBezTo>
                  <a:pt x="294005" y="503555"/>
                  <a:pt x="156210" y="751840"/>
                  <a:pt x="106680" y="716280"/>
                </a:cubicBezTo>
                <a:cubicBezTo>
                  <a:pt x="57150" y="680720"/>
                  <a:pt x="6350" y="374015"/>
                  <a:pt x="57150" y="285750"/>
                </a:cubicBezTo>
                <a:cubicBezTo>
                  <a:pt x="107950" y="197485"/>
                  <a:pt x="421005" y="234315"/>
                  <a:pt x="411480" y="186690"/>
                </a:cubicBezTo>
                <a:cubicBezTo>
                  <a:pt x="401955" y="139065"/>
                  <a:pt x="200977" y="69532"/>
                  <a:pt x="0" y="0"/>
                </a:cubicBezTo>
              </a:path>
            </a:pathLst>
          </a:custGeom>
          <a:noFill/>
          <a:ln w="57150"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3" name="Oval 322">
            <a:extLst>
              <a:ext uri="{FF2B5EF4-FFF2-40B4-BE49-F238E27FC236}">
                <a16:creationId xmlns:a16="http://schemas.microsoft.com/office/drawing/2014/main" id="{874FBE3F-F5EC-CB7D-2C31-83035F6F2840}"/>
              </a:ext>
            </a:extLst>
          </p:cNvPr>
          <p:cNvSpPr/>
          <p:nvPr/>
        </p:nvSpPr>
        <p:spPr>
          <a:xfrm rot="16200000">
            <a:off x="5737491" y="3320304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4" name="Oval 323">
            <a:extLst>
              <a:ext uri="{FF2B5EF4-FFF2-40B4-BE49-F238E27FC236}">
                <a16:creationId xmlns:a16="http://schemas.microsoft.com/office/drawing/2014/main" id="{348C3998-D59D-7C26-3E4E-3D470FF2A130}"/>
              </a:ext>
            </a:extLst>
          </p:cNvPr>
          <p:cNvSpPr/>
          <p:nvPr/>
        </p:nvSpPr>
        <p:spPr>
          <a:xfrm rot="16200000">
            <a:off x="5610089" y="3133603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5" name="Oval 324">
            <a:extLst>
              <a:ext uri="{FF2B5EF4-FFF2-40B4-BE49-F238E27FC236}">
                <a16:creationId xmlns:a16="http://schemas.microsoft.com/office/drawing/2014/main" id="{8D911758-AF02-E938-E17C-E9B9982C7056}"/>
              </a:ext>
            </a:extLst>
          </p:cNvPr>
          <p:cNvSpPr/>
          <p:nvPr/>
        </p:nvSpPr>
        <p:spPr>
          <a:xfrm rot="16200000">
            <a:off x="5750685" y="3000685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6" name="Oval 325">
            <a:extLst>
              <a:ext uri="{FF2B5EF4-FFF2-40B4-BE49-F238E27FC236}">
                <a16:creationId xmlns:a16="http://schemas.microsoft.com/office/drawing/2014/main" id="{523A7825-EFF5-553C-6D2E-A97BD9D20729}"/>
              </a:ext>
            </a:extLst>
          </p:cNvPr>
          <p:cNvSpPr/>
          <p:nvPr/>
        </p:nvSpPr>
        <p:spPr>
          <a:xfrm rot="16200000">
            <a:off x="5437728" y="2841737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7" name="Oval 326">
            <a:extLst>
              <a:ext uri="{FF2B5EF4-FFF2-40B4-BE49-F238E27FC236}">
                <a16:creationId xmlns:a16="http://schemas.microsoft.com/office/drawing/2014/main" id="{FC531A6A-F2E0-F4A2-8BC5-7F32D6AD96E3}"/>
              </a:ext>
            </a:extLst>
          </p:cNvPr>
          <p:cNvSpPr/>
          <p:nvPr/>
        </p:nvSpPr>
        <p:spPr>
          <a:xfrm rot="16200000">
            <a:off x="5610089" y="2860051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8" name="Oval 327">
            <a:extLst>
              <a:ext uri="{FF2B5EF4-FFF2-40B4-BE49-F238E27FC236}">
                <a16:creationId xmlns:a16="http://schemas.microsoft.com/office/drawing/2014/main" id="{264CCD19-0E7A-D7A0-BE66-E37EC6658C28}"/>
              </a:ext>
            </a:extLst>
          </p:cNvPr>
          <p:cNvSpPr/>
          <p:nvPr/>
        </p:nvSpPr>
        <p:spPr>
          <a:xfrm rot="16200000">
            <a:off x="5578744" y="2652836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9" name="Oval 328">
            <a:extLst>
              <a:ext uri="{FF2B5EF4-FFF2-40B4-BE49-F238E27FC236}">
                <a16:creationId xmlns:a16="http://schemas.microsoft.com/office/drawing/2014/main" id="{1471D12B-17AA-44FB-B362-67AC2789D44A}"/>
              </a:ext>
            </a:extLst>
          </p:cNvPr>
          <p:cNvSpPr/>
          <p:nvPr/>
        </p:nvSpPr>
        <p:spPr>
          <a:xfrm rot="16200000">
            <a:off x="5228159" y="2690607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0" name="Oval 329">
            <a:extLst>
              <a:ext uri="{FF2B5EF4-FFF2-40B4-BE49-F238E27FC236}">
                <a16:creationId xmlns:a16="http://schemas.microsoft.com/office/drawing/2014/main" id="{785ED3EE-8DAD-F1F0-A91F-2D515C93C037}"/>
              </a:ext>
            </a:extLst>
          </p:cNvPr>
          <p:cNvSpPr/>
          <p:nvPr/>
        </p:nvSpPr>
        <p:spPr>
          <a:xfrm rot="16200000">
            <a:off x="5471865" y="2456796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1" name="Oval 330">
            <a:extLst>
              <a:ext uri="{FF2B5EF4-FFF2-40B4-BE49-F238E27FC236}">
                <a16:creationId xmlns:a16="http://schemas.microsoft.com/office/drawing/2014/main" id="{79E3320C-DB8D-BE4E-C4AB-A7804F6638D9}"/>
              </a:ext>
            </a:extLst>
          </p:cNvPr>
          <p:cNvSpPr/>
          <p:nvPr/>
        </p:nvSpPr>
        <p:spPr>
          <a:xfrm rot="16200000">
            <a:off x="5185714" y="2246888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2" name="Oval 331">
            <a:extLst>
              <a:ext uri="{FF2B5EF4-FFF2-40B4-BE49-F238E27FC236}">
                <a16:creationId xmlns:a16="http://schemas.microsoft.com/office/drawing/2014/main" id="{D52EE314-976E-672B-0CDD-482A7F806BE5}"/>
              </a:ext>
            </a:extLst>
          </p:cNvPr>
          <p:cNvSpPr/>
          <p:nvPr/>
        </p:nvSpPr>
        <p:spPr>
          <a:xfrm rot="16200000">
            <a:off x="5534554" y="2138177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3" name="Oval 332">
            <a:extLst>
              <a:ext uri="{FF2B5EF4-FFF2-40B4-BE49-F238E27FC236}">
                <a16:creationId xmlns:a16="http://schemas.microsoft.com/office/drawing/2014/main" id="{AC4BCA45-DB3E-825F-15DD-C27312CB67F6}"/>
              </a:ext>
            </a:extLst>
          </p:cNvPr>
          <p:cNvSpPr/>
          <p:nvPr/>
        </p:nvSpPr>
        <p:spPr>
          <a:xfrm rot="16200000">
            <a:off x="5845731" y="3506332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4" name="Oval 333">
            <a:extLst>
              <a:ext uri="{FF2B5EF4-FFF2-40B4-BE49-F238E27FC236}">
                <a16:creationId xmlns:a16="http://schemas.microsoft.com/office/drawing/2014/main" id="{0297FB6E-EF5C-5DC1-65C7-E05FA7560D46}"/>
              </a:ext>
            </a:extLst>
          </p:cNvPr>
          <p:cNvSpPr/>
          <p:nvPr/>
        </p:nvSpPr>
        <p:spPr>
          <a:xfrm rot="16200000">
            <a:off x="5235906" y="2007837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5" name="TextBox 334">
            <a:extLst>
              <a:ext uri="{FF2B5EF4-FFF2-40B4-BE49-F238E27FC236}">
                <a16:creationId xmlns:a16="http://schemas.microsoft.com/office/drawing/2014/main" id="{DDA053A6-00FD-6E2C-8E1A-373B7305A218}"/>
              </a:ext>
            </a:extLst>
          </p:cNvPr>
          <p:cNvSpPr txBox="1"/>
          <p:nvPr/>
        </p:nvSpPr>
        <p:spPr>
          <a:xfrm>
            <a:off x="6648742" y="1600556"/>
            <a:ext cx="48493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Encoder/ Decoder learns a low dimensional manifold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 Rounded MT Bold" panose="020F0704030504030204" pitchFamily="34" charset="77"/>
              <a:sym typeface="Wingdings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Map data        to points on the manifold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457" name="Picture 456">
            <a:extLst>
              <a:ext uri="{FF2B5EF4-FFF2-40B4-BE49-F238E27FC236}">
                <a16:creationId xmlns:a16="http://schemas.microsoft.com/office/drawing/2014/main" id="{425ECD04-FA91-EBAD-AD57-85283C903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773" y="2469542"/>
            <a:ext cx="313431" cy="242387"/>
          </a:xfrm>
          <a:prstGeom prst="rect">
            <a:avLst/>
          </a:prstGeom>
        </p:spPr>
      </p:pic>
      <p:pic>
        <p:nvPicPr>
          <p:cNvPr id="459" name="Picture 458">
            <a:extLst>
              <a:ext uri="{FF2B5EF4-FFF2-40B4-BE49-F238E27FC236}">
                <a16:creationId xmlns:a16="http://schemas.microsoft.com/office/drawing/2014/main" id="{2A208743-031D-71C1-4EF9-6F2A2AD9B1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8806" y="2448219"/>
            <a:ext cx="242387" cy="2423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0C3CD7A-3097-8D1C-64AF-61FFA9E9468A}"/>
              </a:ext>
            </a:extLst>
          </p:cNvPr>
          <p:cNvSpPr txBox="1"/>
          <p:nvPr/>
        </p:nvSpPr>
        <p:spPr>
          <a:xfrm>
            <a:off x="6657796" y="2905293"/>
            <a:ext cx="54628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39725" indent="-339725"/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77"/>
                <a:sym typeface="Wingdings" pitchFamily="2" charset="2"/>
              </a:rPr>
              <a:t>! </a:t>
            </a:r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   AE can do ANY mapping if the reconstruction is good!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696FF9-56E7-9FA7-D044-2E3F787CE697}"/>
              </a:ext>
            </a:extLst>
          </p:cNvPr>
          <p:cNvSpPr txBox="1"/>
          <p:nvPr/>
        </p:nvSpPr>
        <p:spPr>
          <a:xfrm>
            <a:off x="1002452" y="805988"/>
            <a:ext cx="66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AE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A3541BE-DB70-317F-C622-75397912F0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4839" y="1302755"/>
            <a:ext cx="941222" cy="26753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C0CB1C5-961E-BC78-32D4-56B33F1F3B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3662" y="1272818"/>
            <a:ext cx="941223" cy="27604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18ECC7A-6112-BC29-A66F-E098A2E1D4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8832" y="1272818"/>
            <a:ext cx="950592" cy="278795"/>
          </a:xfrm>
          <a:prstGeom prst="rect">
            <a:avLst/>
          </a:pr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DC1859C1-E47B-3498-222E-0D4AD98E17B5}"/>
              </a:ext>
            </a:extLst>
          </p:cNvPr>
          <p:cNvSpPr/>
          <p:nvPr/>
        </p:nvSpPr>
        <p:spPr>
          <a:xfrm>
            <a:off x="1566153" y="2237813"/>
            <a:ext cx="1838528" cy="1041085"/>
          </a:xfrm>
          <a:custGeom>
            <a:avLst/>
            <a:gdLst>
              <a:gd name="connsiteX0" fmla="*/ 0 w 1838528"/>
              <a:gd name="connsiteY0" fmla="*/ 18383 h 1041085"/>
              <a:gd name="connsiteX1" fmla="*/ 515566 w 1838528"/>
              <a:gd name="connsiteY1" fmla="*/ 115660 h 1041085"/>
              <a:gd name="connsiteX2" fmla="*/ 1332690 w 1838528"/>
              <a:gd name="connsiteY2" fmla="*/ 893873 h 1041085"/>
              <a:gd name="connsiteX3" fmla="*/ 1838528 w 1838528"/>
              <a:gd name="connsiteY3" fmla="*/ 1039787 h 1041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38528" h="1041085">
                <a:moveTo>
                  <a:pt x="0" y="18383"/>
                </a:moveTo>
                <a:cubicBezTo>
                  <a:pt x="146725" y="-5936"/>
                  <a:pt x="293451" y="-30255"/>
                  <a:pt x="515566" y="115660"/>
                </a:cubicBezTo>
                <a:cubicBezTo>
                  <a:pt x="737681" y="261575"/>
                  <a:pt x="1112196" y="739852"/>
                  <a:pt x="1332690" y="893873"/>
                </a:cubicBezTo>
                <a:cubicBezTo>
                  <a:pt x="1553184" y="1047894"/>
                  <a:pt x="1695856" y="1043840"/>
                  <a:pt x="1838528" y="1039787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217D14FF-CE98-A8F0-32B2-058550DFB06C}"/>
              </a:ext>
            </a:extLst>
          </p:cNvPr>
          <p:cNvSpPr/>
          <p:nvPr/>
        </p:nvSpPr>
        <p:spPr>
          <a:xfrm>
            <a:off x="1799617" y="2524375"/>
            <a:ext cx="1595336" cy="558672"/>
          </a:xfrm>
          <a:custGeom>
            <a:avLst/>
            <a:gdLst>
              <a:gd name="connsiteX0" fmla="*/ 0 w 1595336"/>
              <a:gd name="connsiteY0" fmla="*/ 558672 h 558672"/>
              <a:gd name="connsiteX1" fmla="*/ 544749 w 1595336"/>
              <a:gd name="connsiteY1" fmla="*/ 373847 h 558672"/>
              <a:gd name="connsiteX2" fmla="*/ 1186774 w 1595336"/>
              <a:gd name="connsiteY2" fmla="*/ 43106 h 558672"/>
              <a:gd name="connsiteX3" fmla="*/ 1595336 w 1595336"/>
              <a:gd name="connsiteY3" fmla="*/ 13923 h 558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95336" h="558672">
                <a:moveTo>
                  <a:pt x="0" y="558672"/>
                </a:moveTo>
                <a:cubicBezTo>
                  <a:pt x="173476" y="509223"/>
                  <a:pt x="346953" y="459775"/>
                  <a:pt x="544749" y="373847"/>
                </a:cubicBezTo>
                <a:cubicBezTo>
                  <a:pt x="742545" y="287919"/>
                  <a:pt x="1011676" y="103093"/>
                  <a:pt x="1186774" y="43106"/>
                </a:cubicBezTo>
                <a:cubicBezTo>
                  <a:pt x="1361872" y="-16881"/>
                  <a:pt x="1478604" y="-1479"/>
                  <a:pt x="1595336" y="13923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345C191-D33B-133F-C958-79772AFBBB85}"/>
              </a:ext>
            </a:extLst>
          </p:cNvPr>
          <p:cNvSpPr/>
          <p:nvPr/>
        </p:nvSpPr>
        <p:spPr>
          <a:xfrm>
            <a:off x="1809345" y="2154570"/>
            <a:ext cx="1585608" cy="1283023"/>
          </a:xfrm>
          <a:custGeom>
            <a:avLst/>
            <a:gdLst>
              <a:gd name="connsiteX0" fmla="*/ 0 w 1585608"/>
              <a:gd name="connsiteY0" fmla="*/ 1278673 h 1283023"/>
              <a:gd name="connsiteX1" fmla="*/ 739302 w 1585608"/>
              <a:gd name="connsiteY1" fmla="*/ 1113303 h 1283023"/>
              <a:gd name="connsiteX2" fmla="*/ 1361872 w 1585608"/>
              <a:gd name="connsiteY2" fmla="*/ 169720 h 1283023"/>
              <a:gd name="connsiteX3" fmla="*/ 1585608 w 1585608"/>
              <a:gd name="connsiteY3" fmla="*/ 4350 h 1283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5608" h="1283023">
                <a:moveTo>
                  <a:pt x="0" y="1278673"/>
                </a:moveTo>
                <a:cubicBezTo>
                  <a:pt x="256161" y="1288400"/>
                  <a:pt x="512323" y="1298128"/>
                  <a:pt x="739302" y="1113303"/>
                </a:cubicBezTo>
                <a:cubicBezTo>
                  <a:pt x="966281" y="928478"/>
                  <a:pt x="1220821" y="354546"/>
                  <a:pt x="1361872" y="169720"/>
                </a:cubicBezTo>
                <a:cubicBezTo>
                  <a:pt x="1502923" y="-15106"/>
                  <a:pt x="1544265" y="-5378"/>
                  <a:pt x="1585608" y="4350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560AB06-3AFB-BE41-342B-9EA63BA58630}"/>
              </a:ext>
            </a:extLst>
          </p:cNvPr>
          <p:cNvSpPr/>
          <p:nvPr/>
        </p:nvSpPr>
        <p:spPr>
          <a:xfrm>
            <a:off x="3618689" y="2146743"/>
            <a:ext cx="1852769" cy="1195668"/>
          </a:xfrm>
          <a:custGeom>
            <a:avLst/>
            <a:gdLst>
              <a:gd name="connsiteX0" fmla="*/ 0 w 1852769"/>
              <a:gd name="connsiteY0" fmla="*/ 1150313 h 1195668"/>
              <a:gd name="connsiteX1" fmla="*/ 525294 w 1852769"/>
              <a:gd name="connsiteY1" fmla="*/ 1072492 h 1195668"/>
              <a:gd name="connsiteX2" fmla="*/ 1274324 w 1852769"/>
              <a:gd name="connsiteY2" fmla="*/ 99726 h 1195668"/>
              <a:gd name="connsiteX3" fmla="*/ 1780162 w 1852769"/>
              <a:gd name="connsiteY3" fmla="*/ 21904 h 1195668"/>
              <a:gd name="connsiteX4" fmla="*/ 1838528 w 1852769"/>
              <a:gd name="connsiteY4" fmla="*/ 12177 h 1195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52769" h="1195668">
                <a:moveTo>
                  <a:pt x="0" y="1150313"/>
                </a:moveTo>
                <a:cubicBezTo>
                  <a:pt x="156453" y="1198951"/>
                  <a:pt x="312907" y="1247590"/>
                  <a:pt x="525294" y="1072492"/>
                </a:cubicBezTo>
                <a:cubicBezTo>
                  <a:pt x="737681" y="897394"/>
                  <a:pt x="1065179" y="274824"/>
                  <a:pt x="1274324" y="99726"/>
                </a:cubicBezTo>
                <a:cubicBezTo>
                  <a:pt x="1483469" y="-75372"/>
                  <a:pt x="1686128" y="36496"/>
                  <a:pt x="1780162" y="21904"/>
                </a:cubicBezTo>
                <a:cubicBezTo>
                  <a:pt x="1874196" y="7312"/>
                  <a:pt x="1856362" y="9744"/>
                  <a:pt x="1838528" y="12177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3D5C801-715A-EDCF-4732-FD5D73531EA7}"/>
              </a:ext>
            </a:extLst>
          </p:cNvPr>
          <p:cNvSpPr/>
          <p:nvPr/>
        </p:nvSpPr>
        <p:spPr>
          <a:xfrm>
            <a:off x="3579779" y="2556414"/>
            <a:ext cx="2091447" cy="498789"/>
          </a:xfrm>
          <a:custGeom>
            <a:avLst/>
            <a:gdLst>
              <a:gd name="connsiteX0" fmla="*/ 0 w 2091447"/>
              <a:gd name="connsiteY0" fmla="*/ 40250 h 498789"/>
              <a:gd name="connsiteX1" fmla="*/ 476655 w 2091447"/>
              <a:gd name="connsiteY1" fmla="*/ 40250 h 498789"/>
              <a:gd name="connsiteX2" fmla="*/ 1634247 w 2091447"/>
              <a:gd name="connsiteY2" fmla="*/ 458540 h 498789"/>
              <a:gd name="connsiteX3" fmla="*/ 2091447 w 2091447"/>
              <a:gd name="connsiteY3" fmla="*/ 458540 h 498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91447" h="498789">
                <a:moveTo>
                  <a:pt x="0" y="40250"/>
                </a:moveTo>
                <a:cubicBezTo>
                  <a:pt x="102140" y="5392"/>
                  <a:pt x="204281" y="-29465"/>
                  <a:pt x="476655" y="40250"/>
                </a:cubicBezTo>
                <a:cubicBezTo>
                  <a:pt x="749029" y="109965"/>
                  <a:pt x="1365115" y="388825"/>
                  <a:pt x="1634247" y="458540"/>
                </a:cubicBezTo>
                <a:cubicBezTo>
                  <a:pt x="1903379" y="528255"/>
                  <a:pt x="1997413" y="493397"/>
                  <a:pt x="2091447" y="458540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89E3C86-D0F1-8008-EC10-8D93FD710212}"/>
              </a:ext>
            </a:extLst>
          </p:cNvPr>
          <p:cNvSpPr/>
          <p:nvPr/>
        </p:nvSpPr>
        <p:spPr>
          <a:xfrm>
            <a:off x="3638145" y="2158920"/>
            <a:ext cx="2042808" cy="1270080"/>
          </a:xfrm>
          <a:custGeom>
            <a:avLst/>
            <a:gdLst>
              <a:gd name="connsiteX0" fmla="*/ 0 w 2042808"/>
              <a:gd name="connsiteY0" fmla="*/ 0 h 1270080"/>
              <a:gd name="connsiteX1" fmla="*/ 603115 w 2042808"/>
              <a:gd name="connsiteY1" fmla="*/ 155642 h 1270080"/>
              <a:gd name="connsiteX2" fmla="*/ 1254868 w 2042808"/>
              <a:gd name="connsiteY2" fmla="*/ 466927 h 1270080"/>
              <a:gd name="connsiteX3" fmla="*/ 1780161 w 2042808"/>
              <a:gd name="connsiteY3" fmla="*/ 1186774 h 1270080"/>
              <a:gd name="connsiteX4" fmla="*/ 2042808 w 2042808"/>
              <a:gd name="connsiteY4" fmla="*/ 1225685 h 1270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42808" h="1270080">
                <a:moveTo>
                  <a:pt x="0" y="0"/>
                </a:moveTo>
                <a:cubicBezTo>
                  <a:pt x="196985" y="38910"/>
                  <a:pt x="393970" y="77821"/>
                  <a:pt x="603115" y="155642"/>
                </a:cubicBezTo>
                <a:cubicBezTo>
                  <a:pt x="812260" y="233463"/>
                  <a:pt x="1058694" y="295072"/>
                  <a:pt x="1254868" y="466927"/>
                </a:cubicBezTo>
                <a:cubicBezTo>
                  <a:pt x="1451042" y="638782"/>
                  <a:pt x="1648838" y="1060314"/>
                  <a:pt x="1780161" y="1186774"/>
                </a:cubicBezTo>
                <a:cubicBezTo>
                  <a:pt x="1911484" y="1313234"/>
                  <a:pt x="1977146" y="1269459"/>
                  <a:pt x="2042808" y="1225685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2512F57-E5AC-52BD-32C0-E86FB19891DB}"/>
              </a:ext>
            </a:extLst>
          </p:cNvPr>
          <p:cNvGrpSpPr/>
          <p:nvPr/>
        </p:nvGrpSpPr>
        <p:grpSpPr>
          <a:xfrm rot="17501103">
            <a:off x="2575828" y="2329254"/>
            <a:ext cx="1879499" cy="778489"/>
            <a:chOff x="6269193" y="2041898"/>
            <a:chExt cx="3250387" cy="1346558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462B77FB-1F3C-E0F6-32C8-76B7DDBB8B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69193" y="2041898"/>
              <a:ext cx="3250387" cy="1293813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Multiplication Sign 33">
              <a:extLst>
                <a:ext uri="{FF2B5EF4-FFF2-40B4-BE49-F238E27FC236}">
                  <a16:creationId xmlns:a16="http://schemas.microsoft.com/office/drawing/2014/main" id="{F7B6ABEE-B11D-5E54-0F5C-C0EE6E575465}"/>
                </a:ext>
              </a:extLst>
            </p:cNvPr>
            <p:cNvSpPr/>
            <p:nvPr/>
          </p:nvSpPr>
          <p:spPr>
            <a:xfrm>
              <a:off x="8561506" y="2298352"/>
              <a:ext cx="159929" cy="173039"/>
            </a:xfrm>
            <a:prstGeom prst="mathMultiply">
              <a:avLst/>
            </a:prstGeom>
            <a:solidFill>
              <a:schemeClr val="accent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Multiplication Sign 36">
              <a:extLst>
                <a:ext uri="{FF2B5EF4-FFF2-40B4-BE49-F238E27FC236}">
                  <a16:creationId xmlns:a16="http://schemas.microsoft.com/office/drawing/2014/main" id="{01CC434F-B73C-A6C0-CA7E-97081B2A9618}"/>
                </a:ext>
              </a:extLst>
            </p:cNvPr>
            <p:cNvSpPr/>
            <p:nvPr/>
          </p:nvSpPr>
          <p:spPr>
            <a:xfrm>
              <a:off x="8491670" y="2344996"/>
              <a:ext cx="159929" cy="173039"/>
            </a:xfrm>
            <a:prstGeom prst="mathMultiply">
              <a:avLst/>
            </a:prstGeom>
            <a:solidFill>
              <a:schemeClr val="accent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Multiplication Sign 37">
              <a:extLst>
                <a:ext uri="{FF2B5EF4-FFF2-40B4-BE49-F238E27FC236}">
                  <a16:creationId xmlns:a16="http://schemas.microsoft.com/office/drawing/2014/main" id="{8EAA07C7-7BB5-F7D0-6F62-C2AA8F51DCE1}"/>
                </a:ext>
              </a:extLst>
            </p:cNvPr>
            <p:cNvSpPr/>
            <p:nvPr/>
          </p:nvSpPr>
          <p:spPr>
            <a:xfrm>
              <a:off x="7894632" y="2566431"/>
              <a:ext cx="159929" cy="173039"/>
            </a:xfrm>
            <a:prstGeom prst="mathMultiply">
              <a:avLst/>
            </a:prstGeom>
            <a:solidFill>
              <a:schemeClr val="accent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Multiplication Sign 40">
              <a:extLst>
                <a:ext uri="{FF2B5EF4-FFF2-40B4-BE49-F238E27FC236}">
                  <a16:creationId xmlns:a16="http://schemas.microsoft.com/office/drawing/2014/main" id="{B4ED0464-AAAD-6D09-9B40-121D7C5F12E5}"/>
                </a:ext>
              </a:extLst>
            </p:cNvPr>
            <p:cNvSpPr/>
            <p:nvPr/>
          </p:nvSpPr>
          <p:spPr>
            <a:xfrm>
              <a:off x="7714231" y="2645334"/>
              <a:ext cx="159929" cy="173039"/>
            </a:xfrm>
            <a:prstGeom prst="mathMultiply">
              <a:avLst/>
            </a:prstGeom>
            <a:solidFill>
              <a:schemeClr val="accent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Multiplication Sign 43">
              <a:extLst>
                <a:ext uri="{FF2B5EF4-FFF2-40B4-BE49-F238E27FC236}">
                  <a16:creationId xmlns:a16="http://schemas.microsoft.com/office/drawing/2014/main" id="{D041ADCB-4BED-FF76-7516-DACE7D972125}"/>
                </a:ext>
              </a:extLst>
            </p:cNvPr>
            <p:cNvSpPr/>
            <p:nvPr/>
          </p:nvSpPr>
          <p:spPr>
            <a:xfrm>
              <a:off x="7537637" y="2703138"/>
              <a:ext cx="159929" cy="173039"/>
            </a:xfrm>
            <a:prstGeom prst="mathMultiply">
              <a:avLst/>
            </a:prstGeom>
            <a:solidFill>
              <a:schemeClr val="accent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Multiplication Sign 45">
              <a:extLst>
                <a:ext uri="{FF2B5EF4-FFF2-40B4-BE49-F238E27FC236}">
                  <a16:creationId xmlns:a16="http://schemas.microsoft.com/office/drawing/2014/main" id="{086B0CC8-0A50-0C67-A252-BC7BFE07F768}"/>
                </a:ext>
              </a:extLst>
            </p:cNvPr>
            <p:cNvSpPr/>
            <p:nvPr/>
          </p:nvSpPr>
          <p:spPr>
            <a:xfrm>
              <a:off x="7018074" y="2923249"/>
              <a:ext cx="159929" cy="173039"/>
            </a:xfrm>
            <a:prstGeom prst="mathMultiply">
              <a:avLst/>
            </a:prstGeom>
            <a:solidFill>
              <a:schemeClr val="accent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Multiplication Sign 46">
              <a:extLst>
                <a:ext uri="{FF2B5EF4-FFF2-40B4-BE49-F238E27FC236}">
                  <a16:creationId xmlns:a16="http://schemas.microsoft.com/office/drawing/2014/main" id="{D51252D3-4686-C2D6-A7FE-85B0040EAA7F}"/>
                </a:ext>
              </a:extLst>
            </p:cNvPr>
            <p:cNvSpPr/>
            <p:nvPr/>
          </p:nvSpPr>
          <p:spPr>
            <a:xfrm>
              <a:off x="7128373" y="2883274"/>
              <a:ext cx="159929" cy="173039"/>
            </a:xfrm>
            <a:prstGeom prst="mathMultiply">
              <a:avLst/>
            </a:prstGeom>
            <a:solidFill>
              <a:schemeClr val="accent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Multiplication Sign 48">
              <a:extLst>
                <a:ext uri="{FF2B5EF4-FFF2-40B4-BE49-F238E27FC236}">
                  <a16:creationId xmlns:a16="http://schemas.microsoft.com/office/drawing/2014/main" id="{46264F99-83A2-C14A-4C29-A2DB629DA0A7}"/>
                </a:ext>
              </a:extLst>
            </p:cNvPr>
            <p:cNvSpPr/>
            <p:nvPr/>
          </p:nvSpPr>
          <p:spPr>
            <a:xfrm>
              <a:off x="6647918" y="3052426"/>
              <a:ext cx="159929" cy="173039"/>
            </a:xfrm>
            <a:prstGeom prst="mathMultiply">
              <a:avLst/>
            </a:prstGeom>
            <a:solidFill>
              <a:schemeClr val="accent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Multiplication Sign 50">
              <a:extLst>
                <a:ext uri="{FF2B5EF4-FFF2-40B4-BE49-F238E27FC236}">
                  <a16:creationId xmlns:a16="http://schemas.microsoft.com/office/drawing/2014/main" id="{BEB47699-4B84-BD9C-D4CA-2B8313F7E6CC}"/>
                </a:ext>
              </a:extLst>
            </p:cNvPr>
            <p:cNvSpPr/>
            <p:nvPr/>
          </p:nvSpPr>
          <p:spPr>
            <a:xfrm>
              <a:off x="6303650" y="3215417"/>
              <a:ext cx="159929" cy="173039"/>
            </a:xfrm>
            <a:prstGeom prst="mathMultiply">
              <a:avLst/>
            </a:prstGeom>
            <a:solidFill>
              <a:schemeClr val="accent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Multiplication Sign 52">
              <a:extLst>
                <a:ext uri="{FF2B5EF4-FFF2-40B4-BE49-F238E27FC236}">
                  <a16:creationId xmlns:a16="http://schemas.microsoft.com/office/drawing/2014/main" id="{0FEC3D87-1D20-3897-E232-9977FCEFCE03}"/>
                </a:ext>
              </a:extLst>
            </p:cNvPr>
            <p:cNvSpPr/>
            <p:nvPr/>
          </p:nvSpPr>
          <p:spPr>
            <a:xfrm>
              <a:off x="8856466" y="2177844"/>
              <a:ext cx="159929" cy="173039"/>
            </a:xfrm>
            <a:prstGeom prst="mathMultiply">
              <a:avLst/>
            </a:prstGeom>
            <a:solidFill>
              <a:schemeClr val="accent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Multiplication Sign 53">
              <a:extLst>
                <a:ext uri="{FF2B5EF4-FFF2-40B4-BE49-F238E27FC236}">
                  <a16:creationId xmlns:a16="http://schemas.microsoft.com/office/drawing/2014/main" id="{364984F4-7B7E-C979-FAC2-A14E9713494B}"/>
                </a:ext>
              </a:extLst>
            </p:cNvPr>
            <p:cNvSpPr/>
            <p:nvPr/>
          </p:nvSpPr>
          <p:spPr>
            <a:xfrm>
              <a:off x="8082038" y="2498966"/>
              <a:ext cx="159929" cy="173039"/>
            </a:xfrm>
            <a:prstGeom prst="mathMultiply">
              <a:avLst/>
            </a:prstGeom>
            <a:solidFill>
              <a:schemeClr val="accent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967738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2B638-B12C-72AD-470F-16A2138DA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Freeform: Shape 228">
            <a:extLst>
              <a:ext uri="{FF2B5EF4-FFF2-40B4-BE49-F238E27FC236}">
                <a16:creationId xmlns:a16="http://schemas.microsoft.com/office/drawing/2014/main" id="{A61103F6-90E0-55E7-6D4D-8812481FB575}"/>
              </a:ext>
            </a:extLst>
          </p:cNvPr>
          <p:cNvSpPr/>
          <p:nvPr/>
        </p:nvSpPr>
        <p:spPr>
          <a:xfrm>
            <a:off x="1138969" y="2047695"/>
            <a:ext cx="754380" cy="1554480"/>
          </a:xfrm>
          <a:custGeom>
            <a:avLst/>
            <a:gdLst>
              <a:gd name="connsiteX0" fmla="*/ 754380 w 754380"/>
              <a:gd name="connsiteY0" fmla="*/ 1554480 h 1554480"/>
              <a:gd name="connsiteX1" fmla="*/ 613410 w 754380"/>
              <a:gd name="connsiteY1" fmla="*/ 1497330 h 1554480"/>
              <a:gd name="connsiteX2" fmla="*/ 613410 w 754380"/>
              <a:gd name="connsiteY2" fmla="*/ 1356360 h 1554480"/>
              <a:gd name="connsiteX3" fmla="*/ 491490 w 754380"/>
              <a:gd name="connsiteY3" fmla="*/ 1173480 h 1554480"/>
              <a:gd name="connsiteX4" fmla="*/ 647700 w 754380"/>
              <a:gd name="connsiteY4" fmla="*/ 1032510 h 1554480"/>
              <a:gd name="connsiteX5" fmla="*/ 502920 w 754380"/>
              <a:gd name="connsiteY5" fmla="*/ 906780 h 1554480"/>
              <a:gd name="connsiteX6" fmla="*/ 331470 w 754380"/>
              <a:gd name="connsiteY6" fmla="*/ 887730 h 1554480"/>
              <a:gd name="connsiteX7" fmla="*/ 468630 w 754380"/>
              <a:gd name="connsiteY7" fmla="*/ 689610 h 1554480"/>
              <a:gd name="connsiteX8" fmla="*/ 354330 w 754380"/>
              <a:gd name="connsiteY8" fmla="*/ 499110 h 1554480"/>
              <a:gd name="connsiteX9" fmla="*/ 106680 w 754380"/>
              <a:gd name="connsiteY9" fmla="*/ 716280 h 1554480"/>
              <a:gd name="connsiteX10" fmla="*/ 57150 w 754380"/>
              <a:gd name="connsiteY10" fmla="*/ 285750 h 1554480"/>
              <a:gd name="connsiteX11" fmla="*/ 411480 w 754380"/>
              <a:gd name="connsiteY11" fmla="*/ 186690 h 1554480"/>
              <a:gd name="connsiteX12" fmla="*/ 0 w 754380"/>
              <a:gd name="connsiteY12" fmla="*/ 0 h 1554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54380" h="1554480">
                <a:moveTo>
                  <a:pt x="754380" y="1554480"/>
                </a:moveTo>
                <a:cubicBezTo>
                  <a:pt x="695642" y="1542415"/>
                  <a:pt x="636905" y="1530350"/>
                  <a:pt x="613410" y="1497330"/>
                </a:cubicBezTo>
                <a:cubicBezTo>
                  <a:pt x="589915" y="1464310"/>
                  <a:pt x="633730" y="1410335"/>
                  <a:pt x="613410" y="1356360"/>
                </a:cubicBezTo>
                <a:cubicBezTo>
                  <a:pt x="593090" y="1302385"/>
                  <a:pt x="485775" y="1227455"/>
                  <a:pt x="491490" y="1173480"/>
                </a:cubicBezTo>
                <a:cubicBezTo>
                  <a:pt x="497205" y="1119505"/>
                  <a:pt x="645795" y="1076960"/>
                  <a:pt x="647700" y="1032510"/>
                </a:cubicBezTo>
                <a:cubicBezTo>
                  <a:pt x="649605" y="988060"/>
                  <a:pt x="555625" y="930910"/>
                  <a:pt x="502920" y="906780"/>
                </a:cubicBezTo>
                <a:cubicBezTo>
                  <a:pt x="450215" y="882650"/>
                  <a:pt x="337185" y="923925"/>
                  <a:pt x="331470" y="887730"/>
                </a:cubicBezTo>
                <a:cubicBezTo>
                  <a:pt x="325755" y="851535"/>
                  <a:pt x="464820" y="754380"/>
                  <a:pt x="468630" y="689610"/>
                </a:cubicBezTo>
                <a:cubicBezTo>
                  <a:pt x="472440" y="624840"/>
                  <a:pt x="414655" y="494665"/>
                  <a:pt x="354330" y="499110"/>
                </a:cubicBezTo>
                <a:cubicBezTo>
                  <a:pt x="294005" y="503555"/>
                  <a:pt x="156210" y="751840"/>
                  <a:pt x="106680" y="716280"/>
                </a:cubicBezTo>
                <a:cubicBezTo>
                  <a:pt x="57150" y="680720"/>
                  <a:pt x="6350" y="374015"/>
                  <a:pt x="57150" y="285750"/>
                </a:cubicBezTo>
                <a:cubicBezTo>
                  <a:pt x="107950" y="197485"/>
                  <a:pt x="421005" y="234315"/>
                  <a:pt x="411480" y="186690"/>
                </a:cubicBezTo>
                <a:cubicBezTo>
                  <a:pt x="401955" y="139065"/>
                  <a:pt x="200977" y="69532"/>
                  <a:pt x="0" y="0"/>
                </a:cubicBezTo>
              </a:path>
            </a:pathLst>
          </a:custGeom>
          <a:noFill/>
          <a:ln w="57150"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92DA8F-45FA-FD88-5D58-64C47BC8FD5B}"/>
              </a:ext>
            </a:extLst>
          </p:cNvPr>
          <p:cNvSpPr txBox="1"/>
          <p:nvPr/>
        </p:nvSpPr>
        <p:spPr>
          <a:xfrm>
            <a:off x="276411" y="260293"/>
            <a:ext cx="2284600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Auto Encoder (AE)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79B7452-FB24-2569-CE3F-D9ED225EA2F2}"/>
              </a:ext>
            </a:extLst>
          </p:cNvPr>
          <p:cNvCxnSpPr>
            <a:cxnSpLocks/>
          </p:cNvCxnSpPr>
          <p:nvPr/>
        </p:nvCxnSpPr>
        <p:spPr>
          <a:xfrm rot="16200000" flipV="1">
            <a:off x="1529809" y="3259371"/>
            <a:ext cx="0" cy="85001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44591BC-7A8B-6B1A-79E5-E44A3F0BFCED}"/>
              </a:ext>
            </a:extLst>
          </p:cNvPr>
          <p:cNvCxnSpPr>
            <a:cxnSpLocks/>
          </p:cNvCxnSpPr>
          <p:nvPr/>
        </p:nvCxnSpPr>
        <p:spPr>
          <a:xfrm rot="16200000">
            <a:off x="932156" y="2672894"/>
            <a:ext cx="203414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50B6548D-FA10-BDE7-3C86-3A9C265F5F4D}"/>
              </a:ext>
            </a:extLst>
          </p:cNvPr>
          <p:cNvSpPr/>
          <p:nvPr/>
        </p:nvSpPr>
        <p:spPr>
          <a:xfrm rot="16200000">
            <a:off x="1732744" y="3375009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4029277-A1FB-A5BD-1F5A-2C340A97900C}"/>
              </a:ext>
            </a:extLst>
          </p:cNvPr>
          <p:cNvSpPr/>
          <p:nvPr/>
        </p:nvSpPr>
        <p:spPr>
          <a:xfrm rot="16200000">
            <a:off x="1605342" y="3188308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8BFF8E4-D9C2-D2FE-025F-ABA2B486A678}"/>
              </a:ext>
            </a:extLst>
          </p:cNvPr>
          <p:cNvSpPr/>
          <p:nvPr/>
        </p:nvSpPr>
        <p:spPr>
          <a:xfrm rot="16200000">
            <a:off x="1745938" y="3055390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A323624-B5D4-8C63-14CB-334F186C7D2F}"/>
              </a:ext>
            </a:extLst>
          </p:cNvPr>
          <p:cNvSpPr/>
          <p:nvPr/>
        </p:nvSpPr>
        <p:spPr>
          <a:xfrm rot="16200000">
            <a:off x="1432981" y="2896442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AB710FE-3D5B-6733-1CA8-4B5D48DF3459}"/>
              </a:ext>
            </a:extLst>
          </p:cNvPr>
          <p:cNvSpPr/>
          <p:nvPr/>
        </p:nvSpPr>
        <p:spPr>
          <a:xfrm rot="16200000">
            <a:off x="1605342" y="2914756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D7AC6BF5-754D-4646-8994-98866F992521}"/>
              </a:ext>
            </a:extLst>
          </p:cNvPr>
          <p:cNvSpPr/>
          <p:nvPr/>
        </p:nvSpPr>
        <p:spPr>
          <a:xfrm rot="16200000">
            <a:off x="1573997" y="2707541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986157A0-FE1B-B084-C886-8BEBC3BC9469}"/>
              </a:ext>
            </a:extLst>
          </p:cNvPr>
          <p:cNvSpPr/>
          <p:nvPr/>
        </p:nvSpPr>
        <p:spPr>
          <a:xfrm rot="16200000">
            <a:off x="1223412" y="2745312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4685B86-CF32-2FF6-635A-EE01F2AFAEA5}"/>
              </a:ext>
            </a:extLst>
          </p:cNvPr>
          <p:cNvSpPr/>
          <p:nvPr/>
        </p:nvSpPr>
        <p:spPr>
          <a:xfrm rot="16200000">
            <a:off x="1467118" y="2511501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74917AD8-C4B8-57E8-840D-85A8BE349AC5}"/>
              </a:ext>
            </a:extLst>
          </p:cNvPr>
          <p:cNvSpPr/>
          <p:nvPr/>
        </p:nvSpPr>
        <p:spPr>
          <a:xfrm rot="16200000">
            <a:off x="1180967" y="2301593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797A3D8E-1D57-C145-4C91-0E0592C82AF9}"/>
              </a:ext>
            </a:extLst>
          </p:cNvPr>
          <p:cNvSpPr/>
          <p:nvPr/>
        </p:nvSpPr>
        <p:spPr>
          <a:xfrm rot="16200000">
            <a:off x="1529807" y="2192882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A66E1F0-3DF1-E2FE-61EF-91A992BD52D9}"/>
              </a:ext>
            </a:extLst>
          </p:cNvPr>
          <p:cNvSpPr/>
          <p:nvPr/>
        </p:nvSpPr>
        <p:spPr>
          <a:xfrm rot="16200000">
            <a:off x="1840984" y="3561037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11A664DB-6A46-AB4C-E660-8380121F1C21}"/>
              </a:ext>
            </a:extLst>
          </p:cNvPr>
          <p:cNvSpPr/>
          <p:nvPr/>
        </p:nvSpPr>
        <p:spPr>
          <a:xfrm rot="16200000">
            <a:off x="1231159" y="2062542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rapezoid 54">
            <a:extLst>
              <a:ext uri="{FF2B5EF4-FFF2-40B4-BE49-F238E27FC236}">
                <a16:creationId xmlns:a16="http://schemas.microsoft.com/office/drawing/2014/main" id="{A7C84031-A3CD-5618-A3D7-B36C4D27A32D}"/>
              </a:ext>
            </a:extLst>
          </p:cNvPr>
          <p:cNvSpPr/>
          <p:nvPr/>
        </p:nvSpPr>
        <p:spPr>
          <a:xfrm rot="5400000">
            <a:off x="1613030" y="2348175"/>
            <a:ext cx="1943350" cy="731864"/>
          </a:xfrm>
          <a:prstGeom prst="trapezoid">
            <a:avLst>
              <a:gd name="adj" fmla="val 42499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5F89A4A-6CC3-099C-2564-F107A705C683}"/>
              </a:ext>
            </a:extLst>
          </p:cNvPr>
          <p:cNvSpPr txBox="1"/>
          <p:nvPr/>
        </p:nvSpPr>
        <p:spPr>
          <a:xfrm rot="5400000">
            <a:off x="1970537" y="2567847"/>
            <a:ext cx="1244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Encoder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sp>
        <p:nvSpPr>
          <p:cNvPr id="75" name="Trapezoid 74">
            <a:extLst>
              <a:ext uri="{FF2B5EF4-FFF2-40B4-BE49-F238E27FC236}">
                <a16:creationId xmlns:a16="http://schemas.microsoft.com/office/drawing/2014/main" id="{532C59EB-2A93-ACA6-7479-FC742A84CE52}"/>
              </a:ext>
            </a:extLst>
          </p:cNvPr>
          <p:cNvSpPr/>
          <p:nvPr/>
        </p:nvSpPr>
        <p:spPr>
          <a:xfrm rot="16200000" flipH="1">
            <a:off x="3398127" y="2372953"/>
            <a:ext cx="1943350" cy="731864"/>
          </a:xfrm>
          <a:prstGeom prst="trapezoid">
            <a:avLst>
              <a:gd name="adj" fmla="val 42499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4A6AFEC-222A-B9B2-D341-E9B6E96A7509}"/>
              </a:ext>
            </a:extLst>
          </p:cNvPr>
          <p:cNvSpPr txBox="1"/>
          <p:nvPr/>
        </p:nvSpPr>
        <p:spPr>
          <a:xfrm rot="5400000">
            <a:off x="3815186" y="2522875"/>
            <a:ext cx="11475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Decoder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8D0A6B1C-D310-A146-A4A5-E6474163EC9D}"/>
              </a:ext>
            </a:extLst>
          </p:cNvPr>
          <p:cNvCxnSpPr>
            <a:cxnSpLocks/>
          </p:cNvCxnSpPr>
          <p:nvPr/>
        </p:nvCxnSpPr>
        <p:spPr>
          <a:xfrm rot="16200000" flipV="1">
            <a:off x="5555045" y="3235948"/>
            <a:ext cx="0" cy="85001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9FD161AB-96DC-BC6B-047B-4783FF2CAA5D}"/>
              </a:ext>
            </a:extLst>
          </p:cNvPr>
          <p:cNvCxnSpPr>
            <a:cxnSpLocks/>
          </p:cNvCxnSpPr>
          <p:nvPr/>
        </p:nvCxnSpPr>
        <p:spPr>
          <a:xfrm rot="16200000">
            <a:off x="4957392" y="2649471"/>
            <a:ext cx="203414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2" name="Freeform: Shape 321">
            <a:extLst>
              <a:ext uri="{FF2B5EF4-FFF2-40B4-BE49-F238E27FC236}">
                <a16:creationId xmlns:a16="http://schemas.microsoft.com/office/drawing/2014/main" id="{841D5C9A-5308-D492-E60E-CA568FC85C36}"/>
              </a:ext>
            </a:extLst>
          </p:cNvPr>
          <p:cNvSpPr/>
          <p:nvPr/>
        </p:nvSpPr>
        <p:spPr>
          <a:xfrm>
            <a:off x="5143716" y="1992990"/>
            <a:ext cx="754380" cy="1554480"/>
          </a:xfrm>
          <a:custGeom>
            <a:avLst/>
            <a:gdLst>
              <a:gd name="connsiteX0" fmla="*/ 754380 w 754380"/>
              <a:gd name="connsiteY0" fmla="*/ 1554480 h 1554480"/>
              <a:gd name="connsiteX1" fmla="*/ 613410 w 754380"/>
              <a:gd name="connsiteY1" fmla="*/ 1497330 h 1554480"/>
              <a:gd name="connsiteX2" fmla="*/ 613410 w 754380"/>
              <a:gd name="connsiteY2" fmla="*/ 1356360 h 1554480"/>
              <a:gd name="connsiteX3" fmla="*/ 491490 w 754380"/>
              <a:gd name="connsiteY3" fmla="*/ 1173480 h 1554480"/>
              <a:gd name="connsiteX4" fmla="*/ 647700 w 754380"/>
              <a:gd name="connsiteY4" fmla="*/ 1032510 h 1554480"/>
              <a:gd name="connsiteX5" fmla="*/ 502920 w 754380"/>
              <a:gd name="connsiteY5" fmla="*/ 906780 h 1554480"/>
              <a:gd name="connsiteX6" fmla="*/ 331470 w 754380"/>
              <a:gd name="connsiteY6" fmla="*/ 887730 h 1554480"/>
              <a:gd name="connsiteX7" fmla="*/ 468630 w 754380"/>
              <a:gd name="connsiteY7" fmla="*/ 689610 h 1554480"/>
              <a:gd name="connsiteX8" fmla="*/ 354330 w 754380"/>
              <a:gd name="connsiteY8" fmla="*/ 499110 h 1554480"/>
              <a:gd name="connsiteX9" fmla="*/ 106680 w 754380"/>
              <a:gd name="connsiteY9" fmla="*/ 716280 h 1554480"/>
              <a:gd name="connsiteX10" fmla="*/ 57150 w 754380"/>
              <a:gd name="connsiteY10" fmla="*/ 285750 h 1554480"/>
              <a:gd name="connsiteX11" fmla="*/ 411480 w 754380"/>
              <a:gd name="connsiteY11" fmla="*/ 186690 h 1554480"/>
              <a:gd name="connsiteX12" fmla="*/ 0 w 754380"/>
              <a:gd name="connsiteY12" fmla="*/ 0 h 1554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54380" h="1554480">
                <a:moveTo>
                  <a:pt x="754380" y="1554480"/>
                </a:moveTo>
                <a:cubicBezTo>
                  <a:pt x="695642" y="1542415"/>
                  <a:pt x="636905" y="1530350"/>
                  <a:pt x="613410" y="1497330"/>
                </a:cubicBezTo>
                <a:cubicBezTo>
                  <a:pt x="589915" y="1464310"/>
                  <a:pt x="633730" y="1410335"/>
                  <a:pt x="613410" y="1356360"/>
                </a:cubicBezTo>
                <a:cubicBezTo>
                  <a:pt x="593090" y="1302385"/>
                  <a:pt x="485775" y="1227455"/>
                  <a:pt x="491490" y="1173480"/>
                </a:cubicBezTo>
                <a:cubicBezTo>
                  <a:pt x="497205" y="1119505"/>
                  <a:pt x="645795" y="1076960"/>
                  <a:pt x="647700" y="1032510"/>
                </a:cubicBezTo>
                <a:cubicBezTo>
                  <a:pt x="649605" y="988060"/>
                  <a:pt x="555625" y="930910"/>
                  <a:pt x="502920" y="906780"/>
                </a:cubicBezTo>
                <a:cubicBezTo>
                  <a:pt x="450215" y="882650"/>
                  <a:pt x="337185" y="923925"/>
                  <a:pt x="331470" y="887730"/>
                </a:cubicBezTo>
                <a:cubicBezTo>
                  <a:pt x="325755" y="851535"/>
                  <a:pt x="464820" y="754380"/>
                  <a:pt x="468630" y="689610"/>
                </a:cubicBezTo>
                <a:cubicBezTo>
                  <a:pt x="472440" y="624840"/>
                  <a:pt x="414655" y="494665"/>
                  <a:pt x="354330" y="499110"/>
                </a:cubicBezTo>
                <a:cubicBezTo>
                  <a:pt x="294005" y="503555"/>
                  <a:pt x="156210" y="751840"/>
                  <a:pt x="106680" y="716280"/>
                </a:cubicBezTo>
                <a:cubicBezTo>
                  <a:pt x="57150" y="680720"/>
                  <a:pt x="6350" y="374015"/>
                  <a:pt x="57150" y="285750"/>
                </a:cubicBezTo>
                <a:cubicBezTo>
                  <a:pt x="107950" y="197485"/>
                  <a:pt x="421005" y="234315"/>
                  <a:pt x="411480" y="186690"/>
                </a:cubicBezTo>
                <a:cubicBezTo>
                  <a:pt x="401955" y="139065"/>
                  <a:pt x="200977" y="69532"/>
                  <a:pt x="0" y="0"/>
                </a:cubicBezTo>
              </a:path>
            </a:pathLst>
          </a:custGeom>
          <a:noFill/>
          <a:ln w="57150"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3" name="Oval 322">
            <a:extLst>
              <a:ext uri="{FF2B5EF4-FFF2-40B4-BE49-F238E27FC236}">
                <a16:creationId xmlns:a16="http://schemas.microsoft.com/office/drawing/2014/main" id="{628FF1D8-76A4-19EA-41F2-9872FD5FFFC7}"/>
              </a:ext>
            </a:extLst>
          </p:cNvPr>
          <p:cNvSpPr/>
          <p:nvPr/>
        </p:nvSpPr>
        <p:spPr>
          <a:xfrm rot="16200000">
            <a:off x="5737491" y="3320304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4" name="Oval 323">
            <a:extLst>
              <a:ext uri="{FF2B5EF4-FFF2-40B4-BE49-F238E27FC236}">
                <a16:creationId xmlns:a16="http://schemas.microsoft.com/office/drawing/2014/main" id="{42EC9D32-56C2-51F1-F0E2-9A80E7BAA1DC}"/>
              </a:ext>
            </a:extLst>
          </p:cNvPr>
          <p:cNvSpPr/>
          <p:nvPr/>
        </p:nvSpPr>
        <p:spPr>
          <a:xfrm rot="16200000">
            <a:off x="5610089" y="3133603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5" name="Oval 324">
            <a:extLst>
              <a:ext uri="{FF2B5EF4-FFF2-40B4-BE49-F238E27FC236}">
                <a16:creationId xmlns:a16="http://schemas.microsoft.com/office/drawing/2014/main" id="{8C6FA914-1D35-82ED-15F1-387C819FB8E5}"/>
              </a:ext>
            </a:extLst>
          </p:cNvPr>
          <p:cNvSpPr/>
          <p:nvPr/>
        </p:nvSpPr>
        <p:spPr>
          <a:xfrm rot="16200000">
            <a:off x="5750685" y="3000685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6" name="Oval 325">
            <a:extLst>
              <a:ext uri="{FF2B5EF4-FFF2-40B4-BE49-F238E27FC236}">
                <a16:creationId xmlns:a16="http://schemas.microsoft.com/office/drawing/2014/main" id="{0204BE8E-485A-0113-3E57-D13C3C371589}"/>
              </a:ext>
            </a:extLst>
          </p:cNvPr>
          <p:cNvSpPr/>
          <p:nvPr/>
        </p:nvSpPr>
        <p:spPr>
          <a:xfrm rot="16200000">
            <a:off x="5437728" y="2841737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7" name="Oval 326">
            <a:extLst>
              <a:ext uri="{FF2B5EF4-FFF2-40B4-BE49-F238E27FC236}">
                <a16:creationId xmlns:a16="http://schemas.microsoft.com/office/drawing/2014/main" id="{4B15C0D2-EB2E-94AE-48C1-7AFF88460C49}"/>
              </a:ext>
            </a:extLst>
          </p:cNvPr>
          <p:cNvSpPr/>
          <p:nvPr/>
        </p:nvSpPr>
        <p:spPr>
          <a:xfrm rot="16200000">
            <a:off x="5610089" y="2860051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8" name="Oval 327">
            <a:extLst>
              <a:ext uri="{FF2B5EF4-FFF2-40B4-BE49-F238E27FC236}">
                <a16:creationId xmlns:a16="http://schemas.microsoft.com/office/drawing/2014/main" id="{82131018-1D9C-C1FA-C5A3-AEA74F00C1C6}"/>
              </a:ext>
            </a:extLst>
          </p:cNvPr>
          <p:cNvSpPr/>
          <p:nvPr/>
        </p:nvSpPr>
        <p:spPr>
          <a:xfrm rot="16200000">
            <a:off x="5578744" y="2652836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9" name="Oval 328">
            <a:extLst>
              <a:ext uri="{FF2B5EF4-FFF2-40B4-BE49-F238E27FC236}">
                <a16:creationId xmlns:a16="http://schemas.microsoft.com/office/drawing/2014/main" id="{97A6E4A0-2127-0992-B944-DCF0B0107901}"/>
              </a:ext>
            </a:extLst>
          </p:cNvPr>
          <p:cNvSpPr/>
          <p:nvPr/>
        </p:nvSpPr>
        <p:spPr>
          <a:xfrm rot="16200000">
            <a:off x="5228159" y="2690607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0" name="Oval 329">
            <a:extLst>
              <a:ext uri="{FF2B5EF4-FFF2-40B4-BE49-F238E27FC236}">
                <a16:creationId xmlns:a16="http://schemas.microsoft.com/office/drawing/2014/main" id="{0F041567-0939-64BF-B5FF-11729DADE457}"/>
              </a:ext>
            </a:extLst>
          </p:cNvPr>
          <p:cNvSpPr/>
          <p:nvPr/>
        </p:nvSpPr>
        <p:spPr>
          <a:xfrm rot="16200000">
            <a:off x="5471865" y="2456796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1" name="Oval 330">
            <a:extLst>
              <a:ext uri="{FF2B5EF4-FFF2-40B4-BE49-F238E27FC236}">
                <a16:creationId xmlns:a16="http://schemas.microsoft.com/office/drawing/2014/main" id="{0A0319F9-2AFF-8CDE-69E6-A16FB00C133F}"/>
              </a:ext>
            </a:extLst>
          </p:cNvPr>
          <p:cNvSpPr/>
          <p:nvPr/>
        </p:nvSpPr>
        <p:spPr>
          <a:xfrm rot="16200000">
            <a:off x="5185714" y="2246888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2" name="Oval 331">
            <a:extLst>
              <a:ext uri="{FF2B5EF4-FFF2-40B4-BE49-F238E27FC236}">
                <a16:creationId xmlns:a16="http://schemas.microsoft.com/office/drawing/2014/main" id="{12CA7400-0E6E-3443-5F2C-D096A3B1FAA6}"/>
              </a:ext>
            </a:extLst>
          </p:cNvPr>
          <p:cNvSpPr/>
          <p:nvPr/>
        </p:nvSpPr>
        <p:spPr>
          <a:xfrm rot="16200000">
            <a:off x="5534554" y="2138177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3" name="Oval 332">
            <a:extLst>
              <a:ext uri="{FF2B5EF4-FFF2-40B4-BE49-F238E27FC236}">
                <a16:creationId xmlns:a16="http://schemas.microsoft.com/office/drawing/2014/main" id="{6C99C882-3E42-8401-D0AE-B6A526FA0DE1}"/>
              </a:ext>
            </a:extLst>
          </p:cNvPr>
          <p:cNvSpPr/>
          <p:nvPr/>
        </p:nvSpPr>
        <p:spPr>
          <a:xfrm rot="16200000">
            <a:off x="5845731" y="3506332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4" name="Oval 333">
            <a:extLst>
              <a:ext uri="{FF2B5EF4-FFF2-40B4-BE49-F238E27FC236}">
                <a16:creationId xmlns:a16="http://schemas.microsoft.com/office/drawing/2014/main" id="{924534F8-FD00-D04C-919B-8C4597610056}"/>
              </a:ext>
            </a:extLst>
          </p:cNvPr>
          <p:cNvSpPr/>
          <p:nvPr/>
        </p:nvSpPr>
        <p:spPr>
          <a:xfrm rot="16200000">
            <a:off x="5235906" y="2007837"/>
            <a:ext cx="62689" cy="626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5" name="TextBox 334">
            <a:extLst>
              <a:ext uri="{FF2B5EF4-FFF2-40B4-BE49-F238E27FC236}">
                <a16:creationId xmlns:a16="http://schemas.microsoft.com/office/drawing/2014/main" id="{D180D670-4CB9-070E-AC18-89343447148F}"/>
              </a:ext>
            </a:extLst>
          </p:cNvPr>
          <p:cNvSpPr txBox="1"/>
          <p:nvPr/>
        </p:nvSpPr>
        <p:spPr>
          <a:xfrm>
            <a:off x="6648742" y="1600556"/>
            <a:ext cx="48493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Encoder/ Decoder learns a low dimensional manifold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 Rounded MT Bold" panose="020F0704030504030204" pitchFamily="34" charset="77"/>
              <a:sym typeface="Wingdings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Map data        to points on the manifold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457" name="Picture 456">
            <a:extLst>
              <a:ext uri="{FF2B5EF4-FFF2-40B4-BE49-F238E27FC236}">
                <a16:creationId xmlns:a16="http://schemas.microsoft.com/office/drawing/2014/main" id="{8BED2F7A-1599-AB58-A6B3-9641D0918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773" y="2469542"/>
            <a:ext cx="313431" cy="242387"/>
          </a:xfrm>
          <a:prstGeom prst="rect">
            <a:avLst/>
          </a:prstGeom>
        </p:spPr>
      </p:pic>
      <p:pic>
        <p:nvPicPr>
          <p:cNvPr id="459" name="Picture 458">
            <a:extLst>
              <a:ext uri="{FF2B5EF4-FFF2-40B4-BE49-F238E27FC236}">
                <a16:creationId xmlns:a16="http://schemas.microsoft.com/office/drawing/2014/main" id="{BD77FA12-5BD7-DFAD-6344-A65F893AD6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8806" y="2448219"/>
            <a:ext cx="242387" cy="2423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7B7EBB-38AC-6509-609E-16E3B8FCF526}"/>
              </a:ext>
            </a:extLst>
          </p:cNvPr>
          <p:cNvSpPr txBox="1"/>
          <p:nvPr/>
        </p:nvSpPr>
        <p:spPr>
          <a:xfrm>
            <a:off x="6657796" y="2905293"/>
            <a:ext cx="54628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39725" indent="-339725"/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77"/>
                <a:sym typeface="Wingdings" pitchFamily="2" charset="2"/>
              </a:rPr>
              <a:t>! </a:t>
            </a:r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   AE can do ANY mapping if the reconstruction is good!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9C7A0E-4E8C-9D41-99C2-58B4DA25E5C8}"/>
              </a:ext>
            </a:extLst>
          </p:cNvPr>
          <p:cNvSpPr txBox="1"/>
          <p:nvPr/>
        </p:nvSpPr>
        <p:spPr>
          <a:xfrm>
            <a:off x="1002452" y="805988"/>
            <a:ext cx="66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AE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908FFE8-6A53-C947-865B-1891C5D888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4839" y="1302755"/>
            <a:ext cx="941222" cy="26753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37BACB8-FB9C-9D55-CAB8-3043E34669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3662" y="1272818"/>
            <a:ext cx="941223" cy="27604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C4A6B55-FD69-057F-26D2-130F62CD4B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8832" y="1272818"/>
            <a:ext cx="950592" cy="278795"/>
          </a:xfrm>
          <a:prstGeom prst="rect">
            <a:avLst/>
          </a:pr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5586082-D58B-E409-61ED-A7FED3D968A1}"/>
              </a:ext>
            </a:extLst>
          </p:cNvPr>
          <p:cNvSpPr/>
          <p:nvPr/>
        </p:nvSpPr>
        <p:spPr>
          <a:xfrm>
            <a:off x="1566153" y="2237813"/>
            <a:ext cx="1838528" cy="1041085"/>
          </a:xfrm>
          <a:custGeom>
            <a:avLst/>
            <a:gdLst>
              <a:gd name="connsiteX0" fmla="*/ 0 w 1838528"/>
              <a:gd name="connsiteY0" fmla="*/ 18383 h 1041085"/>
              <a:gd name="connsiteX1" fmla="*/ 515566 w 1838528"/>
              <a:gd name="connsiteY1" fmla="*/ 115660 h 1041085"/>
              <a:gd name="connsiteX2" fmla="*/ 1332690 w 1838528"/>
              <a:gd name="connsiteY2" fmla="*/ 893873 h 1041085"/>
              <a:gd name="connsiteX3" fmla="*/ 1838528 w 1838528"/>
              <a:gd name="connsiteY3" fmla="*/ 1039787 h 1041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38528" h="1041085">
                <a:moveTo>
                  <a:pt x="0" y="18383"/>
                </a:moveTo>
                <a:cubicBezTo>
                  <a:pt x="146725" y="-5936"/>
                  <a:pt x="293451" y="-30255"/>
                  <a:pt x="515566" y="115660"/>
                </a:cubicBezTo>
                <a:cubicBezTo>
                  <a:pt x="737681" y="261575"/>
                  <a:pt x="1112196" y="739852"/>
                  <a:pt x="1332690" y="893873"/>
                </a:cubicBezTo>
                <a:cubicBezTo>
                  <a:pt x="1553184" y="1047894"/>
                  <a:pt x="1695856" y="1043840"/>
                  <a:pt x="1838528" y="1039787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5C8EDEB3-F285-E18B-9C84-3067F07389D3}"/>
              </a:ext>
            </a:extLst>
          </p:cNvPr>
          <p:cNvSpPr/>
          <p:nvPr/>
        </p:nvSpPr>
        <p:spPr>
          <a:xfrm>
            <a:off x="1799617" y="2524375"/>
            <a:ext cx="1595336" cy="558672"/>
          </a:xfrm>
          <a:custGeom>
            <a:avLst/>
            <a:gdLst>
              <a:gd name="connsiteX0" fmla="*/ 0 w 1595336"/>
              <a:gd name="connsiteY0" fmla="*/ 558672 h 558672"/>
              <a:gd name="connsiteX1" fmla="*/ 544749 w 1595336"/>
              <a:gd name="connsiteY1" fmla="*/ 373847 h 558672"/>
              <a:gd name="connsiteX2" fmla="*/ 1186774 w 1595336"/>
              <a:gd name="connsiteY2" fmla="*/ 43106 h 558672"/>
              <a:gd name="connsiteX3" fmla="*/ 1595336 w 1595336"/>
              <a:gd name="connsiteY3" fmla="*/ 13923 h 558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95336" h="558672">
                <a:moveTo>
                  <a:pt x="0" y="558672"/>
                </a:moveTo>
                <a:cubicBezTo>
                  <a:pt x="173476" y="509223"/>
                  <a:pt x="346953" y="459775"/>
                  <a:pt x="544749" y="373847"/>
                </a:cubicBezTo>
                <a:cubicBezTo>
                  <a:pt x="742545" y="287919"/>
                  <a:pt x="1011676" y="103093"/>
                  <a:pt x="1186774" y="43106"/>
                </a:cubicBezTo>
                <a:cubicBezTo>
                  <a:pt x="1361872" y="-16881"/>
                  <a:pt x="1478604" y="-1479"/>
                  <a:pt x="1595336" y="13923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01B6AEC-D64D-3D5F-731D-B9D61EEDE202}"/>
              </a:ext>
            </a:extLst>
          </p:cNvPr>
          <p:cNvSpPr/>
          <p:nvPr/>
        </p:nvSpPr>
        <p:spPr>
          <a:xfrm>
            <a:off x="1809345" y="2154570"/>
            <a:ext cx="1585608" cy="1283023"/>
          </a:xfrm>
          <a:custGeom>
            <a:avLst/>
            <a:gdLst>
              <a:gd name="connsiteX0" fmla="*/ 0 w 1585608"/>
              <a:gd name="connsiteY0" fmla="*/ 1278673 h 1283023"/>
              <a:gd name="connsiteX1" fmla="*/ 739302 w 1585608"/>
              <a:gd name="connsiteY1" fmla="*/ 1113303 h 1283023"/>
              <a:gd name="connsiteX2" fmla="*/ 1361872 w 1585608"/>
              <a:gd name="connsiteY2" fmla="*/ 169720 h 1283023"/>
              <a:gd name="connsiteX3" fmla="*/ 1585608 w 1585608"/>
              <a:gd name="connsiteY3" fmla="*/ 4350 h 1283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5608" h="1283023">
                <a:moveTo>
                  <a:pt x="0" y="1278673"/>
                </a:moveTo>
                <a:cubicBezTo>
                  <a:pt x="256161" y="1288400"/>
                  <a:pt x="512323" y="1298128"/>
                  <a:pt x="739302" y="1113303"/>
                </a:cubicBezTo>
                <a:cubicBezTo>
                  <a:pt x="966281" y="928478"/>
                  <a:pt x="1220821" y="354546"/>
                  <a:pt x="1361872" y="169720"/>
                </a:cubicBezTo>
                <a:cubicBezTo>
                  <a:pt x="1502923" y="-15106"/>
                  <a:pt x="1544265" y="-5378"/>
                  <a:pt x="1585608" y="4350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3335F2E-2C9F-2808-4C2E-9FDB0C8FB183}"/>
              </a:ext>
            </a:extLst>
          </p:cNvPr>
          <p:cNvSpPr/>
          <p:nvPr/>
        </p:nvSpPr>
        <p:spPr>
          <a:xfrm>
            <a:off x="3618689" y="2146743"/>
            <a:ext cx="1852769" cy="1195668"/>
          </a:xfrm>
          <a:custGeom>
            <a:avLst/>
            <a:gdLst>
              <a:gd name="connsiteX0" fmla="*/ 0 w 1852769"/>
              <a:gd name="connsiteY0" fmla="*/ 1150313 h 1195668"/>
              <a:gd name="connsiteX1" fmla="*/ 525294 w 1852769"/>
              <a:gd name="connsiteY1" fmla="*/ 1072492 h 1195668"/>
              <a:gd name="connsiteX2" fmla="*/ 1274324 w 1852769"/>
              <a:gd name="connsiteY2" fmla="*/ 99726 h 1195668"/>
              <a:gd name="connsiteX3" fmla="*/ 1780162 w 1852769"/>
              <a:gd name="connsiteY3" fmla="*/ 21904 h 1195668"/>
              <a:gd name="connsiteX4" fmla="*/ 1838528 w 1852769"/>
              <a:gd name="connsiteY4" fmla="*/ 12177 h 1195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52769" h="1195668">
                <a:moveTo>
                  <a:pt x="0" y="1150313"/>
                </a:moveTo>
                <a:cubicBezTo>
                  <a:pt x="156453" y="1198951"/>
                  <a:pt x="312907" y="1247590"/>
                  <a:pt x="525294" y="1072492"/>
                </a:cubicBezTo>
                <a:cubicBezTo>
                  <a:pt x="737681" y="897394"/>
                  <a:pt x="1065179" y="274824"/>
                  <a:pt x="1274324" y="99726"/>
                </a:cubicBezTo>
                <a:cubicBezTo>
                  <a:pt x="1483469" y="-75372"/>
                  <a:pt x="1686128" y="36496"/>
                  <a:pt x="1780162" y="21904"/>
                </a:cubicBezTo>
                <a:cubicBezTo>
                  <a:pt x="1874196" y="7312"/>
                  <a:pt x="1856362" y="9744"/>
                  <a:pt x="1838528" y="12177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2C0CCA3-35BA-ABDE-0AA1-058EDEBA624E}"/>
              </a:ext>
            </a:extLst>
          </p:cNvPr>
          <p:cNvSpPr/>
          <p:nvPr/>
        </p:nvSpPr>
        <p:spPr>
          <a:xfrm>
            <a:off x="3579779" y="2556414"/>
            <a:ext cx="2091447" cy="498789"/>
          </a:xfrm>
          <a:custGeom>
            <a:avLst/>
            <a:gdLst>
              <a:gd name="connsiteX0" fmla="*/ 0 w 2091447"/>
              <a:gd name="connsiteY0" fmla="*/ 40250 h 498789"/>
              <a:gd name="connsiteX1" fmla="*/ 476655 w 2091447"/>
              <a:gd name="connsiteY1" fmla="*/ 40250 h 498789"/>
              <a:gd name="connsiteX2" fmla="*/ 1634247 w 2091447"/>
              <a:gd name="connsiteY2" fmla="*/ 458540 h 498789"/>
              <a:gd name="connsiteX3" fmla="*/ 2091447 w 2091447"/>
              <a:gd name="connsiteY3" fmla="*/ 458540 h 498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91447" h="498789">
                <a:moveTo>
                  <a:pt x="0" y="40250"/>
                </a:moveTo>
                <a:cubicBezTo>
                  <a:pt x="102140" y="5392"/>
                  <a:pt x="204281" y="-29465"/>
                  <a:pt x="476655" y="40250"/>
                </a:cubicBezTo>
                <a:cubicBezTo>
                  <a:pt x="749029" y="109965"/>
                  <a:pt x="1365115" y="388825"/>
                  <a:pt x="1634247" y="458540"/>
                </a:cubicBezTo>
                <a:cubicBezTo>
                  <a:pt x="1903379" y="528255"/>
                  <a:pt x="1997413" y="493397"/>
                  <a:pt x="2091447" y="458540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BB8ECE04-5872-5F2D-D5C3-ED7269FD48D3}"/>
              </a:ext>
            </a:extLst>
          </p:cNvPr>
          <p:cNvSpPr/>
          <p:nvPr/>
        </p:nvSpPr>
        <p:spPr>
          <a:xfrm>
            <a:off x="3638145" y="2158920"/>
            <a:ext cx="2042808" cy="1270080"/>
          </a:xfrm>
          <a:custGeom>
            <a:avLst/>
            <a:gdLst>
              <a:gd name="connsiteX0" fmla="*/ 0 w 2042808"/>
              <a:gd name="connsiteY0" fmla="*/ 0 h 1270080"/>
              <a:gd name="connsiteX1" fmla="*/ 603115 w 2042808"/>
              <a:gd name="connsiteY1" fmla="*/ 155642 h 1270080"/>
              <a:gd name="connsiteX2" fmla="*/ 1254868 w 2042808"/>
              <a:gd name="connsiteY2" fmla="*/ 466927 h 1270080"/>
              <a:gd name="connsiteX3" fmla="*/ 1780161 w 2042808"/>
              <a:gd name="connsiteY3" fmla="*/ 1186774 h 1270080"/>
              <a:gd name="connsiteX4" fmla="*/ 2042808 w 2042808"/>
              <a:gd name="connsiteY4" fmla="*/ 1225685 h 1270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42808" h="1270080">
                <a:moveTo>
                  <a:pt x="0" y="0"/>
                </a:moveTo>
                <a:cubicBezTo>
                  <a:pt x="196985" y="38910"/>
                  <a:pt x="393970" y="77821"/>
                  <a:pt x="603115" y="155642"/>
                </a:cubicBezTo>
                <a:cubicBezTo>
                  <a:pt x="812260" y="233463"/>
                  <a:pt x="1058694" y="295072"/>
                  <a:pt x="1254868" y="466927"/>
                </a:cubicBezTo>
                <a:cubicBezTo>
                  <a:pt x="1451042" y="638782"/>
                  <a:pt x="1648838" y="1060314"/>
                  <a:pt x="1780161" y="1186774"/>
                </a:cubicBezTo>
                <a:cubicBezTo>
                  <a:pt x="1911484" y="1313234"/>
                  <a:pt x="1977146" y="1269459"/>
                  <a:pt x="2042808" y="1225685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010D2E-D981-E6C2-F009-60662AFCE72A}"/>
              </a:ext>
            </a:extLst>
          </p:cNvPr>
          <p:cNvSpPr txBox="1"/>
          <p:nvPr/>
        </p:nvSpPr>
        <p:spPr>
          <a:xfrm>
            <a:off x="1137209" y="4059497"/>
            <a:ext cx="90476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39725" indent="-339725"/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Good for compression, but bad for if we want new samples - Generation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B78245-F79F-78B3-9A8D-1B4D946D391F}"/>
              </a:ext>
            </a:extLst>
          </p:cNvPr>
          <p:cNvSpPr txBox="1"/>
          <p:nvPr/>
        </p:nvSpPr>
        <p:spPr>
          <a:xfrm>
            <a:off x="1147400" y="4913360"/>
            <a:ext cx="89207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39725" indent="-339725"/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Ideally… if		        ,we want     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13C4526-D2C2-8CC2-22A9-03E76F5E32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84706" y="4938299"/>
            <a:ext cx="1783014" cy="32312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74E4F41-F59D-04E5-F90A-4E49843ECA6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80953" y="4925679"/>
            <a:ext cx="3234555" cy="318845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DF7D84DC-60D6-27C1-701B-2741A33E0C18}"/>
              </a:ext>
            </a:extLst>
          </p:cNvPr>
          <p:cNvSpPr txBox="1"/>
          <p:nvPr/>
        </p:nvSpPr>
        <p:spPr>
          <a:xfrm>
            <a:off x="1157535" y="5328998"/>
            <a:ext cx="92607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39725" indent="-339725"/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We can call                            generated data… But AE does not guarantee this! 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F6EBEDBA-9090-542F-228F-EDD2AF3C962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83228" y="5367841"/>
            <a:ext cx="1207836" cy="316247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13CD383D-EA41-4A33-2517-111B6548934B}"/>
              </a:ext>
            </a:extLst>
          </p:cNvPr>
          <p:cNvGrpSpPr/>
          <p:nvPr/>
        </p:nvGrpSpPr>
        <p:grpSpPr>
          <a:xfrm rot="17501103">
            <a:off x="2575828" y="2329254"/>
            <a:ext cx="1879499" cy="778489"/>
            <a:chOff x="6269193" y="2041898"/>
            <a:chExt cx="3250387" cy="1346558"/>
          </a:xfrm>
        </p:grpSpPr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30F26B50-A881-8D33-3461-BC5340A763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69193" y="2041898"/>
              <a:ext cx="3250387" cy="1293813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Multiplication Sign 45">
              <a:extLst>
                <a:ext uri="{FF2B5EF4-FFF2-40B4-BE49-F238E27FC236}">
                  <a16:creationId xmlns:a16="http://schemas.microsoft.com/office/drawing/2014/main" id="{18C68CB8-E08C-C302-C35E-92A5A38DBD33}"/>
                </a:ext>
              </a:extLst>
            </p:cNvPr>
            <p:cNvSpPr/>
            <p:nvPr/>
          </p:nvSpPr>
          <p:spPr>
            <a:xfrm>
              <a:off x="8561506" y="2298352"/>
              <a:ext cx="159929" cy="173039"/>
            </a:xfrm>
            <a:prstGeom prst="mathMultiply">
              <a:avLst/>
            </a:prstGeom>
            <a:solidFill>
              <a:schemeClr val="accent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Multiplication Sign 46">
              <a:extLst>
                <a:ext uri="{FF2B5EF4-FFF2-40B4-BE49-F238E27FC236}">
                  <a16:creationId xmlns:a16="http://schemas.microsoft.com/office/drawing/2014/main" id="{C0088878-1AFD-8198-7433-9D69096040EE}"/>
                </a:ext>
              </a:extLst>
            </p:cNvPr>
            <p:cNvSpPr/>
            <p:nvPr/>
          </p:nvSpPr>
          <p:spPr>
            <a:xfrm>
              <a:off x="8491670" y="2344996"/>
              <a:ext cx="159929" cy="173039"/>
            </a:xfrm>
            <a:prstGeom prst="mathMultiply">
              <a:avLst/>
            </a:prstGeom>
            <a:solidFill>
              <a:schemeClr val="accent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Multiplication Sign 48">
              <a:extLst>
                <a:ext uri="{FF2B5EF4-FFF2-40B4-BE49-F238E27FC236}">
                  <a16:creationId xmlns:a16="http://schemas.microsoft.com/office/drawing/2014/main" id="{22FF9F05-22DB-5ECE-D5BF-E6C00AA674A2}"/>
                </a:ext>
              </a:extLst>
            </p:cNvPr>
            <p:cNvSpPr/>
            <p:nvPr/>
          </p:nvSpPr>
          <p:spPr>
            <a:xfrm>
              <a:off x="7894632" y="2566431"/>
              <a:ext cx="159929" cy="173039"/>
            </a:xfrm>
            <a:prstGeom prst="mathMultiply">
              <a:avLst/>
            </a:prstGeom>
            <a:solidFill>
              <a:schemeClr val="accent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Multiplication Sign 52">
              <a:extLst>
                <a:ext uri="{FF2B5EF4-FFF2-40B4-BE49-F238E27FC236}">
                  <a16:creationId xmlns:a16="http://schemas.microsoft.com/office/drawing/2014/main" id="{BB1ABF52-7B95-DFDD-7DC5-AEF3C146BA7E}"/>
                </a:ext>
              </a:extLst>
            </p:cNvPr>
            <p:cNvSpPr/>
            <p:nvPr/>
          </p:nvSpPr>
          <p:spPr>
            <a:xfrm>
              <a:off x="7714231" y="2645334"/>
              <a:ext cx="159929" cy="173039"/>
            </a:xfrm>
            <a:prstGeom prst="mathMultiply">
              <a:avLst/>
            </a:prstGeom>
            <a:solidFill>
              <a:schemeClr val="accent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Multiplication Sign 53">
              <a:extLst>
                <a:ext uri="{FF2B5EF4-FFF2-40B4-BE49-F238E27FC236}">
                  <a16:creationId xmlns:a16="http://schemas.microsoft.com/office/drawing/2014/main" id="{1E054116-6EBE-6899-3B17-0AFB13A0EE11}"/>
                </a:ext>
              </a:extLst>
            </p:cNvPr>
            <p:cNvSpPr/>
            <p:nvPr/>
          </p:nvSpPr>
          <p:spPr>
            <a:xfrm>
              <a:off x="7537637" y="2703138"/>
              <a:ext cx="159929" cy="173039"/>
            </a:xfrm>
            <a:prstGeom prst="mathMultiply">
              <a:avLst/>
            </a:prstGeom>
            <a:solidFill>
              <a:schemeClr val="accent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Multiplication Sign 55">
              <a:extLst>
                <a:ext uri="{FF2B5EF4-FFF2-40B4-BE49-F238E27FC236}">
                  <a16:creationId xmlns:a16="http://schemas.microsoft.com/office/drawing/2014/main" id="{53AC8E86-F9ED-464A-0B19-8BB1B3992CB3}"/>
                </a:ext>
              </a:extLst>
            </p:cNvPr>
            <p:cNvSpPr/>
            <p:nvPr/>
          </p:nvSpPr>
          <p:spPr>
            <a:xfrm>
              <a:off x="7018074" y="2923249"/>
              <a:ext cx="159929" cy="173039"/>
            </a:xfrm>
            <a:prstGeom prst="mathMultiply">
              <a:avLst/>
            </a:prstGeom>
            <a:solidFill>
              <a:schemeClr val="accent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Multiplication Sign 56">
              <a:extLst>
                <a:ext uri="{FF2B5EF4-FFF2-40B4-BE49-F238E27FC236}">
                  <a16:creationId xmlns:a16="http://schemas.microsoft.com/office/drawing/2014/main" id="{B6A6811C-F2C4-42B1-0273-249E3E31FEB8}"/>
                </a:ext>
              </a:extLst>
            </p:cNvPr>
            <p:cNvSpPr/>
            <p:nvPr/>
          </p:nvSpPr>
          <p:spPr>
            <a:xfrm>
              <a:off x="7128373" y="2883274"/>
              <a:ext cx="159929" cy="173039"/>
            </a:xfrm>
            <a:prstGeom prst="mathMultiply">
              <a:avLst/>
            </a:prstGeom>
            <a:solidFill>
              <a:schemeClr val="accent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Multiplication Sign 58">
              <a:extLst>
                <a:ext uri="{FF2B5EF4-FFF2-40B4-BE49-F238E27FC236}">
                  <a16:creationId xmlns:a16="http://schemas.microsoft.com/office/drawing/2014/main" id="{FCA64564-1317-58D0-5B03-E6B2F3378D0B}"/>
                </a:ext>
              </a:extLst>
            </p:cNvPr>
            <p:cNvSpPr/>
            <p:nvPr/>
          </p:nvSpPr>
          <p:spPr>
            <a:xfrm>
              <a:off x="6647918" y="3052426"/>
              <a:ext cx="159929" cy="173039"/>
            </a:xfrm>
            <a:prstGeom prst="mathMultiply">
              <a:avLst/>
            </a:prstGeom>
            <a:solidFill>
              <a:schemeClr val="accent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Multiplication Sign 59">
              <a:extLst>
                <a:ext uri="{FF2B5EF4-FFF2-40B4-BE49-F238E27FC236}">
                  <a16:creationId xmlns:a16="http://schemas.microsoft.com/office/drawing/2014/main" id="{7225FFAE-9935-882F-220C-BD32674E2843}"/>
                </a:ext>
              </a:extLst>
            </p:cNvPr>
            <p:cNvSpPr/>
            <p:nvPr/>
          </p:nvSpPr>
          <p:spPr>
            <a:xfrm>
              <a:off x="6303650" y="3215417"/>
              <a:ext cx="159929" cy="173039"/>
            </a:xfrm>
            <a:prstGeom prst="mathMultiply">
              <a:avLst/>
            </a:prstGeom>
            <a:solidFill>
              <a:schemeClr val="accent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Multiplication Sign 60">
              <a:extLst>
                <a:ext uri="{FF2B5EF4-FFF2-40B4-BE49-F238E27FC236}">
                  <a16:creationId xmlns:a16="http://schemas.microsoft.com/office/drawing/2014/main" id="{6EC307A2-6A8B-6055-74B2-AAA76299B53B}"/>
                </a:ext>
              </a:extLst>
            </p:cNvPr>
            <p:cNvSpPr/>
            <p:nvPr/>
          </p:nvSpPr>
          <p:spPr>
            <a:xfrm>
              <a:off x="8856466" y="2177844"/>
              <a:ext cx="159929" cy="173039"/>
            </a:xfrm>
            <a:prstGeom prst="mathMultiply">
              <a:avLst/>
            </a:prstGeom>
            <a:solidFill>
              <a:schemeClr val="accent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Multiplication Sign 61">
              <a:extLst>
                <a:ext uri="{FF2B5EF4-FFF2-40B4-BE49-F238E27FC236}">
                  <a16:creationId xmlns:a16="http://schemas.microsoft.com/office/drawing/2014/main" id="{86A993B0-ECE5-D636-7C78-C1F87232342E}"/>
                </a:ext>
              </a:extLst>
            </p:cNvPr>
            <p:cNvSpPr/>
            <p:nvPr/>
          </p:nvSpPr>
          <p:spPr>
            <a:xfrm>
              <a:off x="8082038" y="2498966"/>
              <a:ext cx="159929" cy="173039"/>
            </a:xfrm>
            <a:prstGeom prst="mathMultiply">
              <a:avLst/>
            </a:prstGeom>
            <a:solidFill>
              <a:schemeClr val="accent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956022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E25EC-A824-287A-28BA-439BB7E54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A8ECDE0-84FE-2847-8EFE-376E9DBFE620}"/>
              </a:ext>
            </a:extLst>
          </p:cNvPr>
          <p:cNvSpPr txBox="1"/>
          <p:nvPr/>
        </p:nvSpPr>
        <p:spPr>
          <a:xfrm>
            <a:off x="276411" y="260293"/>
            <a:ext cx="3744167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Auto Encoder (AE) Visualization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E40A91-2041-5BFA-A830-FB65A3C7388B}"/>
              </a:ext>
            </a:extLst>
          </p:cNvPr>
          <p:cNvSpPr txBox="1"/>
          <p:nvPr/>
        </p:nvSpPr>
        <p:spPr>
          <a:xfrm>
            <a:off x="683894" y="980924"/>
            <a:ext cx="7068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Example: Encode moon phases of different dates to 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7ED68B29-BACC-3829-2008-DD913C5E5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5361" y="1013840"/>
            <a:ext cx="803519" cy="239269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7EC8640D-C98B-0921-59D6-5287346A1D2A}"/>
              </a:ext>
            </a:extLst>
          </p:cNvPr>
          <p:cNvGrpSpPr/>
          <p:nvPr/>
        </p:nvGrpSpPr>
        <p:grpSpPr>
          <a:xfrm>
            <a:off x="855751" y="1505327"/>
            <a:ext cx="7440297" cy="2062452"/>
            <a:chOff x="855751" y="4255124"/>
            <a:chExt cx="7440297" cy="2062452"/>
          </a:xfrm>
        </p:grpSpPr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BC29F238-4B33-A03F-354D-8F390BEB08FA}"/>
                </a:ext>
              </a:extLst>
            </p:cNvPr>
            <p:cNvGrpSpPr/>
            <p:nvPr/>
          </p:nvGrpSpPr>
          <p:grpSpPr>
            <a:xfrm>
              <a:off x="855751" y="4606047"/>
              <a:ext cx="444719" cy="1456436"/>
              <a:chOff x="855751" y="4606047"/>
              <a:chExt cx="444719" cy="1456436"/>
            </a:xfrm>
          </p:grpSpPr>
          <p:pic>
            <p:nvPicPr>
              <p:cNvPr id="99" name="Picture 98">
                <a:extLst>
                  <a:ext uri="{FF2B5EF4-FFF2-40B4-BE49-F238E27FC236}">
                    <a16:creationId xmlns:a16="http://schemas.microsoft.com/office/drawing/2014/main" id="{1E3B8A77-4348-CBC2-A2D0-2A72BC54C5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73132" y="5652527"/>
                <a:ext cx="409956" cy="409956"/>
              </a:xfrm>
              <a:prstGeom prst="rect">
                <a:avLst/>
              </a:prstGeom>
            </p:spPr>
          </p:pic>
          <p:pic>
            <p:nvPicPr>
              <p:cNvPr id="100" name="Picture 99">
                <a:extLst>
                  <a:ext uri="{FF2B5EF4-FFF2-40B4-BE49-F238E27FC236}">
                    <a16:creationId xmlns:a16="http://schemas.microsoft.com/office/drawing/2014/main" id="{3A9940F8-1087-4228-DF16-C37F4E9F35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55751" y="4606047"/>
                <a:ext cx="444719" cy="343916"/>
              </a:xfrm>
              <a:prstGeom prst="rect">
                <a:avLst/>
              </a:prstGeom>
            </p:spPr>
          </p:pic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C64B0F3A-A81C-FB02-8485-874DD80408D0}"/>
                </a:ext>
              </a:extLst>
            </p:cNvPr>
            <p:cNvGrpSpPr/>
            <p:nvPr/>
          </p:nvGrpSpPr>
          <p:grpSpPr>
            <a:xfrm>
              <a:off x="2010470" y="4431803"/>
              <a:ext cx="6285578" cy="1425702"/>
              <a:chOff x="2010470" y="4431803"/>
              <a:chExt cx="6285578" cy="1425702"/>
            </a:xfrm>
          </p:grpSpPr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562F99BD-2BF6-5614-682A-9AA78E068094}"/>
                  </a:ext>
                </a:extLst>
              </p:cNvPr>
              <p:cNvSpPr/>
              <p:nvPr/>
            </p:nvSpPr>
            <p:spPr>
              <a:xfrm>
                <a:off x="2010470" y="4462283"/>
                <a:ext cx="619760" cy="61976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2DEFDB75-A3CC-913D-C479-CA9BF9FC50CC}"/>
                  </a:ext>
                </a:extLst>
              </p:cNvPr>
              <p:cNvSpPr/>
              <p:nvPr/>
            </p:nvSpPr>
            <p:spPr>
              <a:xfrm>
                <a:off x="3189030" y="4462283"/>
                <a:ext cx="619760" cy="61976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" name="Moon 86">
                <a:extLst>
                  <a:ext uri="{FF2B5EF4-FFF2-40B4-BE49-F238E27FC236}">
                    <a16:creationId xmlns:a16="http://schemas.microsoft.com/office/drawing/2014/main" id="{7F77F541-C0B3-02D2-DBB6-99BBBD2144CA}"/>
                  </a:ext>
                </a:extLst>
              </p:cNvPr>
              <p:cNvSpPr/>
              <p:nvPr/>
            </p:nvSpPr>
            <p:spPr>
              <a:xfrm>
                <a:off x="3189030" y="4452123"/>
                <a:ext cx="333885" cy="619760"/>
              </a:xfrm>
              <a:prstGeom prst="moon">
                <a:avLst>
                  <a:gd name="adj" fmla="val 33356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803AB674-FB7A-2CED-5250-A6C7E6B080A9}"/>
                  </a:ext>
                </a:extLst>
              </p:cNvPr>
              <p:cNvSpPr/>
              <p:nvPr/>
            </p:nvSpPr>
            <p:spPr>
              <a:xfrm>
                <a:off x="4367590" y="4441963"/>
                <a:ext cx="619760" cy="61976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Moon 88">
                <a:extLst>
                  <a:ext uri="{FF2B5EF4-FFF2-40B4-BE49-F238E27FC236}">
                    <a16:creationId xmlns:a16="http://schemas.microsoft.com/office/drawing/2014/main" id="{D4D052B8-5371-9FA8-5A31-C962551A8C38}"/>
                  </a:ext>
                </a:extLst>
              </p:cNvPr>
              <p:cNvSpPr/>
              <p:nvPr/>
            </p:nvSpPr>
            <p:spPr>
              <a:xfrm>
                <a:off x="4367590" y="4431803"/>
                <a:ext cx="333885" cy="619760"/>
              </a:xfrm>
              <a:prstGeom prst="moon">
                <a:avLst>
                  <a:gd name="adj" fmla="val 79001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700448B1-42AE-7AE8-F956-C6608BD4A4FF}"/>
                  </a:ext>
                </a:extLst>
              </p:cNvPr>
              <p:cNvSpPr/>
              <p:nvPr/>
            </p:nvSpPr>
            <p:spPr>
              <a:xfrm>
                <a:off x="6780936" y="4441963"/>
                <a:ext cx="619760" cy="61976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01A610BF-75A0-5D1E-15F2-9F185CDFF094}"/>
                  </a:ext>
                </a:extLst>
              </p:cNvPr>
              <p:cNvSpPr/>
              <p:nvPr/>
            </p:nvSpPr>
            <p:spPr>
              <a:xfrm>
                <a:off x="5614903" y="4462283"/>
                <a:ext cx="619760" cy="61976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Moon 91">
                <a:extLst>
                  <a:ext uri="{FF2B5EF4-FFF2-40B4-BE49-F238E27FC236}">
                    <a16:creationId xmlns:a16="http://schemas.microsoft.com/office/drawing/2014/main" id="{7178631C-D689-0711-0504-740C1A4000B8}"/>
                  </a:ext>
                </a:extLst>
              </p:cNvPr>
              <p:cNvSpPr/>
              <p:nvPr/>
            </p:nvSpPr>
            <p:spPr>
              <a:xfrm flipH="1">
                <a:off x="5913100" y="4462283"/>
                <a:ext cx="333885" cy="619760"/>
              </a:xfrm>
              <a:prstGeom prst="moon">
                <a:avLst>
                  <a:gd name="adj" fmla="val 69872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3" name="Straight Arrow Connector 92">
                <a:extLst>
                  <a:ext uri="{FF2B5EF4-FFF2-40B4-BE49-F238E27FC236}">
                    <a16:creationId xmlns:a16="http://schemas.microsoft.com/office/drawing/2014/main" id="{482210FE-717D-A0A6-D4B6-92C865D38F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10470" y="5857505"/>
                <a:ext cx="6285578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F1361F05-B764-95CE-D674-F3258E5BA3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26144" y="5128461"/>
                <a:ext cx="100734" cy="702298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Arrow Connector 94">
                <a:extLst>
                  <a:ext uri="{FF2B5EF4-FFF2-40B4-BE49-F238E27FC236}">
                    <a16:creationId xmlns:a16="http://schemas.microsoft.com/office/drawing/2014/main" id="{CB20CC0C-48D7-71A0-28AE-8FCCE06F735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258012" y="5124334"/>
                <a:ext cx="264903" cy="702082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Arrow Connector 95">
                <a:extLst>
                  <a:ext uri="{FF2B5EF4-FFF2-40B4-BE49-F238E27FC236}">
                    <a16:creationId xmlns:a16="http://schemas.microsoft.com/office/drawing/2014/main" id="{925E3801-D24A-2E29-5587-568A75B21A0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62676" y="5124334"/>
                <a:ext cx="252006" cy="679678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47381B0C-3245-4729-3685-67750EABF5A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271084" y="5124334"/>
                <a:ext cx="636231" cy="666148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Arrow Connector 97">
                <a:extLst>
                  <a:ext uri="{FF2B5EF4-FFF2-40B4-BE49-F238E27FC236}">
                    <a16:creationId xmlns:a16="http://schemas.microsoft.com/office/drawing/2014/main" id="{AFBBE8C2-EA19-E06E-4615-A86E859B30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04508" y="5137565"/>
                <a:ext cx="160508" cy="688851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2801F58-1171-F96B-6730-B054960B3A11}"/>
                </a:ext>
              </a:extLst>
            </p:cNvPr>
            <p:cNvSpPr txBox="1"/>
            <p:nvPr/>
          </p:nvSpPr>
          <p:spPr>
            <a:xfrm>
              <a:off x="1619660" y="4270364"/>
              <a:ext cx="36260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dirty="0"/>
                <a:t>A</a:t>
              </a:r>
              <a:endParaRPr lang="en-US" sz="2400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93E137C-264C-D5BD-2487-130133768D52}"/>
                </a:ext>
              </a:extLst>
            </p:cNvPr>
            <p:cNvSpPr txBox="1"/>
            <p:nvPr/>
          </p:nvSpPr>
          <p:spPr>
            <a:xfrm>
              <a:off x="2854172" y="4257984"/>
              <a:ext cx="3513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dirty="0"/>
                <a:t>B</a:t>
              </a:r>
              <a:endParaRPr lang="en-US" sz="2400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163ED96A-7478-6245-03E8-9C316F3E1E9A}"/>
                </a:ext>
              </a:extLst>
            </p:cNvPr>
            <p:cNvSpPr txBox="1"/>
            <p:nvPr/>
          </p:nvSpPr>
          <p:spPr>
            <a:xfrm>
              <a:off x="4020578" y="4255125"/>
              <a:ext cx="3481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dirty="0"/>
                <a:t>C</a:t>
              </a:r>
              <a:endParaRPr lang="en-US" sz="2400" dirty="0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619BD374-C421-D45F-4BE3-E7FEB603EC98}"/>
                </a:ext>
              </a:extLst>
            </p:cNvPr>
            <p:cNvSpPr txBox="1"/>
            <p:nvPr/>
          </p:nvSpPr>
          <p:spPr>
            <a:xfrm>
              <a:off x="5305891" y="4255125"/>
              <a:ext cx="3738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dirty="0"/>
                <a:t>D</a:t>
              </a:r>
              <a:endParaRPr lang="en-US" sz="2400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5B2EE053-CB94-D389-D3A8-E5121D18D220}"/>
                </a:ext>
              </a:extLst>
            </p:cNvPr>
            <p:cNvSpPr txBox="1"/>
            <p:nvPr/>
          </p:nvSpPr>
          <p:spPr>
            <a:xfrm>
              <a:off x="6459836" y="4255124"/>
              <a:ext cx="33534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dirty="0"/>
                <a:t>E</a:t>
              </a:r>
              <a:endParaRPr 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B914B53D-E300-A667-E325-AA6515D88D04}"/>
                    </a:ext>
                  </a:extLst>
                </p:cNvPr>
                <p:cNvSpPr txBox="1"/>
                <p:nvPr/>
              </p:nvSpPr>
              <p:spPr>
                <a:xfrm>
                  <a:off x="2164094" y="5795262"/>
                  <a:ext cx="58855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 dirty="0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zh-TW" sz="2400" b="0" i="1" dirty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en-US" sz="2400" i="1" dirty="0"/>
                </a:p>
              </p:txBody>
            </p:sp>
          </mc:Choice>
          <mc:Fallback xmlns="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6CE3E6B4-CF41-E1B5-8674-3EBAC65804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4094" y="5795262"/>
                  <a:ext cx="588559" cy="461665"/>
                </a:xfrm>
                <a:prstGeom prst="rect">
                  <a:avLst/>
                </a:prstGeom>
                <a:blipFill>
                  <a:blip r:embed="rId12"/>
                  <a:stretch>
                    <a:fillRect b="-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728797AF-0D0A-71A4-B0AB-BE29F22FF57F}"/>
                    </a:ext>
                  </a:extLst>
                </p:cNvPr>
                <p:cNvSpPr txBox="1"/>
                <p:nvPr/>
              </p:nvSpPr>
              <p:spPr>
                <a:xfrm>
                  <a:off x="2993067" y="5826416"/>
                  <a:ext cx="59394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 dirty="0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2400" i="1" dirty="0">
                                <a:latin typeface="Cambria Math" panose="02040503050406030204" pitchFamily="18" charset="0"/>
                              </a:rPr>
                              <m:t>B</m:t>
                            </m:r>
                          </m:sub>
                        </m:sSub>
                      </m:oMath>
                    </m:oMathPara>
                  </a14:m>
                  <a:endParaRPr lang="en-US" sz="2400" i="1" dirty="0"/>
                </a:p>
              </p:txBody>
            </p:sp>
          </mc:Choice>
          <mc:Fallback xmlns="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988A6606-AF67-0840-0A36-BEAEA3C08B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3067" y="5826416"/>
                  <a:ext cx="593945" cy="461665"/>
                </a:xfrm>
                <a:prstGeom prst="rect">
                  <a:avLst/>
                </a:prstGeom>
                <a:blipFill>
                  <a:blip r:embed="rId13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97F4F48F-A421-DE52-100A-71E4983915CD}"/>
                    </a:ext>
                  </a:extLst>
                </p:cNvPr>
                <p:cNvSpPr txBox="1"/>
                <p:nvPr/>
              </p:nvSpPr>
              <p:spPr>
                <a:xfrm>
                  <a:off x="5140306" y="5810692"/>
                  <a:ext cx="605166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 dirty="0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2400" i="1" dirty="0">
                                <a:latin typeface="Cambria Math" panose="02040503050406030204" pitchFamily="18" charset="0"/>
                              </a:rPr>
                              <m:t>D</m:t>
                            </m:r>
                          </m:sub>
                        </m:sSub>
                      </m:oMath>
                    </m:oMathPara>
                  </a14:m>
                  <a:endParaRPr lang="en-US" sz="2400" i="1" dirty="0"/>
                </a:p>
              </p:txBody>
            </p:sp>
          </mc:Choice>
          <mc:Fallback xmlns="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97F4F48F-A421-DE52-100A-71E4983915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0306" y="5810692"/>
                  <a:ext cx="605166" cy="461665"/>
                </a:xfrm>
                <a:prstGeom prst="rect">
                  <a:avLst/>
                </a:prstGeom>
                <a:blipFill>
                  <a:blip r:embed="rId14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E1937357-4AB5-9DE5-75DF-B165365AD342}"/>
                    </a:ext>
                  </a:extLst>
                </p:cNvPr>
                <p:cNvSpPr txBox="1"/>
                <p:nvPr/>
              </p:nvSpPr>
              <p:spPr>
                <a:xfrm>
                  <a:off x="4058296" y="5807314"/>
                  <a:ext cx="581120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 dirty="0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2400" i="1" dirty="0">
                                <a:latin typeface="Cambria Math" panose="02040503050406030204" pitchFamily="18" charset="0"/>
                              </a:rPr>
                              <m:t>C</m:t>
                            </m:r>
                          </m:sub>
                        </m:sSub>
                      </m:oMath>
                    </m:oMathPara>
                  </a14:m>
                  <a:endParaRPr lang="en-US" sz="2400" i="1" dirty="0"/>
                </a:p>
              </p:txBody>
            </p:sp>
          </mc:Choice>
          <mc:Fallback xmlns=""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E1937357-4AB5-9DE5-75DF-B165365AD3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58296" y="5807314"/>
                  <a:ext cx="581120" cy="461665"/>
                </a:xfrm>
                <a:prstGeom prst="rect">
                  <a:avLst/>
                </a:prstGeom>
                <a:blipFill>
                  <a:blip r:embed="rId15"/>
                  <a:stretch>
                    <a:fillRect b="-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31378EA8-FD34-6BE5-6ACD-0E1E853F5F26}"/>
                    </a:ext>
                  </a:extLst>
                </p:cNvPr>
                <p:cNvSpPr txBox="1"/>
                <p:nvPr/>
              </p:nvSpPr>
              <p:spPr>
                <a:xfrm>
                  <a:off x="7147120" y="5855911"/>
                  <a:ext cx="581120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 dirty="0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2400" i="1" dirty="0">
                                <a:latin typeface="Cambria Math" panose="02040503050406030204" pitchFamily="18" charset="0"/>
                              </a:rPr>
                              <m:t>E</m:t>
                            </m:r>
                          </m:sub>
                        </m:sSub>
                      </m:oMath>
                    </m:oMathPara>
                  </a14:m>
                  <a:endParaRPr lang="en-US" sz="2400" i="1" dirty="0"/>
                </a:p>
              </p:txBody>
            </p:sp>
          </mc:Choice>
          <mc:Fallback xmlns=""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31378EA8-FD34-6BE5-6ACD-0E1E853F5F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7120" y="5855911"/>
                  <a:ext cx="581120" cy="461665"/>
                </a:xfrm>
                <a:prstGeom prst="rect">
                  <a:avLst/>
                </a:prstGeom>
                <a:blipFill>
                  <a:blip r:embed="rId16"/>
                  <a:stretch>
                    <a:fillRect b="-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B8707C78-2BB3-F9D5-DC48-FCFA1EFBD1B0}"/>
              </a:ext>
            </a:extLst>
          </p:cNvPr>
          <p:cNvCxnSpPr>
            <a:cxnSpLocks/>
          </p:cNvCxnSpPr>
          <p:nvPr/>
        </p:nvCxnSpPr>
        <p:spPr>
          <a:xfrm flipH="1">
            <a:off x="5003962" y="3228425"/>
            <a:ext cx="219488" cy="61867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Oval 104">
            <a:extLst>
              <a:ext uri="{FF2B5EF4-FFF2-40B4-BE49-F238E27FC236}">
                <a16:creationId xmlns:a16="http://schemas.microsoft.com/office/drawing/2014/main" id="{9629354F-2560-F19D-DBF9-DB5EB47A718E}"/>
              </a:ext>
            </a:extLst>
          </p:cNvPr>
          <p:cNvSpPr/>
          <p:nvPr/>
        </p:nvSpPr>
        <p:spPr>
          <a:xfrm>
            <a:off x="4701419" y="3930654"/>
            <a:ext cx="619760" cy="61976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Moon 105">
            <a:extLst>
              <a:ext uri="{FF2B5EF4-FFF2-40B4-BE49-F238E27FC236}">
                <a16:creationId xmlns:a16="http://schemas.microsoft.com/office/drawing/2014/main" id="{F574AF53-7561-8AF7-643B-35F430E1E590}"/>
              </a:ext>
            </a:extLst>
          </p:cNvPr>
          <p:cNvSpPr/>
          <p:nvPr/>
        </p:nvSpPr>
        <p:spPr>
          <a:xfrm>
            <a:off x="4701419" y="3930654"/>
            <a:ext cx="333885" cy="619760"/>
          </a:xfrm>
          <a:prstGeom prst="moon">
            <a:avLst>
              <a:gd name="adj" fmla="val 69872"/>
            </a:avLst>
          </a:prstGeom>
          <a:solidFill>
            <a:schemeClr val="accent4">
              <a:lumMod val="40000"/>
              <a:lumOff val="6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9" name="Picture 108">
            <a:extLst>
              <a:ext uri="{FF2B5EF4-FFF2-40B4-BE49-F238E27FC236}">
                <a16:creationId xmlns:a16="http://schemas.microsoft.com/office/drawing/2014/main" id="{55893B06-DE96-D4E8-3DC7-173DD6B89BA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264321" y="3681148"/>
            <a:ext cx="1236481" cy="202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63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9300C-90D4-A594-F473-2BA836273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C672120-BBD5-9C51-AB1D-0AA3B19FA8D4}"/>
              </a:ext>
            </a:extLst>
          </p:cNvPr>
          <p:cNvSpPr txBox="1"/>
          <p:nvPr/>
        </p:nvSpPr>
        <p:spPr>
          <a:xfrm>
            <a:off x="276411" y="260293"/>
            <a:ext cx="3744167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Auto Encoder (AE) Visualization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49CCEA-A4DA-AFA6-0431-606722B29F96}"/>
              </a:ext>
            </a:extLst>
          </p:cNvPr>
          <p:cNvSpPr txBox="1"/>
          <p:nvPr/>
        </p:nvSpPr>
        <p:spPr>
          <a:xfrm>
            <a:off x="683894" y="980924"/>
            <a:ext cx="7068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Example: Encode moon phases of different dates to 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608433FF-CBA6-7DE2-5537-AFEA11846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5361" y="1013840"/>
            <a:ext cx="803519" cy="239269"/>
          </a:xfrm>
          <a:prstGeom prst="rect">
            <a:avLst/>
          </a:prstGeom>
        </p:spPr>
      </p:pic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009FA33-CA25-AD03-B42C-AA2DE45433E5}"/>
              </a:ext>
            </a:extLst>
          </p:cNvPr>
          <p:cNvCxnSpPr>
            <a:cxnSpLocks/>
          </p:cNvCxnSpPr>
          <p:nvPr/>
        </p:nvCxnSpPr>
        <p:spPr>
          <a:xfrm>
            <a:off x="3827426" y="3210776"/>
            <a:ext cx="116900" cy="85002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id="{8D6C9F4D-0CB7-CCD8-BFC5-BD4E206CCE69}"/>
              </a:ext>
            </a:extLst>
          </p:cNvPr>
          <p:cNvSpPr/>
          <p:nvPr/>
        </p:nvSpPr>
        <p:spPr>
          <a:xfrm>
            <a:off x="4971477" y="3900326"/>
            <a:ext cx="605166" cy="61976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Moon 59">
            <a:extLst>
              <a:ext uri="{FF2B5EF4-FFF2-40B4-BE49-F238E27FC236}">
                <a16:creationId xmlns:a16="http://schemas.microsoft.com/office/drawing/2014/main" id="{A390291B-C97F-33F0-4569-D94D3045FC47}"/>
              </a:ext>
            </a:extLst>
          </p:cNvPr>
          <p:cNvSpPr/>
          <p:nvPr/>
        </p:nvSpPr>
        <p:spPr>
          <a:xfrm rot="5400000">
            <a:off x="5104141" y="3779816"/>
            <a:ext cx="333885" cy="619760"/>
          </a:xfrm>
          <a:prstGeom prst="moon">
            <a:avLst>
              <a:gd name="adj" fmla="val 60944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0" name="Graphic 109" descr="Question Mark with solid fill">
            <a:extLst>
              <a:ext uri="{FF2B5EF4-FFF2-40B4-BE49-F238E27FC236}">
                <a16:creationId xmlns:a16="http://schemas.microsoft.com/office/drawing/2014/main" id="{56717514-C971-259C-5B60-315C0723EB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96639" y="4055430"/>
            <a:ext cx="457200" cy="457200"/>
          </a:xfrm>
          <a:prstGeom prst="rect">
            <a:avLst/>
          </a:prstGeom>
        </p:spPr>
      </p:pic>
      <p:sp>
        <p:nvSpPr>
          <p:cNvPr id="114" name="TextBox 113">
            <a:extLst>
              <a:ext uri="{FF2B5EF4-FFF2-40B4-BE49-F238E27FC236}">
                <a16:creationId xmlns:a16="http://schemas.microsoft.com/office/drawing/2014/main" id="{845A6244-FD5C-E1A7-2238-6EB8B5AE0BEC}"/>
              </a:ext>
            </a:extLst>
          </p:cNvPr>
          <p:cNvSpPr txBox="1"/>
          <p:nvPr/>
        </p:nvSpPr>
        <p:spPr>
          <a:xfrm>
            <a:off x="4154727" y="4738714"/>
            <a:ext cx="56081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39725" indent="-339725"/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Random</a:t>
            </a:r>
            <a:r>
              <a:rPr lang="zh-TW" altLang="en-US" dirty="0">
                <a:latin typeface="Arial Rounded MT Bold" panose="020F0704030504030204" pitchFamily="34" charset="77"/>
                <a:sym typeface="Wingdings" pitchFamily="2" charset="2"/>
              </a:rPr>
              <a:t>        </a:t>
            </a:r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can generate any images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118" name="Picture 117">
            <a:extLst>
              <a:ext uri="{FF2B5EF4-FFF2-40B4-BE49-F238E27FC236}">
                <a16:creationId xmlns:a16="http://schemas.microsoft.com/office/drawing/2014/main" id="{2408E22B-C4F6-EF74-E263-466C0AC0E7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3296" y="4767332"/>
            <a:ext cx="2539200" cy="301076"/>
          </a:xfrm>
          <a:prstGeom prst="rect">
            <a:avLst/>
          </a:prstGeom>
        </p:spPr>
      </p:pic>
      <p:pic>
        <p:nvPicPr>
          <p:cNvPr id="120" name="Picture 119">
            <a:extLst>
              <a:ext uri="{FF2B5EF4-FFF2-40B4-BE49-F238E27FC236}">
                <a16:creationId xmlns:a16="http://schemas.microsoft.com/office/drawing/2014/main" id="{E8856788-E4CA-44C8-03D1-63794503F1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4554" y="4811440"/>
            <a:ext cx="299458" cy="258153"/>
          </a:xfrm>
          <a:prstGeom prst="rect">
            <a:avLst/>
          </a:prstGeom>
        </p:spPr>
      </p:pic>
      <p:sp>
        <p:nvSpPr>
          <p:cNvPr id="121" name="Arrow: Right 120">
            <a:extLst>
              <a:ext uri="{FF2B5EF4-FFF2-40B4-BE49-F238E27FC236}">
                <a16:creationId xmlns:a16="http://schemas.microsoft.com/office/drawing/2014/main" id="{10CB00B2-2D51-0C46-4985-977EA49EA54A}"/>
              </a:ext>
            </a:extLst>
          </p:cNvPr>
          <p:cNvSpPr/>
          <p:nvPr/>
        </p:nvSpPr>
        <p:spPr>
          <a:xfrm>
            <a:off x="4275744" y="5238558"/>
            <a:ext cx="193087" cy="178240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67CEE72A-B705-E59E-68C9-92E8E3063983}"/>
              </a:ext>
            </a:extLst>
          </p:cNvPr>
          <p:cNvSpPr txBox="1"/>
          <p:nvPr/>
        </p:nvSpPr>
        <p:spPr>
          <a:xfrm>
            <a:off x="4521344" y="5142417"/>
            <a:ext cx="42226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39725" indent="-339725"/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Does not affect reconstruction loss!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8CBA1B5-B4EF-9B5C-63F4-E3EDDD9719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4668" y="3893446"/>
            <a:ext cx="619759" cy="619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A9F4C429-AC5C-A844-AF8E-961FCF50523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57349" y="4093041"/>
            <a:ext cx="1539290" cy="419589"/>
          </a:xfrm>
          <a:prstGeom prst="rect">
            <a:avLst/>
          </a:prstGeom>
        </p:spPr>
      </p:pic>
      <p:sp>
        <p:nvSpPr>
          <p:cNvPr id="36" name="Oval 35">
            <a:extLst>
              <a:ext uri="{FF2B5EF4-FFF2-40B4-BE49-F238E27FC236}">
                <a16:creationId xmlns:a16="http://schemas.microsoft.com/office/drawing/2014/main" id="{D8F53AE0-5845-F9E4-C2AD-7D7E45CA1E9D}"/>
              </a:ext>
            </a:extLst>
          </p:cNvPr>
          <p:cNvSpPr/>
          <p:nvPr/>
        </p:nvSpPr>
        <p:spPr>
          <a:xfrm>
            <a:off x="5998221" y="3891572"/>
            <a:ext cx="605166" cy="61976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DFC4C00-26E7-9138-1B2F-6767F22865E6}"/>
              </a:ext>
            </a:extLst>
          </p:cNvPr>
          <p:cNvSpPr/>
          <p:nvPr/>
        </p:nvSpPr>
        <p:spPr>
          <a:xfrm>
            <a:off x="6110670" y="3963251"/>
            <a:ext cx="190134" cy="19013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2E959FA-1826-F9BB-A9B8-675B52226D67}"/>
              </a:ext>
            </a:extLst>
          </p:cNvPr>
          <p:cNvSpPr/>
          <p:nvPr/>
        </p:nvSpPr>
        <p:spPr>
          <a:xfrm>
            <a:off x="6205737" y="4215672"/>
            <a:ext cx="190134" cy="19013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A76F0DC-D13E-AB1B-FBA5-6C3263B4360C}"/>
              </a:ext>
            </a:extLst>
          </p:cNvPr>
          <p:cNvSpPr/>
          <p:nvPr/>
        </p:nvSpPr>
        <p:spPr>
          <a:xfrm>
            <a:off x="6395871" y="4041871"/>
            <a:ext cx="190134" cy="19013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A214ECB-FB5A-08EF-5ECC-66E50F10FDD8}"/>
              </a:ext>
            </a:extLst>
          </p:cNvPr>
          <p:cNvGrpSpPr/>
          <p:nvPr/>
        </p:nvGrpSpPr>
        <p:grpSpPr>
          <a:xfrm>
            <a:off x="855751" y="1505327"/>
            <a:ext cx="7440297" cy="2062452"/>
            <a:chOff x="855751" y="4255124"/>
            <a:chExt cx="7440297" cy="2062452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1903F2D9-23C6-FFB6-54ED-02F4B610CF8E}"/>
                </a:ext>
              </a:extLst>
            </p:cNvPr>
            <p:cNvGrpSpPr/>
            <p:nvPr/>
          </p:nvGrpSpPr>
          <p:grpSpPr>
            <a:xfrm>
              <a:off x="855751" y="4606047"/>
              <a:ext cx="444719" cy="1456436"/>
              <a:chOff x="855751" y="4606047"/>
              <a:chExt cx="444719" cy="1456436"/>
            </a:xfrm>
          </p:grpSpPr>
          <p:pic>
            <p:nvPicPr>
              <p:cNvPr id="83" name="Picture 82">
                <a:extLst>
                  <a:ext uri="{FF2B5EF4-FFF2-40B4-BE49-F238E27FC236}">
                    <a16:creationId xmlns:a16="http://schemas.microsoft.com/office/drawing/2014/main" id="{45B8B731-9775-C155-F4C4-426539FEDA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73132" y="5652527"/>
                <a:ext cx="409956" cy="409956"/>
              </a:xfrm>
              <a:prstGeom prst="rect">
                <a:avLst/>
              </a:prstGeom>
            </p:spPr>
          </p:pic>
          <p:pic>
            <p:nvPicPr>
              <p:cNvPr id="84" name="Picture 83">
                <a:extLst>
                  <a:ext uri="{FF2B5EF4-FFF2-40B4-BE49-F238E27FC236}">
                    <a16:creationId xmlns:a16="http://schemas.microsoft.com/office/drawing/2014/main" id="{D36D5EAD-83B2-B7EE-88B3-083325ECAA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55751" y="4606047"/>
                <a:ext cx="444719" cy="343916"/>
              </a:xfrm>
              <a:prstGeom prst="rect">
                <a:avLst/>
              </a:prstGeom>
            </p:spPr>
          </p:pic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7406ECB8-21AE-E13F-C062-29F3348B678B}"/>
                </a:ext>
              </a:extLst>
            </p:cNvPr>
            <p:cNvGrpSpPr/>
            <p:nvPr/>
          </p:nvGrpSpPr>
          <p:grpSpPr>
            <a:xfrm>
              <a:off x="2010470" y="4431803"/>
              <a:ext cx="6285578" cy="1425702"/>
              <a:chOff x="2010470" y="4431803"/>
              <a:chExt cx="6285578" cy="1425702"/>
            </a:xfrm>
          </p:grpSpPr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B3B6EF65-428D-8608-35F6-8524E97E442C}"/>
                  </a:ext>
                </a:extLst>
              </p:cNvPr>
              <p:cNvSpPr/>
              <p:nvPr/>
            </p:nvSpPr>
            <p:spPr>
              <a:xfrm>
                <a:off x="2010470" y="4462283"/>
                <a:ext cx="619760" cy="61976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A611D770-2377-CFDD-A500-68905A68566B}"/>
                  </a:ext>
                </a:extLst>
              </p:cNvPr>
              <p:cNvSpPr/>
              <p:nvPr/>
            </p:nvSpPr>
            <p:spPr>
              <a:xfrm>
                <a:off x="3189030" y="4462283"/>
                <a:ext cx="619760" cy="61976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Moon 64">
                <a:extLst>
                  <a:ext uri="{FF2B5EF4-FFF2-40B4-BE49-F238E27FC236}">
                    <a16:creationId xmlns:a16="http://schemas.microsoft.com/office/drawing/2014/main" id="{E62F97E5-D608-77BE-545B-77B35D7634CB}"/>
                  </a:ext>
                </a:extLst>
              </p:cNvPr>
              <p:cNvSpPr/>
              <p:nvPr/>
            </p:nvSpPr>
            <p:spPr>
              <a:xfrm>
                <a:off x="3189030" y="4452123"/>
                <a:ext cx="333885" cy="619760"/>
              </a:xfrm>
              <a:prstGeom prst="moon">
                <a:avLst>
                  <a:gd name="adj" fmla="val 33356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1A7760B2-6298-B9DA-D963-720F250F0634}"/>
                  </a:ext>
                </a:extLst>
              </p:cNvPr>
              <p:cNvSpPr/>
              <p:nvPr/>
            </p:nvSpPr>
            <p:spPr>
              <a:xfrm>
                <a:off x="4367590" y="4441963"/>
                <a:ext cx="619760" cy="61976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Moon 66">
                <a:extLst>
                  <a:ext uri="{FF2B5EF4-FFF2-40B4-BE49-F238E27FC236}">
                    <a16:creationId xmlns:a16="http://schemas.microsoft.com/office/drawing/2014/main" id="{A7B094F8-C2F9-44EB-2CC5-B4B8A7EBACEF}"/>
                  </a:ext>
                </a:extLst>
              </p:cNvPr>
              <p:cNvSpPr/>
              <p:nvPr/>
            </p:nvSpPr>
            <p:spPr>
              <a:xfrm>
                <a:off x="4367590" y="4431803"/>
                <a:ext cx="333885" cy="619760"/>
              </a:xfrm>
              <a:prstGeom prst="moon">
                <a:avLst>
                  <a:gd name="adj" fmla="val 79001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5FE9F6A0-1C8A-CDB4-2B1C-1DA074FB3AFC}"/>
                  </a:ext>
                </a:extLst>
              </p:cNvPr>
              <p:cNvSpPr/>
              <p:nvPr/>
            </p:nvSpPr>
            <p:spPr>
              <a:xfrm>
                <a:off x="6780936" y="4441963"/>
                <a:ext cx="619760" cy="61976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524F1BBB-39D7-788D-C9A5-8A4BBF63351B}"/>
                  </a:ext>
                </a:extLst>
              </p:cNvPr>
              <p:cNvSpPr/>
              <p:nvPr/>
            </p:nvSpPr>
            <p:spPr>
              <a:xfrm>
                <a:off x="5614903" y="4462283"/>
                <a:ext cx="619760" cy="61976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Moon 70">
                <a:extLst>
                  <a:ext uri="{FF2B5EF4-FFF2-40B4-BE49-F238E27FC236}">
                    <a16:creationId xmlns:a16="http://schemas.microsoft.com/office/drawing/2014/main" id="{ABF4DC52-FC65-0573-9DB6-EB01FD8E2752}"/>
                  </a:ext>
                </a:extLst>
              </p:cNvPr>
              <p:cNvSpPr/>
              <p:nvPr/>
            </p:nvSpPr>
            <p:spPr>
              <a:xfrm flipH="1">
                <a:off x="5913100" y="4462283"/>
                <a:ext cx="333885" cy="619760"/>
              </a:xfrm>
              <a:prstGeom prst="moon">
                <a:avLst>
                  <a:gd name="adj" fmla="val 69872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A0E991BD-1334-413E-4A13-621CC5501F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10470" y="5857505"/>
                <a:ext cx="6285578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8D09F66B-1355-C8CE-A0AC-4AFAD457B2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26144" y="5128461"/>
                <a:ext cx="100734" cy="702298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82DFBDAB-8585-3893-37D0-5D40F72400F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258012" y="5124334"/>
                <a:ext cx="264903" cy="702082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C5BACD5E-F600-C300-27BC-2AE00882182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62676" y="5124334"/>
                <a:ext cx="252006" cy="679678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Arrow Connector 80">
                <a:extLst>
                  <a:ext uri="{FF2B5EF4-FFF2-40B4-BE49-F238E27FC236}">
                    <a16:creationId xmlns:a16="http://schemas.microsoft.com/office/drawing/2014/main" id="{4C8016F1-8A8F-95F8-0E31-EB1C9CF0C8A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271084" y="5124334"/>
                <a:ext cx="636231" cy="666148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Arrow Connector 81">
                <a:extLst>
                  <a:ext uri="{FF2B5EF4-FFF2-40B4-BE49-F238E27FC236}">
                    <a16:creationId xmlns:a16="http://schemas.microsoft.com/office/drawing/2014/main" id="{3A7DD4FE-7BCF-C093-9244-DCBB37D947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04508" y="5137565"/>
                <a:ext cx="160508" cy="688851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A88A816-7C31-7264-69A9-17A5C34FC309}"/>
                </a:ext>
              </a:extLst>
            </p:cNvPr>
            <p:cNvSpPr txBox="1"/>
            <p:nvPr/>
          </p:nvSpPr>
          <p:spPr>
            <a:xfrm>
              <a:off x="1619660" y="4270364"/>
              <a:ext cx="36260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dirty="0"/>
                <a:t>A</a:t>
              </a:r>
              <a:endParaRPr lang="en-US" sz="2400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DAE7166-4A29-BF44-1930-73A73BFB4813}"/>
                </a:ext>
              </a:extLst>
            </p:cNvPr>
            <p:cNvSpPr txBox="1"/>
            <p:nvPr/>
          </p:nvSpPr>
          <p:spPr>
            <a:xfrm>
              <a:off x="2854172" y="4257984"/>
              <a:ext cx="3513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dirty="0"/>
                <a:t>B</a:t>
              </a:r>
              <a:endParaRPr lang="en-US" sz="2400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882DAF0-AA19-61DF-C788-BC3EE6C3AC8C}"/>
                </a:ext>
              </a:extLst>
            </p:cNvPr>
            <p:cNvSpPr txBox="1"/>
            <p:nvPr/>
          </p:nvSpPr>
          <p:spPr>
            <a:xfrm>
              <a:off x="4020578" y="4255125"/>
              <a:ext cx="3481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dirty="0"/>
                <a:t>C</a:t>
              </a:r>
              <a:endParaRPr lang="en-US" sz="2400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0D982B-136F-5A24-31B5-9298FC3517B3}"/>
                </a:ext>
              </a:extLst>
            </p:cNvPr>
            <p:cNvSpPr txBox="1"/>
            <p:nvPr/>
          </p:nvSpPr>
          <p:spPr>
            <a:xfrm>
              <a:off x="5305891" y="4255125"/>
              <a:ext cx="3738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dirty="0"/>
                <a:t>D</a:t>
              </a:r>
              <a:endParaRPr lang="en-US" sz="2400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B04C46F-A17A-C649-F21D-E0C441CA6479}"/>
                </a:ext>
              </a:extLst>
            </p:cNvPr>
            <p:cNvSpPr txBox="1"/>
            <p:nvPr/>
          </p:nvSpPr>
          <p:spPr>
            <a:xfrm>
              <a:off x="6459836" y="4255124"/>
              <a:ext cx="33534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dirty="0"/>
                <a:t>E</a:t>
              </a:r>
              <a:endParaRPr 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7D40B764-05BC-0260-AC49-03E9A14BE28E}"/>
                    </a:ext>
                  </a:extLst>
                </p:cNvPr>
                <p:cNvSpPr txBox="1"/>
                <p:nvPr/>
              </p:nvSpPr>
              <p:spPr>
                <a:xfrm>
                  <a:off x="2164094" y="5795262"/>
                  <a:ext cx="58855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 dirty="0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zh-TW" sz="2400" b="0" i="1" dirty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en-US" sz="2400" i="1" dirty="0"/>
                </a:p>
              </p:txBody>
            </p:sp>
          </mc:Choice>
          <mc:Fallback xmlns="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6CE3E6B4-CF41-E1B5-8674-3EBAC65804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4094" y="5795262"/>
                  <a:ext cx="588559" cy="461665"/>
                </a:xfrm>
                <a:prstGeom prst="rect">
                  <a:avLst/>
                </a:prstGeom>
                <a:blipFill>
                  <a:blip r:embed="rId14"/>
                  <a:stretch>
                    <a:fillRect b="-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B4D33FAB-ECE2-A062-481B-613F723BA575}"/>
                    </a:ext>
                  </a:extLst>
                </p:cNvPr>
                <p:cNvSpPr txBox="1"/>
                <p:nvPr/>
              </p:nvSpPr>
              <p:spPr>
                <a:xfrm>
                  <a:off x="2993067" y="5826416"/>
                  <a:ext cx="59394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 dirty="0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2400" i="1" dirty="0">
                                <a:latin typeface="Cambria Math" panose="02040503050406030204" pitchFamily="18" charset="0"/>
                              </a:rPr>
                              <m:t>B</m:t>
                            </m:r>
                          </m:sub>
                        </m:sSub>
                      </m:oMath>
                    </m:oMathPara>
                  </a14:m>
                  <a:endParaRPr lang="en-US" sz="2400" i="1" dirty="0"/>
                </a:p>
              </p:txBody>
            </p:sp>
          </mc:Choice>
          <mc:Fallback xmlns="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988A6606-AF67-0840-0A36-BEAEA3C08B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3067" y="5826416"/>
                  <a:ext cx="593945" cy="461665"/>
                </a:xfrm>
                <a:prstGeom prst="rect">
                  <a:avLst/>
                </a:prstGeom>
                <a:blipFill>
                  <a:blip r:embed="rId15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03792001-F99C-BF8E-E757-DE6BBD977E9D}"/>
                    </a:ext>
                  </a:extLst>
                </p:cNvPr>
                <p:cNvSpPr txBox="1"/>
                <p:nvPr/>
              </p:nvSpPr>
              <p:spPr>
                <a:xfrm>
                  <a:off x="5140306" y="5810692"/>
                  <a:ext cx="605166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 dirty="0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2400" i="1" dirty="0">
                                <a:latin typeface="Cambria Math" panose="02040503050406030204" pitchFamily="18" charset="0"/>
                              </a:rPr>
                              <m:t>D</m:t>
                            </m:r>
                          </m:sub>
                        </m:sSub>
                      </m:oMath>
                    </m:oMathPara>
                  </a14:m>
                  <a:endParaRPr lang="en-US" sz="2400" i="1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03792001-F99C-BF8E-E757-DE6BBD977E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0306" y="5810692"/>
                  <a:ext cx="605166" cy="461665"/>
                </a:xfrm>
                <a:prstGeom prst="rect">
                  <a:avLst/>
                </a:prstGeom>
                <a:blipFill>
                  <a:blip r:embed="rId16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5DC0A841-22F9-D109-1429-0E1CD6F20EB8}"/>
                    </a:ext>
                  </a:extLst>
                </p:cNvPr>
                <p:cNvSpPr txBox="1"/>
                <p:nvPr/>
              </p:nvSpPr>
              <p:spPr>
                <a:xfrm>
                  <a:off x="4058296" y="5807314"/>
                  <a:ext cx="581120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 dirty="0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2400" i="1" dirty="0">
                                <a:latin typeface="Cambria Math" panose="02040503050406030204" pitchFamily="18" charset="0"/>
                              </a:rPr>
                              <m:t>C</m:t>
                            </m:r>
                          </m:sub>
                        </m:sSub>
                      </m:oMath>
                    </m:oMathPara>
                  </a14:m>
                  <a:endParaRPr lang="en-US" sz="2400" i="1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5DC0A841-22F9-D109-1429-0E1CD6F20E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58296" y="5807314"/>
                  <a:ext cx="581120" cy="461665"/>
                </a:xfrm>
                <a:prstGeom prst="rect">
                  <a:avLst/>
                </a:prstGeom>
                <a:blipFill>
                  <a:blip r:embed="rId17"/>
                  <a:stretch>
                    <a:fillRect b="-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932B411B-BFE1-2733-DB65-7D6AB0E82401}"/>
                    </a:ext>
                  </a:extLst>
                </p:cNvPr>
                <p:cNvSpPr txBox="1"/>
                <p:nvPr/>
              </p:nvSpPr>
              <p:spPr>
                <a:xfrm>
                  <a:off x="7147120" y="5855911"/>
                  <a:ext cx="581120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 dirty="0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2400" i="1" dirty="0">
                                <a:latin typeface="Cambria Math" panose="02040503050406030204" pitchFamily="18" charset="0"/>
                              </a:rPr>
                              <m:t>E</m:t>
                            </m:r>
                          </m:sub>
                        </m:sSub>
                      </m:oMath>
                    </m:oMathPara>
                  </a14:m>
                  <a:endParaRPr lang="en-US" sz="2400" i="1" dirty="0"/>
                </a:p>
              </p:txBody>
            </p:sp>
          </mc:Choice>
          <mc:Fallback xmlns="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932B411B-BFE1-2733-DB65-7D6AB0E824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7120" y="5855911"/>
                  <a:ext cx="581120" cy="461665"/>
                </a:xfrm>
                <a:prstGeom prst="rect">
                  <a:avLst/>
                </a:prstGeom>
                <a:blipFill>
                  <a:blip r:embed="rId18"/>
                  <a:stretch>
                    <a:fillRect b="-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019191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8DBB8-BDA4-F039-2833-05E436A9B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C0320BB-B2AB-FF42-9EE1-29F46F3FB238}"/>
              </a:ext>
            </a:extLst>
          </p:cNvPr>
          <p:cNvSpPr txBox="1"/>
          <p:nvPr/>
        </p:nvSpPr>
        <p:spPr>
          <a:xfrm>
            <a:off x="276411" y="260293"/>
            <a:ext cx="3744167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Auto Encoder (AE) Visualization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B8C85A-DD63-0B08-C0C8-4B98048815AD}"/>
              </a:ext>
            </a:extLst>
          </p:cNvPr>
          <p:cNvSpPr txBox="1"/>
          <p:nvPr/>
        </p:nvSpPr>
        <p:spPr>
          <a:xfrm>
            <a:off x="701276" y="762554"/>
            <a:ext cx="7068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Ideal case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37F7CF-AFBA-0BF9-09DC-2299DE8168C6}"/>
              </a:ext>
            </a:extLst>
          </p:cNvPr>
          <p:cNvSpPr txBox="1"/>
          <p:nvPr/>
        </p:nvSpPr>
        <p:spPr>
          <a:xfrm>
            <a:off x="5656583" y="3753051"/>
            <a:ext cx="5005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Arial Rounded MT Bold" panose="020F0704030504030204" pitchFamily="34" charset="77"/>
                <a:sym typeface="Wingdings" pitchFamily="2" charset="2"/>
              </a:rPr>
              <a:t>Latent dimensions keep semantic meaning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77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61D6E44-4202-DC25-33E1-B7A709C3600C}"/>
              </a:ext>
            </a:extLst>
          </p:cNvPr>
          <p:cNvCxnSpPr>
            <a:cxnSpLocks/>
          </p:cNvCxnSpPr>
          <p:nvPr/>
        </p:nvCxnSpPr>
        <p:spPr>
          <a:xfrm>
            <a:off x="3827426" y="3136632"/>
            <a:ext cx="472253" cy="58886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688BDC1C-1465-3D93-72C5-2E5EDF1B9934}"/>
              </a:ext>
            </a:extLst>
          </p:cNvPr>
          <p:cNvSpPr/>
          <p:nvPr/>
        </p:nvSpPr>
        <p:spPr>
          <a:xfrm>
            <a:off x="4395234" y="3604217"/>
            <a:ext cx="619760" cy="61976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Moon 19">
            <a:extLst>
              <a:ext uri="{FF2B5EF4-FFF2-40B4-BE49-F238E27FC236}">
                <a16:creationId xmlns:a16="http://schemas.microsoft.com/office/drawing/2014/main" id="{DE88CCE6-E331-0950-A2C0-26AE1897889A}"/>
              </a:ext>
            </a:extLst>
          </p:cNvPr>
          <p:cNvSpPr/>
          <p:nvPr/>
        </p:nvSpPr>
        <p:spPr>
          <a:xfrm>
            <a:off x="4395234" y="3594057"/>
            <a:ext cx="333885" cy="619760"/>
          </a:xfrm>
          <a:prstGeom prst="moon">
            <a:avLst>
              <a:gd name="adj" fmla="val 56178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931CFD7-6C9B-5709-3148-8DA9357D0A69}"/>
              </a:ext>
            </a:extLst>
          </p:cNvPr>
          <p:cNvSpPr txBox="1"/>
          <p:nvPr/>
        </p:nvSpPr>
        <p:spPr>
          <a:xfrm>
            <a:off x="701276" y="4377629"/>
            <a:ext cx="49387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Motivate Variational Auto Encoder (VAE)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2927D22-BE00-434F-524D-64FFA24D19EA}"/>
              </a:ext>
            </a:extLst>
          </p:cNvPr>
          <p:cNvSpPr txBox="1"/>
          <p:nvPr/>
        </p:nvSpPr>
        <p:spPr>
          <a:xfrm>
            <a:off x="1859704" y="5405048"/>
            <a:ext cx="7846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How can you make the latent semantically meaningful/ continuous?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46" name="Graphic 45" descr="Question Mark with solid fill">
            <a:extLst>
              <a:ext uri="{FF2B5EF4-FFF2-40B4-BE49-F238E27FC236}">
                <a16:creationId xmlns:a16="http://schemas.microsoft.com/office/drawing/2014/main" id="{440C3B83-874E-C364-BFDC-A6E106C5A9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6759" y="5090026"/>
            <a:ext cx="914400" cy="914400"/>
          </a:xfrm>
          <a:prstGeom prst="rect">
            <a:avLst/>
          </a:prstGeom>
        </p:spPr>
      </p:pic>
      <p:grpSp>
        <p:nvGrpSpPr>
          <p:cNvPr id="74" name="Group 73">
            <a:extLst>
              <a:ext uri="{FF2B5EF4-FFF2-40B4-BE49-F238E27FC236}">
                <a16:creationId xmlns:a16="http://schemas.microsoft.com/office/drawing/2014/main" id="{E85CEDA8-8B79-97F1-A80C-A6B87E5D6228}"/>
              </a:ext>
            </a:extLst>
          </p:cNvPr>
          <p:cNvGrpSpPr/>
          <p:nvPr/>
        </p:nvGrpSpPr>
        <p:grpSpPr>
          <a:xfrm>
            <a:off x="855751" y="1505327"/>
            <a:ext cx="7440297" cy="2062452"/>
            <a:chOff x="855751" y="4255124"/>
            <a:chExt cx="7440297" cy="2062452"/>
          </a:xfrm>
        </p:grpSpPr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E7BC7CE9-83EF-8C74-9256-1881882D26D7}"/>
                </a:ext>
              </a:extLst>
            </p:cNvPr>
            <p:cNvGrpSpPr/>
            <p:nvPr/>
          </p:nvGrpSpPr>
          <p:grpSpPr>
            <a:xfrm>
              <a:off x="855751" y="4606047"/>
              <a:ext cx="444719" cy="1456436"/>
              <a:chOff x="855751" y="4606047"/>
              <a:chExt cx="444719" cy="1456436"/>
            </a:xfrm>
          </p:grpSpPr>
          <p:pic>
            <p:nvPicPr>
              <p:cNvPr id="101" name="Picture 100">
                <a:extLst>
                  <a:ext uri="{FF2B5EF4-FFF2-40B4-BE49-F238E27FC236}">
                    <a16:creationId xmlns:a16="http://schemas.microsoft.com/office/drawing/2014/main" id="{CB1FC4B8-48BD-3D18-E0DD-1039B0C50F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3132" y="5652527"/>
                <a:ext cx="409956" cy="409956"/>
              </a:xfrm>
              <a:prstGeom prst="rect">
                <a:avLst/>
              </a:prstGeom>
            </p:spPr>
          </p:pic>
          <p:pic>
            <p:nvPicPr>
              <p:cNvPr id="102" name="Picture 101">
                <a:extLst>
                  <a:ext uri="{FF2B5EF4-FFF2-40B4-BE49-F238E27FC236}">
                    <a16:creationId xmlns:a16="http://schemas.microsoft.com/office/drawing/2014/main" id="{130C36D4-CA81-4CE5-ED7C-C1A07BD603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55751" y="4606047"/>
                <a:ext cx="444719" cy="343916"/>
              </a:xfrm>
              <a:prstGeom prst="rect">
                <a:avLst/>
              </a:prstGeom>
            </p:spPr>
          </p:pic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17BEAE71-F0C5-551C-72A5-9A71A5B9B019}"/>
                </a:ext>
              </a:extLst>
            </p:cNvPr>
            <p:cNvGrpSpPr/>
            <p:nvPr/>
          </p:nvGrpSpPr>
          <p:grpSpPr>
            <a:xfrm>
              <a:off x="2010470" y="4431803"/>
              <a:ext cx="6285578" cy="1425702"/>
              <a:chOff x="2010470" y="4431803"/>
              <a:chExt cx="6285578" cy="1425702"/>
            </a:xfrm>
          </p:grpSpPr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6FD66686-4582-5238-2CD3-BC1431AB98A5}"/>
                  </a:ext>
                </a:extLst>
              </p:cNvPr>
              <p:cNvSpPr/>
              <p:nvPr/>
            </p:nvSpPr>
            <p:spPr>
              <a:xfrm>
                <a:off x="2010470" y="4462283"/>
                <a:ext cx="619760" cy="61976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9F7F9EF8-19ED-1739-3BD9-9332FC782A2A}"/>
                  </a:ext>
                </a:extLst>
              </p:cNvPr>
              <p:cNvSpPr/>
              <p:nvPr/>
            </p:nvSpPr>
            <p:spPr>
              <a:xfrm>
                <a:off x="3189030" y="4462283"/>
                <a:ext cx="619760" cy="61976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Moon 88">
                <a:extLst>
                  <a:ext uri="{FF2B5EF4-FFF2-40B4-BE49-F238E27FC236}">
                    <a16:creationId xmlns:a16="http://schemas.microsoft.com/office/drawing/2014/main" id="{EDBC3D5E-1A88-86B0-FA60-1A33B2BBB07E}"/>
                  </a:ext>
                </a:extLst>
              </p:cNvPr>
              <p:cNvSpPr/>
              <p:nvPr/>
            </p:nvSpPr>
            <p:spPr>
              <a:xfrm>
                <a:off x="3189030" y="4452123"/>
                <a:ext cx="333885" cy="619760"/>
              </a:xfrm>
              <a:prstGeom prst="moon">
                <a:avLst>
                  <a:gd name="adj" fmla="val 33356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6C714D65-B88F-DF69-948C-028E2F922A98}"/>
                  </a:ext>
                </a:extLst>
              </p:cNvPr>
              <p:cNvSpPr/>
              <p:nvPr/>
            </p:nvSpPr>
            <p:spPr>
              <a:xfrm>
                <a:off x="4367590" y="4441963"/>
                <a:ext cx="619760" cy="61976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Moon 90">
                <a:extLst>
                  <a:ext uri="{FF2B5EF4-FFF2-40B4-BE49-F238E27FC236}">
                    <a16:creationId xmlns:a16="http://schemas.microsoft.com/office/drawing/2014/main" id="{A79356E8-AAF5-5F84-C857-44A9844EBE82}"/>
                  </a:ext>
                </a:extLst>
              </p:cNvPr>
              <p:cNvSpPr/>
              <p:nvPr/>
            </p:nvSpPr>
            <p:spPr>
              <a:xfrm>
                <a:off x="4367590" y="4431803"/>
                <a:ext cx="333885" cy="619760"/>
              </a:xfrm>
              <a:prstGeom prst="moon">
                <a:avLst>
                  <a:gd name="adj" fmla="val 79001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D9D81D9F-A2DE-7B80-B523-92494AF99469}"/>
                  </a:ext>
                </a:extLst>
              </p:cNvPr>
              <p:cNvSpPr/>
              <p:nvPr/>
            </p:nvSpPr>
            <p:spPr>
              <a:xfrm>
                <a:off x="6780936" y="4441963"/>
                <a:ext cx="619760" cy="61976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EE0CFB68-1EF3-147A-DBFE-05BF5D3BACDC}"/>
                  </a:ext>
                </a:extLst>
              </p:cNvPr>
              <p:cNvSpPr/>
              <p:nvPr/>
            </p:nvSpPr>
            <p:spPr>
              <a:xfrm>
                <a:off x="5614903" y="4462283"/>
                <a:ext cx="619760" cy="61976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" name="Moon 93">
                <a:extLst>
                  <a:ext uri="{FF2B5EF4-FFF2-40B4-BE49-F238E27FC236}">
                    <a16:creationId xmlns:a16="http://schemas.microsoft.com/office/drawing/2014/main" id="{F8C4E86E-FC63-05EE-71C1-A249B08BEB33}"/>
                  </a:ext>
                </a:extLst>
              </p:cNvPr>
              <p:cNvSpPr/>
              <p:nvPr/>
            </p:nvSpPr>
            <p:spPr>
              <a:xfrm flipH="1">
                <a:off x="5913100" y="4462283"/>
                <a:ext cx="333885" cy="619760"/>
              </a:xfrm>
              <a:prstGeom prst="moon">
                <a:avLst>
                  <a:gd name="adj" fmla="val 69872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5" name="Straight Arrow Connector 94">
                <a:extLst>
                  <a:ext uri="{FF2B5EF4-FFF2-40B4-BE49-F238E27FC236}">
                    <a16:creationId xmlns:a16="http://schemas.microsoft.com/office/drawing/2014/main" id="{BD063883-4EDC-BBEE-E357-FA463C35A4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10470" y="5857505"/>
                <a:ext cx="6285578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Arrow Connector 95">
                <a:extLst>
                  <a:ext uri="{FF2B5EF4-FFF2-40B4-BE49-F238E27FC236}">
                    <a16:creationId xmlns:a16="http://schemas.microsoft.com/office/drawing/2014/main" id="{994F0671-86CD-E347-8FD1-F451F1BBC6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26144" y="5128461"/>
                <a:ext cx="100734" cy="702298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957F1E57-FCA0-1DAE-1C61-7BAA2FD9941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258012" y="5124334"/>
                <a:ext cx="264903" cy="702082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Arrow Connector 97">
                <a:extLst>
                  <a:ext uri="{FF2B5EF4-FFF2-40B4-BE49-F238E27FC236}">
                    <a16:creationId xmlns:a16="http://schemas.microsoft.com/office/drawing/2014/main" id="{FEF647E2-91C9-024D-1073-4D635AE311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62676" y="5124334"/>
                <a:ext cx="252006" cy="679678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Arrow Connector 98">
                <a:extLst>
                  <a:ext uri="{FF2B5EF4-FFF2-40B4-BE49-F238E27FC236}">
                    <a16:creationId xmlns:a16="http://schemas.microsoft.com/office/drawing/2014/main" id="{279E679D-77AD-84CA-7F07-3CECAC16448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271084" y="5124334"/>
                <a:ext cx="636231" cy="666148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6AAD8D1F-695F-9476-0C83-D0FE2F74CC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04508" y="5137565"/>
                <a:ext cx="160508" cy="688851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F5E33A53-A3F2-6689-4D03-58FE7BA05BE8}"/>
                </a:ext>
              </a:extLst>
            </p:cNvPr>
            <p:cNvSpPr txBox="1"/>
            <p:nvPr/>
          </p:nvSpPr>
          <p:spPr>
            <a:xfrm>
              <a:off x="1619660" y="4270364"/>
              <a:ext cx="36260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dirty="0"/>
                <a:t>A</a:t>
              </a:r>
              <a:endParaRPr lang="en-US" sz="2400" dirty="0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432856C5-33BA-8A77-4584-FF4ADFDC566B}"/>
                </a:ext>
              </a:extLst>
            </p:cNvPr>
            <p:cNvSpPr txBox="1"/>
            <p:nvPr/>
          </p:nvSpPr>
          <p:spPr>
            <a:xfrm>
              <a:off x="2854172" y="4257984"/>
              <a:ext cx="3513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dirty="0"/>
                <a:t>B</a:t>
              </a:r>
              <a:endParaRPr lang="en-US" sz="2400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1C8EF797-C65D-F8AA-8981-D24A26E51475}"/>
                </a:ext>
              </a:extLst>
            </p:cNvPr>
            <p:cNvSpPr txBox="1"/>
            <p:nvPr/>
          </p:nvSpPr>
          <p:spPr>
            <a:xfrm>
              <a:off x="4020578" y="4255125"/>
              <a:ext cx="3481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dirty="0"/>
                <a:t>C</a:t>
              </a:r>
              <a:endParaRPr lang="en-US" sz="2400" dirty="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E44346CA-444C-6A30-1A64-6730D807C977}"/>
                </a:ext>
              </a:extLst>
            </p:cNvPr>
            <p:cNvSpPr txBox="1"/>
            <p:nvPr/>
          </p:nvSpPr>
          <p:spPr>
            <a:xfrm>
              <a:off x="5305891" y="4255125"/>
              <a:ext cx="3738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dirty="0"/>
                <a:t>D</a:t>
              </a:r>
              <a:endParaRPr lang="en-US" sz="2400" dirty="0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C8121B48-9603-894A-BD67-86A516E73C3E}"/>
                </a:ext>
              </a:extLst>
            </p:cNvPr>
            <p:cNvSpPr txBox="1"/>
            <p:nvPr/>
          </p:nvSpPr>
          <p:spPr>
            <a:xfrm>
              <a:off x="6459836" y="4255124"/>
              <a:ext cx="33534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dirty="0"/>
                <a:t>E</a:t>
              </a:r>
              <a:endParaRPr 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94F2F7F3-1D35-8B8A-543A-DA20FC65BFB6}"/>
                    </a:ext>
                  </a:extLst>
                </p:cNvPr>
                <p:cNvSpPr txBox="1"/>
                <p:nvPr/>
              </p:nvSpPr>
              <p:spPr>
                <a:xfrm>
                  <a:off x="2164094" y="5795262"/>
                  <a:ext cx="58855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 dirty="0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zh-TW" sz="2400" b="0" i="1" dirty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en-US" sz="2400" i="1" dirty="0"/>
                </a:p>
              </p:txBody>
            </p:sp>
          </mc:Choice>
          <mc:Fallback xmlns="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6CE3E6B4-CF41-E1B5-8674-3EBAC65804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4094" y="5795262"/>
                  <a:ext cx="588559" cy="461665"/>
                </a:xfrm>
                <a:prstGeom prst="rect">
                  <a:avLst/>
                </a:prstGeom>
                <a:blipFill>
                  <a:blip r:embed="rId12"/>
                  <a:stretch>
                    <a:fillRect b="-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2A57048A-9804-BC45-CA9D-4FBC3C9BD9CF}"/>
                    </a:ext>
                  </a:extLst>
                </p:cNvPr>
                <p:cNvSpPr txBox="1"/>
                <p:nvPr/>
              </p:nvSpPr>
              <p:spPr>
                <a:xfrm>
                  <a:off x="2993067" y="5826416"/>
                  <a:ext cx="59394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 dirty="0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2400" i="1" dirty="0">
                                <a:latin typeface="Cambria Math" panose="02040503050406030204" pitchFamily="18" charset="0"/>
                              </a:rPr>
                              <m:t>B</m:t>
                            </m:r>
                          </m:sub>
                        </m:sSub>
                      </m:oMath>
                    </m:oMathPara>
                  </a14:m>
                  <a:endParaRPr lang="en-US" sz="2400" i="1" dirty="0"/>
                </a:p>
              </p:txBody>
            </p:sp>
          </mc:Choice>
          <mc:Fallback xmlns="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988A6606-AF67-0840-0A36-BEAEA3C08B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3067" y="5826416"/>
                  <a:ext cx="593945" cy="461665"/>
                </a:xfrm>
                <a:prstGeom prst="rect">
                  <a:avLst/>
                </a:prstGeom>
                <a:blipFill>
                  <a:blip r:embed="rId13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35FC8889-A3D0-98E0-691F-1D923FACC26C}"/>
                    </a:ext>
                  </a:extLst>
                </p:cNvPr>
                <p:cNvSpPr txBox="1"/>
                <p:nvPr/>
              </p:nvSpPr>
              <p:spPr>
                <a:xfrm>
                  <a:off x="5140306" y="5810692"/>
                  <a:ext cx="605166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 dirty="0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2400" i="1" dirty="0">
                                <a:latin typeface="Cambria Math" panose="02040503050406030204" pitchFamily="18" charset="0"/>
                              </a:rPr>
                              <m:t>D</m:t>
                            </m:r>
                          </m:sub>
                        </m:sSub>
                      </m:oMath>
                    </m:oMathPara>
                  </a14:m>
                  <a:endParaRPr lang="en-US" sz="2400" i="1" dirty="0"/>
                </a:p>
              </p:txBody>
            </p:sp>
          </mc:Choice>
          <mc:Fallback xmlns=""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35FC8889-A3D0-98E0-691F-1D923FACC2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0306" y="5810692"/>
                  <a:ext cx="605166" cy="461665"/>
                </a:xfrm>
                <a:prstGeom prst="rect">
                  <a:avLst/>
                </a:prstGeom>
                <a:blipFill>
                  <a:blip r:embed="rId14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391DDC28-9EB5-61FC-23BE-999AA780D3AC}"/>
                    </a:ext>
                  </a:extLst>
                </p:cNvPr>
                <p:cNvSpPr txBox="1"/>
                <p:nvPr/>
              </p:nvSpPr>
              <p:spPr>
                <a:xfrm>
                  <a:off x="4058296" y="5807314"/>
                  <a:ext cx="581120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 dirty="0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2400" i="1" dirty="0">
                                <a:latin typeface="Cambria Math" panose="02040503050406030204" pitchFamily="18" charset="0"/>
                              </a:rPr>
                              <m:t>C</m:t>
                            </m:r>
                          </m:sub>
                        </m:sSub>
                      </m:oMath>
                    </m:oMathPara>
                  </a14:m>
                  <a:endParaRPr lang="en-US" sz="2400" i="1" dirty="0"/>
                </a:p>
              </p:txBody>
            </p:sp>
          </mc:Choice>
          <mc:Fallback xmlns="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391DDC28-9EB5-61FC-23BE-999AA780D3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58296" y="5807314"/>
                  <a:ext cx="581120" cy="461665"/>
                </a:xfrm>
                <a:prstGeom prst="rect">
                  <a:avLst/>
                </a:prstGeom>
                <a:blipFill>
                  <a:blip r:embed="rId15"/>
                  <a:stretch>
                    <a:fillRect b="-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DBAF302A-038E-B5CD-3F2F-E42EED9E463F}"/>
                    </a:ext>
                  </a:extLst>
                </p:cNvPr>
                <p:cNvSpPr txBox="1"/>
                <p:nvPr/>
              </p:nvSpPr>
              <p:spPr>
                <a:xfrm>
                  <a:off x="7147120" y="5855911"/>
                  <a:ext cx="581120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 dirty="0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2400" i="1" dirty="0">
                                <a:latin typeface="Cambria Math" panose="02040503050406030204" pitchFamily="18" charset="0"/>
                              </a:rPr>
                              <m:t>E</m:t>
                            </m:r>
                          </m:sub>
                        </m:sSub>
                      </m:oMath>
                    </m:oMathPara>
                  </a14:m>
                  <a:endParaRPr lang="en-US" sz="2400" i="1" dirty="0"/>
                </a:p>
              </p:txBody>
            </p:sp>
          </mc:Choice>
          <mc:Fallback xmlns="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DBAF302A-038E-B5CD-3F2F-E42EED9E46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7120" y="5855911"/>
                  <a:ext cx="581120" cy="461665"/>
                </a:xfrm>
                <a:prstGeom prst="rect">
                  <a:avLst/>
                </a:prstGeom>
                <a:blipFill>
                  <a:blip r:embed="rId16"/>
                  <a:stretch>
                    <a:fillRect b="-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0140074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A6A8C-A37A-6320-E463-14214E725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C85BA52-0478-E195-5FCB-6501B6DC66C5}"/>
              </a:ext>
            </a:extLst>
          </p:cNvPr>
          <p:cNvSpPr txBox="1"/>
          <p:nvPr/>
        </p:nvSpPr>
        <p:spPr>
          <a:xfrm>
            <a:off x="276410" y="260293"/>
            <a:ext cx="3676754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Variational Auto Encoder (VAE)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8F2BED1-2D45-F14E-E728-57B10CC843A9}"/>
              </a:ext>
            </a:extLst>
          </p:cNvPr>
          <p:cNvSpPr txBox="1"/>
          <p:nvPr/>
        </p:nvSpPr>
        <p:spPr>
          <a:xfrm>
            <a:off x="1286678" y="856675"/>
            <a:ext cx="5060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AE + Probabilistic (pictures and intuitions)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5" name="Graphic 4" descr="Magnifying glass with solid fill">
            <a:extLst>
              <a:ext uri="{FF2B5EF4-FFF2-40B4-BE49-F238E27FC236}">
                <a16:creationId xmlns:a16="http://schemas.microsoft.com/office/drawing/2014/main" id="{9ED96C12-F614-2856-E23F-F41EC6DA35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9003" y="856675"/>
            <a:ext cx="475673" cy="47567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ABE9491-DE41-F610-D04B-821B005BBDCB}"/>
              </a:ext>
            </a:extLst>
          </p:cNvPr>
          <p:cNvSpPr txBox="1"/>
          <p:nvPr/>
        </p:nvSpPr>
        <p:spPr>
          <a:xfrm>
            <a:off x="7257987" y="856675"/>
            <a:ext cx="3352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EM + NN (equation)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10" name="Graphic 9" descr="Magnifying glass with solid fill">
            <a:extLst>
              <a:ext uri="{FF2B5EF4-FFF2-40B4-BE49-F238E27FC236}">
                <a16:creationId xmlns:a16="http://schemas.microsoft.com/office/drawing/2014/main" id="{73CE3C2F-73DA-A4B9-E772-1F0AEE38B2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80312" y="856675"/>
            <a:ext cx="475673" cy="47567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63A1CAA-CEE3-D585-60FC-703D1CB54F15}"/>
              </a:ext>
            </a:extLst>
          </p:cNvPr>
          <p:cNvSpPr txBox="1"/>
          <p:nvPr/>
        </p:nvSpPr>
        <p:spPr>
          <a:xfrm>
            <a:off x="1286678" y="1385834"/>
            <a:ext cx="4669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Encoder outputs a </a:t>
            </a:r>
            <a:r>
              <a:rPr lang="en-US" altLang="zh-TW" dirty="0">
                <a:solidFill>
                  <a:srgbClr val="FF0000"/>
                </a:solidFill>
                <a:latin typeface="Arial Rounded MT Bold" panose="020F0704030504030204" pitchFamily="34" charset="77"/>
                <a:sym typeface="Wingdings" pitchFamily="2" charset="2"/>
              </a:rPr>
              <a:t>distribution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77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4A6EC27-674F-B137-5365-EDEB6395AF09}"/>
              </a:ext>
            </a:extLst>
          </p:cNvPr>
          <p:cNvGrpSpPr/>
          <p:nvPr/>
        </p:nvGrpSpPr>
        <p:grpSpPr>
          <a:xfrm>
            <a:off x="872861" y="3925686"/>
            <a:ext cx="5157510" cy="1074965"/>
            <a:chOff x="872861" y="3925686"/>
            <a:chExt cx="5157510" cy="1074965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C803A738-9DA4-33F8-B435-FBC0B41A18C6}"/>
                </a:ext>
              </a:extLst>
            </p:cNvPr>
            <p:cNvGrpSpPr/>
            <p:nvPr/>
          </p:nvGrpSpPr>
          <p:grpSpPr>
            <a:xfrm>
              <a:off x="1025955" y="3925686"/>
              <a:ext cx="4739263" cy="1074965"/>
              <a:chOff x="963173" y="3460090"/>
              <a:chExt cx="6285578" cy="1425702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8E46CAF2-80F7-326F-199F-F9C52A1BDD45}"/>
                  </a:ext>
                </a:extLst>
              </p:cNvPr>
              <p:cNvSpPr/>
              <p:nvPr/>
            </p:nvSpPr>
            <p:spPr>
              <a:xfrm>
                <a:off x="963173" y="3490570"/>
                <a:ext cx="619760" cy="61976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378FC3D-B191-9537-092E-3161B94E4013}"/>
                  </a:ext>
                </a:extLst>
              </p:cNvPr>
              <p:cNvSpPr/>
              <p:nvPr/>
            </p:nvSpPr>
            <p:spPr>
              <a:xfrm>
                <a:off x="2141733" y="3490570"/>
                <a:ext cx="619760" cy="61976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Moon 21">
                <a:extLst>
                  <a:ext uri="{FF2B5EF4-FFF2-40B4-BE49-F238E27FC236}">
                    <a16:creationId xmlns:a16="http://schemas.microsoft.com/office/drawing/2014/main" id="{AB709271-0CDF-204E-9032-9F1D8F7EFA3D}"/>
                  </a:ext>
                </a:extLst>
              </p:cNvPr>
              <p:cNvSpPr/>
              <p:nvPr/>
            </p:nvSpPr>
            <p:spPr>
              <a:xfrm>
                <a:off x="2141733" y="3480410"/>
                <a:ext cx="333885" cy="619760"/>
              </a:xfrm>
              <a:prstGeom prst="moon">
                <a:avLst>
                  <a:gd name="adj" fmla="val 33356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E51C05FA-5928-C4B1-4BF2-C563E72AC7D6}"/>
                  </a:ext>
                </a:extLst>
              </p:cNvPr>
              <p:cNvSpPr/>
              <p:nvPr/>
            </p:nvSpPr>
            <p:spPr>
              <a:xfrm>
                <a:off x="3320293" y="3470250"/>
                <a:ext cx="619760" cy="61976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Moon 27">
                <a:extLst>
                  <a:ext uri="{FF2B5EF4-FFF2-40B4-BE49-F238E27FC236}">
                    <a16:creationId xmlns:a16="http://schemas.microsoft.com/office/drawing/2014/main" id="{CE798CBB-5E20-3365-95C5-30DBBCE75F2E}"/>
                  </a:ext>
                </a:extLst>
              </p:cNvPr>
              <p:cNvSpPr/>
              <p:nvPr/>
            </p:nvSpPr>
            <p:spPr>
              <a:xfrm>
                <a:off x="3320293" y="3460090"/>
                <a:ext cx="333885" cy="619760"/>
              </a:xfrm>
              <a:prstGeom prst="moon">
                <a:avLst>
                  <a:gd name="adj" fmla="val 79001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FF011B21-723A-DB96-D9EC-A08F290B1CF3}"/>
                  </a:ext>
                </a:extLst>
              </p:cNvPr>
              <p:cNvSpPr/>
              <p:nvPr/>
            </p:nvSpPr>
            <p:spPr>
              <a:xfrm>
                <a:off x="5733639" y="3470250"/>
                <a:ext cx="619760" cy="61976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A6068DF4-8DA0-FC78-D392-E8475BB6A72F}"/>
                  </a:ext>
                </a:extLst>
              </p:cNvPr>
              <p:cNvSpPr/>
              <p:nvPr/>
            </p:nvSpPr>
            <p:spPr>
              <a:xfrm>
                <a:off x="4567606" y="3490570"/>
                <a:ext cx="619760" cy="61976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Moon 31">
                <a:extLst>
                  <a:ext uri="{FF2B5EF4-FFF2-40B4-BE49-F238E27FC236}">
                    <a16:creationId xmlns:a16="http://schemas.microsoft.com/office/drawing/2014/main" id="{18EFC573-9210-9665-C02B-FC6A4B598566}"/>
                  </a:ext>
                </a:extLst>
              </p:cNvPr>
              <p:cNvSpPr/>
              <p:nvPr/>
            </p:nvSpPr>
            <p:spPr>
              <a:xfrm flipH="1">
                <a:off x="4853481" y="3490571"/>
                <a:ext cx="333885" cy="619760"/>
              </a:xfrm>
              <a:prstGeom prst="moon">
                <a:avLst>
                  <a:gd name="adj" fmla="val 69872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66E4B32A-BB97-5BBD-D389-68E774B571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3173" y="4885792"/>
                <a:ext cx="6285578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02432BD0-2B67-D95B-D661-C4E5E274B4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39163" y="4142461"/>
                <a:ext cx="255876" cy="575756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93336132-61D7-3C5F-449A-BB53F91188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75619" y="4152620"/>
                <a:ext cx="285874" cy="648590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CF71A400-F24A-26F5-DFD7-B7427AAE45B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70983" y="4152620"/>
                <a:ext cx="183195" cy="648590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1127C398-56E5-481C-7C16-824C5125C2B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32743" y="4232250"/>
                <a:ext cx="644742" cy="616072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065A5F97-17D4-4097-37CE-9444E5058F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33359" y="4232250"/>
                <a:ext cx="833120" cy="568960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38BBFB7-0BE1-0981-4B0C-2E643E6DA9E6}"/>
                </a:ext>
              </a:extLst>
            </p:cNvPr>
            <p:cNvGrpSpPr/>
            <p:nvPr/>
          </p:nvGrpSpPr>
          <p:grpSpPr>
            <a:xfrm>
              <a:off x="872861" y="4658852"/>
              <a:ext cx="5157510" cy="334138"/>
              <a:chOff x="872861" y="4658852"/>
              <a:chExt cx="5157510" cy="334138"/>
            </a:xfrm>
          </p:grpSpPr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430310CE-01FE-0A59-6585-232BBE78C9F1}"/>
                  </a:ext>
                </a:extLst>
              </p:cNvPr>
              <p:cNvSpPr/>
              <p:nvPr/>
            </p:nvSpPr>
            <p:spPr>
              <a:xfrm>
                <a:off x="4521362" y="4664477"/>
                <a:ext cx="1509009" cy="313547"/>
              </a:xfrm>
              <a:custGeom>
                <a:avLst/>
                <a:gdLst>
                  <a:gd name="connsiteX0" fmla="*/ 0 w 822036"/>
                  <a:gd name="connsiteY0" fmla="*/ 472782 h 490768"/>
                  <a:gd name="connsiteX1" fmla="*/ 203200 w 822036"/>
                  <a:gd name="connsiteY1" fmla="*/ 463546 h 490768"/>
                  <a:gd name="connsiteX2" fmla="*/ 341745 w 822036"/>
                  <a:gd name="connsiteY2" fmla="*/ 214164 h 490768"/>
                  <a:gd name="connsiteX3" fmla="*/ 415636 w 822036"/>
                  <a:gd name="connsiteY3" fmla="*/ 47910 h 490768"/>
                  <a:gd name="connsiteX4" fmla="*/ 480291 w 822036"/>
                  <a:gd name="connsiteY4" fmla="*/ 1728 h 490768"/>
                  <a:gd name="connsiteX5" fmla="*/ 544945 w 822036"/>
                  <a:gd name="connsiteY5" fmla="*/ 94091 h 490768"/>
                  <a:gd name="connsiteX6" fmla="*/ 674254 w 822036"/>
                  <a:gd name="connsiteY6" fmla="*/ 371182 h 490768"/>
                  <a:gd name="connsiteX7" fmla="*/ 748145 w 822036"/>
                  <a:gd name="connsiteY7" fmla="*/ 472782 h 490768"/>
                  <a:gd name="connsiteX8" fmla="*/ 822036 w 822036"/>
                  <a:gd name="connsiteY8" fmla="*/ 472782 h 490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2036" h="490768">
                    <a:moveTo>
                      <a:pt x="0" y="472782"/>
                    </a:moveTo>
                    <a:cubicBezTo>
                      <a:pt x="73121" y="489715"/>
                      <a:pt x="146243" y="506649"/>
                      <a:pt x="203200" y="463546"/>
                    </a:cubicBezTo>
                    <a:cubicBezTo>
                      <a:pt x="260157" y="420443"/>
                      <a:pt x="306339" y="283437"/>
                      <a:pt x="341745" y="214164"/>
                    </a:cubicBezTo>
                    <a:cubicBezTo>
                      <a:pt x="377151" y="144891"/>
                      <a:pt x="392545" y="83316"/>
                      <a:pt x="415636" y="47910"/>
                    </a:cubicBezTo>
                    <a:cubicBezTo>
                      <a:pt x="438727" y="12504"/>
                      <a:pt x="458740" y="-5969"/>
                      <a:pt x="480291" y="1728"/>
                    </a:cubicBezTo>
                    <a:cubicBezTo>
                      <a:pt x="501843" y="9425"/>
                      <a:pt x="512618" y="32515"/>
                      <a:pt x="544945" y="94091"/>
                    </a:cubicBezTo>
                    <a:cubicBezTo>
                      <a:pt x="577272" y="155667"/>
                      <a:pt x="640387" y="308067"/>
                      <a:pt x="674254" y="371182"/>
                    </a:cubicBezTo>
                    <a:cubicBezTo>
                      <a:pt x="708121" y="434297"/>
                      <a:pt x="723515" y="455849"/>
                      <a:pt x="748145" y="472782"/>
                    </a:cubicBezTo>
                    <a:cubicBezTo>
                      <a:pt x="772775" y="489715"/>
                      <a:pt x="797405" y="481248"/>
                      <a:pt x="822036" y="472782"/>
                    </a:cubicBezTo>
                  </a:path>
                </a:pathLst>
              </a:custGeom>
              <a:solidFill>
                <a:srgbClr val="3988CF">
                  <a:alpha val="30196"/>
                </a:srgb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5CDDF546-1073-8376-F5CF-27A0B10AA6BF}"/>
                  </a:ext>
                </a:extLst>
              </p:cNvPr>
              <p:cNvSpPr/>
              <p:nvPr/>
            </p:nvSpPr>
            <p:spPr>
              <a:xfrm>
                <a:off x="1708960" y="4665698"/>
                <a:ext cx="1313609" cy="313547"/>
              </a:xfrm>
              <a:custGeom>
                <a:avLst/>
                <a:gdLst>
                  <a:gd name="connsiteX0" fmla="*/ 0 w 822036"/>
                  <a:gd name="connsiteY0" fmla="*/ 472782 h 490768"/>
                  <a:gd name="connsiteX1" fmla="*/ 203200 w 822036"/>
                  <a:gd name="connsiteY1" fmla="*/ 463546 h 490768"/>
                  <a:gd name="connsiteX2" fmla="*/ 341745 w 822036"/>
                  <a:gd name="connsiteY2" fmla="*/ 214164 h 490768"/>
                  <a:gd name="connsiteX3" fmla="*/ 415636 w 822036"/>
                  <a:gd name="connsiteY3" fmla="*/ 47910 h 490768"/>
                  <a:gd name="connsiteX4" fmla="*/ 480291 w 822036"/>
                  <a:gd name="connsiteY4" fmla="*/ 1728 h 490768"/>
                  <a:gd name="connsiteX5" fmla="*/ 544945 w 822036"/>
                  <a:gd name="connsiteY5" fmla="*/ 94091 h 490768"/>
                  <a:gd name="connsiteX6" fmla="*/ 674254 w 822036"/>
                  <a:gd name="connsiteY6" fmla="*/ 371182 h 490768"/>
                  <a:gd name="connsiteX7" fmla="*/ 748145 w 822036"/>
                  <a:gd name="connsiteY7" fmla="*/ 472782 h 490768"/>
                  <a:gd name="connsiteX8" fmla="*/ 822036 w 822036"/>
                  <a:gd name="connsiteY8" fmla="*/ 472782 h 490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2036" h="490768">
                    <a:moveTo>
                      <a:pt x="0" y="472782"/>
                    </a:moveTo>
                    <a:cubicBezTo>
                      <a:pt x="73121" y="489715"/>
                      <a:pt x="146243" y="506649"/>
                      <a:pt x="203200" y="463546"/>
                    </a:cubicBezTo>
                    <a:cubicBezTo>
                      <a:pt x="260157" y="420443"/>
                      <a:pt x="306339" y="283437"/>
                      <a:pt x="341745" y="214164"/>
                    </a:cubicBezTo>
                    <a:cubicBezTo>
                      <a:pt x="377151" y="144891"/>
                      <a:pt x="392545" y="83316"/>
                      <a:pt x="415636" y="47910"/>
                    </a:cubicBezTo>
                    <a:cubicBezTo>
                      <a:pt x="438727" y="12504"/>
                      <a:pt x="458740" y="-5969"/>
                      <a:pt x="480291" y="1728"/>
                    </a:cubicBezTo>
                    <a:cubicBezTo>
                      <a:pt x="501843" y="9425"/>
                      <a:pt x="512618" y="32515"/>
                      <a:pt x="544945" y="94091"/>
                    </a:cubicBezTo>
                    <a:cubicBezTo>
                      <a:pt x="577272" y="155667"/>
                      <a:pt x="640387" y="308067"/>
                      <a:pt x="674254" y="371182"/>
                    </a:cubicBezTo>
                    <a:cubicBezTo>
                      <a:pt x="708121" y="434297"/>
                      <a:pt x="723515" y="455849"/>
                      <a:pt x="748145" y="472782"/>
                    </a:cubicBezTo>
                    <a:cubicBezTo>
                      <a:pt x="772775" y="489715"/>
                      <a:pt x="797405" y="481248"/>
                      <a:pt x="822036" y="472782"/>
                    </a:cubicBezTo>
                  </a:path>
                </a:pathLst>
              </a:custGeom>
              <a:solidFill>
                <a:srgbClr val="3988CF">
                  <a:alpha val="30196"/>
                </a:srgb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B0C5594E-2CC9-AB61-4AC1-5734186A2B2E}"/>
                  </a:ext>
                </a:extLst>
              </p:cNvPr>
              <p:cNvSpPr/>
              <p:nvPr/>
            </p:nvSpPr>
            <p:spPr>
              <a:xfrm>
                <a:off x="2177569" y="4658852"/>
                <a:ext cx="1313609" cy="313547"/>
              </a:xfrm>
              <a:custGeom>
                <a:avLst/>
                <a:gdLst>
                  <a:gd name="connsiteX0" fmla="*/ 0 w 822036"/>
                  <a:gd name="connsiteY0" fmla="*/ 472782 h 490768"/>
                  <a:gd name="connsiteX1" fmla="*/ 203200 w 822036"/>
                  <a:gd name="connsiteY1" fmla="*/ 463546 h 490768"/>
                  <a:gd name="connsiteX2" fmla="*/ 341745 w 822036"/>
                  <a:gd name="connsiteY2" fmla="*/ 214164 h 490768"/>
                  <a:gd name="connsiteX3" fmla="*/ 415636 w 822036"/>
                  <a:gd name="connsiteY3" fmla="*/ 47910 h 490768"/>
                  <a:gd name="connsiteX4" fmla="*/ 480291 w 822036"/>
                  <a:gd name="connsiteY4" fmla="*/ 1728 h 490768"/>
                  <a:gd name="connsiteX5" fmla="*/ 544945 w 822036"/>
                  <a:gd name="connsiteY5" fmla="*/ 94091 h 490768"/>
                  <a:gd name="connsiteX6" fmla="*/ 674254 w 822036"/>
                  <a:gd name="connsiteY6" fmla="*/ 371182 h 490768"/>
                  <a:gd name="connsiteX7" fmla="*/ 748145 w 822036"/>
                  <a:gd name="connsiteY7" fmla="*/ 472782 h 490768"/>
                  <a:gd name="connsiteX8" fmla="*/ 822036 w 822036"/>
                  <a:gd name="connsiteY8" fmla="*/ 472782 h 490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2036" h="490768">
                    <a:moveTo>
                      <a:pt x="0" y="472782"/>
                    </a:moveTo>
                    <a:cubicBezTo>
                      <a:pt x="73121" y="489715"/>
                      <a:pt x="146243" y="506649"/>
                      <a:pt x="203200" y="463546"/>
                    </a:cubicBezTo>
                    <a:cubicBezTo>
                      <a:pt x="260157" y="420443"/>
                      <a:pt x="306339" y="283437"/>
                      <a:pt x="341745" y="214164"/>
                    </a:cubicBezTo>
                    <a:cubicBezTo>
                      <a:pt x="377151" y="144891"/>
                      <a:pt x="392545" y="83316"/>
                      <a:pt x="415636" y="47910"/>
                    </a:cubicBezTo>
                    <a:cubicBezTo>
                      <a:pt x="438727" y="12504"/>
                      <a:pt x="458740" y="-5969"/>
                      <a:pt x="480291" y="1728"/>
                    </a:cubicBezTo>
                    <a:cubicBezTo>
                      <a:pt x="501843" y="9425"/>
                      <a:pt x="512618" y="32515"/>
                      <a:pt x="544945" y="94091"/>
                    </a:cubicBezTo>
                    <a:cubicBezTo>
                      <a:pt x="577272" y="155667"/>
                      <a:pt x="640387" y="308067"/>
                      <a:pt x="674254" y="371182"/>
                    </a:cubicBezTo>
                    <a:cubicBezTo>
                      <a:pt x="708121" y="434297"/>
                      <a:pt x="723515" y="455849"/>
                      <a:pt x="748145" y="472782"/>
                    </a:cubicBezTo>
                    <a:cubicBezTo>
                      <a:pt x="772775" y="489715"/>
                      <a:pt x="797405" y="481248"/>
                      <a:pt x="822036" y="472782"/>
                    </a:cubicBezTo>
                  </a:path>
                </a:pathLst>
              </a:custGeom>
              <a:solidFill>
                <a:srgbClr val="3988CF">
                  <a:alpha val="30196"/>
                </a:srgb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92CE0CB7-0A0C-4AAF-51F3-F03BBC695147}"/>
                  </a:ext>
                </a:extLst>
              </p:cNvPr>
              <p:cNvSpPr/>
              <p:nvPr/>
            </p:nvSpPr>
            <p:spPr>
              <a:xfrm>
                <a:off x="2672827" y="4679443"/>
                <a:ext cx="1313609" cy="313547"/>
              </a:xfrm>
              <a:custGeom>
                <a:avLst/>
                <a:gdLst>
                  <a:gd name="connsiteX0" fmla="*/ 0 w 822036"/>
                  <a:gd name="connsiteY0" fmla="*/ 472782 h 490768"/>
                  <a:gd name="connsiteX1" fmla="*/ 203200 w 822036"/>
                  <a:gd name="connsiteY1" fmla="*/ 463546 h 490768"/>
                  <a:gd name="connsiteX2" fmla="*/ 341745 w 822036"/>
                  <a:gd name="connsiteY2" fmla="*/ 214164 h 490768"/>
                  <a:gd name="connsiteX3" fmla="*/ 415636 w 822036"/>
                  <a:gd name="connsiteY3" fmla="*/ 47910 h 490768"/>
                  <a:gd name="connsiteX4" fmla="*/ 480291 w 822036"/>
                  <a:gd name="connsiteY4" fmla="*/ 1728 h 490768"/>
                  <a:gd name="connsiteX5" fmla="*/ 544945 w 822036"/>
                  <a:gd name="connsiteY5" fmla="*/ 94091 h 490768"/>
                  <a:gd name="connsiteX6" fmla="*/ 674254 w 822036"/>
                  <a:gd name="connsiteY6" fmla="*/ 371182 h 490768"/>
                  <a:gd name="connsiteX7" fmla="*/ 748145 w 822036"/>
                  <a:gd name="connsiteY7" fmla="*/ 472782 h 490768"/>
                  <a:gd name="connsiteX8" fmla="*/ 822036 w 822036"/>
                  <a:gd name="connsiteY8" fmla="*/ 472782 h 490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2036" h="490768">
                    <a:moveTo>
                      <a:pt x="0" y="472782"/>
                    </a:moveTo>
                    <a:cubicBezTo>
                      <a:pt x="73121" y="489715"/>
                      <a:pt x="146243" y="506649"/>
                      <a:pt x="203200" y="463546"/>
                    </a:cubicBezTo>
                    <a:cubicBezTo>
                      <a:pt x="260157" y="420443"/>
                      <a:pt x="306339" y="283437"/>
                      <a:pt x="341745" y="214164"/>
                    </a:cubicBezTo>
                    <a:cubicBezTo>
                      <a:pt x="377151" y="144891"/>
                      <a:pt x="392545" y="83316"/>
                      <a:pt x="415636" y="47910"/>
                    </a:cubicBezTo>
                    <a:cubicBezTo>
                      <a:pt x="438727" y="12504"/>
                      <a:pt x="458740" y="-5969"/>
                      <a:pt x="480291" y="1728"/>
                    </a:cubicBezTo>
                    <a:cubicBezTo>
                      <a:pt x="501843" y="9425"/>
                      <a:pt x="512618" y="32515"/>
                      <a:pt x="544945" y="94091"/>
                    </a:cubicBezTo>
                    <a:cubicBezTo>
                      <a:pt x="577272" y="155667"/>
                      <a:pt x="640387" y="308067"/>
                      <a:pt x="674254" y="371182"/>
                    </a:cubicBezTo>
                    <a:cubicBezTo>
                      <a:pt x="708121" y="434297"/>
                      <a:pt x="723515" y="455849"/>
                      <a:pt x="748145" y="472782"/>
                    </a:cubicBezTo>
                    <a:cubicBezTo>
                      <a:pt x="772775" y="489715"/>
                      <a:pt x="797405" y="481248"/>
                      <a:pt x="822036" y="472782"/>
                    </a:cubicBezTo>
                  </a:path>
                </a:pathLst>
              </a:custGeom>
              <a:solidFill>
                <a:srgbClr val="3988CF">
                  <a:alpha val="30196"/>
                </a:srgb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A7F1CCD6-1644-4F41-06EC-6A61D604735F}"/>
                  </a:ext>
                </a:extLst>
              </p:cNvPr>
              <p:cNvSpPr/>
              <p:nvPr/>
            </p:nvSpPr>
            <p:spPr>
              <a:xfrm>
                <a:off x="872861" y="4679443"/>
                <a:ext cx="1313609" cy="313547"/>
              </a:xfrm>
              <a:custGeom>
                <a:avLst/>
                <a:gdLst>
                  <a:gd name="connsiteX0" fmla="*/ 0 w 822036"/>
                  <a:gd name="connsiteY0" fmla="*/ 472782 h 490768"/>
                  <a:gd name="connsiteX1" fmla="*/ 203200 w 822036"/>
                  <a:gd name="connsiteY1" fmla="*/ 463546 h 490768"/>
                  <a:gd name="connsiteX2" fmla="*/ 341745 w 822036"/>
                  <a:gd name="connsiteY2" fmla="*/ 214164 h 490768"/>
                  <a:gd name="connsiteX3" fmla="*/ 415636 w 822036"/>
                  <a:gd name="connsiteY3" fmla="*/ 47910 h 490768"/>
                  <a:gd name="connsiteX4" fmla="*/ 480291 w 822036"/>
                  <a:gd name="connsiteY4" fmla="*/ 1728 h 490768"/>
                  <a:gd name="connsiteX5" fmla="*/ 544945 w 822036"/>
                  <a:gd name="connsiteY5" fmla="*/ 94091 h 490768"/>
                  <a:gd name="connsiteX6" fmla="*/ 674254 w 822036"/>
                  <a:gd name="connsiteY6" fmla="*/ 371182 h 490768"/>
                  <a:gd name="connsiteX7" fmla="*/ 748145 w 822036"/>
                  <a:gd name="connsiteY7" fmla="*/ 472782 h 490768"/>
                  <a:gd name="connsiteX8" fmla="*/ 822036 w 822036"/>
                  <a:gd name="connsiteY8" fmla="*/ 472782 h 490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2036" h="490768">
                    <a:moveTo>
                      <a:pt x="0" y="472782"/>
                    </a:moveTo>
                    <a:cubicBezTo>
                      <a:pt x="73121" y="489715"/>
                      <a:pt x="146243" y="506649"/>
                      <a:pt x="203200" y="463546"/>
                    </a:cubicBezTo>
                    <a:cubicBezTo>
                      <a:pt x="260157" y="420443"/>
                      <a:pt x="306339" y="283437"/>
                      <a:pt x="341745" y="214164"/>
                    </a:cubicBezTo>
                    <a:cubicBezTo>
                      <a:pt x="377151" y="144891"/>
                      <a:pt x="392545" y="83316"/>
                      <a:pt x="415636" y="47910"/>
                    </a:cubicBezTo>
                    <a:cubicBezTo>
                      <a:pt x="438727" y="12504"/>
                      <a:pt x="458740" y="-5969"/>
                      <a:pt x="480291" y="1728"/>
                    </a:cubicBezTo>
                    <a:cubicBezTo>
                      <a:pt x="501843" y="9425"/>
                      <a:pt x="512618" y="32515"/>
                      <a:pt x="544945" y="94091"/>
                    </a:cubicBezTo>
                    <a:cubicBezTo>
                      <a:pt x="577272" y="155667"/>
                      <a:pt x="640387" y="308067"/>
                      <a:pt x="674254" y="371182"/>
                    </a:cubicBezTo>
                    <a:cubicBezTo>
                      <a:pt x="708121" y="434297"/>
                      <a:pt x="723515" y="455849"/>
                      <a:pt x="748145" y="472782"/>
                    </a:cubicBezTo>
                    <a:cubicBezTo>
                      <a:pt x="772775" y="489715"/>
                      <a:pt x="797405" y="481248"/>
                      <a:pt x="822036" y="472782"/>
                    </a:cubicBezTo>
                  </a:path>
                </a:pathLst>
              </a:custGeom>
              <a:solidFill>
                <a:srgbClr val="3988CF">
                  <a:alpha val="30196"/>
                </a:srgb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CAEECD8E-2B02-3E2E-6532-D6330C524AB0}"/>
                  </a:ext>
                </a:extLst>
              </p:cNvPr>
              <p:cNvSpPr txBox="1"/>
              <p:nvPr/>
            </p:nvSpPr>
            <p:spPr>
              <a:xfrm>
                <a:off x="1286677" y="1731890"/>
                <a:ext cx="55727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dirty="0">
                    <a:solidFill>
                      <a:schemeClr val="tx1"/>
                    </a:solidFill>
                    <a:latin typeface="Arial Rounded MT Bold" panose="020F0704030504030204" pitchFamily="34" charset="77"/>
                    <a:sym typeface="Wingdings" pitchFamily="2" charset="2"/>
                  </a:rPr>
                  <a:t>Distribution overlap </a:t>
                </a:r>
                <a14:m>
                  <m:oMath xmlns:m="http://schemas.openxmlformats.org/officeDocument/2006/math">
                    <m:r>
                      <a:rPr lang="en-US" altLang="zh-TW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→</m:t>
                    </m:r>
                  </m:oMath>
                </a14:m>
                <a:r>
                  <a:rPr lang="en-US" altLang="zh-TW" dirty="0">
                    <a:solidFill>
                      <a:schemeClr val="tx1"/>
                    </a:solidFill>
                    <a:latin typeface="Arial Rounded MT Bold" panose="020F0704030504030204" pitchFamily="34" charset="77"/>
                    <a:sym typeface="Wingdings" pitchFamily="2" charset="2"/>
                  </a:rPr>
                  <a:t> Continuous semantics</a:t>
                </a:r>
                <a:endParaRPr lang="en-US" dirty="0">
                  <a:solidFill>
                    <a:schemeClr val="tx1"/>
                  </a:solidFill>
                  <a:latin typeface="Arial Rounded MT Bold" panose="020F0704030504030204" pitchFamily="34" charset="77"/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CAEECD8E-2B02-3E2E-6532-D6330C524A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6677" y="1731890"/>
                <a:ext cx="5572769" cy="369332"/>
              </a:xfrm>
              <a:prstGeom prst="rect">
                <a:avLst/>
              </a:prstGeom>
              <a:blipFill>
                <a:blip r:embed="rId6"/>
                <a:stretch>
                  <a:fillRect l="-656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4" name="Group 133">
            <a:extLst>
              <a:ext uri="{FF2B5EF4-FFF2-40B4-BE49-F238E27FC236}">
                <a16:creationId xmlns:a16="http://schemas.microsoft.com/office/drawing/2014/main" id="{CB2FAD30-9EA1-B46D-6656-338623AAAFE3}"/>
              </a:ext>
            </a:extLst>
          </p:cNvPr>
          <p:cNvGrpSpPr/>
          <p:nvPr/>
        </p:nvGrpSpPr>
        <p:grpSpPr>
          <a:xfrm>
            <a:off x="1047878" y="2266698"/>
            <a:ext cx="4739260" cy="1074964"/>
            <a:chOff x="1838614" y="1615440"/>
            <a:chExt cx="6285578" cy="1425702"/>
          </a:xfrm>
        </p:grpSpPr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BCDEDDC6-E0AF-68C3-B535-DDEDDB21DC02}"/>
                </a:ext>
              </a:extLst>
            </p:cNvPr>
            <p:cNvSpPr/>
            <p:nvPr/>
          </p:nvSpPr>
          <p:spPr>
            <a:xfrm>
              <a:off x="1838614" y="1645920"/>
              <a:ext cx="619760" cy="61976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0BECE722-1B90-46E4-AF37-9F5DA9DBC266}"/>
                </a:ext>
              </a:extLst>
            </p:cNvPr>
            <p:cNvSpPr/>
            <p:nvPr/>
          </p:nvSpPr>
          <p:spPr>
            <a:xfrm>
              <a:off x="3017174" y="1645920"/>
              <a:ext cx="619760" cy="61976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Moon 136">
              <a:extLst>
                <a:ext uri="{FF2B5EF4-FFF2-40B4-BE49-F238E27FC236}">
                  <a16:creationId xmlns:a16="http://schemas.microsoft.com/office/drawing/2014/main" id="{C4413862-B869-C4B3-C1DC-32AC9C0E2DE2}"/>
                </a:ext>
              </a:extLst>
            </p:cNvPr>
            <p:cNvSpPr/>
            <p:nvPr/>
          </p:nvSpPr>
          <p:spPr>
            <a:xfrm>
              <a:off x="3017174" y="1635760"/>
              <a:ext cx="333885" cy="619760"/>
            </a:xfrm>
            <a:prstGeom prst="moon">
              <a:avLst>
                <a:gd name="adj" fmla="val 33356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3B2B4725-6EF8-5EA3-60A4-FBCF02B1F49F}"/>
                </a:ext>
              </a:extLst>
            </p:cNvPr>
            <p:cNvSpPr/>
            <p:nvPr/>
          </p:nvSpPr>
          <p:spPr>
            <a:xfrm>
              <a:off x="4195734" y="1625600"/>
              <a:ext cx="619760" cy="61976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Moon 138">
              <a:extLst>
                <a:ext uri="{FF2B5EF4-FFF2-40B4-BE49-F238E27FC236}">
                  <a16:creationId xmlns:a16="http://schemas.microsoft.com/office/drawing/2014/main" id="{FFEC2DD0-6B93-573C-30A8-9CB67124E307}"/>
                </a:ext>
              </a:extLst>
            </p:cNvPr>
            <p:cNvSpPr/>
            <p:nvPr/>
          </p:nvSpPr>
          <p:spPr>
            <a:xfrm>
              <a:off x="4195734" y="1615440"/>
              <a:ext cx="333885" cy="619760"/>
            </a:xfrm>
            <a:prstGeom prst="moon">
              <a:avLst>
                <a:gd name="adj" fmla="val 79001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133B1841-40EF-418E-DD94-F41531EE9DDD}"/>
                </a:ext>
              </a:extLst>
            </p:cNvPr>
            <p:cNvSpPr/>
            <p:nvPr/>
          </p:nvSpPr>
          <p:spPr>
            <a:xfrm>
              <a:off x="6609080" y="1625600"/>
              <a:ext cx="619760" cy="61976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5FD88270-7F68-5D80-A9F1-603EA886858B}"/>
                </a:ext>
              </a:extLst>
            </p:cNvPr>
            <p:cNvSpPr/>
            <p:nvPr/>
          </p:nvSpPr>
          <p:spPr>
            <a:xfrm>
              <a:off x="5443047" y="1645920"/>
              <a:ext cx="619760" cy="61976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Moon 141">
              <a:extLst>
                <a:ext uri="{FF2B5EF4-FFF2-40B4-BE49-F238E27FC236}">
                  <a16:creationId xmlns:a16="http://schemas.microsoft.com/office/drawing/2014/main" id="{043BC8F6-3013-481B-50AD-3F19FD721430}"/>
                </a:ext>
              </a:extLst>
            </p:cNvPr>
            <p:cNvSpPr/>
            <p:nvPr/>
          </p:nvSpPr>
          <p:spPr>
            <a:xfrm flipH="1">
              <a:off x="5732067" y="1645921"/>
              <a:ext cx="333885" cy="619759"/>
            </a:xfrm>
            <a:prstGeom prst="moon">
              <a:avLst>
                <a:gd name="adj" fmla="val 69872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5D21F255-8E84-F24A-E026-7564524FEFCA}"/>
                </a:ext>
              </a:extLst>
            </p:cNvPr>
            <p:cNvCxnSpPr>
              <a:cxnSpLocks/>
            </p:cNvCxnSpPr>
            <p:nvPr/>
          </p:nvCxnSpPr>
          <p:spPr>
            <a:xfrm>
              <a:off x="1838614" y="3041142"/>
              <a:ext cx="6285578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DEFE75F6-7AFA-6C4F-ECE9-DAED2F7F2028}"/>
                </a:ext>
              </a:extLst>
            </p:cNvPr>
            <p:cNvCxnSpPr>
              <a:cxnSpLocks/>
            </p:cNvCxnSpPr>
            <p:nvPr/>
          </p:nvCxnSpPr>
          <p:spPr>
            <a:xfrm>
              <a:off x="2314605" y="2297810"/>
              <a:ext cx="255875" cy="743332"/>
            </a:xfrm>
            <a:prstGeom prst="straightConnector1">
              <a:avLst/>
            </a:prstGeom>
            <a:ln w="28575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Arrow Connector 144">
              <a:extLst>
                <a:ext uri="{FF2B5EF4-FFF2-40B4-BE49-F238E27FC236}">
                  <a16:creationId xmlns:a16="http://schemas.microsoft.com/office/drawing/2014/main" id="{9E17007A-7BA8-69ED-4AE3-B6B1D60F9832}"/>
                </a:ext>
              </a:extLst>
            </p:cNvPr>
            <p:cNvCxnSpPr>
              <a:cxnSpLocks/>
            </p:cNvCxnSpPr>
            <p:nvPr/>
          </p:nvCxnSpPr>
          <p:spPr>
            <a:xfrm>
              <a:off x="3351058" y="2307971"/>
              <a:ext cx="165319" cy="733171"/>
            </a:xfrm>
            <a:prstGeom prst="straightConnector1">
              <a:avLst/>
            </a:prstGeom>
            <a:ln w="28575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Arrow Connector 145">
              <a:extLst>
                <a:ext uri="{FF2B5EF4-FFF2-40B4-BE49-F238E27FC236}">
                  <a16:creationId xmlns:a16="http://schemas.microsoft.com/office/drawing/2014/main" id="{2F3FE381-5125-621E-B5E1-2DA36CCEBF1B}"/>
                </a:ext>
              </a:extLst>
            </p:cNvPr>
            <p:cNvCxnSpPr>
              <a:cxnSpLocks/>
            </p:cNvCxnSpPr>
            <p:nvPr/>
          </p:nvCxnSpPr>
          <p:spPr>
            <a:xfrm>
              <a:off x="4529620" y="2307971"/>
              <a:ext cx="0" cy="733171"/>
            </a:xfrm>
            <a:prstGeom prst="straightConnector1">
              <a:avLst/>
            </a:prstGeom>
            <a:ln w="28575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Arrow Connector 146">
              <a:extLst>
                <a:ext uri="{FF2B5EF4-FFF2-40B4-BE49-F238E27FC236}">
                  <a16:creationId xmlns:a16="http://schemas.microsoft.com/office/drawing/2014/main" id="{076E4B45-6BEA-3620-FCBB-4685172314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79110" y="2387600"/>
              <a:ext cx="673817" cy="653542"/>
            </a:xfrm>
            <a:prstGeom prst="straightConnector1">
              <a:avLst/>
            </a:prstGeom>
            <a:ln w="28575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Arrow Connector 147">
              <a:extLst>
                <a:ext uri="{FF2B5EF4-FFF2-40B4-BE49-F238E27FC236}">
                  <a16:creationId xmlns:a16="http://schemas.microsoft.com/office/drawing/2014/main" id="{129EC28D-5457-7112-CD59-93810FC55A40}"/>
                </a:ext>
              </a:extLst>
            </p:cNvPr>
            <p:cNvCxnSpPr>
              <a:cxnSpLocks/>
            </p:cNvCxnSpPr>
            <p:nvPr/>
          </p:nvCxnSpPr>
          <p:spPr>
            <a:xfrm>
              <a:off x="6908800" y="2387600"/>
              <a:ext cx="833120" cy="568960"/>
            </a:xfrm>
            <a:prstGeom prst="straightConnector1">
              <a:avLst/>
            </a:prstGeom>
            <a:ln w="28575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643766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DC755-2FE6-DF50-79BF-B901D4393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E305DD0-44E2-50DB-7912-430FE26C8501}"/>
              </a:ext>
            </a:extLst>
          </p:cNvPr>
          <p:cNvSpPr txBox="1"/>
          <p:nvPr/>
        </p:nvSpPr>
        <p:spPr>
          <a:xfrm>
            <a:off x="276410" y="260293"/>
            <a:ext cx="2462046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VAE – Variational AE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D76781-3995-6B88-F945-AC40D83E4CCC}"/>
              </a:ext>
            </a:extLst>
          </p:cNvPr>
          <p:cNvSpPr txBox="1"/>
          <p:nvPr/>
        </p:nvSpPr>
        <p:spPr>
          <a:xfrm>
            <a:off x="6694373" y="1750248"/>
            <a:ext cx="5396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For example, if                  is a Gaussian  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60" name="Graphic 59" descr="Magnifying glass with solid fill">
            <a:extLst>
              <a:ext uri="{FF2B5EF4-FFF2-40B4-BE49-F238E27FC236}">
                <a16:creationId xmlns:a16="http://schemas.microsoft.com/office/drawing/2014/main" id="{CC810F12-0333-85F5-EEDB-433769E95A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9003" y="856675"/>
            <a:ext cx="475673" cy="475673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04FC2025-94C0-6438-0CAD-C308413F5F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4291" y="2279407"/>
            <a:ext cx="1687172" cy="215438"/>
          </a:xfrm>
          <a:prstGeom prst="rect">
            <a:avLst/>
          </a:prstGeom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956A1447-DC3D-4081-E1FF-7F9A41EA56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9643" y="2216877"/>
            <a:ext cx="2818964" cy="27796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ED00C2D-3CE8-B212-5ACA-94774CA8F0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4291" y="1466535"/>
            <a:ext cx="1731294" cy="2154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29EDE2A-A71B-1504-EB5C-98068F3A51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3457" y="1809148"/>
            <a:ext cx="770077" cy="23938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D964D21-94D1-B1C6-AE25-5D864464BA5E}"/>
              </a:ext>
            </a:extLst>
          </p:cNvPr>
          <p:cNvSpPr txBox="1"/>
          <p:nvPr/>
        </p:nvSpPr>
        <p:spPr>
          <a:xfrm>
            <a:off x="1286678" y="1385834"/>
            <a:ext cx="4669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Encoder outputs a </a:t>
            </a:r>
            <a:r>
              <a:rPr lang="en-US" altLang="zh-TW" dirty="0">
                <a:solidFill>
                  <a:srgbClr val="FF0000"/>
                </a:solidFill>
                <a:latin typeface="Arial Rounded MT Bold" panose="020F0704030504030204" pitchFamily="34" charset="77"/>
                <a:sym typeface="Wingdings" pitchFamily="2" charset="2"/>
              </a:rPr>
              <a:t>distribution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7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F04B4C-E908-A7FB-7C25-9387C38C82F7}"/>
              </a:ext>
            </a:extLst>
          </p:cNvPr>
          <p:cNvSpPr txBox="1"/>
          <p:nvPr/>
        </p:nvSpPr>
        <p:spPr>
          <a:xfrm>
            <a:off x="1286678" y="856675"/>
            <a:ext cx="5060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AE + Probabilistic (pictures and intuitions)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1FBAEDA-3A78-2569-F45A-517CE4F7709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26761" y="3241578"/>
            <a:ext cx="4533035" cy="34006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36DC43B-C8E6-3EB5-C77D-3FBA48E5C7F7}"/>
              </a:ext>
            </a:extLst>
          </p:cNvPr>
          <p:cNvSpPr txBox="1"/>
          <p:nvPr/>
        </p:nvSpPr>
        <p:spPr>
          <a:xfrm>
            <a:off x="6694373" y="2696089"/>
            <a:ext cx="1309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VAE Loss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18B3182-81FA-8DAE-35E8-B7B4A06171C5}"/>
              </a:ext>
            </a:extLst>
          </p:cNvPr>
          <p:cNvSpPr/>
          <p:nvPr/>
        </p:nvSpPr>
        <p:spPr>
          <a:xfrm>
            <a:off x="3956329" y="3490619"/>
            <a:ext cx="418447" cy="41844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Moon 42">
            <a:extLst>
              <a:ext uri="{FF2B5EF4-FFF2-40B4-BE49-F238E27FC236}">
                <a16:creationId xmlns:a16="http://schemas.microsoft.com/office/drawing/2014/main" id="{9FD0B223-F8E4-2ED6-C1A1-741F1B356921}"/>
              </a:ext>
            </a:extLst>
          </p:cNvPr>
          <p:cNvSpPr/>
          <p:nvPr/>
        </p:nvSpPr>
        <p:spPr>
          <a:xfrm>
            <a:off x="3956329" y="3490619"/>
            <a:ext cx="225431" cy="418447"/>
          </a:xfrm>
          <a:prstGeom prst="moon">
            <a:avLst>
              <a:gd name="adj" fmla="val 69872"/>
            </a:avLst>
          </a:prstGeom>
          <a:solidFill>
            <a:schemeClr val="accent4">
              <a:lumMod val="40000"/>
              <a:lumOff val="6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291869D7-7B79-655E-C5D4-557021FF9CE5}"/>
              </a:ext>
            </a:extLst>
          </p:cNvPr>
          <p:cNvGrpSpPr/>
          <p:nvPr/>
        </p:nvGrpSpPr>
        <p:grpSpPr>
          <a:xfrm>
            <a:off x="872861" y="2148463"/>
            <a:ext cx="5157510" cy="1074965"/>
            <a:chOff x="872861" y="3925686"/>
            <a:chExt cx="5157510" cy="1074965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278DD3C5-EF82-7D19-DE68-995D12AF9181}"/>
                </a:ext>
              </a:extLst>
            </p:cNvPr>
            <p:cNvGrpSpPr/>
            <p:nvPr/>
          </p:nvGrpSpPr>
          <p:grpSpPr>
            <a:xfrm>
              <a:off x="1025955" y="3925686"/>
              <a:ext cx="4739263" cy="1074965"/>
              <a:chOff x="963173" y="3460090"/>
              <a:chExt cx="6285578" cy="1425702"/>
            </a:xfrm>
          </p:grpSpPr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51B52DB3-1ED5-1F6D-FEE4-3B7A36F6BD45}"/>
                  </a:ext>
                </a:extLst>
              </p:cNvPr>
              <p:cNvSpPr/>
              <p:nvPr/>
            </p:nvSpPr>
            <p:spPr>
              <a:xfrm>
                <a:off x="963173" y="3490570"/>
                <a:ext cx="619760" cy="61976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C1BE6F60-2725-16D1-CDFC-AAFC9AD1D388}"/>
                  </a:ext>
                </a:extLst>
              </p:cNvPr>
              <p:cNvSpPr/>
              <p:nvPr/>
            </p:nvSpPr>
            <p:spPr>
              <a:xfrm>
                <a:off x="2141733" y="3490570"/>
                <a:ext cx="619760" cy="61976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Moon 60">
                <a:extLst>
                  <a:ext uri="{FF2B5EF4-FFF2-40B4-BE49-F238E27FC236}">
                    <a16:creationId xmlns:a16="http://schemas.microsoft.com/office/drawing/2014/main" id="{35C2EBD7-CF1E-3C00-AFD1-B79C6C2366B6}"/>
                  </a:ext>
                </a:extLst>
              </p:cNvPr>
              <p:cNvSpPr/>
              <p:nvPr/>
            </p:nvSpPr>
            <p:spPr>
              <a:xfrm>
                <a:off x="2141733" y="3480410"/>
                <a:ext cx="333885" cy="619760"/>
              </a:xfrm>
              <a:prstGeom prst="moon">
                <a:avLst>
                  <a:gd name="adj" fmla="val 33356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E61FE53E-8FF9-759F-FC93-45D8D8C6DC51}"/>
                  </a:ext>
                </a:extLst>
              </p:cNvPr>
              <p:cNvSpPr/>
              <p:nvPr/>
            </p:nvSpPr>
            <p:spPr>
              <a:xfrm>
                <a:off x="3320293" y="3470250"/>
                <a:ext cx="619760" cy="61976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Moon 62">
                <a:extLst>
                  <a:ext uri="{FF2B5EF4-FFF2-40B4-BE49-F238E27FC236}">
                    <a16:creationId xmlns:a16="http://schemas.microsoft.com/office/drawing/2014/main" id="{E6FD3141-4FA3-E63E-C472-21741FB47403}"/>
                  </a:ext>
                </a:extLst>
              </p:cNvPr>
              <p:cNvSpPr/>
              <p:nvPr/>
            </p:nvSpPr>
            <p:spPr>
              <a:xfrm>
                <a:off x="3320293" y="3460090"/>
                <a:ext cx="333885" cy="619760"/>
              </a:xfrm>
              <a:prstGeom prst="moon">
                <a:avLst>
                  <a:gd name="adj" fmla="val 79001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8CB76529-9571-7F11-3F04-7048C6B3B279}"/>
                  </a:ext>
                </a:extLst>
              </p:cNvPr>
              <p:cNvSpPr/>
              <p:nvPr/>
            </p:nvSpPr>
            <p:spPr>
              <a:xfrm>
                <a:off x="5733639" y="3470250"/>
                <a:ext cx="619760" cy="61976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31C9091F-78A5-E4CE-5836-53DF200AC642}"/>
                  </a:ext>
                </a:extLst>
              </p:cNvPr>
              <p:cNvSpPr/>
              <p:nvPr/>
            </p:nvSpPr>
            <p:spPr>
              <a:xfrm>
                <a:off x="4567606" y="3490570"/>
                <a:ext cx="619760" cy="61976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Moon 65">
                <a:extLst>
                  <a:ext uri="{FF2B5EF4-FFF2-40B4-BE49-F238E27FC236}">
                    <a16:creationId xmlns:a16="http://schemas.microsoft.com/office/drawing/2014/main" id="{2BD74C1E-E691-2CFE-0940-040ED3F766C0}"/>
                  </a:ext>
                </a:extLst>
              </p:cNvPr>
              <p:cNvSpPr/>
              <p:nvPr/>
            </p:nvSpPr>
            <p:spPr>
              <a:xfrm flipH="1">
                <a:off x="4853481" y="3490571"/>
                <a:ext cx="333885" cy="619760"/>
              </a:xfrm>
              <a:prstGeom prst="moon">
                <a:avLst>
                  <a:gd name="adj" fmla="val 69872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46F2B62B-3531-CBBF-C4BA-A1C46D069E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3173" y="4885792"/>
                <a:ext cx="6285578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A68133EE-EF17-A9BF-F151-1366223E79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39163" y="4142461"/>
                <a:ext cx="255876" cy="575756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Arrow Connector 68">
                <a:extLst>
                  <a:ext uri="{FF2B5EF4-FFF2-40B4-BE49-F238E27FC236}">
                    <a16:creationId xmlns:a16="http://schemas.microsoft.com/office/drawing/2014/main" id="{9C96C9CA-3B35-FFC4-27D3-114228985F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75619" y="4152620"/>
                <a:ext cx="285874" cy="648590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4BB11894-C832-DD46-B845-46D933BAEE9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70983" y="4152620"/>
                <a:ext cx="183195" cy="648590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0EE2F7CC-020E-41C8-414B-5BDAF01D5EA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32743" y="4232250"/>
                <a:ext cx="644742" cy="616072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976F0F2D-E93C-CBC7-25B5-2E403B304E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33359" y="4232250"/>
                <a:ext cx="833120" cy="568960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D79D3DAF-7D7E-9F54-1F5A-400F69C371B3}"/>
                </a:ext>
              </a:extLst>
            </p:cNvPr>
            <p:cNvGrpSpPr/>
            <p:nvPr/>
          </p:nvGrpSpPr>
          <p:grpSpPr>
            <a:xfrm>
              <a:off x="872861" y="4658852"/>
              <a:ext cx="5157510" cy="334138"/>
              <a:chOff x="872861" y="4658852"/>
              <a:chExt cx="5157510" cy="334138"/>
            </a:xfrm>
          </p:grpSpPr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719E8ED2-570A-FF23-A2D9-EB8BFEFB6499}"/>
                  </a:ext>
                </a:extLst>
              </p:cNvPr>
              <p:cNvSpPr/>
              <p:nvPr/>
            </p:nvSpPr>
            <p:spPr>
              <a:xfrm>
                <a:off x="4521362" y="4664477"/>
                <a:ext cx="1509009" cy="313547"/>
              </a:xfrm>
              <a:custGeom>
                <a:avLst/>
                <a:gdLst>
                  <a:gd name="connsiteX0" fmla="*/ 0 w 822036"/>
                  <a:gd name="connsiteY0" fmla="*/ 472782 h 490768"/>
                  <a:gd name="connsiteX1" fmla="*/ 203200 w 822036"/>
                  <a:gd name="connsiteY1" fmla="*/ 463546 h 490768"/>
                  <a:gd name="connsiteX2" fmla="*/ 341745 w 822036"/>
                  <a:gd name="connsiteY2" fmla="*/ 214164 h 490768"/>
                  <a:gd name="connsiteX3" fmla="*/ 415636 w 822036"/>
                  <a:gd name="connsiteY3" fmla="*/ 47910 h 490768"/>
                  <a:gd name="connsiteX4" fmla="*/ 480291 w 822036"/>
                  <a:gd name="connsiteY4" fmla="*/ 1728 h 490768"/>
                  <a:gd name="connsiteX5" fmla="*/ 544945 w 822036"/>
                  <a:gd name="connsiteY5" fmla="*/ 94091 h 490768"/>
                  <a:gd name="connsiteX6" fmla="*/ 674254 w 822036"/>
                  <a:gd name="connsiteY6" fmla="*/ 371182 h 490768"/>
                  <a:gd name="connsiteX7" fmla="*/ 748145 w 822036"/>
                  <a:gd name="connsiteY7" fmla="*/ 472782 h 490768"/>
                  <a:gd name="connsiteX8" fmla="*/ 822036 w 822036"/>
                  <a:gd name="connsiteY8" fmla="*/ 472782 h 490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2036" h="490768">
                    <a:moveTo>
                      <a:pt x="0" y="472782"/>
                    </a:moveTo>
                    <a:cubicBezTo>
                      <a:pt x="73121" y="489715"/>
                      <a:pt x="146243" y="506649"/>
                      <a:pt x="203200" y="463546"/>
                    </a:cubicBezTo>
                    <a:cubicBezTo>
                      <a:pt x="260157" y="420443"/>
                      <a:pt x="306339" y="283437"/>
                      <a:pt x="341745" y="214164"/>
                    </a:cubicBezTo>
                    <a:cubicBezTo>
                      <a:pt x="377151" y="144891"/>
                      <a:pt x="392545" y="83316"/>
                      <a:pt x="415636" y="47910"/>
                    </a:cubicBezTo>
                    <a:cubicBezTo>
                      <a:pt x="438727" y="12504"/>
                      <a:pt x="458740" y="-5969"/>
                      <a:pt x="480291" y="1728"/>
                    </a:cubicBezTo>
                    <a:cubicBezTo>
                      <a:pt x="501843" y="9425"/>
                      <a:pt x="512618" y="32515"/>
                      <a:pt x="544945" y="94091"/>
                    </a:cubicBezTo>
                    <a:cubicBezTo>
                      <a:pt x="577272" y="155667"/>
                      <a:pt x="640387" y="308067"/>
                      <a:pt x="674254" y="371182"/>
                    </a:cubicBezTo>
                    <a:cubicBezTo>
                      <a:pt x="708121" y="434297"/>
                      <a:pt x="723515" y="455849"/>
                      <a:pt x="748145" y="472782"/>
                    </a:cubicBezTo>
                    <a:cubicBezTo>
                      <a:pt x="772775" y="489715"/>
                      <a:pt x="797405" y="481248"/>
                      <a:pt x="822036" y="472782"/>
                    </a:cubicBezTo>
                  </a:path>
                </a:pathLst>
              </a:custGeom>
              <a:solidFill>
                <a:srgbClr val="3988CF">
                  <a:alpha val="30196"/>
                </a:srgb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233954CE-C3FA-0647-19C4-99BEBABCC60F}"/>
                  </a:ext>
                </a:extLst>
              </p:cNvPr>
              <p:cNvSpPr/>
              <p:nvPr/>
            </p:nvSpPr>
            <p:spPr>
              <a:xfrm>
                <a:off x="1708960" y="4665698"/>
                <a:ext cx="1313609" cy="313547"/>
              </a:xfrm>
              <a:custGeom>
                <a:avLst/>
                <a:gdLst>
                  <a:gd name="connsiteX0" fmla="*/ 0 w 822036"/>
                  <a:gd name="connsiteY0" fmla="*/ 472782 h 490768"/>
                  <a:gd name="connsiteX1" fmla="*/ 203200 w 822036"/>
                  <a:gd name="connsiteY1" fmla="*/ 463546 h 490768"/>
                  <a:gd name="connsiteX2" fmla="*/ 341745 w 822036"/>
                  <a:gd name="connsiteY2" fmla="*/ 214164 h 490768"/>
                  <a:gd name="connsiteX3" fmla="*/ 415636 w 822036"/>
                  <a:gd name="connsiteY3" fmla="*/ 47910 h 490768"/>
                  <a:gd name="connsiteX4" fmla="*/ 480291 w 822036"/>
                  <a:gd name="connsiteY4" fmla="*/ 1728 h 490768"/>
                  <a:gd name="connsiteX5" fmla="*/ 544945 w 822036"/>
                  <a:gd name="connsiteY5" fmla="*/ 94091 h 490768"/>
                  <a:gd name="connsiteX6" fmla="*/ 674254 w 822036"/>
                  <a:gd name="connsiteY6" fmla="*/ 371182 h 490768"/>
                  <a:gd name="connsiteX7" fmla="*/ 748145 w 822036"/>
                  <a:gd name="connsiteY7" fmla="*/ 472782 h 490768"/>
                  <a:gd name="connsiteX8" fmla="*/ 822036 w 822036"/>
                  <a:gd name="connsiteY8" fmla="*/ 472782 h 490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2036" h="490768">
                    <a:moveTo>
                      <a:pt x="0" y="472782"/>
                    </a:moveTo>
                    <a:cubicBezTo>
                      <a:pt x="73121" y="489715"/>
                      <a:pt x="146243" y="506649"/>
                      <a:pt x="203200" y="463546"/>
                    </a:cubicBezTo>
                    <a:cubicBezTo>
                      <a:pt x="260157" y="420443"/>
                      <a:pt x="306339" y="283437"/>
                      <a:pt x="341745" y="214164"/>
                    </a:cubicBezTo>
                    <a:cubicBezTo>
                      <a:pt x="377151" y="144891"/>
                      <a:pt x="392545" y="83316"/>
                      <a:pt x="415636" y="47910"/>
                    </a:cubicBezTo>
                    <a:cubicBezTo>
                      <a:pt x="438727" y="12504"/>
                      <a:pt x="458740" y="-5969"/>
                      <a:pt x="480291" y="1728"/>
                    </a:cubicBezTo>
                    <a:cubicBezTo>
                      <a:pt x="501843" y="9425"/>
                      <a:pt x="512618" y="32515"/>
                      <a:pt x="544945" y="94091"/>
                    </a:cubicBezTo>
                    <a:cubicBezTo>
                      <a:pt x="577272" y="155667"/>
                      <a:pt x="640387" y="308067"/>
                      <a:pt x="674254" y="371182"/>
                    </a:cubicBezTo>
                    <a:cubicBezTo>
                      <a:pt x="708121" y="434297"/>
                      <a:pt x="723515" y="455849"/>
                      <a:pt x="748145" y="472782"/>
                    </a:cubicBezTo>
                    <a:cubicBezTo>
                      <a:pt x="772775" y="489715"/>
                      <a:pt x="797405" y="481248"/>
                      <a:pt x="822036" y="472782"/>
                    </a:cubicBezTo>
                  </a:path>
                </a:pathLst>
              </a:custGeom>
              <a:solidFill>
                <a:srgbClr val="3988CF">
                  <a:alpha val="30196"/>
                </a:srgb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D5DAA531-295D-5C21-6670-99FD27B2F9A0}"/>
                  </a:ext>
                </a:extLst>
              </p:cNvPr>
              <p:cNvSpPr/>
              <p:nvPr/>
            </p:nvSpPr>
            <p:spPr>
              <a:xfrm>
                <a:off x="2177569" y="4658852"/>
                <a:ext cx="1313609" cy="313547"/>
              </a:xfrm>
              <a:custGeom>
                <a:avLst/>
                <a:gdLst>
                  <a:gd name="connsiteX0" fmla="*/ 0 w 822036"/>
                  <a:gd name="connsiteY0" fmla="*/ 472782 h 490768"/>
                  <a:gd name="connsiteX1" fmla="*/ 203200 w 822036"/>
                  <a:gd name="connsiteY1" fmla="*/ 463546 h 490768"/>
                  <a:gd name="connsiteX2" fmla="*/ 341745 w 822036"/>
                  <a:gd name="connsiteY2" fmla="*/ 214164 h 490768"/>
                  <a:gd name="connsiteX3" fmla="*/ 415636 w 822036"/>
                  <a:gd name="connsiteY3" fmla="*/ 47910 h 490768"/>
                  <a:gd name="connsiteX4" fmla="*/ 480291 w 822036"/>
                  <a:gd name="connsiteY4" fmla="*/ 1728 h 490768"/>
                  <a:gd name="connsiteX5" fmla="*/ 544945 w 822036"/>
                  <a:gd name="connsiteY5" fmla="*/ 94091 h 490768"/>
                  <a:gd name="connsiteX6" fmla="*/ 674254 w 822036"/>
                  <a:gd name="connsiteY6" fmla="*/ 371182 h 490768"/>
                  <a:gd name="connsiteX7" fmla="*/ 748145 w 822036"/>
                  <a:gd name="connsiteY7" fmla="*/ 472782 h 490768"/>
                  <a:gd name="connsiteX8" fmla="*/ 822036 w 822036"/>
                  <a:gd name="connsiteY8" fmla="*/ 472782 h 490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2036" h="490768">
                    <a:moveTo>
                      <a:pt x="0" y="472782"/>
                    </a:moveTo>
                    <a:cubicBezTo>
                      <a:pt x="73121" y="489715"/>
                      <a:pt x="146243" y="506649"/>
                      <a:pt x="203200" y="463546"/>
                    </a:cubicBezTo>
                    <a:cubicBezTo>
                      <a:pt x="260157" y="420443"/>
                      <a:pt x="306339" y="283437"/>
                      <a:pt x="341745" y="214164"/>
                    </a:cubicBezTo>
                    <a:cubicBezTo>
                      <a:pt x="377151" y="144891"/>
                      <a:pt x="392545" y="83316"/>
                      <a:pt x="415636" y="47910"/>
                    </a:cubicBezTo>
                    <a:cubicBezTo>
                      <a:pt x="438727" y="12504"/>
                      <a:pt x="458740" y="-5969"/>
                      <a:pt x="480291" y="1728"/>
                    </a:cubicBezTo>
                    <a:cubicBezTo>
                      <a:pt x="501843" y="9425"/>
                      <a:pt x="512618" y="32515"/>
                      <a:pt x="544945" y="94091"/>
                    </a:cubicBezTo>
                    <a:cubicBezTo>
                      <a:pt x="577272" y="155667"/>
                      <a:pt x="640387" y="308067"/>
                      <a:pt x="674254" y="371182"/>
                    </a:cubicBezTo>
                    <a:cubicBezTo>
                      <a:pt x="708121" y="434297"/>
                      <a:pt x="723515" y="455849"/>
                      <a:pt x="748145" y="472782"/>
                    </a:cubicBezTo>
                    <a:cubicBezTo>
                      <a:pt x="772775" y="489715"/>
                      <a:pt x="797405" y="481248"/>
                      <a:pt x="822036" y="472782"/>
                    </a:cubicBezTo>
                  </a:path>
                </a:pathLst>
              </a:custGeom>
              <a:solidFill>
                <a:srgbClr val="3988CF">
                  <a:alpha val="30196"/>
                </a:srgb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31A6DA50-3523-6F1D-C92F-AE67F307B6DB}"/>
                  </a:ext>
                </a:extLst>
              </p:cNvPr>
              <p:cNvSpPr/>
              <p:nvPr/>
            </p:nvSpPr>
            <p:spPr>
              <a:xfrm>
                <a:off x="2672827" y="4679443"/>
                <a:ext cx="1313609" cy="313547"/>
              </a:xfrm>
              <a:custGeom>
                <a:avLst/>
                <a:gdLst>
                  <a:gd name="connsiteX0" fmla="*/ 0 w 822036"/>
                  <a:gd name="connsiteY0" fmla="*/ 472782 h 490768"/>
                  <a:gd name="connsiteX1" fmla="*/ 203200 w 822036"/>
                  <a:gd name="connsiteY1" fmla="*/ 463546 h 490768"/>
                  <a:gd name="connsiteX2" fmla="*/ 341745 w 822036"/>
                  <a:gd name="connsiteY2" fmla="*/ 214164 h 490768"/>
                  <a:gd name="connsiteX3" fmla="*/ 415636 w 822036"/>
                  <a:gd name="connsiteY3" fmla="*/ 47910 h 490768"/>
                  <a:gd name="connsiteX4" fmla="*/ 480291 w 822036"/>
                  <a:gd name="connsiteY4" fmla="*/ 1728 h 490768"/>
                  <a:gd name="connsiteX5" fmla="*/ 544945 w 822036"/>
                  <a:gd name="connsiteY5" fmla="*/ 94091 h 490768"/>
                  <a:gd name="connsiteX6" fmla="*/ 674254 w 822036"/>
                  <a:gd name="connsiteY6" fmla="*/ 371182 h 490768"/>
                  <a:gd name="connsiteX7" fmla="*/ 748145 w 822036"/>
                  <a:gd name="connsiteY7" fmla="*/ 472782 h 490768"/>
                  <a:gd name="connsiteX8" fmla="*/ 822036 w 822036"/>
                  <a:gd name="connsiteY8" fmla="*/ 472782 h 490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2036" h="490768">
                    <a:moveTo>
                      <a:pt x="0" y="472782"/>
                    </a:moveTo>
                    <a:cubicBezTo>
                      <a:pt x="73121" y="489715"/>
                      <a:pt x="146243" y="506649"/>
                      <a:pt x="203200" y="463546"/>
                    </a:cubicBezTo>
                    <a:cubicBezTo>
                      <a:pt x="260157" y="420443"/>
                      <a:pt x="306339" y="283437"/>
                      <a:pt x="341745" y="214164"/>
                    </a:cubicBezTo>
                    <a:cubicBezTo>
                      <a:pt x="377151" y="144891"/>
                      <a:pt x="392545" y="83316"/>
                      <a:pt x="415636" y="47910"/>
                    </a:cubicBezTo>
                    <a:cubicBezTo>
                      <a:pt x="438727" y="12504"/>
                      <a:pt x="458740" y="-5969"/>
                      <a:pt x="480291" y="1728"/>
                    </a:cubicBezTo>
                    <a:cubicBezTo>
                      <a:pt x="501843" y="9425"/>
                      <a:pt x="512618" y="32515"/>
                      <a:pt x="544945" y="94091"/>
                    </a:cubicBezTo>
                    <a:cubicBezTo>
                      <a:pt x="577272" y="155667"/>
                      <a:pt x="640387" y="308067"/>
                      <a:pt x="674254" y="371182"/>
                    </a:cubicBezTo>
                    <a:cubicBezTo>
                      <a:pt x="708121" y="434297"/>
                      <a:pt x="723515" y="455849"/>
                      <a:pt x="748145" y="472782"/>
                    </a:cubicBezTo>
                    <a:cubicBezTo>
                      <a:pt x="772775" y="489715"/>
                      <a:pt x="797405" y="481248"/>
                      <a:pt x="822036" y="472782"/>
                    </a:cubicBezTo>
                  </a:path>
                </a:pathLst>
              </a:custGeom>
              <a:solidFill>
                <a:srgbClr val="3988CF">
                  <a:alpha val="30196"/>
                </a:srgb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74825F61-CA22-98DB-079D-C057383FB6C3}"/>
                  </a:ext>
                </a:extLst>
              </p:cNvPr>
              <p:cNvSpPr/>
              <p:nvPr/>
            </p:nvSpPr>
            <p:spPr>
              <a:xfrm>
                <a:off x="872861" y="4679443"/>
                <a:ext cx="1313609" cy="313547"/>
              </a:xfrm>
              <a:custGeom>
                <a:avLst/>
                <a:gdLst>
                  <a:gd name="connsiteX0" fmla="*/ 0 w 822036"/>
                  <a:gd name="connsiteY0" fmla="*/ 472782 h 490768"/>
                  <a:gd name="connsiteX1" fmla="*/ 203200 w 822036"/>
                  <a:gd name="connsiteY1" fmla="*/ 463546 h 490768"/>
                  <a:gd name="connsiteX2" fmla="*/ 341745 w 822036"/>
                  <a:gd name="connsiteY2" fmla="*/ 214164 h 490768"/>
                  <a:gd name="connsiteX3" fmla="*/ 415636 w 822036"/>
                  <a:gd name="connsiteY3" fmla="*/ 47910 h 490768"/>
                  <a:gd name="connsiteX4" fmla="*/ 480291 w 822036"/>
                  <a:gd name="connsiteY4" fmla="*/ 1728 h 490768"/>
                  <a:gd name="connsiteX5" fmla="*/ 544945 w 822036"/>
                  <a:gd name="connsiteY5" fmla="*/ 94091 h 490768"/>
                  <a:gd name="connsiteX6" fmla="*/ 674254 w 822036"/>
                  <a:gd name="connsiteY6" fmla="*/ 371182 h 490768"/>
                  <a:gd name="connsiteX7" fmla="*/ 748145 w 822036"/>
                  <a:gd name="connsiteY7" fmla="*/ 472782 h 490768"/>
                  <a:gd name="connsiteX8" fmla="*/ 822036 w 822036"/>
                  <a:gd name="connsiteY8" fmla="*/ 472782 h 490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2036" h="490768">
                    <a:moveTo>
                      <a:pt x="0" y="472782"/>
                    </a:moveTo>
                    <a:cubicBezTo>
                      <a:pt x="73121" y="489715"/>
                      <a:pt x="146243" y="506649"/>
                      <a:pt x="203200" y="463546"/>
                    </a:cubicBezTo>
                    <a:cubicBezTo>
                      <a:pt x="260157" y="420443"/>
                      <a:pt x="306339" y="283437"/>
                      <a:pt x="341745" y="214164"/>
                    </a:cubicBezTo>
                    <a:cubicBezTo>
                      <a:pt x="377151" y="144891"/>
                      <a:pt x="392545" y="83316"/>
                      <a:pt x="415636" y="47910"/>
                    </a:cubicBezTo>
                    <a:cubicBezTo>
                      <a:pt x="438727" y="12504"/>
                      <a:pt x="458740" y="-5969"/>
                      <a:pt x="480291" y="1728"/>
                    </a:cubicBezTo>
                    <a:cubicBezTo>
                      <a:pt x="501843" y="9425"/>
                      <a:pt x="512618" y="32515"/>
                      <a:pt x="544945" y="94091"/>
                    </a:cubicBezTo>
                    <a:cubicBezTo>
                      <a:pt x="577272" y="155667"/>
                      <a:pt x="640387" y="308067"/>
                      <a:pt x="674254" y="371182"/>
                    </a:cubicBezTo>
                    <a:cubicBezTo>
                      <a:pt x="708121" y="434297"/>
                      <a:pt x="723515" y="455849"/>
                      <a:pt x="748145" y="472782"/>
                    </a:cubicBezTo>
                    <a:cubicBezTo>
                      <a:pt x="772775" y="489715"/>
                      <a:pt x="797405" y="481248"/>
                      <a:pt x="822036" y="472782"/>
                    </a:cubicBezTo>
                  </a:path>
                </a:pathLst>
              </a:custGeom>
              <a:solidFill>
                <a:srgbClr val="3988CF">
                  <a:alpha val="30196"/>
                </a:srgb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AA7D1E3-85F0-E07B-FC17-319747E5AE0F}"/>
              </a:ext>
            </a:extLst>
          </p:cNvPr>
          <p:cNvCxnSpPr>
            <a:cxnSpLocks/>
          </p:cNvCxnSpPr>
          <p:nvPr/>
        </p:nvCxnSpPr>
        <p:spPr>
          <a:xfrm>
            <a:off x="3684532" y="3164079"/>
            <a:ext cx="252638" cy="405305"/>
          </a:xfrm>
          <a:prstGeom prst="straightConnector1">
            <a:avLst/>
          </a:prstGeom>
          <a:ln w="28575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94486624-1FDD-412B-6137-3C5F97AC0065}"/>
                  </a:ext>
                </a:extLst>
              </p:cNvPr>
              <p:cNvSpPr txBox="1"/>
              <p:nvPr/>
            </p:nvSpPr>
            <p:spPr>
              <a:xfrm>
                <a:off x="1286677" y="4476975"/>
                <a:ext cx="55727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dirty="0">
                    <a:solidFill>
                      <a:schemeClr val="tx1"/>
                    </a:solidFill>
                    <a:latin typeface="Arial Rounded MT Bold" panose="020F0704030504030204" pitchFamily="34" charset="77"/>
                    <a:sym typeface="Wingdings" pitchFamily="2" charset="2"/>
                  </a:rPr>
                  <a:t>Distribution overlap </a:t>
                </a:r>
                <a14:m>
                  <m:oMath xmlns:m="http://schemas.openxmlformats.org/officeDocument/2006/math">
                    <m:r>
                      <a:rPr lang="en-US" altLang="zh-TW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→</m:t>
                    </m:r>
                  </m:oMath>
                </a14:m>
                <a:r>
                  <a:rPr lang="en-US" altLang="zh-TW" dirty="0">
                    <a:solidFill>
                      <a:schemeClr val="tx1"/>
                    </a:solidFill>
                    <a:latin typeface="Arial Rounded MT Bold" panose="020F0704030504030204" pitchFamily="34" charset="77"/>
                    <a:sym typeface="Wingdings" pitchFamily="2" charset="2"/>
                  </a:rPr>
                  <a:t> Continuous semantics</a:t>
                </a:r>
                <a:endParaRPr lang="en-US" dirty="0">
                  <a:solidFill>
                    <a:schemeClr val="tx1"/>
                  </a:solidFill>
                  <a:latin typeface="Arial Rounded MT Bold" panose="020F0704030504030204" pitchFamily="34" charset="77"/>
                </a:endParaRPr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94486624-1FDD-412B-6137-3C5F97AC00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6677" y="4476975"/>
                <a:ext cx="5572769" cy="369332"/>
              </a:xfrm>
              <a:prstGeom prst="rect">
                <a:avLst/>
              </a:prstGeom>
              <a:blipFill>
                <a:blip r:embed="rId12"/>
                <a:stretch>
                  <a:fillRect l="-656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09128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E47B2-3BCF-EE5A-8326-09B316A9F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B9966B-083A-2C95-AB4B-7794EA243E4C}"/>
              </a:ext>
            </a:extLst>
          </p:cNvPr>
          <p:cNvSpPr txBox="1"/>
          <p:nvPr/>
        </p:nvSpPr>
        <p:spPr>
          <a:xfrm>
            <a:off x="276410" y="260293"/>
            <a:ext cx="2462046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VAE – Variational AE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77AE8D-E607-1B0D-C18F-7646489FBA9C}"/>
              </a:ext>
            </a:extLst>
          </p:cNvPr>
          <p:cNvSpPr txBox="1"/>
          <p:nvPr/>
        </p:nvSpPr>
        <p:spPr>
          <a:xfrm>
            <a:off x="6694373" y="1750248"/>
            <a:ext cx="5396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For example, if                  is a Gaussian  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60" name="Graphic 59" descr="Magnifying glass with solid fill">
            <a:extLst>
              <a:ext uri="{FF2B5EF4-FFF2-40B4-BE49-F238E27FC236}">
                <a16:creationId xmlns:a16="http://schemas.microsoft.com/office/drawing/2014/main" id="{FC507E2E-CBCE-4250-3433-87185AA79D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9003" y="856675"/>
            <a:ext cx="475673" cy="475673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CC98FCC1-C39A-FF31-9F14-264D7D3FB4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4291" y="2279407"/>
            <a:ext cx="1687172" cy="215438"/>
          </a:xfrm>
          <a:prstGeom prst="rect">
            <a:avLst/>
          </a:prstGeom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353CC70B-FBA8-3970-EEB7-65A5AA2244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9643" y="2216877"/>
            <a:ext cx="2818964" cy="27796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801952D-AC9F-E4AE-709B-8727E29830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4291" y="1466535"/>
            <a:ext cx="1731294" cy="2154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F817FF7-5988-74DC-A8A2-4D5D911167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3457" y="1809148"/>
            <a:ext cx="770077" cy="23938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80D7810-B4C3-814B-8240-7393E07FCDC0}"/>
              </a:ext>
            </a:extLst>
          </p:cNvPr>
          <p:cNvSpPr txBox="1"/>
          <p:nvPr/>
        </p:nvSpPr>
        <p:spPr>
          <a:xfrm>
            <a:off x="1286678" y="1385834"/>
            <a:ext cx="4669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Encoder outputs a </a:t>
            </a:r>
            <a:r>
              <a:rPr lang="en-US" altLang="zh-TW" dirty="0">
                <a:solidFill>
                  <a:srgbClr val="FF0000"/>
                </a:solidFill>
                <a:latin typeface="Arial Rounded MT Bold" panose="020F0704030504030204" pitchFamily="34" charset="77"/>
                <a:sym typeface="Wingdings" pitchFamily="2" charset="2"/>
              </a:rPr>
              <a:t>distribution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7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8E60E3-99F2-0C43-E863-89F78844CE07}"/>
              </a:ext>
            </a:extLst>
          </p:cNvPr>
          <p:cNvSpPr txBox="1"/>
          <p:nvPr/>
        </p:nvSpPr>
        <p:spPr>
          <a:xfrm>
            <a:off x="1286678" y="856675"/>
            <a:ext cx="5060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AE + Probabilistic (pictures and intuitions)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496A781-9ED0-009C-F5EB-B142F96B1F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26761" y="3241578"/>
            <a:ext cx="4533035" cy="34006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D5D88C3-09B8-E97B-7361-328EFFC7637D}"/>
              </a:ext>
            </a:extLst>
          </p:cNvPr>
          <p:cNvSpPr txBox="1"/>
          <p:nvPr/>
        </p:nvSpPr>
        <p:spPr>
          <a:xfrm>
            <a:off x="6694373" y="2696089"/>
            <a:ext cx="1309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VAE Loss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F3ED2EC8-7C3B-CBC5-C94D-1A3B006639F6}"/>
              </a:ext>
            </a:extLst>
          </p:cNvPr>
          <p:cNvGrpSpPr/>
          <p:nvPr/>
        </p:nvGrpSpPr>
        <p:grpSpPr>
          <a:xfrm>
            <a:off x="872861" y="2148463"/>
            <a:ext cx="5157510" cy="1074965"/>
            <a:chOff x="872861" y="3925686"/>
            <a:chExt cx="5157510" cy="1074965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3FC0A14F-6A9E-2A47-649D-EF05C3C8723F}"/>
                </a:ext>
              </a:extLst>
            </p:cNvPr>
            <p:cNvGrpSpPr/>
            <p:nvPr/>
          </p:nvGrpSpPr>
          <p:grpSpPr>
            <a:xfrm>
              <a:off x="1025955" y="3925686"/>
              <a:ext cx="4739263" cy="1074965"/>
              <a:chOff x="963173" y="3460090"/>
              <a:chExt cx="6285578" cy="1425702"/>
            </a:xfrm>
          </p:grpSpPr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2A50ACE1-A03E-7FD4-E4D6-16117049745C}"/>
                  </a:ext>
                </a:extLst>
              </p:cNvPr>
              <p:cNvSpPr/>
              <p:nvPr/>
            </p:nvSpPr>
            <p:spPr>
              <a:xfrm>
                <a:off x="963173" y="3490570"/>
                <a:ext cx="619760" cy="61976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0CD96288-3712-D8D1-93ED-334420CC4C6E}"/>
                  </a:ext>
                </a:extLst>
              </p:cNvPr>
              <p:cNvSpPr/>
              <p:nvPr/>
            </p:nvSpPr>
            <p:spPr>
              <a:xfrm>
                <a:off x="2141733" y="3490570"/>
                <a:ext cx="619760" cy="61976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Moon 60">
                <a:extLst>
                  <a:ext uri="{FF2B5EF4-FFF2-40B4-BE49-F238E27FC236}">
                    <a16:creationId xmlns:a16="http://schemas.microsoft.com/office/drawing/2014/main" id="{3142E99F-6C0F-899C-25F2-64422216B491}"/>
                  </a:ext>
                </a:extLst>
              </p:cNvPr>
              <p:cNvSpPr/>
              <p:nvPr/>
            </p:nvSpPr>
            <p:spPr>
              <a:xfrm>
                <a:off x="2141733" y="3480410"/>
                <a:ext cx="333885" cy="619760"/>
              </a:xfrm>
              <a:prstGeom prst="moon">
                <a:avLst>
                  <a:gd name="adj" fmla="val 33356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30273D18-76F9-0DA5-3064-F15B8621D40D}"/>
                  </a:ext>
                </a:extLst>
              </p:cNvPr>
              <p:cNvSpPr/>
              <p:nvPr/>
            </p:nvSpPr>
            <p:spPr>
              <a:xfrm>
                <a:off x="3320293" y="3470250"/>
                <a:ext cx="619760" cy="61976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Moon 62">
                <a:extLst>
                  <a:ext uri="{FF2B5EF4-FFF2-40B4-BE49-F238E27FC236}">
                    <a16:creationId xmlns:a16="http://schemas.microsoft.com/office/drawing/2014/main" id="{289550E7-D361-B1BE-EBEA-726EB057A8CD}"/>
                  </a:ext>
                </a:extLst>
              </p:cNvPr>
              <p:cNvSpPr/>
              <p:nvPr/>
            </p:nvSpPr>
            <p:spPr>
              <a:xfrm>
                <a:off x="3320293" y="3460090"/>
                <a:ext cx="333885" cy="619760"/>
              </a:xfrm>
              <a:prstGeom prst="moon">
                <a:avLst>
                  <a:gd name="adj" fmla="val 79001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0FB314C7-DBC9-C334-90DF-24F354348A15}"/>
                  </a:ext>
                </a:extLst>
              </p:cNvPr>
              <p:cNvSpPr/>
              <p:nvPr/>
            </p:nvSpPr>
            <p:spPr>
              <a:xfrm>
                <a:off x="5733639" y="3470250"/>
                <a:ext cx="619760" cy="61976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107EE5FB-8A66-3C68-541F-DF3D494954E4}"/>
                  </a:ext>
                </a:extLst>
              </p:cNvPr>
              <p:cNvSpPr/>
              <p:nvPr/>
            </p:nvSpPr>
            <p:spPr>
              <a:xfrm>
                <a:off x="4567606" y="3490570"/>
                <a:ext cx="619760" cy="61976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Moon 65">
                <a:extLst>
                  <a:ext uri="{FF2B5EF4-FFF2-40B4-BE49-F238E27FC236}">
                    <a16:creationId xmlns:a16="http://schemas.microsoft.com/office/drawing/2014/main" id="{8786E5B9-BAA5-B50A-41A6-3CCB57BA731F}"/>
                  </a:ext>
                </a:extLst>
              </p:cNvPr>
              <p:cNvSpPr/>
              <p:nvPr/>
            </p:nvSpPr>
            <p:spPr>
              <a:xfrm flipH="1">
                <a:off x="4853481" y="3490571"/>
                <a:ext cx="333885" cy="619760"/>
              </a:xfrm>
              <a:prstGeom prst="moon">
                <a:avLst>
                  <a:gd name="adj" fmla="val 69872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6A63A62C-2773-00DD-ED81-0D1F10A6B9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3173" y="4885792"/>
                <a:ext cx="6285578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86B6E72F-7EB7-E473-0EB0-968DE0A76F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39163" y="4142461"/>
                <a:ext cx="255876" cy="575756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Arrow Connector 68">
                <a:extLst>
                  <a:ext uri="{FF2B5EF4-FFF2-40B4-BE49-F238E27FC236}">
                    <a16:creationId xmlns:a16="http://schemas.microsoft.com/office/drawing/2014/main" id="{01408120-6399-9DA5-5439-0787645B2D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75619" y="4152620"/>
                <a:ext cx="285874" cy="648590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7B2F5CD2-4E3A-73DD-0C92-6C75780EACD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70983" y="4152620"/>
                <a:ext cx="183195" cy="648590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25EAA043-75F8-B3B2-EF5A-719AF67ECA6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32743" y="4232250"/>
                <a:ext cx="644742" cy="616072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9B78266C-2C06-FF4E-E745-FF80D759F5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33359" y="4232250"/>
                <a:ext cx="833120" cy="568960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5AC92E43-B80C-057D-0808-CA35C2A900A2}"/>
                </a:ext>
              </a:extLst>
            </p:cNvPr>
            <p:cNvGrpSpPr/>
            <p:nvPr/>
          </p:nvGrpSpPr>
          <p:grpSpPr>
            <a:xfrm>
              <a:off x="872861" y="4658852"/>
              <a:ext cx="5157510" cy="334138"/>
              <a:chOff x="872861" y="4658852"/>
              <a:chExt cx="5157510" cy="334138"/>
            </a:xfrm>
          </p:grpSpPr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854F2BF2-5BCA-45CC-3A96-B94DE6391CB2}"/>
                  </a:ext>
                </a:extLst>
              </p:cNvPr>
              <p:cNvSpPr/>
              <p:nvPr/>
            </p:nvSpPr>
            <p:spPr>
              <a:xfrm>
                <a:off x="4521362" y="4664477"/>
                <a:ext cx="1509009" cy="313547"/>
              </a:xfrm>
              <a:custGeom>
                <a:avLst/>
                <a:gdLst>
                  <a:gd name="connsiteX0" fmla="*/ 0 w 822036"/>
                  <a:gd name="connsiteY0" fmla="*/ 472782 h 490768"/>
                  <a:gd name="connsiteX1" fmla="*/ 203200 w 822036"/>
                  <a:gd name="connsiteY1" fmla="*/ 463546 h 490768"/>
                  <a:gd name="connsiteX2" fmla="*/ 341745 w 822036"/>
                  <a:gd name="connsiteY2" fmla="*/ 214164 h 490768"/>
                  <a:gd name="connsiteX3" fmla="*/ 415636 w 822036"/>
                  <a:gd name="connsiteY3" fmla="*/ 47910 h 490768"/>
                  <a:gd name="connsiteX4" fmla="*/ 480291 w 822036"/>
                  <a:gd name="connsiteY4" fmla="*/ 1728 h 490768"/>
                  <a:gd name="connsiteX5" fmla="*/ 544945 w 822036"/>
                  <a:gd name="connsiteY5" fmla="*/ 94091 h 490768"/>
                  <a:gd name="connsiteX6" fmla="*/ 674254 w 822036"/>
                  <a:gd name="connsiteY6" fmla="*/ 371182 h 490768"/>
                  <a:gd name="connsiteX7" fmla="*/ 748145 w 822036"/>
                  <a:gd name="connsiteY7" fmla="*/ 472782 h 490768"/>
                  <a:gd name="connsiteX8" fmla="*/ 822036 w 822036"/>
                  <a:gd name="connsiteY8" fmla="*/ 472782 h 490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2036" h="490768">
                    <a:moveTo>
                      <a:pt x="0" y="472782"/>
                    </a:moveTo>
                    <a:cubicBezTo>
                      <a:pt x="73121" y="489715"/>
                      <a:pt x="146243" y="506649"/>
                      <a:pt x="203200" y="463546"/>
                    </a:cubicBezTo>
                    <a:cubicBezTo>
                      <a:pt x="260157" y="420443"/>
                      <a:pt x="306339" y="283437"/>
                      <a:pt x="341745" y="214164"/>
                    </a:cubicBezTo>
                    <a:cubicBezTo>
                      <a:pt x="377151" y="144891"/>
                      <a:pt x="392545" y="83316"/>
                      <a:pt x="415636" y="47910"/>
                    </a:cubicBezTo>
                    <a:cubicBezTo>
                      <a:pt x="438727" y="12504"/>
                      <a:pt x="458740" y="-5969"/>
                      <a:pt x="480291" y="1728"/>
                    </a:cubicBezTo>
                    <a:cubicBezTo>
                      <a:pt x="501843" y="9425"/>
                      <a:pt x="512618" y="32515"/>
                      <a:pt x="544945" y="94091"/>
                    </a:cubicBezTo>
                    <a:cubicBezTo>
                      <a:pt x="577272" y="155667"/>
                      <a:pt x="640387" y="308067"/>
                      <a:pt x="674254" y="371182"/>
                    </a:cubicBezTo>
                    <a:cubicBezTo>
                      <a:pt x="708121" y="434297"/>
                      <a:pt x="723515" y="455849"/>
                      <a:pt x="748145" y="472782"/>
                    </a:cubicBezTo>
                    <a:cubicBezTo>
                      <a:pt x="772775" y="489715"/>
                      <a:pt x="797405" y="481248"/>
                      <a:pt x="822036" y="472782"/>
                    </a:cubicBezTo>
                  </a:path>
                </a:pathLst>
              </a:custGeom>
              <a:solidFill>
                <a:srgbClr val="3988CF">
                  <a:alpha val="30196"/>
                </a:srgb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769D9A57-100E-0787-7D38-16A98014F239}"/>
                  </a:ext>
                </a:extLst>
              </p:cNvPr>
              <p:cNvSpPr/>
              <p:nvPr/>
            </p:nvSpPr>
            <p:spPr>
              <a:xfrm>
                <a:off x="1708960" y="4665698"/>
                <a:ext cx="1313609" cy="313547"/>
              </a:xfrm>
              <a:custGeom>
                <a:avLst/>
                <a:gdLst>
                  <a:gd name="connsiteX0" fmla="*/ 0 w 822036"/>
                  <a:gd name="connsiteY0" fmla="*/ 472782 h 490768"/>
                  <a:gd name="connsiteX1" fmla="*/ 203200 w 822036"/>
                  <a:gd name="connsiteY1" fmla="*/ 463546 h 490768"/>
                  <a:gd name="connsiteX2" fmla="*/ 341745 w 822036"/>
                  <a:gd name="connsiteY2" fmla="*/ 214164 h 490768"/>
                  <a:gd name="connsiteX3" fmla="*/ 415636 w 822036"/>
                  <a:gd name="connsiteY3" fmla="*/ 47910 h 490768"/>
                  <a:gd name="connsiteX4" fmla="*/ 480291 w 822036"/>
                  <a:gd name="connsiteY4" fmla="*/ 1728 h 490768"/>
                  <a:gd name="connsiteX5" fmla="*/ 544945 w 822036"/>
                  <a:gd name="connsiteY5" fmla="*/ 94091 h 490768"/>
                  <a:gd name="connsiteX6" fmla="*/ 674254 w 822036"/>
                  <a:gd name="connsiteY6" fmla="*/ 371182 h 490768"/>
                  <a:gd name="connsiteX7" fmla="*/ 748145 w 822036"/>
                  <a:gd name="connsiteY7" fmla="*/ 472782 h 490768"/>
                  <a:gd name="connsiteX8" fmla="*/ 822036 w 822036"/>
                  <a:gd name="connsiteY8" fmla="*/ 472782 h 490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2036" h="490768">
                    <a:moveTo>
                      <a:pt x="0" y="472782"/>
                    </a:moveTo>
                    <a:cubicBezTo>
                      <a:pt x="73121" y="489715"/>
                      <a:pt x="146243" y="506649"/>
                      <a:pt x="203200" y="463546"/>
                    </a:cubicBezTo>
                    <a:cubicBezTo>
                      <a:pt x="260157" y="420443"/>
                      <a:pt x="306339" y="283437"/>
                      <a:pt x="341745" y="214164"/>
                    </a:cubicBezTo>
                    <a:cubicBezTo>
                      <a:pt x="377151" y="144891"/>
                      <a:pt x="392545" y="83316"/>
                      <a:pt x="415636" y="47910"/>
                    </a:cubicBezTo>
                    <a:cubicBezTo>
                      <a:pt x="438727" y="12504"/>
                      <a:pt x="458740" y="-5969"/>
                      <a:pt x="480291" y="1728"/>
                    </a:cubicBezTo>
                    <a:cubicBezTo>
                      <a:pt x="501843" y="9425"/>
                      <a:pt x="512618" y="32515"/>
                      <a:pt x="544945" y="94091"/>
                    </a:cubicBezTo>
                    <a:cubicBezTo>
                      <a:pt x="577272" y="155667"/>
                      <a:pt x="640387" y="308067"/>
                      <a:pt x="674254" y="371182"/>
                    </a:cubicBezTo>
                    <a:cubicBezTo>
                      <a:pt x="708121" y="434297"/>
                      <a:pt x="723515" y="455849"/>
                      <a:pt x="748145" y="472782"/>
                    </a:cubicBezTo>
                    <a:cubicBezTo>
                      <a:pt x="772775" y="489715"/>
                      <a:pt x="797405" y="481248"/>
                      <a:pt x="822036" y="472782"/>
                    </a:cubicBezTo>
                  </a:path>
                </a:pathLst>
              </a:custGeom>
              <a:solidFill>
                <a:srgbClr val="3988CF">
                  <a:alpha val="30196"/>
                </a:srgb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5FE14C9A-32D4-ECB7-D8C4-28765DAF2562}"/>
                  </a:ext>
                </a:extLst>
              </p:cNvPr>
              <p:cNvSpPr/>
              <p:nvPr/>
            </p:nvSpPr>
            <p:spPr>
              <a:xfrm>
                <a:off x="2177569" y="4658852"/>
                <a:ext cx="1313609" cy="313547"/>
              </a:xfrm>
              <a:custGeom>
                <a:avLst/>
                <a:gdLst>
                  <a:gd name="connsiteX0" fmla="*/ 0 w 822036"/>
                  <a:gd name="connsiteY0" fmla="*/ 472782 h 490768"/>
                  <a:gd name="connsiteX1" fmla="*/ 203200 w 822036"/>
                  <a:gd name="connsiteY1" fmla="*/ 463546 h 490768"/>
                  <a:gd name="connsiteX2" fmla="*/ 341745 w 822036"/>
                  <a:gd name="connsiteY2" fmla="*/ 214164 h 490768"/>
                  <a:gd name="connsiteX3" fmla="*/ 415636 w 822036"/>
                  <a:gd name="connsiteY3" fmla="*/ 47910 h 490768"/>
                  <a:gd name="connsiteX4" fmla="*/ 480291 w 822036"/>
                  <a:gd name="connsiteY4" fmla="*/ 1728 h 490768"/>
                  <a:gd name="connsiteX5" fmla="*/ 544945 w 822036"/>
                  <a:gd name="connsiteY5" fmla="*/ 94091 h 490768"/>
                  <a:gd name="connsiteX6" fmla="*/ 674254 w 822036"/>
                  <a:gd name="connsiteY6" fmla="*/ 371182 h 490768"/>
                  <a:gd name="connsiteX7" fmla="*/ 748145 w 822036"/>
                  <a:gd name="connsiteY7" fmla="*/ 472782 h 490768"/>
                  <a:gd name="connsiteX8" fmla="*/ 822036 w 822036"/>
                  <a:gd name="connsiteY8" fmla="*/ 472782 h 490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2036" h="490768">
                    <a:moveTo>
                      <a:pt x="0" y="472782"/>
                    </a:moveTo>
                    <a:cubicBezTo>
                      <a:pt x="73121" y="489715"/>
                      <a:pt x="146243" y="506649"/>
                      <a:pt x="203200" y="463546"/>
                    </a:cubicBezTo>
                    <a:cubicBezTo>
                      <a:pt x="260157" y="420443"/>
                      <a:pt x="306339" y="283437"/>
                      <a:pt x="341745" y="214164"/>
                    </a:cubicBezTo>
                    <a:cubicBezTo>
                      <a:pt x="377151" y="144891"/>
                      <a:pt x="392545" y="83316"/>
                      <a:pt x="415636" y="47910"/>
                    </a:cubicBezTo>
                    <a:cubicBezTo>
                      <a:pt x="438727" y="12504"/>
                      <a:pt x="458740" y="-5969"/>
                      <a:pt x="480291" y="1728"/>
                    </a:cubicBezTo>
                    <a:cubicBezTo>
                      <a:pt x="501843" y="9425"/>
                      <a:pt x="512618" y="32515"/>
                      <a:pt x="544945" y="94091"/>
                    </a:cubicBezTo>
                    <a:cubicBezTo>
                      <a:pt x="577272" y="155667"/>
                      <a:pt x="640387" y="308067"/>
                      <a:pt x="674254" y="371182"/>
                    </a:cubicBezTo>
                    <a:cubicBezTo>
                      <a:pt x="708121" y="434297"/>
                      <a:pt x="723515" y="455849"/>
                      <a:pt x="748145" y="472782"/>
                    </a:cubicBezTo>
                    <a:cubicBezTo>
                      <a:pt x="772775" y="489715"/>
                      <a:pt x="797405" y="481248"/>
                      <a:pt x="822036" y="472782"/>
                    </a:cubicBezTo>
                  </a:path>
                </a:pathLst>
              </a:custGeom>
              <a:solidFill>
                <a:srgbClr val="3988CF">
                  <a:alpha val="30196"/>
                </a:srgb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BB8B0948-04FE-DB2F-51EE-8959A1661D36}"/>
                  </a:ext>
                </a:extLst>
              </p:cNvPr>
              <p:cNvSpPr/>
              <p:nvPr/>
            </p:nvSpPr>
            <p:spPr>
              <a:xfrm>
                <a:off x="2672827" y="4679443"/>
                <a:ext cx="1313609" cy="313547"/>
              </a:xfrm>
              <a:custGeom>
                <a:avLst/>
                <a:gdLst>
                  <a:gd name="connsiteX0" fmla="*/ 0 w 822036"/>
                  <a:gd name="connsiteY0" fmla="*/ 472782 h 490768"/>
                  <a:gd name="connsiteX1" fmla="*/ 203200 w 822036"/>
                  <a:gd name="connsiteY1" fmla="*/ 463546 h 490768"/>
                  <a:gd name="connsiteX2" fmla="*/ 341745 w 822036"/>
                  <a:gd name="connsiteY2" fmla="*/ 214164 h 490768"/>
                  <a:gd name="connsiteX3" fmla="*/ 415636 w 822036"/>
                  <a:gd name="connsiteY3" fmla="*/ 47910 h 490768"/>
                  <a:gd name="connsiteX4" fmla="*/ 480291 w 822036"/>
                  <a:gd name="connsiteY4" fmla="*/ 1728 h 490768"/>
                  <a:gd name="connsiteX5" fmla="*/ 544945 w 822036"/>
                  <a:gd name="connsiteY5" fmla="*/ 94091 h 490768"/>
                  <a:gd name="connsiteX6" fmla="*/ 674254 w 822036"/>
                  <a:gd name="connsiteY6" fmla="*/ 371182 h 490768"/>
                  <a:gd name="connsiteX7" fmla="*/ 748145 w 822036"/>
                  <a:gd name="connsiteY7" fmla="*/ 472782 h 490768"/>
                  <a:gd name="connsiteX8" fmla="*/ 822036 w 822036"/>
                  <a:gd name="connsiteY8" fmla="*/ 472782 h 490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2036" h="490768">
                    <a:moveTo>
                      <a:pt x="0" y="472782"/>
                    </a:moveTo>
                    <a:cubicBezTo>
                      <a:pt x="73121" y="489715"/>
                      <a:pt x="146243" y="506649"/>
                      <a:pt x="203200" y="463546"/>
                    </a:cubicBezTo>
                    <a:cubicBezTo>
                      <a:pt x="260157" y="420443"/>
                      <a:pt x="306339" y="283437"/>
                      <a:pt x="341745" y="214164"/>
                    </a:cubicBezTo>
                    <a:cubicBezTo>
                      <a:pt x="377151" y="144891"/>
                      <a:pt x="392545" y="83316"/>
                      <a:pt x="415636" y="47910"/>
                    </a:cubicBezTo>
                    <a:cubicBezTo>
                      <a:pt x="438727" y="12504"/>
                      <a:pt x="458740" y="-5969"/>
                      <a:pt x="480291" y="1728"/>
                    </a:cubicBezTo>
                    <a:cubicBezTo>
                      <a:pt x="501843" y="9425"/>
                      <a:pt x="512618" y="32515"/>
                      <a:pt x="544945" y="94091"/>
                    </a:cubicBezTo>
                    <a:cubicBezTo>
                      <a:pt x="577272" y="155667"/>
                      <a:pt x="640387" y="308067"/>
                      <a:pt x="674254" y="371182"/>
                    </a:cubicBezTo>
                    <a:cubicBezTo>
                      <a:pt x="708121" y="434297"/>
                      <a:pt x="723515" y="455849"/>
                      <a:pt x="748145" y="472782"/>
                    </a:cubicBezTo>
                    <a:cubicBezTo>
                      <a:pt x="772775" y="489715"/>
                      <a:pt x="797405" y="481248"/>
                      <a:pt x="822036" y="472782"/>
                    </a:cubicBezTo>
                  </a:path>
                </a:pathLst>
              </a:custGeom>
              <a:solidFill>
                <a:srgbClr val="3988CF">
                  <a:alpha val="30196"/>
                </a:srgb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44626E6A-3F05-406E-01E7-575C553F9D3B}"/>
                  </a:ext>
                </a:extLst>
              </p:cNvPr>
              <p:cNvSpPr/>
              <p:nvPr/>
            </p:nvSpPr>
            <p:spPr>
              <a:xfrm>
                <a:off x="872861" y="4679443"/>
                <a:ext cx="1313609" cy="313547"/>
              </a:xfrm>
              <a:custGeom>
                <a:avLst/>
                <a:gdLst>
                  <a:gd name="connsiteX0" fmla="*/ 0 w 822036"/>
                  <a:gd name="connsiteY0" fmla="*/ 472782 h 490768"/>
                  <a:gd name="connsiteX1" fmla="*/ 203200 w 822036"/>
                  <a:gd name="connsiteY1" fmla="*/ 463546 h 490768"/>
                  <a:gd name="connsiteX2" fmla="*/ 341745 w 822036"/>
                  <a:gd name="connsiteY2" fmla="*/ 214164 h 490768"/>
                  <a:gd name="connsiteX3" fmla="*/ 415636 w 822036"/>
                  <a:gd name="connsiteY3" fmla="*/ 47910 h 490768"/>
                  <a:gd name="connsiteX4" fmla="*/ 480291 w 822036"/>
                  <a:gd name="connsiteY4" fmla="*/ 1728 h 490768"/>
                  <a:gd name="connsiteX5" fmla="*/ 544945 w 822036"/>
                  <a:gd name="connsiteY5" fmla="*/ 94091 h 490768"/>
                  <a:gd name="connsiteX6" fmla="*/ 674254 w 822036"/>
                  <a:gd name="connsiteY6" fmla="*/ 371182 h 490768"/>
                  <a:gd name="connsiteX7" fmla="*/ 748145 w 822036"/>
                  <a:gd name="connsiteY7" fmla="*/ 472782 h 490768"/>
                  <a:gd name="connsiteX8" fmla="*/ 822036 w 822036"/>
                  <a:gd name="connsiteY8" fmla="*/ 472782 h 490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2036" h="490768">
                    <a:moveTo>
                      <a:pt x="0" y="472782"/>
                    </a:moveTo>
                    <a:cubicBezTo>
                      <a:pt x="73121" y="489715"/>
                      <a:pt x="146243" y="506649"/>
                      <a:pt x="203200" y="463546"/>
                    </a:cubicBezTo>
                    <a:cubicBezTo>
                      <a:pt x="260157" y="420443"/>
                      <a:pt x="306339" y="283437"/>
                      <a:pt x="341745" y="214164"/>
                    </a:cubicBezTo>
                    <a:cubicBezTo>
                      <a:pt x="377151" y="144891"/>
                      <a:pt x="392545" y="83316"/>
                      <a:pt x="415636" y="47910"/>
                    </a:cubicBezTo>
                    <a:cubicBezTo>
                      <a:pt x="438727" y="12504"/>
                      <a:pt x="458740" y="-5969"/>
                      <a:pt x="480291" y="1728"/>
                    </a:cubicBezTo>
                    <a:cubicBezTo>
                      <a:pt x="501843" y="9425"/>
                      <a:pt x="512618" y="32515"/>
                      <a:pt x="544945" y="94091"/>
                    </a:cubicBezTo>
                    <a:cubicBezTo>
                      <a:pt x="577272" y="155667"/>
                      <a:pt x="640387" y="308067"/>
                      <a:pt x="674254" y="371182"/>
                    </a:cubicBezTo>
                    <a:cubicBezTo>
                      <a:pt x="708121" y="434297"/>
                      <a:pt x="723515" y="455849"/>
                      <a:pt x="748145" y="472782"/>
                    </a:cubicBezTo>
                    <a:cubicBezTo>
                      <a:pt x="772775" y="489715"/>
                      <a:pt x="797405" y="481248"/>
                      <a:pt x="822036" y="472782"/>
                    </a:cubicBezTo>
                  </a:path>
                </a:pathLst>
              </a:custGeom>
              <a:solidFill>
                <a:srgbClr val="3988CF">
                  <a:alpha val="30196"/>
                </a:srgb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0" name="Oval 9">
            <a:extLst>
              <a:ext uri="{FF2B5EF4-FFF2-40B4-BE49-F238E27FC236}">
                <a16:creationId xmlns:a16="http://schemas.microsoft.com/office/drawing/2014/main" id="{067CFAC7-11F2-9A42-FA5E-D471595FA39A}"/>
              </a:ext>
            </a:extLst>
          </p:cNvPr>
          <p:cNvSpPr/>
          <p:nvPr/>
        </p:nvSpPr>
        <p:spPr>
          <a:xfrm>
            <a:off x="3276368" y="3674196"/>
            <a:ext cx="467293" cy="46729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artial Circle 13">
            <a:extLst>
              <a:ext uri="{FF2B5EF4-FFF2-40B4-BE49-F238E27FC236}">
                <a16:creationId xmlns:a16="http://schemas.microsoft.com/office/drawing/2014/main" id="{07B6A1C0-15A3-8162-C6F1-C7750A1AE9B6}"/>
              </a:ext>
            </a:extLst>
          </p:cNvPr>
          <p:cNvSpPr/>
          <p:nvPr/>
        </p:nvSpPr>
        <p:spPr>
          <a:xfrm rot="10800000">
            <a:off x="3267902" y="3673901"/>
            <a:ext cx="467294" cy="467294"/>
          </a:xfrm>
          <a:prstGeom prst="pie">
            <a:avLst>
              <a:gd name="adj1" fmla="val 5545136"/>
              <a:gd name="adj2" fmla="val 16200000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41D49BB-1DDF-6CFD-42AF-6C568E779CD5}"/>
              </a:ext>
            </a:extLst>
          </p:cNvPr>
          <p:cNvCxnSpPr>
            <a:cxnSpLocks/>
          </p:cNvCxnSpPr>
          <p:nvPr/>
        </p:nvCxnSpPr>
        <p:spPr>
          <a:xfrm>
            <a:off x="3206163" y="3158189"/>
            <a:ext cx="252638" cy="405305"/>
          </a:xfrm>
          <a:prstGeom prst="straightConnector1">
            <a:avLst/>
          </a:prstGeom>
          <a:ln w="28575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65AEAC4-CD5B-8DEA-D63C-0D1E886C492C}"/>
              </a:ext>
            </a:extLst>
          </p:cNvPr>
          <p:cNvSpPr txBox="1"/>
          <p:nvPr/>
        </p:nvSpPr>
        <p:spPr>
          <a:xfrm>
            <a:off x="2494324" y="185688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C</a:t>
            </a:r>
            <a:endParaRPr lang="en-US" sz="2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BD35F1C-26F0-7C34-62A9-496553680CF0}"/>
              </a:ext>
            </a:extLst>
          </p:cNvPr>
          <p:cNvSpPr txBox="1"/>
          <p:nvPr/>
        </p:nvSpPr>
        <p:spPr>
          <a:xfrm>
            <a:off x="3512575" y="1860224"/>
            <a:ext cx="3738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D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0C9FAAC-B1F2-FC9A-BF26-F599F2B1A7A9}"/>
                  </a:ext>
                </a:extLst>
              </p:cNvPr>
              <p:cNvSpPr txBox="1"/>
              <p:nvPr/>
            </p:nvSpPr>
            <p:spPr>
              <a:xfrm>
                <a:off x="1286677" y="4476975"/>
                <a:ext cx="55727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dirty="0">
                    <a:solidFill>
                      <a:schemeClr val="tx1"/>
                    </a:solidFill>
                    <a:latin typeface="Arial Rounded MT Bold" panose="020F0704030504030204" pitchFamily="34" charset="77"/>
                    <a:sym typeface="Wingdings" pitchFamily="2" charset="2"/>
                  </a:rPr>
                  <a:t>Distribution overlap </a:t>
                </a:r>
                <a14:m>
                  <m:oMath xmlns:m="http://schemas.openxmlformats.org/officeDocument/2006/math">
                    <m:r>
                      <a:rPr lang="en-US" altLang="zh-TW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→</m:t>
                    </m:r>
                  </m:oMath>
                </a14:m>
                <a:r>
                  <a:rPr lang="en-US" altLang="zh-TW" dirty="0">
                    <a:solidFill>
                      <a:schemeClr val="tx1"/>
                    </a:solidFill>
                    <a:latin typeface="Arial Rounded MT Bold" panose="020F0704030504030204" pitchFamily="34" charset="77"/>
                    <a:sym typeface="Wingdings" pitchFamily="2" charset="2"/>
                  </a:rPr>
                  <a:t> Continuous semantics</a:t>
                </a:r>
                <a:endParaRPr lang="en-US" dirty="0">
                  <a:solidFill>
                    <a:schemeClr val="tx1"/>
                  </a:solidFill>
                  <a:latin typeface="Arial Rounded MT Bold" panose="020F0704030504030204" pitchFamily="34" charset="77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0C9FAAC-B1F2-FC9A-BF26-F599F2B1A7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6677" y="4476975"/>
                <a:ext cx="5572769" cy="369332"/>
              </a:xfrm>
              <a:prstGeom prst="rect">
                <a:avLst/>
              </a:prstGeom>
              <a:blipFill>
                <a:blip r:embed="rId12"/>
                <a:stretch>
                  <a:fillRect l="-656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FE3B4289-BC5F-A53A-6639-5E1398DA4E77}"/>
              </a:ext>
            </a:extLst>
          </p:cNvPr>
          <p:cNvSpPr txBox="1"/>
          <p:nvPr/>
        </p:nvSpPr>
        <p:spPr>
          <a:xfrm>
            <a:off x="1286676" y="4857649"/>
            <a:ext cx="7766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</a:rPr>
              <a:t>If          falls in the overlap between</a:t>
            </a:r>
            <a:r>
              <a:rPr lang="zh-TW" altLang="en-US" dirty="0">
                <a:latin typeface="Arial Rounded MT Bold" panose="020F0704030504030204" pitchFamily="34" charset="77"/>
              </a:rPr>
              <a:t>                  </a:t>
            </a:r>
            <a:r>
              <a:rPr lang="en-US" altLang="zh-TW" dirty="0">
                <a:latin typeface="Arial Rounded MT Bold" panose="020F0704030504030204" pitchFamily="34" charset="77"/>
              </a:rPr>
              <a:t>and </a:t>
            </a:r>
            <a:r>
              <a:rPr lang="zh-TW" altLang="en-US" dirty="0">
                <a:latin typeface="Arial Rounded MT Bold" panose="020F0704030504030204" pitchFamily="34" charset="77"/>
              </a:rPr>
              <a:t> </a:t>
            </a:r>
            <a:r>
              <a:rPr lang="en-US" altLang="zh-TW" dirty="0">
                <a:latin typeface="Arial Rounded MT Bold" panose="020F0704030504030204" pitchFamily="34" charset="77"/>
              </a:rPr>
              <a:t>   </a:t>
            </a:r>
            <a:endParaRPr lang="en-US" dirty="0">
              <a:solidFill>
                <a:schemeClr val="tx1"/>
              </a:solidFill>
              <a:latin typeface="Arial Rounded MT Bold" panose="020F0704030504030204" pitchFamily="34" charset="77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EABFD849-CBEF-E166-B473-42A158A88A6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08960" y="4940670"/>
            <a:ext cx="286066" cy="24660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7AC66DB1-6B0E-7993-4DE0-94A97380272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75866" y="4925727"/>
            <a:ext cx="820134" cy="247531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F30BC525-9576-192A-87A2-139EBEB45B9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12366" y="4907549"/>
            <a:ext cx="891799" cy="261552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F56D864B-AD2F-6070-2868-223A26D91546}"/>
              </a:ext>
            </a:extLst>
          </p:cNvPr>
          <p:cNvSpPr txBox="1"/>
          <p:nvPr/>
        </p:nvSpPr>
        <p:spPr>
          <a:xfrm>
            <a:off x="1623965" y="5248076"/>
            <a:ext cx="7751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Arial Rounded MT Bold" panose="020F0704030504030204" pitchFamily="34" charset="77"/>
                <a:sym typeface="Wingdings" pitchFamily="2" charset="2"/>
              </a:rPr>
              <a:t>                          </a:t>
            </a:r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and  </a:t>
            </a:r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EAD136B1-6A30-9181-B751-86ACE1D3F10D}"/>
              </a:ext>
            </a:extLst>
          </p:cNvPr>
          <p:cNvSpPr/>
          <p:nvPr/>
        </p:nvSpPr>
        <p:spPr>
          <a:xfrm>
            <a:off x="1362271" y="5370829"/>
            <a:ext cx="193087" cy="178240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DE6A3843-55C7-8162-BA7A-7BD8D79FDDE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51993" y="5343845"/>
            <a:ext cx="1284828" cy="236979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E70CCD6A-2E35-F319-1B00-AC81F65CB96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699485" y="5334342"/>
            <a:ext cx="245087" cy="21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113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743E0-0AA1-5C35-77F9-BB1C805A2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FCC0C19-9F85-A3EE-D8B8-A0DCEE348CFB}"/>
              </a:ext>
            </a:extLst>
          </p:cNvPr>
          <p:cNvSpPr txBox="1"/>
          <p:nvPr/>
        </p:nvSpPr>
        <p:spPr>
          <a:xfrm>
            <a:off x="276410" y="260293"/>
            <a:ext cx="2462046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VAE – Variational AE</a:t>
            </a:r>
          </a:p>
        </p:txBody>
      </p:sp>
      <p:pic>
        <p:nvPicPr>
          <p:cNvPr id="60" name="Graphic 59" descr="Magnifying glass with solid fill">
            <a:extLst>
              <a:ext uri="{FF2B5EF4-FFF2-40B4-BE49-F238E27FC236}">
                <a16:creationId xmlns:a16="http://schemas.microsoft.com/office/drawing/2014/main" id="{B6485470-D9AB-B532-C8AA-955EAA7788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9003" y="856675"/>
            <a:ext cx="475673" cy="47567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654489A-BB2A-B8F4-7230-9F5EC9AE8CCF}"/>
              </a:ext>
            </a:extLst>
          </p:cNvPr>
          <p:cNvSpPr txBox="1"/>
          <p:nvPr/>
        </p:nvSpPr>
        <p:spPr>
          <a:xfrm>
            <a:off x="1286678" y="1385834"/>
            <a:ext cx="4669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Encoder outputs a </a:t>
            </a:r>
            <a:r>
              <a:rPr lang="en-US" altLang="zh-TW" dirty="0">
                <a:solidFill>
                  <a:srgbClr val="FF0000"/>
                </a:solidFill>
                <a:latin typeface="Arial Rounded MT Bold" panose="020F0704030504030204" pitchFamily="34" charset="77"/>
                <a:sym typeface="Wingdings" pitchFamily="2" charset="2"/>
              </a:rPr>
              <a:t>distribution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7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8FACA5-B9EB-6B34-660F-01148161821F}"/>
              </a:ext>
            </a:extLst>
          </p:cNvPr>
          <p:cNvSpPr txBox="1"/>
          <p:nvPr/>
        </p:nvSpPr>
        <p:spPr>
          <a:xfrm>
            <a:off x="1286678" y="856675"/>
            <a:ext cx="5060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AE + Probabilistic (pictures and intuitions)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036A3603-7FD3-FC52-7564-B26113B36D05}"/>
              </a:ext>
            </a:extLst>
          </p:cNvPr>
          <p:cNvGrpSpPr/>
          <p:nvPr/>
        </p:nvGrpSpPr>
        <p:grpSpPr>
          <a:xfrm>
            <a:off x="872861" y="2148463"/>
            <a:ext cx="5157510" cy="1074965"/>
            <a:chOff x="872861" y="3925686"/>
            <a:chExt cx="5157510" cy="1074965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FAE48E3D-5E20-DCE4-DFF8-083CEE15AFAE}"/>
                </a:ext>
              </a:extLst>
            </p:cNvPr>
            <p:cNvGrpSpPr/>
            <p:nvPr/>
          </p:nvGrpSpPr>
          <p:grpSpPr>
            <a:xfrm>
              <a:off x="1025955" y="3925686"/>
              <a:ext cx="4739263" cy="1074965"/>
              <a:chOff x="963173" y="3460090"/>
              <a:chExt cx="6285578" cy="1425702"/>
            </a:xfrm>
          </p:grpSpPr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410EE368-6967-44E1-F250-8B2769AFB7DE}"/>
                  </a:ext>
                </a:extLst>
              </p:cNvPr>
              <p:cNvSpPr/>
              <p:nvPr/>
            </p:nvSpPr>
            <p:spPr>
              <a:xfrm>
                <a:off x="963173" y="3490570"/>
                <a:ext cx="619760" cy="61976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343D6ADA-D4A0-6AF0-D2A1-AAE0487B4A62}"/>
                  </a:ext>
                </a:extLst>
              </p:cNvPr>
              <p:cNvSpPr/>
              <p:nvPr/>
            </p:nvSpPr>
            <p:spPr>
              <a:xfrm>
                <a:off x="2141733" y="3490570"/>
                <a:ext cx="619760" cy="61976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Moon 60">
                <a:extLst>
                  <a:ext uri="{FF2B5EF4-FFF2-40B4-BE49-F238E27FC236}">
                    <a16:creationId xmlns:a16="http://schemas.microsoft.com/office/drawing/2014/main" id="{28F5A1EB-FFEB-AF4C-3696-4BC6347BB914}"/>
                  </a:ext>
                </a:extLst>
              </p:cNvPr>
              <p:cNvSpPr/>
              <p:nvPr/>
            </p:nvSpPr>
            <p:spPr>
              <a:xfrm>
                <a:off x="2141733" y="3480410"/>
                <a:ext cx="333885" cy="619760"/>
              </a:xfrm>
              <a:prstGeom prst="moon">
                <a:avLst>
                  <a:gd name="adj" fmla="val 33356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4A5F639F-B36F-4CAB-8F14-88DB54E4744B}"/>
                  </a:ext>
                </a:extLst>
              </p:cNvPr>
              <p:cNvSpPr/>
              <p:nvPr/>
            </p:nvSpPr>
            <p:spPr>
              <a:xfrm>
                <a:off x="3320293" y="3470250"/>
                <a:ext cx="619760" cy="61976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Moon 62">
                <a:extLst>
                  <a:ext uri="{FF2B5EF4-FFF2-40B4-BE49-F238E27FC236}">
                    <a16:creationId xmlns:a16="http://schemas.microsoft.com/office/drawing/2014/main" id="{70BD7CB3-7938-E5AA-BD26-3F67BC222703}"/>
                  </a:ext>
                </a:extLst>
              </p:cNvPr>
              <p:cNvSpPr/>
              <p:nvPr/>
            </p:nvSpPr>
            <p:spPr>
              <a:xfrm>
                <a:off x="3320293" y="3460090"/>
                <a:ext cx="333885" cy="619760"/>
              </a:xfrm>
              <a:prstGeom prst="moon">
                <a:avLst>
                  <a:gd name="adj" fmla="val 79001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1144F343-2351-9341-416F-B9DF0070F79E}"/>
                  </a:ext>
                </a:extLst>
              </p:cNvPr>
              <p:cNvSpPr/>
              <p:nvPr/>
            </p:nvSpPr>
            <p:spPr>
              <a:xfrm>
                <a:off x="5733639" y="3470250"/>
                <a:ext cx="619760" cy="61976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8594B2B2-CF82-9252-986E-FBA45A42CC33}"/>
                  </a:ext>
                </a:extLst>
              </p:cNvPr>
              <p:cNvSpPr/>
              <p:nvPr/>
            </p:nvSpPr>
            <p:spPr>
              <a:xfrm>
                <a:off x="4567606" y="3490570"/>
                <a:ext cx="619760" cy="61976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Moon 65">
                <a:extLst>
                  <a:ext uri="{FF2B5EF4-FFF2-40B4-BE49-F238E27FC236}">
                    <a16:creationId xmlns:a16="http://schemas.microsoft.com/office/drawing/2014/main" id="{F96602BE-A1B4-2D00-CCCB-78EE345F06A8}"/>
                  </a:ext>
                </a:extLst>
              </p:cNvPr>
              <p:cNvSpPr/>
              <p:nvPr/>
            </p:nvSpPr>
            <p:spPr>
              <a:xfrm flipH="1">
                <a:off x="4853481" y="3490571"/>
                <a:ext cx="333885" cy="619760"/>
              </a:xfrm>
              <a:prstGeom prst="moon">
                <a:avLst>
                  <a:gd name="adj" fmla="val 69872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B701202D-04D2-A790-5277-73F861D991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3173" y="4885792"/>
                <a:ext cx="6285578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F9F1A183-01F9-F946-8F1F-87B9AFF3D3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39163" y="4142461"/>
                <a:ext cx="255876" cy="575756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Arrow Connector 68">
                <a:extLst>
                  <a:ext uri="{FF2B5EF4-FFF2-40B4-BE49-F238E27FC236}">
                    <a16:creationId xmlns:a16="http://schemas.microsoft.com/office/drawing/2014/main" id="{FD759E6B-7956-B840-BD8F-15F051AB7D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75619" y="4152620"/>
                <a:ext cx="285874" cy="648590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2366FAA7-6AF1-36DC-1F3C-832591A6CEB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70983" y="4152620"/>
                <a:ext cx="183195" cy="648590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69FB6391-CB4D-9168-B99A-2492004DCEC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32743" y="4232250"/>
                <a:ext cx="644742" cy="616072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B90930F5-964E-C126-6575-8836D500EE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33359" y="4232250"/>
                <a:ext cx="833120" cy="568960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C7F24A55-2AFC-E1E4-E8B9-B8903BF1FA23}"/>
                </a:ext>
              </a:extLst>
            </p:cNvPr>
            <p:cNvGrpSpPr/>
            <p:nvPr/>
          </p:nvGrpSpPr>
          <p:grpSpPr>
            <a:xfrm>
              <a:off x="872861" y="4658852"/>
              <a:ext cx="5157510" cy="334138"/>
              <a:chOff x="872861" y="4658852"/>
              <a:chExt cx="5157510" cy="334138"/>
            </a:xfrm>
          </p:grpSpPr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FB3DB0DD-2F5A-E3FE-6D53-24B4F435F997}"/>
                  </a:ext>
                </a:extLst>
              </p:cNvPr>
              <p:cNvSpPr/>
              <p:nvPr/>
            </p:nvSpPr>
            <p:spPr>
              <a:xfrm>
                <a:off x="4521362" y="4664477"/>
                <a:ext cx="1509009" cy="313547"/>
              </a:xfrm>
              <a:custGeom>
                <a:avLst/>
                <a:gdLst>
                  <a:gd name="connsiteX0" fmla="*/ 0 w 822036"/>
                  <a:gd name="connsiteY0" fmla="*/ 472782 h 490768"/>
                  <a:gd name="connsiteX1" fmla="*/ 203200 w 822036"/>
                  <a:gd name="connsiteY1" fmla="*/ 463546 h 490768"/>
                  <a:gd name="connsiteX2" fmla="*/ 341745 w 822036"/>
                  <a:gd name="connsiteY2" fmla="*/ 214164 h 490768"/>
                  <a:gd name="connsiteX3" fmla="*/ 415636 w 822036"/>
                  <a:gd name="connsiteY3" fmla="*/ 47910 h 490768"/>
                  <a:gd name="connsiteX4" fmla="*/ 480291 w 822036"/>
                  <a:gd name="connsiteY4" fmla="*/ 1728 h 490768"/>
                  <a:gd name="connsiteX5" fmla="*/ 544945 w 822036"/>
                  <a:gd name="connsiteY5" fmla="*/ 94091 h 490768"/>
                  <a:gd name="connsiteX6" fmla="*/ 674254 w 822036"/>
                  <a:gd name="connsiteY6" fmla="*/ 371182 h 490768"/>
                  <a:gd name="connsiteX7" fmla="*/ 748145 w 822036"/>
                  <a:gd name="connsiteY7" fmla="*/ 472782 h 490768"/>
                  <a:gd name="connsiteX8" fmla="*/ 822036 w 822036"/>
                  <a:gd name="connsiteY8" fmla="*/ 472782 h 490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2036" h="490768">
                    <a:moveTo>
                      <a:pt x="0" y="472782"/>
                    </a:moveTo>
                    <a:cubicBezTo>
                      <a:pt x="73121" y="489715"/>
                      <a:pt x="146243" y="506649"/>
                      <a:pt x="203200" y="463546"/>
                    </a:cubicBezTo>
                    <a:cubicBezTo>
                      <a:pt x="260157" y="420443"/>
                      <a:pt x="306339" y="283437"/>
                      <a:pt x="341745" y="214164"/>
                    </a:cubicBezTo>
                    <a:cubicBezTo>
                      <a:pt x="377151" y="144891"/>
                      <a:pt x="392545" y="83316"/>
                      <a:pt x="415636" y="47910"/>
                    </a:cubicBezTo>
                    <a:cubicBezTo>
                      <a:pt x="438727" y="12504"/>
                      <a:pt x="458740" y="-5969"/>
                      <a:pt x="480291" y="1728"/>
                    </a:cubicBezTo>
                    <a:cubicBezTo>
                      <a:pt x="501843" y="9425"/>
                      <a:pt x="512618" y="32515"/>
                      <a:pt x="544945" y="94091"/>
                    </a:cubicBezTo>
                    <a:cubicBezTo>
                      <a:pt x="577272" y="155667"/>
                      <a:pt x="640387" y="308067"/>
                      <a:pt x="674254" y="371182"/>
                    </a:cubicBezTo>
                    <a:cubicBezTo>
                      <a:pt x="708121" y="434297"/>
                      <a:pt x="723515" y="455849"/>
                      <a:pt x="748145" y="472782"/>
                    </a:cubicBezTo>
                    <a:cubicBezTo>
                      <a:pt x="772775" y="489715"/>
                      <a:pt x="797405" y="481248"/>
                      <a:pt x="822036" y="472782"/>
                    </a:cubicBezTo>
                  </a:path>
                </a:pathLst>
              </a:custGeom>
              <a:solidFill>
                <a:srgbClr val="3988CF">
                  <a:alpha val="30196"/>
                </a:srgb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AE771E71-5915-9470-F96F-3B70317C5BF4}"/>
                  </a:ext>
                </a:extLst>
              </p:cNvPr>
              <p:cNvSpPr/>
              <p:nvPr/>
            </p:nvSpPr>
            <p:spPr>
              <a:xfrm>
                <a:off x="1708960" y="4665698"/>
                <a:ext cx="1313609" cy="313547"/>
              </a:xfrm>
              <a:custGeom>
                <a:avLst/>
                <a:gdLst>
                  <a:gd name="connsiteX0" fmla="*/ 0 w 822036"/>
                  <a:gd name="connsiteY0" fmla="*/ 472782 h 490768"/>
                  <a:gd name="connsiteX1" fmla="*/ 203200 w 822036"/>
                  <a:gd name="connsiteY1" fmla="*/ 463546 h 490768"/>
                  <a:gd name="connsiteX2" fmla="*/ 341745 w 822036"/>
                  <a:gd name="connsiteY2" fmla="*/ 214164 h 490768"/>
                  <a:gd name="connsiteX3" fmla="*/ 415636 w 822036"/>
                  <a:gd name="connsiteY3" fmla="*/ 47910 h 490768"/>
                  <a:gd name="connsiteX4" fmla="*/ 480291 w 822036"/>
                  <a:gd name="connsiteY4" fmla="*/ 1728 h 490768"/>
                  <a:gd name="connsiteX5" fmla="*/ 544945 w 822036"/>
                  <a:gd name="connsiteY5" fmla="*/ 94091 h 490768"/>
                  <a:gd name="connsiteX6" fmla="*/ 674254 w 822036"/>
                  <a:gd name="connsiteY6" fmla="*/ 371182 h 490768"/>
                  <a:gd name="connsiteX7" fmla="*/ 748145 w 822036"/>
                  <a:gd name="connsiteY7" fmla="*/ 472782 h 490768"/>
                  <a:gd name="connsiteX8" fmla="*/ 822036 w 822036"/>
                  <a:gd name="connsiteY8" fmla="*/ 472782 h 490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2036" h="490768">
                    <a:moveTo>
                      <a:pt x="0" y="472782"/>
                    </a:moveTo>
                    <a:cubicBezTo>
                      <a:pt x="73121" y="489715"/>
                      <a:pt x="146243" y="506649"/>
                      <a:pt x="203200" y="463546"/>
                    </a:cubicBezTo>
                    <a:cubicBezTo>
                      <a:pt x="260157" y="420443"/>
                      <a:pt x="306339" y="283437"/>
                      <a:pt x="341745" y="214164"/>
                    </a:cubicBezTo>
                    <a:cubicBezTo>
                      <a:pt x="377151" y="144891"/>
                      <a:pt x="392545" y="83316"/>
                      <a:pt x="415636" y="47910"/>
                    </a:cubicBezTo>
                    <a:cubicBezTo>
                      <a:pt x="438727" y="12504"/>
                      <a:pt x="458740" y="-5969"/>
                      <a:pt x="480291" y="1728"/>
                    </a:cubicBezTo>
                    <a:cubicBezTo>
                      <a:pt x="501843" y="9425"/>
                      <a:pt x="512618" y="32515"/>
                      <a:pt x="544945" y="94091"/>
                    </a:cubicBezTo>
                    <a:cubicBezTo>
                      <a:pt x="577272" y="155667"/>
                      <a:pt x="640387" y="308067"/>
                      <a:pt x="674254" y="371182"/>
                    </a:cubicBezTo>
                    <a:cubicBezTo>
                      <a:pt x="708121" y="434297"/>
                      <a:pt x="723515" y="455849"/>
                      <a:pt x="748145" y="472782"/>
                    </a:cubicBezTo>
                    <a:cubicBezTo>
                      <a:pt x="772775" y="489715"/>
                      <a:pt x="797405" y="481248"/>
                      <a:pt x="822036" y="472782"/>
                    </a:cubicBezTo>
                  </a:path>
                </a:pathLst>
              </a:custGeom>
              <a:solidFill>
                <a:srgbClr val="3988CF">
                  <a:alpha val="30196"/>
                </a:srgb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6A065C22-DB48-414C-A2AD-CBAEBAEC1F9B}"/>
                  </a:ext>
                </a:extLst>
              </p:cNvPr>
              <p:cNvSpPr/>
              <p:nvPr/>
            </p:nvSpPr>
            <p:spPr>
              <a:xfrm>
                <a:off x="2177569" y="4658852"/>
                <a:ext cx="1313609" cy="313547"/>
              </a:xfrm>
              <a:custGeom>
                <a:avLst/>
                <a:gdLst>
                  <a:gd name="connsiteX0" fmla="*/ 0 w 822036"/>
                  <a:gd name="connsiteY0" fmla="*/ 472782 h 490768"/>
                  <a:gd name="connsiteX1" fmla="*/ 203200 w 822036"/>
                  <a:gd name="connsiteY1" fmla="*/ 463546 h 490768"/>
                  <a:gd name="connsiteX2" fmla="*/ 341745 w 822036"/>
                  <a:gd name="connsiteY2" fmla="*/ 214164 h 490768"/>
                  <a:gd name="connsiteX3" fmla="*/ 415636 w 822036"/>
                  <a:gd name="connsiteY3" fmla="*/ 47910 h 490768"/>
                  <a:gd name="connsiteX4" fmla="*/ 480291 w 822036"/>
                  <a:gd name="connsiteY4" fmla="*/ 1728 h 490768"/>
                  <a:gd name="connsiteX5" fmla="*/ 544945 w 822036"/>
                  <a:gd name="connsiteY5" fmla="*/ 94091 h 490768"/>
                  <a:gd name="connsiteX6" fmla="*/ 674254 w 822036"/>
                  <a:gd name="connsiteY6" fmla="*/ 371182 h 490768"/>
                  <a:gd name="connsiteX7" fmla="*/ 748145 w 822036"/>
                  <a:gd name="connsiteY7" fmla="*/ 472782 h 490768"/>
                  <a:gd name="connsiteX8" fmla="*/ 822036 w 822036"/>
                  <a:gd name="connsiteY8" fmla="*/ 472782 h 490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2036" h="490768">
                    <a:moveTo>
                      <a:pt x="0" y="472782"/>
                    </a:moveTo>
                    <a:cubicBezTo>
                      <a:pt x="73121" y="489715"/>
                      <a:pt x="146243" y="506649"/>
                      <a:pt x="203200" y="463546"/>
                    </a:cubicBezTo>
                    <a:cubicBezTo>
                      <a:pt x="260157" y="420443"/>
                      <a:pt x="306339" y="283437"/>
                      <a:pt x="341745" y="214164"/>
                    </a:cubicBezTo>
                    <a:cubicBezTo>
                      <a:pt x="377151" y="144891"/>
                      <a:pt x="392545" y="83316"/>
                      <a:pt x="415636" y="47910"/>
                    </a:cubicBezTo>
                    <a:cubicBezTo>
                      <a:pt x="438727" y="12504"/>
                      <a:pt x="458740" y="-5969"/>
                      <a:pt x="480291" y="1728"/>
                    </a:cubicBezTo>
                    <a:cubicBezTo>
                      <a:pt x="501843" y="9425"/>
                      <a:pt x="512618" y="32515"/>
                      <a:pt x="544945" y="94091"/>
                    </a:cubicBezTo>
                    <a:cubicBezTo>
                      <a:pt x="577272" y="155667"/>
                      <a:pt x="640387" y="308067"/>
                      <a:pt x="674254" y="371182"/>
                    </a:cubicBezTo>
                    <a:cubicBezTo>
                      <a:pt x="708121" y="434297"/>
                      <a:pt x="723515" y="455849"/>
                      <a:pt x="748145" y="472782"/>
                    </a:cubicBezTo>
                    <a:cubicBezTo>
                      <a:pt x="772775" y="489715"/>
                      <a:pt x="797405" y="481248"/>
                      <a:pt x="822036" y="472782"/>
                    </a:cubicBezTo>
                  </a:path>
                </a:pathLst>
              </a:custGeom>
              <a:solidFill>
                <a:srgbClr val="3988CF">
                  <a:alpha val="30196"/>
                </a:srgb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595C0F51-32C3-6E12-D50D-23C05387B3B9}"/>
                  </a:ext>
                </a:extLst>
              </p:cNvPr>
              <p:cNvSpPr/>
              <p:nvPr/>
            </p:nvSpPr>
            <p:spPr>
              <a:xfrm>
                <a:off x="2672827" y="4679443"/>
                <a:ext cx="1313609" cy="313547"/>
              </a:xfrm>
              <a:custGeom>
                <a:avLst/>
                <a:gdLst>
                  <a:gd name="connsiteX0" fmla="*/ 0 w 822036"/>
                  <a:gd name="connsiteY0" fmla="*/ 472782 h 490768"/>
                  <a:gd name="connsiteX1" fmla="*/ 203200 w 822036"/>
                  <a:gd name="connsiteY1" fmla="*/ 463546 h 490768"/>
                  <a:gd name="connsiteX2" fmla="*/ 341745 w 822036"/>
                  <a:gd name="connsiteY2" fmla="*/ 214164 h 490768"/>
                  <a:gd name="connsiteX3" fmla="*/ 415636 w 822036"/>
                  <a:gd name="connsiteY3" fmla="*/ 47910 h 490768"/>
                  <a:gd name="connsiteX4" fmla="*/ 480291 w 822036"/>
                  <a:gd name="connsiteY4" fmla="*/ 1728 h 490768"/>
                  <a:gd name="connsiteX5" fmla="*/ 544945 w 822036"/>
                  <a:gd name="connsiteY5" fmla="*/ 94091 h 490768"/>
                  <a:gd name="connsiteX6" fmla="*/ 674254 w 822036"/>
                  <a:gd name="connsiteY6" fmla="*/ 371182 h 490768"/>
                  <a:gd name="connsiteX7" fmla="*/ 748145 w 822036"/>
                  <a:gd name="connsiteY7" fmla="*/ 472782 h 490768"/>
                  <a:gd name="connsiteX8" fmla="*/ 822036 w 822036"/>
                  <a:gd name="connsiteY8" fmla="*/ 472782 h 490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2036" h="490768">
                    <a:moveTo>
                      <a:pt x="0" y="472782"/>
                    </a:moveTo>
                    <a:cubicBezTo>
                      <a:pt x="73121" y="489715"/>
                      <a:pt x="146243" y="506649"/>
                      <a:pt x="203200" y="463546"/>
                    </a:cubicBezTo>
                    <a:cubicBezTo>
                      <a:pt x="260157" y="420443"/>
                      <a:pt x="306339" y="283437"/>
                      <a:pt x="341745" y="214164"/>
                    </a:cubicBezTo>
                    <a:cubicBezTo>
                      <a:pt x="377151" y="144891"/>
                      <a:pt x="392545" y="83316"/>
                      <a:pt x="415636" y="47910"/>
                    </a:cubicBezTo>
                    <a:cubicBezTo>
                      <a:pt x="438727" y="12504"/>
                      <a:pt x="458740" y="-5969"/>
                      <a:pt x="480291" y="1728"/>
                    </a:cubicBezTo>
                    <a:cubicBezTo>
                      <a:pt x="501843" y="9425"/>
                      <a:pt x="512618" y="32515"/>
                      <a:pt x="544945" y="94091"/>
                    </a:cubicBezTo>
                    <a:cubicBezTo>
                      <a:pt x="577272" y="155667"/>
                      <a:pt x="640387" y="308067"/>
                      <a:pt x="674254" y="371182"/>
                    </a:cubicBezTo>
                    <a:cubicBezTo>
                      <a:pt x="708121" y="434297"/>
                      <a:pt x="723515" y="455849"/>
                      <a:pt x="748145" y="472782"/>
                    </a:cubicBezTo>
                    <a:cubicBezTo>
                      <a:pt x="772775" y="489715"/>
                      <a:pt x="797405" y="481248"/>
                      <a:pt x="822036" y="472782"/>
                    </a:cubicBezTo>
                  </a:path>
                </a:pathLst>
              </a:custGeom>
              <a:solidFill>
                <a:srgbClr val="3988CF">
                  <a:alpha val="30196"/>
                </a:srgb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01A211D4-7CDA-8307-FDAC-534F65EFCB0B}"/>
                  </a:ext>
                </a:extLst>
              </p:cNvPr>
              <p:cNvSpPr/>
              <p:nvPr/>
            </p:nvSpPr>
            <p:spPr>
              <a:xfrm>
                <a:off x="872861" y="4679443"/>
                <a:ext cx="1313609" cy="313547"/>
              </a:xfrm>
              <a:custGeom>
                <a:avLst/>
                <a:gdLst>
                  <a:gd name="connsiteX0" fmla="*/ 0 w 822036"/>
                  <a:gd name="connsiteY0" fmla="*/ 472782 h 490768"/>
                  <a:gd name="connsiteX1" fmla="*/ 203200 w 822036"/>
                  <a:gd name="connsiteY1" fmla="*/ 463546 h 490768"/>
                  <a:gd name="connsiteX2" fmla="*/ 341745 w 822036"/>
                  <a:gd name="connsiteY2" fmla="*/ 214164 h 490768"/>
                  <a:gd name="connsiteX3" fmla="*/ 415636 w 822036"/>
                  <a:gd name="connsiteY3" fmla="*/ 47910 h 490768"/>
                  <a:gd name="connsiteX4" fmla="*/ 480291 w 822036"/>
                  <a:gd name="connsiteY4" fmla="*/ 1728 h 490768"/>
                  <a:gd name="connsiteX5" fmla="*/ 544945 w 822036"/>
                  <a:gd name="connsiteY5" fmla="*/ 94091 h 490768"/>
                  <a:gd name="connsiteX6" fmla="*/ 674254 w 822036"/>
                  <a:gd name="connsiteY6" fmla="*/ 371182 h 490768"/>
                  <a:gd name="connsiteX7" fmla="*/ 748145 w 822036"/>
                  <a:gd name="connsiteY7" fmla="*/ 472782 h 490768"/>
                  <a:gd name="connsiteX8" fmla="*/ 822036 w 822036"/>
                  <a:gd name="connsiteY8" fmla="*/ 472782 h 490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2036" h="490768">
                    <a:moveTo>
                      <a:pt x="0" y="472782"/>
                    </a:moveTo>
                    <a:cubicBezTo>
                      <a:pt x="73121" y="489715"/>
                      <a:pt x="146243" y="506649"/>
                      <a:pt x="203200" y="463546"/>
                    </a:cubicBezTo>
                    <a:cubicBezTo>
                      <a:pt x="260157" y="420443"/>
                      <a:pt x="306339" y="283437"/>
                      <a:pt x="341745" y="214164"/>
                    </a:cubicBezTo>
                    <a:cubicBezTo>
                      <a:pt x="377151" y="144891"/>
                      <a:pt x="392545" y="83316"/>
                      <a:pt x="415636" y="47910"/>
                    </a:cubicBezTo>
                    <a:cubicBezTo>
                      <a:pt x="438727" y="12504"/>
                      <a:pt x="458740" y="-5969"/>
                      <a:pt x="480291" y="1728"/>
                    </a:cubicBezTo>
                    <a:cubicBezTo>
                      <a:pt x="501843" y="9425"/>
                      <a:pt x="512618" y="32515"/>
                      <a:pt x="544945" y="94091"/>
                    </a:cubicBezTo>
                    <a:cubicBezTo>
                      <a:pt x="577272" y="155667"/>
                      <a:pt x="640387" y="308067"/>
                      <a:pt x="674254" y="371182"/>
                    </a:cubicBezTo>
                    <a:cubicBezTo>
                      <a:pt x="708121" y="434297"/>
                      <a:pt x="723515" y="455849"/>
                      <a:pt x="748145" y="472782"/>
                    </a:cubicBezTo>
                    <a:cubicBezTo>
                      <a:pt x="772775" y="489715"/>
                      <a:pt x="797405" y="481248"/>
                      <a:pt x="822036" y="472782"/>
                    </a:cubicBezTo>
                  </a:path>
                </a:pathLst>
              </a:custGeom>
              <a:solidFill>
                <a:srgbClr val="3988CF">
                  <a:alpha val="30196"/>
                </a:srgb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0" name="Oval 9">
            <a:extLst>
              <a:ext uri="{FF2B5EF4-FFF2-40B4-BE49-F238E27FC236}">
                <a16:creationId xmlns:a16="http://schemas.microsoft.com/office/drawing/2014/main" id="{80458E5D-5643-5CC5-4A09-C52B35B85D44}"/>
              </a:ext>
            </a:extLst>
          </p:cNvPr>
          <p:cNvSpPr/>
          <p:nvPr/>
        </p:nvSpPr>
        <p:spPr>
          <a:xfrm>
            <a:off x="3276368" y="3674196"/>
            <a:ext cx="467293" cy="46729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artial Circle 13">
            <a:extLst>
              <a:ext uri="{FF2B5EF4-FFF2-40B4-BE49-F238E27FC236}">
                <a16:creationId xmlns:a16="http://schemas.microsoft.com/office/drawing/2014/main" id="{63B60334-FE40-D4EA-69EA-B767BF6BE689}"/>
              </a:ext>
            </a:extLst>
          </p:cNvPr>
          <p:cNvSpPr/>
          <p:nvPr/>
        </p:nvSpPr>
        <p:spPr>
          <a:xfrm rot="10800000">
            <a:off x="3267902" y="3673901"/>
            <a:ext cx="467294" cy="467294"/>
          </a:xfrm>
          <a:prstGeom prst="pie">
            <a:avLst>
              <a:gd name="adj1" fmla="val 5545136"/>
              <a:gd name="adj2" fmla="val 16200000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5EDBC71-0B18-6C26-9B15-902B9827BC0C}"/>
              </a:ext>
            </a:extLst>
          </p:cNvPr>
          <p:cNvCxnSpPr>
            <a:cxnSpLocks/>
          </p:cNvCxnSpPr>
          <p:nvPr/>
        </p:nvCxnSpPr>
        <p:spPr>
          <a:xfrm>
            <a:off x="3206163" y="3158189"/>
            <a:ext cx="252638" cy="405305"/>
          </a:xfrm>
          <a:prstGeom prst="straightConnector1">
            <a:avLst/>
          </a:prstGeom>
          <a:ln w="28575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F17F06A-F64D-AC26-BC55-6BE580CC3E6B}"/>
              </a:ext>
            </a:extLst>
          </p:cNvPr>
          <p:cNvSpPr txBox="1"/>
          <p:nvPr/>
        </p:nvSpPr>
        <p:spPr>
          <a:xfrm>
            <a:off x="2494324" y="185688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C</a:t>
            </a:r>
            <a:endParaRPr lang="en-US" sz="2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E68584-7F16-166A-C7AC-2C66B5B6A1E5}"/>
              </a:ext>
            </a:extLst>
          </p:cNvPr>
          <p:cNvSpPr txBox="1"/>
          <p:nvPr/>
        </p:nvSpPr>
        <p:spPr>
          <a:xfrm>
            <a:off x="3512575" y="1860224"/>
            <a:ext cx="3738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D</a:t>
            </a:r>
            <a:endParaRPr 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C7DB1A-4914-D966-EA72-CC477A28090F}"/>
              </a:ext>
            </a:extLst>
          </p:cNvPr>
          <p:cNvSpPr txBox="1"/>
          <p:nvPr/>
        </p:nvSpPr>
        <p:spPr>
          <a:xfrm>
            <a:off x="4085081" y="3442982"/>
            <a:ext cx="4739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77"/>
                <a:sym typeface="Wingdings" pitchFamily="2" charset="2"/>
              </a:rPr>
              <a:t>!  </a:t>
            </a:r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But overlapping hurts reconstruction!</a:t>
            </a:r>
            <a:endParaRPr lang="en-US" dirty="0">
              <a:solidFill>
                <a:schemeClr val="tx1"/>
              </a:solidFill>
              <a:latin typeface="Arial Rounded MT Bold" panose="020F0704030504030204" pitchFamily="34" charset="7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3ACBCA1-7C32-FF6A-A2E7-8C282AC4ADCE}"/>
                  </a:ext>
                </a:extLst>
              </p:cNvPr>
              <p:cNvSpPr txBox="1"/>
              <p:nvPr/>
            </p:nvSpPr>
            <p:spPr>
              <a:xfrm>
                <a:off x="1286677" y="4476975"/>
                <a:ext cx="55727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dirty="0">
                    <a:solidFill>
                      <a:schemeClr val="tx1"/>
                    </a:solidFill>
                    <a:latin typeface="Arial Rounded MT Bold" panose="020F0704030504030204" pitchFamily="34" charset="77"/>
                    <a:sym typeface="Wingdings" pitchFamily="2" charset="2"/>
                  </a:rPr>
                  <a:t>Distribution overlap </a:t>
                </a:r>
                <a14:m>
                  <m:oMath xmlns:m="http://schemas.openxmlformats.org/officeDocument/2006/math">
                    <m:r>
                      <a:rPr lang="en-US" altLang="zh-TW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→</m:t>
                    </m:r>
                  </m:oMath>
                </a14:m>
                <a:r>
                  <a:rPr lang="en-US" altLang="zh-TW" dirty="0">
                    <a:solidFill>
                      <a:schemeClr val="tx1"/>
                    </a:solidFill>
                    <a:latin typeface="Arial Rounded MT Bold" panose="020F0704030504030204" pitchFamily="34" charset="77"/>
                    <a:sym typeface="Wingdings" pitchFamily="2" charset="2"/>
                  </a:rPr>
                  <a:t> Continuous semantics</a:t>
                </a:r>
                <a:endParaRPr lang="en-US" dirty="0">
                  <a:solidFill>
                    <a:schemeClr val="tx1"/>
                  </a:solidFill>
                  <a:latin typeface="Arial Rounded MT Bold" panose="020F0704030504030204" pitchFamily="34" charset="77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3ACBCA1-7C32-FF6A-A2E7-8C282AC4AD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6677" y="4476975"/>
                <a:ext cx="5572769" cy="369332"/>
              </a:xfrm>
              <a:prstGeom prst="rect">
                <a:avLst/>
              </a:prstGeom>
              <a:blipFill>
                <a:blip r:embed="rId7"/>
                <a:stretch>
                  <a:fillRect l="-656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TextBox 72">
            <a:extLst>
              <a:ext uri="{FF2B5EF4-FFF2-40B4-BE49-F238E27FC236}">
                <a16:creationId xmlns:a16="http://schemas.microsoft.com/office/drawing/2014/main" id="{BB7D02A7-DBA4-154B-EF85-006DDEBC802B}"/>
              </a:ext>
            </a:extLst>
          </p:cNvPr>
          <p:cNvSpPr txBox="1"/>
          <p:nvPr/>
        </p:nvSpPr>
        <p:spPr>
          <a:xfrm>
            <a:off x="1286676" y="4857649"/>
            <a:ext cx="7766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</a:rPr>
              <a:t>If          falls in the overlap between</a:t>
            </a:r>
            <a:r>
              <a:rPr lang="zh-TW" altLang="en-US" dirty="0">
                <a:latin typeface="Arial Rounded MT Bold" panose="020F0704030504030204" pitchFamily="34" charset="77"/>
              </a:rPr>
              <a:t>                  </a:t>
            </a:r>
            <a:r>
              <a:rPr lang="en-US" altLang="zh-TW" dirty="0">
                <a:latin typeface="Arial Rounded MT Bold" panose="020F0704030504030204" pitchFamily="34" charset="77"/>
              </a:rPr>
              <a:t>and </a:t>
            </a:r>
            <a:r>
              <a:rPr lang="zh-TW" altLang="en-US" dirty="0">
                <a:latin typeface="Arial Rounded MT Bold" panose="020F0704030504030204" pitchFamily="34" charset="77"/>
              </a:rPr>
              <a:t> </a:t>
            </a:r>
            <a:r>
              <a:rPr lang="en-US" altLang="zh-TW" dirty="0">
                <a:latin typeface="Arial Rounded MT Bold" panose="020F0704030504030204" pitchFamily="34" charset="77"/>
              </a:rPr>
              <a:t>   </a:t>
            </a:r>
            <a:endParaRPr lang="en-US" dirty="0">
              <a:solidFill>
                <a:schemeClr val="tx1"/>
              </a:solidFill>
              <a:latin typeface="Arial Rounded MT Bold" panose="020F0704030504030204" pitchFamily="34" charset="77"/>
            </a:endParaRP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2FDDEBF5-6401-59C5-A247-3F26FF3800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08960" y="4940670"/>
            <a:ext cx="286066" cy="246609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B36C12FB-9C83-6CCD-56E9-73662DF6235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75866" y="4925727"/>
            <a:ext cx="820134" cy="247531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6A638A82-D152-042D-6B1B-9E3E757148B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12366" y="4907549"/>
            <a:ext cx="891799" cy="261552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C4990CA4-E725-9611-9022-AE21FDD3EA5B}"/>
              </a:ext>
            </a:extLst>
          </p:cNvPr>
          <p:cNvSpPr txBox="1"/>
          <p:nvPr/>
        </p:nvSpPr>
        <p:spPr>
          <a:xfrm>
            <a:off x="1623965" y="5248076"/>
            <a:ext cx="7751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Arial Rounded MT Bold" panose="020F0704030504030204" pitchFamily="34" charset="77"/>
                <a:sym typeface="Wingdings" pitchFamily="2" charset="2"/>
              </a:rPr>
              <a:t>                          </a:t>
            </a:r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and  </a:t>
            </a:r>
          </a:p>
        </p:txBody>
      </p:sp>
      <p:sp>
        <p:nvSpPr>
          <p:cNvPr id="78" name="Arrow: Right 77">
            <a:extLst>
              <a:ext uri="{FF2B5EF4-FFF2-40B4-BE49-F238E27FC236}">
                <a16:creationId xmlns:a16="http://schemas.microsoft.com/office/drawing/2014/main" id="{9415913D-EE37-D92C-F725-96770EF35A39}"/>
              </a:ext>
            </a:extLst>
          </p:cNvPr>
          <p:cNvSpPr/>
          <p:nvPr/>
        </p:nvSpPr>
        <p:spPr>
          <a:xfrm>
            <a:off x="1362271" y="5370829"/>
            <a:ext cx="193087" cy="178240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B3E88BE4-A659-B2F3-5A0A-1A95710870F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51993" y="5343845"/>
            <a:ext cx="1284828" cy="236979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B07B2450-1BE6-A9F2-359E-4096A8A8DE4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99485" y="5334342"/>
            <a:ext cx="245087" cy="21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1180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47A2B-C544-FB5C-FB2D-DB1BA550D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15784CA-21C2-1239-DCD8-8A824485884F}"/>
              </a:ext>
            </a:extLst>
          </p:cNvPr>
          <p:cNvSpPr txBox="1"/>
          <p:nvPr/>
        </p:nvSpPr>
        <p:spPr>
          <a:xfrm>
            <a:off x="276410" y="260293"/>
            <a:ext cx="2462046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VAE – Variational AE</a:t>
            </a:r>
          </a:p>
        </p:txBody>
      </p:sp>
      <p:pic>
        <p:nvPicPr>
          <p:cNvPr id="60" name="Graphic 59" descr="Magnifying glass with solid fill">
            <a:extLst>
              <a:ext uri="{FF2B5EF4-FFF2-40B4-BE49-F238E27FC236}">
                <a16:creationId xmlns:a16="http://schemas.microsoft.com/office/drawing/2014/main" id="{3EDA5559-FDCF-BC81-7580-34878D2C69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9003" y="856675"/>
            <a:ext cx="475673" cy="47567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DADD60F-A812-F1B2-9CA1-158282B53575}"/>
              </a:ext>
            </a:extLst>
          </p:cNvPr>
          <p:cNvSpPr txBox="1"/>
          <p:nvPr/>
        </p:nvSpPr>
        <p:spPr>
          <a:xfrm>
            <a:off x="1286678" y="1385834"/>
            <a:ext cx="4669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Encoder outputs a </a:t>
            </a:r>
            <a:r>
              <a:rPr lang="en-US" altLang="zh-TW" dirty="0">
                <a:solidFill>
                  <a:srgbClr val="FF0000"/>
                </a:solidFill>
                <a:latin typeface="Arial Rounded MT Bold" panose="020F0704030504030204" pitchFamily="34" charset="77"/>
                <a:sym typeface="Wingdings" pitchFamily="2" charset="2"/>
              </a:rPr>
              <a:t>distribution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7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EAC7B6-B4D4-37A7-22B2-2DECBC2D788B}"/>
              </a:ext>
            </a:extLst>
          </p:cNvPr>
          <p:cNvSpPr txBox="1"/>
          <p:nvPr/>
        </p:nvSpPr>
        <p:spPr>
          <a:xfrm>
            <a:off x="1286678" y="856675"/>
            <a:ext cx="5060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AE + Probabilistic (pictures and intuitions)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0BE88C61-01A1-CD4A-4800-4582EBEC3A0E}"/>
              </a:ext>
            </a:extLst>
          </p:cNvPr>
          <p:cNvGrpSpPr/>
          <p:nvPr/>
        </p:nvGrpSpPr>
        <p:grpSpPr>
          <a:xfrm>
            <a:off x="872861" y="2148463"/>
            <a:ext cx="5157510" cy="1074965"/>
            <a:chOff x="872861" y="3925686"/>
            <a:chExt cx="5157510" cy="1074965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20CE055B-C2F7-1AA3-CFA8-09C6ADE49E5A}"/>
                </a:ext>
              </a:extLst>
            </p:cNvPr>
            <p:cNvGrpSpPr/>
            <p:nvPr/>
          </p:nvGrpSpPr>
          <p:grpSpPr>
            <a:xfrm>
              <a:off x="1025955" y="3925686"/>
              <a:ext cx="4739263" cy="1074965"/>
              <a:chOff x="963173" y="3460090"/>
              <a:chExt cx="6285578" cy="1425702"/>
            </a:xfrm>
          </p:grpSpPr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6DA201A5-5DFB-8F26-233E-CB6967D9567D}"/>
                  </a:ext>
                </a:extLst>
              </p:cNvPr>
              <p:cNvSpPr/>
              <p:nvPr/>
            </p:nvSpPr>
            <p:spPr>
              <a:xfrm>
                <a:off x="963173" y="3490570"/>
                <a:ext cx="619760" cy="61976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ED3E96DE-59AB-99C8-47B5-6630436B7C66}"/>
                  </a:ext>
                </a:extLst>
              </p:cNvPr>
              <p:cNvSpPr/>
              <p:nvPr/>
            </p:nvSpPr>
            <p:spPr>
              <a:xfrm>
                <a:off x="2141733" y="3490570"/>
                <a:ext cx="619760" cy="61976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Moon 60">
                <a:extLst>
                  <a:ext uri="{FF2B5EF4-FFF2-40B4-BE49-F238E27FC236}">
                    <a16:creationId xmlns:a16="http://schemas.microsoft.com/office/drawing/2014/main" id="{31225189-5D4B-EC57-C298-6EB747F76D69}"/>
                  </a:ext>
                </a:extLst>
              </p:cNvPr>
              <p:cNvSpPr/>
              <p:nvPr/>
            </p:nvSpPr>
            <p:spPr>
              <a:xfrm>
                <a:off x="2141733" y="3480410"/>
                <a:ext cx="333885" cy="619760"/>
              </a:xfrm>
              <a:prstGeom prst="moon">
                <a:avLst>
                  <a:gd name="adj" fmla="val 33356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9E21D8EC-894E-B765-EF1B-9028CDD1C584}"/>
                  </a:ext>
                </a:extLst>
              </p:cNvPr>
              <p:cNvSpPr/>
              <p:nvPr/>
            </p:nvSpPr>
            <p:spPr>
              <a:xfrm>
                <a:off x="3320293" y="3470250"/>
                <a:ext cx="619760" cy="61976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Moon 62">
                <a:extLst>
                  <a:ext uri="{FF2B5EF4-FFF2-40B4-BE49-F238E27FC236}">
                    <a16:creationId xmlns:a16="http://schemas.microsoft.com/office/drawing/2014/main" id="{D3DCE4CF-6B2A-B8A7-2BF0-A120BAD20FD3}"/>
                  </a:ext>
                </a:extLst>
              </p:cNvPr>
              <p:cNvSpPr/>
              <p:nvPr/>
            </p:nvSpPr>
            <p:spPr>
              <a:xfrm>
                <a:off x="3320293" y="3460090"/>
                <a:ext cx="333885" cy="619760"/>
              </a:xfrm>
              <a:prstGeom prst="moon">
                <a:avLst>
                  <a:gd name="adj" fmla="val 79001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092B4D6B-E5B1-8CBF-94F2-BE890788DA68}"/>
                  </a:ext>
                </a:extLst>
              </p:cNvPr>
              <p:cNvSpPr/>
              <p:nvPr/>
            </p:nvSpPr>
            <p:spPr>
              <a:xfrm>
                <a:off x="5733639" y="3470250"/>
                <a:ext cx="619760" cy="61976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2B56856E-D219-26D7-434A-584E8635D958}"/>
                  </a:ext>
                </a:extLst>
              </p:cNvPr>
              <p:cNvSpPr/>
              <p:nvPr/>
            </p:nvSpPr>
            <p:spPr>
              <a:xfrm>
                <a:off x="4567606" y="3490570"/>
                <a:ext cx="619760" cy="61976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Moon 65">
                <a:extLst>
                  <a:ext uri="{FF2B5EF4-FFF2-40B4-BE49-F238E27FC236}">
                    <a16:creationId xmlns:a16="http://schemas.microsoft.com/office/drawing/2014/main" id="{DD31A93D-2393-DD1D-0F59-76A4FCC0260D}"/>
                  </a:ext>
                </a:extLst>
              </p:cNvPr>
              <p:cNvSpPr/>
              <p:nvPr/>
            </p:nvSpPr>
            <p:spPr>
              <a:xfrm flipH="1">
                <a:off x="4853481" y="3490571"/>
                <a:ext cx="333885" cy="619760"/>
              </a:xfrm>
              <a:prstGeom prst="moon">
                <a:avLst>
                  <a:gd name="adj" fmla="val 69872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C1E4A232-9B78-7F29-DBE8-58D4577212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3173" y="4885792"/>
                <a:ext cx="6285578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479F113C-2F57-3AB3-AB13-CA0BE50F23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39163" y="4142461"/>
                <a:ext cx="255876" cy="575756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Arrow Connector 68">
                <a:extLst>
                  <a:ext uri="{FF2B5EF4-FFF2-40B4-BE49-F238E27FC236}">
                    <a16:creationId xmlns:a16="http://schemas.microsoft.com/office/drawing/2014/main" id="{CE5EDF8D-7BD9-D007-648C-3B2D872A6B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75619" y="4152620"/>
                <a:ext cx="285874" cy="648590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3BEE763E-E66A-B41D-7433-D5DDC7A94C5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70983" y="4152620"/>
                <a:ext cx="183195" cy="648590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02116931-6000-16C4-9F18-FF2F5908E83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32743" y="4232250"/>
                <a:ext cx="644742" cy="616072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61548EE5-1009-CDE0-A4E8-2776AAF47E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33359" y="4232250"/>
                <a:ext cx="833120" cy="568960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EE120FD2-B255-8CD2-A4E8-A3C286A49D8A}"/>
                </a:ext>
              </a:extLst>
            </p:cNvPr>
            <p:cNvGrpSpPr/>
            <p:nvPr/>
          </p:nvGrpSpPr>
          <p:grpSpPr>
            <a:xfrm>
              <a:off x="872861" y="4658852"/>
              <a:ext cx="5157510" cy="334138"/>
              <a:chOff x="872861" y="4658852"/>
              <a:chExt cx="5157510" cy="334138"/>
            </a:xfrm>
          </p:grpSpPr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B04E16CF-4C88-6FCF-7737-D5B0F8938CD8}"/>
                  </a:ext>
                </a:extLst>
              </p:cNvPr>
              <p:cNvSpPr/>
              <p:nvPr/>
            </p:nvSpPr>
            <p:spPr>
              <a:xfrm>
                <a:off x="4521362" y="4664477"/>
                <a:ext cx="1509009" cy="313547"/>
              </a:xfrm>
              <a:custGeom>
                <a:avLst/>
                <a:gdLst>
                  <a:gd name="connsiteX0" fmla="*/ 0 w 822036"/>
                  <a:gd name="connsiteY0" fmla="*/ 472782 h 490768"/>
                  <a:gd name="connsiteX1" fmla="*/ 203200 w 822036"/>
                  <a:gd name="connsiteY1" fmla="*/ 463546 h 490768"/>
                  <a:gd name="connsiteX2" fmla="*/ 341745 w 822036"/>
                  <a:gd name="connsiteY2" fmla="*/ 214164 h 490768"/>
                  <a:gd name="connsiteX3" fmla="*/ 415636 w 822036"/>
                  <a:gd name="connsiteY3" fmla="*/ 47910 h 490768"/>
                  <a:gd name="connsiteX4" fmla="*/ 480291 w 822036"/>
                  <a:gd name="connsiteY4" fmla="*/ 1728 h 490768"/>
                  <a:gd name="connsiteX5" fmla="*/ 544945 w 822036"/>
                  <a:gd name="connsiteY5" fmla="*/ 94091 h 490768"/>
                  <a:gd name="connsiteX6" fmla="*/ 674254 w 822036"/>
                  <a:gd name="connsiteY6" fmla="*/ 371182 h 490768"/>
                  <a:gd name="connsiteX7" fmla="*/ 748145 w 822036"/>
                  <a:gd name="connsiteY7" fmla="*/ 472782 h 490768"/>
                  <a:gd name="connsiteX8" fmla="*/ 822036 w 822036"/>
                  <a:gd name="connsiteY8" fmla="*/ 472782 h 490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2036" h="490768">
                    <a:moveTo>
                      <a:pt x="0" y="472782"/>
                    </a:moveTo>
                    <a:cubicBezTo>
                      <a:pt x="73121" y="489715"/>
                      <a:pt x="146243" y="506649"/>
                      <a:pt x="203200" y="463546"/>
                    </a:cubicBezTo>
                    <a:cubicBezTo>
                      <a:pt x="260157" y="420443"/>
                      <a:pt x="306339" y="283437"/>
                      <a:pt x="341745" y="214164"/>
                    </a:cubicBezTo>
                    <a:cubicBezTo>
                      <a:pt x="377151" y="144891"/>
                      <a:pt x="392545" y="83316"/>
                      <a:pt x="415636" y="47910"/>
                    </a:cubicBezTo>
                    <a:cubicBezTo>
                      <a:pt x="438727" y="12504"/>
                      <a:pt x="458740" y="-5969"/>
                      <a:pt x="480291" y="1728"/>
                    </a:cubicBezTo>
                    <a:cubicBezTo>
                      <a:pt x="501843" y="9425"/>
                      <a:pt x="512618" y="32515"/>
                      <a:pt x="544945" y="94091"/>
                    </a:cubicBezTo>
                    <a:cubicBezTo>
                      <a:pt x="577272" y="155667"/>
                      <a:pt x="640387" y="308067"/>
                      <a:pt x="674254" y="371182"/>
                    </a:cubicBezTo>
                    <a:cubicBezTo>
                      <a:pt x="708121" y="434297"/>
                      <a:pt x="723515" y="455849"/>
                      <a:pt x="748145" y="472782"/>
                    </a:cubicBezTo>
                    <a:cubicBezTo>
                      <a:pt x="772775" y="489715"/>
                      <a:pt x="797405" y="481248"/>
                      <a:pt x="822036" y="472782"/>
                    </a:cubicBezTo>
                  </a:path>
                </a:pathLst>
              </a:custGeom>
              <a:solidFill>
                <a:srgbClr val="3988CF">
                  <a:alpha val="30196"/>
                </a:srgb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DB71233C-0E66-D2B0-1D48-10A3D945846D}"/>
                  </a:ext>
                </a:extLst>
              </p:cNvPr>
              <p:cNvSpPr/>
              <p:nvPr/>
            </p:nvSpPr>
            <p:spPr>
              <a:xfrm>
                <a:off x="1708960" y="4665698"/>
                <a:ext cx="1313609" cy="313547"/>
              </a:xfrm>
              <a:custGeom>
                <a:avLst/>
                <a:gdLst>
                  <a:gd name="connsiteX0" fmla="*/ 0 w 822036"/>
                  <a:gd name="connsiteY0" fmla="*/ 472782 h 490768"/>
                  <a:gd name="connsiteX1" fmla="*/ 203200 w 822036"/>
                  <a:gd name="connsiteY1" fmla="*/ 463546 h 490768"/>
                  <a:gd name="connsiteX2" fmla="*/ 341745 w 822036"/>
                  <a:gd name="connsiteY2" fmla="*/ 214164 h 490768"/>
                  <a:gd name="connsiteX3" fmla="*/ 415636 w 822036"/>
                  <a:gd name="connsiteY3" fmla="*/ 47910 h 490768"/>
                  <a:gd name="connsiteX4" fmla="*/ 480291 w 822036"/>
                  <a:gd name="connsiteY4" fmla="*/ 1728 h 490768"/>
                  <a:gd name="connsiteX5" fmla="*/ 544945 w 822036"/>
                  <a:gd name="connsiteY5" fmla="*/ 94091 h 490768"/>
                  <a:gd name="connsiteX6" fmla="*/ 674254 w 822036"/>
                  <a:gd name="connsiteY6" fmla="*/ 371182 h 490768"/>
                  <a:gd name="connsiteX7" fmla="*/ 748145 w 822036"/>
                  <a:gd name="connsiteY7" fmla="*/ 472782 h 490768"/>
                  <a:gd name="connsiteX8" fmla="*/ 822036 w 822036"/>
                  <a:gd name="connsiteY8" fmla="*/ 472782 h 490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2036" h="490768">
                    <a:moveTo>
                      <a:pt x="0" y="472782"/>
                    </a:moveTo>
                    <a:cubicBezTo>
                      <a:pt x="73121" y="489715"/>
                      <a:pt x="146243" y="506649"/>
                      <a:pt x="203200" y="463546"/>
                    </a:cubicBezTo>
                    <a:cubicBezTo>
                      <a:pt x="260157" y="420443"/>
                      <a:pt x="306339" y="283437"/>
                      <a:pt x="341745" y="214164"/>
                    </a:cubicBezTo>
                    <a:cubicBezTo>
                      <a:pt x="377151" y="144891"/>
                      <a:pt x="392545" y="83316"/>
                      <a:pt x="415636" y="47910"/>
                    </a:cubicBezTo>
                    <a:cubicBezTo>
                      <a:pt x="438727" y="12504"/>
                      <a:pt x="458740" y="-5969"/>
                      <a:pt x="480291" y="1728"/>
                    </a:cubicBezTo>
                    <a:cubicBezTo>
                      <a:pt x="501843" y="9425"/>
                      <a:pt x="512618" y="32515"/>
                      <a:pt x="544945" y="94091"/>
                    </a:cubicBezTo>
                    <a:cubicBezTo>
                      <a:pt x="577272" y="155667"/>
                      <a:pt x="640387" y="308067"/>
                      <a:pt x="674254" y="371182"/>
                    </a:cubicBezTo>
                    <a:cubicBezTo>
                      <a:pt x="708121" y="434297"/>
                      <a:pt x="723515" y="455849"/>
                      <a:pt x="748145" y="472782"/>
                    </a:cubicBezTo>
                    <a:cubicBezTo>
                      <a:pt x="772775" y="489715"/>
                      <a:pt x="797405" y="481248"/>
                      <a:pt x="822036" y="472782"/>
                    </a:cubicBezTo>
                  </a:path>
                </a:pathLst>
              </a:custGeom>
              <a:solidFill>
                <a:srgbClr val="3988CF">
                  <a:alpha val="30196"/>
                </a:srgb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90086D1A-EA33-B6D4-2823-7C6B0D257FBB}"/>
                  </a:ext>
                </a:extLst>
              </p:cNvPr>
              <p:cNvSpPr/>
              <p:nvPr/>
            </p:nvSpPr>
            <p:spPr>
              <a:xfrm>
                <a:off x="2177569" y="4658852"/>
                <a:ext cx="1313609" cy="313547"/>
              </a:xfrm>
              <a:custGeom>
                <a:avLst/>
                <a:gdLst>
                  <a:gd name="connsiteX0" fmla="*/ 0 w 822036"/>
                  <a:gd name="connsiteY0" fmla="*/ 472782 h 490768"/>
                  <a:gd name="connsiteX1" fmla="*/ 203200 w 822036"/>
                  <a:gd name="connsiteY1" fmla="*/ 463546 h 490768"/>
                  <a:gd name="connsiteX2" fmla="*/ 341745 w 822036"/>
                  <a:gd name="connsiteY2" fmla="*/ 214164 h 490768"/>
                  <a:gd name="connsiteX3" fmla="*/ 415636 w 822036"/>
                  <a:gd name="connsiteY3" fmla="*/ 47910 h 490768"/>
                  <a:gd name="connsiteX4" fmla="*/ 480291 w 822036"/>
                  <a:gd name="connsiteY4" fmla="*/ 1728 h 490768"/>
                  <a:gd name="connsiteX5" fmla="*/ 544945 w 822036"/>
                  <a:gd name="connsiteY5" fmla="*/ 94091 h 490768"/>
                  <a:gd name="connsiteX6" fmla="*/ 674254 w 822036"/>
                  <a:gd name="connsiteY6" fmla="*/ 371182 h 490768"/>
                  <a:gd name="connsiteX7" fmla="*/ 748145 w 822036"/>
                  <a:gd name="connsiteY7" fmla="*/ 472782 h 490768"/>
                  <a:gd name="connsiteX8" fmla="*/ 822036 w 822036"/>
                  <a:gd name="connsiteY8" fmla="*/ 472782 h 490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2036" h="490768">
                    <a:moveTo>
                      <a:pt x="0" y="472782"/>
                    </a:moveTo>
                    <a:cubicBezTo>
                      <a:pt x="73121" y="489715"/>
                      <a:pt x="146243" y="506649"/>
                      <a:pt x="203200" y="463546"/>
                    </a:cubicBezTo>
                    <a:cubicBezTo>
                      <a:pt x="260157" y="420443"/>
                      <a:pt x="306339" y="283437"/>
                      <a:pt x="341745" y="214164"/>
                    </a:cubicBezTo>
                    <a:cubicBezTo>
                      <a:pt x="377151" y="144891"/>
                      <a:pt x="392545" y="83316"/>
                      <a:pt x="415636" y="47910"/>
                    </a:cubicBezTo>
                    <a:cubicBezTo>
                      <a:pt x="438727" y="12504"/>
                      <a:pt x="458740" y="-5969"/>
                      <a:pt x="480291" y="1728"/>
                    </a:cubicBezTo>
                    <a:cubicBezTo>
                      <a:pt x="501843" y="9425"/>
                      <a:pt x="512618" y="32515"/>
                      <a:pt x="544945" y="94091"/>
                    </a:cubicBezTo>
                    <a:cubicBezTo>
                      <a:pt x="577272" y="155667"/>
                      <a:pt x="640387" y="308067"/>
                      <a:pt x="674254" y="371182"/>
                    </a:cubicBezTo>
                    <a:cubicBezTo>
                      <a:pt x="708121" y="434297"/>
                      <a:pt x="723515" y="455849"/>
                      <a:pt x="748145" y="472782"/>
                    </a:cubicBezTo>
                    <a:cubicBezTo>
                      <a:pt x="772775" y="489715"/>
                      <a:pt x="797405" y="481248"/>
                      <a:pt x="822036" y="472782"/>
                    </a:cubicBezTo>
                  </a:path>
                </a:pathLst>
              </a:custGeom>
              <a:solidFill>
                <a:srgbClr val="3988CF">
                  <a:alpha val="30196"/>
                </a:srgb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2C259720-C59A-335B-BEFE-BDAB2C9E5E2A}"/>
                  </a:ext>
                </a:extLst>
              </p:cNvPr>
              <p:cNvSpPr/>
              <p:nvPr/>
            </p:nvSpPr>
            <p:spPr>
              <a:xfrm>
                <a:off x="2672827" y="4679443"/>
                <a:ext cx="1313609" cy="313547"/>
              </a:xfrm>
              <a:custGeom>
                <a:avLst/>
                <a:gdLst>
                  <a:gd name="connsiteX0" fmla="*/ 0 w 822036"/>
                  <a:gd name="connsiteY0" fmla="*/ 472782 h 490768"/>
                  <a:gd name="connsiteX1" fmla="*/ 203200 w 822036"/>
                  <a:gd name="connsiteY1" fmla="*/ 463546 h 490768"/>
                  <a:gd name="connsiteX2" fmla="*/ 341745 w 822036"/>
                  <a:gd name="connsiteY2" fmla="*/ 214164 h 490768"/>
                  <a:gd name="connsiteX3" fmla="*/ 415636 w 822036"/>
                  <a:gd name="connsiteY3" fmla="*/ 47910 h 490768"/>
                  <a:gd name="connsiteX4" fmla="*/ 480291 w 822036"/>
                  <a:gd name="connsiteY4" fmla="*/ 1728 h 490768"/>
                  <a:gd name="connsiteX5" fmla="*/ 544945 w 822036"/>
                  <a:gd name="connsiteY5" fmla="*/ 94091 h 490768"/>
                  <a:gd name="connsiteX6" fmla="*/ 674254 w 822036"/>
                  <a:gd name="connsiteY6" fmla="*/ 371182 h 490768"/>
                  <a:gd name="connsiteX7" fmla="*/ 748145 w 822036"/>
                  <a:gd name="connsiteY7" fmla="*/ 472782 h 490768"/>
                  <a:gd name="connsiteX8" fmla="*/ 822036 w 822036"/>
                  <a:gd name="connsiteY8" fmla="*/ 472782 h 490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2036" h="490768">
                    <a:moveTo>
                      <a:pt x="0" y="472782"/>
                    </a:moveTo>
                    <a:cubicBezTo>
                      <a:pt x="73121" y="489715"/>
                      <a:pt x="146243" y="506649"/>
                      <a:pt x="203200" y="463546"/>
                    </a:cubicBezTo>
                    <a:cubicBezTo>
                      <a:pt x="260157" y="420443"/>
                      <a:pt x="306339" y="283437"/>
                      <a:pt x="341745" y="214164"/>
                    </a:cubicBezTo>
                    <a:cubicBezTo>
                      <a:pt x="377151" y="144891"/>
                      <a:pt x="392545" y="83316"/>
                      <a:pt x="415636" y="47910"/>
                    </a:cubicBezTo>
                    <a:cubicBezTo>
                      <a:pt x="438727" y="12504"/>
                      <a:pt x="458740" y="-5969"/>
                      <a:pt x="480291" y="1728"/>
                    </a:cubicBezTo>
                    <a:cubicBezTo>
                      <a:pt x="501843" y="9425"/>
                      <a:pt x="512618" y="32515"/>
                      <a:pt x="544945" y="94091"/>
                    </a:cubicBezTo>
                    <a:cubicBezTo>
                      <a:pt x="577272" y="155667"/>
                      <a:pt x="640387" y="308067"/>
                      <a:pt x="674254" y="371182"/>
                    </a:cubicBezTo>
                    <a:cubicBezTo>
                      <a:pt x="708121" y="434297"/>
                      <a:pt x="723515" y="455849"/>
                      <a:pt x="748145" y="472782"/>
                    </a:cubicBezTo>
                    <a:cubicBezTo>
                      <a:pt x="772775" y="489715"/>
                      <a:pt x="797405" y="481248"/>
                      <a:pt x="822036" y="472782"/>
                    </a:cubicBezTo>
                  </a:path>
                </a:pathLst>
              </a:custGeom>
              <a:solidFill>
                <a:srgbClr val="3988CF">
                  <a:alpha val="30196"/>
                </a:srgb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EC941F12-F068-1665-3227-BF217C3B8C93}"/>
                  </a:ext>
                </a:extLst>
              </p:cNvPr>
              <p:cNvSpPr/>
              <p:nvPr/>
            </p:nvSpPr>
            <p:spPr>
              <a:xfrm>
                <a:off x="872861" y="4679443"/>
                <a:ext cx="1313609" cy="313547"/>
              </a:xfrm>
              <a:custGeom>
                <a:avLst/>
                <a:gdLst>
                  <a:gd name="connsiteX0" fmla="*/ 0 w 822036"/>
                  <a:gd name="connsiteY0" fmla="*/ 472782 h 490768"/>
                  <a:gd name="connsiteX1" fmla="*/ 203200 w 822036"/>
                  <a:gd name="connsiteY1" fmla="*/ 463546 h 490768"/>
                  <a:gd name="connsiteX2" fmla="*/ 341745 w 822036"/>
                  <a:gd name="connsiteY2" fmla="*/ 214164 h 490768"/>
                  <a:gd name="connsiteX3" fmla="*/ 415636 w 822036"/>
                  <a:gd name="connsiteY3" fmla="*/ 47910 h 490768"/>
                  <a:gd name="connsiteX4" fmla="*/ 480291 w 822036"/>
                  <a:gd name="connsiteY4" fmla="*/ 1728 h 490768"/>
                  <a:gd name="connsiteX5" fmla="*/ 544945 w 822036"/>
                  <a:gd name="connsiteY5" fmla="*/ 94091 h 490768"/>
                  <a:gd name="connsiteX6" fmla="*/ 674254 w 822036"/>
                  <a:gd name="connsiteY6" fmla="*/ 371182 h 490768"/>
                  <a:gd name="connsiteX7" fmla="*/ 748145 w 822036"/>
                  <a:gd name="connsiteY7" fmla="*/ 472782 h 490768"/>
                  <a:gd name="connsiteX8" fmla="*/ 822036 w 822036"/>
                  <a:gd name="connsiteY8" fmla="*/ 472782 h 490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2036" h="490768">
                    <a:moveTo>
                      <a:pt x="0" y="472782"/>
                    </a:moveTo>
                    <a:cubicBezTo>
                      <a:pt x="73121" y="489715"/>
                      <a:pt x="146243" y="506649"/>
                      <a:pt x="203200" y="463546"/>
                    </a:cubicBezTo>
                    <a:cubicBezTo>
                      <a:pt x="260157" y="420443"/>
                      <a:pt x="306339" y="283437"/>
                      <a:pt x="341745" y="214164"/>
                    </a:cubicBezTo>
                    <a:cubicBezTo>
                      <a:pt x="377151" y="144891"/>
                      <a:pt x="392545" y="83316"/>
                      <a:pt x="415636" y="47910"/>
                    </a:cubicBezTo>
                    <a:cubicBezTo>
                      <a:pt x="438727" y="12504"/>
                      <a:pt x="458740" y="-5969"/>
                      <a:pt x="480291" y="1728"/>
                    </a:cubicBezTo>
                    <a:cubicBezTo>
                      <a:pt x="501843" y="9425"/>
                      <a:pt x="512618" y="32515"/>
                      <a:pt x="544945" y="94091"/>
                    </a:cubicBezTo>
                    <a:cubicBezTo>
                      <a:pt x="577272" y="155667"/>
                      <a:pt x="640387" y="308067"/>
                      <a:pt x="674254" y="371182"/>
                    </a:cubicBezTo>
                    <a:cubicBezTo>
                      <a:pt x="708121" y="434297"/>
                      <a:pt x="723515" y="455849"/>
                      <a:pt x="748145" y="472782"/>
                    </a:cubicBezTo>
                    <a:cubicBezTo>
                      <a:pt x="772775" y="489715"/>
                      <a:pt x="797405" y="481248"/>
                      <a:pt x="822036" y="472782"/>
                    </a:cubicBezTo>
                  </a:path>
                </a:pathLst>
              </a:custGeom>
              <a:solidFill>
                <a:srgbClr val="3988CF">
                  <a:alpha val="30196"/>
                </a:srgb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0" name="Oval 9">
            <a:extLst>
              <a:ext uri="{FF2B5EF4-FFF2-40B4-BE49-F238E27FC236}">
                <a16:creationId xmlns:a16="http://schemas.microsoft.com/office/drawing/2014/main" id="{5329FB9A-57F7-7A97-2682-8AB3F886A334}"/>
              </a:ext>
            </a:extLst>
          </p:cNvPr>
          <p:cNvSpPr/>
          <p:nvPr/>
        </p:nvSpPr>
        <p:spPr>
          <a:xfrm>
            <a:off x="3276368" y="3674196"/>
            <a:ext cx="467293" cy="46729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artial Circle 13">
            <a:extLst>
              <a:ext uri="{FF2B5EF4-FFF2-40B4-BE49-F238E27FC236}">
                <a16:creationId xmlns:a16="http://schemas.microsoft.com/office/drawing/2014/main" id="{D116FFD2-E48E-3C12-57E4-A877B24226FB}"/>
              </a:ext>
            </a:extLst>
          </p:cNvPr>
          <p:cNvSpPr/>
          <p:nvPr/>
        </p:nvSpPr>
        <p:spPr>
          <a:xfrm rot="10800000">
            <a:off x="3267902" y="3673901"/>
            <a:ext cx="467294" cy="467294"/>
          </a:xfrm>
          <a:prstGeom prst="pie">
            <a:avLst>
              <a:gd name="adj1" fmla="val 5545136"/>
              <a:gd name="adj2" fmla="val 16200000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D0EC599-9A2A-B17D-6731-5F06E963A55D}"/>
              </a:ext>
            </a:extLst>
          </p:cNvPr>
          <p:cNvCxnSpPr>
            <a:cxnSpLocks/>
          </p:cNvCxnSpPr>
          <p:nvPr/>
        </p:nvCxnSpPr>
        <p:spPr>
          <a:xfrm>
            <a:off x="3206163" y="3158189"/>
            <a:ext cx="252638" cy="405305"/>
          </a:xfrm>
          <a:prstGeom prst="straightConnector1">
            <a:avLst/>
          </a:prstGeom>
          <a:ln w="28575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2B9123D-06F3-5927-DA24-BBF3E8A8428F}"/>
              </a:ext>
            </a:extLst>
          </p:cNvPr>
          <p:cNvSpPr txBox="1"/>
          <p:nvPr/>
        </p:nvSpPr>
        <p:spPr>
          <a:xfrm>
            <a:off x="2494324" y="185688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C</a:t>
            </a:r>
            <a:endParaRPr lang="en-US" sz="2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E08BA0-512A-414C-8010-6BB79FA9E7B7}"/>
              </a:ext>
            </a:extLst>
          </p:cNvPr>
          <p:cNvSpPr txBox="1"/>
          <p:nvPr/>
        </p:nvSpPr>
        <p:spPr>
          <a:xfrm>
            <a:off x="3512575" y="1860224"/>
            <a:ext cx="3738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D</a:t>
            </a:r>
            <a:endParaRPr 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5ADA2D-893F-4EDA-8C20-352F45DC2E22}"/>
              </a:ext>
            </a:extLst>
          </p:cNvPr>
          <p:cNvSpPr txBox="1"/>
          <p:nvPr/>
        </p:nvSpPr>
        <p:spPr>
          <a:xfrm>
            <a:off x="4085081" y="3442982"/>
            <a:ext cx="4739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77"/>
                <a:sym typeface="Wingdings" pitchFamily="2" charset="2"/>
              </a:rPr>
              <a:t>!  </a:t>
            </a:r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But overlapping hurts reconstruction!</a:t>
            </a:r>
            <a:endParaRPr lang="en-US" dirty="0">
              <a:solidFill>
                <a:schemeClr val="tx1"/>
              </a:solidFill>
              <a:latin typeface="Arial Rounded MT Bold" panose="020F0704030504030204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B04A89-4B87-0A29-E7B5-55239A766CB3}"/>
              </a:ext>
            </a:extLst>
          </p:cNvPr>
          <p:cNvSpPr txBox="1"/>
          <p:nvPr/>
        </p:nvSpPr>
        <p:spPr>
          <a:xfrm>
            <a:off x="4535636" y="3804941"/>
            <a:ext cx="5516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Encoder may avoid overlapping</a:t>
            </a:r>
            <a:endParaRPr lang="en-US" dirty="0">
              <a:solidFill>
                <a:schemeClr val="tx1"/>
              </a:solidFill>
              <a:latin typeface="Arial Rounded MT Bold" panose="020F0704030504030204" pitchFamily="34" charset="77"/>
            </a:endParaRP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0419A9FB-70B0-C737-8E18-0D3FE7BC9E75}"/>
              </a:ext>
            </a:extLst>
          </p:cNvPr>
          <p:cNvSpPr/>
          <p:nvPr/>
        </p:nvSpPr>
        <p:spPr>
          <a:xfrm>
            <a:off x="4210954" y="3907548"/>
            <a:ext cx="193087" cy="178240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EDD1711-0491-C3D0-C05A-65087F2C6E82}"/>
              </a:ext>
            </a:extLst>
          </p:cNvPr>
          <p:cNvGrpSpPr/>
          <p:nvPr/>
        </p:nvGrpSpPr>
        <p:grpSpPr>
          <a:xfrm>
            <a:off x="6500106" y="2120211"/>
            <a:ext cx="4739263" cy="1074965"/>
            <a:chOff x="1025955" y="3925686"/>
            <a:chExt cx="4739263" cy="107496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E42691F-47BA-DDF3-F051-9C7623DC2095}"/>
                </a:ext>
              </a:extLst>
            </p:cNvPr>
            <p:cNvGrpSpPr/>
            <p:nvPr/>
          </p:nvGrpSpPr>
          <p:grpSpPr>
            <a:xfrm>
              <a:off x="1025955" y="3925686"/>
              <a:ext cx="4739263" cy="1074965"/>
              <a:chOff x="963173" y="3460090"/>
              <a:chExt cx="6285578" cy="1425702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29C6FEC9-0800-5411-2B08-B0C053BE2EF0}"/>
                  </a:ext>
                </a:extLst>
              </p:cNvPr>
              <p:cNvSpPr/>
              <p:nvPr/>
            </p:nvSpPr>
            <p:spPr>
              <a:xfrm>
                <a:off x="963173" y="3490570"/>
                <a:ext cx="619760" cy="61976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EF238488-BA70-C94C-64B6-66645FDD1121}"/>
                  </a:ext>
                </a:extLst>
              </p:cNvPr>
              <p:cNvSpPr/>
              <p:nvPr/>
            </p:nvSpPr>
            <p:spPr>
              <a:xfrm>
                <a:off x="2141733" y="3490570"/>
                <a:ext cx="619760" cy="61976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Moon 29">
                <a:extLst>
                  <a:ext uri="{FF2B5EF4-FFF2-40B4-BE49-F238E27FC236}">
                    <a16:creationId xmlns:a16="http://schemas.microsoft.com/office/drawing/2014/main" id="{42740A4B-3E53-72EA-4D77-05E2C1071292}"/>
                  </a:ext>
                </a:extLst>
              </p:cNvPr>
              <p:cNvSpPr/>
              <p:nvPr/>
            </p:nvSpPr>
            <p:spPr>
              <a:xfrm>
                <a:off x="2141733" y="3480410"/>
                <a:ext cx="333885" cy="619760"/>
              </a:xfrm>
              <a:prstGeom prst="moon">
                <a:avLst>
                  <a:gd name="adj" fmla="val 33356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C64101B8-33B7-3018-DBAB-1564BD63DA6C}"/>
                  </a:ext>
                </a:extLst>
              </p:cNvPr>
              <p:cNvSpPr/>
              <p:nvPr/>
            </p:nvSpPr>
            <p:spPr>
              <a:xfrm>
                <a:off x="3320293" y="3470250"/>
                <a:ext cx="619760" cy="61976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Moon 32">
                <a:extLst>
                  <a:ext uri="{FF2B5EF4-FFF2-40B4-BE49-F238E27FC236}">
                    <a16:creationId xmlns:a16="http://schemas.microsoft.com/office/drawing/2014/main" id="{089E6DEA-D653-7740-8FD6-6104FEE50366}"/>
                  </a:ext>
                </a:extLst>
              </p:cNvPr>
              <p:cNvSpPr/>
              <p:nvPr/>
            </p:nvSpPr>
            <p:spPr>
              <a:xfrm>
                <a:off x="3320293" y="3460090"/>
                <a:ext cx="333885" cy="619760"/>
              </a:xfrm>
              <a:prstGeom prst="moon">
                <a:avLst>
                  <a:gd name="adj" fmla="val 79001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FBCEF8F9-6F10-68E0-6BC1-BE7177E1EEF8}"/>
                  </a:ext>
                </a:extLst>
              </p:cNvPr>
              <p:cNvSpPr/>
              <p:nvPr/>
            </p:nvSpPr>
            <p:spPr>
              <a:xfrm>
                <a:off x="5733639" y="3470250"/>
                <a:ext cx="619760" cy="61976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8EAF3082-762F-2AAC-F328-3CA5D289D9A5}"/>
                  </a:ext>
                </a:extLst>
              </p:cNvPr>
              <p:cNvSpPr/>
              <p:nvPr/>
            </p:nvSpPr>
            <p:spPr>
              <a:xfrm>
                <a:off x="4567606" y="3490570"/>
                <a:ext cx="619760" cy="61976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Moon 35">
                <a:extLst>
                  <a:ext uri="{FF2B5EF4-FFF2-40B4-BE49-F238E27FC236}">
                    <a16:creationId xmlns:a16="http://schemas.microsoft.com/office/drawing/2014/main" id="{420CBC7B-830D-2FEE-808A-951CD1856509}"/>
                  </a:ext>
                </a:extLst>
              </p:cNvPr>
              <p:cNvSpPr/>
              <p:nvPr/>
            </p:nvSpPr>
            <p:spPr>
              <a:xfrm flipH="1">
                <a:off x="4853481" y="3490571"/>
                <a:ext cx="333885" cy="619760"/>
              </a:xfrm>
              <a:prstGeom prst="moon">
                <a:avLst>
                  <a:gd name="adj" fmla="val 69872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8E1C1B2B-ACBA-2CE4-11DD-76B9124D9E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3173" y="4885792"/>
                <a:ext cx="6285578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DA9CE5B1-A3E4-3DB9-8966-A070909F9C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39163" y="4142461"/>
                <a:ext cx="255876" cy="575756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2839145F-545C-E4A7-BB1F-F5CF99CB01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75619" y="4152620"/>
                <a:ext cx="285874" cy="648590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3A96E11F-365C-2C8E-9ABB-258D5A71B2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70983" y="4152620"/>
                <a:ext cx="183195" cy="648590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60DE9B3D-23DB-9166-AD26-CB2DA626DFF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32743" y="4232250"/>
                <a:ext cx="644742" cy="616072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7E56B9BD-AE12-1D72-F762-9F61620FC8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33359" y="4232250"/>
                <a:ext cx="833120" cy="568960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C6ED843-4D09-E7C9-D3D1-FB0147059547}"/>
                </a:ext>
              </a:extLst>
            </p:cNvPr>
            <p:cNvGrpSpPr/>
            <p:nvPr/>
          </p:nvGrpSpPr>
          <p:grpSpPr>
            <a:xfrm>
              <a:off x="1417276" y="4650191"/>
              <a:ext cx="4101428" cy="342800"/>
              <a:chOff x="1417276" y="4650191"/>
              <a:chExt cx="4101428" cy="342800"/>
            </a:xfrm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19D1FD23-D1E3-0981-C348-166350D6D266}"/>
                  </a:ext>
                </a:extLst>
              </p:cNvPr>
              <p:cNvSpPr/>
              <p:nvPr/>
            </p:nvSpPr>
            <p:spPr>
              <a:xfrm>
                <a:off x="5333321" y="4665425"/>
                <a:ext cx="185383" cy="313547"/>
              </a:xfrm>
              <a:custGeom>
                <a:avLst/>
                <a:gdLst>
                  <a:gd name="connsiteX0" fmla="*/ 0 w 822036"/>
                  <a:gd name="connsiteY0" fmla="*/ 472782 h 490768"/>
                  <a:gd name="connsiteX1" fmla="*/ 203200 w 822036"/>
                  <a:gd name="connsiteY1" fmla="*/ 463546 h 490768"/>
                  <a:gd name="connsiteX2" fmla="*/ 341745 w 822036"/>
                  <a:gd name="connsiteY2" fmla="*/ 214164 h 490768"/>
                  <a:gd name="connsiteX3" fmla="*/ 415636 w 822036"/>
                  <a:gd name="connsiteY3" fmla="*/ 47910 h 490768"/>
                  <a:gd name="connsiteX4" fmla="*/ 480291 w 822036"/>
                  <a:gd name="connsiteY4" fmla="*/ 1728 h 490768"/>
                  <a:gd name="connsiteX5" fmla="*/ 544945 w 822036"/>
                  <a:gd name="connsiteY5" fmla="*/ 94091 h 490768"/>
                  <a:gd name="connsiteX6" fmla="*/ 674254 w 822036"/>
                  <a:gd name="connsiteY6" fmla="*/ 371182 h 490768"/>
                  <a:gd name="connsiteX7" fmla="*/ 748145 w 822036"/>
                  <a:gd name="connsiteY7" fmla="*/ 472782 h 490768"/>
                  <a:gd name="connsiteX8" fmla="*/ 822036 w 822036"/>
                  <a:gd name="connsiteY8" fmla="*/ 472782 h 490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2036" h="490768">
                    <a:moveTo>
                      <a:pt x="0" y="472782"/>
                    </a:moveTo>
                    <a:cubicBezTo>
                      <a:pt x="73121" y="489715"/>
                      <a:pt x="146243" y="506649"/>
                      <a:pt x="203200" y="463546"/>
                    </a:cubicBezTo>
                    <a:cubicBezTo>
                      <a:pt x="260157" y="420443"/>
                      <a:pt x="306339" y="283437"/>
                      <a:pt x="341745" y="214164"/>
                    </a:cubicBezTo>
                    <a:cubicBezTo>
                      <a:pt x="377151" y="144891"/>
                      <a:pt x="392545" y="83316"/>
                      <a:pt x="415636" y="47910"/>
                    </a:cubicBezTo>
                    <a:cubicBezTo>
                      <a:pt x="438727" y="12504"/>
                      <a:pt x="458740" y="-5969"/>
                      <a:pt x="480291" y="1728"/>
                    </a:cubicBezTo>
                    <a:cubicBezTo>
                      <a:pt x="501843" y="9425"/>
                      <a:pt x="512618" y="32515"/>
                      <a:pt x="544945" y="94091"/>
                    </a:cubicBezTo>
                    <a:cubicBezTo>
                      <a:pt x="577272" y="155667"/>
                      <a:pt x="640387" y="308067"/>
                      <a:pt x="674254" y="371182"/>
                    </a:cubicBezTo>
                    <a:cubicBezTo>
                      <a:pt x="708121" y="434297"/>
                      <a:pt x="723515" y="455849"/>
                      <a:pt x="748145" y="472782"/>
                    </a:cubicBezTo>
                    <a:cubicBezTo>
                      <a:pt x="772775" y="489715"/>
                      <a:pt x="797405" y="481248"/>
                      <a:pt x="822036" y="472782"/>
                    </a:cubicBezTo>
                  </a:path>
                </a:pathLst>
              </a:custGeom>
              <a:solidFill>
                <a:srgbClr val="3988CF">
                  <a:alpha val="30196"/>
                </a:srgb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13CAFB6-45A6-B8CF-9F3B-8E0F57BA9A36}"/>
                  </a:ext>
                </a:extLst>
              </p:cNvPr>
              <p:cNvSpPr/>
              <p:nvPr/>
            </p:nvSpPr>
            <p:spPr>
              <a:xfrm>
                <a:off x="2242553" y="4666009"/>
                <a:ext cx="196278" cy="313547"/>
              </a:xfrm>
              <a:custGeom>
                <a:avLst/>
                <a:gdLst>
                  <a:gd name="connsiteX0" fmla="*/ 0 w 822036"/>
                  <a:gd name="connsiteY0" fmla="*/ 472782 h 490768"/>
                  <a:gd name="connsiteX1" fmla="*/ 203200 w 822036"/>
                  <a:gd name="connsiteY1" fmla="*/ 463546 h 490768"/>
                  <a:gd name="connsiteX2" fmla="*/ 341745 w 822036"/>
                  <a:gd name="connsiteY2" fmla="*/ 214164 h 490768"/>
                  <a:gd name="connsiteX3" fmla="*/ 415636 w 822036"/>
                  <a:gd name="connsiteY3" fmla="*/ 47910 h 490768"/>
                  <a:gd name="connsiteX4" fmla="*/ 480291 w 822036"/>
                  <a:gd name="connsiteY4" fmla="*/ 1728 h 490768"/>
                  <a:gd name="connsiteX5" fmla="*/ 544945 w 822036"/>
                  <a:gd name="connsiteY5" fmla="*/ 94091 h 490768"/>
                  <a:gd name="connsiteX6" fmla="*/ 674254 w 822036"/>
                  <a:gd name="connsiteY6" fmla="*/ 371182 h 490768"/>
                  <a:gd name="connsiteX7" fmla="*/ 748145 w 822036"/>
                  <a:gd name="connsiteY7" fmla="*/ 472782 h 490768"/>
                  <a:gd name="connsiteX8" fmla="*/ 822036 w 822036"/>
                  <a:gd name="connsiteY8" fmla="*/ 472782 h 490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2036" h="490768">
                    <a:moveTo>
                      <a:pt x="0" y="472782"/>
                    </a:moveTo>
                    <a:cubicBezTo>
                      <a:pt x="73121" y="489715"/>
                      <a:pt x="146243" y="506649"/>
                      <a:pt x="203200" y="463546"/>
                    </a:cubicBezTo>
                    <a:cubicBezTo>
                      <a:pt x="260157" y="420443"/>
                      <a:pt x="306339" y="283437"/>
                      <a:pt x="341745" y="214164"/>
                    </a:cubicBezTo>
                    <a:cubicBezTo>
                      <a:pt x="377151" y="144891"/>
                      <a:pt x="392545" y="83316"/>
                      <a:pt x="415636" y="47910"/>
                    </a:cubicBezTo>
                    <a:cubicBezTo>
                      <a:pt x="438727" y="12504"/>
                      <a:pt x="458740" y="-5969"/>
                      <a:pt x="480291" y="1728"/>
                    </a:cubicBezTo>
                    <a:cubicBezTo>
                      <a:pt x="501843" y="9425"/>
                      <a:pt x="512618" y="32515"/>
                      <a:pt x="544945" y="94091"/>
                    </a:cubicBezTo>
                    <a:cubicBezTo>
                      <a:pt x="577272" y="155667"/>
                      <a:pt x="640387" y="308067"/>
                      <a:pt x="674254" y="371182"/>
                    </a:cubicBezTo>
                    <a:cubicBezTo>
                      <a:pt x="708121" y="434297"/>
                      <a:pt x="723515" y="455849"/>
                      <a:pt x="748145" y="472782"/>
                    </a:cubicBezTo>
                    <a:cubicBezTo>
                      <a:pt x="772775" y="489715"/>
                      <a:pt x="797405" y="481248"/>
                      <a:pt x="822036" y="472782"/>
                    </a:cubicBezTo>
                  </a:path>
                </a:pathLst>
              </a:custGeom>
              <a:solidFill>
                <a:srgbClr val="3988CF">
                  <a:alpha val="30196"/>
                </a:srgb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3B61ECA1-8D4C-D82C-C75E-CF1045D6C148}"/>
                  </a:ext>
                </a:extLst>
              </p:cNvPr>
              <p:cNvSpPr/>
              <p:nvPr/>
            </p:nvSpPr>
            <p:spPr>
              <a:xfrm>
                <a:off x="2848499" y="4650191"/>
                <a:ext cx="138768" cy="313547"/>
              </a:xfrm>
              <a:custGeom>
                <a:avLst/>
                <a:gdLst>
                  <a:gd name="connsiteX0" fmla="*/ 0 w 822036"/>
                  <a:gd name="connsiteY0" fmla="*/ 472782 h 490768"/>
                  <a:gd name="connsiteX1" fmla="*/ 203200 w 822036"/>
                  <a:gd name="connsiteY1" fmla="*/ 463546 h 490768"/>
                  <a:gd name="connsiteX2" fmla="*/ 341745 w 822036"/>
                  <a:gd name="connsiteY2" fmla="*/ 214164 h 490768"/>
                  <a:gd name="connsiteX3" fmla="*/ 415636 w 822036"/>
                  <a:gd name="connsiteY3" fmla="*/ 47910 h 490768"/>
                  <a:gd name="connsiteX4" fmla="*/ 480291 w 822036"/>
                  <a:gd name="connsiteY4" fmla="*/ 1728 h 490768"/>
                  <a:gd name="connsiteX5" fmla="*/ 544945 w 822036"/>
                  <a:gd name="connsiteY5" fmla="*/ 94091 h 490768"/>
                  <a:gd name="connsiteX6" fmla="*/ 674254 w 822036"/>
                  <a:gd name="connsiteY6" fmla="*/ 371182 h 490768"/>
                  <a:gd name="connsiteX7" fmla="*/ 748145 w 822036"/>
                  <a:gd name="connsiteY7" fmla="*/ 472782 h 490768"/>
                  <a:gd name="connsiteX8" fmla="*/ 822036 w 822036"/>
                  <a:gd name="connsiteY8" fmla="*/ 472782 h 490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2036" h="490768">
                    <a:moveTo>
                      <a:pt x="0" y="472782"/>
                    </a:moveTo>
                    <a:cubicBezTo>
                      <a:pt x="73121" y="489715"/>
                      <a:pt x="146243" y="506649"/>
                      <a:pt x="203200" y="463546"/>
                    </a:cubicBezTo>
                    <a:cubicBezTo>
                      <a:pt x="260157" y="420443"/>
                      <a:pt x="306339" y="283437"/>
                      <a:pt x="341745" y="214164"/>
                    </a:cubicBezTo>
                    <a:cubicBezTo>
                      <a:pt x="377151" y="144891"/>
                      <a:pt x="392545" y="83316"/>
                      <a:pt x="415636" y="47910"/>
                    </a:cubicBezTo>
                    <a:cubicBezTo>
                      <a:pt x="438727" y="12504"/>
                      <a:pt x="458740" y="-5969"/>
                      <a:pt x="480291" y="1728"/>
                    </a:cubicBezTo>
                    <a:cubicBezTo>
                      <a:pt x="501843" y="9425"/>
                      <a:pt x="512618" y="32515"/>
                      <a:pt x="544945" y="94091"/>
                    </a:cubicBezTo>
                    <a:cubicBezTo>
                      <a:pt x="577272" y="155667"/>
                      <a:pt x="640387" y="308067"/>
                      <a:pt x="674254" y="371182"/>
                    </a:cubicBezTo>
                    <a:cubicBezTo>
                      <a:pt x="708121" y="434297"/>
                      <a:pt x="723515" y="455849"/>
                      <a:pt x="748145" y="472782"/>
                    </a:cubicBezTo>
                    <a:cubicBezTo>
                      <a:pt x="772775" y="489715"/>
                      <a:pt x="797405" y="481248"/>
                      <a:pt x="822036" y="472782"/>
                    </a:cubicBezTo>
                  </a:path>
                </a:pathLst>
              </a:custGeom>
              <a:solidFill>
                <a:srgbClr val="3988CF">
                  <a:alpha val="30196"/>
                </a:srgb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57969A19-E0E9-7332-22C5-E8CCB6C01CEE}"/>
                  </a:ext>
                </a:extLst>
              </p:cNvPr>
              <p:cNvSpPr/>
              <p:nvPr/>
            </p:nvSpPr>
            <p:spPr>
              <a:xfrm>
                <a:off x="3219602" y="4679444"/>
                <a:ext cx="486129" cy="313547"/>
              </a:xfrm>
              <a:custGeom>
                <a:avLst/>
                <a:gdLst>
                  <a:gd name="connsiteX0" fmla="*/ 0 w 822036"/>
                  <a:gd name="connsiteY0" fmla="*/ 472782 h 490768"/>
                  <a:gd name="connsiteX1" fmla="*/ 203200 w 822036"/>
                  <a:gd name="connsiteY1" fmla="*/ 463546 h 490768"/>
                  <a:gd name="connsiteX2" fmla="*/ 341745 w 822036"/>
                  <a:gd name="connsiteY2" fmla="*/ 214164 h 490768"/>
                  <a:gd name="connsiteX3" fmla="*/ 415636 w 822036"/>
                  <a:gd name="connsiteY3" fmla="*/ 47910 h 490768"/>
                  <a:gd name="connsiteX4" fmla="*/ 480291 w 822036"/>
                  <a:gd name="connsiteY4" fmla="*/ 1728 h 490768"/>
                  <a:gd name="connsiteX5" fmla="*/ 544945 w 822036"/>
                  <a:gd name="connsiteY5" fmla="*/ 94091 h 490768"/>
                  <a:gd name="connsiteX6" fmla="*/ 674254 w 822036"/>
                  <a:gd name="connsiteY6" fmla="*/ 371182 h 490768"/>
                  <a:gd name="connsiteX7" fmla="*/ 748145 w 822036"/>
                  <a:gd name="connsiteY7" fmla="*/ 472782 h 490768"/>
                  <a:gd name="connsiteX8" fmla="*/ 822036 w 822036"/>
                  <a:gd name="connsiteY8" fmla="*/ 472782 h 490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2036" h="490768">
                    <a:moveTo>
                      <a:pt x="0" y="472782"/>
                    </a:moveTo>
                    <a:cubicBezTo>
                      <a:pt x="73121" y="489715"/>
                      <a:pt x="146243" y="506649"/>
                      <a:pt x="203200" y="463546"/>
                    </a:cubicBezTo>
                    <a:cubicBezTo>
                      <a:pt x="260157" y="420443"/>
                      <a:pt x="306339" y="283437"/>
                      <a:pt x="341745" y="214164"/>
                    </a:cubicBezTo>
                    <a:cubicBezTo>
                      <a:pt x="377151" y="144891"/>
                      <a:pt x="392545" y="83316"/>
                      <a:pt x="415636" y="47910"/>
                    </a:cubicBezTo>
                    <a:cubicBezTo>
                      <a:pt x="438727" y="12504"/>
                      <a:pt x="458740" y="-5969"/>
                      <a:pt x="480291" y="1728"/>
                    </a:cubicBezTo>
                    <a:cubicBezTo>
                      <a:pt x="501843" y="9425"/>
                      <a:pt x="512618" y="32515"/>
                      <a:pt x="544945" y="94091"/>
                    </a:cubicBezTo>
                    <a:cubicBezTo>
                      <a:pt x="577272" y="155667"/>
                      <a:pt x="640387" y="308067"/>
                      <a:pt x="674254" y="371182"/>
                    </a:cubicBezTo>
                    <a:cubicBezTo>
                      <a:pt x="708121" y="434297"/>
                      <a:pt x="723515" y="455849"/>
                      <a:pt x="748145" y="472782"/>
                    </a:cubicBezTo>
                    <a:cubicBezTo>
                      <a:pt x="772775" y="489715"/>
                      <a:pt x="797405" y="481248"/>
                      <a:pt x="822036" y="472782"/>
                    </a:cubicBezTo>
                  </a:path>
                </a:pathLst>
              </a:custGeom>
              <a:solidFill>
                <a:srgbClr val="3988CF">
                  <a:alpha val="30196"/>
                </a:srgb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B856C96C-96CC-33B4-C2A4-98E26E396291}"/>
                  </a:ext>
                </a:extLst>
              </p:cNvPr>
              <p:cNvSpPr/>
              <p:nvPr/>
            </p:nvSpPr>
            <p:spPr>
              <a:xfrm>
                <a:off x="1417276" y="4663192"/>
                <a:ext cx="287468" cy="313547"/>
              </a:xfrm>
              <a:custGeom>
                <a:avLst/>
                <a:gdLst>
                  <a:gd name="connsiteX0" fmla="*/ 0 w 822036"/>
                  <a:gd name="connsiteY0" fmla="*/ 472782 h 490768"/>
                  <a:gd name="connsiteX1" fmla="*/ 203200 w 822036"/>
                  <a:gd name="connsiteY1" fmla="*/ 463546 h 490768"/>
                  <a:gd name="connsiteX2" fmla="*/ 341745 w 822036"/>
                  <a:gd name="connsiteY2" fmla="*/ 214164 h 490768"/>
                  <a:gd name="connsiteX3" fmla="*/ 415636 w 822036"/>
                  <a:gd name="connsiteY3" fmla="*/ 47910 h 490768"/>
                  <a:gd name="connsiteX4" fmla="*/ 480291 w 822036"/>
                  <a:gd name="connsiteY4" fmla="*/ 1728 h 490768"/>
                  <a:gd name="connsiteX5" fmla="*/ 544945 w 822036"/>
                  <a:gd name="connsiteY5" fmla="*/ 94091 h 490768"/>
                  <a:gd name="connsiteX6" fmla="*/ 674254 w 822036"/>
                  <a:gd name="connsiteY6" fmla="*/ 371182 h 490768"/>
                  <a:gd name="connsiteX7" fmla="*/ 748145 w 822036"/>
                  <a:gd name="connsiteY7" fmla="*/ 472782 h 490768"/>
                  <a:gd name="connsiteX8" fmla="*/ 822036 w 822036"/>
                  <a:gd name="connsiteY8" fmla="*/ 472782 h 490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2036" h="490768">
                    <a:moveTo>
                      <a:pt x="0" y="472782"/>
                    </a:moveTo>
                    <a:cubicBezTo>
                      <a:pt x="73121" y="489715"/>
                      <a:pt x="146243" y="506649"/>
                      <a:pt x="203200" y="463546"/>
                    </a:cubicBezTo>
                    <a:cubicBezTo>
                      <a:pt x="260157" y="420443"/>
                      <a:pt x="306339" y="283437"/>
                      <a:pt x="341745" y="214164"/>
                    </a:cubicBezTo>
                    <a:cubicBezTo>
                      <a:pt x="377151" y="144891"/>
                      <a:pt x="392545" y="83316"/>
                      <a:pt x="415636" y="47910"/>
                    </a:cubicBezTo>
                    <a:cubicBezTo>
                      <a:pt x="438727" y="12504"/>
                      <a:pt x="458740" y="-5969"/>
                      <a:pt x="480291" y="1728"/>
                    </a:cubicBezTo>
                    <a:cubicBezTo>
                      <a:pt x="501843" y="9425"/>
                      <a:pt x="512618" y="32515"/>
                      <a:pt x="544945" y="94091"/>
                    </a:cubicBezTo>
                    <a:cubicBezTo>
                      <a:pt x="577272" y="155667"/>
                      <a:pt x="640387" y="308067"/>
                      <a:pt x="674254" y="371182"/>
                    </a:cubicBezTo>
                    <a:cubicBezTo>
                      <a:pt x="708121" y="434297"/>
                      <a:pt x="723515" y="455849"/>
                      <a:pt x="748145" y="472782"/>
                    </a:cubicBezTo>
                    <a:cubicBezTo>
                      <a:pt x="772775" y="489715"/>
                      <a:pt x="797405" y="481248"/>
                      <a:pt x="822036" y="472782"/>
                    </a:cubicBezTo>
                  </a:path>
                </a:pathLst>
              </a:custGeom>
              <a:solidFill>
                <a:srgbClr val="3988CF">
                  <a:alpha val="30196"/>
                </a:srgb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6A32068-07FF-C2A5-8CF2-AFEFC3C8CF06}"/>
                  </a:ext>
                </a:extLst>
              </p:cNvPr>
              <p:cNvSpPr txBox="1"/>
              <p:nvPr/>
            </p:nvSpPr>
            <p:spPr>
              <a:xfrm>
                <a:off x="1286677" y="4476975"/>
                <a:ext cx="55727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dirty="0">
                    <a:solidFill>
                      <a:schemeClr val="tx1"/>
                    </a:solidFill>
                    <a:latin typeface="Arial Rounded MT Bold" panose="020F0704030504030204" pitchFamily="34" charset="77"/>
                    <a:sym typeface="Wingdings" pitchFamily="2" charset="2"/>
                  </a:rPr>
                  <a:t>Distribution overlap </a:t>
                </a:r>
                <a14:m>
                  <m:oMath xmlns:m="http://schemas.openxmlformats.org/officeDocument/2006/math">
                    <m:r>
                      <a:rPr lang="en-US" altLang="zh-TW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→</m:t>
                    </m:r>
                  </m:oMath>
                </a14:m>
                <a:r>
                  <a:rPr lang="en-US" altLang="zh-TW" dirty="0">
                    <a:solidFill>
                      <a:schemeClr val="tx1"/>
                    </a:solidFill>
                    <a:latin typeface="Arial Rounded MT Bold" panose="020F0704030504030204" pitchFamily="34" charset="77"/>
                    <a:sym typeface="Wingdings" pitchFamily="2" charset="2"/>
                  </a:rPr>
                  <a:t> Continuous semantics</a:t>
                </a:r>
                <a:endParaRPr lang="en-US" dirty="0">
                  <a:solidFill>
                    <a:schemeClr val="tx1"/>
                  </a:solidFill>
                  <a:latin typeface="Arial Rounded MT Bold" panose="020F0704030504030204" pitchFamily="34" charset="77"/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6A32068-07FF-C2A5-8CF2-AFEFC3C8CF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6677" y="4476975"/>
                <a:ext cx="5572769" cy="369332"/>
              </a:xfrm>
              <a:prstGeom prst="rect">
                <a:avLst/>
              </a:prstGeom>
              <a:blipFill>
                <a:blip r:embed="rId7"/>
                <a:stretch>
                  <a:fillRect l="-656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074CB3A2-0685-0C1A-06D2-DE3DB17694A9}"/>
              </a:ext>
            </a:extLst>
          </p:cNvPr>
          <p:cNvSpPr txBox="1"/>
          <p:nvPr/>
        </p:nvSpPr>
        <p:spPr>
          <a:xfrm>
            <a:off x="1286676" y="4857649"/>
            <a:ext cx="7766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</a:rPr>
              <a:t>If          falls in the overlap between</a:t>
            </a:r>
            <a:r>
              <a:rPr lang="zh-TW" altLang="en-US" dirty="0">
                <a:latin typeface="Arial Rounded MT Bold" panose="020F0704030504030204" pitchFamily="34" charset="77"/>
              </a:rPr>
              <a:t>                  </a:t>
            </a:r>
            <a:r>
              <a:rPr lang="en-US" altLang="zh-TW" dirty="0">
                <a:latin typeface="Arial Rounded MT Bold" panose="020F0704030504030204" pitchFamily="34" charset="77"/>
              </a:rPr>
              <a:t>and </a:t>
            </a:r>
            <a:r>
              <a:rPr lang="zh-TW" altLang="en-US" dirty="0">
                <a:latin typeface="Arial Rounded MT Bold" panose="020F0704030504030204" pitchFamily="34" charset="77"/>
              </a:rPr>
              <a:t> </a:t>
            </a:r>
            <a:r>
              <a:rPr lang="en-US" altLang="zh-TW" dirty="0">
                <a:latin typeface="Arial Rounded MT Bold" panose="020F0704030504030204" pitchFamily="34" charset="77"/>
              </a:rPr>
              <a:t>   </a:t>
            </a:r>
            <a:endParaRPr lang="en-US" dirty="0">
              <a:solidFill>
                <a:schemeClr val="tx1"/>
              </a:solidFill>
              <a:latin typeface="Arial Rounded MT Bold" panose="020F0704030504030204" pitchFamily="34" charset="77"/>
            </a:endParaRP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D7C5FD5B-4153-11B6-F425-C93D2214F8F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08960" y="4940670"/>
            <a:ext cx="286066" cy="246609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734E7D45-81B0-9D95-077A-A7275017C13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75866" y="4925727"/>
            <a:ext cx="820134" cy="247531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32DC3129-A6A6-8B94-F438-07B8649CAD1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12366" y="4907549"/>
            <a:ext cx="891799" cy="261552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05FB118A-518D-34A1-C393-032BE246537E}"/>
              </a:ext>
            </a:extLst>
          </p:cNvPr>
          <p:cNvSpPr txBox="1"/>
          <p:nvPr/>
        </p:nvSpPr>
        <p:spPr>
          <a:xfrm>
            <a:off x="1623965" y="5248076"/>
            <a:ext cx="7751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Arial Rounded MT Bold" panose="020F0704030504030204" pitchFamily="34" charset="77"/>
                <a:sym typeface="Wingdings" pitchFamily="2" charset="2"/>
              </a:rPr>
              <a:t>                          </a:t>
            </a:r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and  </a:t>
            </a:r>
          </a:p>
        </p:txBody>
      </p:sp>
      <p:sp>
        <p:nvSpPr>
          <p:cNvPr id="76" name="Arrow: Right 75">
            <a:extLst>
              <a:ext uri="{FF2B5EF4-FFF2-40B4-BE49-F238E27FC236}">
                <a16:creationId xmlns:a16="http://schemas.microsoft.com/office/drawing/2014/main" id="{9E7D73AF-E275-798C-08C5-DE82264E2F8E}"/>
              </a:ext>
            </a:extLst>
          </p:cNvPr>
          <p:cNvSpPr/>
          <p:nvPr/>
        </p:nvSpPr>
        <p:spPr>
          <a:xfrm>
            <a:off x="1362271" y="5370829"/>
            <a:ext cx="193087" cy="178240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51F1AA12-2753-CF2B-C507-835A1F8CFCF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51993" y="5343845"/>
            <a:ext cx="1284828" cy="236979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02A9CFFD-6D14-0E56-C88E-63AC06F9602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99485" y="5334342"/>
            <a:ext cx="245087" cy="21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9132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2BD01-503E-49E2-D621-1B388018B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4E443A0-1828-58C2-6EF3-13819B3F1153}"/>
              </a:ext>
            </a:extLst>
          </p:cNvPr>
          <p:cNvSpPr txBox="1"/>
          <p:nvPr/>
        </p:nvSpPr>
        <p:spPr>
          <a:xfrm>
            <a:off x="276410" y="260293"/>
            <a:ext cx="2462046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VAE – Variational AE</a:t>
            </a:r>
          </a:p>
        </p:txBody>
      </p:sp>
      <p:pic>
        <p:nvPicPr>
          <p:cNvPr id="60" name="Graphic 59" descr="Magnifying glass with solid fill">
            <a:extLst>
              <a:ext uri="{FF2B5EF4-FFF2-40B4-BE49-F238E27FC236}">
                <a16:creationId xmlns:a16="http://schemas.microsoft.com/office/drawing/2014/main" id="{AF04E8B4-AE0A-D60A-19D5-C1D3D8BAE4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9003" y="856675"/>
            <a:ext cx="475673" cy="47567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67620F4-BD86-1D02-FA8F-E92AC7D03D68}"/>
              </a:ext>
            </a:extLst>
          </p:cNvPr>
          <p:cNvSpPr txBox="1"/>
          <p:nvPr/>
        </p:nvSpPr>
        <p:spPr>
          <a:xfrm>
            <a:off x="1286678" y="1385834"/>
            <a:ext cx="4669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Encoder outputs a </a:t>
            </a:r>
            <a:r>
              <a:rPr lang="en-US" altLang="zh-TW" dirty="0">
                <a:solidFill>
                  <a:srgbClr val="FF0000"/>
                </a:solidFill>
                <a:latin typeface="Arial Rounded MT Bold" panose="020F0704030504030204" pitchFamily="34" charset="77"/>
                <a:sym typeface="Wingdings" pitchFamily="2" charset="2"/>
              </a:rPr>
              <a:t>distribution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7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2BB1E7-4D14-85A2-5118-D921E7319B17}"/>
              </a:ext>
            </a:extLst>
          </p:cNvPr>
          <p:cNvSpPr txBox="1"/>
          <p:nvPr/>
        </p:nvSpPr>
        <p:spPr>
          <a:xfrm>
            <a:off x="1286678" y="856675"/>
            <a:ext cx="5060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AE + Probabilistic (pictures and intuitions)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D49497A-F151-B04F-6629-37709D7B6CEA}"/>
                  </a:ext>
                </a:extLst>
              </p:cNvPr>
              <p:cNvSpPr txBox="1"/>
              <p:nvPr/>
            </p:nvSpPr>
            <p:spPr>
              <a:xfrm>
                <a:off x="1286677" y="4476975"/>
                <a:ext cx="55727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dirty="0">
                    <a:solidFill>
                      <a:schemeClr val="tx1"/>
                    </a:solidFill>
                    <a:latin typeface="Arial Rounded MT Bold" panose="020F0704030504030204" pitchFamily="34" charset="77"/>
                    <a:sym typeface="Wingdings" pitchFamily="2" charset="2"/>
                  </a:rPr>
                  <a:t>Distribution overlap </a:t>
                </a:r>
                <a14:m>
                  <m:oMath xmlns:m="http://schemas.openxmlformats.org/officeDocument/2006/math">
                    <m:r>
                      <a:rPr lang="en-US" altLang="zh-TW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→</m:t>
                    </m:r>
                  </m:oMath>
                </a14:m>
                <a:r>
                  <a:rPr lang="en-US" altLang="zh-TW" dirty="0">
                    <a:solidFill>
                      <a:schemeClr val="tx1"/>
                    </a:solidFill>
                    <a:latin typeface="Arial Rounded MT Bold" panose="020F0704030504030204" pitchFamily="34" charset="77"/>
                    <a:sym typeface="Wingdings" pitchFamily="2" charset="2"/>
                  </a:rPr>
                  <a:t> Continuous semantics</a:t>
                </a:r>
                <a:endParaRPr lang="en-US" dirty="0">
                  <a:solidFill>
                    <a:schemeClr val="tx1"/>
                  </a:solidFill>
                  <a:latin typeface="Arial Rounded MT Bold" panose="020F0704030504030204" pitchFamily="34" charset="77"/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D49497A-F151-B04F-6629-37709D7B6C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6677" y="4476975"/>
                <a:ext cx="5572769" cy="369332"/>
              </a:xfrm>
              <a:prstGeom prst="rect">
                <a:avLst/>
              </a:prstGeom>
              <a:blipFill>
                <a:blip r:embed="rId7"/>
                <a:stretch>
                  <a:fillRect l="-656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5754205F-C539-E3C6-7BFF-B58F3E31360C}"/>
              </a:ext>
            </a:extLst>
          </p:cNvPr>
          <p:cNvGrpSpPr/>
          <p:nvPr/>
        </p:nvGrpSpPr>
        <p:grpSpPr>
          <a:xfrm>
            <a:off x="872861" y="2148463"/>
            <a:ext cx="5157510" cy="1074965"/>
            <a:chOff x="872861" y="3925686"/>
            <a:chExt cx="5157510" cy="1074965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2A683B1F-D14E-71C6-48A1-2DFF3C412362}"/>
                </a:ext>
              </a:extLst>
            </p:cNvPr>
            <p:cNvGrpSpPr/>
            <p:nvPr/>
          </p:nvGrpSpPr>
          <p:grpSpPr>
            <a:xfrm>
              <a:off x="1025955" y="3925686"/>
              <a:ext cx="4739263" cy="1074965"/>
              <a:chOff x="963173" y="3460090"/>
              <a:chExt cx="6285578" cy="1425702"/>
            </a:xfrm>
          </p:grpSpPr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116F7B72-DE56-32FF-14BE-46FE51EC52F3}"/>
                  </a:ext>
                </a:extLst>
              </p:cNvPr>
              <p:cNvSpPr/>
              <p:nvPr/>
            </p:nvSpPr>
            <p:spPr>
              <a:xfrm>
                <a:off x="963173" y="3490570"/>
                <a:ext cx="619760" cy="61976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54A2675F-BE09-9739-984E-8A4C37BE18F3}"/>
                  </a:ext>
                </a:extLst>
              </p:cNvPr>
              <p:cNvSpPr/>
              <p:nvPr/>
            </p:nvSpPr>
            <p:spPr>
              <a:xfrm>
                <a:off x="2141733" y="3490570"/>
                <a:ext cx="619760" cy="61976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Moon 60">
                <a:extLst>
                  <a:ext uri="{FF2B5EF4-FFF2-40B4-BE49-F238E27FC236}">
                    <a16:creationId xmlns:a16="http://schemas.microsoft.com/office/drawing/2014/main" id="{BB448E57-3862-C6AE-08F4-90AF52B012E0}"/>
                  </a:ext>
                </a:extLst>
              </p:cNvPr>
              <p:cNvSpPr/>
              <p:nvPr/>
            </p:nvSpPr>
            <p:spPr>
              <a:xfrm>
                <a:off x="2141733" y="3480410"/>
                <a:ext cx="333885" cy="619760"/>
              </a:xfrm>
              <a:prstGeom prst="moon">
                <a:avLst>
                  <a:gd name="adj" fmla="val 33356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234E0633-15BB-4267-5BFD-BB5F0E71BBD4}"/>
                  </a:ext>
                </a:extLst>
              </p:cNvPr>
              <p:cNvSpPr/>
              <p:nvPr/>
            </p:nvSpPr>
            <p:spPr>
              <a:xfrm>
                <a:off x="3320293" y="3470250"/>
                <a:ext cx="619760" cy="61976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Moon 62">
                <a:extLst>
                  <a:ext uri="{FF2B5EF4-FFF2-40B4-BE49-F238E27FC236}">
                    <a16:creationId xmlns:a16="http://schemas.microsoft.com/office/drawing/2014/main" id="{E62DEBDA-472D-2156-70CF-EED592BF5408}"/>
                  </a:ext>
                </a:extLst>
              </p:cNvPr>
              <p:cNvSpPr/>
              <p:nvPr/>
            </p:nvSpPr>
            <p:spPr>
              <a:xfrm>
                <a:off x="3320293" y="3460090"/>
                <a:ext cx="333885" cy="619760"/>
              </a:xfrm>
              <a:prstGeom prst="moon">
                <a:avLst>
                  <a:gd name="adj" fmla="val 79001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2631C11E-995B-4EE1-B08C-DAB50772C457}"/>
                  </a:ext>
                </a:extLst>
              </p:cNvPr>
              <p:cNvSpPr/>
              <p:nvPr/>
            </p:nvSpPr>
            <p:spPr>
              <a:xfrm>
                <a:off x="5733639" y="3470250"/>
                <a:ext cx="619760" cy="61976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3657B66A-5730-F6BD-25B3-30F48F750745}"/>
                  </a:ext>
                </a:extLst>
              </p:cNvPr>
              <p:cNvSpPr/>
              <p:nvPr/>
            </p:nvSpPr>
            <p:spPr>
              <a:xfrm>
                <a:off x="4567606" y="3490570"/>
                <a:ext cx="619760" cy="61976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Moon 65">
                <a:extLst>
                  <a:ext uri="{FF2B5EF4-FFF2-40B4-BE49-F238E27FC236}">
                    <a16:creationId xmlns:a16="http://schemas.microsoft.com/office/drawing/2014/main" id="{0466FDB6-15CE-8DDF-1A58-F42856CFE0B8}"/>
                  </a:ext>
                </a:extLst>
              </p:cNvPr>
              <p:cNvSpPr/>
              <p:nvPr/>
            </p:nvSpPr>
            <p:spPr>
              <a:xfrm flipH="1">
                <a:off x="4853481" y="3490571"/>
                <a:ext cx="333885" cy="619760"/>
              </a:xfrm>
              <a:prstGeom prst="moon">
                <a:avLst>
                  <a:gd name="adj" fmla="val 69872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68B22A5C-D9D4-F04F-B131-B362D71524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3173" y="4885792"/>
                <a:ext cx="6285578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C6036013-752A-96A0-A0A6-6CB8B81375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39163" y="4142461"/>
                <a:ext cx="255876" cy="575756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Arrow Connector 68">
                <a:extLst>
                  <a:ext uri="{FF2B5EF4-FFF2-40B4-BE49-F238E27FC236}">
                    <a16:creationId xmlns:a16="http://schemas.microsoft.com/office/drawing/2014/main" id="{3AEF4EF8-0F77-AEF2-27FF-24FF6B3AF6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75619" y="4152620"/>
                <a:ext cx="285874" cy="648590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569D5D86-FC26-A728-4F95-D5AE7A3B328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70983" y="4152620"/>
                <a:ext cx="183195" cy="648590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3B29DAEB-05B8-D06C-EC1E-701568C5F34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32743" y="4232250"/>
                <a:ext cx="644742" cy="616072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6B2C1AE1-95CA-C11E-60A2-3DEFCD2375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33359" y="4232250"/>
                <a:ext cx="833120" cy="568960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1236B87F-A292-6E09-FB90-779A3B6006B4}"/>
                </a:ext>
              </a:extLst>
            </p:cNvPr>
            <p:cNvGrpSpPr/>
            <p:nvPr/>
          </p:nvGrpSpPr>
          <p:grpSpPr>
            <a:xfrm>
              <a:off x="872861" y="4658852"/>
              <a:ext cx="5157510" cy="334138"/>
              <a:chOff x="872861" y="4658852"/>
              <a:chExt cx="5157510" cy="334138"/>
            </a:xfrm>
          </p:grpSpPr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8C892D6E-5007-86BB-5E06-E440AAF83C18}"/>
                  </a:ext>
                </a:extLst>
              </p:cNvPr>
              <p:cNvSpPr/>
              <p:nvPr/>
            </p:nvSpPr>
            <p:spPr>
              <a:xfrm>
                <a:off x="4521362" y="4664477"/>
                <a:ext cx="1509009" cy="313547"/>
              </a:xfrm>
              <a:custGeom>
                <a:avLst/>
                <a:gdLst>
                  <a:gd name="connsiteX0" fmla="*/ 0 w 822036"/>
                  <a:gd name="connsiteY0" fmla="*/ 472782 h 490768"/>
                  <a:gd name="connsiteX1" fmla="*/ 203200 w 822036"/>
                  <a:gd name="connsiteY1" fmla="*/ 463546 h 490768"/>
                  <a:gd name="connsiteX2" fmla="*/ 341745 w 822036"/>
                  <a:gd name="connsiteY2" fmla="*/ 214164 h 490768"/>
                  <a:gd name="connsiteX3" fmla="*/ 415636 w 822036"/>
                  <a:gd name="connsiteY3" fmla="*/ 47910 h 490768"/>
                  <a:gd name="connsiteX4" fmla="*/ 480291 w 822036"/>
                  <a:gd name="connsiteY4" fmla="*/ 1728 h 490768"/>
                  <a:gd name="connsiteX5" fmla="*/ 544945 w 822036"/>
                  <a:gd name="connsiteY5" fmla="*/ 94091 h 490768"/>
                  <a:gd name="connsiteX6" fmla="*/ 674254 w 822036"/>
                  <a:gd name="connsiteY6" fmla="*/ 371182 h 490768"/>
                  <a:gd name="connsiteX7" fmla="*/ 748145 w 822036"/>
                  <a:gd name="connsiteY7" fmla="*/ 472782 h 490768"/>
                  <a:gd name="connsiteX8" fmla="*/ 822036 w 822036"/>
                  <a:gd name="connsiteY8" fmla="*/ 472782 h 490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2036" h="490768">
                    <a:moveTo>
                      <a:pt x="0" y="472782"/>
                    </a:moveTo>
                    <a:cubicBezTo>
                      <a:pt x="73121" y="489715"/>
                      <a:pt x="146243" y="506649"/>
                      <a:pt x="203200" y="463546"/>
                    </a:cubicBezTo>
                    <a:cubicBezTo>
                      <a:pt x="260157" y="420443"/>
                      <a:pt x="306339" y="283437"/>
                      <a:pt x="341745" y="214164"/>
                    </a:cubicBezTo>
                    <a:cubicBezTo>
                      <a:pt x="377151" y="144891"/>
                      <a:pt x="392545" y="83316"/>
                      <a:pt x="415636" y="47910"/>
                    </a:cubicBezTo>
                    <a:cubicBezTo>
                      <a:pt x="438727" y="12504"/>
                      <a:pt x="458740" y="-5969"/>
                      <a:pt x="480291" y="1728"/>
                    </a:cubicBezTo>
                    <a:cubicBezTo>
                      <a:pt x="501843" y="9425"/>
                      <a:pt x="512618" y="32515"/>
                      <a:pt x="544945" y="94091"/>
                    </a:cubicBezTo>
                    <a:cubicBezTo>
                      <a:pt x="577272" y="155667"/>
                      <a:pt x="640387" y="308067"/>
                      <a:pt x="674254" y="371182"/>
                    </a:cubicBezTo>
                    <a:cubicBezTo>
                      <a:pt x="708121" y="434297"/>
                      <a:pt x="723515" y="455849"/>
                      <a:pt x="748145" y="472782"/>
                    </a:cubicBezTo>
                    <a:cubicBezTo>
                      <a:pt x="772775" y="489715"/>
                      <a:pt x="797405" y="481248"/>
                      <a:pt x="822036" y="472782"/>
                    </a:cubicBezTo>
                  </a:path>
                </a:pathLst>
              </a:custGeom>
              <a:solidFill>
                <a:srgbClr val="3988CF">
                  <a:alpha val="30196"/>
                </a:srgb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57F0470-F9FE-88AD-4246-460C21E64519}"/>
                  </a:ext>
                </a:extLst>
              </p:cNvPr>
              <p:cNvSpPr/>
              <p:nvPr/>
            </p:nvSpPr>
            <p:spPr>
              <a:xfrm>
                <a:off x="1708960" y="4665698"/>
                <a:ext cx="1313609" cy="313547"/>
              </a:xfrm>
              <a:custGeom>
                <a:avLst/>
                <a:gdLst>
                  <a:gd name="connsiteX0" fmla="*/ 0 w 822036"/>
                  <a:gd name="connsiteY0" fmla="*/ 472782 h 490768"/>
                  <a:gd name="connsiteX1" fmla="*/ 203200 w 822036"/>
                  <a:gd name="connsiteY1" fmla="*/ 463546 h 490768"/>
                  <a:gd name="connsiteX2" fmla="*/ 341745 w 822036"/>
                  <a:gd name="connsiteY2" fmla="*/ 214164 h 490768"/>
                  <a:gd name="connsiteX3" fmla="*/ 415636 w 822036"/>
                  <a:gd name="connsiteY3" fmla="*/ 47910 h 490768"/>
                  <a:gd name="connsiteX4" fmla="*/ 480291 w 822036"/>
                  <a:gd name="connsiteY4" fmla="*/ 1728 h 490768"/>
                  <a:gd name="connsiteX5" fmla="*/ 544945 w 822036"/>
                  <a:gd name="connsiteY5" fmla="*/ 94091 h 490768"/>
                  <a:gd name="connsiteX6" fmla="*/ 674254 w 822036"/>
                  <a:gd name="connsiteY6" fmla="*/ 371182 h 490768"/>
                  <a:gd name="connsiteX7" fmla="*/ 748145 w 822036"/>
                  <a:gd name="connsiteY7" fmla="*/ 472782 h 490768"/>
                  <a:gd name="connsiteX8" fmla="*/ 822036 w 822036"/>
                  <a:gd name="connsiteY8" fmla="*/ 472782 h 490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2036" h="490768">
                    <a:moveTo>
                      <a:pt x="0" y="472782"/>
                    </a:moveTo>
                    <a:cubicBezTo>
                      <a:pt x="73121" y="489715"/>
                      <a:pt x="146243" y="506649"/>
                      <a:pt x="203200" y="463546"/>
                    </a:cubicBezTo>
                    <a:cubicBezTo>
                      <a:pt x="260157" y="420443"/>
                      <a:pt x="306339" y="283437"/>
                      <a:pt x="341745" y="214164"/>
                    </a:cubicBezTo>
                    <a:cubicBezTo>
                      <a:pt x="377151" y="144891"/>
                      <a:pt x="392545" y="83316"/>
                      <a:pt x="415636" y="47910"/>
                    </a:cubicBezTo>
                    <a:cubicBezTo>
                      <a:pt x="438727" y="12504"/>
                      <a:pt x="458740" y="-5969"/>
                      <a:pt x="480291" y="1728"/>
                    </a:cubicBezTo>
                    <a:cubicBezTo>
                      <a:pt x="501843" y="9425"/>
                      <a:pt x="512618" y="32515"/>
                      <a:pt x="544945" y="94091"/>
                    </a:cubicBezTo>
                    <a:cubicBezTo>
                      <a:pt x="577272" y="155667"/>
                      <a:pt x="640387" y="308067"/>
                      <a:pt x="674254" y="371182"/>
                    </a:cubicBezTo>
                    <a:cubicBezTo>
                      <a:pt x="708121" y="434297"/>
                      <a:pt x="723515" y="455849"/>
                      <a:pt x="748145" y="472782"/>
                    </a:cubicBezTo>
                    <a:cubicBezTo>
                      <a:pt x="772775" y="489715"/>
                      <a:pt x="797405" y="481248"/>
                      <a:pt x="822036" y="472782"/>
                    </a:cubicBezTo>
                  </a:path>
                </a:pathLst>
              </a:custGeom>
              <a:solidFill>
                <a:srgbClr val="3988CF">
                  <a:alpha val="30196"/>
                </a:srgb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56484D6B-BD6D-B6B9-9089-B2D726E83856}"/>
                  </a:ext>
                </a:extLst>
              </p:cNvPr>
              <p:cNvSpPr/>
              <p:nvPr/>
            </p:nvSpPr>
            <p:spPr>
              <a:xfrm>
                <a:off x="2177569" y="4658852"/>
                <a:ext cx="1313609" cy="313547"/>
              </a:xfrm>
              <a:custGeom>
                <a:avLst/>
                <a:gdLst>
                  <a:gd name="connsiteX0" fmla="*/ 0 w 822036"/>
                  <a:gd name="connsiteY0" fmla="*/ 472782 h 490768"/>
                  <a:gd name="connsiteX1" fmla="*/ 203200 w 822036"/>
                  <a:gd name="connsiteY1" fmla="*/ 463546 h 490768"/>
                  <a:gd name="connsiteX2" fmla="*/ 341745 w 822036"/>
                  <a:gd name="connsiteY2" fmla="*/ 214164 h 490768"/>
                  <a:gd name="connsiteX3" fmla="*/ 415636 w 822036"/>
                  <a:gd name="connsiteY3" fmla="*/ 47910 h 490768"/>
                  <a:gd name="connsiteX4" fmla="*/ 480291 w 822036"/>
                  <a:gd name="connsiteY4" fmla="*/ 1728 h 490768"/>
                  <a:gd name="connsiteX5" fmla="*/ 544945 w 822036"/>
                  <a:gd name="connsiteY5" fmla="*/ 94091 h 490768"/>
                  <a:gd name="connsiteX6" fmla="*/ 674254 w 822036"/>
                  <a:gd name="connsiteY6" fmla="*/ 371182 h 490768"/>
                  <a:gd name="connsiteX7" fmla="*/ 748145 w 822036"/>
                  <a:gd name="connsiteY7" fmla="*/ 472782 h 490768"/>
                  <a:gd name="connsiteX8" fmla="*/ 822036 w 822036"/>
                  <a:gd name="connsiteY8" fmla="*/ 472782 h 490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2036" h="490768">
                    <a:moveTo>
                      <a:pt x="0" y="472782"/>
                    </a:moveTo>
                    <a:cubicBezTo>
                      <a:pt x="73121" y="489715"/>
                      <a:pt x="146243" y="506649"/>
                      <a:pt x="203200" y="463546"/>
                    </a:cubicBezTo>
                    <a:cubicBezTo>
                      <a:pt x="260157" y="420443"/>
                      <a:pt x="306339" y="283437"/>
                      <a:pt x="341745" y="214164"/>
                    </a:cubicBezTo>
                    <a:cubicBezTo>
                      <a:pt x="377151" y="144891"/>
                      <a:pt x="392545" y="83316"/>
                      <a:pt x="415636" y="47910"/>
                    </a:cubicBezTo>
                    <a:cubicBezTo>
                      <a:pt x="438727" y="12504"/>
                      <a:pt x="458740" y="-5969"/>
                      <a:pt x="480291" y="1728"/>
                    </a:cubicBezTo>
                    <a:cubicBezTo>
                      <a:pt x="501843" y="9425"/>
                      <a:pt x="512618" y="32515"/>
                      <a:pt x="544945" y="94091"/>
                    </a:cubicBezTo>
                    <a:cubicBezTo>
                      <a:pt x="577272" y="155667"/>
                      <a:pt x="640387" y="308067"/>
                      <a:pt x="674254" y="371182"/>
                    </a:cubicBezTo>
                    <a:cubicBezTo>
                      <a:pt x="708121" y="434297"/>
                      <a:pt x="723515" y="455849"/>
                      <a:pt x="748145" y="472782"/>
                    </a:cubicBezTo>
                    <a:cubicBezTo>
                      <a:pt x="772775" y="489715"/>
                      <a:pt x="797405" y="481248"/>
                      <a:pt x="822036" y="472782"/>
                    </a:cubicBezTo>
                  </a:path>
                </a:pathLst>
              </a:custGeom>
              <a:solidFill>
                <a:srgbClr val="3988CF">
                  <a:alpha val="30196"/>
                </a:srgb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72424E34-655D-F2B8-ACC3-6DE339EA4670}"/>
                  </a:ext>
                </a:extLst>
              </p:cNvPr>
              <p:cNvSpPr/>
              <p:nvPr/>
            </p:nvSpPr>
            <p:spPr>
              <a:xfrm>
                <a:off x="2672827" y="4679443"/>
                <a:ext cx="1313609" cy="313547"/>
              </a:xfrm>
              <a:custGeom>
                <a:avLst/>
                <a:gdLst>
                  <a:gd name="connsiteX0" fmla="*/ 0 w 822036"/>
                  <a:gd name="connsiteY0" fmla="*/ 472782 h 490768"/>
                  <a:gd name="connsiteX1" fmla="*/ 203200 w 822036"/>
                  <a:gd name="connsiteY1" fmla="*/ 463546 h 490768"/>
                  <a:gd name="connsiteX2" fmla="*/ 341745 w 822036"/>
                  <a:gd name="connsiteY2" fmla="*/ 214164 h 490768"/>
                  <a:gd name="connsiteX3" fmla="*/ 415636 w 822036"/>
                  <a:gd name="connsiteY3" fmla="*/ 47910 h 490768"/>
                  <a:gd name="connsiteX4" fmla="*/ 480291 w 822036"/>
                  <a:gd name="connsiteY4" fmla="*/ 1728 h 490768"/>
                  <a:gd name="connsiteX5" fmla="*/ 544945 w 822036"/>
                  <a:gd name="connsiteY5" fmla="*/ 94091 h 490768"/>
                  <a:gd name="connsiteX6" fmla="*/ 674254 w 822036"/>
                  <a:gd name="connsiteY6" fmla="*/ 371182 h 490768"/>
                  <a:gd name="connsiteX7" fmla="*/ 748145 w 822036"/>
                  <a:gd name="connsiteY7" fmla="*/ 472782 h 490768"/>
                  <a:gd name="connsiteX8" fmla="*/ 822036 w 822036"/>
                  <a:gd name="connsiteY8" fmla="*/ 472782 h 490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2036" h="490768">
                    <a:moveTo>
                      <a:pt x="0" y="472782"/>
                    </a:moveTo>
                    <a:cubicBezTo>
                      <a:pt x="73121" y="489715"/>
                      <a:pt x="146243" y="506649"/>
                      <a:pt x="203200" y="463546"/>
                    </a:cubicBezTo>
                    <a:cubicBezTo>
                      <a:pt x="260157" y="420443"/>
                      <a:pt x="306339" y="283437"/>
                      <a:pt x="341745" y="214164"/>
                    </a:cubicBezTo>
                    <a:cubicBezTo>
                      <a:pt x="377151" y="144891"/>
                      <a:pt x="392545" y="83316"/>
                      <a:pt x="415636" y="47910"/>
                    </a:cubicBezTo>
                    <a:cubicBezTo>
                      <a:pt x="438727" y="12504"/>
                      <a:pt x="458740" y="-5969"/>
                      <a:pt x="480291" y="1728"/>
                    </a:cubicBezTo>
                    <a:cubicBezTo>
                      <a:pt x="501843" y="9425"/>
                      <a:pt x="512618" y="32515"/>
                      <a:pt x="544945" y="94091"/>
                    </a:cubicBezTo>
                    <a:cubicBezTo>
                      <a:pt x="577272" y="155667"/>
                      <a:pt x="640387" y="308067"/>
                      <a:pt x="674254" y="371182"/>
                    </a:cubicBezTo>
                    <a:cubicBezTo>
                      <a:pt x="708121" y="434297"/>
                      <a:pt x="723515" y="455849"/>
                      <a:pt x="748145" y="472782"/>
                    </a:cubicBezTo>
                    <a:cubicBezTo>
                      <a:pt x="772775" y="489715"/>
                      <a:pt x="797405" y="481248"/>
                      <a:pt x="822036" y="472782"/>
                    </a:cubicBezTo>
                  </a:path>
                </a:pathLst>
              </a:custGeom>
              <a:solidFill>
                <a:srgbClr val="3988CF">
                  <a:alpha val="30196"/>
                </a:srgb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7B3D594B-10E1-64A7-8AAD-229162E4D7DA}"/>
                  </a:ext>
                </a:extLst>
              </p:cNvPr>
              <p:cNvSpPr/>
              <p:nvPr/>
            </p:nvSpPr>
            <p:spPr>
              <a:xfrm>
                <a:off x="872861" y="4679443"/>
                <a:ext cx="1313609" cy="313547"/>
              </a:xfrm>
              <a:custGeom>
                <a:avLst/>
                <a:gdLst>
                  <a:gd name="connsiteX0" fmla="*/ 0 w 822036"/>
                  <a:gd name="connsiteY0" fmla="*/ 472782 h 490768"/>
                  <a:gd name="connsiteX1" fmla="*/ 203200 w 822036"/>
                  <a:gd name="connsiteY1" fmla="*/ 463546 h 490768"/>
                  <a:gd name="connsiteX2" fmla="*/ 341745 w 822036"/>
                  <a:gd name="connsiteY2" fmla="*/ 214164 h 490768"/>
                  <a:gd name="connsiteX3" fmla="*/ 415636 w 822036"/>
                  <a:gd name="connsiteY3" fmla="*/ 47910 h 490768"/>
                  <a:gd name="connsiteX4" fmla="*/ 480291 w 822036"/>
                  <a:gd name="connsiteY4" fmla="*/ 1728 h 490768"/>
                  <a:gd name="connsiteX5" fmla="*/ 544945 w 822036"/>
                  <a:gd name="connsiteY5" fmla="*/ 94091 h 490768"/>
                  <a:gd name="connsiteX6" fmla="*/ 674254 w 822036"/>
                  <a:gd name="connsiteY6" fmla="*/ 371182 h 490768"/>
                  <a:gd name="connsiteX7" fmla="*/ 748145 w 822036"/>
                  <a:gd name="connsiteY7" fmla="*/ 472782 h 490768"/>
                  <a:gd name="connsiteX8" fmla="*/ 822036 w 822036"/>
                  <a:gd name="connsiteY8" fmla="*/ 472782 h 490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2036" h="490768">
                    <a:moveTo>
                      <a:pt x="0" y="472782"/>
                    </a:moveTo>
                    <a:cubicBezTo>
                      <a:pt x="73121" y="489715"/>
                      <a:pt x="146243" y="506649"/>
                      <a:pt x="203200" y="463546"/>
                    </a:cubicBezTo>
                    <a:cubicBezTo>
                      <a:pt x="260157" y="420443"/>
                      <a:pt x="306339" y="283437"/>
                      <a:pt x="341745" y="214164"/>
                    </a:cubicBezTo>
                    <a:cubicBezTo>
                      <a:pt x="377151" y="144891"/>
                      <a:pt x="392545" y="83316"/>
                      <a:pt x="415636" y="47910"/>
                    </a:cubicBezTo>
                    <a:cubicBezTo>
                      <a:pt x="438727" y="12504"/>
                      <a:pt x="458740" y="-5969"/>
                      <a:pt x="480291" y="1728"/>
                    </a:cubicBezTo>
                    <a:cubicBezTo>
                      <a:pt x="501843" y="9425"/>
                      <a:pt x="512618" y="32515"/>
                      <a:pt x="544945" y="94091"/>
                    </a:cubicBezTo>
                    <a:cubicBezTo>
                      <a:pt x="577272" y="155667"/>
                      <a:pt x="640387" y="308067"/>
                      <a:pt x="674254" y="371182"/>
                    </a:cubicBezTo>
                    <a:cubicBezTo>
                      <a:pt x="708121" y="434297"/>
                      <a:pt x="723515" y="455849"/>
                      <a:pt x="748145" y="472782"/>
                    </a:cubicBezTo>
                    <a:cubicBezTo>
                      <a:pt x="772775" y="489715"/>
                      <a:pt x="797405" y="481248"/>
                      <a:pt x="822036" y="472782"/>
                    </a:cubicBezTo>
                  </a:path>
                </a:pathLst>
              </a:custGeom>
              <a:solidFill>
                <a:srgbClr val="3988CF">
                  <a:alpha val="30196"/>
                </a:srgb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0" name="Oval 9">
            <a:extLst>
              <a:ext uri="{FF2B5EF4-FFF2-40B4-BE49-F238E27FC236}">
                <a16:creationId xmlns:a16="http://schemas.microsoft.com/office/drawing/2014/main" id="{13EE8868-FBEC-9DD0-28B1-13C0C7DB3C5C}"/>
              </a:ext>
            </a:extLst>
          </p:cNvPr>
          <p:cNvSpPr/>
          <p:nvPr/>
        </p:nvSpPr>
        <p:spPr>
          <a:xfrm>
            <a:off x="3276368" y="3674196"/>
            <a:ext cx="467293" cy="46729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artial Circle 13">
            <a:extLst>
              <a:ext uri="{FF2B5EF4-FFF2-40B4-BE49-F238E27FC236}">
                <a16:creationId xmlns:a16="http://schemas.microsoft.com/office/drawing/2014/main" id="{71B179EF-3FAC-8722-6355-531B5FAA909B}"/>
              </a:ext>
            </a:extLst>
          </p:cNvPr>
          <p:cNvSpPr/>
          <p:nvPr/>
        </p:nvSpPr>
        <p:spPr>
          <a:xfrm rot="10800000">
            <a:off x="3267902" y="3673901"/>
            <a:ext cx="467294" cy="467294"/>
          </a:xfrm>
          <a:prstGeom prst="pie">
            <a:avLst>
              <a:gd name="adj1" fmla="val 5545136"/>
              <a:gd name="adj2" fmla="val 16200000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81214D1-FB48-DCE2-36F4-98CBADA79AB1}"/>
              </a:ext>
            </a:extLst>
          </p:cNvPr>
          <p:cNvCxnSpPr>
            <a:cxnSpLocks/>
          </p:cNvCxnSpPr>
          <p:nvPr/>
        </p:nvCxnSpPr>
        <p:spPr>
          <a:xfrm>
            <a:off x="3206163" y="3158189"/>
            <a:ext cx="252638" cy="405305"/>
          </a:xfrm>
          <a:prstGeom prst="straightConnector1">
            <a:avLst/>
          </a:prstGeom>
          <a:ln w="28575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E20F416-DBDC-BB87-A8E4-F2AD8FC07EB9}"/>
              </a:ext>
            </a:extLst>
          </p:cNvPr>
          <p:cNvSpPr txBox="1"/>
          <p:nvPr/>
        </p:nvSpPr>
        <p:spPr>
          <a:xfrm>
            <a:off x="1286676" y="4857649"/>
            <a:ext cx="7766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</a:rPr>
              <a:t>If          falls in the overlap between</a:t>
            </a:r>
            <a:r>
              <a:rPr lang="zh-TW" altLang="en-US" dirty="0">
                <a:latin typeface="Arial Rounded MT Bold" panose="020F0704030504030204" pitchFamily="34" charset="77"/>
              </a:rPr>
              <a:t>                  </a:t>
            </a:r>
            <a:r>
              <a:rPr lang="en-US" altLang="zh-TW" dirty="0">
                <a:latin typeface="Arial Rounded MT Bold" panose="020F0704030504030204" pitchFamily="34" charset="77"/>
              </a:rPr>
              <a:t>and </a:t>
            </a:r>
            <a:r>
              <a:rPr lang="zh-TW" altLang="en-US" dirty="0">
                <a:latin typeface="Arial Rounded MT Bold" panose="020F0704030504030204" pitchFamily="34" charset="77"/>
              </a:rPr>
              <a:t> </a:t>
            </a:r>
            <a:r>
              <a:rPr lang="en-US" altLang="zh-TW" dirty="0">
                <a:latin typeface="Arial Rounded MT Bold" panose="020F0704030504030204" pitchFamily="34" charset="77"/>
              </a:rPr>
              <a:t>   </a:t>
            </a:r>
            <a:endParaRPr lang="en-US" dirty="0">
              <a:solidFill>
                <a:schemeClr val="tx1"/>
              </a:solidFill>
              <a:latin typeface="Arial Rounded MT Bold" panose="020F0704030504030204" pitchFamily="34" charset="77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F4207DB-5B5C-59E0-4A7B-93B052F51F2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08960" y="4940670"/>
            <a:ext cx="286066" cy="24660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76802E2-90F8-96F2-399A-9DDF0AF37F54}"/>
              </a:ext>
            </a:extLst>
          </p:cNvPr>
          <p:cNvSpPr txBox="1"/>
          <p:nvPr/>
        </p:nvSpPr>
        <p:spPr>
          <a:xfrm>
            <a:off x="2494324" y="185688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C</a:t>
            </a:r>
            <a:endParaRPr lang="en-US" sz="2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1CFCF1-EF0C-0395-2A0C-37303613A8E0}"/>
              </a:ext>
            </a:extLst>
          </p:cNvPr>
          <p:cNvSpPr txBox="1"/>
          <p:nvPr/>
        </p:nvSpPr>
        <p:spPr>
          <a:xfrm>
            <a:off x="3512575" y="1860224"/>
            <a:ext cx="3738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D</a:t>
            </a:r>
            <a:endParaRPr lang="en-US" sz="24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24D5C19-7716-5FAC-4573-1F31948EE74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75866" y="4925727"/>
            <a:ext cx="820134" cy="24753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825031A-F59F-83B7-3371-25618E2DF4C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12366" y="4907549"/>
            <a:ext cx="891799" cy="26155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D42D8845-5924-B82F-7D6B-5849786B5423}"/>
              </a:ext>
            </a:extLst>
          </p:cNvPr>
          <p:cNvSpPr txBox="1"/>
          <p:nvPr/>
        </p:nvSpPr>
        <p:spPr>
          <a:xfrm>
            <a:off x="1623965" y="5248076"/>
            <a:ext cx="7751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Arial Rounded MT Bold" panose="020F0704030504030204" pitchFamily="34" charset="77"/>
                <a:sym typeface="Wingdings" pitchFamily="2" charset="2"/>
              </a:rPr>
              <a:t>                          </a:t>
            </a:r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and  </a:t>
            </a: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BCE6FAF4-895D-D8DC-4DCD-F3051CC6E781}"/>
              </a:ext>
            </a:extLst>
          </p:cNvPr>
          <p:cNvSpPr/>
          <p:nvPr/>
        </p:nvSpPr>
        <p:spPr>
          <a:xfrm>
            <a:off x="1362271" y="5370829"/>
            <a:ext cx="193087" cy="178240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B1E966D-32F0-73AD-385D-CED3F4FB0BB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51993" y="5343845"/>
            <a:ext cx="1284828" cy="23697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51BCBFD-AB20-8984-17C6-09269F7A719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99485" y="5334342"/>
            <a:ext cx="245087" cy="21216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A97A549-80C9-8271-3190-9D10B9D541A6}"/>
              </a:ext>
            </a:extLst>
          </p:cNvPr>
          <p:cNvSpPr txBox="1"/>
          <p:nvPr/>
        </p:nvSpPr>
        <p:spPr>
          <a:xfrm>
            <a:off x="4085081" y="3442982"/>
            <a:ext cx="4739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77"/>
                <a:sym typeface="Wingdings" pitchFamily="2" charset="2"/>
              </a:rPr>
              <a:t>!  </a:t>
            </a:r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But overlapping hurts reconstruction!</a:t>
            </a:r>
            <a:endParaRPr lang="en-US" dirty="0">
              <a:solidFill>
                <a:schemeClr val="tx1"/>
              </a:solidFill>
              <a:latin typeface="Arial Rounded MT Bold" panose="020F0704030504030204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507836-6B42-2703-790B-28993BC06331}"/>
              </a:ext>
            </a:extLst>
          </p:cNvPr>
          <p:cNvSpPr txBox="1"/>
          <p:nvPr/>
        </p:nvSpPr>
        <p:spPr>
          <a:xfrm>
            <a:off x="4535636" y="3804941"/>
            <a:ext cx="5516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Encoder may avoid overlapping</a:t>
            </a:r>
            <a:endParaRPr lang="en-US" dirty="0">
              <a:solidFill>
                <a:schemeClr val="tx1"/>
              </a:solidFill>
              <a:latin typeface="Arial Rounded MT Bold" panose="020F0704030504030204" pitchFamily="34" charset="77"/>
            </a:endParaRP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B5E73125-D0C2-2618-E76A-76E8C12F95ED}"/>
              </a:ext>
            </a:extLst>
          </p:cNvPr>
          <p:cNvSpPr/>
          <p:nvPr/>
        </p:nvSpPr>
        <p:spPr>
          <a:xfrm>
            <a:off x="4210954" y="3907548"/>
            <a:ext cx="193087" cy="178240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2F41289-8C44-1339-5A6B-D4EF145B071D}"/>
              </a:ext>
            </a:extLst>
          </p:cNvPr>
          <p:cNvGrpSpPr/>
          <p:nvPr/>
        </p:nvGrpSpPr>
        <p:grpSpPr>
          <a:xfrm>
            <a:off x="6500106" y="2120211"/>
            <a:ext cx="4739263" cy="1074965"/>
            <a:chOff x="1025955" y="3925686"/>
            <a:chExt cx="4739263" cy="107496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D978676-0C49-096B-8419-5C4EDF84131D}"/>
                </a:ext>
              </a:extLst>
            </p:cNvPr>
            <p:cNvGrpSpPr/>
            <p:nvPr/>
          </p:nvGrpSpPr>
          <p:grpSpPr>
            <a:xfrm>
              <a:off x="1025955" y="3925686"/>
              <a:ext cx="4739263" cy="1074965"/>
              <a:chOff x="963173" y="3460090"/>
              <a:chExt cx="6285578" cy="1425702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843FEE36-6261-79A0-DA52-8EA3CD34D7C4}"/>
                  </a:ext>
                </a:extLst>
              </p:cNvPr>
              <p:cNvSpPr/>
              <p:nvPr/>
            </p:nvSpPr>
            <p:spPr>
              <a:xfrm>
                <a:off x="963173" y="3490570"/>
                <a:ext cx="619760" cy="61976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03AEB2CD-A39F-908E-DD6C-C3CAC29C4472}"/>
                  </a:ext>
                </a:extLst>
              </p:cNvPr>
              <p:cNvSpPr/>
              <p:nvPr/>
            </p:nvSpPr>
            <p:spPr>
              <a:xfrm>
                <a:off x="2141733" y="3490570"/>
                <a:ext cx="619760" cy="61976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Moon 29">
                <a:extLst>
                  <a:ext uri="{FF2B5EF4-FFF2-40B4-BE49-F238E27FC236}">
                    <a16:creationId xmlns:a16="http://schemas.microsoft.com/office/drawing/2014/main" id="{77B7B97D-8A63-46D5-F1ED-54E556242A6D}"/>
                  </a:ext>
                </a:extLst>
              </p:cNvPr>
              <p:cNvSpPr/>
              <p:nvPr/>
            </p:nvSpPr>
            <p:spPr>
              <a:xfrm>
                <a:off x="2141733" y="3480410"/>
                <a:ext cx="333885" cy="619760"/>
              </a:xfrm>
              <a:prstGeom prst="moon">
                <a:avLst>
                  <a:gd name="adj" fmla="val 33356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41B8992B-A464-B60C-C6C5-088120E8A225}"/>
                  </a:ext>
                </a:extLst>
              </p:cNvPr>
              <p:cNvSpPr/>
              <p:nvPr/>
            </p:nvSpPr>
            <p:spPr>
              <a:xfrm>
                <a:off x="3320293" y="3470250"/>
                <a:ext cx="619760" cy="61976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Moon 32">
                <a:extLst>
                  <a:ext uri="{FF2B5EF4-FFF2-40B4-BE49-F238E27FC236}">
                    <a16:creationId xmlns:a16="http://schemas.microsoft.com/office/drawing/2014/main" id="{59206017-736D-8A57-6E69-3A8E2C5565C6}"/>
                  </a:ext>
                </a:extLst>
              </p:cNvPr>
              <p:cNvSpPr/>
              <p:nvPr/>
            </p:nvSpPr>
            <p:spPr>
              <a:xfrm>
                <a:off x="3320293" y="3460090"/>
                <a:ext cx="333885" cy="619760"/>
              </a:xfrm>
              <a:prstGeom prst="moon">
                <a:avLst>
                  <a:gd name="adj" fmla="val 79001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57A26F04-796D-F925-6F96-0018F006F1B4}"/>
                  </a:ext>
                </a:extLst>
              </p:cNvPr>
              <p:cNvSpPr/>
              <p:nvPr/>
            </p:nvSpPr>
            <p:spPr>
              <a:xfrm>
                <a:off x="5733639" y="3470250"/>
                <a:ext cx="619760" cy="61976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FE6C33CF-FA48-6EE8-911B-C8F5347FAC45}"/>
                  </a:ext>
                </a:extLst>
              </p:cNvPr>
              <p:cNvSpPr/>
              <p:nvPr/>
            </p:nvSpPr>
            <p:spPr>
              <a:xfrm>
                <a:off x="4567606" y="3490570"/>
                <a:ext cx="619760" cy="61976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Moon 35">
                <a:extLst>
                  <a:ext uri="{FF2B5EF4-FFF2-40B4-BE49-F238E27FC236}">
                    <a16:creationId xmlns:a16="http://schemas.microsoft.com/office/drawing/2014/main" id="{2495AB9B-6DC4-9F88-072A-869204FFAF50}"/>
                  </a:ext>
                </a:extLst>
              </p:cNvPr>
              <p:cNvSpPr/>
              <p:nvPr/>
            </p:nvSpPr>
            <p:spPr>
              <a:xfrm flipH="1">
                <a:off x="4853481" y="3490571"/>
                <a:ext cx="333885" cy="619760"/>
              </a:xfrm>
              <a:prstGeom prst="moon">
                <a:avLst>
                  <a:gd name="adj" fmla="val 69872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A645C856-998D-978C-0A19-073B311D2E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3173" y="4885792"/>
                <a:ext cx="6285578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16F9053A-195F-1930-481A-7072542588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39163" y="4142461"/>
                <a:ext cx="255876" cy="575756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F2E475E4-348D-D273-BEDF-AA76545157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75619" y="4152620"/>
                <a:ext cx="285874" cy="648590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5E8CF5A7-3A07-AEF0-42FC-9697C8B216A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70983" y="4152620"/>
                <a:ext cx="183195" cy="648590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F889BE15-BB1C-FA5B-D1FD-36C68C07EC9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32743" y="4232250"/>
                <a:ext cx="644742" cy="616072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7A948910-6C7A-187E-2977-02F9F297F7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33359" y="4232250"/>
                <a:ext cx="833120" cy="568960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CC40DDF-0B43-1EB8-00EE-C8CDABB0416D}"/>
                </a:ext>
              </a:extLst>
            </p:cNvPr>
            <p:cNvGrpSpPr/>
            <p:nvPr/>
          </p:nvGrpSpPr>
          <p:grpSpPr>
            <a:xfrm>
              <a:off x="1417276" y="4650191"/>
              <a:ext cx="4101428" cy="342800"/>
              <a:chOff x="1417276" y="4650191"/>
              <a:chExt cx="4101428" cy="342800"/>
            </a:xfrm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C04CFE97-A83E-F3E0-6A8E-341F1FEF4B0A}"/>
                  </a:ext>
                </a:extLst>
              </p:cNvPr>
              <p:cNvSpPr/>
              <p:nvPr/>
            </p:nvSpPr>
            <p:spPr>
              <a:xfrm>
                <a:off x="5333321" y="4665425"/>
                <a:ext cx="185383" cy="313547"/>
              </a:xfrm>
              <a:custGeom>
                <a:avLst/>
                <a:gdLst>
                  <a:gd name="connsiteX0" fmla="*/ 0 w 822036"/>
                  <a:gd name="connsiteY0" fmla="*/ 472782 h 490768"/>
                  <a:gd name="connsiteX1" fmla="*/ 203200 w 822036"/>
                  <a:gd name="connsiteY1" fmla="*/ 463546 h 490768"/>
                  <a:gd name="connsiteX2" fmla="*/ 341745 w 822036"/>
                  <a:gd name="connsiteY2" fmla="*/ 214164 h 490768"/>
                  <a:gd name="connsiteX3" fmla="*/ 415636 w 822036"/>
                  <a:gd name="connsiteY3" fmla="*/ 47910 h 490768"/>
                  <a:gd name="connsiteX4" fmla="*/ 480291 w 822036"/>
                  <a:gd name="connsiteY4" fmla="*/ 1728 h 490768"/>
                  <a:gd name="connsiteX5" fmla="*/ 544945 w 822036"/>
                  <a:gd name="connsiteY5" fmla="*/ 94091 h 490768"/>
                  <a:gd name="connsiteX6" fmla="*/ 674254 w 822036"/>
                  <a:gd name="connsiteY6" fmla="*/ 371182 h 490768"/>
                  <a:gd name="connsiteX7" fmla="*/ 748145 w 822036"/>
                  <a:gd name="connsiteY7" fmla="*/ 472782 h 490768"/>
                  <a:gd name="connsiteX8" fmla="*/ 822036 w 822036"/>
                  <a:gd name="connsiteY8" fmla="*/ 472782 h 490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2036" h="490768">
                    <a:moveTo>
                      <a:pt x="0" y="472782"/>
                    </a:moveTo>
                    <a:cubicBezTo>
                      <a:pt x="73121" y="489715"/>
                      <a:pt x="146243" y="506649"/>
                      <a:pt x="203200" y="463546"/>
                    </a:cubicBezTo>
                    <a:cubicBezTo>
                      <a:pt x="260157" y="420443"/>
                      <a:pt x="306339" y="283437"/>
                      <a:pt x="341745" y="214164"/>
                    </a:cubicBezTo>
                    <a:cubicBezTo>
                      <a:pt x="377151" y="144891"/>
                      <a:pt x="392545" y="83316"/>
                      <a:pt x="415636" y="47910"/>
                    </a:cubicBezTo>
                    <a:cubicBezTo>
                      <a:pt x="438727" y="12504"/>
                      <a:pt x="458740" y="-5969"/>
                      <a:pt x="480291" y="1728"/>
                    </a:cubicBezTo>
                    <a:cubicBezTo>
                      <a:pt x="501843" y="9425"/>
                      <a:pt x="512618" y="32515"/>
                      <a:pt x="544945" y="94091"/>
                    </a:cubicBezTo>
                    <a:cubicBezTo>
                      <a:pt x="577272" y="155667"/>
                      <a:pt x="640387" y="308067"/>
                      <a:pt x="674254" y="371182"/>
                    </a:cubicBezTo>
                    <a:cubicBezTo>
                      <a:pt x="708121" y="434297"/>
                      <a:pt x="723515" y="455849"/>
                      <a:pt x="748145" y="472782"/>
                    </a:cubicBezTo>
                    <a:cubicBezTo>
                      <a:pt x="772775" y="489715"/>
                      <a:pt x="797405" y="481248"/>
                      <a:pt x="822036" y="472782"/>
                    </a:cubicBezTo>
                  </a:path>
                </a:pathLst>
              </a:custGeom>
              <a:solidFill>
                <a:srgbClr val="3988CF">
                  <a:alpha val="30196"/>
                </a:srgb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2EC095F-B20A-FD7E-589E-FF351F7E30A6}"/>
                  </a:ext>
                </a:extLst>
              </p:cNvPr>
              <p:cNvSpPr/>
              <p:nvPr/>
            </p:nvSpPr>
            <p:spPr>
              <a:xfrm>
                <a:off x="2242553" y="4666009"/>
                <a:ext cx="196278" cy="313547"/>
              </a:xfrm>
              <a:custGeom>
                <a:avLst/>
                <a:gdLst>
                  <a:gd name="connsiteX0" fmla="*/ 0 w 822036"/>
                  <a:gd name="connsiteY0" fmla="*/ 472782 h 490768"/>
                  <a:gd name="connsiteX1" fmla="*/ 203200 w 822036"/>
                  <a:gd name="connsiteY1" fmla="*/ 463546 h 490768"/>
                  <a:gd name="connsiteX2" fmla="*/ 341745 w 822036"/>
                  <a:gd name="connsiteY2" fmla="*/ 214164 h 490768"/>
                  <a:gd name="connsiteX3" fmla="*/ 415636 w 822036"/>
                  <a:gd name="connsiteY3" fmla="*/ 47910 h 490768"/>
                  <a:gd name="connsiteX4" fmla="*/ 480291 w 822036"/>
                  <a:gd name="connsiteY4" fmla="*/ 1728 h 490768"/>
                  <a:gd name="connsiteX5" fmla="*/ 544945 w 822036"/>
                  <a:gd name="connsiteY5" fmla="*/ 94091 h 490768"/>
                  <a:gd name="connsiteX6" fmla="*/ 674254 w 822036"/>
                  <a:gd name="connsiteY6" fmla="*/ 371182 h 490768"/>
                  <a:gd name="connsiteX7" fmla="*/ 748145 w 822036"/>
                  <a:gd name="connsiteY7" fmla="*/ 472782 h 490768"/>
                  <a:gd name="connsiteX8" fmla="*/ 822036 w 822036"/>
                  <a:gd name="connsiteY8" fmla="*/ 472782 h 490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2036" h="490768">
                    <a:moveTo>
                      <a:pt x="0" y="472782"/>
                    </a:moveTo>
                    <a:cubicBezTo>
                      <a:pt x="73121" y="489715"/>
                      <a:pt x="146243" y="506649"/>
                      <a:pt x="203200" y="463546"/>
                    </a:cubicBezTo>
                    <a:cubicBezTo>
                      <a:pt x="260157" y="420443"/>
                      <a:pt x="306339" y="283437"/>
                      <a:pt x="341745" y="214164"/>
                    </a:cubicBezTo>
                    <a:cubicBezTo>
                      <a:pt x="377151" y="144891"/>
                      <a:pt x="392545" y="83316"/>
                      <a:pt x="415636" y="47910"/>
                    </a:cubicBezTo>
                    <a:cubicBezTo>
                      <a:pt x="438727" y="12504"/>
                      <a:pt x="458740" y="-5969"/>
                      <a:pt x="480291" y="1728"/>
                    </a:cubicBezTo>
                    <a:cubicBezTo>
                      <a:pt x="501843" y="9425"/>
                      <a:pt x="512618" y="32515"/>
                      <a:pt x="544945" y="94091"/>
                    </a:cubicBezTo>
                    <a:cubicBezTo>
                      <a:pt x="577272" y="155667"/>
                      <a:pt x="640387" y="308067"/>
                      <a:pt x="674254" y="371182"/>
                    </a:cubicBezTo>
                    <a:cubicBezTo>
                      <a:pt x="708121" y="434297"/>
                      <a:pt x="723515" y="455849"/>
                      <a:pt x="748145" y="472782"/>
                    </a:cubicBezTo>
                    <a:cubicBezTo>
                      <a:pt x="772775" y="489715"/>
                      <a:pt x="797405" y="481248"/>
                      <a:pt x="822036" y="472782"/>
                    </a:cubicBezTo>
                  </a:path>
                </a:pathLst>
              </a:custGeom>
              <a:solidFill>
                <a:srgbClr val="3988CF">
                  <a:alpha val="30196"/>
                </a:srgb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DD14E8CA-C0DF-8F3F-EC04-18D70864CF13}"/>
                  </a:ext>
                </a:extLst>
              </p:cNvPr>
              <p:cNvSpPr/>
              <p:nvPr/>
            </p:nvSpPr>
            <p:spPr>
              <a:xfrm>
                <a:off x="2848499" y="4650191"/>
                <a:ext cx="138768" cy="313547"/>
              </a:xfrm>
              <a:custGeom>
                <a:avLst/>
                <a:gdLst>
                  <a:gd name="connsiteX0" fmla="*/ 0 w 822036"/>
                  <a:gd name="connsiteY0" fmla="*/ 472782 h 490768"/>
                  <a:gd name="connsiteX1" fmla="*/ 203200 w 822036"/>
                  <a:gd name="connsiteY1" fmla="*/ 463546 h 490768"/>
                  <a:gd name="connsiteX2" fmla="*/ 341745 w 822036"/>
                  <a:gd name="connsiteY2" fmla="*/ 214164 h 490768"/>
                  <a:gd name="connsiteX3" fmla="*/ 415636 w 822036"/>
                  <a:gd name="connsiteY3" fmla="*/ 47910 h 490768"/>
                  <a:gd name="connsiteX4" fmla="*/ 480291 w 822036"/>
                  <a:gd name="connsiteY4" fmla="*/ 1728 h 490768"/>
                  <a:gd name="connsiteX5" fmla="*/ 544945 w 822036"/>
                  <a:gd name="connsiteY5" fmla="*/ 94091 h 490768"/>
                  <a:gd name="connsiteX6" fmla="*/ 674254 w 822036"/>
                  <a:gd name="connsiteY6" fmla="*/ 371182 h 490768"/>
                  <a:gd name="connsiteX7" fmla="*/ 748145 w 822036"/>
                  <a:gd name="connsiteY7" fmla="*/ 472782 h 490768"/>
                  <a:gd name="connsiteX8" fmla="*/ 822036 w 822036"/>
                  <a:gd name="connsiteY8" fmla="*/ 472782 h 490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2036" h="490768">
                    <a:moveTo>
                      <a:pt x="0" y="472782"/>
                    </a:moveTo>
                    <a:cubicBezTo>
                      <a:pt x="73121" y="489715"/>
                      <a:pt x="146243" y="506649"/>
                      <a:pt x="203200" y="463546"/>
                    </a:cubicBezTo>
                    <a:cubicBezTo>
                      <a:pt x="260157" y="420443"/>
                      <a:pt x="306339" y="283437"/>
                      <a:pt x="341745" y="214164"/>
                    </a:cubicBezTo>
                    <a:cubicBezTo>
                      <a:pt x="377151" y="144891"/>
                      <a:pt x="392545" y="83316"/>
                      <a:pt x="415636" y="47910"/>
                    </a:cubicBezTo>
                    <a:cubicBezTo>
                      <a:pt x="438727" y="12504"/>
                      <a:pt x="458740" y="-5969"/>
                      <a:pt x="480291" y="1728"/>
                    </a:cubicBezTo>
                    <a:cubicBezTo>
                      <a:pt x="501843" y="9425"/>
                      <a:pt x="512618" y="32515"/>
                      <a:pt x="544945" y="94091"/>
                    </a:cubicBezTo>
                    <a:cubicBezTo>
                      <a:pt x="577272" y="155667"/>
                      <a:pt x="640387" y="308067"/>
                      <a:pt x="674254" y="371182"/>
                    </a:cubicBezTo>
                    <a:cubicBezTo>
                      <a:pt x="708121" y="434297"/>
                      <a:pt x="723515" y="455849"/>
                      <a:pt x="748145" y="472782"/>
                    </a:cubicBezTo>
                    <a:cubicBezTo>
                      <a:pt x="772775" y="489715"/>
                      <a:pt x="797405" y="481248"/>
                      <a:pt x="822036" y="472782"/>
                    </a:cubicBezTo>
                  </a:path>
                </a:pathLst>
              </a:custGeom>
              <a:solidFill>
                <a:srgbClr val="3988CF">
                  <a:alpha val="30196"/>
                </a:srgb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9D5C8A60-75C3-4AA2-5907-CB4AD6123040}"/>
                  </a:ext>
                </a:extLst>
              </p:cNvPr>
              <p:cNvSpPr/>
              <p:nvPr/>
            </p:nvSpPr>
            <p:spPr>
              <a:xfrm>
                <a:off x="3219602" y="4679444"/>
                <a:ext cx="486129" cy="313547"/>
              </a:xfrm>
              <a:custGeom>
                <a:avLst/>
                <a:gdLst>
                  <a:gd name="connsiteX0" fmla="*/ 0 w 822036"/>
                  <a:gd name="connsiteY0" fmla="*/ 472782 h 490768"/>
                  <a:gd name="connsiteX1" fmla="*/ 203200 w 822036"/>
                  <a:gd name="connsiteY1" fmla="*/ 463546 h 490768"/>
                  <a:gd name="connsiteX2" fmla="*/ 341745 w 822036"/>
                  <a:gd name="connsiteY2" fmla="*/ 214164 h 490768"/>
                  <a:gd name="connsiteX3" fmla="*/ 415636 w 822036"/>
                  <a:gd name="connsiteY3" fmla="*/ 47910 h 490768"/>
                  <a:gd name="connsiteX4" fmla="*/ 480291 w 822036"/>
                  <a:gd name="connsiteY4" fmla="*/ 1728 h 490768"/>
                  <a:gd name="connsiteX5" fmla="*/ 544945 w 822036"/>
                  <a:gd name="connsiteY5" fmla="*/ 94091 h 490768"/>
                  <a:gd name="connsiteX6" fmla="*/ 674254 w 822036"/>
                  <a:gd name="connsiteY6" fmla="*/ 371182 h 490768"/>
                  <a:gd name="connsiteX7" fmla="*/ 748145 w 822036"/>
                  <a:gd name="connsiteY7" fmla="*/ 472782 h 490768"/>
                  <a:gd name="connsiteX8" fmla="*/ 822036 w 822036"/>
                  <a:gd name="connsiteY8" fmla="*/ 472782 h 490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2036" h="490768">
                    <a:moveTo>
                      <a:pt x="0" y="472782"/>
                    </a:moveTo>
                    <a:cubicBezTo>
                      <a:pt x="73121" y="489715"/>
                      <a:pt x="146243" y="506649"/>
                      <a:pt x="203200" y="463546"/>
                    </a:cubicBezTo>
                    <a:cubicBezTo>
                      <a:pt x="260157" y="420443"/>
                      <a:pt x="306339" y="283437"/>
                      <a:pt x="341745" y="214164"/>
                    </a:cubicBezTo>
                    <a:cubicBezTo>
                      <a:pt x="377151" y="144891"/>
                      <a:pt x="392545" y="83316"/>
                      <a:pt x="415636" y="47910"/>
                    </a:cubicBezTo>
                    <a:cubicBezTo>
                      <a:pt x="438727" y="12504"/>
                      <a:pt x="458740" y="-5969"/>
                      <a:pt x="480291" y="1728"/>
                    </a:cubicBezTo>
                    <a:cubicBezTo>
                      <a:pt x="501843" y="9425"/>
                      <a:pt x="512618" y="32515"/>
                      <a:pt x="544945" y="94091"/>
                    </a:cubicBezTo>
                    <a:cubicBezTo>
                      <a:pt x="577272" y="155667"/>
                      <a:pt x="640387" y="308067"/>
                      <a:pt x="674254" y="371182"/>
                    </a:cubicBezTo>
                    <a:cubicBezTo>
                      <a:pt x="708121" y="434297"/>
                      <a:pt x="723515" y="455849"/>
                      <a:pt x="748145" y="472782"/>
                    </a:cubicBezTo>
                    <a:cubicBezTo>
                      <a:pt x="772775" y="489715"/>
                      <a:pt x="797405" y="481248"/>
                      <a:pt x="822036" y="472782"/>
                    </a:cubicBezTo>
                  </a:path>
                </a:pathLst>
              </a:custGeom>
              <a:solidFill>
                <a:srgbClr val="3988CF">
                  <a:alpha val="30196"/>
                </a:srgb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4222E2A8-5394-88FE-45F7-59A4F879F463}"/>
                  </a:ext>
                </a:extLst>
              </p:cNvPr>
              <p:cNvSpPr/>
              <p:nvPr/>
            </p:nvSpPr>
            <p:spPr>
              <a:xfrm>
                <a:off x="1417276" y="4663192"/>
                <a:ext cx="287468" cy="313547"/>
              </a:xfrm>
              <a:custGeom>
                <a:avLst/>
                <a:gdLst>
                  <a:gd name="connsiteX0" fmla="*/ 0 w 822036"/>
                  <a:gd name="connsiteY0" fmla="*/ 472782 h 490768"/>
                  <a:gd name="connsiteX1" fmla="*/ 203200 w 822036"/>
                  <a:gd name="connsiteY1" fmla="*/ 463546 h 490768"/>
                  <a:gd name="connsiteX2" fmla="*/ 341745 w 822036"/>
                  <a:gd name="connsiteY2" fmla="*/ 214164 h 490768"/>
                  <a:gd name="connsiteX3" fmla="*/ 415636 w 822036"/>
                  <a:gd name="connsiteY3" fmla="*/ 47910 h 490768"/>
                  <a:gd name="connsiteX4" fmla="*/ 480291 w 822036"/>
                  <a:gd name="connsiteY4" fmla="*/ 1728 h 490768"/>
                  <a:gd name="connsiteX5" fmla="*/ 544945 w 822036"/>
                  <a:gd name="connsiteY5" fmla="*/ 94091 h 490768"/>
                  <a:gd name="connsiteX6" fmla="*/ 674254 w 822036"/>
                  <a:gd name="connsiteY6" fmla="*/ 371182 h 490768"/>
                  <a:gd name="connsiteX7" fmla="*/ 748145 w 822036"/>
                  <a:gd name="connsiteY7" fmla="*/ 472782 h 490768"/>
                  <a:gd name="connsiteX8" fmla="*/ 822036 w 822036"/>
                  <a:gd name="connsiteY8" fmla="*/ 472782 h 490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2036" h="490768">
                    <a:moveTo>
                      <a:pt x="0" y="472782"/>
                    </a:moveTo>
                    <a:cubicBezTo>
                      <a:pt x="73121" y="489715"/>
                      <a:pt x="146243" y="506649"/>
                      <a:pt x="203200" y="463546"/>
                    </a:cubicBezTo>
                    <a:cubicBezTo>
                      <a:pt x="260157" y="420443"/>
                      <a:pt x="306339" y="283437"/>
                      <a:pt x="341745" y="214164"/>
                    </a:cubicBezTo>
                    <a:cubicBezTo>
                      <a:pt x="377151" y="144891"/>
                      <a:pt x="392545" y="83316"/>
                      <a:pt x="415636" y="47910"/>
                    </a:cubicBezTo>
                    <a:cubicBezTo>
                      <a:pt x="438727" y="12504"/>
                      <a:pt x="458740" y="-5969"/>
                      <a:pt x="480291" y="1728"/>
                    </a:cubicBezTo>
                    <a:cubicBezTo>
                      <a:pt x="501843" y="9425"/>
                      <a:pt x="512618" y="32515"/>
                      <a:pt x="544945" y="94091"/>
                    </a:cubicBezTo>
                    <a:cubicBezTo>
                      <a:pt x="577272" y="155667"/>
                      <a:pt x="640387" y="308067"/>
                      <a:pt x="674254" y="371182"/>
                    </a:cubicBezTo>
                    <a:cubicBezTo>
                      <a:pt x="708121" y="434297"/>
                      <a:pt x="723515" y="455849"/>
                      <a:pt x="748145" y="472782"/>
                    </a:cubicBezTo>
                    <a:cubicBezTo>
                      <a:pt x="772775" y="489715"/>
                      <a:pt x="797405" y="481248"/>
                      <a:pt x="822036" y="472782"/>
                    </a:cubicBezTo>
                  </a:path>
                </a:pathLst>
              </a:custGeom>
              <a:solidFill>
                <a:srgbClr val="3988CF">
                  <a:alpha val="30196"/>
                </a:srgb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D48DAD42-8DA6-E8CA-AA63-51C5B8EE7423}"/>
              </a:ext>
            </a:extLst>
          </p:cNvPr>
          <p:cNvSpPr txBox="1"/>
          <p:nvPr/>
        </p:nvSpPr>
        <p:spPr>
          <a:xfrm>
            <a:off x="1288319" y="5811317"/>
            <a:ext cx="5396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How do we guarantee overlap? </a:t>
            </a:r>
          </a:p>
        </p:txBody>
      </p:sp>
    </p:spTree>
    <p:extLst>
      <p:ext uri="{BB962C8B-B14F-4D97-AF65-F5344CB8AC3E}">
        <p14:creationId xmlns:p14="http://schemas.microsoft.com/office/powerpoint/2010/main" val="18808710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DB886-A4E7-8382-60E5-9235EC795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1B8C5B4-3900-AADB-FC2E-C0561B2F799D}"/>
              </a:ext>
            </a:extLst>
          </p:cNvPr>
          <p:cNvSpPr txBox="1"/>
          <p:nvPr/>
        </p:nvSpPr>
        <p:spPr>
          <a:xfrm>
            <a:off x="276410" y="260293"/>
            <a:ext cx="2800422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VAE Prior and KL Loss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07724159-497D-0132-6B2B-E8F6AE483EF7}"/>
              </a:ext>
            </a:extLst>
          </p:cNvPr>
          <p:cNvSpPr txBox="1"/>
          <p:nvPr/>
        </p:nvSpPr>
        <p:spPr>
          <a:xfrm>
            <a:off x="838153" y="1132110"/>
            <a:ext cx="5396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How do we guarantee overlap?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443CA33-6C18-1E99-6CDC-1E4678C0505C}"/>
              </a:ext>
            </a:extLst>
          </p:cNvPr>
          <p:cNvGrpSpPr/>
          <p:nvPr/>
        </p:nvGrpSpPr>
        <p:grpSpPr>
          <a:xfrm>
            <a:off x="838153" y="1634595"/>
            <a:ext cx="5749391" cy="369332"/>
            <a:chOff x="838153" y="1634595"/>
            <a:chExt cx="5749391" cy="369332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6DC9765F-78E8-DD52-D4AF-712FCB0C3880}"/>
                </a:ext>
              </a:extLst>
            </p:cNvPr>
            <p:cNvSpPr txBox="1"/>
            <p:nvPr/>
          </p:nvSpPr>
          <p:spPr>
            <a:xfrm>
              <a:off x="838153" y="1634595"/>
              <a:ext cx="57493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latin typeface="Arial Rounded MT Bold" panose="020F0704030504030204" pitchFamily="34" charset="77"/>
                  <a:sym typeface="Wingdings" pitchFamily="2" charset="2"/>
                </a:rPr>
                <a:t>Match these       distribution to a Gaussian</a:t>
              </a:r>
            </a:p>
          </p:txBody>
        </p: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633C03AA-2B4A-BE7F-41DC-1AD2651075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87765" y="1727970"/>
              <a:ext cx="182582" cy="182582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2D86B826-8E11-24FD-885F-F061C60C15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91590" y="1727970"/>
              <a:ext cx="431733" cy="214573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334F8AFA-C85F-5E55-C321-93921D7A01D3}"/>
              </a:ext>
            </a:extLst>
          </p:cNvPr>
          <p:cNvGrpSpPr/>
          <p:nvPr/>
        </p:nvGrpSpPr>
        <p:grpSpPr>
          <a:xfrm>
            <a:off x="7225925" y="1830216"/>
            <a:ext cx="3686820" cy="1014003"/>
            <a:chOff x="7225925" y="1830216"/>
            <a:chExt cx="3686820" cy="1014003"/>
          </a:xfrm>
        </p:grpSpPr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7BB374CE-DE19-F22D-64E7-68105AA0F4E5}"/>
                </a:ext>
              </a:extLst>
            </p:cNvPr>
            <p:cNvCxnSpPr>
              <a:cxnSpLocks/>
            </p:cNvCxnSpPr>
            <p:nvPr/>
          </p:nvCxnSpPr>
          <p:spPr>
            <a:xfrm>
              <a:off x="7364543" y="2831341"/>
              <a:ext cx="334823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88039F21-43FE-7D83-17DC-E1BA9D3A22F9}"/>
                </a:ext>
              </a:extLst>
            </p:cNvPr>
            <p:cNvSpPr/>
            <p:nvPr/>
          </p:nvSpPr>
          <p:spPr>
            <a:xfrm>
              <a:off x="9120091" y="2598446"/>
              <a:ext cx="1066097" cy="221517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rgbClr val="3988CF">
                <a:alpha val="30196"/>
              </a:srgb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F39CC9B-B329-B445-843D-CEF51C5C881A}"/>
                </a:ext>
              </a:extLst>
            </p:cNvPr>
            <p:cNvSpPr/>
            <p:nvPr/>
          </p:nvSpPr>
          <p:spPr>
            <a:xfrm>
              <a:off x="8110610" y="2598446"/>
              <a:ext cx="928050" cy="221517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rgbClr val="3988CF">
                <a:alpha val="30196"/>
              </a:srgb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3C55581-1819-E3CA-7270-840D16551D77}"/>
                </a:ext>
              </a:extLst>
            </p:cNvPr>
            <p:cNvSpPr/>
            <p:nvPr/>
          </p:nvSpPr>
          <p:spPr>
            <a:xfrm>
              <a:off x="8380149" y="2593609"/>
              <a:ext cx="928050" cy="221517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rgbClr val="3988CF">
                <a:alpha val="30196"/>
              </a:srgb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0A615674-12A5-8F26-BCCA-D410047F8245}"/>
                </a:ext>
              </a:extLst>
            </p:cNvPr>
            <p:cNvSpPr/>
            <p:nvPr/>
          </p:nvSpPr>
          <p:spPr>
            <a:xfrm>
              <a:off x="8560776" y="2608156"/>
              <a:ext cx="928050" cy="221517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rgbClr val="3988CF">
                <a:alpha val="30196"/>
              </a:srgb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F1FDA3F-F453-5658-7DD8-40CDB8D6E127}"/>
                </a:ext>
              </a:extLst>
            </p:cNvPr>
            <p:cNvSpPr/>
            <p:nvPr/>
          </p:nvSpPr>
          <p:spPr>
            <a:xfrm>
              <a:off x="7646371" y="2612993"/>
              <a:ext cx="928050" cy="221517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rgbClr val="3988CF">
                <a:alpha val="30196"/>
              </a:srgb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75C99444-EC1F-1778-BF2E-95F8CA9C7A99}"/>
                </a:ext>
              </a:extLst>
            </p:cNvPr>
            <p:cNvSpPr/>
            <p:nvPr/>
          </p:nvSpPr>
          <p:spPr>
            <a:xfrm>
              <a:off x="7225925" y="2003927"/>
              <a:ext cx="2992459" cy="840292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rgbClr val="70AD47">
                <a:alpha val="30196"/>
              </a:srgbClr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9DC55512-E26F-121F-7EC7-B75B1926FC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0142668" y="2502502"/>
              <a:ext cx="770077" cy="239387"/>
            </a:xfrm>
            <a:prstGeom prst="rect">
              <a:avLst/>
            </a:prstGeom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A0E96FE0-CE2D-103B-761A-BDAA4DD4B55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6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378332" y="1830216"/>
              <a:ext cx="1528671" cy="259479"/>
            </a:xfrm>
            <a:prstGeom prst="rect">
              <a:avLst/>
            </a:prstGeom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773E005-C0A5-BFE3-927E-DEDEE2E5AA8E}"/>
              </a:ext>
            </a:extLst>
          </p:cNvPr>
          <p:cNvGrpSpPr/>
          <p:nvPr/>
        </p:nvGrpSpPr>
        <p:grpSpPr>
          <a:xfrm>
            <a:off x="7193173" y="687285"/>
            <a:ext cx="3713830" cy="774063"/>
            <a:chOff x="938490" y="2515386"/>
            <a:chExt cx="5157510" cy="107496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FE25410-F659-E606-3558-BB74CB3C8B55}"/>
                </a:ext>
              </a:extLst>
            </p:cNvPr>
            <p:cNvGrpSpPr/>
            <p:nvPr/>
          </p:nvGrpSpPr>
          <p:grpSpPr>
            <a:xfrm>
              <a:off x="1091584" y="2515386"/>
              <a:ext cx="4739263" cy="1074965"/>
              <a:chOff x="963173" y="3460090"/>
              <a:chExt cx="6285578" cy="1425702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FB4B7732-95A1-278F-2AC4-C60D3B56BF87}"/>
                  </a:ext>
                </a:extLst>
              </p:cNvPr>
              <p:cNvSpPr/>
              <p:nvPr/>
            </p:nvSpPr>
            <p:spPr>
              <a:xfrm>
                <a:off x="963173" y="3490570"/>
                <a:ext cx="619760" cy="61976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E135E9E2-B95B-1315-8598-FE37CFD62847}"/>
                  </a:ext>
                </a:extLst>
              </p:cNvPr>
              <p:cNvSpPr/>
              <p:nvPr/>
            </p:nvSpPr>
            <p:spPr>
              <a:xfrm>
                <a:off x="2141733" y="3490570"/>
                <a:ext cx="619760" cy="61976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Moon 36">
                <a:extLst>
                  <a:ext uri="{FF2B5EF4-FFF2-40B4-BE49-F238E27FC236}">
                    <a16:creationId xmlns:a16="http://schemas.microsoft.com/office/drawing/2014/main" id="{28CB8DB4-9ED5-EBA6-CA74-1A93625BE9F2}"/>
                  </a:ext>
                </a:extLst>
              </p:cNvPr>
              <p:cNvSpPr/>
              <p:nvPr/>
            </p:nvSpPr>
            <p:spPr>
              <a:xfrm>
                <a:off x="2141733" y="3480410"/>
                <a:ext cx="333885" cy="619760"/>
              </a:xfrm>
              <a:prstGeom prst="moon">
                <a:avLst>
                  <a:gd name="adj" fmla="val 33356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9FAB1AB9-573A-AC18-C640-949771FAB0C5}"/>
                  </a:ext>
                </a:extLst>
              </p:cNvPr>
              <p:cNvSpPr/>
              <p:nvPr/>
            </p:nvSpPr>
            <p:spPr>
              <a:xfrm>
                <a:off x="3320293" y="3470250"/>
                <a:ext cx="619760" cy="61976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Moon 39">
                <a:extLst>
                  <a:ext uri="{FF2B5EF4-FFF2-40B4-BE49-F238E27FC236}">
                    <a16:creationId xmlns:a16="http://schemas.microsoft.com/office/drawing/2014/main" id="{5ABB0A68-E33E-9BA1-479B-C2F7387719BC}"/>
                  </a:ext>
                </a:extLst>
              </p:cNvPr>
              <p:cNvSpPr/>
              <p:nvPr/>
            </p:nvSpPr>
            <p:spPr>
              <a:xfrm>
                <a:off x="3320293" y="3460090"/>
                <a:ext cx="333885" cy="619760"/>
              </a:xfrm>
              <a:prstGeom prst="moon">
                <a:avLst>
                  <a:gd name="adj" fmla="val 79001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C41B7240-1D0F-E05B-6A90-9527AC0BF6AD}"/>
                  </a:ext>
                </a:extLst>
              </p:cNvPr>
              <p:cNvSpPr/>
              <p:nvPr/>
            </p:nvSpPr>
            <p:spPr>
              <a:xfrm>
                <a:off x="5733639" y="3470250"/>
                <a:ext cx="619760" cy="61976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36591D55-9013-4368-886A-A6F5F99EF485}"/>
                  </a:ext>
                </a:extLst>
              </p:cNvPr>
              <p:cNvSpPr/>
              <p:nvPr/>
            </p:nvSpPr>
            <p:spPr>
              <a:xfrm>
                <a:off x="4567606" y="3490570"/>
                <a:ext cx="619760" cy="61976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Moon 42">
                <a:extLst>
                  <a:ext uri="{FF2B5EF4-FFF2-40B4-BE49-F238E27FC236}">
                    <a16:creationId xmlns:a16="http://schemas.microsoft.com/office/drawing/2014/main" id="{878070CC-4BE9-6FF2-106F-44D67A455AC2}"/>
                  </a:ext>
                </a:extLst>
              </p:cNvPr>
              <p:cNvSpPr/>
              <p:nvPr/>
            </p:nvSpPr>
            <p:spPr>
              <a:xfrm>
                <a:off x="4567606" y="3490570"/>
                <a:ext cx="333885" cy="619760"/>
              </a:xfrm>
              <a:prstGeom prst="moon">
                <a:avLst>
                  <a:gd name="adj" fmla="val 69872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BB89ED97-AD86-0C61-F919-787D1AF07E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3173" y="4885792"/>
                <a:ext cx="6285578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2193A268-5261-1EFF-04C4-C3B961CB56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39163" y="4142461"/>
                <a:ext cx="255876" cy="575756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49E47A02-5C05-8902-6DBE-4736224E44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75619" y="4152620"/>
                <a:ext cx="285874" cy="648590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FA94A573-2BD8-6674-3D69-E57A241AFBC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70983" y="4152620"/>
                <a:ext cx="183195" cy="648590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EC6A912F-0C2F-E157-88DE-3A5DCF6C83C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32743" y="4232250"/>
                <a:ext cx="644742" cy="616072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2060420C-7604-FC11-4505-60D5F671CA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33359" y="4232250"/>
                <a:ext cx="833120" cy="568960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F3A89495-EFB9-5E53-B87B-559379E2C867}"/>
                </a:ext>
              </a:extLst>
            </p:cNvPr>
            <p:cNvGrpSpPr/>
            <p:nvPr/>
          </p:nvGrpSpPr>
          <p:grpSpPr>
            <a:xfrm>
              <a:off x="938490" y="3248552"/>
              <a:ext cx="5157510" cy="334138"/>
              <a:chOff x="938490" y="3248552"/>
              <a:chExt cx="5157510" cy="334138"/>
            </a:xfrm>
          </p:grpSpPr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0E68B74-D355-8E1E-B18C-3C1174F34FFF}"/>
                  </a:ext>
                </a:extLst>
              </p:cNvPr>
              <p:cNvSpPr/>
              <p:nvPr/>
            </p:nvSpPr>
            <p:spPr>
              <a:xfrm>
                <a:off x="4586991" y="3254177"/>
                <a:ext cx="1509009" cy="313547"/>
              </a:xfrm>
              <a:custGeom>
                <a:avLst/>
                <a:gdLst>
                  <a:gd name="connsiteX0" fmla="*/ 0 w 822036"/>
                  <a:gd name="connsiteY0" fmla="*/ 472782 h 490768"/>
                  <a:gd name="connsiteX1" fmla="*/ 203200 w 822036"/>
                  <a:gd name="connsiteY1" fmla="*/ 463546 h 490768"/>
                  <a:gd name="connsiteX2" fmla="*/ 341745 w 822036"/>
                  <a:gd name="connsiteY2" fmla="*/ 214164 h 490768"/>
                  <a:gd name="connsiteX3" fmla="*/ 415636 w 822036"/>
                  <a:gd name="connsiteY3" fmla="*/ 47910 h 490768"/>
                  <a:gd name="connsiteX4" fmla="*/ 480291 w 822036"/>
                  <a:gd name="connsiteY4" fmla="*/ 1728 h 490768"/>
                  <a:gd name="connsiteX5" fmla="*/ 544945 w 822036"/>
                  <a:gd name="connsiteY5" fmla="*/ 94091 h 490768"/>
                  <a:gd name="connsiteX6" fmla="*/ 674254 w 822036"/>
                  <a:gd name="connsiteY6" fmla="*/ 371182 h 490768"/>
                  <a:gd name="connsiteX7" fmla="*/ 748145 w 822036"/>
                  <a:gd name="connsiteY7" fmla="*/ 472782 h 490768"/>
                  <a:gd name="connsiteX8" fmla="*/ 822036 w 822036"/>
                  <a:gd name="connsiteY8" fmla="*/ 472782 h 490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2036" h="490768">
                    <a:moveTo>
                      <a:pt x="0" y="472782"/>
                    </a:moveTo>
                    <a:cubicBezTo>
                      <a:pt x="73121" y="489715"/>
                      <a:pt x="146243" y="506649"/>
                      <a:pt x="203200" y="463546"/>
                    </a:cubicBezTo>
                    <a:cubicBezTo>
                      <a:pt x="260157" y="420443"/>
                      <a:pt x="306339" y="283437"/>
                      <a:pt x="341745" y="214164"/>
                    </a:cubicBezTo>
                    <a:cubicBezTo>
                      <a:pt x="377151" y="144891"/>
                      <a:pt x="392545" y="83316"/>
                      <a:pt x="415636" y="47910"/>
                    </a:cubicBezTo>
                    <a:cubicBezTo>
                      <a:pt x="438727" y="12504"/>
                      <a:pt x="458740" y="-5969"/>
                      <a:pt x="480291" y="1728"/>
                    </a:cubicBezTo>
                    <a:cubicBezTo>
                      <a:pt x="501843" y="9425"/>
                      <a:pt x="512618" y="32515"/>
                      <a:pt x="544945" y="94091"/>
                    </a:cubicBezTo>
                    <a:cubicBezTo>
                      <a:pt x="577272" y="155667"/>
                      <a:pt x="640387" y="308067"/>
                      <a:pt x="674254" y="371182"/>
                    </a:cubicBezTo>
                    <a:cubicBezTo>
                      <a:pt x="708121" y="434297"/>
                      <a:pt x="723515" y="455849"/>
                      <a:pt x="748145" y="472782"/>
                    </a:cubicBezTo>
                    <a:cubicBezTo>
                      <a:pt x="772775" y="489715"/>
                      <a:pt x="797405" y="481248"/>
                      <a:pt x="822036" y="472782"/>
                    </a:cubicBezTo>
                  </a:path>
                </a:pathLst>
              </a:custGeom>
              <a:solidFill>
                <a:srgbClr val="3988CF">
                  <a:alpha val="30196"/>
                </a:srgb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2974F8AE-5463-8E74-4712-09A317954559}"/>
                  </a:ext>
                </a:extLst>
              </p:cNvPr>
              <p:cNvSpPr/>
              <p:nvPr/>
            </p:nvSpPr>
            <p:spPr>
              <a:xfrm>
                <a:off x="1774589" y="3255398"/>
                <a:ext cx="1313609" cy="313547"/>
              </a:xfrm>
              <a:custGeom>
                <a:avLst/>
                <a:gdLst>
                  <a:gd name="connsiteX0" fmla="*/ 0 w 822036"/>
                  <a:gd name="connsiteY0" fmla="*/ 472782 h 490768"/>
                  <a:gd name="connsiteX1" fmla="*/ 203200 w 822036"/>
                  <a:gd name="connsiteY1" fmla="*/ 463546 h 490768"/>
                  <a:gd name="connsiteX2" fmla="*/ 341745 w 822036"/>
                  <a:gd name="connsiteY2" fmla="*/ 214164 h 490768"/>
                  <a:gd name="connsiteX3" fmla="*/ 415636 w 822036"/>
                  <a:gd name="connsiteY3" fmla="*/ 47910 h 490768"/>
                  <a:gd name="connsiteX4" fmla="*/ 480291 w 822036"/>
                  <a:gd name="connsiteY4" fmla="*/ 1728 h 490768"/>
                  <a:gd name="connsiteX5" fmla="*/ 544945 w 822036"/>
                  <a:gd name="connsiteY5" fmla="*/ 94091 h 490768"/>
                  <a:gd name="connsiteX6" fmla="*/ 674254 w 822036"/>
                  <a:gd name="connsiteY6" fmla="*/ 371182 h 490768"/>
                  <a:gd name="connsiteX7" fmla="*/ 748145 w 822036"/>
                  <a:gd name="connsiteY7" fmla="*/ 472782 h 490768"/>
                  <a:gd name="connsiteX8" fmla="*/ 822036 w 822036"/>
                  <a:gd name="connsiteY8" fmla="*/ 472782 h 490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2036" h="490768">
                    <a:moveTo>
                      <a:pt x="0" y="472782"/>
                    </a:moveTo>
                    <a:cubicBezTo>
                      <a:pt x="73121" y="489715"/>
                      <a:pt x="146243" y="506649"/>
                      <a:pt x="203200" y="463546"/>
                    </a:cubicBezTo>
                    <a:cubicBezTo>
                      <a:pt x="260157" y="420443"/>
                      <a:pt x="306339" y="283437"/>
                      <a:pt x="341745" y="214164"/>
                    </a:cubicBezTo>
                    <a:cubicBezTo>
                      <a:pt x="377151" y="144891"/>
                      <a:pt x="392545" y="83316"/>
                      <a:pt x="415636" y="47910"/>
                    </a:cubicBezTo>
                    <a:cubicBezTo>
                      <a:pt x="438727" y="12504"/>
                      <a:pt x="458740" y="-5969"/>
                      <a:pt x="480291" y="1728"/>
                    </a:cubicBezTo>
                    <a:cubicBezTo>
                      <a:pt x="501843" y="9425"/>
                      <a:pt x="512618" y="32515"/>
                      <a:pt x="544945" y="94091"/>
                    </a:cubicBezTo>
                    <a:cubicBezTo>
                      <a:pt x="577272" y="155667"/>
                      <a:pt x="640387" y="308067"/>
                      <a:pt x="674254" y="371182"/>
                    </a:cubicBezTo>
                    <a:cubicBezTo>
                      <a:pt x="708121" y="434297"/>
                      <a:pt x="723515" y="455849"/>
                      <a:pt x="748145" y="472782"/>
                    </a:cubicBezTo>
                    <a:cubicBezTo>
                      <a:pt x="772775" y="489715"/>
                      <a:pt x="797405" y="481248"/>
                      <a:pt x="822036" y="472782"/>
                    </a:cubicBezTo>
                  </a:path>
                </a:pathLst>
              </a:custGeom>
              <a:solidFill>
                <a:srgbClr val="3988CF">
                  <a:alpha val="30196"/>
                </a:srgb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C8C57F23-E9A2-45BB-6B33-13267D267B91}"/>
                  </a:ext>
                </a:extLst>
              </p:cNvPr>
              <p:cNvSpPr/>
              <p:nvPr/>
            </p:nvSpPr>
            <p:spPr>
              <a:xfrm>
                <a:off x="2243198" y="3248552"/>
                <a:ext cx="1313609" cy="313547"/>
              </a:xfrm>
              <a:custGeom>
                <a:avLst/>
                <a:gdLst>
                  <a:gd name="connsiteX0" fmla="*/ 0 w 822036"/>
                  <a:gd name="connsiteY0" fmla="*/ 472782 h 490768"/>
                  <a:gd name="connsiteX1" fmla="*/ 203200 w 822036"/>
                  <a:gd name="connsiteY1" fmla="*/ 463546 h 490768"/>
                  <a:gd name="connsiteX2" fmla="*/ 341745 w 822036"/>
                  <a:gd name="connsiteY2" fmla="*/ 214164 h 490768"/>
                  <a:gd name="connsiteX3" fmla="*/ 415636 w 822036"/>
                  <a:gd name="connsiteY3" fmla="*/ 47910 h 490768"/>
                  <a:gd name="connsiteX4" fmla="*/ 480291 w 822036"/>
                  <a:gd name="connsiteY4" fmla="*/ 1728 h 490768"/>
                  <a:gd name="connsiteX5" fmla="*/ 544945 w 822036"/>
                  <a:gd name="connsiteY5" fmla="*/ 94091 h 490768"/>
                  <a:gd name="connsiteX6" fmla="*/ 674254 w 822036"/>
                  <a:gd name="connsiteY6" fmla="*/ 371182 h 490768"/>
                  <a:gd name="connsiteX7" fmla="*/ 748145 w 822036"/>
                  <a:gd name="connsiteY7" fmla="*/ 472782 h 490768"/>
                  <a:gd name="connsiteX8" fmla="*/ 822036 w 822036"/>
                  <a:gd name="connsiteY8" fmla="*/ 472782 h 490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2036" h="490768">
                    <a:moveTo>
                      <a:pt x="0" y="472782"/>
                    </a:moveTo>
                    <a:cubicBezTo>
                      <a:pt x="73121" y="489715"/>
                      <a:pt x="146243" y="506649"/>
                      <a:pt x="203200" y="463546"/>
                    </a:cubicBezTo>
                    <a:cubicBezTo>
                      <a:pt x="260157" y="420443"/>
                      <a:pt x="306339" y="283437"/>
                      <a:pt x="341745" y="214164"/>
                    </a:cubicBezTo>
                    <a:cubicBezTo>
                      <a:pt x="377151" y="144891"/>
                      <a:pt x="392545" y="83316"/>
                      <a:pt x="415636" y="47910"/>
                    </a:cubicBezTo>
                    <a:cubicBezTo>
                      <a:pt x="438727" y="12504"/>
                      <a:pt x="458740" y="-5969"/>
                      <a:pt x="480291" y="1728"/>
                    </a:cubicBezTo>
                    <a:cubicBezTo>
                      <a:pt x="501843" y="9425"/>
                      <a:pt x="512618" y="32515"/>
                      <a:pt x="544945" y="94091"/>
                    </a:cubicBezTo>
                    <a:cubicBezTo>
                      <a:pt x="577272" y="155667"/>
                      <a:pt x="640387" y="308067"/>
                      <a:pt x="674254" y="371182"/>
                    </a:cubicBezTo>
                    <a:cubicBezTo>
                      <a:pt x="708121" y="434297"/>
                      <a:pt x="723515" y="455849"/>
                      <a:pt x="748145" y="472782"/>
                    </a:cubicBezTo>
                    <a:cubicBezTo>
                      <a:pt x="772775" y="489715"/>
                      <a:pt x="797405" y="481248"/>
                      <a:pt x="822036" y="472782"/>
                    </a:cubicBezTo>
                  </a:path>
                </a:pathLst>
              </a:custGeom>
              <a:solidFill>
                <a:srgbClr val="3988CF">
                  <a:alpha val="30196"/>
                </a:srgb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74DF51FB-8865-C82E-F369-D1C869F0CCD7}"/>
                  </a:ext>
                </a:extLst>
              </p:cNvPr>
              <p:cNvSpPr/>
              <p:nvPr/>
            </p:nvSpPr>
            <p:spPr>
              <a:xfrm>
                <a:off x="2738456" y="3269143"/>
                <a:ext cx="1313609" cy="313547"/>
              </a:xfrm>
              <a:custGeom>
                <a:avLst/>
                <a:gdLst>
                  <a:gd name="connsiteX0" fmla="*/ 0 w 822036"/>
                  <a:gd name="connsiteY0" fmla="*/ 472782 h 490768"/>
                  <a:gd name="connsiteX1" fmla="*/ 203200 w 822036"/>
                  <a:gd name="connsiteY1" fmla="*/ 463546 h 490768"/>
                  <a:gd name="connsiteX2" fmla="*/ 341745 w 822036"/>
                  <a:gd name="connsiteY2" fmla="*/ 214164 h 490768"/>
                  <a:gd name="connsiteX3" fmla="*/ 415636 w 822036"/>
                  <a:gd name="connsiteY3" fmla="*/ 47910 h 490768"/>
                  <a:gd name="connsiteX4" fmla="*/ 480291 w 822036"/>
                  <a:gd name="connsiteY4" fmla="*/ 1728 h 490768"/>
                  <a:gd name="connsiteX5" fmla="*/ 544945 w 822036"/>
                  <a:gd name="connsiteY5" fmla="*/ 94091 h 490768"/>
                  <a:gd name="connsiteX6" fmla="*/ 674254 w 822036"/>
                  <a:gd name="connsiteY6" fmla="*/ 371182 h 490768"/>
                  <a:gd name="connsiteX7" fmla="*/ 748145 w 822036"/>
                  <a:gd name="connsiteY7" fmla="*/ 472782 h 490768"/>
                  <a:gd name="connsiteX8" fmla="*/ 822036 w 822036"/>
                  <a:gd name="connsiteY8" fmla="*/ 472782 h 490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2036" h="490768">
                    <a:moveTo>
                      <a:pt x="0" y="472782"/>
                    </a:moveTo>
                    <a:cubicBezTo>
                      <a:pt x="73121" y="489715"/>
                      <a:pt x="146243" y="506649"/>
                      <a:pt x="203200" y="463546"/>
                    </a:cubicBezTo>
                    <a:cubicBezTo>
                      <a:pt x="260157" y="420443"/>
                      <a:pt x="306339" y="283437"/>
                      <a:pt x="341745" y="214164"/>
                    </a:cubicBezTo>
                    <a:cubicBezTo>
                      <a:pt x="377151" y="144891"/>
                      <a:pt x="392545" y="83316"/>
                      <a:pt x="415636" y="47910"/>
                    </a:cubicBezTo>
                    <a:cubicBezTo>
                      <a:pt x="438727" y="12504"/>
                      <a:pt x="458740" y="-5969"/>
                      <a:pt x="480291" y="1728"/>
                    </a:cubicBezTo>
                    <a:cubicBezTo>
                      <a:pt x="501843" y="9425"/>
                      <a:pt x="512618" y="32515"/>
                      <a:pt x="544945" y="94091"/>
                    </a:cubicBezTo>
                    <a:cubicBezTo>
                      <a:pt x="577272" y="155667"/>
                      <a:pt x="640387" y="308067"/>
                      <a:pt x="674254" y="371182"/>
                    </a:cubicBezTo>
                    <a:cubicBezTo>
                      <a:pt x="708121" y="434297"/>
                      <a:pt x="723515" y="455849"/>
                      <a:pt x="748145" y="472782"/>
                    </a:cubicBezTo>
                    <a:cubicBezTo>
                      <a:pt x="772775" y="489715"/>
                      <a:pt x="797405" y="481248"/>
                      <a:pt x="822036" y="472782"/>
                    </a:cubicBezTo>
                  </a:path>
                </a:pathLst>
              </a:custGeom>
              <a:solidFill>
                <a:srgbClr val="3988CF">
                  <a:alpha val="30196"/>
                </a:srgb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BD56600C-983C-612E-ADFD-64077157CB18}"/>
                  </a:ext>
                </a:extLst>
              </p:cNvPr>
              <p:cNvSpPr/>
              <p:nvPr/>
            </p:nvSpPr>
            <p:spPr>
              <a:xfrm>
                <a:off x="938490" y="3269143"/>
                <a:ext cx="1313609" cy="313547"/>
              </a:xfrm>
              <a:custGeom>
                <a:avLst/>
                <a:gdLst>
                  <a:gd name="connsiteX0" fmla="*/ 0 w 822036"/>
                  <a:gd name="connsiteY0" fmla="*/ 472782 h 490768"/>
                  <a:gd name="connsiteX1" fmla="*/ 203200 w 822036"/>
                  <a:gd name="connsiteY1" fmla="*/ 463546 h 490768"/>
                  <a:gd name="connsiteX2" fmla="*/ 341745 w 822036"/>
                  <a:gd name="connsiteY2" fmla="*/ 214164 h 490768"/>
                  <a:gd name="connsiteX3" fmla="*/ 415636 w 822036"/>
                  <a:gd name="connsiteY3" fmla="*/ 47910 h 490768"/>
                  <a:gd name="connsiteX4" fmla="*/ 480291 w 822036"/>
                  <a:gd name="connsiteY4" fmla="*/ 1728 h 490768"/>
                  <a:gd name="connsiteX5" fmla="*/ 544945 w 822036"/>
                  <a:gd name="connsiteY5" fmla="*/ 94091 h 490768"/>
                  <a:gd name="connsiteX6" fmla="*/ 674254 w 822036"/>
                  <a:gd name="connsiteY6" fmla="*/ 371182 h 490768"/>
                  <a:gd name="connsiteX7" fmla="*/ 748145 w 822036"/>
                  <a:gd name="connsiteY7" fmla="*/ 472782 h 490768"/>
                  <a:gd name="connsiteX8" fmla="*/ 822036 w 822036"/>
                  <a:gd name="connsiteY8" fmla="*/ 472782 h 490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2036" h="490768">
                    <a:moveTo>
                      <a:pt x="0" y="472782"/>
                    </a:moveTo>
                    <a:cubicBezTo>
                      <a:pt x="73121" y="489715"/>
                      <a:pt x="146243" y="506649"/>
                      <a:pt x="203200" y="463546"/>
                    </a:cubicBezTo>
                    <a:cubicBezTo>
                      <a:pt x="260157" y="420443"/>
                      <a:pt x="306339" y="283437"/>
                      <a:pt x="341745" y="214164"/>
                    </a:cubicBezTo>
                    <a:cubicBezTo>
                      <a:pt x="377151" y="144891"/>
                      <a:pt x="392545" y="83316"/>
                      <a:pt x="415636" y="47910"/>
                    </a:cubicBezTo>
                    <a:cubicBezTo>
                      <a:pt x="438727" y="12504"/>
                      <a:pt x="458740" y="-5969"/>
                      <a:pt x="480291" y="1728"/>
                    </a:cubicBezTo>
                    <a:cubicBezTo>
                      <a:pt x="501843" y="9425"/>
                      <a:pt x="512618" y="32515"/>
                      <a:pt x="544945" y="94091"/>
                    </a:cubicBezTo>
                    <a:cubicBezTo>
                      <a:pt x="577272" y="155667"/>
                      <a:pt x="640387" y="308067"/>
                      <a:pt x="674254" y="371182"/>
                    </a:cubicBezTo>
                    <a:cubicBezTo>
                      <a:pt x="708121" y="434297"/>
                      <a:pt x="723515" y="455849"/>
                      <a:pt x="748145" y="472782"/>
                    </a:cubicBezTo>
                    <a:cubicBezTo>
                      <a:pt x="772775" y="489715"/>
                      <a:pt x="797405" y="481248"/>
                      <a:pt x="822036" y="472782"/>
                    </a:cubicBezTo>
                  </a:path>
                </a:pathLst>
              </a:custGeom>
              <a:solidFill>
                <a:srgbClr val="3988CF">
                  <a:alpha val="30196"/>
                </a:srgb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D694B22C-5612-56C9-6221-ED68A3418E08}"/>
              </a:ext>
            </a:extLst>
          </p:cNvPr>
          <p:cNvGrpSpPr/>
          <p:nvPr/>
        </p:nvGrpSpPr>
        <p:grpSpPr>
          <a:xfrm>
            <a:off x="5958307" y="2036087"/>
            <a:ext cx="1115744" cy="122430"/>
            <a:chOff x="6185389" y="1580780"/>
            <a:chExt cx="1864767" cy="11151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7E57B4C-A8A9-5832-583B-8994393F0AB5}"/>
                </a:ext>
              </a:extLst>
            </p:cNvPr>
            <p:cNvCxnSpPr>
              <a:cxnSpLocks/>
            </p:cNvCxnSpPr>
            <p:nvPr/>
          </p:nvCxnSpPr>
          <p:spPr>
            <a:xfrm>
              <a:off x="6436168" y="1692296"/>
              <a:ext cx="1613988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E438321-C4CA-C824-1881-6F1596B0E083}"/>
                </a:ext>
              </a:extLst>
            </p:cNvPr>
            <p:cNvCxnSpPr>
              <a:cxnSpLocks/>
            </p:cNvCxnSpPr>
            <p:nvPr/>
          </p:nvCxnSpPr>
          <p:spPr>
            <a:xfrm>
              <a:off x="6185389" y="1580780"/>
              <a:ext cx="250778" cy="111516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64FAA01C-1942-B210-6A78-CB1624FFA382}"/>
              </a:ext>
            </a:extLst>
          </p:cNvPr>
          <p:cNvSpPr txBox="1"/>
          <p:nvPr/>
        </p:nvSpPr>
        <p:spPr>
          <a:xfrm>
            <a:off x="6438853" y="1807449"/>
            <a:ext cx="777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Prior</a:t>
            </a:r>
            <a:endParaRPr lang="en-US" dirty="0">
              <a:latin typeface="Arial Rounded MT Bold" panose="020F070403050403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732950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81027-35A9-DE51-08BF-7FA045763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3A0E598-AA9E-41AF-3D5B-F638A194A894}"/>
              </a:ext>
            </a:extLst>
          </p:cNvPr>
          <p:cNvSpPr txBox="1"/>
          <p:nvPr/>
        </p:nvSpPr>
        <p:spPr>
          <a:xfrm>
            <a:off x="276410" y="260293"/>
            <a:ext cx="2800422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VAE Prior and KL Loss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16891F35-13DA-6FF3-96A5-B17F8207B9CF}"/>
              </a:ext>
            </a:extLst>
          </p:cNvPr>
          <p:cNvSpPr txBox="1"/>
          <p:nvPr/>
        </p:nvSpPr>
        <p:spPr>
          <a:xfrm>
            <a:off x="838153" y="1132110"/>
            <a:ext cx="5396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How do we guarantee overlap?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6C8708E-64E6-D6D9-EE14-1E5CB4A43CF3}"/>
              </a:ext>
            </a:extLst>
          </p:cNvPr>
          <p:cNvGrpSpPr/>
          <p:nvPr/>
        </p:nvGrpSpPr>
        <p:grpSpPr>
          <a:xfrm>
            <a:off x="838153" y="1634595"/>
            <a:ext cx="5749391" cy="369332"/>
            <a:chOff x="838153" y="1634595"/>
            <a:chExt cx="5749391" cy="369332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A4893321-FFAA-2B99-B14B-A958B2EBBFF4}"/>
                </a:ext>
              </a:extLst>
            </p:cNvPr>
            <p:cNvSpPr txBox="1"/>
            <p:nvPr/>
          </p:nvSpPr>
          <p:spPr>
            <a:xfrm>
              <a:off x="838153" y="1634595"/>
              <a:ext cx="57493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latin typeface="Arial Rounded MT Bold" panose="020F0704030504030204" pitchFamily="34" charset="77"/>
                  <a:sym typeface="Wingdings" pitchFamily="2" charset="2"/>
                </a:rPr>
                <a:t>Match these       distribution to a Gaussian</a:t>
              </a:r>
            </a:p>
          </p:txBody>
        </p: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FB02D29B-BFDD-9EA0-E12F-13ACBD9FB7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87765" y="1727970"/>
              <a:ext cx="182582" cy="182582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B22BB2B8-3A62-2290-B288-BFF7B35EF2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91590" y="1727970"/>
              <a:ext cx="431733" cy="214573"/>
            </a:xfrm>
            <a:prstGeom prst="rect">
              <a:avLst/>
            </a:prstGeom>
          </p:spPr>
        </p:pic>
      </p:grpSp>
      <p:pic>
        <p:nvPicPr>
          <p:cNvPr id="36" name="Picture 35">
            <a:extLst>
              <a:ext uri="{FF2B5EF4-FFF2-40B4-BE49-F238E27FC236}">
                <a16:creationId xmlns:a16="http://schemas.microsoft.com/office/drawing/2014/main" id="{437EA7E3-F243-47CC-1F33-11336A0377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572" y="2686337"/>
            <a:ext cx="858593" cy="257577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9AA1D000-39D6-3A14-4B03-15E0A587F041}"/>
              </a:ext>
            </a:extLst>
          </p:cNvPr>
          <p:cNvGrpSpPr/>
          <p:nvPr/>
        </p:nvGrpSpPr>
        <p:grpSpPr>
          <a:xfrm>
            <a:off x="838152" y="2132508"/>
            <a:ext cx="6728395" cy="369332"/>
            <a:chOff x="838152" y="2132508"/>
            <a:chExt cx="6728395" cy="369332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D76FBD4B-3FD8-2F0D-096B-EFB32614856A}"/>
                </a:ext>
              </a:extLst>
            </p:cNvPr>
            <p:cNvSpPr txBox="1"/>
            <p:nvPr/>
          </p:nvSpPr>
          <p:spPr>
            <a:xfrm>
              <a:off x="838152" y="2132508"/>
              <a:ext cx="67283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latin typeface="Arial Rounded MT Bold" panose="020F0704030504030204" pitchFamily="34" charset="77"/>
                  <a:sym typeface="Wingdings" pitchFamily="2" charset="2"/>
                </a:rPr>
                <a:t>Minimizing the KL-divergence between                 and </a:t>
              </a:r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245C6839-2983-F3A4-0276-2C8328A5E5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61440" y="2203472"/>
              <a:ext cx="431733" cy="214573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8B7CB9C8-6BEA-55E4-056A-16EA5F3777C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25923" y="2197480"/>
              <a:ext cx="770077" cy="239387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47185D50-750A-94DB-DBDC-9F3C0DE865A3}"/>
              </a:ext>
            </a:extLst>
          </p:cNvPr>
          <p:cNvGrpSpPr/>
          <p:nvPr/>
        </p:nvGrpSpPr>
        <p:grpSpPr>
          <a:xfrm>
            <a:off x="7225925" y="1830216"/>
            <a:ext cx="3686820" cy="1014003"/>
            <a:chOff x="7225925" y="1830216"/>
            <a:chExt cx="3686820" cy="1014003"/>
          </a:xfrm>
        </p:grpSpPr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9DD29344-2061-E91C-926D-B283052EF931}"/>
                </a:ext>
              </a:extLst>
            </p:cNvPr>
            <p:cNvCxnSpPr>
              <a:cxnSpLocks/>
            </p:cNvCxnSpPr>
            <p:nvPr/>
          </p:nvCxnSpPr>
          <p:spPr>
            <a:xfrm>
              <a:off x="7364543" y="2831341"/>
              <a:ext cx="334823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8FA2CB1-CB10-FB62-07D0-5A3D82B76F7D}"/>
                </a:ext>
              </a:extLst>
            </p:cNvPr>
            <p:cNvSpPr/>
            <p:nvPr/>
          </p:nvSpPr>
          <p:spPr>
            <a:xfrm>
              <a:off x="9120091" y="2598446"/>
              <a:ext cx="1066097" cy="221517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rgbClr val="3988CF">
                <a:alpha val="30196"/>
              </a:srgb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461463F1-D217-7BF4-A8D3-FEAA03AE97A9}"/>
                </a:ext>
              </a:extLst>
            </p:cNvPr>
            <p:cNvSpPr/>
            <p:nvPr/>
          </p:nvSpPr>
          <p:spPr>
            <a:xfrm>
              <a:off x="8110610" y="2598446"/>
              <a:ext cx="928050" cy="221517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rgbClr val="3988CF">
                <a:alpha val="30196"/>
              </a:srgb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21C38417-2451-47D1-90C7-83CB032339DE}"/>
                </a:ext>
              </a:extLst>
            </p:cNvPr>
            <p:cNvSpPr/>
            <p:nvPr/>
          </p:nvSpPr>
          <p:spPr>
            <a:xfrm>
              <a:off x="8380149" y="2593609"/>
              <a:ext cx="928050" cy="221517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rgbClr val="3988CF">
                <a:alpha val="30196"/>
              </a:srgb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6DBAF65D-0546-FD9F-4691-F6ADAB249609}"/>
                </a:ext>
              </a:extLst>
            </p:cNvPr>
            <p:cNvSpPr/>
            <p:nvPr/>
          </p:nvSpPr>
          <p:spPr>
            <a:xfrm>
              <a:off x="8560776" y="2608156"/>
              <a:ext cx="928050" cy="221517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rgbClr val="3988CF">
                <a:alpha val="30196"/>
              </a:srgb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8033D8BE-E969-C8DC-A316-DB4028ED97B5}"/>
                </a:ext>
              </a:extLst>
            </p:cNvPr>
            <p:cNvSpPr/>
            <p:nvPr/>
          </p:nvSpPr>
          <p:spPr>
            <a:xfrm>
              <a:off x="7646371" y="2612993"/>
              <a:ext cx="928050" cy="221517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rgbClr val="3988CF">
                <a:alpha val="30196"/>
              </a:srgb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85D359E0-1BA5-8108-5CA2-E412B54E50E7}"/>
                </a:ext>
              </a:extLst>
            </p:cNvPr>
            <p:cNvSpPr/>
            <p:nvPr/>
          </p:nvSpPr>
          <p:spPr>
            <a:xfrm>
              <a:off x="7225925" y="2003927"/>
              <a:ext cx="2992459" cy="840292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rgbClr val="70AD47">
                <a:alpha val="30196"/>
              </a:srgbClr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4D4D75AA-5FD1-E431-7178-AA6FBFFB34B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0142668" y="2502502"/>
              <a:ext cx="770077" cy="239387"/>
            </a:xfrm>
            <a:prstGeom prst="rect">
              <a:avLst/>
            </a:prstGeom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897F97BD-3EB5-CCCF-55CE-3D489AD6D8D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chemeClr val="accent6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378332" y="1830216"/>
              <a:ext cx="1528671" cy="259479"/>
            </a:xfrm>
            <a:prstGeom prst="rect">
              <a:avLst/>
            </a:prstGeom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18B90EF-2644-1B61-6C36-A55663B22BC9}"/>
              </a:ext>
            </a:extLst>
          </p:cNvPr>
          <p:cNvGrpSpPr/>
          <p:nvPr/>
        </p:nvGrpSpPr>
        <p:grpSpPr>
          <a:xfrm>
            <a:off x="7193173" y="687285"/>
            <a:ext cx="3713830" cy="774063"/>
            <a:chOff x="938490" y="2515386"/>
            <a:chExt cx="5157510" cy="107496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4E5C6F7-C09B-D6CF-3387-58E073E5D984}"/>
                </a:ext>
              </a:extLst>
            </p:cNvPr>
            <p:cNvGrpSpPr/>
            <p:nvPr/>
          </p:nvGrpSpPr>
          <p:grpSpPr>
            <a:xfrm>
              <a:off x="1091584" y="2515386"/>
              <a:ext cx="4739263" cy="1074965"/>
              <a:chOff x="963173" y="3460090"/>
              <a:chExt cx="6285578" cy="1425702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4D7AAD0F-F350-D05A-DC28-9C0CA98E34A1}"/>
                  </a:ext>
                </a:extLst>
              </p:cNvPr>
              <p:cNvSpPr/>
              <p:nvPr/>
            </p:nvSpPr>
            <p:spPr>
              <a:xfrm>
                <a:off x="963173" y="3490570"/>
                <a:ext cx="619760" cy="61976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CD389606-7CCA-1884-9F43-618C76649A9F}"/>
                  </a:ext>
                </a:extLst>
              </p:cNvPr>
              <p:cNvSpPr/>
              <p:nvPr/>
            </p:nvSpPr>
            <p:spPr>
              <a:xfrm>
                <a:off x="2141733" y="3490570"/>
                <a:ext cx="619760" cy="61976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Moon 36">
                <a:extLst>
                  <a:ext uri="{FF2B5EF4-FFF2-40B4-BE49-F238E27FC236}">
                    <a16:creationId xmlns:a16="http://schemas.microsoft.com/office/drawing/2014/main" id="{919B7018-D80B-EFD0-A3AC-2FC640EF913C}"/>
                  </a:ext>
                </a:extLst>
              </p:cNvPr>
              <p:cNvSpPr/>
              <p:nvPr/>
            </p:nvSpPr>
            <p:spPr>
              <a:xfrm>
                <a:off x="2141733" y="3480410"/>
                <a:ext cx="333885" cy="619760"/>
              </a:xfrm>
              <a:prstGeom prst="moon">
                <a:avLst>
                  <a:gd name="adj" fmla="val 33356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85A56C09-64A2-5BCB-951A-BDF6AA424CD1}"/>
                  </a:ext>
                </a:extLst>
              </p:cNvPr>
              <p:cNvSpPr/>
              <p:nvPr/>
            </p:nvSpPr>
            <p:spPr>
              <a:xfrm>
                <a:off x="3320293" y="3470250"/>
                <a:ext cx="619760" cy="61976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Moon 39">
                <a:extLst>
                  <a:ext uri="{FF2B5EF4-FFF2-40B4-BE49-F238E27FC236}">
                    <a16:creationId xmlns:a16="http://schemas.microsoft.com/office/drawing/2014/main" id="{F9B9B049-6761-ED08-2BD1-85CB67371AB6}"/>
                  </a:ext>
                </a:extLst>
              </p:cNvPr>
              <p:cNvSpPr/>
              <p:nvPr/>
            </p:nvSpPr>
            <p:spPr>
              <a:xfrm>
                <a:off x="3320293" y="3460090"/>
                <a:ext cx="333885" cy="619760"/>
              </a:xfrm>
              <a:prstGeom prst="moon">
                <a:avLst>
                  <a:gd name="adj" fmla="val 79001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4BE1850B-B9B2-87F7-AA3C-8D2FDA985F3B}"/>
                  </a:ext>
                </a:extLst>
              </p:cNvPr>
              <p:cNvSpPr/>
              <p:nvPr/>
            </p:nvSpPr>
            <p:spPr>
              <a:xfrm>
                <a:off x="5733639" y="3470250"/>
                <a:ext cx="619760" cy="61976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70134DBF-2EF1-0296-E6B0-DFADCC7CADA1}"/>
                  </a:ext>
                </a:extLst>
              </p:cNvPr>
              <p:cNvSpPr/>
              <p:nvPr/>
            </p:nvSpPr>
            <p:spPr>
              <a:xfrm>
                <a:off x="4567606" y="3490570"/>
                <a:ext cx="619760" cy="61976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Moon 42">
                <a:extLst>
                  <a:ext uri="{FF2B5EF4-FFF2-40B4-BE49-F238E27FC236}">
                    <a16:creationId xmlns:a16="http://schemas.microsoft.com/office/drawing/2014/main" id="{A84D3E80-8330-F183-6CCB-804954CA5B72}"/>
                  </a:ext>
                </a:extLst>
              </p:cNvPr>
              <p:cNvSpPr/>
              <p:nvPr/>
            </p:nvSpPr>
            <p:spPr>
              <a:xfrm>
                <a:off x="4567606" y="3490570"/>
                <a:ext cx="333885" cy="619760"/>
              </a:xfrm>
              <a:prstGeom prst="moon">
                <a:avLst>
                  <a:gd name="adj" fmla="val 69872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6503100C-2951-EAC4-299F-8476E8832F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3173" y="4885792"/>
                <a:ext cx="6285578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B8FDE1AC-63EC-2FC6-5AB6-384EDA22C2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39163" y="4142461"/>
                <a:ext cx="255876" cy="575756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0E1411CA-C2E4-3D0F-AB01-622523471D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75619" y="4152620"/>
                <a:ext cx="285874" cy="648590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B1415A25-A9E2-62AF-AEAC-74F73921BD3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70983" y="4152620"/>
                <a:ext cx="183195" cy="648590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D5C22271-DDF6-0137-0F79-243046BC9D4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32743" y="4232250"/>
                <a:ext cx="644742" cy="616072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928865B1-D36E-7C15-5A36-FC1E39BECA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33359" y="4232250"/>
                <a:ext cx="833120" cy="568960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A3CC1F0-A7CA-DF18-3253-DC1CE5F854BD}"/>
                </a:ext>
              </a:extLst>
            </p:cNvPr>
            <p:cNvGrpSpPr/>
            <p:nvPr/>
          </p:nvGrpSpPr>
          <p:grpSpPr>
            <a:xfrm>
              <a:off x="938490" y="3248552"/>
              <a:ext cx="5157510" cy="334138"/>
              <a:chOff x="938490" y="3248552"/>
              <a:chExt cx="5157510" cy="334138"/>
            </a:xfrm>
          </p:grpSpPr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7C5C7F7C-B982-13F7-E75B-187B0615C53A}"/>
                  </a:ext>
                </a:extLst>
              </p:cNvPr>
              <p:cNvSpPr/>
              <p:nvPr/>
            </p:nvSpPr>
            <p:spPr>
              <a:xfrm>
                <a:off x="4586991" y="3254177"/>
                <a:ext cx="1509009" cy="313547"/>
              </a:xfrm>
              <a:custGeom>
                <a:avLst/>
                <a:gdLst>
                  <a:gd name="connsiteX0" fmla="*/ 0 w 822036"/>
                  <a:gd name="connsiteY0" fmla="*/ 472782 h 490768"/>
                  <a:gd name="connsiteX1" fmla="*/ 203200 w 822036"/>
                  <a:gd name="connsiteY1" fmla="*/ 463546 h 490768"/>
                  <a:gd name="connsiteX2" fmla="*/ 341745 w 822036"/>
                  <a:gd name="connsiteY2" fmla="*/ 214164 h 490768"/>
                  <a:gd name="connsiteX3" fmla="*/ 415636 w 822036"/>
                  <a:gd name="connsiteY3" fmla="*/ 47910 h 490768"/>
                  <a:gd name="connsiteX4" fmla="*/ 480291 w 822036"/>
                  <a:gd name="connsiteY4" fmla="*/ 1728 h 490768"/>
                  <a:gd name="connsiteX5" fmla="*/ 544945 w 822036"/>
                  <a:gd name="connsiteY5" fmla="*/ 94091 h 490768"/>
                  <a:gd name="connsiteX6" fmla="*/ 674254 w 822036"/>
                  <a:gd name="connsiteY6" fmla="*/ 371182 h 490768"/>
                  <a:gd name="connsiteX7" fmla="*/ 748145 w 822036"/>
                  <a:gd name="connsiteY7" fmla="*/ 472782 h 490768"/>
                  <a:gd name="connsiteX8" fmla="*/ 822036 w 822036"/>
                  <a:gd name="connsiteY8" fmla="*/ 472782 h 490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2036" h="490768">
                    <a:moveTo>
                      <a:pt x="0" y="472782"/>
                    </a:moveTo>
                    <a:cubicBezTo>
                      <a:pt x="73121" y="489715"/>
                      <a:pt x="146243" y="506649"/>
                      <a:pt x="203200" y="463546"/>
                    </a:cubicBezTo>
                    <a:cubicBezTo>
                      <a:pt x="260157" y="420443"/>
                      <a:pt x="306339" y="283437"/>
                      <a:pt x="341745" y="214164"/>
                    </a:cubicBezTo>
                    <a:cubicBezTo>
                      <a:pt x="377151" y="144891"/>
                      <a:pt x="392545" y="83316"/>
                      <a:pt x="415636" y="47910"/>
                    </a:cubicBezTo>
                    <a:cubicBezTo>
                      <a:pt x="438727" y="12504"/>
                      <a:pt x="458740" y="-5969"/>
                      <a:pt x="480291" y="1728"/>
                    </a:cubicBezTo>
                    <a:cubicBezTo>
                      <a:pt x="501843" y="9425"/>
                      <a:pt x="512618" y="32515"/>
                      <a:pt x="544945" y="94091"/>
                    </a:cubicBezTo>
                    <a:cubicBezTo>
                      <a:pt x="577272" y="155667"/>
                      <a:pt x="640387" y="308067"/>
                      <a:pt x="674254" y="371182"/>
                    </a:cubicBezTo>
                    <a:cubicBezTo>
                      <a:pt x="708121" y="434297"/>
                      <a:pt x="723515" y="455849"/>
                      <a:pt x="748145" y="472782"/>
                    </a:cubicBezTo>
                    <a:cubicBezTo>
                      <a:pt x="772775" y="489715"/>
                      <a:pt x="797405" y="481248"/>
                      <a:pt x="822036" y="472782"/>
                    </a:cubicBezTo>
                  </a:path>
                </a:pathLst>
              </a:custGeom>
              <a:solidFill>
                <a:srgbClr val="3988CF">
                  <a:alpha val="30196"/>
                </a:srgb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6645B50C-FE91-ED1D-091D-57190845B01A}"/>
                  </a:ext>
                </a:extLst>
              </p:cNvPr>
              <p:cNvSpPr/>
              <p:nvPr/>
            </p:nvSpPr>
            <p:spPr>
              <a:xfrm>
                <a:off x="1774589" y="3255398"/>
                <a:ext cx="1313609" cy="313547"/>
              </a:xfrm>
              <a:custGeom>
                <a:avLst/>
                <a:gdLst>
                  <a:gd name="connsiteX0" fmla="*/ 0 w 822036"/>
                  <a:gd name="connsiteY0" fmla="*/ 472782 h 490768"/>
                  <a:gd name="connsiteX1" fmla="*/ 203200 w 822036"/>
                  <a:gd name="connsiteY1" fmla="*/ 463546 h 490768"/>
                  <a:gd name="connsiteX2" fmla="*/ 341745 w 822036"/>
                  <a:gd name="connsiteY2" fmla="*/ 214164 h 490768"/>
                  <a:gd name="connsiteX3" fmla="*/ 415636 w 822036"/>
                  <a:gd name="connsiteY3" fmla="*/ 47910 h 490768"/>
                  <a:gd name="connsiteX4" fmla="*/ 480291 w 822036"/>
                  <a:gd name="connsiteY4" fmla="*/ 1728 h 490768"/>
                  <a:gd name="connsiteX5" fmla="*/ 544945 w 822036"/>
                  <a:gd name="connsiteY5" fmla="*/ 94091 h 490768"/>
                  <a:gd name="connsiteX6" fmla="*/ 674254 w 822036"/>
                  <a:gd name="connsiteY6" fmla="*/ 371182 h 490768"/>
                  <a:gd name="connsiteX7" fmla="*/ 748145 w 822036"/>
                  <a:gd name="connsiteY7" fmla="*/ 472782 h 490768"/>
                  <a:gd name="connsiteX8" fmla="*/ 822036 w 822036"/>
                  <a:gd name="connsiteY8" fmla="*/ 472782 h 490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2036" h="490768">
                    <a:moveTo>
                      <a:pt x="0" y="472782"/>
                    </a:moveTo>
                    <a:cubicBezTo>
                      <a:pt x="73121" y="489715"/>
                      <a:pt x="146243" y="506649"/>
                      <a:pt x="203200" y="463546"/>
                    </a:cubicBezTo>
                    <a:cubicBezTo>
                      <a:pt x="260157" y="420443"/>
                      <a:pt x="306339" y="283437"/>
                      <a:pt x="341745" y="214164"/>
                    </a:cubicBezTo>
                    <a:cubicBezTo>
                      <a:pt x="377151" y="144891"/>
                      <a:pt x="392545" y="83316"/>
                      <a:pt x="415636" y="47910"/>
                    </a:cubicBezTo>
                    <a:cubicBezTo>
                      <a:pt x="438727" y="12504"/>
                      <a:pt x="458740" y="-5969"/>
                      <a:pt x="480291" y="1728"/>
                    </a:cubicBezTo>
                    <a:cubicBezTo>
                      <a:pt x="501843" y="9425"/>
                      <a:pt x="512618" y="32515"/>
                      <a:pt x="544945" y="94091"/>
                    </a:cubicBezTo>
                    <a:cubicBezTo>
                      <a:pt x="577272" y="155667"/>
                      <a:pt x="640387" y="308067"/>
                      <a:pt x="674254" y="371182"/>
                    </a:cubicBezTo>
                    <a:cubicBezTo>
                      <a:pt x="708121" y="434297"/>
                      <a:pt x="723515" y="455849"/>
                      <a:pt x="748145" y="472782"/>
                    </a:cubicBezTo>
                    <a:cubicBezTo>
                      <a:pt x="772775" y="489715"/>
                      <a:pt x="797405" y="481248"/>
                      <a:pt x="822036" y="472782"/>
                    </a:cubicBezTo>
                  </a:path>
                </a:pathLst>
              </a:custGeom>
              <a:solidFill>
                <a:srgbClr val="3988CF">
                  <a:alpha val="30196"/>
                </a:srgb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F0F7B5AD-AAA4-F19E-B0BF-34250F986966}"/>
                  </a:ext>
                </a:extLst>
              </p:cNvPr>
              <p:cNvSpPr/>
              <p:nvPr/>
            </p:nvSpPr>
            <p:spPr>
              <a:xfrm>
                <a:off x="2243198" y="3248552"/>
                <a:ext cx="1313609" cy="313547"/>
              </a:xfrm>
              <a:custGeom>
                <a:avLst/>
                <a:gdLst>
                  <a:gd name="connsiteX0" fmla="*/ 0 w 822036"/>
                  <a:gd name="connsiteY0" fmla="*/ 472782 h 490768"/>
                  <a:gd name="connsiteX1" fmla="*/ 203200 w 822036"/>
                  <a:gd name="connsiteY1" fmla="*/ 463546 h 490768"/>
                  <a:gd name="connsiteX2" fmla="*/ 341745 w 822036"/>
                  <a:gd name="connsiteY2" fmla="*/ 214164 h 490768"/>
                  <a:gd name="connsiteX3" fmla="*/ 415636 w 822036"/>
                  <a:gd name="connsiteY3" fmla="*/ 47910 h 490768"/>
                  <a:gd name="connsiteX4" fmla="*/ 480291 w 822036"/>
                  <a:gd name="connsiteY4" fmla="*/ 1728 h 490768"/>
                  <a:gd name="connsiteX5" fmla="*/ 544945 w 822036"/>
                  <a:gd name="connsiteY5" fmla="*/ 94091 h 490768"/>
                  <a:gd name="connsiteX6" fmla="*/ 674254 w 822036"/>
                  <a:gd name="connsiteY6" fmla="*/ 371182 h 490768"/>
                  <a:gd name="connsiteX7" fmla="*/ 748145 w 822036"/>
                  <a:gd name="connsiteY7" fmla="*/ 472782 h 490768"/>
                  <a:gd name="connsiteX8" fmla="*/ 822036 w 822036"/>
                  <a:gd name="connsiteY8" fmla="*/ 472782 h 490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2036" h="490768">
                    <a:moveTo>
                      <a:pt x="0" y="472782"/>
                    </a:moveTo>
                    <a:cubicBezTo>
                      <a:pt x="73121" y="489715"/>
                      <a:pt x="146243" y="506649"/>
                      <a:pt x="203200" y="463546"/>
                    </a:cubicBezTo>
                    <a:cubicBezTo>
                      <a:pt x="260157" y="420443"/>
                      <a:pt x="306339" y="283437"/>
                      <a:pt x="341745" y="214164"/>
                    </a:cubicBezTo>
                    <a:cubicBezTo>
                      <a:pt x="377151" y="144891"/>
                      <a:pt x="392545" y="83316"/>
                      <a:pt x="415636" y="47910"/>
                    </a:cubicBezTo>
                    <a:cubicBezTo>
                      <a:pt x="438727" y="12504"/>
                      <a:pt x="458740" y="-5969"/>
                      <a:pt x="480291" y="1728"/>
                    </a:cubicBezTo>
                    <a:cubicBezTo>
                      <a:pt x="501843" y="9425"/>
                      <a:pt x="512618" y="32515"/>
                      <a:pt x="544945" y="94091"/>
                    </a:cubicBezTo>
                    <a:cubicBezTo>
                      <a:pt x="577272" y="155667"/>
                      <a:pt x="640387" y="308067"/>
                      <a:pt x="674254" y="371182"/>
                    </a:cubicBezTo>
                    <a:cubicBezTo>
                      <a:pt x="708121" y="434297"/>
                      <a:pt x="723515" y="455849"/>
                      <a:pt x="748145" y="472782"/>
                    </a:cubicBezTo>
                    <a:cubicBezTo>
                      <a:pt x="772775" y="489715"/>
                      <a:pt x="797405" y="481248"/>
                      <a:pt x="822036" y="472782"/>
                    </a:cubicBezTo>
                  </a:path>
                </a:pathLst>
              </a:custGeom>
              <a:solidFill>
                <a:srgbClr val="3988CF">
                  <a:alpha val="30196"/>
                </a:srgb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7BE246A9-51CD-38EA-82BF-9FB484F0970C}"/>
                  </a:ext>
                </a:extLst>
              </p:cNvPr>
              <p:cNvSpPr/>
              <p:nvPr/>
            </p:nvSpPr>
            <p:spPr>
              <a:xfrm>
                <a:off x="2738456" y="3269143"/>
                <a:ext cx="1313609" cy="313547"/>
              </a:xfrm>
              <a:custGeom>
                <a:avLst/>
                <a:gdLst>
                  <a:gd name="connsiteX0" fmla="*/ 0 w 822036"/>
                  <a:gd name="connsiteY0" fmla="*/ 472782 h 490768"/>
                  <a:gd name="connsiteX1" fmla="*/ 203200 w 822036"/>
                  <a:gd name="connsiteY1" fmla="*/ 463546 h 490768"/>
                  <a:gd name="connsiteX2" fmla="*/ 341745 w 822036"/>
                  <a:gd name="connsiteY2" fmla="*/ 214164 h 490768"/>
                  <a:gd name="connsiteX3" fmla="*/ 415636 w 822036"/>
                  <a:gd name="connsiteY3" fmla="*/ 47910 h 490768"/>
                  <a:gd name="connsiteX4" fmla="*/ 480291 w 822036"/>
                  <a:gd name="connsiteY4" fmla="*/ 1728 h 490768"/>
                  <a:gd name="connsiteX5" fmla="*/ 544945 w 822036"/>
                  <a:gd name="connsiteY5" fmla="*/ 94091 h 490768"/>
                  <a:gd name="connsiteX6" fmla="*/ 674254 w 822036"/>
                  <a:gd name="connsiteY6" fmla="*/ 371182 h 490768"/>
                  <a:gd name="connsiteX7" fmla="*/ 748145 w 822036"/>
                  <a:gd name="connsiteY7" fmla="*/ 472782 h 490768"/>
                  <a:gd name="connsiteX8" fmla="*/ 822036 w 822036"/>
                  <a:gd name="connsiteY8" fmla="*/ 472782 h 490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2036" h="490768">
                    <a:moveTo>
                      <a:pt x="0" y="472782"/>
                    </a:moveTo>
                    <a:cubicBezTo>
                      <a:pt x="73121" y="489715"/>
                      <a:pt x="146243" y="506649"/>
                      <a:pt x="203200" y="463546"/>
                    </a:cubicBezTo>
                    <a:cubicBezTo>
                      <a:pt x="260157" y="420443"/>
                      <a:pt x="306339" y="283437"/>
                      <a:pt x="341745" y="214164"/>
                    </a:cubicBezTo>
                    <a:cubicBezTo>
                      <a:pt x="377151" y="144891"/>
                      <a:pt x="392545" y="83316"/>
                      <a:pt x="415636" y="47910"/>
                    </a:cubicBezTo>
                    <a:cubicBezTo>
                      <a:pt x="438727" y="12504"/>
                      <a:pt x="458740" y="-5969"/>
                      <a:pt x="480291" y="1728"/>
                    </a:cubicBezTo>
                    <a:cubicBezTo>
                      <a:pt x="501843" y="9425"/>
                      <a:pt x="512618" y="32515"/>
                      <a:pt x="544945" y="94091"/>
                    </a:cubicBezTo>
                    <a:cubicBezTo>
                      <a:pt x="577272" y="155667"/>
                      <a:pt x="640387" y="308067"/>
                      <a:pt x="674254" y="371182"/>
                    </a:cubicBezTo>
                    <a:cubicBezTo>
                      <a:pt x="708121" y="434297"/>
                      <a:pt x="723515" y="455849"/>
                      <a:pt x="748145" y="472782"/>
                    </a:cubicBezTo>
                    <a:cubicBezTo>
                      <a:pt x="772775" y="489715"/>
                      <a:pt x="797405" y="481248"/>
                      <a:pt x="822036" y="472782"/>
                    </a:cubicBezTo>
                  </a:path>
                </a:pathLst>
              </a:custGeom>
              <a:solidFill>
                <a:srgbClr val="3988CF">
                  <a:alpha val="30196"/>
                </a:srgb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7D32E53E-7673-BD27-046E-B15F569D1D7B}"/>
                  </a:ext>
                </a:extLst>
              </p:cNvPr>
              <p:cNvSpPr/>
              <p:nvPr/>
            </p:nvSpPr>
            <p:spPr>
              <a:xfrm>
                <a:off x="938490" y="3269143"/>
                <a:ext cx="1313609" cy="313547"/>
              </a:xfrm>
              <a:custGeom>
                <a:avLst/>
                <a:gdLst>
                  <a:gd name="connsiteX0" fmla="*/ 0 w 822036"/>
                  <a:gd name="connsiteY0" fmla="*/ 472782 h 490768"/>
                  <a:gd name="connsiteX1" fmla="*/ 203200 w 822036"/>
                  <a:gd name="connsiteY1" fmla="*/ 463546 h 490768"/>
                  <a:gd name="connsiteX2" fmla="*/ 341745 w 822036"/>
                  <a:gd name="connsiteY2" fmla="*/ 214164 h 490768"/>
                  <a:gd name="connsiteX3" fmla="*/ 415636 w 822036"/>
                  <a:gd name="connsiteY3" fmla="*/ 47910 h 490768"/>
                  <a:gd name="connsiteX4" fmla="*/ 480291 w 822036"/>
                  <a:gd name="connsiteY4" fmla="*/ 1728 h 490768"/>
                  <a:gd name="connsiteX5" fmla="*/ 544945 w 822036"/>
                  <a:gd name="connsiteY5" fmla="*/ 94091 h 490768"/>
                  <a:gd name="connsiteX6" fmla="*/ 674254 w 822036"/>
                  <a:gd name="connsiteY6" fmla="*/ 371182 h 490768"/>
                  <a:gd name="connsiteX7" fmla="*/ 748145 w 822036"/>
                  <a:gd name="connsiteY7" fmla="*/ 472782 h 490768"/>
                  <a:gd name="connsiteX8" fmla="*/ 822036 w 822036"/>
                  <a:gd name="connsiteY8" fmla="*/ 472782 h 490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2036" h="490768">
                    <a:moveTo>
                      <a:pt x="0" y="472782"/>
                    </a:moveTo>
                    <a:cubicBezTo>
                      <a:pt x="73121" y="489715"/>
                      <a:pt x="146243" y="506649"/>
                      <a:pt x="203200" y="463546"/>
                    </a:cubicBezTo>
                    <a:cubicBezTo>
                      <a:pt x="260157" y="420443"/>
                      <a:pt x="306339" y="283437"/>
                      <a:pt x="341745" y="214164"/>
                    </a:cubicBezTo>
                    <a:cubicBezTo>
                      <a:pt x="377151" y="144891"/>
                      <a:pt x="392545" y="83316"/>
                      <a:pt x="415636" y="47910"/>
                    </a:cubicBezTo>
                    <a:cubicBezTo>
                      <a:pt x="438727" y="12504"/>
                      <a:pt x="458740" y="-5969"/>
                      <a:pt x="480291" y="1728"/>
                    </a:cubicBezTo>
                    <a:cubicBezTo>
                      <a:pt x="501843" y="9425"/>
                      <a:pt x="512618" y="32515"/>
                      <a:pt x="544945" y="94091"/>
                    </a:cubicBezTo>
                    <a:cubicBezTo>
                      <a:pt x="577272" y="155667"/>
                      <a:pt x="640387" y="308067"/>
                      <a:pt x="674254" y="371182"/>
                    </a:cubicBezTo>
                    <a:cubicBezTo>
                      <a:pt x="708121" y="434297"/>
                      <a:pt x="723515" y="455849"/>
                      <a:pt x="748145" y="472782"/>
                    </a:cubicBezTo>
                    <a:cubicBezTo>
                      <a:pt x="772775" y="489715"/>
                      <a:pt x="797405" y="481248"/>
                      <a:pt x="822036" y="472782"/>
                    </a:cubicBezTo>
                  </a:path>
                </a:pathLst>
              </a:custGeom>
              <a:solidFill>
                <a:srgbClr val="3988CF">
                  <a:alpha val="30196"/>
                </a:srgb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58" name="Picture 57">
            <a:extLst>
              <a:ext uri="{FF2B5EF4-FFF2-40B4-BE49-F238E27FC236}">
                <a16:creationId xmlns:a16="http://schemas.microsoft.com/office/drawing/2014/main" id="{1F9550D7-80C7-37AD-03E3-862285135A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50783" y="2690215"/>
            <a:ext cx="2395494" cy="277303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99B57E4-54D6-4636-0456-6B962FFB389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5235" y="3683272"/>
            <a:ext cx="3005060" cy="257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4794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745B3-6569-747C-B08C-4E04DD96C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579ACB-CEDF-6513-93F1-75AA9BF25624}"/>
              </a:ext>
            </a:extLst>
          </p:cNvPr>
          <p:cNvSpPr txBox="1"/>
          <p:nvPr/>
        </p:nvSpPr>
        <p:spPr>
          <a:xfrm>
            <a:off x="276410" y="260293"/>
            <a:ext cx="2800422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VAE Prior and KL Loss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CA1FC721-329E-8FCF-933D-6C50419ADA9E}"/>
              </a:ext>
            </a:extLst>
          </p:cNvPr>
          <p:cNvSpPr txBox="1"/>
          <p:nvPr/>
        </p:nvSpPr>
        <p:spPr>
          <a:xfrm>
            <a:off x="838153" y="1132110"/>
            <a:ext cx="5396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How do we guarantee overlap? 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174B4A75-25BA-A96C-6CEF-15423C0224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235" y="3683272"/>
            <a:ext cx="3005060" cy="257576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3E7353E4-F584-5687-CD22-B64456887266}"/>
              </a:ext>
            </a:extLst>
          </p:cNvPr>
          <p:cNvSpPr txBox="1"/>
          <p:nvPr/>
        </p:nvSpPr>
        <p:spPr>
          <a:xfrm>
            <a:off x="1286767" y="4446326"/>
            <a:ext cx="7751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Introduce </a:t>
            </a:r>
            <a:r>
              <a:rPr lang="en-US" altLang="zh-TW" dirty="0">
                <a:solidFill>
                  <a:srgbClr val="FF0000"/>
                </a:solidFill>
                <a:latin typeface="Arial Rounded MT Bold" panose="020F0704030504030204" pitchFamily="34" charset="77"/>
                <a:sym typeface="Wingdings" pitchFamily="2" charset="2"/>
              </a:rPr>
              <a:t>overlap</a:t>
            </a:r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 between distributions		and  </a:t>
            </a:r>
          </a:p>
        </p:txBody>
      </p:sp>
      <p:sp>
        <p:nvSpPr>
          <p:cNvPr id="55" name="Arrow: Right 54">
            <a:extLst>
              <a:ext uri="{FF2B5EF4-FFF2-40B4-BE49-F238E27FC236}">
                <a16:creationId xmlns:a16="http://schemas.microsoft.com/office/drawing/2014/main" id="{09F109F1-3335-A805-83E7-CC0A3B1E8986}"/>
              </a:ext>
            </a:extLst>
          </p:cNvPr>
          <p:cNvSpPr/>
          <p:nvPr/>
        </p:nvSpPr>
        <p:spPr>
          <a:xfrm>
            <a:off x="1025073" y="4569079"/>
            <a:ext cx="193087" cy="178240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399BBBCA-C11F-C9D1-03BC-0F62A8C72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2934" y="4541872"/>
            <a:ext cx="818506" cy="232657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9D785804-C240-7042-14B5-8FA984FCB0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5844" y="4541871"/>
            <a:ext cx="818504" cy="232657"/>
          </a:xfrm>
          <a:prstGeom prst="rect">
            <a:avLst/>
          </a:prstGeom>
        </p:spPr>
      </p:pic>
      <p:grpSp>
        <p:nvGrpSpPr>
          <p:cNvPr id="74" name="Group 73">
            <a:extLst>
              <a:ext uri="{FF2B5EF4-FFF2-40B4-BE49-F238E27FC236}">
                <a16:creationId xmlns:a16="http://schemas.microsoft.com/office/drawing/2014/main" id="{F935232E-B51C-97A1-21C9-B544D3639B4E}"/>
              </a:ext>
            </a:extLst>
          </p:cNvPr>
          <p:cNvGrpSpPr/>
          <p:nvPr/>
        </p:nvGrpSpPr>
        <p:grpSpPr>
          <a:xfrm>
            <a:off x="838152" y="2132508"/>
            <a:ext cx="6728395" cy="369332"/>
            <a:chOff x="838152" y="2132508"/>
            <a:chExt cx="6728395" cy="369332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42666715-164E-60FA-A50C-3FCB7709DADC}"/>
                </a:ext>
              </a:extLst>
            </p:cNvPr>
            <p:cNvSpPr txBox="1"/>
            <p:nvPr/>
          </p:nvSpPr>
          <p:spPr>
            <a:xfrm>
              <a:off x="838152" y="2132508"/>
              <a:ext cx="67283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latin typeface="Arial Rounded MT Bold" panose="020F0704030504030204" pitchFamily="34" charset="77"/>
                  <a:sym typeface="Wingdings" pitchFamily="2" charset="2"/>
                </a:rPr>
                <a:t>Minimizing the KL-divergence between                 and </a:t>
              </a:r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6F0E6A8A-CED2-5828-C116-C0F3AA7C5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61440" y="2203472"/>
              <a:ext cx="431733" cy="214573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C6B5355C-02BE-72EF-1F8F-2D39247C7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325923" y="2197480"/>
              <a:ext cx="770077" cy="239387"/>
            </a:xfrm>
            <a:prstGeom prst="rect">
              <a:avLst/>
            </a:prstGeom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01C5E0CE-8A42-EC4E-90F1-E9F266A347BE}"/>
              </a:ext>
            </a:extLst>
          </p:cNvPr>
          <p:cNvGrpSpPr/>
          <p:nvPr/>
        </p:nvGrpSpPr>
        <p:grpSpPr>
          <a:xfrm>
            <a:off x="7225925" y="1830216"/>
            <a:ext cx="3686820" cy="1014003"/>
            <a:chOff x="7225925" y="1830216"/>
            <a:chExt cx="3686820" cy="1014003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4504806B-8E02-3F42-9198-5211D64782B9}"/>
                </a:ext>
              </a:extLst>
            </p:cNvPr>
            <p:cNvCxnSpPr>
              <a:cxnSpLocks/>
            </p:cNvCxnSpPr>
            <p:nvPr/>
          </p:nvCxnSpPr>
          <p:spPr>
            <a:xfrm>
              <a:off x="7364543" y="2831341"/>
              <a:ext cx="334823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6704F68-AE96-4B3C-926E-E7EA78F46A6E}"/>
                </a:ext>
              </a:extLst>
            </p:cNvPr>
            <p:cNvSpPr/>
            <p:nvPr/>
          </p:nvSpPr>
          <p:spPr>
            <a:xfrm>
              <a:off x="9120091" y="2598446"/>
              <a:ext cx="1066097" cy="221517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rgbClr val="3988CF">
                <a:alpha val="30196"/>
              </a:srgb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6C85B33D-8969-5756-BCC2-F00518D0341A}"/>
                </a:ext>
              </a:extLst>
            </p:cNvPr>
            <p:cNvSpPr/>
            <p:nvPr/>
          </p:nvSpPr>
          <p:spPr>
            <a:xfrm>
              <a:off x="8110610" y="2598446"/>
              <a:ext cx="928050" cy="221517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rgbClr val="3988CF">
                <a:alpha val="30196"/>
              </a:srgb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2FB4A173-B207-27BB-C8AE-4CCD567EC1DF}"/>
                </a:ext>
              </a:extLst>
            </p:cNvPr>
            <p:cNvSpPr/>
            <p:nvPr/>
          </p:nvSpPr>
          <p:spPr>
            <a:xfrm>
              <a:off x="8380149" y="2593609"/>
              <a:ext cx="928050" cy="221517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rgbClr val="3988CF">
                <a:alpha val="30196"/>
              </a:srgb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9DF45D2-C97F-8249-FDBF-05EF8EEE3FEC}"/>
                </a:ext>
              </a:extLst>
            </p:cNvPr>
            <p:cNvSpPr/>
            <p:nvPr/>
          </p:nvSpPr>
          <p:spPr>
            <a:xfrm>
              <a:off x="8560776" y="2608156"/>
              <a:ext cx="928050" cy="221517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rgbClr val="3988CF">
                <a:alpha val="30196"/>
              </a:srgb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FA36E34-8372-A92B-120D-9E6D409C7730}"/>
                </a:ext>
              </a:extLst>
            </p:cNvPr>
            <p:cNvSpPr/>
            <p:nvPr/>
          </p:nvSpPr>
          <p:spPr>
            <a:xfrm>
              <a:off x="7646371" y="2612993"/>
              <a:ext cx="928050" cy="221517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rgbClr val="3988CF">
                <a:alpha val="30196"/>
              </a:srgb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A87E1CB-0EA6-70C0-91C2-9812C3512347}"/>
                </a:ext>
              </a:extLst>
            </p:cNvPr>
            <p:cNvSpPr/>
            <p:nvPr/>
          </p:nvSpPr>
          <p:spPr>
            <a:xfrm>
              <a:off x="7225925" y="2003927"/>
              <a:ext cx="2992459" cy="840292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rgbClr val="70AD47">
                <a:alpha val="30196"/>
              </a:srgbClr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A18200B5-B059-16BF-CD3C-8AAB48BCF85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0142668" y="2502502"/>
              <a:ext cx="770077" cy="239387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D8FCB556-EBF6-A0AE-F3F2-A719E9C0890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chemeClr val="accent6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378332" y="1830216"/>
              <a:ext cx="1528671" cy="259479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5C9D12F-8D81-503F-F663-42F84E9BCC32}"/>
              </a:ext>
            </a:extLst>
          </p:cNvPr>
          <p:cNvGrpSpPr/>
          <p:nvPr/>
        </p:nvGrpSpPr>
        <p:grpSpPr>
          <a:xfrm>
            <a:off x="7193173" y="687285"/>
            <a:ext cx="3713830" cy="774063"/>
            <a:chOff x="938490" y="2515386"/>
            <a:chExt cx="5157510" cy="107496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970ED07C-7CEA-A192-46C7-DC65B3A2FF79}"/>
                </a:ext>
              </a:extLst>
            </p:cNvPr>
            <p:cNvGrpSpPr/>
            <p:nvPr/>
          </p:nvGrpSpPr>
          <p:grpSpPr>
            <a:xfrm>
              <a:off x="1091584" y="2515386"/>
              <a:ext cx="4739263" cy="1074965"/>
              <a:chOff x="963173" y="3460090"/>
              <a:chExt cx="6285578" cy="1425702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56050B08-A5F9-1EB3-148D-A99126DB7394}"/>
                  </a:ext>
                </a:extLst>
              </p:cNvPr>
              <p:cNvSpPr/>
              <p:nvPr/>
            </p:nvSpPr>
            <p:spPr>
              <a:xfrm>
                <a:off x="963173" y="3490570"/>
                <a:ext cx="619760" cy="61976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DCDD02F1-4F27-7D69-0480-C22172AC4190}"/>
                  </a:ext>
                </a:extLst>
              </p:cNvPr>
              <p:cNvSpPr/>
              <p:nvPr/>
            </p:nvSpPr>
            <p:spPr>
              <a:xfrm>
                <a:off x="2141733" y="3490570"/>
                <a:ext cx="619760" cy="61976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Moon 48">
                <a:extLst>
                  <a:ext uri="{FF2B5EF4-FFF2-40B4-BE49-F238E27FC236}">
                    <a16:creationId xmlns:a16="http://schemas.microsoft.com/office/drawing/2014/main" id="{2975DC91-1B50-6FD0-54CD-7FF12A99C180}"/>
                  </a:ext>
                </a:extLst>
              </p:cNvPr>
              <p:cNvSpPr/>
              <p:nvPr/>
            </p:nvSpPr>
            <p:spPr>
              <a:xfrm>
                <a:off x="2141733" y="3480410"/>
                <a:ext cx="333885" cy="619760"/>
              </a:xfrm>
              <a:prstGeom prst="moon">
                <a:avLst>
                  <a:gd name="adj" fmla="val 33356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DD0A49FF-1008-DD47-A4FF-97B87670F266}"/>
                  </a:ext>
                </a:extLst>
              </p:cNvPr>
              <p:cNvSpPr/>
              <p:nvPr/>
            </p:nvSpPr>
            <p:spPr>
              <a:xfrm>
                <a:off x="3320293" y="3470250"/>
                <a:ext cx="619760" cy="61976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Moon 51">
                <a:extLst>
                  <a:ext uri="{FF2B5EF4-FFF2-40B4-BE49-F238E27FC236}">
                    <a16:creationId xmlns:a16="http://schemas.microsoft.com/office/drawing/2014/main" id="{143666A8-6047-0921-E0D4-D6E02D847674}"/>
                  </a:ext>
                </a:extLst>
              </p:cNvPr>
              <p:cNvSpPr/>
              <p:nvPr/>
            </p:nvSpPr>
            <p:spPr>
              <a:xfrm>
                <a:off x="3320293" y="3460090"/>
                <a:ext cx="333885" cy="619760"/>
              </a:xfrm>
              <a:prstGeom prst="moon">
                <a:avLst>
                  <a:gd name="adj" fmla="val 79001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DF9A0D96-C987-89F6-0315-9D5E454726B4}"/>
                  </a:ext>
                </a:extLst>
              </p:cNvPr>
              <p:cNvSpPr/>
              <p:nvPr/>
            </p:nvSpPr>
            <p:spPr>
              <a:xfrm>
                <a:off x="5733639" y="3470250"/>
                <a:ext cx="619760" cy="61976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E59A0B81-55C7-9406-9AFE-283088DF371A}"/>
                  </a:ext>
                </a:extLst>
              </p:cNvPr>
              <p:cNvSpPr/>
              <p:nvPr/>
            </p:nvSpPr>
            <p:spPr>
              <a:xfrm>
                <a:off x="4567606" y="3490570"/>
                <a:ext cx="619760" cy="61976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Moon 55">
                <a:extLst>
                  <a:ext uri="{FF2B5EF4-FFF2-40B4-BE49-F238E27FC236}">
                    <a16:creationId xmlns:a16="http://schemas.microsoft.com/office/drawing/2014/main" id="{C640DCA8-7EF8-28AB-845B-F49629837AC4}"/>
                  </a:ext>
                </a:extLst>
              </p:cNvPr>
              <p:cNvSpPr/>
              <p:nvPr/>
            </p:nvSpPr>
            <p:spPr>
              <a:xfrm>
                <a:off x="4567606" y="3490570"/>
                <a:ext cx="333885" cy="619760"/>
              </a:xfrm>
              <a:prstGeom prst="moon">
                <a:avLst>
                  <a:gd name="adj" fmla="val 69872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7901C7BD-E9D4-4316-EF2A-F2E2EC09BB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3173" y="4885792"/>
                <a:ext cx="6285578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Arrow Connector 62">
                <a:extLst>
                  <a:ext uri="{FF2B5EF4-FFF2-40B4-BE49-F238E27FC236}">
                    <a16:creationId xmlns:a16="http://schemas.microsoft.com/office/drawing/2014/main" id="{A54D5FF6-5DF1-9941-E65E-7D9B58424B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39163" y="4142461"/>
                <a:ext cx="255876" cy="575756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D961A247-04B1-0E18-F0A8-6AC75C0687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75619" y="4152620"/>
                <a:ext cx="285874" cy="648590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B18D1254-E12A-22E5-B17C-55C1B87AEF6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70983" y="4152620"/>
                <a:ext cx="183195" cy="648590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3F6A4CAD-F6E3-11FB-57A4-9CB8B87908A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32743" y="4232250"/>
                <a:ext cx="644742" cy="616072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EC8A2DEE-AB17-6B44-B171-92D0BE07EC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33359" y="4232250"/>
                <a:ext cx="833120" cy="568960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EE2E385B-D475-8D59-06B1-98DCF1409F4B}"/>
                </a:ext>
              </a:extLst>
            </p:cNvPr>
            <p:cNvGrpSpPr/>
            <p:nvPr/>
          </p:nvGrpSpPr>
          <p:grpSpPr>
            <a:xfrm>
              <a:off x="938490" y="3248552"/>
              <a:ext cx="5157510" cy="334138"/>
              <a:chOff x="938490" y="3248552"/>
              <a:chExt cx="5157510" cy="334138"/>
            </a:xfrm>
          </p:grpSpPr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932B8DB8-AB8B-8FE6-941B-1A2C11850EC8}"/>
                  </a:ext>
                </a:extLst>
              </p:cNvPr>
              <p:cNvSpPr/>
              <p:nvPr/>
            </p:nvSpPr>
            <p:spPr>
              <a:xfrm>
                <a:off x="4586991" y="3254177"/>
                <a:ext cx="1509009" cy="313547"/>
              </a:xfrm>
              <a:custGeom>
                <a:avLst/>
                <a:gdLst>
                  <a:gd name="connsiteX0" fmla="*/ 0 w 822036"/>
                  <a:gd name="connsiteY0" fmla="*/ 472782 h 490768"/>
                  <a:gd name="connsiteX1" fmla="*/ 203200 w 822036"/>
                  <a:gd name="connsiteY1" fmla="*/ 463546 h 490768"/>
                  <a:gd name="connsiteX2" fmla="*/ 341745 w 822036"/>
                  <a:gd name="connsiteY2" fmla="*/ 214164 h 490768"/>
                  <a:gd name="connsiteX3" fmla="*/ 415636 w 822036"/>
                  <a:gd name="connsiteY3" fmla="*/ 47910 h 490768"/>
                  <a:gd name="connsiteX4" fmla="*/ 480291 w 822036"/>
                  <a:gd name="connsiteY4" fmla="*/ 1728 h 490768"/>
                  <a:gd name="connsiteX5" fmla="*/ 544945 w 822036"/>
                  <a:gd name="connsiteY5" fmla="*/ 94091 h 490768"/>
                  <a:gd name="connsiteX6" fmla="*/ 674254 w 822036"/>
                  <a:gd name="connsiteY6" fmla="*/ 371182 h 490768"/>
                  <a:gd name="connsiteX7" fmla="*/ 748145 w 822036"/>
                  <a:gd name="connsiteY7" fmla="*/ 472782 h 490768"/>
                  <a:gd name="connsiteX8" fmla="*/ 822036 w 822036"/>
                  <a:gd name="connsiteY8" fmla="*/ 472782 h 490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2036" h="490768">
                    <a:moveTo>
                      <a:pt x="0" y="472782"/>
                    </a:moveTo>
                    <a:cubicBezTo>
                      <a:pt x="73121" y="489715"/>
                      <a:pt x="146243" y="506649"/>
                      <a:pt x="203200" y="463546"/>
                    </a:cubicBezTo>
                    <a:cubicBezTo>
                      <a:pt x="260157" y="420443"/>
                      <a:pt x="306339" y="283437"/>
                      <a:pt x="341745" y="214164"/>
                    </a:cubicBezTo>
                    <a:cubicBezTo>
                      <a:pt x="377151" y="144891"/>
                      <a:pt x="392545" y="83316"/>
                      <a:pt x="415636" y="47910"/>
                    </a:cubicBezTo>
                    <a:cubicBezTo>
                      <a:pt x="438727" y="12504"/>
                      <a:pt x="458740" y="-5969"/>
                      <a:pt x="480291" y="1728"/>
                    </a:cubicBezTo>
                    <a:cubicBezTo>
                      <a:pt x="501843" y="9425"/>
                      <a:pt x="512618" y="32515"/>
                      <a:pt x="544945" y="94091"/>
                    </a:cubicBezTo>
                    <a:cubicBezTo>
                      <a:pt x="577272" y="155667"/>
                      <a:pt x="640387" y="308067"/>
                      <a:pt x="674254" y="371182"/>
                    </a:cubicBezTo>
                    <a:cubicBezTo>
                      <a:pt x="708121" y="434297"/>
                      <a:pt x="723515" y="455849"/>
                      <a:pt x="748145" y="472782"/>
                    </a:cubicBezTo>
                    <a:cubicBezTo>
                      <a:pt x="772775" y="489715"/>
                      <a:pt x="797405" y="481248"/>
                      <a:pt x="822036" y="472782"/>
                    </a:cubicBezTo>
                  </a:path>
                </a:pathLst>
              </a:custGeom>
              <a:solidFill>
                <a:srgbClr val="3988CF">
                  <a:alpha val="30196"/>
                </a:srgb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C8B3BF50-F583-AE9A-9B48-3D8270EEC1F3}"/>
                  </a:ext>
                </a:extLst>
              </p:cNvPr>
              <p:cNvSpPr/>
              <p:nvPr/>
            </p:nvSpPr>
            <p:spPr>
              <a:xfrm>
                <a:off x="1774589" y="3255398"/>
                <a:ext cx="1313609" cy="313547"/>
              </a:xfrm>
              <a:custGeom>
                <a:avLst/>
                <a:gdLst>
                  <a:gd name="connsiteX0" fmla="*/ 0 w 822036"/>
                  <a:gd name="connsiteY0" fmla="*/ 472782 h 490768"/>
                  <a:gd name="connsiteX1" fmla="*/ 203200 w 822036"/>
                  <a:gd name="connsiteY1" fmla="*/ 463546 h 490768"/>
                  <a:gd name="connsiteX2" fmla="*/ 341745 w 822036"/>
                  <a:gd name="connsiteY2" fmla="*/ 214164 h 490768"/>
                  <a:gd name="connsiteX3" fmla="*/ 415636 w 822036"/>
                  <a:gd name="connsiteY3" fmla="*/ 47910 h 490768"/>
                  <a:gd name="connsiteX4" fmla="*/ 480291 w 822036"/>
                  <a:gd name="connsiteY4" fmla="*/ 1728 h 490768"/>
                  <a:gd name="connsiteX5" fmla="*/ 544945 w 822036"/>
                  <a:gd name="connsiteY5" fmla="*/ 94091 h 490768"/>
                  <a:gd name="connsiteX6" fmla="*/ 674254 w 822036"/>
                  <a:gd name="connsiteY6" fmla="*/ 371182 h 490768"/>
                  <a:gd name="connsiteX7" fmla="*/ 748145 w 822036"/>
                  <a:gd name="connsiteY7" fmla="*/ 472782 h 490768"/>
                  <a:gd name="connsiteX8" fmla="*/ 822036 w 822036"/>
                  <a:gd name="connsiteY8" fmla="*/ 472782 h 490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2036" h="490768">
                    <a:moveTo>
                      <a:pt x="0" y="472782"/>
                    </a:moveTo>
                    <a:cubicBezTo>
                      <a:pt x="73121" y="489715"/>
                      <a:pt x="146243" y="506649"/>
                      <a:pt x="203200" y="463546"/>
                    </a:cubicBezTo>
                    <a:cubicBezTo>
                      <a:pt x="260157" y="420443"/>
                      <a:pt x="306339" y="283437"/>
                      <a:pt x="341745" y="214164"/>
                    </a:cubicBezTo>
                    <a:cubicBezTo>
                      <a:pt x="377151" y="144891"/>
                      <a:pt x="392545" y="83316"/>
                      <a:pt x="415636" y="47910"/>
                    </a:cubicBezTo>
                    <a:cubicBezTo>
                      <a:pt x="438727" y="12504"/>
                      <a:pt x="458740" y="-5969"/>
                      <a:pt x="480291" y="1728"/>
                    </a:cubicBezTo>
                    <a:cubicBezTo>
                      <a:pt x="501843" y="9425"/>
                      <a:pt x="512618" y="32515"/>
                      <a:pt x="544945" y="94091"/>
                    </a:cubicBezTo>
                    <a:cubicBezTo>
                      <a:pt x="577272" y="155667"/>
                      <a:pt x="640387" y="308067"/>
                      <a:pt x="674254" y="371182"/>
                    </a:cubicBezTo>
                    <a:cubicBezTo>
                      <a:pt x="708121" y="434297"/>
                      <a:pt x="723515" y="455849"/>
                      <a:pt x="748145" y="472782"/>
                    </a:cubicBezTo>
                    <a:cubicBezTo>
                      <a:pt x="772775" y="489715"/>
                      <a:pt x="797405" y="481248"/>
                      <a:pt x="822036" y="472782"/>
                    </a:cubicBezTo>
                  </a:path>
                </a:pathLst>
              </a:custGeom>
              <a:solidFill>
                <a:srgbClr val="3988CF">
                  <a:alpha val="30196"/>
                </a:srgb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487C4429-8F78-C594-59D3-0A6C8E4ADA82}"/>
                  </a:ext>
                </a:extLst>
              </p:cNvPr>
              <p:cNvSpPr/>
              <p:nvPr/>
            </p:nvSpPr>
            <p:spPr>
              <a:xfrm>
                <a:off x="2243198" y="3248552"/>
                <a:ext cx="1313609" cy="313547"/>
              </a:xfrm>
              <a:custGeom>
                <a:avLst/>
                <a:gdLst>
                  <a:gd name="connsiteX0" fmla="*/ 0 w 822036"/>
                  <a:gd name="connsiteY0" fmla="*/ 472782 h 490768"/>
                  <a:gd name="connsiteX1" fmla="*/ 203200 w 822036"/>
                  <a:gd name="connsiteY1" fmla="*/ 463546 h 490768"/>
                  <a:gd name="connsiteX2" fmla="*/ 341745 w 822036"/>
                  <a:gd name="connsiteY2" fmla="*/ 214164 h 490768"/>
                  <a:gd name="connsiteX3" fmla="*/ 415636 w 822036"/>
                  <a:gd name="connsiteY3" fmla="*/ 47910 h 490768"/>
                  <a:gd name="connsiteX4" fmla="*/ 480291 w 822036"/>
                  <a:gd name="connsiteY4" fmla="*/ 1728 h 490768"/>
                  <a:gd name="connsiteX5" fmla="*/ 544945 w 822036"/>
                  <a:gd name="connsiteY5" fmla="*/ 94091 h 490768"/>
                  <a:gd name="connsiteX6" fmla="*/ 674254 w 822036"/>
                  <a:gd name="connsiteY6" fmla="*/ 371182 h 490768"/>
                  <a:gd name="connsiteX7" fmla="*/ 748145 w 822036"/>
                  <a:gd name="connsiteY7" fmla="*/ 472782 h 490768"/>
                  <a:gd name="connsiteX8" fmla="*/ 822036 w 822036"/>
                  <a:gd name="connsiteY8" fmla="*/ 472782 h 490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2036" h="490768">
                    <a:moveTo>
                      <a:pt x="0" y="472782"/>
                    </a:moveTo>
                    <a:cubicBezTo>
                      <a:pt x="73121" y="489715"/>
                      <a:pt x="146243" y="506649"/>
                      <a:pt x="203200" y="463546"/>
                    </a:cubicBezTo>
                    <a:cubicBezTo>
                      <a:pt x="260157" y="420443"/>
                      <a:pt x="306339" y="283437"/>
                      <a:pt x="341745" y="214164"/>
                    </a:cubicBezTo>
                    <a:cubicBezTo>
                      <a:pt x="377151" y="144891"/>
                      <a:pt x="392545" y="83316"/>
                      <a:pt x="415636" y="47910"/>
                    </a:cubicBezTo>
                    <a:cubicBezTo>
                      <a:pt x="438727" y="12504"/>
                      <a:pt x="458740" y="-5969"/>
                      <a:pt x="480291" y="1728"/>
                    </a:cubicBezTo>
                    <a:cubicBezTo>
                      <a:pt x="501843" y="9425"/>
                      <a:pt x="512618" y="32515"/>
                      <a:pt x="544945" y="94091"/>
                    </a:cubicBezTo>
                    <a:cubicBezTo>
                      <a:pt x="577272" y="155667"/>
                      <a:pt x="640387" y="308067"/>
                      <a:pt x="674254" y="371182"/>
                    </a:cubicBezTo>
                    <a:cubicBezTo>
                      <a:pt x="708121" y="434297"/>
                      <a:pt x="723515" y="455849"/>
                      <a:pt x="748145" y="472782"/>
                    </a:cubicBezTo>
                    <a:cubicBezTo>
                      <a:pt x="772775" y="489715"/>
                      <a:pt x="797405" y="481248"/>
                      <a:pt x="822036" y="472782"/>
                    </a:cubicBezTo>
                  </a:path>
                </a:pathLst>
              </a:custGeom>
              <a:solidFill>
                <a:srgbClr val="3988CF">
                  <a:alpha val="30196"/>
                </a:srgb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66FF644D-03FC-011D-F5D2-1D9508949EEF}"/>
                  </a:ext>
                </a:extLst>
              </p:cNvPr>
              <p:cNvSpPr/>
              <p:nvPr/>
            </p:nvSpPr>
            <p:spPr>
              <a:xfrm>
                <a:off x="2738456" y="3269143"/>
                <a:ext cx="1313609" cy="313547"/>
              </a:xfrm>
              <a:custGeom>
                <a:avLst/>
                <a:gdLst>
                  <a:gd name="connsiteX0" fmla="*/ 0 w 822036"/>
                  <a:gd name="connsiteY0" fmla="*/ 472782 h 490768"/>
                  <a:gd name="connsiteX1" fmla="*/ 203200 w 822036"/>
                  <a:gd name="connsiteY1" fmla="*/ 463546 h 490768"/>
                  <a:gd name="connsiteX2" fmla="*/ 341745 w 822036"/>
                  <a:gd name="connsiteY2" fmla="*/ 214164 h 490768"/>
                  <a:gd name="connsiteX3" fmla="*/ 415636 w 822036"/>
                  <a:gd name="connsiteY3" fmla="*/ 47910 h 490768"/>
                  <a:gd name="connsiteX4" fmla="*/ 480291 w 822036"/>
                  <a:gd name="connsiteY4" fmla="*/ 1728 h 490768"/>
                  <a:gd name="connsiteX5" fmla="*/ 544945 w 822036"/>
                  <a:gd name="connsiteY5" fmla="*/ 94091 h 490768"/>
                  <a:gd name="connsiteX6" fmla="*/ 674254 w 822036"/>
                  <a:gd name="connsiteY6" fmla="*/ 371182 h 490768"/>
                  <a:gd name="connsiteX7" fmla="*/ 748145 w 822036"/>
                  <a:gd name="connsiteY7" fmla="*/ 472782 h 490768"/>
                  <a:gd name="connsiteX8" fmla="*/ 822036 w 822036"/>
                  <a:gd name="connsiteY8" fmla="*/ 472782 h 490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2036" h="490768">
                    <a:moveTo>
                      <a:pt x="0" y="472782"/>
                    </a:moveTo>
                    <a:cubicBezTo>
                      <a:pt x="73121" y="489715"/>
                      <a:pt x="146243" y="506649"/>
                      <a:pt x="203200" y="463546"/>
                    </a:cubicBezTo>
                    <a:cubicBezTo>
                      <a:pt x="260157" y="420443"/>
                      <a:pt x="306339" y="283437"/>
                      <a:pt x="341745" y="214164"/>
                    </a:cubicBezTo>
                    <a:cubicBezTo>
                      <a:pt x="377151" y="144891"/>
                      <a:pt x="392545" y="83316"/>
                      <a:pt x="415636" y="47910"/>
                    </a:cubicBezTo>
                    <a:cubicBezTo>
                      <a:pt x="438727" y="12504"/>
                      <a:pt x="458740" y="-5969"/>
                      <a:pt x="480291" y="1728"/>
                    </a:cubicBezTo>
                    <a:cubicBezTo>
                      <a:pt x="501843" y="9425"/>
                      <a:pt x="512618" y="32515"/>
                      <a:pt x="544945" y="94091"/>
                    </a:cubicBezTo>
                    <a:cubicBezTo>
                      <a:pt x="577272" y="155667"/>
                      <a:pt x="640387" y="308067"/>
                      <a:pt x="674254" y="371182"/>
                    </a:cubicBezTo>
                    <a:cubicBezTo>
                      <a:pt x="708121" y="434297"/>
                      <a:pt x="723515" y="455849"/>
                      <a:pt x="748145" y="472782"/>
                    </a:cubicBezTo>
                    <a:cubicBezTo>
                      <a:pt x="772775" y="489715"/>
                      <a:pt x="797405" y="481248"/>
                      <a:pt x="822036" y="472782"/>
                    </a:cubicBezTo>
                  </a:path>
                </a:pathLst>
              </a:custGeom>
              <a:solidFill>
                <a:srgbClr val="3988CF">
                  <a:alpha val="30196"/>
                </a:srgb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B7A4B3C1-AC5A-1FD9-696D-4D4BC82F369F}"/>
                  </a:ext>
                </a:extLst>
              </p:cNvPr>
              <p:cNvSpPr/>
              <p:nvPr/>
            </p:nvSpPr>
            <p:spPr>
              <a:xfrm>
                <a:off x="938490" y="3269143"/>
                <a:ext cx="1313609" cy="313547"/>
              </a:xfrm>
              <a:custGeom>
                <a:avLst/>
                <a:gdLst>
                  <a:gd name="connsiteX0" fmla="*/ 0 w 822036"/>
                  <a:gd name="connsiteY0" fmla="*/ 472782 h 490768"/>
                  <a:gd name="connsiteX1" fmla="*/ 203200 w 822036"/>
                  <a:gd name="connsiteY1" fmla="*/ 463546 h 490768"/>
                  <a:gd name="connsiteX2" fmla="*/ 341745 w 822036"/>
                  <a:gd name="connsiteY2" fmla="*/ 214164 h 490768"/>
                  <a:gd name="connsiteX3" fmla="*/ 415636 w 822036"/>
                  <a:gd name="connsiteY3" fmla="*/ 47910 h 490768"/>
                  <a:gd name="connsiteX4" fmla="*/ 480291 w 822036"/>
                  <a:gd name="connsiteY4" fmla="*/ 1728 h 490768"/>
                  <a:gd name="connsiteX5" fmla="*/ 544945 w 822036"/>
                  <a:gd name="connsiteY5" fmla="*/ 94091 h 490768"/>
                  <a:gd name="connsiteX6" fmla="*/ 674254 w 822036"/>
                  <a:gd name="connsiteY6" fmla="*/ 371182 h 490768"/>
                  <a:gd name="connsiteX7" fmla="*/ 748145 w 822036"/>
                  <a:gd name="connsiteY7" fmla="*/ 472782 h 490768"/>
                  <a:gd name="connsiteX8" fmla="*/ 822036 w 822036"/>
                  <a:gd name="connsiteY8" fmla="*/ 472782 h 490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2036" h="490768">
                    <a:moveTo>
                      <a:pt x="0" y="472782"/>
                    </a:moveTo>
                    <a:cubicBezTo>
                      <a:pt x="73121" y="489715"/>
                      <a:pt x="146243" y="506649"/>
                      <a:pt x="203200" y="463546"/>
                    </a:cubicBezTo>
                    <a:cubicBezTo>
                      <a:pt x="260157" y="420443"/>
                      <a:pt x="306339" y="283437"/>
                      <a:pt x="341745" y="214164"/>
                    </a:cubicBezTo>
                    <a:cubicBezTo>
                      <a:pt x="377151" y="144891"/>
                      <a:pt x="392545" y="83316"/>
                      <a:pt x="415636" y="47910"/>
                    </a:cubicBezTo>
                    <a:cubicBezTo>
                      <a:pt x="438727" y="12504"/>
                      <a:pt x="458740" y="-5969"/>
                      <a:pt x="480291" y="1728"/>
                    </a:cubicBezTo>
                    <a:cubicBezTo>
                      <a:pt x="501843" y="9425"/>
                      <a:pt x="512618" y="32515"/>
                      <a:pt x="544945" y="94091"/>
                    </a:cubicBezTo>
                    <a:cubicBezTo>
                      <a:pt x="577272" y="155667"/>
                      <a:pt x="640387" y="308067"/>
                      <a:pt x="674254" y="371182"/>
                    </a:cubicBezTo>
                    <a:cubicBezTo>
                      <a:pt x="708121" y="434297"/>
                      <a:pt x="723515" y="455849"/>
                      <a:pt x="748145" y="472782"/>
                    </a:cubicBezTo>
                    <a:cubicBezTo>
                      <a:pt x="772775" y="489715"/>
                      <a:pt x="797405" y="481248"/>
                      <a:pt x="822036" y="472782"/>
                    </a:cubicBezTo>
                  </a:path>
                </a:pathLst>
              </a:custGeom>
              <a:solidFill>
                <a:srgbClr val="3988CF">
                  <a:alpha val="30196"/>
                </a:srgb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75" name="Picture 74">
            <a:extLst>
              <a:ext uri="{FF2B5EF4-FFF2-40B4-BE49-F238E27FC236}">
                <a16:creationId xmlns:a16="http://schemas.microsoft.com/office/drawing/2014/main" id="{3D37472A-6BF1-FA7B-A962-A2E6D815280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3572" y="2686337"/>
            <a:ext cx="858593" cy="257577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564268A4-C13E-03A6-40BC-24371622759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50783" y="2690215"/>
            <a:ext cx="2395494" cy="2773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C606DB2-60A6-BD76-2243-A36D5542224D}"/>
              </a:ext>
            </a:extLst>
          </p:cNvPr>
          <p:cNvSpPr txBox="1"/>
          <p:nvPr/>
        </p:nvSpPr>
        <p:spPr>
          <a:xfrm>
            <a:off x="1314440" y="4962203"/>
            <a:ext cx="6371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Latent space keep </a:t>
            </a:r>
            <a:r>
              <a:rPr lang="en-US" altLang="zh-TW" dirty="0">
                <a:solidFill>
                  <a:srgbClr val="FF0000"/>
                </a:solidFill>
                <a:latin typeface="Arial Rounded MT Bold" panose="020F0704030504030204" pitchFamily="34" charset="77"/>
                <a:sym typeface="Wingdings" pitchFamily="2" charset="2"/>
              </a:rPr>
              <a:t>semantic </a:t>
            </a:r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meaning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E859AC65-92E0-4B52-F2B2-37848C19CE28}"/>
              </a:ext>
            </a:extLst>
          </p:cNvPr>
          <p:cNvSpPr/>
          <p:nvPr/>
        </p:nvSpPr>
        <p:spPr>
          <a:xfrm>
            <a:off x="981471" y="5006722"/>
            <a:ext cx="280293" cy="280293"/>
          </a:xfrm>
          <a:prstGeom prst="mathPlus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D91A1FD-ABEC-BA6B-D1FD-FE5356C5D756}"/>
              </a:ext>
            </a:extLst>
          </p:cNvPr>
          <p:cNvGrpSpPr/>
          <p:nvPr/>
        </p:nvGrpSpPr>
        <p:grpSpPr>
          <a:xfrm>
            <a:off x="838153" y="1634595"/>
            <a:ext cx="5749391" cy="369332"/>
            <a:chOff x="838153" y="1634595"/>
            <a:chExt cx="5749391" cy="36933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A7B2947-2D9F-840F-AE8F-6E436C1A621F}"/>
                </a:ext>
              </a:extLst>
            </p:cNvPr>
            <p:cNvSpPr txBox="1"/>
            <p:nvPr/>
          </p:nvSpPr>
          <p:spPr>
            <a:xfrm>
              <a:off x="838153" y="1634595"/>
              <a:ext cx="57493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latin typeface="Arial Rounded MT Bold" panose="020F0704030504030204" pitchFamily="34" charset="77"/>
                  <a:sym typeface="Wingdings" pitchFamily="2" charset="2"/>
                </a:rPr>
                <a:t>Match these       distribution to a Gaussian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2F65A13-7A8B-4268-F6D1-AF784966AA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387765" y="1727970"/>
              <a:ext cx="182582" cy="182582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83195CF8-FC5D-1F26-FD0E-14929A3923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91590" y="1727970"/>
              <a:ext cx="431733" cy="2145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358545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DAFE5-67E3-47ED-8CAE-CA53F105F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7C69862-EBF0-C4BB-25FC-9E2924529278}"/>
              </a:ext>
            </a:extLst>
          </p:cNvPr>
          <p:cNvSpPr txBox="1"/>
          <p:nvPr/>
        </p:nvSpPr>
        <p:spPr>
          <a:xfrm>
            <a:off x="276410" y="260293"/>
            <a:ext cx="2800422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VAE Prior and KL Loss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B64C711A-4B54-B826-B7B6-E3C9BBCDA0D3}"/>
              </a:ext>
            </a:extLst>
          </p:cNvPr>
          <p:cNvSpPr txBox="1"/>
          <p:nvPr/>
        </p:nvSpPr>
        <p:spPr>
          <a:xfrm>
            <a:off x="838153" y="1132110"/>
            <a:ext cx="5396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How do we guarantee overlap? 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C707B6F9-2B0B-2561-5E23-6BA5D86FE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235" y="3683272"/>
            <a:ext cx="3005060" cy="257576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BA643843-AEAF-5A63-798F-03763FAAEC38}"/>
              </a:ext>
            </a:extLst>
          </p:cNvPr>
          <p:cNvSpPr txBox="1"/>
          <p:nvPr/>
        </p:nvSpPr>
        <p:spPr>
          <a:xfrm>
            <a:off x="1286767" y="4446326"/>
            <a:ext cx="7751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Introduce </a:t>
            </a:r>
            <a:r>
              <a:rPr lang="en-US" altLang="zh-TW" dirty="0">
                <a:solidFill>
                  <a:srgbClr val="FF0000"/>
                </a:solidFill>
                <a:latin typeface="Arial Rounded MT Bold" panose="020F0704030504030204" pitchFamily="34" charset="77"/>
                <a:sym typeface="Wingdings" pitchFamily="2" charset="2"/>
              </a:rPr>
              <a:t>overlap</a:t>
            </a:r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 between distributions		and  </a:t>
            </a:r>
          </a:p>
        </p:txBody>
      </p:sp>
      <p:sp>
        <p:nvSpPr>
          <p:cNvPr id="55" name="Arrow: Right 54">
            <a:extLst>
              <a:ext uri="{FF2B5EF4-FFF2-40B4-BE49-F238E27FC236}">
                <a16:creationId xmlns:a16="http://schemas.microsoft.com/office/drawing/2014/main" id="{9D87866F-5C9B-DBF5-D99E-11BE8A0050EF}"/>
              </a:ext>
            </a:extLst>
          </p:cNvPr>
          <p:cNvSpPr/>
          <p:nvPr/>
        </p:nvSpPr>
        <p:spPr>
          <a:xfrm>
            <a:off x="1025073" y="4569079"/>
            <a:ext cx="193087" cy="178240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EB24802F-1C84-486F-BB67-3336432A1E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2934" y="4541872"/>
            <a:ext cx="818506" cy="232657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9EB232B1-58EE-202D-BA23-868ED8BAE7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5844" y="4541871"/>
            <a:ext cx="818504" cy="232657"/>
          </a:xfrm>
          <a:prstGeom prst="rect">
            <a:avLst/>
          </a:prstGeom>
        </p:spPr>
      </p:pic>
      <p:grpSp>
        <p:nvGrpSpPr>
          <p:cNvPr id="74" name="Group 73">
            <a:extLst>
              <a:ext uri="{FF2B5EF4-FFF2-40B4-BE49-F238E27FC236}">
                <a16:creationId xmlns:a16="http://schemas.microsoft.com/office/drawing/2014/main" id="{1C7B4DB5-0B97-C1D8-8C75-724737AC56BA}"/>
              </a:ext>
            </a:extLst>
          </p:cNvPr>
          <p:cNvGrpSpPr/>
          <p:nvPr/>
        </p:nvGrpSpPr>
        <p:grpSpPr>
          <a:xfrm>
            <a:off x="838152" y="2132508"/>
            <a:ext cx="6728395" cy="369332"/>
            <a:chOff x="838152" y="2132508"/>
            <a:chExt cx="6728395" cy="369332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6A04ED7-9FD6-7E4B-4407-89FEB64EB060}"/>
                </a:ext>
              </a:extLst>
            </p:cNvPr>
            <p:cNvSpPr txBox="1"/>
            <p:nvPr/>
          </p:nvSpPr>
          <p:spPr>
            <a:xfrm>
              <a:off x="838152" y="2132508"/>
              <a:ext cx="67283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latin typeface="Arial Rounded MT Bold" panose="020F0704030504030204" pitchFamily="34" charset="77"/>
                  <a:sym typeface="Wingdings" pitchFamily="2" charset="2"/>
                </a:rPr>
                <a:t>Minimizing the KL-divergence between                 and </a:t>
              </a:r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29A0585B-9FEC-8666-C33C-C3C227DAC0F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61440" y="2203472"/>
              <a:ext cx="431733" cy="214573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BF14E627-DF94-ABBC-0042-0A2CE94BC32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325923" y="2197480"/>
              <a:ext cx="770077" cy="239387"/>
            </a:xfrm>
            <a:prstGeom prst="rect">
              <a:avLst/>
            </a:prstGeom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FB4AEC1-6254-CE89-6155-45DD7024D4EE}"/>
              </a:ext>
            </a:extLst>
          </p:cNvPr>
          <p:cNvGrpSpPr/>
          <p:nvPr/>
        </p:nvGrpSpPr>
        <p:grpSpPr>
          <a:xfrm>
            <a:off x="7225925" y="1830216"/>
            <a:ext cx="3686820" cy="1014003"/>
            <a:chOff x="7225925" y="1830216"/>
            <a:chExt cx="3686820" cy="1014003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B42C9D2B-F8CD-C5AE-3C60-CAF2A66F2131}"/>
                </a:ext>
              </a:extLst>
            </p:cNvPr>
            <p:cNvCxnSpPr>
              <a:cxnSpLocks/>
            </p:cNvCxnSpPr>
            <p:nvPr/>
          </p:nvCxnSpPr>
          <p:spPr>
            <a:xfrm>
              <a:off x="7364543" y="2831341"/>
              <a:ext cx="334823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EBABE91-F168-08E6-3DCE-8B39686D966C}"/>
                </a:ext>
              </a:extLst>
            </p:cNvPr>
            <p:cNvSpPr/>
            <p:nvPr/>
          </p:nvSpPr>
          <p:spPr>
            <a:xfrm>
              <a:off x="9120091" y="2598446"/>
              <a:ext cx="1066097" cy="221517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rgbClr val="3988CF">
                <a:alpha val="30196"/>
              </a:srgb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F23A947-7DAE-61D4-A9D3-271CFDEFF9BC}"/>
                </a:ext>
              </a:extLst>
            </p:cNvPr>
            <p:cNvSpPr/>
            <p:nvPr/>
          </p:nvSpPr>
          <p:spPr>
            <a:xfrm>
              <a:off x="8110610" y="2598446"/>
              <a:ext cx="928050" cy="221517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rgbClr val="3988CF">
                <a:alpha val="30196"/>
              </a:srgb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2B47409-4DF5-8682-E7DA-5B7A12069391}"/>
                </a:ext>
              </a:extLst>
            </p:cNvPr>
            <p:cNvSpPr/>
            <p:nvPr/>
          </p:nvSpPr>
          <p:spPr>
            <a:xfrm>
              <a:off x="8380149" y="2593609"/>
              <a:ext cx="928050" cy="221517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rgbClr val="3988CF">
                <a:alpha val="30196"/>
              </a:srgb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584CA82B-1F7B-A688-CE48-A4A6657F1823}"/>
                </a:ext>
              </a:extLst>
            </p:cNvPr>
            <p:cNvSpPr/>
            <p:nvPr/>
          </p:nvSpPr>
          <p:spPr>
            <a:xfrm>
              <a:off x="8560776" y="2608156"/>
              <a:ext cx="928050" cy="221517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rgbClr val="3988CF">
                <a:alpha val="30196"/>
              </a:srgb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06DF18C-B918-1619-0AE4-BA87EC31F05A}"/>
                </a:ext>
              </a:extLst>
            </p:cNvPr>
            <p:cNvSpPr/>
            <p:nvPr/>
          </p:nvSpPr>
          <p:spPr>
            <a:xfrm>
              <a:off x="7646371" y="2612993"/>
              <a:ext cx="928050" cy="221517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rgbClr val="3988CF">
                <a:alpha val="30196"/>
              </a:srgb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EA8873D-22B5-EE5E-7738-AA41906F94B4}"/>
                </a:ext>
              </a:extLst>
            </p:cNvPr>
            <p:cNvSpPr/>
            <p:nvPr/>
          </p:nvSpPr>
          <p:spPr>
            <a:xfrm>
              <a:off x="7225925" y="2003927"/>
              <a:ext cx="2992459" cy="840292"/>
            </a:xfrm>
            <a:custGeom>
              <a:avLst/>
              <a:gdLst>
                <a:gd name="connsiteX0" fmla="*/ 0 w 822036"/>
                <a:gd name="connsiteY0" fmla="*/ 472782 h 490768"/>
                <a:gd name="connsiteX1" fmla="*/ 203200 w 822036"/>
                <a:gd name="connsiteY1" fmla="*/ 463546 h 490768"/>
                <a:gd name="connsiteX2" fmla="*/ 341745 w 822036"/>
                <a:gd name="connsiteY2" fmla="*/ 214164 h 490768"/>
                <a:gd name="connsiteX3" fmla="*/ 415636 w 822036"/>
                <a:gd name="connsiteY3" fmla="*/ 47910 h 490768"/>
                <a:gd name="connsiteX4" fmla="*/ 480291 w 822036"/>
                <a:gd name="connsiteY4" fmla="*/ 1728 h 490768"/>
                <a:gd name="connsiteX5" fmla="*/ 544945 w 822036"/>
                <a:gd name="connsiteY5" fmla="*/ 94091 h 490768"/>
                <a:gd name="connsiteX6" fmla="*/ 674254 w 822036"/>
                <a:gd name="connsiteY6" fmla="*/ 371182 h 490768"/>
                <a:gd name="connsiteX7" fmla="*/ 748145 w 822036"/>
                <a:gd name="connsiteY7" fmla="*/ 472782 h 490768"/>
                <a:gd name="connsiteX8" fmla="*/ 822036 w 822036"/>
                <a:gd name="connsiteY8" fmla="*/ 472782 h 49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2036" h="490768">
                  <a:moveTo>
                    <a:pt x="0" y="472782"/>
                  </a:moveTo>
                  <a:cubicBezTo>
                    <a:pt x="73121" y="489715"/>
                    <a:pt x="146243" y="506649"/>
                    <a:pt x="203200" y="463546"/>
                  </a:cubicBezTo>
                  <a:cubicBezTo>
                    <a:pt x="260157" y="420443"/>
                    <a:pt x="306339" y="283437"/>
                    <a:pt x="341745" y="214164"/>
                  </a:cubicBezTo>
                  <a:cubicBezTo>
                    <a:pt x="377151" y="144891"/>
                    <a:pt x="392545" y="83316"/>
                    <a:pt x="415636" y="47910"/>
                  </a:cubicBezTo>
                  <a:cubicBezTo>
                    <a:pt x="438727" y="12504"/>
                    <a:pt x="458740" y="-5969"/>
                    <a:pt x="480291" y="1728"/>
                  </a:cubicBezTo>
                  <a:cubicBezTo>
                    <a:pt x="501843" y="9425"/>
                    <a:pt x="512618" y="32515"/>
                    <a:pt x="544945" y="94091"/>
                  </a:cubicBezTo>
                  <a:cubicBezTo>
                    <a:pt x="577272" y="155667"/>
                    <a:pt x="640387" y="308067"/>
                    <a:pt x="674254" y="371182"/>
                  </a:cubicBezTo>
                  <a:cubicBezTo>
                    <a:pt x="708121" y="434297"/>
                    <a:pt x="723515" y="455849"/>
                    <a:pt x="748145" y="472782"/>
                  </a:cubicBezTo>
                  <a:cubicBezTo>
                    <a:pt x="772775" y="489715"/>
                    <a:pt x="797405" y="481248"/>
                    <a:pt x="822036" y="472782"/>
                  </a:cubicBezTo>
                </a:path>
              </a:pathLst>
            </a:custGeom>
            <a:solidFill>
              <a:srgbClr val="70AD47">
                <a:alpha val="30196"/>
              </a:srgbClr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16B6EB15-402D-79C6-0B87-9B5F307BE76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0142668" y="2502502"/>
              <a:ext cx="770077" cy="239387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AB719704-20CB-3EED-AF33-D9337F2A1B8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chemeClr val="accent6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378332" y="1830216"/>
              <a:ext cx="1528671" cy="259479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FC7FC34-CA62-6864-91D3-86E898AA2AA2}"/>
              </a:ext>
            </a:extLst>
          </p:cNvPr>
          <p:cNvGrpSpPr/>
          <p:nvPr/>
        </p:nvGrpSpPr>
        <p:grpSpPr>
          <a:xfrm>
            <a:off x="7193173" y="687285"/>
            <a:ext cx="3713830" cy="774063"/>
            <a:chOff x="938490" y="2515386"/>
            <a:chExt cx="5157510" cy="107496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844C0182-DF0E-D538-BEE0-DD96D9A78B5D}"/>
                </a:ext>
              </a:extLst>
            </p:cNvPr>
            <p:cNvGrpSpPr/>
            <p:nvPr/>
          </p:nvGrpSpPr>
          <p:grpSpPr>
            <a:xfrm>
              <a:off x="1091584" y="2515386"/>
              <a:ext cx="4739263" cy="1074965"/>
              <a:chOff x="963173" y="3460090"/>
              <a:chExt cx="6285578" cy="1425702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CB14A284-F44C-0F6D-D528-586A9394F1C4}"/>
                  </a:ext>
                </a:extLst>
              </p:cNvPr>
              <p:cNvSpPr/>
              <p:nvPr/>
            </p:nvSpPr>
            <p:spPr>
              <a:xfrm>
                <a:off x="963173" y="3490570"/>
                <a:ext cx="619760" cy="61976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BBD99983-5005-332A-AC4F-99E72C3B3A5A}"/>
                  </a:ext>
                </a:extLst>
              </p:cNvPr>
              <p:cNvSpPr/>
              <p:nvPr/>
            </p:nvSpPr>
            <p:spPr>
              <a:xfrm>
                <a:off x="2141733" y="3490570"/>
                <a:ext cx="619760" cy="61976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Moon 48">
                <a:extLst>
                  <a:ext uri="{FF2B5EF4-FFF2-40B4-BE49-F238E27FC236}">
                    <a16:creationId xmlns:a16="http://schemas.microsoft.com/office/drawing/2014/main" id="{C530B484-B2D0-3FB3-48BF-191DE8B26391}"/>
                  </a:ext>
                </a:extLst>
              </p:cNvPr>
              <p:cNvSpPr/>
              <p:nvPr/>
            </p:nvSpPr>
            <p:spPr>
              <a:xfrm>
                <a:off x="2141733" y="3480410"/>
                <a:ext cx="333885" cy="619760"/>
              </a:xfrm>
              <a:prstGeom prst="moon">
                <a:avLst>
                  <a:gd name="adj" fmla="val 33356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57B8C9ED-EE72-F8BB-3F0B-03DE91228D8E}"/>
                  </a:ext>
                </a:extLst>
              </p:cNvPr>
              <p:cNvSpPr/>
              <p:nvPr/>
            </p:nvSpPr>
            <p:spPr>
              <a:xfrm>
                <a:off x="3320293" y="3470250"/>
                <a:ext cx="619760" cy="61976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Moon 51">
                <a:extLst>
                  <a:ext uri="{FF2B5EF4-FFF2-40B4-BE49-F238E27FC236}">
                    <a16:creationId xmlns:a16="http://schemas.microsoft.com/office/drawing/2014/main" id="{7B923A5A-6484-47B3-26A2-F237A8E487B9}"/>
                  </a:ext>
                </a:extLst>
              </p:cNvPr>
              <p:cNvSpPr/>
              <p:nvPr/>
            </p:nvSpPr>
            <p:spPr>
              <a:xfrm>
                <a:off x="3320293" y="3460090"/>
                <a:ext cx="333885" cy="619760"/>
              </a:xfrm>
              <a:prstGeom prst="moon">
                <a:avLst>
                  <a:gd name="adj" fmla="val 79001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F5CCF8B3-1634-51FB-DCED-906BB5938C14}"/>
                  </a:ext>
                </a:extLst>
              </p:cNvPr>
              <p:cNvSpPr/>
              <p:nvPr/>
            </p:nvSpPr>
            <p:spPr>
              <a:xfrm>
                <a:off x="5733639" y="3470250"/>
                <a:ext cx="619760" cy="61976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BB58EA29-589E-9447-9624-31D4C5424D86}"/>
                  </a:ext>
                </a:extLst>
              </p:cNvPr>
              <p:cNvSpPr/>
              <p:nvPr/>
            </p:nvSpPr>
            <p:spPr>
              <a:xfrm>
                <a:off x="4567606" y="3490570"/>
                <a:ext cx="619760" cy="61976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Moon 55">
                <a:extLst>
                  <a:ext uri="{FF2B5EF4-FFF2-40B4-BE49-F238E27FC236}">
                    <a16:creationId xmlns:a16="http://schemas.microsoft.com/office/drawing/2014/main" id="{83BE996B-A090-A970-0F79-7A77C9A0CC1E}"/>
                  </a:ext>
                </a:extLst>
              </p:cNvPr>
              <p:cNvSpPr/>
              <p:nvPr/>
            </p:nvSpPr>
            <p:spPr>
              <a:xfrm>
                <a:off x="4567606" y="3490570"/>
                <a:ext cx="333885" cy="619760"/>
              </a:xfrm>
              <a:prstGeom prst="moon">
                <a:avLst>
                  <a:gd name="adj" fmla="val 69872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BE3C0C52-8DEE-42C2-CDD1-56EBCF1FF0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3173" y="4885792"/>
                <a:ext cx="6285578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Arrow Connector 62">
                <a:extLst>
                  <a:ext uri="{FF2B5EF4-FFF2-40B4-BE49-F238E27FC236}">
                    <a16:creationId xmlns:a16="http://schemas.microsoft.com/office/drawing/2014/main" id="{16995304-00AC-5828-D092-D7F4D659F4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39163" y="4142461"/>
                <a:ext cx="255876" cy="575756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B182FB03-B58E-FEE1-6836-7E4FEB0854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75619" y="4152620"/>
                <a:ext cx="285874" cy="648590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00AE540C-2171-121A-0831-B31F520989A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70983" y="4152620"/>
                <a:ext cx="183195" cy="648590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1E966345-9CAC-33AF-CAC5-BA41882BEE6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32743" y="4232250"/>
                <a:ext cx="644742" cy="616072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1B00339D-5438-F7C2-F933-D1775D6144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33359" y="4232250"/>
                <a:ext cx="833120" cy="568960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D3C46FC6-368D-94A2-B86B-8C93B7F46B75}"/>
                </a:ext>
              </a:extLst>
            </p:cNvPr>
            <p:cNvGrpSpPr/>
            <p:nvPr/>
          </p:nvGrpSpPr>
          <p:grpSpPr>
            <a:xfrm>
              <a:off x="938490" y="3248552"/>
              <a:ext cx="5157510" cy="334138"/>
              <a:chOff x="938490" y="3248552"/>
              <a:chExt cx="5157510" cy="334138"/>
            </a:xfrm>
          </p:grpSpPr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60BB01AA-54FD-230E-8137-1119A6F4A8D6}"/>
                  </a:ext>
                </a:extLst>
              </p:cNvPr>
              <p:cNvSpPr/>
              <p:nvPr/>
            </p:nvSpPr>
            <p:spPr>
              <a:xfrm>
                <a:off x="4586991" y="3254177"/>
                <a:ext cx="1509009" cy="313547"/>
              </a:xfrm>
              <a:custGeom>
                <a:avLst/>
                <a:gdLst>
                  <a:gd name="connsiteX0" fmla="*/ 0 w 822036"/>
                  <a:gd name="connsiteY0" fmla="*/ 472782 h 490768"/>
                  <a:gd name="connsiteX1" fmla="*/ 203200 w 822036"/>
                  <a:gd name="connsiteY1" fmla="*/ 463546 h 490768"/>
                  <a:gd name="connsiteX2" fmla="*/ 341745 w 822036"/>
                  <a:gd name="connsiteY2" fmla="*/ 214164 h 490768"/>
                  <a:gd name="connsiteX3" fmla="*/ 415636 w 822036"/>
                  <a:gd name="connsiteY3" fmla="*/ 47910 h 490768"/>
                  <a:gd name="connsiteX4" fmla="*/ 480291 w 822036"/>
                  <a:gd name="connsiteY4" fmla="*/ 1728 h 490768"/>
                  <a:gd name="connsiteX5" fmla="*/ 544945 w 822036"/>
                  <a:gd name="connsiteY5" fmla="*/ 94091 h 490768"/>
                  <a:gd name="connsiteX6" fmla="*/ 674254 w 822036"/>
                  <a:gd name="connsiteY6" fmla="*/ 371182 h 490768"/>
                  <a:gd name="connsiteX7" fmla="*/ 748145 w 822036"/>
                  <a:gd name="connsiteY7" fmla="*/ 472782 h 490768"/>
                  <a:gd name="connsiteX8" fmla="*/ 822036 w 822036"/>
                  <a:gd name="connsiteY8" fmla="*/ 472782 h 490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2036" h="490768">
                    <a:moveTo>
                      <a:pt x="0" y="472782"/>
                    </a:moveTo>
                    <a:cubicBezTo>
                      <a:pt x="73121" y="489715"/>
                      <a:pt x="146243" y="506649"/>
                      <a:pt x="203200" y="463546"/>
                    </a:cubicBezTo>
                    <a:cubicBezTo>
                      <a:pt x="260157" y="420443"/>
                      <a:pt x="306339" y="283437"/>
                      <a:pt x="341745" y="214164"/>
                    </a:cubicBezTo>
                    <a:cubicBezTo>
                      <a:pt x="377151" y="144891"/>
                      <a:pt x="392545" y="83316"/>
                      <a:pt x="415636" y="47910"/>
                    </a:cubicBezTo>
                    <a:cubicBezTo>
                      <a:pt x="438727" y="12504"/>
                      <a:pt x="458740" y="-5969"/>
                      <a:pt x="480291" y="1728"/>
                    </a:cubicBezTo>
                    <a:cubicBezTo>
                      <a:pt x="501843" y="9425"/>
                      <a:pt x="512618" y="32515"/>
                      <a:pt x="544945" y="94091"/>
                    </a:cubicBezTo>
                    <a:cubicBezTo>
                      <a:pt x="577272" y="155667"/>
                      <a:pt x="640387" y="308067"/>
                      <a:pt x="674254" y="371182"/>
                    </a:cubicBezTo>
                    <a:cubicBezTo>
                      <a:pt x="708121" y="434297"/>
                      <a:pt x="723515" y="455849"/>
                      <a:pt x="748145" y="472782"/>
                    </a:cubicBezTo>
                    <a:cubicBezTo>
                      <a:pt x="772775" y="489715"/>
                      <a:pt x="797405" y="481248"/>
                      <a:pt x="822036" y="472782"/>
                    </a:cubicBezTo>
                  </a:path>
                </a:pathLst>
              </a:custGeom>
              <a:solidFill>
                <a:srgbClr val="3988CF">
                  <a:alpha val="30196"/>
                </a:srgb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C9901063-69F2-7BA0-B565-345D57544ECE}"/>
                  </a:ext>
                </a:extLst>
              </p:cNvPr>
              <p:cNvSpPr/>
              <p:nvPr/>
            </p:nvSpPr>
            <p:spPr>
              <a:xfrm>
                <a:off x="1774589" y="3255398"/>
                <a:ext cx="1313609" cy="313547"/>
              </a:xfrm>
              <a:custGeom>
                <a:avLst/>
                <a:gdLst>
                  <a:gd name="connsiteX0" fmla="*/ 0 w 822036"/>
                  <a:gd name="connsiteY0" fmla="*/ 472782 h 490768"/>
                  <a:gd name="connsiteX1" fmla="*/ 203200 w 822036"/>
                  <a:gd name="connsiteY1" fmla="*/ 463546 h 490768"/>
                  <a:gd name="connsiteX2" fmla="*/ 341745 w 822036"/>
                  <a:gd name="connsiteY2" fmla="*/ 214164 h 490768"/>
                  <a:gd name="connsiteX3" fmla="*/ 415636 w 822036"/>
                  <a:gd name="connsiteY3" fmla="*/ 47910 h 490768"/>
                  <a:gd name="connsiteX4" fmla="*/ 480291 w 822036"/>
                  <a:gd name="connsiteY4" fmla="*/ 1728 h 490768"/>
                  <a:gd name="connsiteX5" fmla="*/ 544945 w 822036"/>
                  <a:gd name="connsiteY5" fmla="*/ 94091 h 490768"/>
                  <a:gd name="connsiteX6" fmla="*/ 674254 w 822036"/>
                  <a:gd name="connsiteY6" fmla="*/ 371182 h 490768"/>
                  <a:gd name="connsiteX7" fmla="*/ 748145 w 822036"/>
                  <a:gd name="connsiteY7" fmla="*/ 472782 h 490768"/>
                  <a:gd name="connsiteX8" fmla="*/ 822036 w 822036"/>
                  <a:gd name="connsiteY8" fmla="*/ 472782 h 490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2036" h="490768">
                    <a:moveTo>
                      <a:pt x="0" y="472782"/>
                    </a:moveTo>
                    <a:cubicBezTo>
                      <a:pt x="73121" y="489715"/>
                      <a:pt x="146243" y="506649"/>
                      <a:pt x="203200" y="463546"/>
                    </a:cubicBezTo>
                    <a:cubicBezTo>
                      <a:pt x="260157" y="420443"/>
                      <a:pt x="306339" y="283437"/>
                      <a:pt x="341745" y="214164"/>
                    </a:cubicBezTo>
                    <a:cubicBezTo>
                      <a:pt x="377151" y="144891"/>
                      <a:pt x="392545" y="83316"/>
                      <a:pt x="415636" y="47910"/>
                    </a:cubicBezTo>
                    <a:cubicBezTo>
                      <a:pt x="438727" y="12504"/>
                      <a:pt x="458740" y="-5969"/>
                      <a:pt x="480291" y="1728"/>
                    </a:cubicBezTo>
                    <a:cubicBezTo>
                      <a:pt x="501843" y="9425"/>
                      <a:pt x="512618" y="32515"/>
                      <a:pt x="544945" y="94091"/>
                    </a:cubicBezTo>
                    <a:cubicBezTo>
                      <a:pt x="577272" y="155667"/>
                      <a:pt x="640387" y="308067"/>
                      <a:pt x="674254" y="371182"/>
                    </a:cubicBezTo>
                    <a:cubicBezTo>
                      <a:pt x="708121" y="434297"/>
                      <a:pt x="723515" y="455849"/>
                      <a:pt x="748145" y="472782"/>
                    </a:cubicBezTo>
                    <a:cubicBezTo>
                      <a:pt x="772775" y="489715"/>
                      <a:pt x="797405" y="481248"/>
                      <a:pt x="822036" y="472782"/>
                    </a:cubicBezTo>
                  </a:path>
                </a:pathLst>
              </a:custGeom>
              <a:solidFill>
                <a:srgbClr val="3988CF">
                  <a:alpha val="30196"/>
                </a:srgb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2F9D1839-283C-6961-627D-8FECB11CEC36}"/>
                  </a:ext>
                </a:extLst>
              </p:cNvPr>
              <p:cNvSpPr/>
              <p:nvPr/>
            </p:nvSpPr>
            <p:spPr>
              <a:xfrm>
                <a:off x="2243198" y="3248552"/>
                <a:ext cx="1313609" cy="313547"/>
              </a:xfrm>
              <a:custGeom>
                <a:avLst/>
                <a:gdLst>
                  <a:gd name="connsiteX0" fmla="*/ 0 w 822036"/>
                  <a:gd name="connsiteY0" fmla="*/ 472782 h 490768"/>
                  <a:gd name="connsiteX1" fmla="*/ 203200 w 822036"/>
                  <a:gd name="connsiteY1" fmla="*/ 463546 h 490768"/>
                  <a:gd name="connsiteX2" fmla="*/ 341745 w 822036"/>
                  <a:gd name="connsiteY2" fmla="*/ 214164 h 490768"/>
                  <a:gd name="connsiteX3" fmla="*/ 415636 w 822036"/>
                  <a:gd name="connsiteY3" fmla="*/ 47910 h 490768"/>
                  <a:gd name="connsiteX4" fmla="*/ 480291 w 822036"/>
                  <a:gd name="connsiteY4" fmla="*/ 1728 h 490768"/>
                  <a:gd name="connsiteX5" fmla="*/ 544945 w 822036"/>
                  <a:gd name="connsiteY5" fmla="*/ 94091 h 490768"/>
                  <a:gd name="connsiteX6" fmla="*/ 674254 w 822036"/>
                  <a:gd name="connsiteY6" fmla="*/ 371182 h 490768"/>
                  <a:gd name="connsiteX7" fmla="*/ 748145 w 822036"/>
                  <a:gd name="connsiteY7" fmla="*/ 472782 h 490768"/>
                  <a:gd name="connsiteX8" fmla="*/ 822036 w 822036"/>
                  <a:gd name="connsiteY8" fmla="*/ 472782 h 490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2036" h="490768">
                    <a:moveTo>
                      <a:pt x="0" y="472782"/>
                    </a:moveTo>
                    <a:cubicBezTo>
                      <a:pt x="73121" y="489715"/>
                      <a:pt x="146243" y="506649"/>
                      <a:pt x="203200" y="463546"/>
                    </a:cubicBezTo>
                    <a:cubicBezTo>
                      <a:pt x="260157" y="420443"/>
                      <a:pt x="306339" y="283437"/>
                      <a:pt x="341745" y="214164"/>
                    </a:cubicBezTo>
                    <a:cubicBezTo>
                      <a:pt x="377151" y="144891"/>
                      <a:pt x="392545" y="83316"/>
                      <a:pt x="415636" y="47910"/>
                    </a:cubicBezTo>
                    <a:cubicBezTo>
                      <a:pt x="438727" y="12504"/>
                      <a:pt x="458740" y="-5969"/>
                      <a:pt x="480291" y="1728"/>
                    </a:cubicBezTo>
                    <a:cubicBezTo>
                      <a:pt x="501843" y="9425"/>
                      <a:pt x="512618" y="32515"/>
                      <a:pt x="544945" y="94091"/>
                    </a:cubicBezTo>
                    <a:cubicBezTo>
                      <a:pt x="577272" y="155667"/>
                      <a:pt x="640387" y="308067"/>
                      <a:pt x="674254" y="371182"/>
                    </a:cubicBezTo>
                    <a:cubicBezTo>
                      <a:pt x="708121" y="434297"/>
                      <a:pt x="723515" y="455849"/>
                      <a:pt x="748145" y="472782"/>
                    </a:cubicBezTo>
                    <a:cubicBezTo>
                      <a:pt x="772775" y="489715"/>
                      <a:pt x="797405" y="481248"/>
                      <a:pt x="822036" y="472782"/>
                    </a:cubicBezTo>
                  </a:path>
                </a:pathLst>
              </a:custGeom>
              <a:solidFill>
                <a:srgbClr val="3988CF">
                  <a:alpha val="30196"/>
                </a:srgb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8A43C779-F71B-CEB8-36E1-EEEF672BD134}"/>
                  </a:ext>
                </a:extLst>
              </p:cNvPr>
              <p:cNvSpPr/>
              <p:nvPr/>
            </p:nvSpPr>
            <p:spPr>
              <a:xfrm>
                <a:off x="2738456" y="3269143"/>
                <a:ext cx="1313609" cy="313547"/>
              </a:xfrm>
              <a:custGeom>
                <a:avLst/>
                <a:gdLst>
                  <a:gd name="connsiteX0" fmla="*/ 0 w 822036"/>
                  <a:gd name="connsiteY0" fmla="*/ 472782 h 490768"/>
                  <a:gd name="connsiteX1" fmla="*/ 203200 w 822036"/>
                  <a:gd name="connsiteY1" fmla="*/ 463546 h 490768"/>
                  <a:gd name="connsiteX2" fmla="*/ 341745 w 822036"/>
                  <a:gd name="connsiteY2" fmla="*/ 214164 h 490768"/>
                  <a:gd name="connsiteX3" fmla="*/ 415636 w 822036"/>
                  <a:gd name="connsiteY3" fmla="*/ 47910 h 490768"/>
                  <a:gd name="connsiteX4" fmla="*/ 480291 w 822036"/>
                  <a:gd name="connsiteY4" fmla="*/ 1728 h 490768"/>
                  <a:gd name="connsiteX5" fmla="*/ 544945 w 822036"/>
                  <a:gd name="connsiteY5" fmla="*/ 94091 h 490768"/>
                  <a:gd name="connsiteX6" fmla="*/ 674254 w 822036"/>
                  <a:gd name="connsiteY6" fmla="*/ 371182 h 490768"/>
                  <a:gd name="connsiteX7" fmla="*/ 748145 w 822036"/>
                  <a:gd name="connsiteY7" fmla="*/ 472782 h 490768"/>
                  <a:gd name="connsiteX8" fmla="*/ 822036 w 822036"/>
                  <a:gd name="connsiteY8" fmla="*/ 472782 h 490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2036" h="490768">
                    <a:moveTo>
                      <a:pt x="0" y="472782"/>
                    </a:moveTo>
                    <a:cubicBezTo>
                      <a:pt x="73121" y="489715"/>
                      <a:pt x="146243" y="506649"/>
                      <a:pt x="203200" y="463546"/>
                    </a:cubicBezTo>
                    <a:cubicBezTo>
                      <a:pt x="260157" y="420443"/>
                      <a:pt x="306339" y="283437"/>
                      <a:pt x="341745" y="214164"/>
                    </a:cubicBezTo>
                    <a:cubicBezTo>
                      <a:pt x="377151" y="144891"/>
                      <a:pt x="392545" y="83316"/>
                      <a:pt x="415636" y="47910"/>
                    </a:cubicBezTo>
                    <a:cubicBezTo>
                      <a:pt x="438727" y="12504"/>
                      <a:pt x="458740" y="-5969"/>
                      <a:pt x="480291" y="1728"/>
                    </a:cubicBezTo>
                    <a:cubicBezTo>
                      <a:pt x="501843" y="9425"/>
                      <a:pt x="512618" y="32515"/>
                      <a:pt x="544945" y="94091"/>
                    </a:cubicBezTo>
                    <a:cubicBezTo>
                      <a:pt x="577272" y="155667"/>
                      <a:pt x="640387" y="308067"/>
                      <a:pt x="674254" y="371182"/>
                    </a:cubicBezTo>
                    <a:cubicBezTo>
                      <a:pt x="708121" y="434297"/>
                      <a:pt x="723515" y="455849"/>
                      <a:pt x="748145" y="472782"/>
                    </a:cubicBezTo>
                    <a:cubicBezTo>
                      <a:pt x="772775" y="489715"/>
                      <a:pt x="797405" y="481248"/>
                      <a:pt x="822036" y="472782"/>
                    </a:cubicBezTo>
                  </a:path>
                </a:pathLst>
              </a:custGeom>
              <a:solidFill>
                <a:srgbClr val="3988CF">
                  <a:alpha val="30196"/>
                </a:srgb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112F24ED-7EF0-2719-36F4-928ED986C21C}"/>
                  </a:ext>
                </a:extLst>
              </p:cNvPr>
              <p:cNvSpPr/>
              <p:nvPr/>
            </p:nvSpPr>
            <p:spPr>
              <a:xfrm>
                <a:off x="938490" y="3269143"/>
                <a:ext cx="1313609" cy="313547"/>
              </a:xfrm>
              <a:custGeom>
                <a:avLst/>
                <a:gdLst>
                  <a:gd name="connsiteX0" fmla="*/ 0 w 822036"/>
                  <a:gd name="connsiteY0" fmla="*/ 472782 h 490768"/>
                  <a:gd name="connsiteX1" fmla="*/ 203200 w 822036"/>
                  <a:gd name="connsiteY1" fmla="*/ 463546 h 490768"/>
                  <a:gd name="connsiteX2" fmla="*/ 341745 w 822036"/>
                  <a:gd name="connsiteY2" fmla="*/ 214164 h 490768"/>
                  <a:gd name="connsiteX3" fmla="*/ 415636 w 822036"/>
                  <a:gd name="connsiteY3" fmla="*/ 47910 h 490768"/>
                  <a:gd name="connsiteX4" fmla="*/ 480291 w 822036"/>
                  <a:gd name="connsiteY4" fmla="*/ 1728 h 490768"/>
                  <a:gd name="connsiteX5" fmla="*/ 544945 w 822036"/>
                  <a:gd name="connsiteY5" fmla="*/ 94091 h 490768"/>
                  <a:gd name="connsiteX6" fmla="*/ 674254 w 822036"/>
                  <a:gd name="connsiteY6" fmla="*/ 371182 h 490768"/>
                  <a:gd name="connsiteX7" fmla="*/ 748145 w 822036"/>
                  <a:gd name="connsiteY7" fmla="*/ 472782 h 490768"/>
                  <a:gd name="connsiteX8" fmla="*/ 822036 w 822036"/>
                  <a:gd name="connsiteY8" fmla="*/ 472782 h 490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2036" h="490768">
                    <a:moveTo>
                      <a:pt x="0" y="472782"/>
                    </a:moveTo>
                    <a:cubicBezTo>
                      <a:pt x="73121" y="489715"/>
                      <a:pt x="146243" y="506649"/>
                      <a:pt x="203200" y="463546"/>
                    </a:cubicBezTo>
                    <a:cubicBezTo>
                      <a:pt x="260157" y="420443"/>
                      <a:pt x="306339" y="283437"/>
                      <a:pt x="341745" y="214164"/>
                    </a:cubicBezTo>
                    <a:cubicBezTo>
                      <a:pt x="377151" y="144891"/>
                      <a:pt x="392545" y="83316"/>
                      <a:pt x="415636" y="47910"/>
                    </a:cubicBezTo>
                    <a:cubicBezTo>
                      <a:pt x="438727" y="12504"/>
                      <a:pt x="458740" y="-5969"/>
                      <a:pt x="480291" y="1728"/>
                    </a:cubicBezTo>
                    <a:cubicBezTo>
                      <a:pt x="501843" y="9425"/>
                      <a:pt x="512618" y="32515"/>
                      <a:pt x="544945" y="94091"/>
                    </a:cubicBezTo>
                    <a:cubicBezTo>
                      <a:pt x="577272" y="155667"/>
                      <a:pt x="640387" y="308067"/>
                      <a:pt x="674254" y="371182"/>
                    </a:cubicBezTo>
                    <a:cubicBezTo>
                      <a:pt x="708121" y="434297"/>
                      <a:pt x="723515" y="455849"/>
                      <a:pt x="748145" y="472782"/>
                    </a:cubicBezTo>
                    <a:cubicBezTo>
                      <a:pt x="772775" y="489715"/>
                      <a:pt x="797405" y="481248"/>
                      <a:pt x="822036" y="472782"/>
                    </a:cubicBezTo>
                  </a:path>
                </a:pathLst>
              </a:custGeom>
              <a:solidFill>
                <a:srgbClr val="3988CF">
                  <a:alpha val="30196"/>
                </a:srgb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75" name="Picture 74">
            <a:extLst>
              <a:ext uri="{FF2B5EF4-FFF2-40B4-BE49-F238E27FC236}">
                <a16:creationId xmlns:a16="http://schemas.microsoft.com/office/drawing/2014/main" id="{6BBC1AFA-A203-912B-1E43-D82A9E116F1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3572" y="2686337"/>
            <a:ext cx="858593" cy="257577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B3C9A294-5402-7ABF-1156-3FEC11758C9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50783" y="2690215"/>
            <a:ext cx="2395494" cy="277303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B11DC36B-83A0-B09B-3383-CB28834D78AF}"/>
              </a:ext>
            </a:extLst>
          </p:cNvPr>
          <p:cNvGrpSpPr/>
          <p:nvPr/>
        </p:nvGrpSpPr>
        <p:grpSpPr>
          <a:xfrm>
            <a:off x="1286767" y="5478080"/>
            <a:ext cx="7444820" cy="369332"/>
            <a:chOff x="1314440" y="5993493"/>
            <a:chExt cx="7444820" cy="36933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9E4CFBB-A5F2-8FCD-867A-588C98B9DE2B}"/>
                </a:ext>
              </a:extLst>
            </p:cNvPr>
            <p:cNvSpPr txBox="1"/>
            <p:nvPr/>
          </p:nvSpPr>
          <p:spPr>
            <a:xfrm>
              <a:off x="1314440" y="5993493"/>
              <a:ext cx="7444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latin typeface="Arial Rounded MT Bold" panose="020F0704030504030204" pitchFamily="34" charset="77"/>
                  <a:sym typeface="Wingdings" pitchFamily="2" charset="2"/>
                </a:rPr>
                <a:t>Make                    follows a pre-defined distribution </a:t>
              </a:r>
              <a:endParaRPr lang="en-US" dirty="0">
                <a:latin typeface="Arial Rounded MT Bold" panose="020F0704030504030204" pitchFamily="34" charset="77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04F8F74-1C6E-22FA-747C-5ADDAFA586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139251" y="6071323"/>
              <a:ext cx="862192" cy="25286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2CDBA0C-766D-8444-8A43-734FB4DFBF7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902441" y="6043898"/>
              <a:ext cx="474217" cy="262400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E7EEF6D4-8340-95CA-5005-D0148F18975B}"/>
              </a:ext>
            </a:extLst>
          </p:cNvPr>
          <p:cNvSpPr txBox="1"/>
          <p:nvPr/>
        </p:nvSpPr>
        <p:spPr>
          <a:xfrm>
            <a:off x="1314440" y="4962203"/>
            <a:ext cx="6371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Latent space keep </a:t>
            </a:r>
            <a:r>
              <a:rPr lang="en-US" altLang="zh-TW" dirty="0">
                <a:solidFill>
                  <a:srgbClr val="FF0000"/>
                </a:solidFill>
                <a:latin typeface="Arial Rounded MT Bold" panose="020F0704030504030204" pitchFamily="34" charset="77"/>
                <a:sym typeface="Wingdings" pitchFamily="2" charset="2"/>
              </a:rPr>
              <a:t>semantic </a:t>
            </a:r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meaning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34FEF2F1-E492-9223-0DC8-D3861D1949D4}"/>
              </a:ext>
            </a:extLst>
          </p:cNvPr>
          <p:cNvSpPr/>
          <p:nvPr/>
        </p:nvSpPr>
        <p:spPr>
          <a:xfrm>
            <a:off x="981471" y="5006722"/>
            <a:ext cx="280293" cy="280293"/>
          </a:xfrm>
          <a:prstGeom prst="mathPlus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lus Sign 11">
            <a:extLst>
              <a:ext uri="{FF2B5EF4-FFF2-40B4-BE49-F238E27FC236}">
                <a16:creationId xmlns:a16="http://schemas.microsoft.com/office/drawing/2014/main" id="{98FC3CF8-B252-BAA6-1F60-D0955C87DC0D}"/>
              </a:ext>
            </a:extLst>
          </p:cNvPr>
          <p:cNvSpPr/>
          <p:nvPr/>
        </p:nvSpPr>
        <p:spPr>
          <a:xfrm>
            <a:off x="981471" y="6043898"/>
            <a:ext cx="280293" cy="280293"/>
          </a:xfrm>
          <a:prstGeom prst="mathPlus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80B586-34DF-B7FD-6FE6-2F494BC02894}"/>
              </a:ext>
            </a:extLst>
          </p:cNvPr>
          <p:cNvSpPr txBox="1"/>
          <p:nvPr/>
        </p:nvSpPr>
        <p:spPr>
          <a:xfrm>
            <a:off x="1286768" y="5999378"/>
            <a:ext cx="6993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We can sample                      and </a:t>
            </a:r>
            <a:r>
              <a:rPr lang="en-US" altLang="zh-TW" dirty="0">
                <a:solidFill>
                  <a:srgbClr val="FF0000"/>
                </a:solidFill>
                <a:latin typeface="Arial Rounded MT Bold" panose="020F0704030504030204" pitchFamily="34" charset="77"/>
                <a:sym typeface="Wingdings" pitchFamily="2" charset="2"/>
              </a:rPr>
              <a:t>generate</a:t>
            </a:r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 new data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4B9A0F7A-F22D-67DF-8A24-79EA1F793E32}"/>
              </a:ext>
            </a:extLst>
          </p:cNvPr>
          <p:cNvSpPr/>
          <p:nvPr/>
        </p:nvSpPr>
        <p:spPr>
          <a:xfrm>
            <a:off x="1025073" y="5575932"/>
            <a:ext cx="193087" cy="178240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C899A85-7008-3ED1-417F-58E80FAAC0C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61242" y="6068155"/>
            <a:ext cx="1050632" cy="27508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61DC3CB-8FBC-B141-09EC-5AF72714A08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77306" y="6068155"/>
            <a:ext cx="828571" cy="275085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22BD3A3F-9CAA-8212-E188-53E53696EB29}"/>
              </a:ext>
            </a:extLst>
          </p:cNvPr>
          <p:cNvGrpSpPr/>
          <p:nvPr/>
        </p:nvGrpSpPr>
        <p:grpSpPr>
          <a:xfrm>
            <a:off x="838153" y="1634595"/>
            <a:ext cx="5749391" cy="369332"/>
            <a:chOff x="838153" y="1634595"/>
            <a:chExt cx="5749391" cy="36933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76BFC25-0B1B-954F-4AC8-67C1AFFAEC2D}"/>
                </a:ext>
              </a:extLst>
            </p:cNvPr>
            <p:cNvSpPr txBox="1"/>
            <p:nvPr/>
          </p:nvSpPr>
          <p:spPr>
            <a:xfrm>
              <a:off x="838153" y="1634595"/>
              <a:ext cx="57493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latin typeface="Arial Rounded MT Bold" panose="020F0704030504030204" pitchFamily="34" charset="77"/>
                  <a:sym typeface="Wingdings" pitchFamily="2" charset="2"/>
                </a:rPr>
                <a:t>Match these       distribution to a Gaussian</a:t>
              </a: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2C8773D0-E2FE-C5E5-9F97-8B7EC2E8FBB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387765" y="1727970"/>
              <a:ext cx="182582" cy="182582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310D5BB2-7860-6429-4A26-976951F3B8D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91590" y="1727970"/>
              <a:ext cx="431733" cy="2145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810542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B48A0-5D92-6809-56E9-5FFEFBAD1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BB69BE6-703C-87BB-C46B-E4C824508816}"/>
              </a:ext>
            </a:extLst>
          </p:cNvPr>
          <p:cNvSpPr txBox="1"/>
          <p:nvPr/>
        </p:nvSpPr>
        <p:spPr>
          <a:xfrm>
            <a:off x="276410" y="260293"/>
            <a:ext cx="1372281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VAE vs AE</a:t>
            </a:r>
          </a:p>
        </p:txBody>
      </p: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1B64D954-79C8-3526-7764-DF8C968741C6}"/>
              </a:ext>
            </a:extLst>
          </p:cNvPr>
          <p:cNvGrpSpPr/>
          <p:nvPr/>
        </p:nvGrpSpPr>
        <p:grpSpPr>
          <a:xfrm>
            <a:off x="838151" y="1122397"/>
            <a:ext cx="4076749" cy="646331"/>
            <a:chOff x="838151" y="1122397"/>
            <a:chExt cx="4076749" cy="646331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74FA7F39-78B1-9C9B-C4AD-63F868E96D7B}"/>
                </a:ext>
              </a:extLst>
            </p:cNvPr>
            <p:cNvSpPr txBox="1"/>
            <p:nvPr/>
          </p:nvSpPr>
          <p:spPr>
            <a:xfrm>
              <a:off x="838151" y="1122397"/>
              <a:ext cx="407674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latin typeface="Arial Rounded MT Bold" panose="020F0704030504030204" pitchFamily="34" charset="77"/>
                  <a:sym typeface="Wingdings" pitchFamily="2" charset="2"/>
                </a:rPr>
                <a:t>AE is projecting input        into </a:t>
              </a:r>
              <a:r>
                <a:rPr lang="en-US" altLang="zh-TW" dirty="0">
                  <a:solidFill>
                    <a:srgbClr val="FF0000"/>
                  </a:solidFill>
                  <a:latin typeface="Arial Rounded MT Bold" panose="020F0704030504030204" pitchFamily="34" charset="77"/>
                  <a:sym typeface="Wingdings" pitchFamily="2" charset="2"/>
                </a:rPr>
                <a:t>any</a:t>
              </a:r>
              <a:r>
                <a:rPr lang="en-US" altLang="zh-TW" dirty="0">
                  <a:latin typeface="Arial Rounded MT Bold" panose="020F0704030504030204" pitchFamily="34" charset="77"/>
                  <a:sym typeface="Wingdings" pitchFamily="2" charset="2"/>
                </a:rPr>
                <a:t> low dim. </a:t>
              </a:r>
              <a:r>
                <a:rPr lang="en-US" altLang="zh-TW" dirty="0">
                  <a:solidFill>
                    <a:srgbClr val="FF0000"/>
                  </a:solidFill>
                  <a:latin typeface="Arial Rounded MT Bold" panose="020F0704030504030204" pitchFamily="34" charset="77"/>
                  <a:sym typeface="Wingdings" pitchFamily="2" charset="2"/>
                </a:rPr>
                <a:t>vector</a:t>
              </a:r>
              <a:r>
                <a:rPr lang="en-US" altLang="zh-TW" dirty="0">
                  <a:latin typeface="Arial Rounded MT Bold" panose="020F0704030504030204" pitchFamily="34" charset="77"/>
                  <a:sym typeface="Wingdings" pitchFamily="2" charset="2"/>
                </a:rPr>
                <a:t> </a:t>
              </a:r>
            </a:p>
          </p:txBody>
        </p:sp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2D720D5D-DB06-E3EB-3C23-E23C91B99A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23624" y="1243481"/>
              <a:ext cx="225288" cy="174223"/>
            </a:xfrm>
            <a:prstGeom prst="rect">
              <a:avLst/>
            </a:prstGeom>
          </p:spPr>
        </p:pic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6A72C1C8-FD4D-1E34-9D78-2CE3777A484C}"/>
              </a:ext>
            </a:extLst>
          </p:cNvPr>
          <p:cNvGrpSpPr/>
          <p:nvPr/>
        </p:nvGrpSpPr>
        <p:grpSpPr>
          <a:xfrm>
            <a:off x="905654" y="2790479"/>
            <a:ext cx="3891131" cy="2218797"/>
            <a:chOff x="905654" y="2790479"/>
            <a:chExt cx="3891131" cy="2218797"/>
          </a:xfrm>
        </p:grpSpPr>
        <p:cxnSp>
          <p:nvCxnSpPr>
            <p:cNvPr id="156" name="Straight Arrow Connector 155">
              <a:extLst>
                <a:ext uri="{FF2B5EF4-FFF2-40B4-BE49-F238E27FC236}">
                  <a16:creationId xmlns:a16="http://schemas.microsoft.com/office/drawing/2014/main" id="{C77D9947-17BE-11FA-0FB2-48357A674B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47503" y="4466529"/>
              <a:ext cx="1519821" cy="310309"/>
            </a:xfrm>
            <a:prstGeom prst="straightConnector1">
              <a:avLst/>
            </a:prstGeom>
            <a:ln w="28575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Arrow Connector 158">
              <a:extLst>
                <a:ext uri="{FF2B5EF4-FFF2-40B4-BE49-F238E27FC236}">
                  <a16:creationId xmlns:a16="http://schemas.microsoft.com/office/drawing/2014/main" id="{9FE47920-63F8-E018-BFB7-DF25B0E88229}"/>
                </a:ext>
              </a:extLst>
            </p:cNvPr>
            <p:cNvCxnSpPr>
              <a:cxnSpLocks/>
            </p:cNvCxnSpPr>
            <p:nvPr/>
          </p:nvCxnSpPr>
          <p:spPr>
            <a:xfrm>
              <a:off x="2940730" y="4515232"/>
              <a:ext cx="1519821" cy="360447"/>
            </a:xfrm>
            <a:prstGeom prst="straightConnector1">
              <a:avLst/>
            </a:prstGeom>
            <a:ln w="28575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Arrow Connector 161">
              <a:extLst>
                <a:ext uri="{FF2B5EF4-FFF2-40B4-BE49-F238E27FC236}">
                  <a16:creationId xmlns:a16="http://schemas.microsoft.com/office/drawing/2014/main" id="{5E45ABE9-BCA4-5FF2-BA93-EE326D121FCC}"/>
                </a:ext>
              </a:extLst>
            </p:cNvPr>
            <p:cNvCxnSpPr>
              <a:cxnSpLocks/>
            </p:cNvCxnSpPr>
            <p:nvPr/>
          </p:nvCxnSpPr>
          <p:spPr>
            <a:xfrm>
              <a:off x="2963292" y="3854968"/>
              <a:ext cx="1497259" cy="152097"/>
            </a:xfrm>
            <a:prstGeom prst="straightConnector1">
              <a:avLst/>
            </a:prstGeom>
            <a:ln w="28575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Arrow Connector 163">
              <a:extLst>
                <a:ext uri="{FF2B5EF4-FFF2-40B4-BE49-F238E27FC236}">
                  <a16:creationId xmlns:a16="http://schemas.microsoft.com/office/drawing/2014/main" id="{170401B1-CBCE-449B-4882-40B5C52524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39411" y="3463974"/>
              <a:ext cx="1421140" cy="712170"/>
            </a:xfrm>
            <a:prstGeom prst="straightConnector1">
              <a:avLst/>
            </a:prstGeom>
            <a:ln w="28575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Arrow Connector 166">
              <a:extLst>
                <a:ext uri="{FF2B5EF4-FFF2-40B4-BE49-F238E27FC236}">
                  <a16:creationId xmlns:a16="http://schemas.microsoft.com/office/drawing/2014/main" id="{60799DA3-0DAD-9074-C8A1-99B994BCB4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26767" y="3007186"/>
              <a:ext cx="1464357" cy="432010"/>
            </a:xfrm>
            <a:prstGeom prst="straightConnector1">
              <a:avLst/>
            </a:prstGeom>
            <a:ln w="28575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10AE34BC-044B-D369-61BD-F5556C6853F0}"/>
                </a:ext>
              </a:extLst>
            </p:cNvPr>
            <p:cNvSpPr txBox="1"/>
            <p:nvPr/>
          </p:nvSpPr>
          <p:spPr>
            <a:xfrm rot="5400000">
              <a:off x="1304762" y="3757744"/>
              <a:ext cx="12449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latin typeface="Arial Rounded MT Bold" panose="020F0704030504030204" pitchFamily="34" charset="77"/>
                  <a:sym typeface="Wingdings" pitchFamily="2" charset="2"/>
                </a:rPr>
                <a:t>Encoder</a:t>
              </a:r>
              <a:endParaRPr lang="en-US" dirty="0">
                <a:latin typeface="Arial Rounded MT Bold" panose="020F0704030504030204" pitchFamily="34" charset="77"/>
              </a:endParaRPr>
            </a:p>
          </p:txBody>
        </p:sp>
        <p:sp>
          <p:nvSpPr>
            <p:cNvPr id="69" name="Trapezoid 68">
              <a:extLst>
                <a:ext uri="{FF2B5EF4-FFF2-40B4-BE49-F238E27FC236}">
                  <a16:creationId xmlns:a16="http://schemas.microsoft.com/office/drawing/2014/main" id="{E342EA34-32FF-2F3D-B62B-DB6838E4F105}"/>
                </a:ext>
              </a:extLst>
            </p:cNvPr>
            <p:cNvSpPr/>
            <p:nvPr/>
          </p:nvSpPr>
          <p:spPr>
            <a:xfrm rot="16200000" flipH="1">
              <a:off x="2732352" y="3562850"/>
              <a:ext cx="1943350" cy="731864"/>
            </a:xfrm>
            <a:prstGeom prst="trapezoid">
              <a:avLst>
                <a:gd name="adj" fmla="val 42499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AB852285-8432-2FD7-C5F1-6F9E12858730}"/>
                </a:ext>
              </a:extLst>
            </p:cNvPr>
            <p:cNvSpPr txBox="1"/>
            <p:nvPr/>
          </p:nvSpPr>
          <p:spPr>
            <a:xfrm rot="5400000">
              <a:off x="3149411" y="3712772"/>
              <a:ext cx="114758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dirty="0">
                  <a:latin typeface="Arial Rounded MT Bold" panose="020F0704030504030204" pitchFamily="34" charset="77"/>
                  <a:sym typeface="Wingdings" pitchFamily="2" charset="2"/>
                </a:rPr>
                <a:t>Decoder</a:t>
              </a:r>
              <a:endParaRPr lang="en-US" dirty="0">
                <a:latin typeface="Arial Rounded MT Bold" panose="020F0704030504030204" pitchFamily="34" charset="77"/>
              </a:endParaRPr>
            </a:p>
          </p:txBody>
        </p: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2E6B17B4-77D8-4970-1F4F-3EDDB691F908}"/>
                </a:ext>
              </a:extLst>
            </p:cNvPr>
            <p:cNvGrpSpPr/>
            <p:nvPr/>
          </p:nvGrpSpPr>
          <p:grpSpPr>
            <a:xfrm rot="17459832">
              <a:off x="2012550" y="3615129"/>
              <a:ext cx="1696065" cy="702639"/>
              <a:chOff x="6269193" y="2041898"/>
              <a:chExt cx="3250387" cy="1346558"/>
            </a:xfrm>
          </p:grpSpPr>
          <p:cxnSp>
            <p:nvCxnSpPr>
              <p:cNvPr id="111" name="Straight Arrow Connector 110">
                <a:extLst>
                  <a:ext uri="{FF2B5EF4-FFF2-40B4-BE49-F238E27FC236}">
                    <a16:creationId xmlns:a16="http://schemas.microsoft.com/office/drawing/2014/main" id="{747808C5-052A-D193-48BF-D5E3C67E809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269193" y="2041898"/>
                <a:ext cx="3250387" cy="1293813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2" name="Multiplication Sign 111">
                <a:extLst>
                  <a:ext uri="{FF2B5EF4-FFF2-40B4-BE49-F238E27FC236}">
                    <a16:creationId xmlns:a16="http://schemas.microsoft.com/office/drawing/2014/main" id="{00885B50-3A15-A354-6837-B22CEA19AFA4}"/>
                  </a:ext>
                </a:extLst>
              </p:cNvPr>
              <p:cNvSpPr/>
              <p:nvPr/>
            </p:nvSpPr>
            <p:spPr>
              <a:xfrm>
                <a:off x="8561506" y="2298352"/>
                <a:ext cx="159929" cy="173039"/>
              </a:xfrm>
              <a:prstGeom prst="mathMultiply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Multiplication Sign 112">
                <a:extLst>
                  <a:ext uri="{FF2B5EF4-FFF2-40B4-BE49-F238E27FC236}">
                    <a16:creationId xmlns:a16="http://schemas.microsoft.com/office/drawing/2014/main" id="{DC3C02B0-E847-0A7E-1A5B-F9005569EB8C}"/>
                  </a:ext>
                </a:extLst>
              </p:cNvPr>
              <p:cNvSpPr/>
              <p:nvPr/>
            </p:nvSpPr>
            <p:spPr>
              <a:xfrm>
                <a:off x="8491670" y="2344996"/>
                <a:ext cx="159929" cy="173039"/>
              </a:xfrm>
              <a:prstGeom prst="mathMultiply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Multiplication Sign 113">
                <a:extLst>
                  <a:ext uri="{FF2B5EF4-FFF2-40B4-BE49-F238E27FC236}">
                    <a16:creationId xmlns:a16="http://schemas.microsoft.com/office/drawing/2014/main" id="{327FC20A-824F-DCAF-CCBB-995CC4C6D05F}"/>
                  </a:ext>
                </a:extLst>
              </p:cNvPr>
              <p:cNvSpPr/>
              <p:nvPr/>
            </p:nvSpPr>
            <p:spPr>
              <a:xfrm>
                <a:off x="7894632" y="2566431"/>
                <a:ext cx="159929" cy="173039"/>
              </a:xfrm>
              <a:prstGeom prst="mathMultiply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Multiplication Sign 114">
                <a:extLst>
                  <a:ext uri="{FF2B5EF4-FFF2-40B4-BE49-F238E27FC236}">
                    <a16:creationId xmlns:a16="http://schemas.microsoft.com/office/drawing/2014/main" id="{DC37ED8F-B160-20E3-CF4F-C3F27203FFED}"/>
                  </a:ext>
                </a:extLst>
              </p:cNvPr>
              <p:cNvSpPr/>
              <p:nvPr/>
            </p:nvSpPr>
            <p:spPr>
              <a:xfrm>
                <a:off x="7714231" y="2645334"/>
                <a:ext cx="159929" cy="173039"/>
              </a:xfrm>
              <a:prstGeom prst="mathMultiply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" name="Multiplication Sign 115">
                <a:extLst>
                  <a:ext uri="{FF2B5EF4-FFF2-40B4-BE49-F238E27FC236}">
                    <a16:creationId xmlns:a16="http://schemas.microsoft.com/office/drawing/2014/main" id="{8BAA70C3-88B5-D1B4-210E-AEB1C1D25EC8}"/>
                  </a:ext>
                </a:extLst>
              </p:cNvPr>
              <p:cNvSpPr/>
              <p:nvPr/>
            </p:nvSpPr>
            <p:spPr>
              <a:xfrm>
                <a:off x="7537637" y="2703138"/>
                <a:ext cx="159929" cy="173039"/>
              </a:xfrm>
              <a:prstGeom prst="mathMultiply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" name="Multiplication Sign 116">
                <a:extLst>
                  <a:ext uri="{FF2B5EF4-FFF2-40B4-BE49-F238E27FC236}">
                    <a16:creationId xmlns:a16="http://schemas.microsoft.com/office/drawing/2014/main" id="{B0C2904F-8E41-7FAF-9733-8BE8A48412FB}"/>
                  </a:ext>
                </a:extLst>
              </p:cNvPr>
              <p:cNvSpPr/>
              <p:nvPr/>
            </p:nvSpPr>
            <p:spPr>
              <a:xfrm>
                <a:off x="7018074" y="2923249"/>
                <a:ext cx="159929" cy="173039"/>
              </a:xfrm>
              <a:prstGeom prst="mathMultiply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" name="Multiplication Sign 117">
                <a:extLst>
                  <a:ext uri="{FF2B5EF4-FFF2-40B4-BE49-F238E27FC236}">
                    <a16:creationId xmlns:a16="http://schemas.microsoft.com/office/drawing/2014/main" id="{B6541183-13C4-A8F2-D75B-EB6491B9CBA7}"/>
                  </a:ext>
                </a:extLst>
              </p:cNvPr>
              <p:cNvSpPr/>
              <p:nvPr/>
            </p:nvSpPr>
            <p:spPr>
              <a:xfrm>
                <a:off x="7128373" y="2883274"/>
                <a:ext cx="159929" cy="173039"/>
              </a:xfrm>
              <a:prstGeom prst="mathMultiply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" name="Multiplication Sign 118">
                <a:extLst>
                  <a:ext uri="{FF2B5EF4-FFF2-40B4-BE49-F238E27FC236}">
                    <a16:creationId xmlns:a16="http://schemas.microsoft.com/office/drawing/2014/main" id="{B85D83CD-A398-B136-6088-ECC477EC397D}"/>
                  </a:ext>
                </a:extLst>
              </p:cNvPr>
              <p:cNvSpPr/>
              <p:nvPr/>
            </p:nvSpPr>
            <p:spPr>
              <a:xfrm>
                <a:off x="6647918" y="3052426"/>
                <a:ext cx="159929" cy="173039"/>
              </a:xfrm>
              <a:prstGeom prst="mathMultiply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" name="Multiplication Sign 119">
                <a:extLst>
                  <a:ext uri="{FF2B5EF4-FFF2-40B4-BE49-F238E27FC236}">
                    <a16:creationId xmlns:a16="http://schemas.microsoft.com/office/drawing/2014/main" id="{966447A2-564E-2240-563E-C16D458D0C1A}"/>
                  </a:ext>
                </a:extLst>
              </p:cNvPr>
              <p:cNvSpPr/>
              <p:nvPr/>
            </p:nvSpPr>
            <p:spPr>
              <a:xfrm>
                <a:off x="6303650" y="3215417"/>
                <a:ext cx="159929" cy="173039"/>
              </a:xfrm>
              <a:prstGeom prst="mathMultiply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1" name="Multiplication Sign 120">
                <a:extLst>
                  <a:ext uri="{FF2B5EF4-FFF2-40B4-BE49-F238E27FC236}">
                    <a16:creationId xmlns:a16="http://schemas.microsoft.com/office/drawing/2014/main" id="{4E6E7E60-2F14-D070-7A85-EA0B2F0DDEEA}"/>
                  </a:ext>
                </a:extLst>
              </p:cNvPr>
              <p:cNvSpPr/>
              <p:nvPr/>
            </p:nvSpPr>
            <p:spPr>
              <a:xfrm>
                <a:off x="8856466" y="2177844"/>
                <a:ext cx="159929" cy="173039"/>
              </a:xfrm>
              <a:prstGeom prst="mathMultiply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Multiplication Sign 121">
                <a:extLst>
                  <a:ext uri="{FF2B5EF4-FFF2-40B4-BE49-F238E27FC236}">
                    <a16:creationId xmlns:a16="http://schemas.microsoft.com/office/drawing/2014/main" id="{1962270F-1FA1-5957-FE28-554D4D3C82EA}"/>
                  </a:ext>
                </a:extLst>
              </p:cNvPr>
              <p:cNvSpPr/>
              <p:nvPr/>
            </p:nvSpPr>
            <p:spPr>
              <a:xfrm>
                <a:off x="8082038" y="2498966"/>
                <a:ext cx="159929" cy="173039"/>
              </a:xfrm>
              <a:prstGeom prst="mathMultiply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5354C6D2-0C6A-AF53-3FC4-566057D6BB5A}"/>
                </a:ext>
              </a:extLst>
            </p:cNvPr>
            <p:cNvGrpSpPr/>
            <p:nvPr/>
          </p:nvGrpSpPr>
          <p:grpSpPr>
            <a:xfrm rot="16200000">
              <a:off x="-67769" y="3768781"/>
              <a:ext cx="2213918" cy="267072"/>
              <a:chOff x="1774784" y="4965238"/>
              <a:chExt cx="2213918" cy="267072"/>
            </a:xfrm>
          </p:grpSpPr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25865055-F098-724D-E4DE-15C724E04C4A}"/>
                  </a:ext>
                </a:extLst>
              </p:cNvPr>
              <p:cNvSpPr/>
              <p:nvPr/>
            </p:nvSpPr>
            <p:spPr>
              <a:xfrm>
                <a:off x="1774784" y="4977757"/>
                <a:ext cx="254553" cy="254553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7071B9BF-773A-2B9B-D638-1054F3A14137}"/>
                  </a:ext>
                </a:extLst>
              </p:cNvPr>
              <p:cNvSpPr/>
              <p:nvPr/>
            </p:nvSpPr>
            <p:spPr>
              <a:xfrm>
                <a:off x="2258852" y="4977757"/>
                <a:ext cx="254553" cy="254553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" name="Moon 125">
                <a:extLst>
                  <a:ext uri="{FF2B5EF4-FFF2-40B4-BE49-F238E27FC236}">
                    <a16:creationId xmlns:a16="http://schemas.microsoft.com/office/drawing/2014/main" id="{50AE9065-4C71-7507-E1A5-85855B44B386}"/>
                  </a:ext>
                </a:extLst>
              </p:cNvPr>
              <p:cNvSpPr/>
              <p:nvPr/>
            </p:nvSpPr>
            <p:spPr>
              <a:xfrm>
                <a:off x="2258852" y="4973584"/>
                <a:ext cx="137136" cy="254553"/>
              </a:xfrm>
              <a:prstGeom prst="moon">
                <a:avLst>
                  <a:gd name="adj" fmla="val 33356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C00D4822-D449-4811-3DDB-DADA26A87654}"/>
                  </a:ext>
                </a:extLst>
              </p:cNvPr>
              <p:cNvSpPr/>
              <p:nvPr/>
            </p:nvSpPr>
            <p:spPr>
              <a:xfrm>
                <a:off x="2742920" y="4969411"/>
                <a:ext cx="254553" cy="254553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" name="Moon 127">
                <a:extLst>
                  <a:ext uri="{FF2B5EF4-FFF2-40B4-BE49-F238E27FC236}">
                    <a16:creationId xmlns:a16="http://schemas.microsoft.com/office/drawing/2014/main" id="{2D07709C-B574-DB49-4475-1520EBFC318B}"/>
                  </a:ext>
                </a:extLst>
              </p:cNvPr>
              <p:cNvSpPr/>
              <p:nvPr/>
            </p:nvSpPr>
            <p:spPr>
              <a:xfrm>
                <a:off x="2742920" y="4965238"/>
                <a:ext cx="137136" cy="254553"/>
              </a:xfrm>
              <a:prstGeom prst="moon">
                <a:avLst>
                  <a:gd name="adj" fmla="val 79001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" name="Oval 128">
                <a:extLst>
                  <a:ext uri="{FF2B5EF4-FFF2-40B4-BE49-F238E27FC236}">
                    <a16:creationId xmlns:a16="http://schemas.microsoft.com/office/drawing/2014/main" id="{4A49F66E-1D1C-9645-3476-FADC17281C35}"/>
                  </a:ext>
                </a:extLst>
              </p:cNvPr>
              <p:cNvSpPr/>
              <p:nvPr/>
            </p:nvSpPr>
            <p:spPr>
              <a:xfrm>
                <a:off x="3734149" y="4969411"/>
                <a:ext cx="254553" cy="254553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4BDC363B-7C73-FA35-ED4D-868166A5E022}"/>
                  </a:ext>
                </a:extLst>
              </p:cNvPr>
              <p:cNvSpPr/>
              <p:nvPr/>
            </p:nvSpPr>
            <p:spPr>
              <a:xfrm>
                <a:off x="3255227" y="4977757"/>
                <a:ext cx="254553" cy="254553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" name="Moon 130">
                <a:extLst>
                  <a:ext uri="{FF2B5EF4-FFF2-40B4-BE49-F238E27FC236}">
                    <a16:creationId xmlns:a16="http://schemas.microsoft.com/office/drawing/2014/main" id="{A062F40A-B35C-340F-1218-DA4CC7D57908}"/>
                  </a:ext>
                </a:extLst>
              </p:cNvPr>
              <p:cNvSpPr/>
              <p:nvPr/>
            </p:nvSpPr>
            <p:spPr>
              <a:xfrm>
                <a:off x="3255227" y="4977757"/>
                <a:ext cx="137136" cy="254553"/>
              </a:xfrm>
              <a:prstGeom prst="moon">
                <a:avLst>
                  <a:gd name="adj" fmla="val 69872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5B39575C-2DD1-7E4F-F216-7C88A3CA1343}"/>
                </a:ext>
              </a:extLst>
            </p:cNvPr>
            <p:cNvCxnSpPr>
              <a:cxnSpLocks/>
              <a:stCxn id="124" idx="4"/>
            </p:cNvCxnSpPr>
            <p:nvPr/>
          </p:nvCxnSpPr>
          <p:spPr>
            <a:xfrm flipV="1">
              <a:off x="1172726" y="4504288"/>
              <a:ext cx="1572079" cy="377711"/>
            </a:xfrm>
            <a:prstGeom prst="straightConnector1">
              <a:avLst/>
            </a:prstGeom>
            <a:ln w="28575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E640910C-3B18-33D1-F9B6-63CF29E3087B}"/>
                </a:ext>
              </a:extLst>
            </p:cNvPr>
            <p:cNvCxnSpPr>
              <a:cxnSpLocks/>
              <a:stCxn id="126" idx="2"/>
            </p:cNvCxnSpPr>
            <p:nvPr/>
          </p:nvCxnSpPr>
          <p:spPr>
            <a:xfrm>
              <a:off x="1168554" y="4388073"/>
              <a:ext cx="1576251" cy="366650"/>
            </a:xfrm>
            <a:prstGeom prst="straightConnector1">
              <a:avLst/>
            </a:prstGeom>
            <a:ln w="28575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>
              <a:extLst>
                <a:ext uri="{FF2B5EF4-FFF2-40B4-BE49-F238E27FC236}">
                  <a16:creationId xmlns:a16="http://schemas.microsoft.com/office/drawing/2014/main" id="{0E1EEBDF-6B82-EA27-ED49-BABCE7CF0B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13428" y="3854968"/>
              <a:ext cx="1531377" cy="87442"/>
            </a:xfrm>
            <a:prstGeom prst="straightConnector1">
              <a:avLst/>
            </a:prstGeom>
            <a:ln w="28575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Arrow Connector 139">
              <a:extLst>
                <a:ext uri="{FF2B5EF4-FFF2-40B4-BE49-F238E27FC236}">
                  <a16:creationId xmlns:a16="http://schemas.microsoft.com/office/drawing/2014/main" id="{A4E388FC-36FF-E067-AFCA-39B9CDF5DD67}"/>
                </a:ext>
              </a:extLst>
            </p:cNvPr>
            <p:cNvCxnSpPr>
              <a:cxnSpLocks/>
            </p:cNvCxnSpPr>
            <p:nvPr/>
          </p:nvCxnSpPr>
          <p:spPr>
            <a:xfrm>
              <a:off x="1231997" y="3515880"/>
              <a:ext cx="1512808" cy="660264"/>
            </a:xfrm>
            <a:prstGeom prst="straightConnector1">
              <a:avLst/>
            </a:prstGeom>
            <a:ln w="28575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6DC05597-F7DF-CCAB-AFF2-863B126D9A31}"/>
                </a:ext>
              </a:extLst>
            </p:cNvPr>
            <p:cNvCxnSpPr>
              <a:cxnSpLocks/>
            </p:cNvCxnSpPr>
            <p:nvPr/>
          </p:nvCxnSpPr>
          <p:spPr>
            <a:xfrm>
              <a:off x="1231997" y="2926009"/>
              <a:ext cx="1512808" cy="537965"/>
            </a:xfrm>
            <a:prstGeom prst="straightConnector1">
              <a:avLst/>
            </a:prstGeom>
            <a:ln w="28575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7" name="Group 146">
              <a:extLst>
                <a:ext uri="{FF2B5EF4-FFF2-40B4-BE49-F238E27FC236}">
                  <a16:creationId xmlns:a16="http://schemas.microsoft.com/office/drawing/2014/main" id="{79048DD2-C579-ECDF-9789-6CE2ECCB8513}"/>
                </a:ext>
              </a:extLst>
            </p:cNvPr>
            <p:cNvGrpSpPr/>
            <p:nvPr/>
          </p:nvGrpSpPr>
          <p:grpSpPr>
            <a:xfrm rot="16200000">
              <a:off x="3556290" y="3763902"/>
              <a:ext cx="2213918" cy="267072"/>
              <a:chOff x="1774784" y="4965238"/>
              <a:chExt cx="2213918" cy="267072"/>
            </a:xfrm>
          </p:grpSpPr>
          <p:sp>
            <p:nvSpPr>
              <p:cNvPr id="148" name="Oval 147">
                <a:extLst>
                  <a:ext uri="{FF2B5EF4-FFF2-40B4-BE49-F238E27FC236}">
                    <a16:creationId xmlns:a16="http://schemas.microsoft.com/office/drawing/2014/main" id="{42EF5CB5-4534-1001-9C04-96B4F9E664FE}"/>
                  </a:ext>
                </a:extLst>
              </p:cNvPr>
              <p:cNvSpPr/>
              <p:nvPr/>
            </p:nvSpPr>
            <p:spPr>
              <a:xfrm>
                <a:off x="1774784" y="4977757"/>
                <a:ext cx="254553" cy="254553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Oval 148">
                <a:extLst>
                  <a:ext uri="{FF2B5EF4-FFF2-40B4-BE49-F238E27FC236}">
                    <a16:creationId xmlns:a16="http://schemas.microsoft.com/office/drawing/2014/main" id="{4021E03A-A894-8CC7-7483-D1EE2624A4A8}"/>
                  </a:ext>
                </a:extLst>
              </p:cNvPr>
              <p:cNvSpPr/>
              <p:nvPr/>
            </p:nvSpPr>
            <p:spPr>
              <a:xfrm>
                <a:off x="2258852" y="4977757"/>
                <a:ext cx="254553" cy="254553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Moon 149">
                <a:extLst>
                  <a:ext uri="{FF2B5EF4-FFF2-40B4-BE49-F238E27FC236}">
                    <a16:creationId xmlns:a16="http://schemas.microsoft.com/office/drawing/2014/main" id="{97A52201-7952-589C-5BB4-219F258D5619}"/>
                  </a:ext>
                </a:extLst>
              </p:cNvPr>
              <p:cNvSpPr/>
              <p:nvPr/>
            </p:nvSpPr>
            <p:spPr>
              <a:xfrm>
                <a:off x="2258852" y="4973584"/>
                <a:ext cx="137136" cy="254553"/>
              </a:xfrm>
              <a:prstGeom prst="moon">
                <a:avLst>
                  <a:gd name="adj" fmla="val 33356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1" name="Oval 150">
                <a:extLst>
                  <a:ext uri="{FF2B5EF4-FFF2-40B4-BE49-F238E27FC236}">
                    <a16:creationId xmlns:a16="http://schemas.microsoft.com/office/drawing/2014/main" id="{D691FDF3-C774-0E4F-C27E-1EB28B592889}"/>
                  </a:ext>
                </a:extLst>
              </p:cNvPr>
              <p:cNvSpPr/>
              <p:nvPr/>
            </p:nvSpPr>
            <p:spPr>
              <a:xfrm>
                <a:off x="2742920" y="4969411"/>
                <a:ext cx="254553" cy="254553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2" name="Moon 151">
                <a:extLst>
                  <a:ext uri="{FF2B5EF4-FFF2-40B4-BE49-F238E27FC236}">
                    <a16:creationId xmlns:a16="http://schemas.microsoft.com/office/drawing/2014/main" id="{025A0094-D406-DA66-DD69-821F9B16E8EF}"/>
                  </a:ext>
                </a:extLst>
              </p:cNvPr>
              <p:cNvSpPr/>
              <p:nvPr/>
            </p:nvSpPr>
            <p:spPr>
              <a:xfrm>
                <a:off x="2742920" y="4965238"/>
                <a:ext cx="137136" cy="254553"/>
              </a:xfrm>
              <a:prstGeom prst="moon">
                <a:avLst>
                  <a:gd name="adj" fmla="val 79001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3" name="Oval 152">
                <a:extLst>
                  <a:ext uri="{FF2B5EF4-FFF2-40B4-BE49-F238E27FC236}">
                    <a16:creationId xmlns:a16="http://schemas.microsoft.com/office/drawing/2014/main" id="{AED8E779-E303-B015-70BD-8470FD720660}"/>
                  </a:ext>
                </a:extLst>
              </p:cNvPr>
              <p:cNvSpPr/>
              <p:nvPr/>
            </p:nvSpPr>
            <p:spPr>
              <a:xfrm>
                <a:off x="3734149" y="4969411"/>
                <a:ext cx="254553" cy="254553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" name="Oval 153">
                <a:extLst>
                  <a:ext uri="{FF2B5EF4-FFF2-40B4-BE49-F238E27FC236}">
                    <a16:creationId xmlns:a16="http://schemas.microsoft.com/office/drawing/2014/main" id="{7A0BAFE2-8B95-F763-F6C4-F66ED4AE0EE0}"/>
                  </a:ext>
                </a:extLst>
              </p:cNvPr>
              <p:cNvSpPr/>
              <p:nvPr/>
            </p:nvSpPr>
            <p:spPr>
              <a:xfrm>
                <a:off x="3255227" y="4977757"/>
                <a:ext cx="254553" cy="254553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5" name="Moon 154">
                <a:extLst>
                  <a:ext uri="{FF2B5EF4-FFF2-40B4-BE49-F238E27FC236}">
                    <a16:creationId xmlns:a16="http://schemas.microsoft.com/office/drawing/2014/main" id="{8B71C1EB-D92A-9563-E90C-5A30969A133A}"/>
                  </a:ext>
                </a:extLst>
              </p:cNvPr>
              <p:cNvSpPr/>
              <p:nvPr/>
            </p:nvSpPr>
            <p:spPr>
              <a:xfrm>
                <a:off x="3255227" y="4977757"/>
                <a:ext cx="137136" cy="254553"/>
              </a:xfrm>
              <a:prstGeom prst="moon">
                <a:avLst>
                  <a:gd name="adj" fmla="val 69872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5" name="Trapezoid 64">
              <a:extLst>
                <a:ext uri="{FF2B5EF4-FFF2-40B4-BE49-F238E27FC236}">
                  <a16:creationId xmlns:a16="http://schemas.microsoft.com/office/drawing/2014/main" id="{5F5615EF-48CF-C32D-ADF4-B836B9E4F49F}"/>
                </a:ext>
              </a:extLst>
            </p:cNvPr>
            <p:cNvSpPr/>
            <p:nvPr/>
          </p:nvSpPr>
          <p:spPr>
            <a:xfrm rot="5400000">
              <a:off x="947255" y="3538072"/>
              <a:ext cx="1943350" cy="731864"/>
            </a:xfrm>
            <a:prstGeom prst="trapezoid">
              <a:avLst>
                <a:gd name="adj" fmla="val 42499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737545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C56C2-94AC-34AB-6305-3CBFD9F16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9FAB31C-F2A9-6752-D4F7-C60693DF4834}"/>
              </a:ext>
            </a:extLst>
          </p:cNvPr>
          <p:cNvSpPr txBox="1"/>
          <p:nvPr/>
        </p:nvSpPr>
        <p:spPr>
          <a:xfrm>
            <a:off x="276410" y="260293"/>
            <a:ext cx="1372281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VAE vs AE</a:t>
            </a:r>
          </a:p>
        </p:txBody>
      </p: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CE1CEADF-89D4-3E1B-ED6D-82AC564A69C4}"/>
              </a:ext>
            </a:extLst>
          </p:cNvPr>
          <p:cNvGrpSpPr/>
          <p:nvPr/>
        </p:nvGrpSpPr>
        <p:grpSpPr>
          <a:xfrm>
            <a:off x="6045039" y="1681283"/>
            <a:ext cx="4409408" cy="369332"/>
            <a:chOff x="5968713" y="1878391"/>
            <a:chExt cx="4409408" cy="369332"/>
          </a:xfrm>
        </p:grpSpPr>
        <p:sp>
          <p:nvSpPr>
            <p:cNvPr id="52" name="Arrow: Right 51">
              <a:extLst>
                <a:ext uri="{FF2B5EF4-FFF2-40B4-BE49-F238E27FC236}">
                  <a16:creationId xmlns:a16="http://schemas.microsoft.com/office/drawing/2014/main" id="{9F25DC4F-7512-3F09-D77A-30DAB6C09B4B}"/>
                </a:ext>
              </a:extLst>
            </p:cNvPr>
            <p:cNvSpPr/>
            <p:nvPr/>
          </p:nvSpPr>
          <p:spPr>
            <a:xfrm>
              <a:off x="5968713" y="1971821"/>
              <a:ext cx="150209" cy="178240"/>
            </a:xfrm>
            <a:prstGeom prst="rightArrow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0319B99-1841-20FF-A5F4-73807F4B9A0B}"/>
                </a:ext>
              </a:extLst>
            </p:cNvPr>
            <p:cNvSpPr txBox="1"/>
            <p:nvPr/>
          </p:nvSpPr>
          <p:spPr>
            <a:xfrm>
              <a:off x="6180212" y="1878391"/>
              <a:ext cx="41979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latin typeface="Arial Rounded MT Bold" panose="020F0704030504030204" pitchFamily="34" charset="77"/>
                  <a:sym typeface="Wingdings" pitchFamily="2" charset="2"/>
                </a:rPr>
                <a:t>Like doing “Packing problem”</a:t>
              </a:r>
            </a:p>
          </p:txBody>
        </p:sp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A24871C5-DD63-F062-69C6-A1A2B7B0CA62}"/>
              </a:ext>
            </a:extLst>
          </p:cNvPr>
          <p:cNvGrpSpPr/>
          <p:nvPr/>
        </p:nvGrpSpPr>
        <p:grpSpPr>
          <a:xfrm>
            <a:off x="5938067" y="1122397"/>
            <a:ext cx="5958186" cy="369332"/>
            <a:chOff x="5938067" y="1122397"/>
            <a:chExt cx="5958186" cy="369332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428D87C-D6D5-AFA4-89B6-CDDFA1C9E308}"/>
                </a:ext>
              </a:extLst>
            </p:cNvPr>
            <p:cNvSpPr txBox="1"/>
            <p:nvPr/>
          </p:nvSpPr>
          <p:spPr>
            <a:xfrm>
              <a:off x="5938067" y="1122397"/>
              <a:ext cx="59581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latin typeface="Arial Rounded MT Bold" panose="020F0704030504030204" pitchFamily="34" charset="77"/>
                  <a:sym typeface="Wingdings" pitchFamily="2" charset="2"/>
                </a:rPr>
                <a:t>VAE is projecting input        into a </a:t>
              </a:r>
              <a:r>
                <a:rPr lang="en-US" altLang="zh-TW" dirty="0">
                  <a:solidFill>
                    <a:srgbClr val="FF0000"/>
                  </a:solidFill>
                  <a:latin typeface="Arial Rounded MT Bold" panose="020F0704030504030204" pitchFamily="34" charset="77"/>
                  <a:sym typeface="Wingdings" pitchFamily="2" charset="2"/>
                </a:rPr>
                <a:t>fixed</a:t>
              </a:r>
              <a:r>
                <a:rPr lang="en-US" altLang="zh-TW" dirty="0">
                  <a:latin typeface="Arial Rounded MT Bold" panose="020F0704030504030204" pitchFamily="34" charset="77"/>
                  <a:sym typeface="Wingdings" pitchFamily="2" charset="2"/>
                </a:rPr>
                <a:t> low dim. </a:t>
              </a:r>
              <a:r>
                <a:rPr lang="en-US" altLang="zh-TW" dirty="0">
                  <a:solidFill>
                    <a:srgbClr val="FF0000"/>
                  </a:solidFill>
                  <a:latin typeface="Arial Rounded MT Bold" panose="020F0704030504030204" pitchFamily="34" charset="77"/>
                  <a:sym typeface="Wingdings" pitchFamily="2" charset="2"/>
                </a:rPr>
                <a:t>prior</a:t>
              </a:r>
              <a:r>
                <a:rPr lang="en-US" altLang="zh-TW" dirty="0">
                  <a:latin typeface="Arial Rounded MT Bold" panose="020F0704030504030204" pitchFamily="34" charset="77"/>
                  <a:sym typeface="Wingdings" pitchFamily="2" charset="2"/>
                </a:rPr>
                <a:t>  </a:t>
              </a:r>
            </a:p>
          </p:txBody>
        </p:sp>
        <p:pic>
          <p:nvPicPr>
            <p:cNvPr id="169" name="Picture 168">
              <a:extLst>
                <a:ext uri="{FF2B5EF4-FFF2-40B4-BE49-F238E27FC236}">
                  <a16:creationId xmlns:a16="http://schemas.microsoft.com/office/drawing/2014/main" id="{0B648F4F-DD3E-5194-D9F5-A2016D13D2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20742" y="1241279"/>
              <a:ext cx="225288" cy="174223"/>
            </a:xfrm>
            <a:prstGeom prst="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132E98AA-3D9F-5758-E5FE-813E5D45552F}"/>
              </a:ext>
            </a:extLst>
          </p:cNvPr>
          <p:cNvSpPr txBox="1"/>
          <p:nvPr/>
        </p:nvSpPr>
        <p:spPr>
          <a:xfrm rot="5400000">
            <a:off x="6957382" y="3757744"/>
            <a:ext cx="1244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Encoder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sp>
        <p:nvSpPr>
          <p:cNvPr id="29" name="Trapezoid 28">
            <a:extLst>
              <a:ext uri="{FF2B5EF4-FFF2-40B4-BE49-F238E27FC236}">
                <a16:creationId xmlns:a16="http://schemas.microsoft.com/office/drawing/2014/main" id="{7F68F4B0-3FBE-FAE0-6E3C-2D38E5628F5D}"/>
              </a:ext>
            </a:extLst>
          </p:cNvPr>
          <p:cNvSpPr/>
          <p:nvPr/>
        </p:nvSpPr>
        <p:spPr>
          <a:xfrm rot="16200000" flipH="1">
            <a:off x="8384972" y="3562850"/>
            <a:ext cx="1943350" cy="731864"/>
          </a:xfrm>
          <a:prstGeom prst="trapezoid">
            <a:avLst>
              <a:gd name="adj" fmla="val 42499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F992EDC-6BD6-BF41-4D04-7F2EE976E005}"/>
              </a:ext>
            </a:extLst>
          </p:cNvPr>
          <p:cNvSpPr txBox="1"/>
          <p:nvPr/>
        </p:nvSpPr>
        <p:spPr>
          <a:xfrm rot="5400000">
            <a:off x="8802031" y="3712772"/>
            <a:ext cx="11475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Decoder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CB84429-5B92-AB96-EE27-DFF40DAC4BC4}"/>
              </a:ext>
            </a:extLst>
          </p:cNvPr>
          <p:cNvGrpSpPr/>
          <p:nvPr/>
        </p:nvGrpSpPr>
        <p:grpSpPr>
          <a:xfrm rot="16200000">
            <a:off x="5584851" y="3768781"/>
            <a:ext cx="2213918" cy="267072"/>
            <a:chOff x="1774784" y="4965238"/>
            <a:chExt cx="2213918" cy="267072"/>
          </a:xfrm>
        </p:grpSpPr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48F4CBA9-7BDD-0694-4642-F9BA93961505}"/>
                </a:ext>
              </a:extLst>
            </p:cNvPr>
            <p:cNvSpPr/>
            <p:nvPr/>
          </p:nvSpPr>
          <p:spPr>
            <a:xfrm>
              <a:off x="1774784" y="4977757"/>
              <a:ext cx="254553" cy="254553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127E48C8-6816-2C05-CC8F-AB465124DFA3}"/>
                </a:ext>
              </a:extLst>
            </p:cNvPr>
            <p:cNvSpPr/>
            <p:nvPr/>
          </p:nvSpPr>
          <p:spPr>
            <a:xfrm>
              <a:off x="2258852" y="4977757"/>
              <a:ext cx="254553" cy="254553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Moon 56">
              <a:extLst>
                <a:ext uri="{FF2B5EF4-FFF2-40B4-BE49-F238E27FC236}">
                  <a16:creationId xmlns:a16="http://schemas.microsoft.com/office/drawing/2014/main" id="{ACE94224-573C-571F-48C3-FEC59B39025E}"/>
                </a:ext>
              </a:extLst>
            </p:cNvPr>
            <p:cNvSpPr/>
            <p:nvPr/>
          </p:nvSpPr>
          <p:spPr>
            <a:xfrm>
              <a:off x="2258852" y="4973584"/>
              <a:ext cx="137136" cy="254553"/>
            </a:xfrm>
            <a:prstGeom prst="moon">
              <a:avLst>
                <a:gd name="adj" fmla="val 33356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EF49B327-A812-392E-36B4-304B40EA27C3}"/>
                </a:ext>
              </a:extLst>
            </p:cNvPr>
            <p:cNvSpPr/>
            <p:nvPr/>
          </p:nvSpPr>
          <p:spPr>
            <a:xfrm>
              <a:off x="2742920" y="4969411"/>
              <a:ext cx="254553" cy="254553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Moon 59">
              <a:extLst>
                <a:ext uri="{FF2B5EF4-FFF2-40B4-BE49-F238E27FC236}">
                  <a16:creationId xmlns:a16="http://schemas.microsoft.com/office/drawing/2014/main" id="{A1AE07AC-0F15-3A58-8189-3402BC67B544}"/>
                </a:ext>
              </a:extLst>
            </p:cNvPr>
            <p:cNvSpPr/>
            <p:nvPr/>
          </p:nvSpPr>
          <p:spPr>
            <a:xfrm>
              <a:off x="2742920" y="4965238"/>
              <a:ext cx="137136" cy="254553"/>
            </a:xfrm>
            <a:prstGeom prst="moon">
              <a:avLst>
                <a:gd name="adj" fmla="val 79001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160FC691-8F31-2F27-75B6-0A250395BED9}"/>
                </a:ext>
              </a:extLst>
            </p:cNvPr>
            <p:cNvSpPr/>
            <p:nvPr/>
          </p:nvSpPr>
          <p:spPr>
            <a:xfrm>
              <a:off x="3734149" y="4969411"/>
              <a:ext cx="254553" cy="254553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A21BC8CE-BA31-6789-6664-DD08C832A5C1}"/>
                </a:ext>
              </a:extLst>
            </p:cNvPr>
            <p:cNvSpPr/>
            <p:nvPr/>
          </p:nvSpPr>
          <p:spPr>
            <a:xfrm>
              <a:off x="3255227" y="4977757"/>
              <a:ext cx="254553" cy="254553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Moon 62">
              <a:extLst>
                <a:ext uri="{FF2B5EF4-FFF2-40B4-BE49-F238E27FC236}">
                  <a16:creationId xmlns:a16="http://schemas.microsoft.com/office/drawing/2014/main" id="{1041D8E3-1239-6628-E235-72661BCEA619}"/>
                </a:ext>
              </a:extLst>
            </p:cNvPr>
            <p:cNvSpPr/>
            <p:nvPr/>
          </p:nvSpPr>
          <p:spPr>
            <a:xfrm>
              <a:off x="3255227" y="4977757"/>
              <a:ext cx="137136" cy="254553"/>
            </a:xfrm>
            <a:prstGeom prst="moon">
              <a:avLst>
                <a:gd name="adj" fmla="val 69872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27DE0E87-E6DF-73F5-15F3-6A77A3E088E6}"/>
              </a:ext>
            </a:extLst>
          </p:cNvPr>
          <p:cNvGrpSpPr/>
          <p:nvPr/>
        </p:nvGrpSpPr>
        <p:grpSpPr>
          <a:xfrm rot="16200000">
            <a:off x="9208910" y="3763902"/>
            <a:ext cx="2213918" cy="267072"/>
            <a:chOff x="1774784" y="4965238"/>
            <a:chExt cx="2213918" cy="267072"/>
          </a:xfrm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BF2A1FC4-2787-7A5A-FC96-12E4D52AEB2A}"/>
                </a:ext>
              </a:extLst>
            </p:cNvPr>
            <p:cNvSpPr/>
            <p:nvPr/>
          </p:nvSpPr>
          <p:spPr>
            <a:xfrm>
              <a:off x="1774784" y="4977757"/>
              <a:ext cx="254553" cy="254553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900A7FE3-50DA-105F-E46D-34E97D8B342A}"/>
                </a:ext>
              </a:extLst>
            </p:cNvPr>
            <p:cNvSpPr/>
            <p:nvPr/>
          </p:nvSpPr>
          <p:spPr>
            <a:xfrm>
              <a:off x="2258852" y="4977757"/>
              <a:ext cx="254553" cy="254553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Moon 75">
              <a:extLst>
                <a:ext uri="{FF2B5EF4-FFF2-40B4-BE49-F238E27FC236}">
                  <a16:creationId xmlns:a16="http://schemas.microsoft.com/office/drawing/2014/main" id="{AF179D04-8774-1149-4F24-9873CFB9A939}"/>
                </a:ext>
              </a:extLst>
            </p:cNvPr>
            <p:cNvSpPr/>
            <p:nvPr/>
          </p:nvSpPr>
          <p:spPr>
            <a:xfrm>
              <a:off x="2258852" y="4973584"/>
              <a:ext cx="137136" cy="254553"/>
            </a:xfrm>
            <a:prstGeom prst="moon">
              <a:avLst>
                <a:gd name="adj" fmla="val 33356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B5DF8766-55D1-7FDE-EAE2-FDE7F46970BE}"/>
                </a:ext>
              </a:extLst>
            </p:cNvPr>
            <p:cNvSpPr/>
            <p:nvPr/>
          </p:nvSpPr>
          <p:spPr>
            <a:xfrm>
              <a:off x="2742920" y="4969411"/>
              <a:ext cx="254553" cy="254553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Moon 77">
              <a:extLst>
                <a:ext uri="{FF2B5EF4-FFF2-40B4-BE49-F238E27FC236}">
                  <a16:creationId xmlns:a16="http://schemas.microsoft.com/office/drawing/2014/main" id="{3320AC93-1401-213E-B900-1F471AAAC549}"/>
                </a:ext>
              </a:extLst>
            </p:cNvPr>
            <p:cNvSpPr/>
            <p:nvPr/>
          </p:nvSpPr>
          <p:spPr>
            <a:xfrm>
              <a:off x="2742920" y="4965238"/>
              <a:ext cx="137136" cy="254553"/>
            </a:xfrm>
            <a:prstGeom prst="moon">
              <a:avLst>
                <a:gd name="adj" fmla="val 79001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761BAACF-0E03-249F-B650-E8EE3F3204A6}"/>
                </a:ext>
              </a:extLst>
            </p:cNvPr>
            <p:cNvSpPr/>
            <p:nvPr/>
          </p:nvSpPr>
          <p:spPr>
            <a:xfrm>
              <a:off x="3734149" y="4969411"/>
              <a:ext cx="254553" cy="254553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99B4F070-621D-0AB2-CA7E-8E924A6FD2AF}"/>
                </a:ext>
              </a:extLst>
            </p:cNvPr>
            <p:cNvSpPr/>
            <p:nvPr/>
          </p:nvSpPr>
          <p:spPr>
            <a:xfrm>
              <a:off x="3255227" y="4977757"/>
              <a:ext cx="254553" cy="254553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Moon 80">
              <a:extLst>
                <a:ext uri="{FF2B5EF4-FFF2-40B4-BE49-F238E27FC236}">
                  <a16:creationId xmlns:a16="http://schemas.microsoft.com/office/drawing/2014/main" id="{A7820C06-3CC5-1743-70DB-05E5F88AF511}"/>
                </a:ext>
              </a:extLst>
            </p:cNvPr>
            <p:cNvSpPr/>
            <p:nvPr/>
          </p:nvSpPr>
          <p:spPr>
            <a:xfrm>
              <a:off x="3255227" y="4977757"/>
              <a:ext cx="137136" cy="254553"/>
            </a:xfrm>
            <a:prstGeom prst="moon">
              <a:avLst>
                <a:gd name="adj" fmla="val 69872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2" name="Trapezoid 81">
            <a:extLst>
              <a:ext uri="{FF2B5EF4-FFF2-40B4-BE49-F238E27FC236}">
                <a16:creationId xmlns:a16="http://schemas.microsoft.com/office/drawing/2014/main" id="{FD2FA955-C4B8-541A-DE82-7A6ABA9B0910}"/>
              </a:ext>
            </a:extLst>
          </p:cNvPr>
          <p:cNvSpPr/>
          <p:nvPr/>
        </p:nvSpPr>
        <p:spPr>
          <a:xfrm rot="5400000">
            <a:off x="6599875" y="3538072"/>
            <a:ext cx="1943350" cy="731864"/>
          </a:xfrm>
          <a:prstGeom prst="trapezoid">
            <a:avLst>
              <a:gd name="adj" fmla="val 42499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4329636B-BDB6-5BDF-FEA3-EAA2B191AEA8}"/>
              </a:ext>
            </a:extLst>
          </p:cNvPr>
          <p:cNvGrpSpPr/>
          <p:nvPr/>
        </p:nvGrpSpPr>
        <p:grpSpPr>
          <a:xfrm>
            <a:off x="838151" y="1122397"/>
            <a:ext cx="4076749" cy="646331"/>
            <a:chOff x="838151" y="1122397"/>
            <a:chExt cx="4076749" cy="646331"/>
          </a:xfrm>
        </p:grpSpPr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AFE6C235-320C-1BA2-5AE5-BF9941467929}"/>
                </a:ext>
              </a:extLst>
            </p:cNvPr>
            <p:cNvSpPr txBox="1"/>
            <p:nvPr/>
          </p:nvSpPr>
          <p:spPr>
            <a:xfrm>
              <a:off x="838151" y="1122397"/>
              <a:ext cx="407674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latin typeface="Arial Rounded MT Bold" panose="020F0704030504030204" pitchFamily="34" charset="77"/>
                  <a:sym typeface="Wingdings" pitchFamily="2" charset="2"/>
                </a:rPr>
                <a:t>AE is projecting input        into </a:t>
              </a:r>
              <a:r>
                <a:rPr lang="en-US" altLang="zh-TW" dirty="0">
                  <a:solidFill>
                    <a:srgbClr val="FF0000"/>
                  </a:solidFill>
                  <a:latin typeface="Arial Rounded MT Bold" panose="020F0704030504030204" pitchFamily="34" charset="77"/>
                  <a:sym typeface="Wingdings" pitchFamily="2" charset="2"/>
                </a:rPr>
                <a:t>any</a:t>
              </a:r>
              <a:r>
                <a:rPr lang="en-US" altLang="zh-TW" dirty="0">
                  <a:latin typeface="Arial Rounded MT Bold" panose="020F0704030504030204" pitchFamily="34" charset="77"/>
                  <a:sym typeface="Wingdings" pitchFamily="2" charset="2"/>
                </a:rPr>
                <a:t> low dim. </a:t>
              </a:r>
              <a:r>
                <a:rPr lang="en-US" altLang="zh-TW" dirty="0">
                  <a:solidFill>
                    <a:srgbClr val="FF0000"/>
                  </a:solidFill>
                  <a:latin typeface="Arial Rounded MT Bold" panose="020F0704030504030204" pitchFamily="34" charset="77"/>
                  <a:sym typeface="Wingdings" pitchFamily="2" charset="2"/>
                </a:rPr>
                <a:t>vector</a:t>
              </a:r>
              <a:r>
                <a:rPr lang="en-US" altLang="zh-TW" dirty="0">
                  <a:latin typeface="Arial Rounded MT Bold" panose="020F0704030504030204" pitchFamily="34" charset="77"/>
                  <a:sym typeface="Wingdings" pitchFamily="2" charset="2"/>
                </a:rPr>
                <a:t> </a:t>
              </a:r>
            </a:p>
          </p:txBody>
        </p:sp>
        <p:pic>
          <p:nvPicPr>
            <p:cNvPr id="157" name="Picture 156">
              <a:extLst>
                <a:ext uri="{FF2B5EF4-FFF2-40B4-BE49-F238E27FC236}">
                  <a16:creationId xmlns:a16="http://schemas.microsoft.com/office/drawing/2014/main" id="{5F877BB7-AACC-C7B2-1E18-FF32D20BFB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23624" y="1243481"/>
              <a:ext cx="225288" cy="174223"/>
            </a:xfrm>
            <a:prstGeom prst="rect">
              <a:avLst/>
            </a:prstGeom>
          </p:spPr>
        </p:pic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164B8880-7907-0340-014C-07753F49DD43}"/>
              </a:ext>
            </a:extLst>
          </p:cNvPr>
          <p:cNvGrpSpPr/>
          <p:nvPr/>
        </p:nvGrpSpPr>
        <p:grpSpPr>
          <a:xfrm>
            <a:off x="905654" y="2790479"/>
            <a:ext cx="3891131" cy="2218797"/>
            <a:chOff x="905654" y="2790479"/>
            <a:chExt cx="3891131" cy="2218797"/>
          </a:xfrm>
        </p:grpSpPr>
        <p:cxnSp>
          <p:nvCxnSpPr>
            <p:cNvPr id="160" name="Straight Arrow Connector 159">
              <a:extLst>
                <a:ext uri="{FF2B5EF4-FFF2-40B4-BE49-F238E27FC236}">
                  <a16:creationId xmlns:a16="http://schemas.microsoft.com/office/drawing/2014/main" id="{B24B6899-7090-3A25-9049-7C02A1BE68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47503" y="4466529"/>
              <a:ext cx="1519821" cy="310309"/>
            </a:xfrm>
            <a:prstGeom prst="straightConnector1">
              <a:avLst/>
            </a:prstGeom>
            <a:ln w="28575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Arrow Connector 160">
              <a:extLst>
                <a:ext uri="{FF2B5EF4-FFF2-40B4-BE49-F238E27FC236}">
                  <a16:creationId xmlns:a16="http://schemas.microsoft.com/office/drawing/2014/main" id="{351C4157-1E98-A99A-2419-D27B07B01BBB}"/>
                </a:ext>
              </a:extLst>
            </p:cNvPr>
            <p:cNvCxnSpPr>
              <a:cxnSpLocks/>
            </p:cNvCxnSpPr>
            <p:nvPr/>
          </p:nvCxnSpPr>
          <p:spPr>
            <a:xfrm>
              <a:off x="2940730" y="4515232"/>
              <a:ext cx="1519821" cy="360447"/>
            </a:xfrm>
            <a:prstGeom prst="straightConnector1">
              <a:avLst/>
            </a:prstGeom>
            <a:ln w="28575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Arrow Connector 162">
              <a:extLst>
                <a:ext uri="{FF2B5EF4-FFF2-40B4-BE49-F238E27FC236}">
                  <a16:creationId xmlns:a16="http://schemas.microsoft.com/office/drawing/2014/main" id="{6C0FD348-28C7-81B9-19B6-5EF8A36701D6}"/>
                </a:ext>
              </a:extLst>
            </p:cNvPr>
            <p:cNvCxnSpPr>
              <a:cxnSpLocks/>
            </p:cNvCxnSpPr>
            <p:nvPr/>
          </p:nvCxnSpPr>
          <p:spPr>
            <a:xfrm>
              <a:off x="2963292" y="3854968"/>
              <a:ext cx="1497259" cy="152097"/>
            </a:xfrm>
            <a:prstGeom prst="straightConnector1">
              <a:avLst/>
            </a:prstGeom>
            <a:ln w="28575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Arrow Connector 164">
              <a:extLst>
                <a:ext uri="{FF2B5EF4-FFF2-40B4-BE49-F238E27FC236}">
                  <a16:creationId xmlns:a16="http://schemas.microsoft.com/office/drawing/2014/main" id="{CD404727-3A5E-7D83-E4F2-EC4C1E3E7E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39411" y="3463974"/>
              <a:ext cx="1421140" cy="712170"/>
            </a:xfrm>
            <a:prstGeom prst="straightConnector1">
              <a:avLst/>
            </a:prstGeom>
            <a:ln w="28575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Arrow Connector 165">
              <a:extLst>
                <a:ext uri="{FF2B5EF4-FFF2-40B4-BE49-F238E27FC236}">
                  <a16:creationId xmlns:a16="http://schemas.microsoft.com/office/drawing/2014/main" id="{3AE8F82D-2BB6-6334-31B7-94862877EA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26767" y="3007186"/>
              <a:ext cx="1464357" cy="432010"/>
            </a:xfrm>
            <a:prstGeom prst="straightConnector1">
              <a:avLst/>
            </a:prstGeom>
            <a:ln w="28575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3DC07B40-C6BF-24C0-9267-0DAE0B4F1553}"/>
                </a:ext>
              </a:extLst>
            </p:cNvPr>
            <p:cNvSpPr txBox="1"/>
            <p:nvPr/>
          </p:nvSpPr>
          <p:spPr>
            <a:xfrm rot="5400000">
              <a:off x="1304762" y="3757744"/>
              <a:ext cx="12449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latin typeface="Arial Rounded MT Bold" panose="020F0704030504030204" pitchFamily="34" charset="77"/>
                  <a:sym typeface="Wingdings" pitchFamily="2" charset="2"/>
                </a:rPr>
                <a:t>Encoder</a:t>
              </a:r>
              <a:endParaRPr lang="en-US" dirty="0">
                <a:latin typeface="Arial Rounded MT Bold" panose="020F0704030504030204" pitchFamily="34" charset="77"/>
              </a:endParaRPr>
            </a:p>
          </p:txBody>
        </p:sp>
        <p:sp>
          <p:nvSpPr>
            <p:cNvPr id="172" name="Trapezoid 171">
              <a:extLst>
                <a:ext uri="{FF2B5EF4-FFF2-40B4-BE49-F238E27FC236}">
                  <a16:creationId xmlns:a16="http://schemas.microsoft.com/office/drawing/2014/main" id="{7EF6478D-F868-0799-505B-8FE32194BF67}"/>
                </a:ext>
              </a:extLst>
            </p:cNvPr>
            <p:cNvSpPr/>
            <p:nvPr/>
          </p:nvSpPr>
          <p:spPr>
            <a:xfrm rot="16200000" flipH="1">
              <a:off x="2732352" y="3562850"/>
              <a:ext cx="1943350" cy="731864"/>
            </a:xfrm>
            <a:prstGeom prst="trapezoid">
              <a:avLst>
                <a:gd name="adj" fmla="val 42499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A7FE3BE4-5CAB-1F64-1FFD-09206CEB7A66}"/>
                </a:ext>
              </a:extLst>
            </p:cNvPr>
            <p:cNvSpPr txBox="1"/>
            <p:nvPr/>
          </p:nvSpPr>
          <p:spPr>
            <a:xfrm rot="5400000">
              <a:off x="3149411" y="3712772"/>
              <a:ext cx="114758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dirty="0">
                  <a:latin typeface="Arial Rounded MT Bold" panose="020F0704030504030204" pitchFamily="34" charset="77"/>
                  <a:sym typeface="Wingdings" pitchFamily="2" charset="2"/>
                </a:rPr>
                <a:t>Decoder</a:t>
              </a:r>
              <a:endParaRPr lang="en-US" dirty="0">
                <a:latin typeface="Arial Rounded MT Bold" panose="020F0704030504030204" pitchFamily="34" charset="77"/>
              </a:endParaRPr>
            </a:p>
          </p:txBody>
        </p:sp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E6CBEA87-C46B-138C-C092-37F938DB2870}"/>
                </a:ext>
              </a:extLst>
            </p:cNvPr>
            <p:cNvGrpSpPr/>
            <p:nvPr/>
          </p:nvGrpSpPr>
          <p:grpSpPr>
            <a:xfrm rot="17459832">
              <a:off x="2012550" y="3615129"/>
              <a:ext cx="1696065" cy="702639"/>
              <a:chOff x="6269193" y="2041898"/>
              <a:chExt cx="3250387" cy="1346558"/>
            </a:xfrm>
          </p:grpSpPr>
          <p:cxnSp>
            <p:nvCxnSpPr>
              <p:cNvPr id="199" name="Straight Arrow Connector 198">
                <a:extLst>
                  <a:ext uri="{FF2B5EF4-FFF2-40B4-BE49-F238E27FC236}">
                    <a16:creationId xmlns:a16="http://schemas.microsoft.com/office/drawing/2014/main" id="{02183E99-FE78-68A3-1066-70E72B77A0A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269193" y="2041898"/>
                <a:ext cx="3250387" cy="1293813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0" name="Multiplication Sign 199">
                <a:extLst>
                  <a:ext uri="{FF2B5EF4-FFF2-40B4-BE49-F238E27FC236}">
                    <a16:creationId xmlns:a16="http://schemas.microsoft.com/office/drawing/2014/main" id="{FE91562C-5366-2764-831C-E3D549D2C2C6}"/>
                  </a:ext>
                </a:extLst>
              </p:cNvPr>
              <p:cNvSpPr/>
              <p:nvPr/>
            </p:nvSpPr>
            <p:spPr>
              <a:xfrm>
                <a:off x="8561506" y="2298352"/>
                <a:ext cx="159929" cy="173039"/>
              </a:xfrm>
              <a:prstGeom prst="mathMultiply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1" name="Multiplication Sign 200">
                <a:extLst>
                  <a:ext uri="{FF2B5EF4-FFF2-40B4-BE49-F238E27FC236}">
                    <a16:creationId xmlns:a16="http://schemas.microsoft.com/office/drawing/2014/main" id="{32C67245-7DC2-2F50-5710-246B8297C884}"/>
                  </a:ext>
                </a:extLst>
              </p:cNvPr>
              <p:cNvSpPr/>
              <p:nvPr/>
            </p:nvSpPr>
            <p:spPr>
              <a:xfrm>
                <a:off x="8491670" y="2344996"/>
                <a:ext cx="159929" cy="173039"/>
              </a:xfrm>
              <a:prstGeom prst="mathMultiply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2" name="Multiplication Sign 201">
                <a:extLst>
                  <a:ext uri="{FF2B5EF4-FFF2-40B4-BE49-F238E27FC236}">
                    <a16:creationId xmlns:a16="http://schemas.microsoft.com/office/drawing/2014/main" id="{6E31E46A-2CC2-0765-B7EA-3D9E59238B88}"/>
                  </a:ext>
                </a:extLst>
              </p:cNvPr>
              <p:cNvSpPr/>
              <p:nvPr/>
            </p:nvSpPr>
            <p:spPr>
              <a:xfrm>
                <a:off x="7894632" y="2566431"/>
                <a:ext cx="159929" cy="173039"/>
              </a:xfrm>
              <a:prstGeom prst="mathMultiply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3" name="Multiplication Sign 202">
                <a:extLst>
                  <a:ext uri="{FF2B5EF4-FFF2-40B4-BE49-F238E27FC236}">
                    <a16:creationId xmlns:a16="http://schemas.microsoft.com/office/drawing/2014/main" id="{356F7A01-44E5-70EE-4726-77DB206CC7EF}"/>
                  </a:ext>
                </a:extLst>
              </p:cNvPr>
              <p:cNvSpPr/>
              <p:nvPr/>
            </p:nvSpPr>
            <p:spPr>
              <a:xfrm>
                <a:off x="7714231" y="2645334"/>
                <a:ext cx="159929" cy="173039"/>
              </a:xfrm>
              <a:prstGeom prst="mathMultiply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4" name="Multiplication Sign 203">
                <a:extLst>
                  <a:ext uri="{FF2B5EF4-FFF2-40B4-BE49-F238E27FC236}">
                    <a16:creationId xmlns:a16="http://schemas.microsoft.com/office/drawing/2014/main" id="{19C5E23F-3B92-C946-981A-A26DD195E76C}"/>
                  </a:ext>
                </a:extLst>
              </p:cNvPr>
              <p:cNvSpPr/>
              <p:nvPr/>
            </p:nvSpPr>
            <p:spPr>
              <a:xfrm>
                <a:off x="7537637" y="2703138"/>
                <a:ext cx="159929" cy="173039"/>
              </a:xfrm>
              <a:prstGeom prst="mathMultiply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5" name="Multiplication Sign 204">
                <a:extLst>
                  <a:ext uri="{FF2B5EF4-FFF2-40B4-BE49-F238E27FC236}">
                    <a16:creationId xmlns:a16="http://schemas.microsoft.com/office/drawing/2014/main" id="{6D323C8D-31A9-C2D2-C162-95697B9AB3F3}"/>
                  </a:ext>
                </a:extLst>
              </p:cNvPr>
              <p:cNvSpPr/>
              <p:nvPr/>
            </p:nvSpPr>
            <p:spPr>
              <a:xfrm>
                <a:off x="7018074" y="2923249"/>
                <a:ext cx="159929" cy="173039"/>
              </a:xfrm>
              <a:prstGeom prst="mathMultiply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6" name="Multiplication Sign 205">
                <a:extLst>
                  <a:ext uri="{FF2B5EF4-FFF2-40B4-BE49-F238E27FC236}">
                    <a16:creationId xmlns:a16="http://schemas.microsoft.com/office/drawing/2014/main" id="{CFF42FB9-0489-50EA-092F-CCFCB4DA576E}"/>
                  </a:ext>
                </a:extLst>
              </p:cNvPr>
              <p:cNvSpPr/>
              <p:nvPr/>
            </p:nvSpPr>
            <p:spPr>
              <a:xfrm>
                <a:off x="7128373" y="2883274"/>
                <a:ext cx="159929" cy="173039"/>
              </a:xfrm>
              <a:prstGeom prst="mathMultiply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7" name="Multiplication Sign 206">
                <a:extLst>
                  <a:ext uri="{FF2B5EF4-FFF2-40B4-BE49-F238E27FC236}">
                    <a16:creationId xmlns:a16="http://schemas.microsoft.com/office/drawing/2014/main" id="{B4C068CB-51FF-57D8-7905-8DBFAE8FA28A}"/>
                  </a:ext>
                </a:extLst>
              </p:cNvPr>
              <p:cNvSpPr/>
              <p:nvPr/>
            </p:nvSpPr>
            <p:spPr>
              <a:xfrm>
                <a:off x="6647918" y="3052426"/>
                <a:ext cx="159929" cy="173039"/>
              </a:xfrm>
              <a:prstGeom prst="mathMultiply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8" name="Multiplication Sign 207">
                <a:extLst>
                  <a:ext uri="{FF2B5EF4-FFF2-40B4-BE49-F238E27FC236}">
                    <a16:creationId xmlns:a16="http://schemas.microsoft.com/office/drawing/2014/main" id="{5E6A574B-EC44-7EEA-89C0-E8249764E270}"/>
                  </a:ext>
                </a:extLst>
              </p:cNvPr>
              <p:cNvSpPr/>
              <p:nvPr/>
            </p:nvSpPr>
            <p:spPr>
              <a:xfrm>
                <a:off x="6303650" y="3215417"/>
                <a:ext cx="159929" cy="173039"/>
              </a:xfrm>
              <a:prstGeom prst="mathMultiply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9" name="Multiplication Sign 208">
                <a:extLst>
                  <a:ext uri="{FF2B5EF4-FFF2-40B4-BE49-F238E27FC236}">
                    <a16:creationId xmlns:a16="http://schemas.microsoft.com/office/drawing/2014/main" id="{9357ECEC-D474-1B5F-B41A-C339F4B75AAF}"/>
                  </a:ext>
                </a:extLst>
              </p:cNvPr>
              <p:cNvSpPr/>
              <p:nvPr/>
            </p:nvSpPr>
            <p:spPr>
              <a:xfrm>
                <a:off x="8856466" y="2177844"/>
                <a:ext cx="159929" cy="173039"/>
              </a:xfrm>
              <a:prstGeom prst="mathMultiply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0" name="Multiplication Sign 209">
                <a:extLst>
                  <a:ext uri="{FF2B5EF4-FFF2-40B4-BE49-F238E27FC236}">
                    <a16:creationId xmlns:a16="http://schemas.microsoft.com/office/drawing/2014/main" id="{277166F7-A025-ABF0-1EF6-F7D4D5144944}"/>
                  </a:ext>
                </a:extLst>
              </p:cNvPr>
              <p:cNvSpPr/>
              <p:nvPr/>
            </p:nvSpPr>
            <p:spPr>
              <a:xfrm>
                <a:off x="8082038" y="2498966"/>
                <a:ext cx="159929" cy="173039"/>
              </a:xfrm>
              <a:prstGeom prst="mathMultiply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09810A2A-C78B-0C87-DBBA-6BE0869764EC}"/>
                </a:ext>
              </a:extLst>
            </p:cNvPr>
            <p:cNvGrpSpPr/>
            <p:nvPr/>
          </p:nvGrpSpPr>
          <p:grpSpPr>
            <a:xfrm rot="16200000">
              <a:off x="-67769" y="3768781"/>
              <a:ext cx="2213918" cy="267072"/>
              <a:chOff x="1774784" y="4965238"/>
              <a:chExt cx="2213918" cy="267072"/>
            </a:xfrm>
          </p:grpSpPr>
          <p:sp>
            <p:nvSpPr>
              <p:cNvPr id="191" name="Oval 190">
                <a:extLst>
                  <a:ext uri="{FF2B5EF4-FFF2-40B4-BE49-F238E27FC236}">
                    <a16:creationId xmlns:a16="http://schemas.microsoft.com/office/drawing/2014/main" id="{4F1273DF-7DD1-78A2-AAF7-4A2074CF8077}"/>
                  </a:ext>
                </a:extLst>
              </p:cNvPr>
              <p:cNvSpPr/>
              <p:nvPr/>
            </p:nvSpPr>
            <p:spPr>
              <a:xfrm>
                <a:off x="1774784" y="4977757"/>
                <a:ext cx="254553" cy="254553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2" name="Oval 191">
                <a:extLst>
                  <a:ext uri="{FF2B5EF4-FFF2-40B4-BE49-F238E27FC236}">
                    <a16:creationId xmlns:a16="http://schemas.microsoft.com/office/drawing/2014/main" id="{C5397C67-9E86-2230-6645-B37938A0046F}"/>
                  </a:ext>
                </a:extLst>
              </p:cNvPr>
              <p:cNvSpPr/>
              <p:nvPr/>
            </p:nvSpPr>
            <p:spPr>
              <a:xfrm>
                <a:off x="2258852" y="4977757"/>
                <a:ext cx="254553" cy="254553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3" name="Moon 192">
                <a:extLst>
                  <a:ext uri="{FF2B5EF4-FFF2-40B4-BE49-F238E27FC236}">
                    <a16:creationId xmlns:a16="http://schemas.microsoft.com/office/drawing/2014/main" id="{DCE9BC50-E7DD-68B9-1D03-8023A653D010}"/>
                  </a:ext>
                </a:extLst>
              </p:cNvPr>
              <p:cNvSpPr/>
              <p:nvPr/>
            </p:nvSpPr>
            <p:spPr>
              <a:xfrm>
                <a:off x="2258852" y="4973584"/>
                <a:ext cx="137136" cy="254553"/>
              </a:xfrm>
              <a:prstGeom prst="moon">
                <a:avLst>
                  <a:gd name="adj" fmla="val 33356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4" name="Oval 193">
                <a:extLst>
                  <a:ext uri="{FF2B5EF4-FFF2-40B4-BE49-F238E27FC236}">
                    <a16:creationId xmlns:a16="http://schemas.microsoft.com/office/drawing/2014/main" id="{DA8BF151-E772-4A12-B693-946381364DEE}"/>
                  </a:ext>
                </a:extLst>
              </p:cNvPr>
              <p:cNvSpPr/>
              <p:nvPr/>
            </p:nvSpPr>
            <p:spPr>
              <a:xfrm>
                <a:off x="2742920" y="4969411"/>
                <a:ext cx="254553" cy="254553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5" name="Moon 194">
                <a:extLst>
                  <a:ext uri="{FF2B5EF4-FFF2-40B4-BE49-F238E27FC236}">
                    <a16:creationId xmlns:a16="http://schemas.microsoft.com/office/drawing/2014/main" id="{22380EF0-8F63-6F93-515F-91F33302E5F5}"/>
                  </a:ext>
                </a:extLst>
              </p:cNvPr>
              <p:cNvSpPr/>
              <p:nvPr/>
            </p:nvSpPr>
            <p:spPr>
              <a:xfrm>
                <a:off x="2742920" y="4965238"/>
                <a:ext cx="137136" cy="254553"/>
              </a:xfrm>
              <a:prstGeom prst="moon">
                <a:avLst>
                  <a:gd name="adj" fmla="val 79001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6" name="Oval 195">
                <a:extLst>
                  <a:ext uri="{FF2B5EF4-FFF2-40B4-BE49-F238E27FC236}">
                    <a16:creationId xmlns:a16="http://schemas.microsoft.com/office/drawing/2014/main" id="{AC7F834D-F927-F4B5-328A-78A888282C62}"/>
                  </a:ext>
                </a:extLst>
              </p:cNvPr>
              <p:cNvSpPr/>
              <p:nvPr/>
            </p:nvSpPr>
            <p:spPr>
              <a:xfrm>
                <a:off x="3734149" y="4969411"/>
                <a:ext cx="254553" cy="254553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7" name="Oval 196">
                <a:extLst>
                  <a:ext uri="{FF2B5EF4-FFF2-40B4-BE49-F238E27FC236}">
                    <a16:creationId xmlns:a16="http://schemas.microsoft.com/office/drawing/2014/main" id="{DCD7DAE1-D748-BC59-D979-D3DEB1116222}"/>
                  </a:ext>
                </a:extLst>
              </p:cNvPr>
              <p:cNvSpPr/>
              <p:nvPr/>
            </p:nvSpPr>
            <p:spPr>
              <a:xfrm>
                <a:off x="3255227" y="4977757"/>
                <a:ext cx="254553" cy="254553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8" name="Moon 197">
                <a:extLst>
                  <a:ext uri="{FF2B5EF4-FFF2-40B4-BE49-F238E27FC236}">
                    <a16:creationId xmlns:a16="http://schemas.microsoft.com/office/drawing/2014/main" id="{50715A77-21C0-8D23-2638-D7E96D4523EE}"/>
                  </a:ext>
                </a:extLst>
              </p:cNvPr>
              <p:cNvSpPr/>
              <p:nvPr/>
            </p:nvSpPr>
            <p:spPr>
              <a:xfrm>
                <a:off x="3255227" y="4977757"/>
                <a:ext cx="137136" cy="254553"/>
              </a:xfrm>
              <a:prstGeom prst="moon">
                <a:avLst>
                  <a:gd name="adj" fmla="val 69872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76" name="Straight Arrow Connector 175">
              <a:extLst>
                <a:ext uri="{FF2B5EF4-FFF2-40B4-BE49-F238E27FC236}">
                  <a16:creationId xmlns:a16="http://schemas.microsoft.com/office/drawing/2014/main" id="{7DDFBA15-E5DB-A078-2CF2-95716607687E}"/>
                </a:ext>
              </a:extLst>
            </p:cNvPr>
            <p:cNvCxnSpPr>
              <a:cxnSpLocks/>
              <a:stCxn id="191" idx="4"/>
            </p:cNvCxnSpPr>
            <p:nvPr/>
          </p:nvCxnSpPr>
          <p:spPr>
            <a:xfrm flipV="1">
              <a:off x="1172726" y="4504288"/>
              <a:ext cx="1572079" cy="377711"/>
            </a:xfrm>
            <a:prstGeom prst="straightConnector1">
              <a:avLst/>
            </a:prstGeom>
            <a:ln w="28575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Arrow Connector 176">
              <a:extLst>
                <a:ext uri="{FF2B5EF4-FFF2-40B4-BE49-F238E27FC236}">
                  <a16:creationId xmlns:a16="http://schemas.microsoft.com/office/drawing/2014/main" id="{51157A64-FE0C-8B18-6631-93903567E782}"/>
                </a:ext>
              </a:extLst>
            </p:cNvPr>
            <p:cNvCxnSpPr>
              <a:cxnSpLocks/>
              <a:stCxn id="193" idx="2"/>
            </p:cNvCxnSpPr>
            <p:nvPr/>
          </p:nvCxnSpPr>
          <p:spPr>
            <a:xfrm>
              <a:off x="1168554" y="4388073"/>
              <a:ext cx="1576251" cy="366650"/>
            </a:xfrm>
            <a:prstGeom prst="straightConnector1">
              <a:avLst/>
            </a:prstGeom>
            <a:ln w="28575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Arrow Connector 177">
              <a:extLst>
                <a:ext uri="{FF2B5EF4-FFF2-40B4-BE49-F238E27FC236}">
                  <a16:creationId xmlns:a16="http://schemas.microsoft.com/office/drawing/2014/main" id="{7FCD7890-B692-DA97-26CB-77D16053F1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13428" y="3854968"/>
              <a:ext cx="1531377" cy="87442"/>
            </a:xfrm>
            <a:prstGeom prst="straightConnector1">
              <a:avLst/>
            </a:prstGeom>
            <a:ln w="28575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Arrow Connector 178">
              <a:extLst>
                <a:ext uri="{FF2B5EF4-FFF2-40B4-BE49-F238E27FC236}">
                  <a16:creationId xmlns:a16="http://schemas.microsoft.com/office/drawing/2014/main" id="{7516ADF7-AB7A-179D-5C82-5DBD286460C6}"/>
                </a:ext>
              </a:extLst>
            </p:cNvPr>
            <p:cNvCxnSpPr>
              <a:cxnSpLocks/>
            </p:cNvCxnSpPr>
            <p:nvPr/>
          </p:nvCxnSpPr>
          <p:spPr>
            <a:xfrm>
              <a:off x="1231997" y="3515880"/>
              <a:ext cx="1512808" cy="660264"/>
            </a:xfrm>
            <a:prstGeom prst="straightConnector1">
              <a:avLst/>
            </a:prstGeom>
            <a:ln w="28575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Arrow Connector 179">
              <a:extLst>
                <a:ext uri="{FF2B5EF4-FFF2-40B4-BE49-F238E27FC236}">
                  <a16:creationId xmlns:a16="http://schemas.microsoft.com/office/drawing/2014/main" id="{E3546494-1B43-4960-D927-0056BDD59B66}"/>
                </a:ext>
              </a:extLst>
            </p:cNvPr>
            <p:cNvCxnSpPr>
              <a:cxnSpLocks/>
            </p:cNvCxnSpPr>
            <p:nvPr/>
          </p:nvCxnSpPr>
          <p:spPr>
            <a:xfrm>
              <a:off x="1231997" y="2926009"/>
              <a:ext cx="1512808" cy="537965"/>
            </a:xfrm>
            <a:prstGeom prst="straightConnector1">
              <a:avLst/>
            </a:prstGeom>
            <a:ln w="28575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9E87801B-C9EC-602A-AAD5-89B26592A196}"/>
                </a:ext>
              </a:extLst>
            </p:cNvPr>
            <p:cNvGrpSpPr/>
            <p:nvPr/>
          </p:nvGrpSpPr>
          <p:grpSpPr>
            <a:xfrm rot="16200000">
              <a:off x="3556290" y="3763902"/>
              <a:ext cx="2213918" cy="267072"/>
              <a:chOff x="1774784" y="4965238"/>
              <a:chExt cx="2213918" cy="267072"/>
            </a:xfrm>
          </p:grpSpPr>
          <p:sp>
            <p:nvSpPr>
              <p:cNvPr id="183" name="Oval 182">
                <a:extLst>
                  <a:ext uri="{FF2B5EF4-FFF2-40B4-BE49-F238E27FC236}">
                    <a16:creationId xmlns:a16="http://schemas.microsoft.com/office/drawing/2014/main" id="{556D8A17-4F96-3274-07DD-246F72986837}"/>
                  </a:ext>
                </a:extLst>
              </p:cNvPr>
              <p:cNvSpPr/>
              <p:nvPr/>
            </p:nvSpPr>
            <p:spPr>
              <a:xfrm>
                <a:off x="1774784" y="4977757"/>
                <a:ext cx="254553" cy="254553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" name="Oval 183">
                <a:extLst>
                  <a:ext uri="{FF2B5EF4-FFF2-40B4-BE49-F238E27FC236}">
                    <a16:creationId xmlns:a16="http://schemas.microsoft.com/office/drawing/2014/main" id="{02433B0E-1267-516A-F3EC-D9131D6EE53F}"/>
                  </a:ext>
                </a:extLst>
              </p:cNvPr>
              <p:cNvSpPr/>
              <p:nvPr/>
            </p:nvSpPr>
            <p:spPr>
              <a:xfrm>
                <a:off x="2258852" y="4977757"/>
                <a:ext cx="254553" cy="254553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5" name="Moon 184">
                <a:extLst>
                  <a:ext uri="{FF2B5EF4-FFF2-40B4-BE49-F238E27FC236}">
                    <a16:creationId xmlns:a16="http://schemas.microsoft.com/office/drawing/2014/main" id="{05E99240-B238-AB6F-8122-D1C8AE910A80}"/>
                  </a:ext>
                </a:extLst>
              </p:cNvPr>
              <p:cNvSpPr/>
              <p:nvPr/>
            </p:nvSpPr>
            <p:spPr>
              <a:xfrm>
                <a:off x="2258852" y="4973584"/>
                <a:ext cx="137136" cy="254553"/>
              </a:xfrm>
              <a:prstGeom prst="moon">
                <a:avLst>
                  <a:gd name="adj" fmla="val 33356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6" name="Oval 185">
                <a:extLst>
                  <a:ext uri="{FF2B5EF4-FFF2-40B4-BE49-F238E27FC236}">
                    <a16:creationId xmlns:a16="http://schemas.microsoft.com/office/drawing/2014/main" id="{48583CFA-4420-FD1E-F008-DCC0C144806C}"/>
                  </a:ext>
                </a:extLst>
              </p:cNvPr>
              <p:cNvSpPr/>
              <p:nvPr/>
            </p:nvSpPr>
            <p:spPr>
              <a:xfrm>
                <a:off x="2742920" y="4969411"/>
                <a:ext cx="254553" cy="254553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7" name="Moon 186">
                <a:extLst>
                  <a:ext uri="{FF2B5EF4-FFF2-40B4-BE49-F238E27FC236}">
                    <a16:creationId xmlns:a16="http://schemas.microsoft.com/office/drawing/2014/main" id="{8E63A9E0-C6F8-1196-2F7A-7CFBCD116D34}"/>
                  </a:ext>
                </a:extLst>
              </p:cNvPr>
              <p:cNvSpPr/>
              <p:nvPr/>
            </p:nvSpPr>
            <p:spPr>
              <a:xfrm>
                <a:off x="2742920" y="4965238"/>
                <a:ext cx="137136" cy="254553"/>
              </a:xfrm>
              <a:prstGeom prst="moon">
                <a:avLst>
                  <a:gd name="adj" fmla="val 79001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8" name="Oval 187">
                <a:extLst>
                  <a:ext uri="{FF2B5EF4-FFF2-40B4-BE49-F238E27FC236}">
                    <a16:creationId xmlns:a16="http://schemas.microsoft.com/office/drawing/2014/main" id="{A855A171-5058-E3F6-A5AB-48F30B93C054}"/>
                  </a:ext>
                </a:extLst>
              </p:cNvPr>
              <p:cNvSpPr/>
              <p:nvPr/>
            </p:nvSpPr>
            <p:spPr>
              <a:xfrm>
                <a:off x="3734149" y="4969411"/>
                <a:ext cx="254553" cy="254553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9" name="Oval 188">
                <a:extLst>
                  <a:ext uri="{FF2B5EF4-FFF2-40B4-BE49-F238E27FC236}">
                    <a16:creationId xmlns:a16="http://schemas.microsoft.com/office/drawing/2014/main" id="{D136ED58-875C-2A1E-7D93-86202521A1D1}"/>
                  </a:ext>
                </a:extLst>
              </p:cNvPr>
              <p:cNvSpPr/>
              <p:nvPr/>
            </p:nvSpPr>
            <p:spPr>
              <a:xfrm>
                <a:off x="3255227" y="4977757"/>
                <a:ext cx="254553" cy="254553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0" name="Moon 189">
                <a:extLst>
                  <a:ext uri="{FF2B5EF4-FFF2-40B4-BE49-F238E27FC236}">
                    <a16:creationId xmlns:a16="http://schemas.microsoft.com/office/drawing/2014/main" id="{711A2DC5-8960-CCB6-95FF-5ED35AEA2C65}"/>
                  </a:ext>
                </a:extLst>
              </p:cNvPr>
              <p:cNvSpPr/>
              <p:nvPr/>
            </p:nvSpPr>
            <p:spPr>
              <a:xfrm>
                <a:off x="3255227" y="4977757"/>
                <a:ext cx="137136" cy="254553"/>
              </a:xfrm>
              <a:prstGeom prst="moon">
                <a:avLst>
                  <a:gd name="adj" fmla="val 69872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82" name="Trapezoid 181">
              <a:extLst>
                <a:ext uri="{FF2B5EF4-FFF2-40B4-BE49-F238E27FC236}">
                  <a16:creationId xmlns:a16="http://schemas.microsoft.com/office/drawing/2014/main" id="{51433988-CC35-AEB1-BA3A-60BA23C7C8B6}"/>
                </a:ext>
              </a:extLst>
            </p:cNvPr>
            <p:cNvSpPr/>
            <p:nvPr/>
          </p:nvSpPr>
          <p:spPr>
            <a:xfrm rot="5400000">
              <a:off x="947255" y="3538072"/>
              <a:ext cx="1943350" cy="731864"/>
            </a:xfrm>
            <a:prstGeom prst="trapezoid">
              <a:avLst>
                <a:gd name="adj" fmla="val 42499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9199A6B3-3BFB-48CA-BC7E-87B16B24ECA2}"/>
              </a:ext>
            </a:extLst>
          </p:cNvPr>
          <p:cNvCxnSpPr>
            <a:cxnSpLocks/>
          </p:cNvCxnSpPr>
          <p:nvPr/>
        </p:nvCxnSpPr>
        <p:spPr>
          <a:xfrm rot="17459832" flipV="1">
            <a:off x="7769561" y="3623959"/>
            <a:ext cx="1696065" cy="67511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5AF98A1-69DB-1150-F660-CA0F675FCA5E}"/>
              </a:ext>
            </a:extLst>
          </p:cNvPr>
          <p:cNvSpPr/>
          <p:nvPr/>
        </p:nvSpPr>
        <p:spPr>
          <a:xfrm rot="16200000">
            <a:off x="8087538" y="3812157"/>
            <a:ext cx="636495" cy="327848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3988CF">
              <a:alpha val="14902"/>
            </a:srgbClr>
          </a:solidFill>
          <a:ln w="38100">
            <a:solidFill>
              <a:srgbClr val="172C51">
                <a:alpha val="1490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298B3A37-1441-FE4B-0EA2-A957C933B3F6}"/>
              </a:ext>
            </a:extLst>
          </p:cNvPr>
          <p:cNvSpPr/>
          <p:nvPr/>
        </p:nvSpPr>
        <p:spPr>
          <a:xfrm rot="16200000">
            <a:off x="8124142" y="3584616"/>
            <a:ext cx="715575" cy="170801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3988CF">
              <a:alpha val="14902"/>
            </a:srgbClr>
          </a:solidFill>
          <a:ln w="38100">
            <a:solidFill>
              <a:srgbClr val="172C51">
                <a:alpha val="1490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F30D4F1-958F-0866-5119-5EDFC1BC89F3}"/>
              </a:ext>
            </a:extLst>
          </p:cNvPr>
          <p:cNvSpPr/>
          <p:nvPr/>
        </p:nvSpPr>
        <p:spPr>
          <a:xfrm rot="16200000">
            <a:off x="8100919" y="3239961"/>
            <a:ext cx="715575" cy="170801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3988CF">
              <a:alpha val="14902"/>
            </a:srgbClr>
          </a:solidFill>
          <a:ln w="38100">
            <a:solidFill>
              <a:srgbClr val="172C51">
                <a:alpha val="1490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B2F7A81-A779-1DEA-5674-794B3C2BA90C}"/>
              </a:ext>
            </a:extLst>
          </p:cNvPr>
          <p:cNvSpPr/>
          <p:nvPr/>
        </p:nvSpPr>
        <p:spPr>
          <a:xfrm rot="16200000">
            <a:off x="8085133" y="4232336"/>
            <a:ext cx="715575" cy="170801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3988CF">
              <a:alpha val="14902"/>
            </a:srgbClr>
          </a:solidFill>
          <a:ln w="38100">
            <a:solidFill>
              <a:srgbClr val="172C51">
                <a:alpha val="1490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533818F-F10E-4824-1156-B559E4C00D13}"/>
              </a:ext>
            </a:extLst>
          </p:cNvPr>
          <p:cNvSpPr/>
          <p:nvPr/>
        </p:nvSpPr>
        <p:spPr>
          <a:xfrm rot="16200000">
            <a:off x="8085613" y="4699196"/>
            <a:ext cx="715575" cy="170801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3988CF">
              <a:alpha val="14902"/>
            </a:srgbClr>
          </a:solidFill>
          <a:ln w="38100">
            <a:solidFill>
              <a:srgbClr val="172C51">
                <a:alpha val="1490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4FA93A2-8B14-F978-2359-1FB0E8AFF11B}"/>
              </a:ext>
            </a:extLst>
          </p:cNvPr>
          <p:cNvSpPr/>
          <p:nvPr/>
        </p:nvSpPr>
        <p:spPr>
          <a:xfrm rot="16200000">
            <a:off x="7162398" y="3880059"/>
            <a:ext cx="2307343" cy="470302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70AD47">
              <a:alpha val="30196"/>
            </a:srgbClr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9003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729EE-E517-363F-9332-439B8DF0C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7D80E51-F805-1CCD-EA8E-DCDC79808004}"/>
              </a:ext>
            </a:extLst>
          </p:cNvPr>
          <p:cNvSpPr txBox="1"/>
          <p:nvPr/>
        </p:nvSpPr>
        <p:spPr>
          <a:xfrm>
            <a:off x="276410" y="260293"/>
            <a:ext cx="1372281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VAE vs AE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E6A7973-9B9F-CE2C-9330-156EC2981AEB}"/>
              </a:ext>
            </a:extLst>
          </p:cNvPr>
          <p:cNvGrpSpPr/>
          <p:nvPr/>
        </p:nvGrpSpPr>
        <p:grpSpPr>
          <a:xfrm>
            <a:off x="7033878" y="1122397"/>
            <a:ext cx="4409408" cy="369332"/>
            <a:chOff x="1053813" y="1878391"/>
            <a:chExt cx="4409408" cy="369332"/>
          </a:xfrm>
        </p:grpSpPr>
        <p:sp>
          <p:nvSpPr>
            <p:cNvPr id="52" name="Arrow: Right 51">
              <a:extLst>
                <a:ext uri="{FF2B5EF4-FFF2-40B4-BE49-F238E27FC236}">
                  <a16:creationId xmlns:a16="http://schemas.microsoft.com/office/drawing/2014/main" id="{FB5B07AB-1C37-1446-51E5-C2D9869C96BC}"/>
                </a:ext>
              </a:extLst>
            </p:cNvPr>
            <p:cNvSpPr/>
            <p:nvPr/>
          </p:nvSpPr>
          <p:spPr>
            <a:xfrm>
              <a:off x="1053813" y="1971821"/>
              <a:ext cx="150209" cy="178240"/>
            </a:xfrm>
            <a:prstGeom prst="rightArrow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BEE3AFF-43B3-4D6F-C467-A7B404F90BAD}"/>
                </a:ext>
              </a:extLst>
            </p:cNvPr>
            <p:cNvSpPr txBox="1"/>
            <p:nvPr/>
          </p:nvSpPr>
          <p:spPr>
            <a:xfrm>
              <a:off x="1265312" y="1878391"/>
              <a:ext cx="41979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latin typeface="Arial Rounded MT Bold" panose="020F0704030504030204" pitchFamily="34" charset="77"/>
                  <a:sym typeface="Wingdings" pitchFamily="2" charset="2"/>
                </a:rPr>
                <a:t>Like doing “Packing problem”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E66C9902-D718-3E07-EB9B-B90D75C80E50}"/>
              </a:ext>
            </a:extLst>
          </p:cNvPr>
          <p:cNvSpPr txBox="1"/>
          <p:nvPr/>
        </p:nvSpPr>
        <p:spPr>
          <a:xfrm rot="5400000">
            <a:off x="1496139" y="3757744"/>
            <a:ext cx="1244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Encoder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sp>
        <p:nvSpPr>
          <p:cNvPr id="29" name="Trapezoid 28">
            <a:extLst>
              <a:ext uri="{FF2B5EF4-FFF2-40B4-BE49-F238E27FC236}">
                <a16:creationId xmlns:a16="http://schemas.microsoft.com/office/drawing/2014/main" id="{38E1A859-0BC1-800B-1FBF-6F02B6A59227}"/>
              </a:ext>
            </a:extLst>
          </p:cNvPr>
          <p:cNvSpPr/>
          <p:nvPr/>
        </p:nvSpPr>
        <p:spPr>
          <a:xfrm rot="16200000" flipH="1">
            <a:off x="2923729" y="3562850"/>
            <a:ext cx="1943350" cy="731864"/>
          </a:xfrm>
          <a:prstGeom prst="trapezoid">
            <a:avLst>
              <a:gd name="adj" fmla="val 42499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B474C10-4627-F35E-15A2-D3F1B45A7F13}"/>
              </a:ext>
            </a:extLst>
          </p:cNvPr>
          <p:cNvSpPr txBox="1"/>
          <p:nvPr/>
        </p:nvSpPr>
        <p:spPr>
          <a:xfrm rot="5400000">
            <a:off x="3340788" y="3712772"/>
            <a:ext cx="11475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Decoder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867AD104-73D3-77D5-A5A2-4DACBD05F5E3}"/>
              </a:ext>
            </a:extLst>
          </p:cNvPr>
          <p:cNvGrpSpPr/>
          <p:nvPr/>
        </p:nvGrpSpPr>
        <p:grpSpPr>
          <a:xfrm rot="16200000">
            <a:off x="123608" y="3768781"/>
            <a:ext cx="2213918" cy="267072"/>
            <a:chOff x="1774784" y="4965238"/>
            <a:chExt cx="2213918" cy="267072"/>
          </a:xfrm>
        </p:grpSpPr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E0F86601-71D5-FDCE-D4F8-6952E485353B}"/>
                </a:ext>
              </a:extLst>
            </p:cNvPr>
            <p:cNvSpPr/>
            <p:nvPr/>
          </p:nvSpPr>
          <p:spPr>
            <a:xfrm>
              <a:off x="1774784" y="4977757"/>
              <a:ext cx="254553" cy="254553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33146834-8BA8-B4D9-A733-63C027A54A7C}"/>
                </a:ext>
              </a:extLst>
            </p:cNvPr>
            <p:cNvSpPr/>
            <p:nvPr/>
          </p:nvSpPr>
          <p:spPr>
            <a:xfrm>
              <a:off x="2258852" y="4977757"/>
              <a:ext cx="254553" cy="254553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Moon 56">
              <a:extLst>
                <a:ext uri="{FF2B5EF4-FFF2-40B4-BE49-F238E27FC236}">
                  <a16:creationId xmlns:a16="http://schemas.microsoft.com/office/drawing/2014/main" id="{C6A97909-CD64-133E-B071-7098FAB08430}"/>
                </a:ext>
              </a:extLst>
            </p:cNvPr>
            <p:cNvSpPr/>
            <p:nvPr/>
          </p:nvSpPr>
          <p:spPr>
            <a:xfrm>
              <a:off x="2258852" y="4973584"/>
              <a:ext cx="137136" cy="254553"/>
            </a:xfrm>
            <a:prstGeom prst="moon">
              <a:avLst>
                <a:gd name="adj" fmla="val 33356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E05B2BA3-6E84-0E62-C8BF-93689160E141}"/>
                </a:ext>
              </a:extLst>
            </p:cNvPr>
            <p:cNvSpPr/>
            <p:nvPr/>
          </p:nvSpPr>
          <p:spPr>
            <a:xfrm>
              <a:off x="2742920" y="4969411"/>
              <a:ext cx="254553" cy="254553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Moon 59">
              <a:extLst>
                <a:ext uri="{FF2B5EF4-FFF2-40B4-BE49-F238E27FC236}">
                  <a16:creationId xmlns:a16="http://schemas.microsoft.com/office/drawing/2014/main" id="{83D647D5-DB7A-7293-8545-18312B60DF47}"/>
                </a:ext>
              </a:extLst>
            </p:cNvPr>
            <p:cNvSpPr/>
            <p:nvPr/>
          </p:nvSpPr>
          <p:spPr>
            <a:xfrm>
              <a:off x="2742920" y="4965238"/>
              <a:ext cx="137136" cy="254553"/>
            </a:xfrm>
            <a:prstGeom prst="moon">
              <a:avLst>
                <a:gd name="adj" fmla="val 79001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9BB9C7BF-2F21-32DB-028E-51F33E751807}"/>
                </a:ext>
              </a:extLst>
            </p:cNvPr>
            <p:cNvSpPr/>
            <p:nvPr/>
          </p:nvSpPr>
          <p:spPr>
            <a:xfrm>
              <a:off x="3734149" y="4969411"/>
              <a:ext cx="254553" cy="254553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C8451593-D50C-93B1-5A3A-2927BC20BAF5}"/>
                </a:ext>
              </a:extLst>
            </p:cNvPr>
            <p:cNvSpPr/>
            <p:nvPr/>
          </p:nvSpPr>
          <p:spPr>
            <a:xfrm>
              <a:off x="3255227" y="4977757"/>
              <a:ext cx="254553" cy="254553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Moon 62">
              <a:extLst>
                <a:ext uri="{FF2B5EF4-FFF2-40B4-BE49-F238E27FC236}">
                  <a16:creationId xmlns:a16="http://schemas.microsoft.com/office/drawing/2014/main" id="{410270A5-A984-22A4-339E-0600E76884B2}"/>
                </a:ext>
              </a:extLst>
            </p:cNvPr>
            <p:cNvSpPr/>
            <p:nvPr/>
          </p:nvSpPr>
          <p:spPr>
            <a:xfrm>
              <a:off x="3255227" y="4977757"/>
              <a:ext cx="137136" cy="254553"/>
            </a:xfrm>
            <a:prstGeom prst="moon">
              <a:avLst>
                <a:gd name="adj" fmla="val 69872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D6A239F1-5ED3-307F-2184-C31398B09AA7}"/>
              </a:ext>
            </a:extLst>
          </p:cNvPr>
          <p:cNvGrpSpPr/>
          <p:nvPr/>
        </p:nvGrpSpPr>
        <p:grpSpPr>
          <a:xfrm rot="16200000">
            <a:off x="3747667" y="3763902"/>
            <a:ext cx="2213918" cy="267072"/>
            <a:chOff x="1774784" y="4965238"/>
            <a:chExt cx="2213918" cy="267072"/>
          </a:xfrm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A0A87610-95EC-B207-74DC-54F21DE3B152}"/>
                </a:ext>
              </a:extLst>
            </p:cNvPr>
            <p:cNvSpPr/>
            <p:nvPr/>
          </p:nvSpPr>
          <p:spPr>
            <a:xfrm>
              <a:off x="1774784" y="4977757"/>
              <a:ext cx="254553" cy="254553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692CBF11-8DFA-14C2-0519-4D345A4E0620}"/>
                </a:ext>
              </a:extLst>
            </p:cNvPr>
            <p:cNvSpPr/>
            <p:nvPr/>
          </p:nvSpPr>
          <p:spPr>
            <a:xfrm>
              <a:off x="2258852" y="4977757"/>
              <a:ext cx="254553" cy="254553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Moon 75">
              <a:extLst>
                <a:ext uri="{FF2B5EF4-FFF2-40B4-BE49-F238E27FC236}">
                  <a16:creationId xmlns:a16="http://schemas.microsoft.com/office/drawing/2014/main" id="{5E18B903-558D-A581-12A7-3273342DEFFA}"/>
                </a:ext>
              </a:extLst>
            </p:cNvPr>
            <p:cNvSpPr/>
            <p:nvPr/>
          </p:nvSpPr>
          <p:spPr>
            <a:xfrm>
              <a:off x="2258852" y="4973584"/>
              <a:ext cx="137136" cy="254553"/>
            </a:xfrm>
            <a:prstGeom prst="moon">
              <a:avLst>
                <a:gd name="adj" fmla="val 33356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04BAA0B3-16FA-1385-DF23-82CA2703D295}"/>
                </a:ext>
              </a:extLst>
            </p:cNvPr>
            <p:cNvSpPr/>
            <p:nvPr/>
          </p:nvSpPr>
          <p:spPr>
            <a:xfrm>
              <a:off x="2742920" y="4969411"/>
              <a:ext cx="254553" cy="254553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Moon 77">
              <a:extLst>
                <a:ext uri="{FF2B5EF4-FFF2-40B4-BE49-F238E27FC236}">
                  <a16:creationId xmlns:a16="http://schemas.microsoft.com/office/drawing/2014/main" id="{96D255DE-C6A3-F02A-BACF-90019B55AF8F}"/>
                </a:ext>
              </a:extLst>
            </p:cNvPr>
            <p:cNvSpPr/>
            <p:nvPr/>
          </p:nvSpPr>
          <p:spPr>
            <a:xfrm>
              <a:off x="2742920" y="4965238"/>
              <a:ext cx="137136" cy="254553"/>
            </a:xfrm>
            <a:prstGeom prst="moon">
              <a:avLst>
                <a:gd name="adj" fmla="val 79001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248E05CE-D53A-AA78-BA49-FC539D8D1B9B}"/>
                </a:ext>
              </a:extLst>
            </p:cNvPr>
            <p:cNvSpPr/>
            <p:nvPr/>
          </p:nvSpPr>
          <p:spPr>
            <a:xfrm>
              <a:off x="3734149" y="4969411"/>
              <a:ext cx="254553" cy="254553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59BEFEFB-6D86-6884-0140-D1D7912160C7}"/>
                </a:ext>
              </a:extLst>
            </p:cNvPr>
            <p:cNvSpPr/>
            <p:nvPr/>
          </p:nvSpPr>
          <p:spPr>
            <a:xfrm>
              <a:off x="3255227" y="4977757"/>
              <a:ext cx="254553" cy="254553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Moon 80">
              <a:extLst>
                <a:ext uri="{FF2B5EF4-FFF2-40B4-BE49-F238E27FC236}">
                  <a16:creationId xmlns:a16="http://schemas.microsoft.com/office/drawing/2014/main" id="{36769940-2502-371D-02DE-AD618081BA92}"/>
                </a:ext>
              </a:extLst>
            </p:cNvPr>
            <p:cNvSpPr/>
            <p:nvPr/>
          </p:nvSpPr>
          <p:spPr>
            <a:xfrm>
              <a:off x="3255227" y="4977757"/>
              <a:ext cx="137136" cy="254553"/>
            </a:xfrm>
            <a:prstGeom prst="moon">
              <a:avLst>
                <a:gd name="adj" fmla="val 69872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2" name="Trapezoid 81">
            <a:extLst>
              <a:ext uri="{FF2B5EF4-FFF2-40B4-BE49-F238E27FC236}">
                <a16:creationId xmlns:a16="http://schemas.microsoft.com/office/drawing/2014/main" id="{0006E305-D61B-8788-E0AC-071226141393}"/>
              </a:ext>
            </a:extLst>
          </p:cNvPr>
          <p:cNvSpPr/>
          <p:nvPr/>
        </p:nvSpPr>
        <p:spPr>
          <a:xfrm rot="5400000">
            <a:off x="1138632" y="3538072"/>
            <a:ext cx="1943350" cy="731864"/>
          </a:xfrm>
          <a:prstGeom prst="trapezoid">
            <a:avLst>
              <a:gd name="adj" fmla="val 42499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6A90D0B7-F49A-9723-6E75-24D5E0B6645D}"/>
              </a:ext>
            </a:extLst>
          </p:cNvPr>
          <p:cNvCxnSpPr>
            <a:cxnSpLocks/>
          </p:cNvCxnSpPr>
          <p:nvPr/>
        </p:nvCxnSpPr>
        <p:spPr>
          <a:xfrm>
            <a:off x="1427546" y="3928782"/>
            <a:ext cx="1171068" cy="0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C8CE014-E22C-7A18-9BE3-D9BFE20056FF}"/>
              </a:ext>
            </a:extLst>
          </p:cNvPr>
          <p:cNvCxnSpPr>
            <a:cxnSpLocks/>
          </p:cNvCxnSpPr>
          <p:nvPr/>
        </p:nvCxnSpPr>
        <p:spPr>
          <a:xfrm rot="17459832" flipV="1">
            <a:off x="2267280" y="3623959"/>
            <a:ext cx="1696065" cy="67511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49BFC95-C0B6-269D-A377-9D760A8218F7}"/>
              </a:ext>
            </a:extLst>
          </p:cNvPr>
          <p:cNvSpPr/>
          <p:nvPr/>
        </p:nvSpPr>
        <p:spPr>
          <a:xfrm rot="16200000">
            <a:off x="2635519" y="3812157"/>
            <a:ext cx="636495" cy="327848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3988CF">
              <a:alpha val="30196"/>
            </a:srgb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0B4C74C-ECA1-6677-00CF-DE6FACE8835C}"/>
              </a:ext>
            </a:extLst>
          </p:cNvPr>
          <p:cNvGrpSpPr/>
          <p:nvPr/>
        </p:nvGrpSpPr>
        <p:grpSpPr>
          <a:xfrm>
            <a:off x="1094103" y="2027826"/>
            <a:ext cx="4870737" cy="369332"/>
            <a:chOff x="6387813" y="1122397"/>
            <a:chExt cx="4870737" cy="369332"/>
          </a:xfrm>
        </p:grpSpPr>
        <p:sp>
          <p:nvSpPr>
            <p:cNvPr id="19" name="Arrow: Right 18">
              <a:extLst>
                <a:ext uri="{FF2B5EF4-FFF2-40B4-BE49-F238E27FC236}">
                  <a16:creationId xmlns:a16="http://schemas.microsoft.com/office/drawing/2014/main" id="{C13465A8-424F-B75B-BE1F-821F65EB4619}"/>
                </a:ext>
              </a:extLst>
            </p:cNvPr>
            <p:cNvSpPr/>
            <p:nvPr/>
          </p:nvSpPr>
          <p:spPr>
            <a:xfrm>
              <a:off x="6387813" y="1215827"/>
              <a:ext cx="150209" cy="178240"/>
            </a:xfrm>
            <a:prstGeom prst="rightArrow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7A3EB95-3411-E282-A76F-D9A9345E0401}"/>
                </a:ext>
              </a:extLst>
            </p:cNvPr>
            <p:cNvSpPr txBox="1"/>
            <p:nvPr/>
          </p:nvSpPr>
          <p:spPr>
            <a:xfrm>
              <a:off x="6599312" y="1122397"/>
              <a:ext cx="46592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latin typeface="Arial Rounded MT Bold" panose="020F0704030504030204" pitchFamily="34" charset="77"/>
                  <a:sym typeface="Wingdings" pitchFamily="2" charset="2"/>
                </a:rPr>
                <a:t>Reconstruct: Sampling from posterior</a:t>
              </a:r>
            </a:p>
          </p:txBody>
        </p:sp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AF6AD5F-A50C-CE3B-A7B6-1DF3AF115C5C}"/>
              </a:ext>
            </a:extLst>
          </p:cNvPr>
          <p:cNvCxnSpPr>
            <a:cxnSpLocks/>
          </p:cNvCxnSpPr>
          <p:nvPr/>
        </p:nvCxnSpPr>
        <p:spPr>
          <a:xfrm>
            <a:off x="3215123" y="3827469"/>
            <a:ext cx="1356877" cy="101313"/>
          </a:xfrm>
          <a:prstGeom prst="straightConnector1">
            <a:avLst/>
          </a:prstGeom>
          <a:ln w="28575">
            <a:solidFill>
              <a:schemeClr val="accent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FC54163-5EBA-9776-5C70-57ACCFB2446D}"/>
              </a:ext>
            </a:extLst>
          </p:cNvPr>
          <p:cNvGrpSpPr/>
          <p:nvPr/>
        </p:nvGrpSpPr>
        <p:grpSpPr>
          <a:xfrm>
            <a:off x="962550" y="1122397"/>
            <a:ext cx="5958186" cy="369332"/>
            <a:chOff x="5938067" y="1122397"/>
            <a:chExt cx="5958186" cy="369332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9D1F64D-9275-1D7A-9C6C-3007B4733676}"/>
                </a:ext>
              </a:extLst>
            </p:cNvPr>
            <p:cNvSpPr txBox="1"/>
            <p:nvPr/>
          </p:nvSpPr>
          <p:spPr>
            <a:xfrm>
              <a:off x="5938067" y="1122397"/>
              <a:ext cx="59581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latin typeface="Arial Rounded MT Bold" panose="020F0704030504030204" pitchFamily="34" charset="77"/>
                  <a:sym typeface="Wingdings" pitchFamily="2" charset="2"/>
                </a:rPr>
                <a:t>VAE is projecting input        into a </a:t>
              </a:r>
              <a:r>
                <a:rPr lang="en-US" altLang="zh-TW" dirty="0">
                  <a:solidFill>
                    <a:srgbClr val="FF0000"/>
                  </a:solidFill>
                  <a:latin typeface="Arial Rounded MT Bold" panose="020F0704030504030204" pitchFamily="34" charset="77"/>
                  <a:sym typeface="Wingdings" pitchFamily="2" charset="2"/>
                </a:rPr>
                <a:t>fixed</a:t>
              </a:r>
              <a:r>
                <a:rPr lang="en-US" altLang="zh-TW" dirty="0">
                  <a:latin typeface="Arial Rounded MT Bold" panose="020F0704030504030204" pitchFamily="34" charset="77"/>
                  <a:sym typeface="Wingdings" pitchFamily="2" charset="2"/>
                </a:rPr>
                <a:t> low dim. </a:t>
              </a:r>
              <a:r>
                <a:rPr lang="en-US" altLang="zh-TW" dirty="0">
                  <a:solidFill>
                    <a:srgbClr val="FF0000"/>
                  </a:solidFill>
                  <a:latin typeface="Arial Rounded MT Bold" panose="020F0704030504030204" pitchFamily="34" charset="77"/>
                  <a:sym typeface="Wingdings" pitchFamily="2" charset="2"/>
                </a:rPr>
                <a:t>prior</a:t>
              </a:r>
              <a:r>
                <a:rPr lang="en-US" altLang="zh-TW" dirty="0">
                  <a:latin typeface="Arial Rounded MT Bold" panose="020F0704030504030204" pitchFamily="34" charset="77"/>
                  <a:sym typeface="Wingdings" pitchFamily="2" charset="2"/>
                </a:rPr>
                <a:t>  </a:t>
              </a:r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1F365C5D-C928-6624-94C1-E079040756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20742" y="1241279"/>
              <a:ext cx="225288" cy="17422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463341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5C08B-387B-9DCF-11C2-A345599D6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D6B5BEC-1994-67C6-9F2E-48AA1158F48C}"/>
              </a:ext>
            </a:extLst>
          </p:cNvPr>
          <p:cNvSpPr txBox="1"/>
          <p:nvPr/>
        </p:nvSpPr>
        <p:spPr>
          <a:xfrm>
            <a:off x="276410" y="260293"/>
            <a:ext cx="1372281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VAE vs AE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1C20132-C69C-7379-FA77-7326B32B8853}"/>
              </a:ext>
            </a:extLst>
          </p:cNvPr>
          <p:cNvSpPr txBox="1"/>
          <p:nvPr/>
        </p:nvSpPr>
        <p:spPr>
          <a:xfrm rot="5400000">
            <a:off x="6998420" y="3757744"/>
            <a:ext cx="1244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Encoder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sp>
        <p:nvSpPr>
          <p:cNvPr id="29" name="Trapezoid 28">
            <a:extLst>
              <a:ext uri="{FF2B5EF4-FFF2-40B4-BE49-F238E27FC236}">
                <a16:creationId xmlns:a16="http://schemas.microsoft.com/office/drawing/2014/main" id="{57AE8BBB-7C4A-7928-0F7A-3BCC1D8AE85B}"/>
              </a:ext>
            </a:extLst>
          </p:cNvPr>
          <p:cNvSpPr/>
          <p:nvPr/>
        </p:nvSpPr>
        <p:spPr>
          <a:xfrm rot="16200000" flipH="1">
            <a:off x="8426010" y="3562850"/>
            <a:ext cx="1943350" cy="731864"/>
          </a:xfrm>
          <a:prstGeom prst="trapezoid">
            <a:avLst>
              <a:gd name="adj" fmla="val 42499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360C789-0A11-65AC-0F53-C6F0B9574706}"/>
              </a:ext>
            </a:extLst>
          </p:cNvPr>
          <p:cNvSpPr txBox="1"/>
          <p:nvPr/>
        </p:nvSpPr>
        <p:spPr>
          <a:xfrm rot="5400000">
            <a:off x="8843069" y="3712772"/>
            <a:ext cx="11475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Decoder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FEF48DA-08B2-6D7B-51D2-D9AE33822B8C}"/>
              </a:ext>
            </a:extLst>
          </p:cNvPr>
          <p:cNvGrpSpPr/>
          <p:nvPr/>
        </p:nvGrpSpPr>
        <p:grpSpPr>
          <a:xfrm rot="16200000">
            <a:off x="5625889" y="3768781"/>
            <a:ext cx="2213918" cy="267072"/>
            <a:chOff x="1774784" y="4965238"/>
            <a:chExt cx="2213918" cy="267072"/>
          </a:xfrm>
        </p:grpSpPr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AA97C319-A242-C4BF-452B-1951111D68FC}"/>
                </a:ext>
              </a:extLst>
            </p:cNvPr>
            <p:cNvSpPr/>
            <p:nvPr/>
          </p:nvSpPr>
          <p:spPr>
            <a:xfrm>
              <a:off x="1774784" y="4977757"/>
              <a:ext cx="254553" cy="254553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DC9BAD58-9C6F-84F2-B3CC-F71525F72557}"/>
                </a:ext>
              </a:extLst>
            </p:cNvPr>
            <p:cNvSpPr/>
            <p:nvPr/>
          </p:nvSpPr>
          <p:spPr>
            <a:xfrm>
              <a:off x="2258852" y="4977757"/>
              <a:ext cx="254553" cy="254553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Moon 56">
              <a:extLst>
                <a:ext uri="{FF2B5EF4-FFF2-40B4-BE49-F238E27FC236}">
                  <a16:creationId xmlns:a16="http://schemas.microsoft.com/office/drawing/2014/main" id="{976E9F77-FACE-24EC-6D44-75EE56FDF305}"/>
                </a:ext>
              </a:extLst>
            </p:cNvPr>
            <p:cNvSpPr/>
            <p:nvPr/>
          </p:nvSpPr>
          <p:spPr>
            <a:xfrm>
              <a:off x="2258852" y="4973584"/>
              <a:ext cx="137136" cy="254553"/>
            </a:xfrm>
            <a:prstGeom prst="moon">
              <a:avLst>
                <a:gd name="adj" fmla="val 33356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FB3BDD87-E84B-98CD-DA6F-06A57F5EDED1}"/>
                </a:ext>
              </a:extLst>
            </p:cNvPr>
            <p:cNvSpPr/>
            <p:nvPr/>
          </p:nvSpPr>
          <p:spPr>
            <a:xfrm>
              <a:off x="2742920" y="4969411"/>
              <a:ext cx="254553" cy="254553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Moon 59">
              <a:extLst>
                <a:ext uri="{FF2B5EF4-FFF2-40B4-BE49-F238E27FC236}">
                  <a16:creationId xmlns:a16="http://schemas.microsoft.com/office/drawing/2014/main" id="{61DF8D69-9F2A-C4EB-09C4-07ECB115415D}"/>
                </a:ext>
              </a:extLst>
            </p:cNvPr>
            <p:cNvSpPr/>
            <p:nvPr/>
          </p:nvSpPr>
          <p:spPr>
            <a:xfrm>
              <a:off x="2742920" y="4965238"/>
              <a:ext cx="137136" cy="254553"/>
            </a:xfrm>
            <a:prstGeom prst="moon">
              <a:avLst>
                <a:gd name="adj" fmla="val 79001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3069D1DB-ABDF-CA46-075B-224C70648F5A}"/>
                </a:ext>
              </a:extLst>
            </p:cNvPr>
            <p:cNvSpPr/>
            <p:nvPr/>
          </p:nvSpPr>
          <p:spPr>
            <a:xfrm>
              <a:off x="3734149" y="4969411"/>
              <a:ext cx="254553" cy="254553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624169B1-527B-163F-CC23-7DEC923D4A30}"/>
                </a:ext>
              </a:extLst>
            </p:cNvPr>
            <p:cNvSpPr/>
            <p:nvPr/>
          </p:nvSpPr>
          <p:spPr>
            <a:xfrm>
              <a:off x="3255227" y="4977757"/>
              <a:ext cx="254553" cy="254553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Moon 62">
              <a:extLst>
                <a:ext uri="{FF2B5EF4-FFF2-40B4-BE49-F238E27FC236}">
                  <a16:creationId xmlns:a16="http://schemas.microsoft.com/office/drawing/2014/main" id="{68819F16-91B2-080B-D3D9-529F61B843FC}"/>
                </a:ext>
              </a:extLst>
            </p:cNvPr>
            <p:cNvSpPr/>
            <p:nvPr/>
          </p:nvSpPr>
          <p:spPr>
            <a:xfrm>
              <a:off x="3255227" y="4977757"/>
              <a:ext cx="137136" cy="254553"/>
            </a:xfrm>
            <a:prstGeom prst="moon">
              <a:avLst>
                <a:gd name="adj" fmla="val 69872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2" name="Trapezoid 81">
            <a:extLst>
              <a:ext uri="{FF2B5EF4-FFF2-40B4-BE49-F238E27FC236}">
                <a16:creationId xmlns:a16="http://schemas.microsoft.com/office/drawing/2014/main" id="{42B8F639-9FA3-63E3-08D2-33FD478D813F}"/>
              </a:ext>
            </a:extLst>
          </p:cNvPr>
          <p:cNvSpPr/>
          <p:nvPr/>
        </p:nvSpPr>
        <p:spPr>
          <a:xfrm rot="5400000">
            <a:off x="6640913" y="3538072"/>
            <a:ext cx="1943350" cy="731864"/>
          </a:xfrm>
          <a:prstGeom prst="trapezoid">
            <a:avLst>
              <a:gd name="adj" fmla="val 42499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64E77D4-38D2-2165-5FEC-8B571144DFEB}"/>
              </a:ext>
            </a:extLst>
          </p:cNvPr>
          <p:cNvCxnSpPr>
            <a:cxnSpLocks/>
          </p:cNvCxnSpPr>
          <p:nvPr/>
        </p:nvCxnSpPr>
        <p:spPr>
          <a:xfrm rot="17459832" flipV="1">
            <a:off x="7769561" y="3623959"/>
            <a:ext cx="1696065" cy="67511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910C14AF-63FD-309C-C569-50D8309C7B70}"/>
              </a:ext>
            </a:extLst>
          </p:cNvPr>
          <p:cNvSpPr/>
          <p:nvPr/>
        </p:nvSpPr>
        <p:spPr>
          <a:xfrm rot="16200000">
            <a:off x="8087538" y="3812157"/>
            <a:ext cx="636495" cy="327848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3988CF">
              <a:alpha val="14902"/>
            </a:srgbClr>
          </a:solidFill>
          <a:ln w="38100">
            <a:solidFill>
              <a:srgbClr val="172C51">
                <a:alpha val="1490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227CF87-6AC8-6937-53FD-7789367C3D36}"/>
              </a:ext>
            </a:extLst>
          </p:cNvPr>
          <p:cNvSpPr/>
          <p:nvPr/>
        </p:nvSpPr>
        <p:spPr>
          <a:xfrm rot="16200000">
            <a:off x="8124142" y="3584616"/>
            <a:ext cx="715575" cy="170801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3988CF">
              <a:alpha val="14902"/>
            </a:srgbClr>
          </a:solidFill>
          <a:ln w="38100">
            <a:solidFill>
              <a:srgbClr val="172C51">
                <a:alpha val="1490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86E9B7D-36E7-0C78-EE03-99F5BFE6B568}"/>
              </a:ext>
            </a:extLst>
          </p:cNvPr>
          <p:cNvSpPr/>
          <p:nvPr/>
        </p:nvSpPr>
        <p:spPr>
          <a:xfrm rot="16200000">
            <a:off x="8100919" y="3239961"/>
            <a:ext cx="715575" cy="170801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3988CF">
              <a:alpha val="14902"/>
            </a:srgbClr>
          </a:solidFill>
          <a:ln w="38100">
            <a:solidFill>
              <a:srgbClr val="172C51">
                <a:alpha val="1490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7E065A-96BC-9001-2AD4-6BE016DCB61C}"/>
              </a:ext>
            </a:extLst>
          </p:cNvPr>
          <p:cNvSpPr/>
          <p:nvPr/>
        </p:nvSpPr>
        <p:spPr>
          <a:xfrm rot="16200000">
            <a:off x="8085133" y="4232336"/>
            <a:ext cx="715575" cy="170801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3988CF">
              <a:alpha val="14902"/>
            </a:srgbClr>
          </a:solidFill>
          <a:ln w="38100">
            <a:solidFill>
              <a:srgbClr val="172C51">
                <a:alpha val="1490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6A6C4DD-77BD-7684-F552-9BB57AABAC8F}"/>
              </a:ext>
            </a:extLst>
          </p:cNvPr>
          <p:cNvSpPr/>
          <p:nvPr/>
        </p:nvSpPr>
        <p:spPr>
          <a:xfrm rot="16200000">
            <a:off x="8085613" y="4699196"/>
            <a:ext cx="715575" cy="170801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3988CF">
              <a:alpha val="14902"/>
            </a:srgbClr>
          </a:solidFill>
          <a:ln w="38100">
            <a:solidFill>
              <a:srgbClr val="172C51">
                <a:alpha val="1490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63C9924-0C09-EDF3-5446-D2C9643D5C1C}"/>
              </a:ext>
            </a:extLst>
          </p:cNvPr>
          <p:cNvSpPr/>
          <p:nvPr/>
        </p:nvSpPr>
        <p:spPr>
          <a:xfrm rot="16200000">
            <a:off x="7162398" y="3880059"/>
            <a:ext cx="2307343" cy="470302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70AD47">
              <a:alpha val="30196"/>
            </a:srgbClr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956BB70-17D8-01D2-89E4-3F399F98ECD3}"/>
              </a:ext>
            </a:extLst>
          </p:cNvPr>
          <p:cNvCxnSpPr>
            <a:cxnSpLocks/>
          </p:cNvCxnSpPr>
          <p:nvPr/>
        </p:nvCxnSpPr>
        <p:spPr>
          <a:xfrm>
            <a:off x="8435158" y="3742153"/>
            <a:ext cx="1594074" cy="0"/>
          </a:xfrm>
          <a:prstGeom prst="straightConnector1">
            <a:avLst/>
          </a:prstGeom>
          <a:ln w="28575">
            <a:solidFill>
              <a:schemeClr val="accent6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170BF86-06A8-6424-50C5-F7E562BB4815}"/>
              </a:ext>
            </a:extLst>
          </p:cNvPr>
          <p:cNvGrpSpPr/>
          <p:nvPr/>
        </p:nvGrpSpPr>
        <p:grpSpPr>
          <a:xfrm>
            <a:off x="7033878" y="1122397"/>
            <a:ext cx="4409408" cy="369332"/>
            <a:chOff x="1053813" y="1878391"/>
            <a:chExt cx="4409408" cy="369332"/>
          </a:xfrm>
        </p:grpSpPr>
        <p:sp>
          <p:nvSpPr>
            <p:cNvPr id="13" name="Arrow: Right 12">
              <a:extLst>
                <a:ext uri="{FF2B5EF4-FFF2-40B4-BE49-F238E27FC236}">
                  <a16:creationId xmlns:a16="http://schemas.microsoft.com/office/drawing/2014/main" id="{74ADAF5B-E2E8-A31D-DA39-B29FE1722159}"/>
                </a:ext>
              </a:extLst>
            </p:cNvPr>
            <p:cNvSpPr/>
            <p:nvPr/>
          </p:nvSpPr>
          <p:spPr>
            <a:xfrm>
              <a:off x="1053813" y="1971821"/>
              <a:ext cx="150209" cy="178240"/>
            </a:xfrm>
            <a:prstGeom prst="rightArrow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95A011B-EA02-E493-A4FC-3B6E1F074459}"/>
                </a:ext>
              </a:extLst>
            </p:cNvPr>
            <p:cNvSpPr txBox="1"/>
            <p:nvPr/>
          </p:nvSpPr>
          <p:spPr>
            <a:xfrm>
              <a:off x="1265312" y="1878391"/>
              <a:ext cx="41979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latin typeface="Arial Rounded MT Bold" panose="020F0704030504030204" pitchFamily="34" charset="77"/>
                  <a:sym typeface="Wingdings" pitchFamily="2" charset="2"/>
                </a:rPr>
                <a:t>Like doing “Packing problem”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52C0C2E-A1A6-38C4-96F4-88275ADD9E34}"/>
              </a:ext>
            </a:extLst>
          </p:cNvPr>
          <p:cNvGrpSpPr/>
          <p:nvPr/>
        </p:nvGrpSpPr>
        <p:grpSpPr>
          <a:xfrm>
            <a:off x="1094103" y="2027826"/>
            <a:ext cx="4870737" cy="369332"/>
            <a:chOff x="6387813" y="1122397"/>
            <a:chExt cx="4870737" cy="369332"/>
          </a:xfrm>
        </p:grpSpPr>
        <p:sp>
          <p:nvSpPr>
            <p:cNvPr id="16" name="Arrow: Right 15">
              <a:extLst>
                <a:ext uri="{FF2B5EF4-FFF2-40B4-BE49-F238E27FC236}">
                  <a16:creationId xmlns:a16="http://schemas.microsoft.com/office/drawing/2014/main" id="{10351F72-0AA4-214C-55D0-E41DF5DA8E7B}"/>
                </a:ext>
              </a:extLst>
            </p:cNvPr>
            <p:cNvSpPr/>
            <p:nvPr/>
          </p:nvSpPr>
          <p:spPr>
            <a:xfrm>
              <a:off x="6387813" y="1215827"/>
              <a:ext cx="150209" cy="178240"/>
            </a:xfrm>
            <a:prstGeom prst="rightArrow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CD573DE-3F74-CD5B-30AE-4E0E63DB2627}"/>
                </a:ext>
              </a:extLst>
            </p:cNvPr>
            <p:cNvSpPr txBox="1"/>
            <p:nvPr/>
          </p:nvSpPr>
          <p:spPr>
            <a:xfrm>
              <a:off x="6599312" y="1122397"/>
              <a:ext cx="46592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latin typeface="Arial Rounded MT Bold" panose="020F0704030504030204" pitchFamily="34" charset="77"/>
                  <a:sym typeface="Wingdings" pitchFamily="2" charset="2"/>
                </a:rPr>
                <a:t>Reconstruct: Sampling from posterior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5D27704-AC27-2056-11DA-9B035451CFF9}"/>
              </a:ext>
            </a:extLst>
          </p:cNvPr>
          <p:cNvGrpSpPr/>
          <p:nvPr/>
        </p:nvGrpSpPr>
        <p:grpSpPr>
          <a:xfrm>
            <a:off x="962550" y="1122397"/>
            <a:ext cx="5958186" cy="369332"/>
            <a:chOff x="5938067" y="1122397"/>
            <a:chExt cx="5958186" cy="369332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76223F5-B859-9E72-A49A-EB3140AA6FC8}"/>
                </a:ext>
              </a:extLst>
            </p:cNvPr>
            <p:cNvSpPr txBox="1"/>
            <p:nvPr/>
          </p:nvSpPr>
          <p:spPr>
            <a:xfrm>
              <a:off x="5938067" y="1122397"/>
              <a:ext cx="59581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latin typeface="Arial Rounded MT Bold" panose="020F0704030504030204" pitchFamily="34" charset="77"/>
                  <a:sym typeface="Wingdings" pitchFamily="2" charset="2"/>
                </a:rPr>
                <a:t>VAE is projecting input        into a </a:t>
              </a:r>
              <a:r>
                <a:rPr lang="en-US" altLang="zh-TW" dirty="0">
                  <a:solidFill>
                    <a:srgbClr val="FF0000"/>
                  </a:solidFill>
                  <a:latin typeface="Arial Rounded MT Bold" panose="020F0704030504030204" pitchFamily="34" charset="77"/>
                  <a:sym typeface="Wingdings" pitchFamily="2" charset="2"/>
                </a:rPr>
                <a:t>fixed</a:t>
              </a:r>
              <a:r>
                <a:rPr lang="en-US" altLang="zh-TW" dirty="0">
                  <a:latin typeface="Arial Rounded MT Bold" panose="020F0704030504030204" pitchFamily="34" charset="77"/>
                  <a:sym typeface="Wingdings" pitchFamily="2" charset="2"/>
                </a:rPr>
                <a:t> low dim. </a:t>
              </a:r>
              <a:r>
                <a:rPr lang="en-US" altLang="zh-TW" dirty="0">
                  <a:solidFill>
                    <a:srgbClr val="FF0000"/>
                  </a:solidFill>
                  <a:latin typeface="Arial Rounded MT Bold" panose="020F0704030504030204" pitchFamily="34" charset="77"/>
                  <a:sym typeface="Wingdings" pitchFamily="2" charset="2"/>
                </a:rPr>
                <a:t>prior</a:t>
              </a:r>
              <a:r>
                <a:rPr lang="en-US" altLang="zh-TW" dirty="0">
                  <a:latin typeface="Arial Rounded MT Bold" panose="020F0704030504030204" pitchFamily="34" charset="77"/>
                  <a:sym typeface="Wingdings" pitchFamily="2" charset="2"/>
                </a:rPr>
                <a:t>  </a:t>
              </a: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D27EA6B7-6843-1C1B-2AC2-05FD01FB72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20742" y="1241279"/>
              <a:ext cx="225288" cy="174223"/>
            </a:xfrm>
            <a:prstGeom prst="rect">
              <a:avLst/>
            </a:prstGeom>
          </p:spPr>
        </p:pic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26F38174-6052-F42B-88E6-906D7978161E}"/>
              </a:ext>
            </a:extLst>
          </p:cNvPr>
          <p:cNvSpPr txBox="1"/>
          <p:nvPr/>
        </p:nvSpPr>
        <p:spPr>
          <a:xfrm rot="5400000">
            <a:off x="1496139" y="3757744"/>
            <a:ext cx="1244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Encoder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sp>
        <p:nvSpPr>
          <p:cNvPr id="25" name="Trapezoid 24">
            <a:extLst>
              <a:ext uri="{FF2B5EF4-FFF2-40B4-BE49-F238E27FC236}">
                <a16:creationId xmlns:a16="http://schemas.microsoft.com/office/drawing/2014/main" id="{AE929948-38C8-92ED-6454-27758248C472}"/>
              </a:ext>
            </a:extLst>
          </p:cNvPr>
          <p:cNvSpPr/>
          <p:nvPr/>
        </p:nvSpPr>
        <p:spPr>
          <a:xfrm rot="16200000" flipH="1">
            <a:off x="2923729" y="3562850"/>
            <a:ext cx="1943350" cy="731864"/>
          </a:xfrm>
          <a:prstGeom prst="trapezoid">
            <a:avLst>
              <a:gd name="adj" fmla="val 42499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4ED93ED-AFE0-6FBA-ABEA-752AFFDE62AE}"/>
              </a:ext>
            </a:extLst>
          </p:cNvPr>
          <p:cNvSpPr txBox="1"/>
          <p:nvPr/>
        </p:nvSpPr>
        <p:spPr>
          <a:xfrm rot="5400000">
            <a:off x="3340788" y="3712772"/>
            <a:ext cx="11475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Decoder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8A73683-6CEA-57D4-8D43-E9A57E516B12}"/>
              </a:ext>
            </a:extLst>
          </p:cNvPr>
          <p:cNvGrpSpPr/>
          <p:nvPr/>
        </p:nvGrpSpPr>
        <p:grpSpPr>
          <a:xfrm rot="16200000">
            <a:off x="123608" y="3768781"/>
            <a:ext cx="2213918" cy="267072"/>
            <a:chOff x="1774784" y="4965238"/>
            <a:chExt cx="2213918" cy="267072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4B9F428E-0DB2-3E86-0178-F24BB5A8B7CE}"/>
                </a:ext>
              </a:extLst>
            </p:cNvPr>
            <p:cNvSpPr/>
            <p:nvPr/>
          </p:nvSpPr>
          <p:spPr>
            <a:xfrm>
              <a:off x="1774784" y="4977757"/>
              <a:ext cx="254553" cy="254553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DAA7A7F1-61F1-3BD2-06AE-1177543DB639}"/>
                </a:ext>
              </a:extLst>
            </p:cNvPr>
            <p:cNvSpPr/>
            <p:nvPr/>
          </p:nvSpPr>
          <p:spPr>
            <a:xfrm>
              <a:off x="2258852" y="4977757"/>
              <a:ext cx="254553" cy="254553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Moon 32">
              <a:extLst>
                <a:ext uri="{FF2B5EF4-FFF2-40B4-BE49-F238E27FC236}">
                  <a16:creationId xmlns:a16="http://schemas.microsoft.com/office/drawing/2014/main" id="{94C03EB7-FA04-2F63-1BBF-368B35F8A573}"/>
                </a:ext>
              </a:extLst>
            </p:cNvPr>
            <p:cNvSpPr/>
            <p:nvPr/>
          </p:nvSpPr>
          <p:spPr>
            <a:xfrm>
              <a:off x="2258852" y="4973584"/>
              <a:ext cx="137136" cy="254553"/>
            </a:xfrm>
            <a:prstGeom prst="moon">
              <a:avLst>
                <a:gd name="adj" fmla="val 33356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392CD4E0-A2F2-EEA6-05B6-B30507BF14FC}"/>
                </a:ext>
              </a:extLst>
            </p:cNvPr>
            <p:cNvSpPr/>
            <p:nvPr/>
          </p:nvSpPr>
          <p:spPr>
            <a:xfrm>
              <a:off x="2742920" y="4969411"/>
              <a:ext cx="254553" cy="254553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Moon 34">
              <a:extLst>
                <a:ext uri="{FF2B5EF4-FFF2-40B4-BE49-F238E27FC236}">
                  <a16:creationId xmlns:a16="http://schemas.microsoft.com/office/drawing/2014/main" id="{A4F38FD0-F551-4A71-4198-ADDAEBA85A9E}"/>
                </a:ext>
              </a:extLst>
            </p:cNvPr>
            <p:cNvSpPr/>
            <p:nvPr/>
          </p:nvSpPr>
          <p:spPr>
            <a:xfrm>
              <a:off x="2742920" y="4965238"/>
              <a:ext cx="137136" cy="254553"/>
            </a:xfrm>
            <a:prstGeom prst="moon">
              <a:avLst>
                <a:gd name="adj" fmla="val 79001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1CC35B3A-2513-0E12-67D7-5946E2FD58B7}"/>
                </a:ext>
              </a:extLst>
            </p:cNvPr>
            <p:cNvSpPr/>
            <p:nvPr/>
          </p:nvSpPr>
          <p:spPr>
            <a:xfrm>
              <a:off x="3734149" y="4969411"/>
              <a:ext cx="254553" cy="254553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59597790-AB84-15AF-E934-7B81A6B55839}"/>
                </a:ext>
              </a:extLst>
            </p:cNvPr>
            <p:cNvSpPr/>
            <p:nvPr/>
          </p:nvSpPr>
          <p:spPr>
            <a:xfrm>
              <a:off x="3255227" y="4977757"/>
              <a:ext cx="254553" cy="254553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Moon 37">
              <a:extLst>
                <a:ext uri="{FF2B5EF4-FFF2-40B4-BE49-F238E27FC236}">
                  <a16:creationId xmlns:a16="http://schemas.microsoft.com/office/drawing/2014/main" id="{8AF0C2B3-C503-1929-3B71-24BCA148D81C}"/>
                </a:ext>
              </a:extLst>
            </p:cNvPr>
            <p:cNvSpPr/>
            <p:nvPr/>
          </p:nvSpPr>
          <p:spPr>
            <a:xfrm>
              <a:off x="3255227" y="4977757"/>
              <a:ext cx="137136" cy="254553"/>
            </a:xfrm>
            <a:prstGeom prst="moon">
              <a:avLst>
                <a:gd name="adj" fmla="val 69872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F70E738-FCD8-8646-9E14-A2F093B5589B}"/>
              </a:ext>
            </a:extLst>
          </p:cNvPr>
          <p:cNvGrpSpPr/>
          <p:nvPr/>
        </p:nvGrpSpPr>
        <p:grpSpPr>
          <a:xfrm rot="16200000">
            <a:off x="3747667" y="3763902"/>
            <a:ext cx="2213918" cy="267072"/>
            <a:chOff x="1774784" y="4965238"/>
            <a:chExt cx="2213918" cy="267072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C4C7F528-4E07-4BDB-0646-560094E3542B}"/>
                </a:ext>
              </a:extLst>
            </p:cNvPr>
            <p:cNvSpPr/>
            <p:nvPr/>
          </p:nvSpPr>
          <p:spPr>
            <a:xfrm>
              <a:off x="1774784" y="4977757"/>
              <a:ext cx="254553" cy="254553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D48F48B3-1336-5D0C-1711-908EF2E79E3D}"/>
                </a:ext>
              </a:extLst>
            </p:cNvPr>
            <p:cNvSpPr/>
            <p:nvPr/>
          </p:nvSpPr>
          <p:spPr>
            <a:xfrm>
              <a:off x="2258852" y="4977757"/>
              <a:ext cx="254553" cy="254553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Moon 42">
              <a:extLst>
                <a:ext uri="{FF2B5EF4-FFF2-40B4-BE49-F238E27FC236}">
                  <a16:creationId xmlns:a16="http://schemas.microsoft.com/office/drawing/2014/main" id="{439C7185-3E8C-AE71-3853-37FCE3239B91}"/>
                </a:ext>
              </a:extLst>
            </p:cNvPr>
            <p:cNvSpPr/>
            <p:nvPr/>
          </p:nvSpPr>
          <p:spPr>
            <a:xfrm>
              <a:off x="2258852" y="4973584"/>
              <a:ext cx="137136" cy="254553"/>
            </a:xfrm>
            <a:prstGeom prst="moon">
              <a:avLst>
                <a:gd name="adj" fmla="val 33356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F4408A18-831D-F3DD-3A68-9F222DECFE02}"/>
                </a:ext>
              </a:extLst>
            </p:cNvPr>
            <p:cNvSpPr/>
            <p:nvPr/>
          </p:nvSpPr>
          <p:spPr>
            <a:xfrm>
              <a:off x="2742920" y="4969411"/>
              <a:ext cx="254553" cy="254553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Moon 44">
              <a:extLst>
                <a:ext uri="{FF2B5EF4-FFF2-40B4-BE49-F238E27FC236}">
                  <a16:creationId xmlns:a16="http://schemas.microsoft.com/office/drawing/2014/main" id="{FD4F7EBC-CB13-3195-9413-3ED7453B2615}"/>
                </a:ext>
              </a:extLst>
            </p:cNvPr>
            <p:cNvSpPr/>
            <p:nvPr/>
          </p:nvSpPr>
          <p:spPr>
            <a:xfrm>
              <a:off x="2742920" y="4965238"/>
              <a:ext cx="137136" cy="254553"/>
            </a:xfrm>
            <a:prstGeom prst="moon">
              <a:avLst>
                <a:gd name="adj" fmla="val 79001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2CED704E-38D3-32C0-18D3-22B3F08F75F2}"/>
                </a:ext>
              </a:extLst>
            </p:cNvPr>
            <p:cNvSpPr/>
            <p:nvPr/>
          </p:nvSpPr>
          <p:spPr>
            <a:xfrm>
              <a:off x="3734149" y="4969411"/>
              <a:ext cx="254553" cy="254553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6360CE88-AEBC-F3FE-6D42-176F2F2CEFAA}"/>
                </a:ext>
              </a:extLst>
            </p:cNvPr>
            <p:cNvSpPr/>
            <p:nvPr/>
          </p:nvSpPr>
          <p:spPr>
            <a:xfrm>
              <a:off x="3255227" y="4977757"/>
              <a:ext cx="254553" cy="254553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Moon 47">
              <a:extLst>
                <a:ext uri="{FF2B5EF4-FFF2-40B4-BE49-F238E27FC236}">
                  <a16:creationId xmlns:a16="http://schemas.microsoft.com/office/drawing/2014/main" id="{F5CB973B-6DAC-9BCA-9E9B-87ABFFA58DE6}"/>
                </a:ext>
              </a:extLst>
            </p:cNvPr>
            <p:cNvSpPr/>
            <p:nvPr/>
          </p:nvSpPr>
          <p:spPr>
            <a:xfrm>
              <a:off x="3255227" y="4977757"/>
              <a:ext cx="137136" cy="254553"/>
            </a:xfrm>
            <a:prstGeom prst="moon">
              <a:avLst>
                <a:gd name="adj" fmla="val 69872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9" name="Trapezoid 48">
            <a:extLst>
              <a:ext uri="{FF2B5EF4-FFF2-40B4-BE49-F238E27FC236}">
                <a16:creationId xmlns:a16="http://schemas.microsoft.com/office/drawing/2014/main" id="{442B3B34-884F-DB73-9DA8-2938CE3B5F37}"/>
              </a:ext>
            </a:extLst>
          </p:cNvPr>
          <p:cNvSpPr/>
          <p:nvPr/>
        </p:nvSpPr>
        <p:spPr>
          <a:xfrm rot="5400000">
            <a:off x="1138632" y="3538072"/>
            <a:ext cx="1943350" cy="731864"/>
          </a:xfrm>
          <a:prstGeom prst="trapezoid">
            <a:avLst>
              <a:gd name="adj" fmla="val 42499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E047874-EDEB-E885-85D0-71F2D514FDA4}"/>
              </a:ext>
            </a:extLst>
          </p:cNvPr>
          <p:cNvCxnSpPr>
            <a:cxnSpLocks/>
          </p:cNvCxnSpPr>
          <p:nvPr/>
        </p:nvCxnSpPr>
        <p:spPr>
          <a:xfrm>
            <a:off x="1427546" y="3928782"/>
            <a:ext cx="1171068" cy="0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E8B1AF00-B857-91AF-DCC4-153AA13C6493}"/>
              </a:ext>
            </a:extLst>
          </p:cNvPr>
          <p:cNvCxnSpPr>
            <a:cxnSpLocks/>
          </p:cNvCxnSpPr>
          <p:nvPr/>
        </p:nvCxnSpPr>
        <p:spPr>
          <a:xfrm rot="17459832" flipV="1">
            <a:off x="2267280" y="3623959"/>
            <a:ext cx="1696065" cy="67511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DF79E774-9838-F306-1960-A93A5138F05C}"/>
              </a:ext>
            </a:extLst>
          </p:cNvPr>
          <p:cNvSpPr/>
          <p:nvPr/>
        </p:nvSpPr>
        <p:spPr>
          <a:xfrm rot="16200000">
            <a:off x="2635519" y="3812157"/>
            <a:ext cx="636495" cy="327848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3988CF">
              <a:alpha val="30196"/>
            </a:srgb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7CBB79E4-6251-343F-3FCE-B4B3454A2FE0}"/>
              </a:ext>
            </a:extLst>
          </p:cNvPr>
          <p:cNvCxnSpPr>
            <a:cxnSpLocks/>
          </p:cNvCxnSpPr>
          <p:nvPr/>
        </p:nvCxnSpPr>
        <p:spPr>
          <a:xfrm>
            <a:off x="3215123" y="3827469"/>
            <a:ext cx="1356877" cy="101313"/>
          </a:xfrm>
          <a:prstGeom prst="straightConnector1">
            <a:avLst/>
          </a:prstGeom>
          <a:ln w="28575">
            <a:solidFill>
              <a:schemeClr val="accent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B7AA93A-DFFF-916A-0389-9F47C9A7EED6}"/>
              </a:ext>
            </a:extLst>
          </p:cNvPr>
          <p:cNvGrpSpPr/>
          <p:nvPr/>
        </p:nvGrpSpPr>
        <p:grpSpPr>
          <a:xfrm>
            <a:off x="6572549" y="2026676"/>
            <a:ext cx="4870737" cy="369332"/>
            <a:chOff x="6387813" y="1122397"/>
            <a:chExt cx="4870737" cy="369332"/>
          </a:xfrm>
        </p:grpSpPr>
        <p:sp>
          <p:nvSpPr>
            <p:cNvPr id="66" name="Arrow: Right 65">
              <a:extLst>
                <a:ext uri="{FF2B5EF4-FFF2-40B4-BE49-F238E27FC236}">
                  <a16:creationId xmlns:a16="http://schemas.microsoft.com/office/drawing/2014/main" id="{A6CE3873-D04B-8793-489B-2840B6CD4553}"/>
                </a:ext>
              </a:extLst>
            </p:cNvPr>
            <p:cNvSpPr/>
            <p:nvPr/>
          </p:nvSpPr>
          <p:spPr>
            <a:xfrm>
              <a:off x="6387813" y="1215827"/>
              <a:ext cx="150209" cy="178240"/>
            </a:xfrm>
            <a:prstGeom prst="rightArrow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AF631BC5-E892-0F29-1BAD-432D99181910}"/>
                </a:ext>
              </a:extLst>
            </p:cNvPr>
            <p:cNvSpPr txBox="1"/>
            <p:nvPr/>
          </p:nvSpPr>
          <p:spPr>
            <a:xfrm>
              <a:off x="6599312" y="1122397"/>
              <a:ext cx="46592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latin typeface="Arial Rounded MT Bold" panose="020F0704030504030204" pitchFamily="34" charset="77"/>
                  <a:sym typeface="Wingdings" pitchFamily="2" charset="2"/>
                </a:rPr>
                <a:t>Generate: Sampling from prior</a:t>
              </a: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EAB07F3D-0A2A-5863-1048-50746F22402A}"/>
              </a:ext>
            </a:extLst>
          </p:cNvPr>
          <p:cNvGrpSpPr/>
          <p:nvPr/>
        </p:nvGrpSpPr>
        <p:grpSpPr>
          <a:xfrm rot="16200000">
            <a:off x="10230740" y="3450306"/>
            <a:ext cx="619760" cy="629919"/>
            <a:chOff x="4391595" y="6172664"/>
            <a:chExt cx="619760" cy="629919"/>
          </a:xfrm>
        </p:grpSpPr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174077B2-2A79-A494-1AE3-463E516EA602}"/>
                </a:ext>
              </a:extLst>
            </p:cNvPr>
            <p:cNvSpPr/>
            <p:nvPr/>
          </p:nvSpPr>
          <p:spPr>
            <a:xfrm>
              <a:off x="4391595" y="6182823"/>
              <a:ext cx="619760" cy="61976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Moon 68">
              <a:extLst>
                <a:ext uri="{FF2B5EF4-FFF2-40B4-BE49-F238E27FC236}">
                  <a16:creationId xmlns:a16="http://schemas.microsoft.com/office/drawing/2014/main" id="{161E6A2D-5882-116C-3A55-8BEA0424B6D5}"/>
                </a:ext>
              </a:extLst>
            </p:cNvPr>
            <p:cNvSpPr/>
            <p:nvPr/>
          </p:nvSpPr>
          <p:spPr>
            <a:xfrm>
              <a:off x="4391595" y="6172663"/>
              <a:ext cx="333885" cy="619760"/>
            </a:xfrm>
            <a:prstGeom prst="moon">
              <a:avLst>
                <a:gd name="adj" fmla="val 87500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149369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0D55B-CD30-B9BC-E892-AEA89C25F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3976899-868D-BE92-FB7D-0A2273528403}"/>
              </a:ext>
            </a:extLst>
          </p:cNvPr>
          <p:cNvSpPr txBox="1"/>
          <p:nvPr/>
        </p:nvSpPr>
        <p:spPr>
          <a:xfrm>
            <a:off x="276410" y="260293"/>
            <a:ext cx="3676754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Variational Auto Encoder (VAE)</a:t>
            </a:r>
          </a:p>
        </p:txBody>
      </p:sp>
      <p:pic>
        <p:nvPicPr>
          <p:cNvPr id="5" name="Graphic 4" descr="Magnifying glass with solid fill">
            <a:extLst>
              <a:ext uri="{FF2B5EF4-FFF2-40B4-BE49-F238E27FC236}">
                <a16:creationId xmlns:a16="http://schemas.microsoft.com/office/drawing/2014/main" id="{0D466685-EA9D-4D49-E524-4607B521FE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9003" y="856675"/>
            <a:ext cx="475673" cy="47567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1E27D0F-1D32-FF5F-DAA3-AE58AEDB1F3C}"/>
              </a:ext>
            </a:extLst>
          </p:cNvPr>
          <p:cNvSpPr txBox="1"/>
          <p:nvPr/>
        </p:nvSpPr>
        <p:spPr>
          <a:xfrm>
            <a:off x="7257987" y="856675"/>
            <a:ext cx="3352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EM + NN (equation)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10" name="Graphic 9" descr="Magnifying glass with solid fill">
            <a:extLst>
              <a:ext uri="{FF2B5EF4-FFF2-40B4-BE49-F238E27FC236}">
                <a16:creationId xmlns:a16="http://schemas.microsoft.com/office/drawing/2014/main" id="{662E6F76-F182-3493-21C9-33F0EB41D2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80312" y="856675"/>
            <a:ext cx="475673" cy="47567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83B26F5-061E-319D-F377-97018C1091A2}"/>
              </a:ext>
            </a:extLst>
          </p:cNvPr>
          <p:cNvSpPr txBox="1"/>
          <p:nvPr/>
        </p:nvSpPr>
        <p:spPr>
          <a:xfrm>
            <a:off x="1286678" y="1385834"/>
            <a:ext cx="4669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Latent: vector to distribution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7B545F-9069-BF81-18B4-03DB89AF5F9F}"/>
              </a:ext>
            </a:extLst>
          </p:cNvPr>
          <p:cNvSpPr txBox="1"/>
          <p:nvPr/>
        </p:nvSpPr>
        <p:spPr>
          <a:xfrm>
            <a:off x="7257987" y="1367616"/>
            <a:ext cx="4669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Latent: NN estimating 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9277CEC-5CEB-B7A4-7A86-33B608DC22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2579" y="1444489"/>
            <a:ext cx="1011129" cy="252023"/>
          </a:xfrm>
          <a:prstGeom prst="rect">
            <a:avLst/>
          </a:prstGeom>
        </p:spPr>
      </p:pic>
      <p:grpSp>
        <p:nvGrpSpPr>
          <p:cNvPr id="45" name="Group 44">
            <a:extLst>
              <a:ext uri="{FF2B5EF4-FFF2-40B4-BE49-F238E27FC236}">
                <a16:creationId xmlns:a16="http://schemas.microsoft.com/office/drawing/2014/main" id="{C657AAC5-8044-B10F-0103-0526097D914F}"/>
              </a:ext>
            </a:extLst>
          </p:cNvPr>
          <p:cNvGrpSpPr/>
          <p:nvPr/>
        </p:nvGrpSpPr>
        <p:grpSpPr>
          <a:xfrm>
            <a:off x="1025955" y="3925686"/>
            <a:ext cx="4739263" cy="1074965"/>
            <a:chOff x="963173" y="3460090"/>
            <a:chExt cx="6285578" cy="1425702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AECB6E5-F4C3-7F8C-7852-27A1A0F937E7}"/>
                </a:ext>
              </a:extLst>
            </p:cNvPr>
            <p:cNvSpPr/>
            <p:nvPr/>
          </p:nvSpPr>
          <p:spPr>
            <a:xfrm>
              <a:off x="963173" y="3490570"/>
              <a:ext cx="619760" cy="61976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FC89FD3-7BBA-B5B7-1E55-B78877408B21}"/>
                </a:ext>
              </a:extLst>
            </p:cNvPr>
            <p:cNvSpPr/>
            <p:nvPr/>
          </p:nvSpPr>
          <p:spPr>
            <a:xfrm>
              <a:off x="2141733" y="3490570"/>
              <a:ext cx="619760" cy="61976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Moon 21">
              <a:extLst>
                <a:ext uri="{FF2B5EF4-FFF2-40B4-BE49-F238E27FC236}">
                  <a16:creationId xmlns:a16="http://schemas.microsoft.com/office/drawing/2014/main" id="{5742D21D-E812-2E77-F865-023ACED8EA5F}"/>
                </a:ext>
              </a:extLst>
            </p:cNvPr>
            <p:cNvSpPr/>
            <p:nvPr/>
          </p:nvSpPr>
          <p:spPr>
            <a:xfrm>
              <a:off x="2141733" y="3480410"/>
              <a:ext cx="333885" cy="619760"/>
            </a:xfrm>
            <a:prstGeom prst="moon">
              <a:avLst>
                <a:gd name="adj" fmla="val 33356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B27B206D-4E96-9322-2ADD-55C53235D5D6}"/>
                </a:ext>
              </a:extLst>
            </p:cNvPr>
            <p:cNvSpPr/>
            <p:nvPr/>
          </p:nvSpPr>
          <p:spPr>
            <a:xfrm>
              <a:off x="3320293" y="3470250"/>
              <a:ext cx="619760" cy="61976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Moon 27">
              <a:extLst>
                <a:ext uri="{FF2B5EF4-FFF2-40B4-BE49-F238E27FC236}">
                  <a16:creationId xmlns:a16="http://schemas.microsoft.com/office/drawing/2014/main" id="{E1F290A6-AEF6-27AF-B3DC-542A380B4901}"/>
                </a:ext>
              </a:extLst>
            </p:cNvPr>
            <p:cNvSpPr/>
            <p:nvPr/>
          </p:nvSpPr>
          <p:spPr>
            <a:xfrm>
              <a:off x="3320293" y="3460090"/>
              <a:ext cx="333885" cy="619760"/>
            </a:xfrm>
            <a:prstGeom prst="moon">
              <a:avLst>
                <a:gd name="adj" fmla="val 79001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FD1D3FA-7B85-72CB-75C3-778778BB5DC1}"/>
                </a:ext>
              </a:extLst>
            </p:cNvPr>
            <p:cNvSpPr/>
            <p:nvPr/>
          </p:nvSpPr>
          <p:spPr>
            <a:xfrm>
              <a:off x="5733639" y="3470250"/>
              <a:ext cx="619760" cy="61976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12BFCF82-F96D-3611-75D4-4E663077A4B1}"/>
                </a:ext>
              </a:extLst>
            </p:cNvPr>
            <p:cNvSpPr/>
            <p:nvPr/>
          </p:nvSpPr>
          <p:spPr>
            <a:xfrm>
              <a:off x="4567606" y="3490570"/>
              <a:ext cx="619760" cy="61976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Moon 31">
              <a:extLst>
                <a:ext uri="{FF2B5EF4-FFF2-40B4-BE49-F238E27FC236}">
                  <a16:creationId xmlns:a16="http://schemas.microsoft.com/office/drawing/2014/main" id="{976FE19C-2F5C-8D0C-EC4F-C574781C3518}"/>
                </a:ext>
              </a:extLst>
            </p:cNvPr>
            <p:cNvSpPr/>
            <p:nvPr/>
          </p:nvSpPr>
          <p:spPr>
            <a:xfrm>
              <a:off x="4567606" y="3490570"/>
              <a:ext cx="333885" cy="619760"/>
            </a:xfrm>
            <a:prstGeom prst="moon">
              <a:avLst>
                <a:gd name="adj" fmla="val 69872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1D331063-7F19-B4E9-EECE-250A748F6F2B}"/>
                </a:ext>
              </a:extLst>
            </p:cNvPr>
            <p:cNvCxnSpPr>
              <a:cxnSpLocks/>
            </p:cNvCxnSpPr>
            <p:nvPr/>
          </p:nvCxnSpPr>
          <p:spPr>
            <a:xfrm>
              <a:off x="963173" y="4885792"/>
              <a:ext cx="6285578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7C482863-FE89-41DA-0D6F-FC3615B03790}"/>
                </a:ext>
              </a:extLst>
            </p:cNvPr>
            <p:cNvCxnSpPr>
              <a:cxnSpLocks/>
            </p:cNvCxnSpPr>
            <p:nvPr/>
          </p:nvCxnSpPr>
          <p:spPr>
            <a:xfrm>
              <a:off x="1439163" y="4142461"/>
              <a:ext cx="255876" cy="575756"/>
            </a:xfrm>
            <a:prstGeom prst="straightConnector1">
              <a:avLst/>
            </a:prstGeom>
            <a:ln w="28575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7F5C8516-4FE4-2B20-ACE2-9180D2A8D180}"/>
                </a:ext>
              </a:extLst>
            </p:cNvPr>
            <p:cNvCxnSpPr>
              <a:cxnSpLocks/>
            </p:cNvCxnSpPr>
            <p:nvPr/>
          </p:nvCxnSpPr>
          <p:spPr>
            <a:xfrm>
              <a:off x="2475619" y="4152620"/>
              <a:ext cx="285874" cy="648590"/>
            </a:xfrm>
            <a:prstGeom prst="straightConnector1">
              <a:avLst/>
            </a:prstGeom>
            <a:ln w="28575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58EB2825-F137-8F26-8928-A03652A458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70983" y="4152620"/>
              <a:ext cx="183195" cy="648590"/>
            </a:xfrm>
            <a:prstGeom prst="straightConnector1">
              <a:avLst/>
            </a:prstGeom>
            <a:ln w="28575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03AA29D1-4111-FB80-0A04-08E38E5CD3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32743" y="4232250"/>
              <a:ext cx="644742" cy="616072"/>
            </a:xfrm>
            <a:prstGeom prst="straightConnector1">
              <a:avLst/>
            </a:prstGeom>
            <a:ln w="28575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81EC9170-CB87-85B3-66D5-8283676C28CF}"/>
                </a:ext>
              </a:extLst>
            </p:cNvPr>
            <p:cNvCxnSpPr>
              <a:cxnSpLocks/>
            </p:cNvCxnSpPr>
            <p:nvPr/>
          </p:nvCxnSpPr>
          <p:spPr>
            <a:xfrm>
              <a:off x="6033359" y="4232250"/>
              <a:ext cx="833120" cy="568960"/>
            </a:xfrm>
            <a:prstGeom prst="straightConnector1">
              <a:avLst/>
            </a:prstGeom>
            <a:ln w="28575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84A1CC5B-E017-1B3E-C1B1-EAB3FF3FDF92}"/>
              </a:ext>
            </a:extLst>
          </p:cNvPr>
          <p:cNvSpPr/>
          <p:nvPr/>
        </p:nvSpPr>
        <p:spPr>
          <a:xfrm>
            <a:off x="4521362" y="4664477"/>
            <a:ext cx="1509009" cy="313547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3988CF">
              <a:alpha val="30196"/>
            </a:srgb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230E3A9F-AA8B-A6DB-DF72-73505F0CCD1E}"/>
              </a:ext>
            </a:extLst>
          </p:cNvPr>
          <p:cNvSpPr/>
          <p:nvPr/>
        </p:nvSpPr>
        <p:spPr>
          <a:xfrm>
            <a:off x="1708960" y="4665698"/>
            <a:ext cx="1313609" cy="313547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3988CF">
              <a:alpha val="30196"/>
            </a:srgb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15CB73DF-8FF6-17B6-B253-1BFF08D6333D}"/>
              </a:ext>
            </a:extLst>
          </p:cNvPr>
          <p:cNvSpPr/>
          <p:nvPr/>
        </p:nvSpPr>
        <p:spPr>
          <a:xfrm>
            <a:off x="2177569" y="4658852"/>
            <a:ext cx="1313609" cy="313547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3988CF">
              <a:alpha val="30196"/>
            </a:srgb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E67371F6-A75A-611D-FEB2-A20D00B8B93D}"/>
              </a:ext>
            </a:extLst>
          </p:cNvPr>
          <p:cNvSpPr/>
          <p:nvPr/>
        </p:nvSpPr>
        <p:spPr>
          <a:xfrm>
            <a:off x="2672827" y="4679443"/>
            <a:ext cx="1313609" cy="313547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3988CF">
              <a:alpha val="30196"/>
            </a:srgb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81AD8A51-0E02-3D31-D418-9BC3D116EECD}"/>
              </a:ext>
            </a:extLst>
          </p:cNvPr>
          <p:cNvSpPr/>
          <p:nvPr/>
        </p:nvSpPr>
        <p:spPr>
          <a:xfrm>
            <a:off x="872861" y="4679443"/>
            <a:ext cx="1313609" cy="313547"/>
          </a:xfrm>
          <a:custGeom>
            <a:avLst/>
            <a:gdLst>
              <a:gd name="connsiteX0" fmla="*/ 0 w 822036"/>
              <a:gd name="connsiteY0" fmla="*/ 472782 h 490768"/>
              <a:gd name="connsiteX1" fmla="*/ 203200 w 822036"/>
              <a:gd name="connsiteY1" fmla="*/ 463546 h 490768"/>
              <a:gd name="connsiteX2" fmla="*/ 341745 w 822036"/>
              <a:gd name="connsiteY2" fmla="*/ 214164 h 490768"/>
              <a:gd name="connsiteX3" fmla="*/ 415636 w 822036"/>
              <a:gd name="connsiteY3" fmla="*/ 47910 h 490768"/>
              <a:gd name="connsiteX4" fmla="*/ 480291 w 822036"/>
              <a:gd name="connsiteY4" fmla="*/ 1728 h 490768"/>
              <a:gd name="connsiteX5" fmla="*/ 544945 w 822036"/>
              <a:gd name="connsiteY5" fmla="*/ 94091 h 490768"/>
              <a:gd name="connsiteX6" fmla="*/ 674254 w 822036"/>
              <a:gd name="connsiteY6" fmla="*/ 371182 h 490768"/>
              <a:gd name="connsiteX7" fmla="*/ 748145 w 822036"/>
              <a:gd name="connsiteY7" fmla="*/ 472782 h 490768"/>
              <a:gd name="connsiteX8" fmla="*/ 822036 w 822036"/>
              <a:gd name="connsiteY8" fmla="*/ 472782 h 49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036" h="490768">
                <a:moveTo>
                  <a:pt x="0" y="472782"/>
                </a:moveTo>
                <a:cubicBezTo>
                  <a:pt x="73121" y="489715"/>
                  <a:pt x="146243" y="506649"/>
                  <a:pt x="203200" y="463546"/>
                </a:cubicBezTo>
                <a:cubicBezTo>
                  <a:pt x="260157" y="420443"/>
                  <a:pt x="306339" y="283437"/>
                  <a:pt x="341745" y="214164"/>
                </a:cubicBezTo>
                <a:cubicBezTo>
                  <a:pt x="377151" y="144891"/>
                  <a:pt x="392545" y="83316"/>
                  <a:pt x="415636" y="47910"/>
                </a:cubicBezTo>
                <a:cubicBezTo>
                  <a:pt x="438727" y="12504"/>
                  <a:pt x="458740" y="-5969"/>
                  <a:pt x="480291" y="1728"/>
                </a:cubicBezTo>
                <a:cubicBezTo>
                  <a:pt x="501843" y="9425"/>
                  <a:pt x="512618" y="32515"/>
                  <a:pt x="544945" y="94091"/>
                </a:cubicBezTo>
                <a:cubicBezTo>
                  <a:pt x="577272" y="155667"/>
                  <a:pt x="640387" y="308067"/>
                  <a:pt x="674254" y="371182"/>
                </a:cubicBezTo>
                <a:cubicBezTo>
                  <a:pt x="708121" y="434297"/>
                  <a:pt x="723515" y="455849"/>
                  <a:pt x="748145" y="472782"/>
                </a:cubicBezTo>
                <a:cubicBezTo>
                  <a:pt x="772775" y="489715"/>
                  <a:pt x="797405" y="481248"/>
                  <a:pt x="822036" y="472782"/>
                </a:cubicBezTo>
              </a:path>
            </a:pathLst>
          </a:custGeom>
          <a:solidFill>
            <a:srgbClr val="3988CF">
              <a:alpha val="30196"/>
            </a:srgb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9ACD25D-26F0-F98C-0D07-6018FAA3BFF8}"/>
              </a:ext>
            </a:extLst>
          </p:cNvPr>
          <p:cNvSpPr txBox="1"/>
          <p:nvPr/>
        </p:nvSpPr>
        <p:spPr>
          <a:xfrm>
            <a:off x="1286677" y="1731890"/>
            <a:ext cx="5215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FF0000"/>
                </a:solidFill>
                <a:latin typeface="Arial Rounded MT Bold" panose="020F0704030504030204" pitchFamily="34" charset="77"/>
                <a:sym typeface="Wingdings" pitchFamily="2" charset="2"/>
              </a:rPr>
              <a:t>continuous</a:t>
            </a:r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 and </a:t>
            </a:r>
            <a:r>
              <a:rPr lang="en-US" altLang="zh-TW" dirty="0">
                <a:solidFill>
                  <a:srgbClr val="FF0000"/>
                </a:solidFill>
                <a:latin typeface="Arial Rounded MT Bold" panose="020F0704030504030204" pitchFamily="34" charset="77"/>
                <a:sym typeface="Wingdings" pitchFamily="2" charset="2"/>
              </a:rPr>
              <a:t>overlapped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77"/>
            </a:endParaRP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92512E78-62D9-F0AF-91C6-C4B5B572521F}"/>
              </a:ext>
            </a:extLst>
          </p:cNvPr>
          <p:cNvCxnSpPr>
            <a:cxnSpLocks/>
          </p:cNvCxnSpPr>
          <p:nvPr/>
        </p:nvCxnSpPr>
        <p:spPr>
          <a:xfrm>
            <a:off x="7971148" y="4592590"/>
            <a:ext cx="388961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D01C4433-14BA-5937-2EE9-2C8589D13CFD}"/>
              </a:ext>
            </a:extLst>
          </p:cNvPr>
          <p:cNvCxnSpPr>
            <a:cxnSpLocks/>
          </p:cNvCxnSpPr>
          <p:nvPr/>
        </p:nvCxnSpPr>
        <p:spPr>
          <a:xfrm flipV="1">
            <a:off x="8252857" y="4060883"/>
            <a:ext cx="0" cy="50895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8FF2C39C-43B5-6D61-CEF0-DE64640B4C76}"/>
              </a:ext>
            </a:extLst>
          </p:cNvPr>
          <p:cNvCxnSpPr>
            <a:cxnSpLocks/>
          </p:cNvCxnSpPr>
          <p:nvPr/>
        </p:nvCxnSpPr>
        <p:spPr>
          <a:xfrm flipV="1">
            <a:off x="8836966" y="4060883"/>
            <a:ext cx="0" cy="50895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A77F5392-800B-5774-A138-7742F66F6E21}"/>
              </a:ext>
            </a:extLst>
          </p:cNvPr>
          <p:cNvCxnSpPr>
            <a:cxnSpLocks/>
          </p:cNvCxnSpPr>
          <p:nvPr/>
        </p:nvCxnSpPr>
        <p:spPr>
          <a:xfrm flipV="1">
            <a:off x="9380250" y="4060883"/>
            <a:ext cx="0" cy="50895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B93CC4E9-10E6-9D73-1E1A-ABB0E3C1E53A}"/>
              </a:ext>
            </a:extLst>
          </p:cNvPr>
          <p:cNvCxnSpPr>
            <a:cxnSpLocks/>
          </p:cNvCxnSpPr>
          <p:nvPr/>
        </p:nvCxnSpPr>
        <p:spPr>
          <a:xfrm flipV="1">
            <a:off x="10637978" y="4090433"/>
            <a:ext cx="0" cy="50895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84F9497A-D532-BD7F-690F-292F8E958D8A}"/>
              </a:ext>
            </a:extLst>
          </p:cNvPr>
          <p:cNvCxnSpPr>
            <a:cxnSpLocks/>
          </p:cNvCxnSpPr>
          <p:nvPr/>
        </p:nvCxnSpPr>
        <p:spPr>
          <a:xfrm flipV="1">
            <a:off x="11412374" y="4105498"/>
            <a:ext cx="0" cy="50895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B6970B76-8079-F6A6-78BA-A197ADD7B63F}"/>
              </a:ext>
            </a:extLst>
          </p:cNvPr>
          <p:cNvCxnSpPr>
            <a:cxnSpLocks/>
          </p:cNvCxnSpPr>
          <p:nvPr/>
        </p:nvCxnSpPr>
        <p:spPr>
          <a:xfrm flipV="1">
            <a:off x="10239436" y="4060883"/>
            <a:ext cx="0" cy="50895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F89149ED-7291-B927-A4B5-1AE3C31F7927}"/>
              </a:ext>
            </a:extLst>
          </p:cNvPr>
          <p:cNvCxnSpPr>
            <a:cxnSpLocks/>
          </p:cNvCxnSpPr>
          <p:nvPr/>
        </p:nvCxnSpPr>
        <p:spPr>
          <a:xfrm flipV="1">
            <a:off x="8586360" y="4060883"/>
            <a:ext cx="0" cy="50895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5CC9B8B4-8EB8-F601-F71C-9CA9E19E5765}"/>
              </a:ext>
            </a:extLst>
          </p:cNvPr>
          <p:cNvCxnSpPr>
            <a:cxnSpLocks/>
          </p:cNvCxnSpPr>
          <p:nvPr/>
        </p:nvCxnSpPr>
        <p:spPr>
          <a:xfrm flipV="1">
            <a:off x="10820208" y="4087372"/>
            <a:ext cx="0" cy="50895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5ED2A393-707B-3D46-CAEA-A0831A840144}"/>
              </a:ext>
            </a:extLst>
          </p:cNvPr>
          <p:cNvCxnSpPr>
            <a:cxnSpLocks/>
          </p:cNvCxnSpPr>
          <p:nvPr/>
        </p:nvCxnSpPr>
        <p:spPr>
          <a:xfrm flipV="1">
            <a:off x="10241355" y="4056423"/>
            <a:ext cx="0" cy="19807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14FF2380-6515-7CB2-E4FF-FE14CDB981E4}"/>
              </a:ext>
            </a:extLst>
          </p:cNvPr>
          <p:cNvCxnSpPr>
            <a:cxnSpLocks/>
          </p:cNvCxnSpPr>
          <p:nvPr/>
        </p:nvCxnSpPr>
        <p:spPr>
          <a:xfrm flipV="1">
            <a:off x="10637978" y="4087372"/>
            <a:ext cx="0" cy="37579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99EA7155-702D-F59D-9253-3CF55DF99C7A}"/>
              </a:ext>
            </a:extLst>
          </p:cNvPr>
          <p:cNvCxnSpPr>
            <a:cxnSpLocks/>
          </p:cNvCxnSpPr>
          <p:nvPr/>
        </p:nvCxnSpPr>
        <p:spPr>
          <a:xfrm flipV="1">
            <a:off x="10820208" y="4087372"/>
            <a:ext cx="0" cy="44381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AE5FC076-21AA-FAE8-3D04-1DF85F0F5414}"/>
              </a:ext>
            </a:extLst>
          </p:cNvPr>
          <p:cNvCxnSpPr>
            <a:cxnSpLocks/>
          </p:cNvCxnSpPr>
          <p:nvPr/>
        </p:nvCxnSpPr>
        <p:spPr>
          <a:xfrm>
            <a:off x="7971148" y="2731461"/>
            <a:ext cx="388961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2FF02406-3BB2-2A92-0F8B-C0368E29E99C}"/>
              </a:ext>
            </a:extLst>
          </p:cNvPr>
          <p:cNvGrpSpPr/>
          <p:nvPr/>
        </p:nvGrpSpPr>
        <p:grpSpPr>
          <a:xfrm>
            <a:off x="8252857" y="2224040"/>
            <a:ext cx="3159517" cy="529287"/>
            <a:chOff x="8243621" y="3302532"/>
            <a:chExt cx="3159517" cy="282066"/>
          </a:xfrm>
        </p:grpSpPr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C4C433C6-5658-E52F-A051-AA12320B70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43621" y="3302532"/>
              <a:ext cx="0" cy="259333"/>
            </a:xfrm>
            <a:prstGeom prst="straightConnector1">
              <a:avLst/>
            </a:prstGeom>
            <a:ln w="381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59D35BF1-8F4D-1DCE-D446-CDEB1EEEF5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27730" y="3302532"/>
              <a:ext cx="0" cy="259333"/>
            </a:xfrm>
            <a:prstGeom prst="straightConnector1">
              <a:avLst/>
            </a:prstGeom>
            <a:ln w="381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3DFEE61A-D3D7-807D-B886-751F132A22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71014" y="3302532"/>
              <a:ext cx="0" cy="259333"/>
            </a:xfrm>
            <a:prstGeom prst="straightConnector1">
              <a:avLst/>
            </a:prstGeom>
            <a:ln w="381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8A405A05-EFF1-506B-1101-BE909C14DA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28742" y="3317589"/>
              <a:ext cx="0" cy="259333"/>
            </a:xfrm>
            <a:prstGeom prst="straightConnector1">
              <a:avLst/>
            </a:prstGeom>
            <a:ln w="381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7CBE4D59-D1F6-F372-1F14-5AC3E46636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403138" y="3325265"/>
              <a:ext cx="0" cy="259333"/>
            </a:xfrm>
            <a:prstGeom prst="straightConnector1">
              <a:avLst/>
            </a:prstGeom>
            <a:ln w="381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32B5FF83-811D-C0EB-0FEF-9F426CFD68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0200" y="3302532"/>
              <a:ext cx="0" cy="259333"/>
            </a:xfrm>
            <a:prstGeom prst="straightConnector1">
              <a:avLst/>
            </a:prstGeom>
            <a:ln w="381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C92FFF5C-AC34-31F9-F74D-045A0FDB69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77124" y="3302532"/>
              <a:ext cx="0" cy="259333"/>
            </a:xfrm>
            <a:prstGeom prst="straightConnector1">
              <a:avLst/>
            </a:prstGeom>
            <a:ln w="381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85C3EC5A-7C19-5BCD-4BA9-6AEEAEA2E3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0972" y="3316029"/>
              <a:ext cx="0" cy="259333"/>
            </a:xfrm>
            <a:prstGeom prst="straightConnector1">
              <a:avLst/>
            </a:prstGeom>
            <a:ln w="381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47B5064E-0292-DC38-753D-D392012E7D31}"/>
              </a:ext>
            </a:extLst>
          </p:cNvPr>
          <p:cNvGrpSpPr/>
          <p:nvPr/>
        </p:nvGrpSpPr>
        <p:grpSpPr>
          <a:xfrm>
            <a:off x="1047878" y="2266698"/>
            <a:ext cx="4739260" cy="1074964"/>
            <a:chOff x="1838614" y="1615440"/>
            <a:chExt cx="6285578" cy="1425702"/>
          </a:xfrm>
        </p:grpSpPr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02B8CBB1-2DE2-CCAC-17A8-CEC5A91C2C3A}"/>
                </a:ext>
              </a:extLst>
            </p:cNvPr>
            <p:cNvSpPr/>
            <p:nvPr/>
          </p:nvSpPr>
          <p:spPr>
            <a:xfrm>
              <a:off x="1838614" y="1645920"/>
              <a:ext cx="619760" cy="61976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51764EF3-A422-F85B-A4DC-3CAA65D3DF9F}"/>
                </a:ext>
              </a:extLst>
            </p:cNvPr>
            <p:cNvSpPr/>
            <p:nvPr/>
          </p:nvSpPr>
          <p:spPr>
            <a:xfrm>
              <a:off x="3017174" y="1645920"/>
              <a:ext cx="619760" cy="61976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Moon 136">
              <a:extLst>
                <a:ext uri="{FF2B5EF4-FFF2-40B4-BE49-F238E27FC236}">
                  <a16:creationId xmlns:a16="http://schemas.microsoft.com/office/drawing/2014/main" id="{AE1EFA9E-2155-8280-0A9C-B19C8C62400D}"/>
                </a:ext>
              </a:extLst>
            </p:cNvPr>
            <p:cNvSpPr/>
            <p:nvPr/>
          </p:nvSpPr>
          <p:spPr>
            <a:xfrm>
              <a:off x="3017174" y="1635760"/>
              <a:ext cx="333885" cy="619760"/>
            </a:xfrm>
            <a:prstGeom prst="moon">
              <a:avLst>
                <a:gd name="adj" fmla="val 33356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18387610-6F6D-4B81-5982-F14319B4D698}"/>
                </a:ext>
              </a:extLst>
            </p:cNvPr>
            <p:cNvSpPr/>
            <p:nvPr/>
          </p:nvSpPr>
          <p:spPr>
            <a:xfrm>
              <a:off x="4195734" y="1625600"/>
              <a:ext cx="619760" cy="61976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Moon 138">
              <a:extLst>
                <a:ext uri="{FF2B5EF4-FFF2-40B4-BE49-F238E27FC236}">
                  <a16:creationId xmlns:a16="http://schemas.microsoft.com/office/drawing/2014/main" id="{1D920348-32BA-C389-0D2D-7E7D9D80D6B1}"/>
                </a:ext>
              </a:extLst>
            </p:cNvPr>
            <p:cNvSpPr/>
            <p:nvPr/>
          </p:nvSpPr>
          <p:spPr>
            <a:xfrm>
              <a:off x="4195734" y="1615440"/>
              <a:ext cx="333885" cy="619760"/>
            </a:xfrm>
            <a:prstGeom prst="moon">
              <a:avLst>
                <a:gd name="adj" fmla="val 79001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9BBB7CE6-CF30-D4FD-B781-787079B8AEC4}"/>
                </a:ext>
              </a:extLst>
            </p:cNvPr>
            <p:cNvSpPr/>
            <p:nvPr/>
          </p:nvSpPr>
          <p:spPr>
            <a:xfrm>
              <a:off x="6609080" y="1625600"/>
              <a:ext cx="619760" cy="61976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669E15DB-59E8-1D3C-092A-D3422A6C0D6E}"/>
                </a:ext>
              </a:extLst>
            </p:cNvPr>
            <p:cNvSpPr/>
            <p:nvPr/>
          </p:nvSpPr>
          <p:spPr>
            <a:xfrm>
              <a:off x="5443047" y="1645920"/>
              <a:ext cx="619760" cy="61976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Moon 141">
              <a:extLst>
                <a:ext uri="{FF2B5EF4-FFF2-40B4-BE49-F238E27FC236}">
                  <a16:creationId xmlns:a16="http://schemas.microsoft.com/office/drawing/2014/main" id="{00D031C8-07AD-E350-66D1-2DF4F84576BD}"/>
                </a:ext>
              </a:extLst>
            </p:cNvPr>
            <p:cNvSpPr/>
            <p:nvPr/>
          </p:nvSpPr>
          <p:spPr>
            <a:xfrm>
              <a:off x="5443047" y="1645920"/>
              <a:ext cx="333885" cy="619760"/>
            </a:xfrm>
            <a:prstGeom prst="moon">
              <a:avLst>
                <a:gd name="adj" fmla="val 69872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EB26B34B-83FC-4896-5F83-95158828E13F}"/>
                </a:ext>
              </a:extLst>
            </p:cNvPr>
            <p:cNvCxnSpPr>
              <a:cxnSpLocks/>
            </p:cNvCxnSpPr>
            <p:nvPr/>
          </p:nvCxnSpPr>
          <p:spPr>
            <a:xfrm>
              <a:off x="1838614" y="3041142"/>
              <a:ext cx="6285578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4D915B75-8E07-8452-E9A0-860C166C2421}"/>
                </a:ext>
              </a:extLst>
            </p:cNvPr>
            <p:cNvCxnSpPr>
              <a:cxnSpLocks/>
            </p:cNvCxnSpPr>
            <p:nvPr/>
          </p:nvCxnSpPr>
          <p:spPr>
            <a:xfrm>
              <a:off x="2314605" y="2297811"/>
              <a:ext cx="1505555" cy="658749"/>
            </a:xfrm>
            <a:prstGeom prst="straightConnector1">
              <a:avLst/>
            </a:prstGeom>
            <a:ln w="28575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Arrow Connector 144">
              <a:extLst>
                <a:ext uri="{FF2B5EF4-FFF2-40B4-BE49-F238E27FC236}">
                  <a16:creationId xmlns:a16="http://schemas.microsoft.com/office/drawing/2014/main" id="{B486301E-05C7-CD50-7F58-B3B6B8DF3D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70480" y="2307971"/>
              <a:ext cx="780579" cy="648589"/>
            </a:xfrm>
            <a:prstGeom prst="straightConnector1">
              <a:avLst/>
            </a:prstGeom>
            <a:ln w="28575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Arrow Connector 145">
              <a:extLst>
                <a:ext uri="{FF2B5EF4-FFF2-40B4-BE49-F238E27FC236}">
                  <a16:creationId xmlns:a16="http://schemas.microsoft.com/office/drawing/2014/main" id="{7642C543-4A46-90D3-BF50-3BF4BFEC241D}"/>
                </a:ext>
              </a:extLst>
            </p:cNvPr>
            <p:cNvCxnSpPr>
              <a:cxnSpLocks/>
            </p:cNvCxnSpPr>
            <p:nvPr/>
          </p:nvCxnSpPr>
          <p:spPr>
            <a:xfrm>
              <a:off x="4529619" y="2307971"/>
              <a:ext cx="493914" cy="648589"/>
            </a:xfrm>
            <a:prstGeom prst="straightConnector1">
              <a:avLst/>
            </a:prstGeom>
            <a:ln w="28575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Arrow Connector 146">
              <a:extLst>
                <a:ext uri="{FF2B5EF4-FFF2-40B4-BE49-F238E27FC236}">
                  <a16:creationId xmlns:a16="http://schemas.microsoft.com/office/drawing/2014/main" id="{D597758C-2936-7FAF-B718-825AD33A39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17987" y="2387600"/>
              <a:ext cx="1534940" cy="568960"/>
            </a:xfrm>
            <a:prstGeom prst="straightConnector1">
              <a:avLst/>
            </a:prstGeom>
            <a:ln w="28575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Arrow Connector 147">
              <a:extLst>
                <a:ext uri="{FF2B5EF4-FFF2-40B4-BE49-F238E27FC236}">
                  <a16:creationId xmlns:a16="http://schemas.microsoft.com/office/drawing/2014/main" id="{0503C5FF-DE72-1052-7C97-B572A4B5E0B1}"/>
                </a:ext>
              </a:extLst>
            </p:cNvPr>
            <p:cNvCxnSpPr>
              <a:cxnSpLocks/>
            </p:cNvCxnSpPr>
            <p:nvPr/>
          </p:nvCxnSpPr>
          <p:spPr>
            <a:xfrm>
              <a:off x="6908800" y="2387600"/>
              <a:ext cx="833120" cy="568960"/>
            </a:xfrm>
            <a:prstGeom prst="straightConnector1">
              <a:avLst/>
            </a:prstGeom>
            <a:ln w="28575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rapezoid 2">
            <a:extLst>
              <a:ext uri="{FF2B5EF4-FFF2-40B4-BE49-F238E27FC236}">
                <a16:creationId xmlns:a16="http://schemas.microsoft.com/office/drawing/2014/main" id="{F2CF3279-ACD6-8978-D6B5-38A0289F4652}"/>
              </a:ext>
            </a:extLst>
          </p:cNvPr>
          <p:cNvSpPr/>
          <p:nvPr/>
        </p:nvSpPr>
        <p:spPr>
          <a:xfrm flipV="1">
            <a:off x="8626386" y="3122681"/>
            <a:ext cx="2412717" cy="590082"/>
          </a:xfrm>
          <a:prstGeom prst="trapezoid">
            <a:avLst>
              <a:gd name="adj" fmla="val 67917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A02FF0-C78E-A076-4B4F-331BD90E93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8217" y="3263895"/>
            <a:ext cx="1069057" cy="31353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0A9FA71-9AF0-16B4-A116-41E1EBAA1882}"/>
              </a:ext>
            </a:extLst>
          </p:cNvPr>
          <p:cNvSpPr txBox="1"/>
          <p:nvPr/>
        </p:nvSpPr>
        <p:spPr>
          <a:xfrm>
            <a:off x="1286678" y="856675"/>
            <a:ext cx="5060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AE + Probabilistic (pictures and intuitions)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2A65257-B37B-1598-9933-972D12616857}"/>
              </a:ext>
            </a:extLst>
          </p:cNvPr>
          <p:cNvSpPr/>
          <p:nvPr/>
        </p:nvSpPr>
        <p:spPr>
          <a:xfrm>
            <a:off x="548787" y="765068"/>
            <a:ext cx="5665393" cy="4421001"/>
          </a:xfrm>
          <a:prstGeom prst="roundRect">
            <a:avLst>
              <a:gd name="adj" fmla="val 4752"/>
            </a:avLst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499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8FC83-E703-AC5B-723A-6CA5B84ED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E9E537-DB3A-359A-E842-3B15EE560950}"/>
              </a:ext>
            </a:extLst>
          </p:cNvPr>
          <p:cNvSpPr txBox="1"/>
          <p:nvPr/>
        </p:nvSpPr>
        <p:spPr>
          <a:xfrm>
            <a:off x="276410" y="260293"/>
            <a:ext cx="2706038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VAE – Network on EM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3376BB-9D78-D9D2-649A-EC047FB80F81}"/>
              </a:ext>
            </a:extLst>
          </p:cNvPr>
          <p:cNvSpPr txBox="1"/>
          <p:nvPr/>
        </p:nvSpPr>
        <p:spPr>
          <a:xfrm>
            <a:off x="1224935" y="787101"/>
            <a:ext cx="3352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EM + NN (equation)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3" name="Graphic 2" descr="Magnifying glass with solid fill">
            <a:extLst>
              <a:ext uri="{FF2B5EF4-FFF2-40B4-BE49-F238E27FC236}">
                <a16:creationId xmlns:a16="http://schemas.microsoft.com/office/drawing/2014/main" id="{7390ABE6-A4A0-C4FD-367F-FF2B05CA0E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7260" y="787101"/>
            <a:ext cx="475673" cy="4756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19F684E-D96E-C10E-175E-5648EB62FAD5}"/>
              </a:ext>
            </a:extLst>
          </p:cNvPr>
          <p:cNvSpPr txBox="1"/>
          <p:nvPr/>
        </p:nvSpPr>
        <p:spPr>
          <a:xfrm>
            <a:off x="1224935" y="1313909"/>
            <a:ext cx="2387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EM equation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105" name="Picture 104">
            <a:extLst>
              <a:ext uri="{FF2B5EF4-FFF2-40B4-BE49-F238E27FC236}">
                <a16:creationId xmlns:a16="http://schemas.microsoft.com/office/drawing/2014/main" id="{37E65053-4057-2AB7-1E2E-33C50CCEF8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3698" y="1314300"/>
            <a:ext cx="5616286" cy="343270"/>
          </a:xfrm>
          <a:prstGeom prst="rect">
            <a:avLst/>
          </a:prstGeom>
        </p:spPr>
      </p:pic>
      <p:grpSp>
        <p:nvGrpSpPr>
          <p:cNvPr id="86" name="Group 85">
            <a:extLst>
              <a:ext uri="{FF2B5EF4-FFF2-40B4-BE49-F238E27FC236}">
                <a16:creationId xmlns:a16="http://schemas.microsoft.com/office/drawing/2014/main" id="{BB43251B-FC66-D1D6-AE01-645CDF5E4C43}"/>
              </a:ext>
            </a:extLst>
          </p:cNvPr>
          <p:cNvGrpSpPr/>
          <p:nvPr/>
        </p:nvGrpSpPr>
        <p:grpSpPr>
          <a:xfrm>
            <a:off x="5413972" y="1694658"/>
            <a:ext cx="561315" cy="154612"/>
            <a:chOff x="5404919" y="1683241"/>
            <a:chExt cx="561315" cy="154612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78CD964-A6CD-46DA-648F-6E3F5669F531}"/>
                </a:ext>
              </a:extLst>
            </p:cNvPr>
            <p:cNvCxnSpPr/>
            <p:nvPr/>
          </p:nvCxnSpPr>
          <p:spPr>
            <a:xfrm>
              <a:off x="5522614" y="1692296"/>
              <a:ext cx="44362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73B44D4-33A7-9CED-1175-9F5FBBF326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04919" y="1683241"/>
              <a:ext cx="117695" cy="154612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E84131C2-D5BD-8A57-65F1-0D99B0D647C6}"/>
              </a:ext>
            </a:extLst>
          </p:cNvPr>
          <p:cNvGrpSpPr/>
          <p:nvPr/>
        </p:nvGrpSpPr>
        <p:grpSpPr>
          <a:xfrm>
            <a:off x="6224957" y="1700174"/>
            <a:ext cx="2254412" cy="141327"/>
            <a:chOff x="5522614" y="1692296"/>
            <a:chExt cx="521966" cy="231853"/>
          </a:xfrm>
        </p:grpSpPr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FB7C34AF-EAD1-C309-CF38-C19EF98C5D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22614" y="1692296"/>
              <a:ext cx="494688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976487C0-29D4-2BD8-2BC5-1B90C3732DA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17302" y="1708058"/>
              <a:ext cx="27278" cy="216091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E16576F7-F4D6-E0BC-85F2-6C19390621B4}"/>
              </a:ext>
            </a:extLst>
          </p:cNvPr>
          <p:cNvSpPr txBox="1"/>
          <p:nvPr/>
        </p:nvSpPr>
        <p:spPr>
          <a:xfrm>
            <a:off x="7619454" y="1837222"/>
            <a:ext cx="1584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Arial Rounded MT Bold" panose="020F0704030504030204" pitchFamily="34" charset="77"/>
                <a:sym typeface="Wingdings" pitchFamily="2" charset="2"/>
              </a:rPr>
              <a:t>Likelihood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77"/>
            </a:endParaRPr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E04FB07B-5BBC-522F-D9F1-1A53083BC587}"/>
              </a:ext>
            </a:extLst>
          </p:cNvPr>
          <p:cNvGrpSpPr/>
          <p:nvPr/>
        </p:nvGrpSpPr>
        <p:grpSpPr>
          <a:xfrm>
            <a:off x="3170892" y="1783381"/>
            <a:ext cx="2285663" cy="369332"/>
            <a:chOff x="3161839" y="1771964"/>
            <a:chExt cx="2285663" cy="369332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40DD875-82CC-4886-4929-DC15BB5A238C}"/>
                </a:ext>
              </a:extLst>
            </p:cNvPr>
            <p:cNvSpPr txBox="1"/>
            <p:nvPr/>
          </p:nvSpPr>
          <p:spPr>
            <a:xfrm>
              <a:off x="3161839" y="1771964"/>
              <a:ext cx="12411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rgbClr val="FF0000"/>
                  </a:solidFill>
                  <a:latin typeface="Arial Rounded MT Bold" panose="020F0704030504030204" pitchFamily="34" charset="77"/>
                  <a:sym typeface="Wingdings" pitchFamily="2" charset="2"/>
                </a:rPr>
                <a:t>Posterior</a:t>
              </a:r>
              <a:r>
                <a:rPr lang="zh-TW" altLang="en-US" dirty="0">
                  <a:latin typeface="Arial Rounded MT Bold" panose="020F0704030504030204" pitchFamily="34" charset="77"/>
                  <a:sym typeface="Wingdings" pitchFamily="2" charset="2"/>
                </a:rPr>
                <a:t> </a:t>
              </a:r>
              <a:endParaRPr lang="en-US" dirty="0">
                <a:latin typeface="Arial Rounded MT Bold" panose="020F0704030504030204" pitchFamily="34" charset="77"/>
              </a:endParaRPr>
            </a:p>
          </p:txBody>
        </p:sp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B4E209D9-81DC-A0BE-6024-CEFB253E53B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03003" y="1831390"/>
              <a:ext cx="1044499" cy="2504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723921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3A486-AD70-C7D9-AB1B-675773663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646A1C-4DAF-D504-1F8D-C4BC16C7E6B6}"/>
              </a:ext>
            </a:extLst>
          </p:cNvPr>
          <p:cNvSpPr txBox="1"/>
          <p:nvPr/>
        </p:nvSpPr>
        <p:spPr>
          <a:xfrm>
            <a:off x="276410" y="260293"/>
            <a:ext cx="2706038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VAE – Network on EM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ABBF1E-83D9-D64D-0BFA-C9344B8146B4}"/>
              </a:ext>
            </a:extLst>
          </p:cNvPr>
          <p:cNvSpPr txBox="1"/>
          <p:nvPr/>
        </p:nvSpPr>
        <p:spPr>
          <a:xfrm>
            <a:off x="1224935" y="787101"/>
            <a:ext cx="3352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EM + NN (equation)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3" name="Graphic 2" descr="Magnifying glass with solid fill">
            <a:extLst>
              <a:ext uri="{FF2B5EF4-FFF2-40B4-BE49-F238E27FC236}">
                <a16:creationId xmlns:a16="http://schemas.microsoft.com/office/drawing/2014/main" id="{92D36D99-E0D4-B9A9-B0CA-35E907E8BC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7260" y="787101"/>
            <a:ext cx="475673" cy="4756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E35D112-6F5B-8517-3627-8BC4E841766C}"/>
              </a:ext>
            </a:extLst>
          </p:cNvPr>
          <p:cNvSpPr txBox="1"/>
          <p:nvPr/>
        </p:nvSpPr>
        <p:spPr>
          <a:xfrm>
            <a:off x="1224935" y="1313909"/>
            <a:ext cx="2387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EM equation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659185A-452B-B177-A997-779C50FED11F}"/>
              </a:ext>
            </a:extLst>
          </p:cNvPr>
          <p:cNvGrpSpPr/>
          <p:nvPr/>
        </p:nvGrpSpPr>
        <p:grpSpPr>
          <a:xfrm>
            <a:off x="231486" y="2736502"/>
            <a:ext cx="5898820" cy="3009771"/>
            <a:chOff x="2830278" y="1419180"/>
            <a:chExt cx="8990821" cy="5077068"/>
          </a:xfrm>
        </p:grpSpPr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30DA9177-05E0-9AD5-65E7-8770ECA70CE7}"/>
                </a:ext>
              </a:extLst>
            </p:cNvPr>
            <p:cNvSpPr/>
            <p:nvPr/>
          </p:nvSpPr>
          <p:spPr>
            <a:xfrm>
              <a:off x="2830278" y="3183876"/>
              <a:ext cx="8990821" cy="3312372"/>
            </a:xfrm>
            <a:prstGeom prst="parallelogram">
              <a:avLst>
                <a:gd name="adj" fmla="val 94320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9F6CBA6-0AC5-9E74-48B8-A2C8B25D46CA}"/>
                </a:ext>
              </a:extLst>
            </p:cNvPr>
            <p:cNvSpPr/>
            <p:nvPr/>
          </p:nvSpPr>
          <p:spPr>
            <a:xfrm>
              <a:off x="7240006" y="4948068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9198696-894A-4ED0-1CBA-7B546885C664}"/>
                </a:ext>
              </a:extLst>
            </p:cNvPr>
            <p:cNvSpPr/>
            <p:nvPr/>
          </p:nvSpPr>
          <p:spPr>
            <a:xfrm>
              <a:off x="5313303" y="4319298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6D43F38-FBEC-E5D1-1C68-EE698207CEF5}"/>
                </a:ext>
              </a:extLst>
            </p:cNvPr>
            <p:cNvSpPr/>
            <p:nvPr/>
          </p:nvSpPr>
          <p:spPr>
            <a:xfrm>
              <a:off x="6157395" y="477209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46D8974-6614-FA86-37D0-BE790ECC1F6D}"/>
                </a:ext>
              </a:extLst>
            </p:cNvPr>
            <p:cNvSpPr/>
            <p:nvPr/>
          </p:nvSpPr>
          <p:spPr>
            <a:xfrm>
              <a:off x="5416040" y="4998248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C2C22A8-2D4F-8E81-AAEC-F638D7977E11}"/>
                </a:ext>
              </a:extLst>
            </p:cNvPr>
            <p:cNvSpPr/>
            <p:nvPr/>
          </p:nvSpPr>
          <p:spPr>
            <a:xfrm>
              <a:off x="7240006" y="5137491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ADAA648-7CBD-09CC-62DB-E6316129D6DE}"/>
                </a:ext>
              </a:extLst>
            </p:cNvPr>
            <p:cNvSpPr/>
            <p:nvPr/>
          </p:nvSpPr>
          <p:spPr>
            <a:xfrm>
              <a:off x="7680389" y="5197076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11A49F9-7D51-BB3A-B4EB-89E3F6F76687}"/>
                </a:ext>
              </a:extLst>
            </p:cNvPr>
            <p:cNvSpPr/>
            <p:nvPr/>
          </p:nvSpPr>
          <p:spPr>
            <a:xfrm>
              <a:off x="5933294" y="5439419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3892F1D1-16B5-5903-7668-EEF1D89D9897}"/>
                </a:ext>
              </a:extLst>
            </p:cNvPr>
            <p:cNvSpPr/>
            <p:nvPr/>
          </p:nvSpPr>
          <p:spPr>
            <a:xfrm>
              <a:off x="8177751" y="510277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D01F7A4-D13D-6742-58C9-6679D1A7C2D2}"/>
                </a:ext>
              </a:extLst>
            </p:cNvPr>
            <p:cNvSpPr/>
            <p:nvPr/>
          </p:nvSpPr>
          <p:spPr>
            <a:xfrm>
              <a:off x="7393716" y="4384426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5DFF87E-9799-64F3-D069-E23B2C60C164}"/>
                </a:ext>
              </a:extLst>
            </p:cNvPr>
            <p:cNvSpPr/>
            <p:nvPr/>
          </p:nvSpPr>
          <p:spPr>
            <a:xfrm>
              <a:off x="7527622" y="4586949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47C6398-716F-7CAA-106C-C12FE077C777}"/>
                </a:ext>
              </a:extLst>
            </p:cNvPr>
            <p:cNvSpPr/>
            <p:nvPr/>
          </p:nvSpPr>
          <p:spPr>
            <a:xfrm>
              <a:off x="7263897" y="455560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1D1ACC67-A894-14B0-C8B1-2DCA45CBDEDA}"/>
                </a:ext>
              </a:extLst>
            </p:cNvPr>
            <p:cNvSpPr/>
            <p:nvPr/>
          </p:nvSpPr>
          <p:spPr>
            <a:xfrm>
              <a:off x="9474129" y="4323671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89CF0E4A-2CAB-C525-47D4-FFE94F2AFA5B}"/>
                </a:ext>
              </a:extLst>
            </p:cNvPr>
            <p:cNvSpPr/>
            <p:nvPr/>
          </p:nvSpPr>
          <p:spPr>
            <a:xfrm>
              <a:off x="7004550" y="5254649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5899EBFC-A398-5DB0-BB60-9E074A215914}"/>
                </a:ext>
              </a:extLst>
            </p:cNvPr>
            <p:cNvSpPr/>
            <p:nvPr/>
          </p:nvSpPr>
          <p:spPr>
            <a:xfrm>
              <a:off x="6023445" y="4920606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9F5E34EB-7DE2-CE8C-A6E7-37CD4DE5016E}"/>
                </a:ext>
              </a:extLst>
            </p:cNvPr>
            <p:cNvSpPr/>
            <p:nvPr/>
          </p:nvSpPr>
          <p:spPr>
            <a:xfrm>
              <a:off x="6362322" y="4998119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706974D0-5073-C345-8E95-B98C936FAF03}"/>
                </a:ext>
              </a:extLst>
            </p:cNvPr>
            <p:cNvSpPr/>
            <p:nvPr/>
          </p:nvSpPr>
          <p:spPr>
            <a:xfrm>
              <a:off x="5313303" y="5245125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DD6A582F-3E80-7BB9-7A52-801D70756C42}"/>
                </a:ext>
              </a:extLst>
            </p:cNvPr>
            <p:cNvSpPr/>
            <p:nvPr/>
          </p:nvSpPr>
          <p:spPr>
            <a:xfrm>
              <a:off x="7444933" y="5363515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1063C05-34B9-CDE2-EA48-BE69D77F01D9}"/>
                </a:ext>
              </a:extLst>
            </p:cNvPr>
            <p:cNvSpPr/>
            <p:nvPr/>
          </p:nvSpPr>
          <p:spPr>
            <a:xfrm>
              <a:off x="7885316" y="5423100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7A4E735D-D606-10C6-EB03-ACCCA86FA07C}"/>
                </a:ext>
              </a:extLst>
            </p:cNvPr>
            <p:cNvSpPr/>
            <p:nvPr/>
          </p:nvSpPr>
          <p:spPr>
            <a:xfrm>
              <a:off x="4967912" y="573079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817E3F0E-BA79-F088-575E-DD39F053573C}"/>
                </a:ext>
              </a:extLst>
            </p:cNvPr>
            <p:cNvSpPr/>
            <p:nvPr/>
          </p:nvSpPr>
          <p:spPr>
            <a:xfrm>
              <a:off x="8877196" y="5354905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219A7210-08C9-BAAB-B179-8D1EC4084384}"/>
                </a:ext>
              </a:extLst>
            </p:cNvPr>
            <p:cNvSpPr/>
            <p:nvPr/>
          </p:nvSpPr>
          <p:spPr>
            <a:xfrm>
              <a:off x="7598643" y="4610450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315C499F-C47B-0A78-3658-1EE6AFDB13B4}"/>
                </a:ext>
              </a:extLst>
            </p:cNvPr>
            <p:cNvSpPr/>
            <p:nvPr/>
          </p:nvSpPr>
          <p:spPr>
            <a:xfrm>
              <a:off x="7732550" y="4812972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74B8F04-0B89-6DE8-6C2A-D73A0606D21C}"/>
                </a:ext>
              </a:extLst>
            </p:cNvPr>
            <p:cNvSpPr/>
            <p:nvPr/>
          </p:nvSpPr>
          <p:spPr>
            <a:xfrm>
              <a:off x="7468824" y="4781630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EF7B02B7-BB92-5812-661A-B2D8E6616E16}"/>
                </a:ext>
              </a:extLst>
            </p:cNvPr>
            <p:cNvSpPr/>
            <p:nvPr/>
          </p:nvSpPr>
          <p:spPr>
            <a:xfrm>
              <a:off x="9679056" y="4549694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14E18128-3EEE-733B-6215-5E38FDB51521}"/>
                </a:ext>
              </a:extLst>
            </p:cNvPr>
            <p:cNvSpPr/>
            <p:nvPr/>
          </p:nvSpPr>
          <p:spPr>
            <a:xfrm>
              <a:off x="6659781" y="4562902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CA9C379D-70BF-B474-9773-4D0ED6856474}"/>
                </a:ext>
              </a:extLst>
            </p:cNvPr>
            <p:cNvSpPr/>
            <p:nvPr/>
          </p:nvSpPr>
          <p:spPr>
            <a:xfrm>
              <a:off x="7100164" y="4622486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08711205-0AC5-04E2-FAE8-397CAC2DD682}"/>
                </a:ext>
              </a:extLst>
            </p:cNvPr>
            <p:cNvSpPr/>
            <p:nvPr/>
          </p:nvSpPr>
          <p:spPr>
            <a:xfrm>
              <a:off x="7597527" y="452818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8E206A93-1841-D4EC-41CE-95F62BBA272A}"/>
                </a:ext>
              </a:extLst>
            </p:cNvPr>
            <p:cNvSpPr/>
            <p:nvPr/>
          </p:nvSpPr>
          <p:spPr>
            <a:xfrm>
              <a:off x="6813491" y="380983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4813C804-4ECD-EAF0-0621-017438D4F876}"/>
                </a:ext>
              </a:extLst>
            </p:cNvPr>
            <p:cNvSpPr/>
            <p:nvPr/>
          </p:nvSpPr>
          <p:spPr>
            <a:xfrm>
              <a:off x="6947398" y="4012359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B09FA1E3-67AE-E010-0185-8076DEAF5F64}"/>
                </a:ext>
              </a:extLst>
            </p:cNvPr>
            <p:cNvSpPr/>
            <p:nvPr/>
          </p:nvSpPr>
          <p:spPr>
            <a:xfrm>
              <a:off x="6683672" y="398101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15E58C14-8A9A-EFC8-5ECB-9FA7F97AB2E7}"/>
                </a:ext>
              </a:extLst>
            </p:cNvPr>
            <p:cNvSpPr/>
            <p:nvPr/>
          </p:nvSpPr>
          <p:spPr>
            <a:xfrm>
              <a:off x="8893904" y="3749081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0BEEEBEB-2C27-F38E-8EEF-07FE4BFE29C4}"/>
                </a:ext>
              </a:extLst>
            </p:cNvPr>
            <p:cNvSpPr/>
            <p:nvPr/>
          </p:nvSpPr>
          <p:spPr>
            <a:xfrm>
              <a:off x="6004628" y="448766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A9D60BD2-441E-7844-F73A-2E36125297CF}"/>
                </a:ext>
              </a:extLst>
            </p:cNvPr>
            <p:cNvSpPr/>
            <p:nvPr/>
          </p:nvSpPr>
          <p:spPr>
            <a:xfrm>
              <a:off x="6864709" y="4788925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A5461E83-D503-BDCF-2C8F-C8EC4AC4A736}"/>
                </a:ext>
              </a:extLst>
            </p:cNvPr>
            <p:cNvSpPr/>
            <p:nvPr/>
          </p:nvSpPr>
          <p:spPr>
            <a:xfrm>
              <a:off x="6577102" y="6049562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82756D1F-E0B6-F8C4-005F-2C84E79ACB5C}"/>
                </a:ext>
              </a:extLst>
            </p:cNvPr>
            <p:cNvSpPr/>
            <p:nvPr/>
          </p:nvSpPr>
          <p:spPr>
            <a:xfrm>
              <a:off x="7802455" y="4754210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BB7F3FB2-D309-62E1-42AB-2F59CE03E9D9}"/>
                </a:ext>
              </a:extLst>
            </p:cNvPr>
            <p:cNvSpPr/>
            <p:nvPr/>
          </p:nvSpPr>
          <p:spPr>
            <a:xfrm>
              <a:off x="7211123" y="405588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67975057-9B80-B022-631F-236279F79D16}"/>
                </a:ext>
              </a:extLst>
            </p:cNvPr>
            <p:cNvSpPr/>
            <p:nvPr/>
          </p:nvSpPr>
          <p:spPr>
            <a:xfrm>
              <a:off x="7152325" y="4238382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25AC9018-DFC9-D554-4064-2526A303B470}"/>
                </a:ext>
              </a:extLst>
            </p:cNvPr>
            <p:cNvSpPr/>
            <p:nvPr/>
          </p:nvSpPr>
          <p:spPr>
            <a:xfrm>
              <a:off x="6888599" y="4207040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9FA3D914-B291-CA66-75B7-DA2A12FCCA50}"/>
                </a:ext>
              </a:extLst>
            </p:cNvPr>
            <p:cNvSpPr/>
            <p:nvPr/>
          </p:nvSpPr>
          <p:spPr>
            <a:xfrm>
              <a:off x="8618242" y="452818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42E49792-A84C-3D68-1F40-C0B0E2374DDE}"/>
                </a:ext>
              </a:extLst>
            </p:cNvPr>
            <p:cNvSpPr/>
            <p:nvPr/>
          </p:nvSpPr>
          <p:spPr>
            <a:xfrm>
              <a:off x="7840900" y="4536414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8A3E20D1-4F41-4702-2BEF-A20D72AEC77F}"/>
                </a:ext>
              </a:extLst>
            </p:cNvPr>
            <p:cNvSpPr/>
            <p:nvPr/>
          </p:nvSpPr>
          <p:spPr>
            <a:xfrm>
              <a:off x="5914197" y="3907644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A86F9937-9300-E002-0B0D-6D9CDB9547B1}"/>
                </a:ext>
              </a:extLst>
            </p:cNvPr>
            <p:cNvSpPr/>
            <p:nvPr/>
          </p:nvSpPr>
          <p:spPr>
            <a:xfrm>
              <a:off x="6758289" y="4360442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53C527CD-79A6-6185-C570-D7C7082A685F}"/>
                </a:ext>
              </a:extLst>
            </p:cNvPr>
            <p:cNvSpPr/>
            <p:nvPr/>
          </p:nvSpPr>
          <p:spPr>
            <a:xfrm>
              <a:off x="6016934" y="4586594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1E8163D4-7EBB-2468-EF7A-A4A64C0F7739}"/>
                </a:ext>
              </a:extLst>
            </p:cNvPr>
            <p:cNvSpPr/>
            <p:nvPr/>
          </p:nvSpPr>
          <p:spPr>
            <a:xfrm>
              <a:off x="7840900" y="472583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12E6B7D7-FDD6-59A7-97FC-A39074D92837}"/>
                </a:ext>
              </a:extLst>
            </p:cNvPr>
            <p:cNvSpPr/>
            <p:nvPr/>
          </p:nvSpPr>
          <p:spPr>
            <a:xfrm>
              <a:off x="8281283" y="4785422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0BA29B8C-37A6-7ACB-FDF9-9D8CCB568B66}"/>
                </a:ext>
              </a:extLst>
            </p:cNvPr>
            <p:cNvSpPr/>
            <p:nvPr/>
          </p:nvSpPr>
          <p:spPr>
            <a:xfrm>
              <a:off x="6534188" y="5027765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5E18E8EB-A6F3-0BA6-81CE-F4064B8621BE}"/>
                </a:ext>
              </a:extLst>
            </p:cNvPr>
            <p:cNvSpPr/>
            <p:nvPr/>
          </p:nvSpPr>
          <p:spPr>
            <a:xfrm>
              <a:off x="8778645" y="469112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D7D4FA18-29D3-C06D-8366-D9F338AE93F9}"/>
                </a:ext>
              </a:extLst>
            </p:cNvPr>
            <p:cNvSpPr/>
            <p:nvPr/>
          </p:nvSpPr>
          <p:spPr>
            <a:xfrm>
              <a:off x="7994610" y="3972772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47EE74E8-7BE7-ADFF-2A5D-7CB51025C2D2}"/>
                </a:ext>
              </a:extLst>
            </p:cNvPr>
            <p:cNvSpPr/>
            <p:nvPr/>
          </p:nvSpPr>
          <p:spPr>
            <a:xfrm>
              <a:off x="8128516" y="4175295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486797B3-70F2-E629-98AC-7C7FC26C6961}"/>
                </a:ext>
              </a:extLst>
            </p:cNvPr>
            <p:cNvSpPr/>
            <p:nvPr/>
          </p:nvSpPr>
          <p:spPr>
            <a:xfrm>
              <a:off x="7864791" y="414395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2B352354-C024-E695-BA83-F8E1E8D5FEE2}"/>
                </a:ext>
              </a:extLst>
            </p:cNvPr>
            <p:cNvSpPr/>
            <p:nvPr/>
          </p:nvSpPr>
          <p:spPr>
            <a:xfrm>
              <a:off x="10075023" y="391201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B3935B3E-FB7C-C6B0-7E85-C48702BB5E53}"/>
                </a:ext>
              </a:extLst>
            </p:cNvPr>
            <p:cNvSpPr/>
            <p:nvPr/>
          </p:nvSpPr>
          <p:spPr>
            <a:xfrm>
              <a:off x="7605444" y="4842994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1C91BCB7-CD3F-AE43-C224-B0C4C67EF571}"/>
                </a:ext>
              </a:extLst>
            </p:cNvPr>
            <p:cNvSpPr/>
            <p:nvPr/>
          </p:nvSpPr>
          <p:spPr>
            <a:xfrm>
              <a:off x="6041288" y="4294608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C98A93C1-2F48-B1FC-E6D2-D429C037F9EF}"/>
                </a:ext>
              </a:extLst>
            </p:cNvPr>
            <p:cNvSpPr/>
            <p:nvPr/>
          </p:nvSpPr>
          <p:spPr>
            <a:xfrm>
              <a:off x="6963216" y="4586465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D1548E46-104B-D6A9-B674-CB831DE70E53}"/>
                </a:ext>
              </a:extLst>
            </p:cNvPr>
            <p:cNvSpPr/>
            <p:nvPr/>
          </p:nvSpPr>
          <p:spPr>
            <a:xfrm>
              <a:off x="4386357" y="5211509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8959A67A-D41C-78DB-CE9F-91B25391920B}"/>
                </a:ext>
              </a:extLst>
            </p:cNvPr>
            <p:cNvSpPr/>
            <p:nvPr/>
          </p:nvSpPr>
          <p:spPr>
            <a:xfrm>
              <a:off x="8045827" y="4951861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042DA54D-BDBF-E664-04BD-B097583B66D8}"/>
                </a:ext>
              </a:extLst>
            </p:cNvPr>
            <p:cNvSpPr/>
            <p:nvPr/>
          </p:nvSpPr>
          <p:spPr>
            <a:xfrm>
              <a:off x="8486210" y="5011446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AFA3C9BC-9E85-70A3-6E85-2BABE4E51332}"/>
                </a:ext>
              </a:extLst>
            </p:cNvPr>
            <p:cNvSpPr/>
            <p:nvPr/>
          </p:nvSpPr>
          <p:spPr>
            <a:xfrm>
              <a:off x="5568806" y="531914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C39372BA-BF4B-FFA4-C189-813D7E13460B}"/>
                </a:ext>
              </a:extLst>
            </p:cNvPr>
            <p:cNvSpPr/>
            <p:nvPr/>
          </p:nvSpPr>
          <p:spPr>
            <a:xfrm>
              <a:off x="9478090" y="4943251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8DCB2D88-AE41-4546-5096-AB059A95708C}"/>
                </a:ext>
              </a:extLst>
            </p:cNvPr>
            <p:cNvSpPr/>
            <p:nvPr/>
          </p:nvSpPr>
          <p:spPr>
            <a:xfrm>
              <a:off x="8222484" y="352720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1095692E-B3EF-C63C-78AD-7B5CC701733C}"/>
                </a:ext>
              </a:extLst>
            </p:cNvPr>
            <p:cNvSpPr/>
            <p:nvPr/>
          </p:nvSpPr>
          <p:spPr>
            <a:xfrm>
              <a:off x="8333444" y="440131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6420410A-62DF-016B-9EE0-70F01124E49A}"/>
                </a:ext>
              </a:extLst>
            </p:cNvPr>
            <p:cNvSpPr/>
            <p:nvPr/>
          </p:nvSpPr>
          <p:spPr>
            <a:xfrm>
              <a:off x="8069718" y="4369976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481B5303-F533-42DC-E559-0F6A495BAF9A}"/>
                </a:ext>
              </a:extLst>
            </p:cNvPr>
            <p:cNvSpPr/>
            <p:nvPr/>
          </p:nvSpPr>
          <p:spPr>
            <a:xfrm>
              <a:off x="10279950" y="4138039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53048B5C-1487-42E4-4103-E3C832C48804}"/>
                </a:ext>
              </a:extLst>
            </p:cNvPr>
            <p:cNvSpPr/>
            <p:nvPr/>
          </p:nvSpPr>
          <p:spPr>
            <a:xfrm>
              <a:off x="7260675" y="4151248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56A927BE-C082-E08E-3C39-B8471BBC3EE2}"/>
                </a:ext>
              </a:extLst>
            </p:cNvPr>
            <p:cNvSpPr/>
            <p:nvPr/>
          </p:nvSpPr>
          <p:spPr>
            <a:xfrm>
              <a:off x="7548165" y="3701395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8B4B3628-3195-2D8C-049F-FB35A5B1C86E}"/>
                </a:ext>
              </a:extLst>
            </p:cNvPr>
            <p:cNvSpPr/>
            <p:nvPr/>
          </p:nvSpPr>
          <p:spPr>
            <a:xfrm>
              <a:off x="9922256" y="359709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25DA2ABA-51E3-D889-D5C9-5023D5BC900B}"/>
                </a:ext>
              </a:extLst>
            </p:cNvPr>
            <p:cNvSpPr/>
            <p:nvPr/>
          </p:nvSpPr>
          <p:spPr>
            <a:xfrm>
              <a:off x="7414385" y="339818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58E59E07-B51C-2B91-4A5D-FB0B70C7F487}"/>
                </a:ext>
              </a:extLst>
            </p:cNvPr>
            <p:cNvSpPr/>
            <p:nvPr/>
          </p:nvSpPr>
          <p:spPr>
            <a:xfrm>
              <a:off x="5761430" y="3728138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4EF655AC-D982-036C-3FF6-64DFCE577EA0}"/>
                </a:ext>
              </a:extLst>
            </p:cNvPr>
            <p:cNvSpPr/>
            <p:nvPr/>
          </p:nvSpPr>
          <p:spPr>
            <a:xfrm>
              <a:off x="7284566" y="356936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9E35EC0E-58A3-6D65-4D84-7238BA3318B6}"/>
                </a:ext>
              </a:extLst>
            </p:cNvPr>
            <p:cNvSpPr/>
            <p:nvPr/>
          </p:nvSpPr>
          <p:spPr>
            <a:xfrm>
              <a:off x="9494798" y="333742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43171765-7B65-5EAC-2A4F-4993C32F75CC}"/>
                </a:ext>
              </a:extLst>
            </p:cNvPr>
            <p:cNvSpPr/>
            <p:nvPr/>
          </p:nvSpPr>
          <p:spPr>
            <a:xfrm>
              <a:off x="6605522" y="407601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8CE21699-D127-8FCB-84FB-940219ABEB29}"/>
                </a:ext>
              </a:extLst>
            </p:cNvPr>
            <p:cNvSpPr/>
            <p:nvPr/>
          </p:nvSpPr>
          <p:spPr>
            <a:xfrm>
              <a:off x="7465602" y="4377271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1260A824-C25B-4CA9-0254-E800AC514D2B}"/>
                </a:ext>
              </a:extLst>
            </p:cNvPr>
            <p:cNvSpPr/>
            <p:nvPr/>
          </p:nvSpPr>
          <p:spPr>
            <a:xfrm>
              <a:off x="7177996" y="5637908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40A0A20C-A57C-A8A5-91AF-D4A3E79A78B7}"/>
                </a:ext>
              </a:extLst>
            </p:cNvPr>
            <p:cNvSpPr/>
            <p:nvPr/>
          </p:nvSpPr>
          <p:spPr>
            <a:xfrm>
              <a:off x="8743938" y="411999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4B5B519B-5210-2BCF-5285-DFE42D1A2C67}"/>
                </a:ext>
              </a:extLst>
            </p:cNvPr>
            <p:cNvSpPr/>
            <p:nvPr/>
          </p:nvSpPr>
          <p:spPr>
            <a:xfrm>
              <a:off x="7812017" y="3644229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7F9C9F5B-FBAC-CE31-8F02-F736137E5560}"/>
                </a:ext>
              </a:extLst>
            </p:cNvPr>
            <p:cNvSpPr/>
            <p:nvPr/>
          </p:nvSpPr>
          <p:spPr>
            <a:xfrm>
              <a:off x="6023920" y="337134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28893A8C-9974-490E-A87D-B063BD8A6664}"/>
                </a:ext>
              </a:extLst>
            </p:cNvPr>
            <p:cNvSpPr/>
            <p:nvPr/>
          </p:nvSpPr>
          <p:spPr>
            <a:xfrm>
              <a:off x="5611396" y="397296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4B6856CF-2493-8DB7-8441-771EE376695F}"/>
                </a:ext>
              </a:extLst>
            </p:cNvPr>
            <p:cNvSpPr/>
            <p:nvPr/>
          </p:nvSpPr>
          <p:spPr>
            <a:xfrm>
              <a:off x="9219136" y="411653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pic>
          <p:nvPicPr>
            <p:cNvPr id="99" name="Picture 6" descr="Gaussian filter, or Gaussian blur — Librow — Digital LCD dashboards for  cars and boats">
              <a:extLst>
                <a:ext uri="{FF2B5EF4-FFF2-40B4-BE49-F238E27FC236}">
                  <a16:creationId xmlns:a16="http://schemas.microsoft.com/office/drawing/2014/main" id="{0E2CDBF4-83CA-0BDB-2D29-AD15B2A768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7484" y="1419180"/>
              <a:ext cx="4902845" cy="28315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0" name="Picture 6" descr="Gaussian filter, or Gaussian blur — Librow — Digital LCD dashboards for  cars and boats">
              <a:extLst>
                <a:ext uri="{FF2B5EF4-FFF2-40B4-BE49-F238E27FC236}">
                  <a16:creationId xmlns:a16="http://schemas.microsoft.com/office/drawing/2014/main" id="{F704722F-DC15-72EC-BF60-E62EA0B132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5605" y="2313063"/>
              <a:ext cx="4571764" cy="28315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5" name="Picture 104">
            <a:extLst>
              <a:ext uri="{FF2B5EF4-FFF2-40B4-BE49-F238E27FC236}">
                <a16:creationId xmlns:a16="http://schemas.microsoft.com/office/drawing/2014/main" id="{05E66350-3852-8D70-7210-643A90EFFC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3698" y="1314300"/>
            <a:ext cx="5616286" cy="343270"/>
          </a:xfrm>
          <a:prstGeom prst="rect">
            <a:avLst/>
          </a:prstGeom>
        </p:spPr>
      </p:pic>
      <p:grpSp>
        <p:nvGrpSpPr>
          <p:cNvPr id="86" name="Group 85">
            <a:extLst>
              <a:ext uri="{FF2B5EF4-FFF2-40B4-BE49-F238E27FC236}">
                <a16:creationId xmlns:a16="http://schemas.microsoft.com/office/drawing/2014/main" id="{3EC86EA1-139D-DFD6-2C42-61928A9F77CB}"/>
              </a:ext>
            </a:extLst>
          </p:cNvPr>
          <p:cNvGrpSpPr/>
          <p:nvPr/>
        </p:nvGrpSpPr>
        <p:grpSpPr>
          <a:xfrm>
            <a:off x="5413972" y="1694658"/>
            <a:ext cx="561315" cy="154612"/>
            <a:chOff x="5404919" y="1683241"/>
            <a:chExt cx="561315" cy="154612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1C111B4-CA46-5C2D-BD3E-BD46ED871E50}"/>
                </a:ext>
              </a:extLst>
            </p:cNvPr>
            <p:cNvCxnSpPr/>
            <p:nvPr/>
          </p:nvCxnSpPr>
          <p:spPr>
            <a:xfrm>
              <a:off x="5522614" y="1692296"/>
              <a:ext cx="44362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5E1D471-7C74-B6FF-F492-FF1A6B5327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04919" y="1683241"/>
              <a:ext cx="117695" cy="154612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5BACDD7E-A29D-F8CD-4258-72863E727A55}"/>
              </a:ext>
            </a:extLst>
          </p:cNvPr>
          <p:cNvGrpSpPr/>
          <p:nvPr/>
        </p:nvGrpSpPr>
        <p:grpSpPr>
          <a:xfrm>
            <a:off x="6224957" y="1700174"/>
            <a:ext cx="2254412" cy="141327"/>
            <a:chOff x="5522614" y="1692296"/>
            <a:chExt cx="521966" cy="231853"/>
          </a:xfrm>
        </p:grpSpPr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9A4D1135-61AC-59DF-0BC8-7D8211D62D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22614" y="1692296"/>
              <a:ext cx="494688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B3B6AE60-CD3A-0F89-6664-C3D54F7C516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17302" y="1708058"/>
              <a:ext cx="27278" cy="216091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E8DA9A70-DC43-DE59-7862-376B25C88250}"/>
              </a:ext>
            </a:extLst>
          </p:cNvPr>
          <p:cNvSpPr txBox="1"/>
          <p:nvPr/>
        </p:nvSpPr>
        <p:spPr>
          <a:xfrm>
            <a:off x="7619454" y="1837222"/>
            <a:ext cx="1584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Arial Rounded MT Bold" panose="020F0704030504030204" pitchFamily="34" charset="77"/>
                <a:sym typeface="Wingdings" pitchFamily="2" charset="2"/>
              </a:rPr>
              <a:t>Likelihood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77"/>
            </a:endParaRPr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D4E810B6-F8AE-7D92-45DB-9F28CDCF0358}"/>
              </a:ext>
            </a:extLst>
          </p:cNvPr>
          <p:cNvGrpSpPr/>
          <p:nvPr/>
        </p:nvGrpSpPr>
        <p:grpSpPr>
          <a:xfrm>
            <a:off x="3170892" y="1783381"/>
            <a:ext cx="2285663" cy="369332"/>
            <a:chOff x="3161839" y="1771964"/>
            <a:chExt cx="2285663" cy="369332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FD7A774-F8C6-9394-3720-75EF5C5E78CB}"/>
                </a:ext>
              </a:extLst>
            </p:cNvPr>
            <p:cNvSpPr txBox="1"/>
            <p:nvPr/>
          </p:nvSpPr>
          <p:spPr>
            <a:xfrm>
              <a:off x="3161839" y="1771964"/>
              <a:ext cx="12411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rgbClr val="FF0000"/>
                  </a:solidFill>
                  <a:latin typeface="Arial Rounded MT Bold" panose="020F0704030504030204" pitchFamily="34" charset="77"/>
                  <a:sym typeface="Wingdings" pitchFamily="2" charset="2"/>
                </a:rPr>
                <a:t>Posterior</a:t>
              </a:r>
              <a:r>
                <a:rPr lang="zh-TW" altLang="en-US" dirty="0">
                  <a:latin typeface="Arial Rounded MT Bold" panose="020F0704030504030204" pitchFamily="34" charset="77"/>
                  <a:sym typeface="Wingdings" pitchFamily="2" charset="2"/>
                </a:rPr>
                <a:t> </a:t>
              </a:r>
              <a:endParaRPr lang="en-US" dirty="0">
                <a:latin typeface="Arial Rounded MT Bold" panose="020F0704030504030204" pitchFamily="34" charset="77"/>
              </a:endParaRPr>
            </a:p>
          </p:txBody>
        </p:sp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EDF079BA-6786-9D58-096C-2739E24A21E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03003" y="1831390"/>
              <a:ext cx="1044499" cy="250479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9F4F9E0B-F55F-B18D-DBF3-CCDB2968CC5E}"/>
              </a:ext>
            </a:extLst>
          </p:cNvPr>
          <p:cNvSpPr txBox="1"/>
          <p:nvPr/>
        </p:nvSpPr>
        <p:spPr>
          <a:xfrm>
            <a:off x="730569" y="2557962"/>
            <a:ext cx="8031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Arial Rounded MT Bold" panose="020F0704030504030204" pitchFamily="34" charset="77"/>
                <a:sym typeface="Wingdings" pitchFamily="2" charset="2"/>
              </a:rPr>
              <a:t>EM</a:t>
            </a:r>
            <a:endParaRPr lang="en-US" sz="2400" dirty="0">
              <a:latin typeface="Arial Rounded MT Bold" panose="020F0704030504030204" pitchFamily="34" charset="77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82832C41-EA12-78BA-96E6-5080AEE3C928}"/>
              </a:ext>
            </a:extLst>
          </p:cNvPr>
          <p:cNvGrpSpPr/>
          <p:nvPr/>
        </p:nvGrpSpPr>
        <p:grpSpPr>
          <a:xfrm>
            <a:off x="3697764" y="4903068"/>
            <a:ext cx="327209" cy="136337"/>
            <a:chOff x="5314278" y="3151991"/>
            <a:chExt cx="1032734" cy="430305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FBC31A92-F69A-4A5E-5886-FD7E36E66F28}"/>
                </a:ext>
              </a:extLst>
            </p:cNvPr>
            <p:cNvSpPr/>
            <p:nvPr/>
          </p:nvSpPr>
          <p:spPr>
            <a:xfrm>
              <a:off x="5314278" y="3151991"/>
              <a:ext cx="1032734" cy="43030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Chord 61">
              <a:extLst>
                <a:ext uri="{FF2B5EF4-FFF2-40B4-BE49-F238E27FC236}">
                  <a16:creationId xmlns:a16="http://schemas.microsoft.com/office/drawing/2014/main" id="{50896705-4BBB-5016-86DD-B59AF374966A}"/>
                </a:ext>
              </a:extLst>
            </p:cNvPr>
            <p:cNvSpPr/>
            <p:nvPr/>
          </p:nvSpPr>
          <p:spPr>
            <a:xfrm>
              <a:off x="5314278" y="3151991"/>
              <a:ext cx="914400" cy="430305"/>
            </a:xfrm>
            <a:prstGeom prst="chord">
              <a:avLst>
                <a:gd name="adj1" fmla="val 2700000"/>
                <a:gd name="adj2" fmla="val 14372070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FCF27380-A294-09A2-43AC-99EBE2077E93}"/>
              </a:ext>
            </a:extLst>
          </p:cNvPr>
          <p:cNvGrpSpPr/>
          <p:nvPr/>
        </p:nvGrpSpPr>
        <p:grpSpPr>
          <a:xfrm rot="10800000">
            <a:off x="1592973" y="5242521"/>
            <a:ext cx="327209" cy="136337"/>
            <a:chOff x="5314278" y="3151991"/>
            <a:chExt cx="1032734" cy="430305"/>
          </a:xfrm>
        </p:grpSpPr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20D667BC-5B90-1245-C025-C0CFDAD4C3BE}"/>
                </a:ext>
              </a:extLst>
            </p:cNvPr>
            <p:cNvSpPr/>
            <p:nvPr/>
          </p:nvSpPr>
          <p:spPr>
            <a:xfrm>
              <a:off x="5314278" y="3151991"/>
              <a:ext cx="1032734" cy="43030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Chord 106">
              <a:extLst>
                <a:ext uri="{FF2B5EF4-FFF2-40B4-BE49-F238E27FC236}">
                  <a16:creationId xmlns:a16="http://schemas.microsoft.com/office/drawing/2014/main" id="{69138CB7-5EF6-130A-9675-9A0ECD90B835}"/>
                </a:ext>
              </a:extLst>
            </p:cNvPr>
            <p:cNvSpPr/>
            <p:nvPr/>
          </p:nvSpPr>
          <p:spPr>
            <a:xfrm>
              <a:off x="5314278" y="3151991"/>
              <a:ext cx="914400" cy="430305"/>
            </a:xfrm>
            <a:prstGeom prst="chord">
              <a:avLst>
                <a:gd name="adj1" fmla="val 6799196"/>
                <a:gd name="adj2" fmla="val 12221036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0EAEE51C-6DBF-447A-3B0A-614F0604D0F9}"/>
              </a:ext>
            </a:extLst>
          </p:cNvPr>
          <p:cNvGrpSpPr/>
          <p:nvPr/>
        </p:nvGrpSpPr>
        <p:grpSpPr>
          <a:xfrm>
            <a:off x="5079412" y="4281989"/>
            <a:ext cx="327209" cy="136337"/>
            <a:chOff x="5314278" y="3151991"/>
            <a:chExt cx="1032734" cy="430305"/>
          </a:xfrm>
        </p:grpSpPr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D39085CC-3B88-66B3-C149-6154ED088F57}"/>
                </a:ext>
              </a:extLst>
            </p:cNvPr>
            <p:cNvSpPr/>
            <p:nvPr/>
          </p:nvSpPr>
          <p:spPr>
            <a:xfrm>
              <a:off x="5314278" y="3151991"/>
              <a:ext cx="1032734" cy="43030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Chord 110">
              <a:extLst>
                <a:ext uri="{FF2B5EF4-FFF2-40B4-BE49-F238E27FC236}">
                  <a16:creationId xmlns:a16="http://schemas.microsoft.com/office/drawing/2014/main" id="{0AB21DEF-5B5E-E548-E015-00ECF65C08D2}"/>
                </a:ext>
              </a:extLst>
            </p:cNvPr>
            <p:cNvSpPr/>
            <p:nvPr/>
          </p:nvSpPr>
          <p:spPr>
            <a:xfrm>
              <a:off x="5314278" y="3151991"/>
              <a:ext cx="914400" cy="430305"/>
            </a:xfrm>
            <a:prstGeom prst="chord">
              <a:avLst>
                <a:gd name="adj1" fmla="val 713982"/>
                <a:gd name="adj2" fmla="val 18776560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4" name="Picture 113">
            <a:extLst>
              <a:ext uri="{FF2B5EF4-FFF2-40B4-BE49-F238E27FC236}">
                <a16:creationId xmlns:a16="http://schemas.microsoft.com/office/drawing/2014/main" id="{599CEFE1-6706-C616-66B1-D852A6756B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5912" y="5975092"/>
            <a:ext cx="1431438" cy="343270"/>
          </a:xfrm>
          <a:prstGeom prst="rect">
            <a:avLst/>
          </a:prstGeom>
        </p:spPr>
      </p:pic>
      <p:sp>
        <p:nvSpPr>
          <p:cNvPr id="115" name="TextBox 114">
            <a:extLst>
              <a:ext uri="{FF2B5EF4-FFF2-40B4-BE49-F238E27FC236}">
                <a16:creationId xmlns:a16="http://schemas.microsoft.com/office/drawing/2014/main" id="{0A5B928D-95C3-4706-370D-216DE6C15DD7}"/>
              </a:ext>
            </a:extLst>
          </p:cNvPr>
          <p:cNvSpPr txBox="1"/>
          <p:nvPr/>
        </p:nvSpPr>
        <p:spPr>
          <a:xfrm>
            <a:off x="647260" y="5978940"/>
            <a:ext cx="184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Hive locations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119" name="Picture 118">
            <a:extLst>
              <a:ext uri="{FF2B5EF4-FFF2-40B4-BE49-F238E27FC236}">
                <a16:creationId xmlns:a16="http://schemas.microsoft.com/office/drawing/2014/main" id="{BB05F571-56DD-49CE-70C1-9F56DC2AE1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30551" y="5975092"/>
            <a:ext cx="233934" cy="373180"/>
          </a:xfrm>
          <a:prstGeom prst="rect">
            <a:avLst/>
          </a:prstGeom>
        </p:spPr>
      </p:pic>
      <p:sp>
        <p:nvSpPr>
          <p:cNvPr id="120" name="TextBox 119">
            <a:extLst>
              <a:ext uri="{FF2B5EF4-FFF2-40B4-BE49-F238E27FC236}">
                <a16:creationId xmlns:a16="http://schemas.microsoft.com/office/drawing/2014/main" id="{AA12A815-6E7C-AE0B-FC3D-5A1B23CEDA35}"/>
              </a:ext>
            </a:extLst>
          </p:cNvPr>
          <p:cNvSpPr txBox="1"/>
          <p:nvPr/>
        </p:nvSpPr>
        <p:spPr>
          <a:xfrm>
            <a:off x="3368874" y="5975092"/>
            <a:ext cx="184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Bee colors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5B090CD0-B332-3A4A-712A-BC4D0AFD03DF}"/>
              </a:ext>
            </a:extLst>
          </p:cNvPr>
          <p:cNvCxnSpPr/>
          <p:nvPr/>
        </p:nvCxnSpPr>
        <p:spPr>
          <a:xfrm>
            <a:off x="2935424" y="6171188"/>
            <a:ext cx="342900" cy="0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60627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CCAAA-BCDF-6745-D137-A9062DB86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A0C889F-1BC3-C3D3-21F2-65C89E839AF6}"/>
              </a:ext>
            </a:extLst>
          </p:cNvPr>
          <p:cNvSpPr txBox="1"/>
          <p:nvPr/>
        </p:nvSpPr>
        <p:spPr>
          <a:xfrm>
            <a:off x="276410" y="260293"/>
            <a:ext cx="2706038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VAE – Network on EM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4F2060-E91E-F88F-C3F1-02B84F19C5A7}"/>
              </a:ext>
            </a:extLst>
          </p:cNvPr>
          <p:cNvSpPr txBox="1"/>
          <p:nvPr/>
        </p:nvSpPr>
        <p:spPr>
          <a:xfrm>
            <a:off x="1224935" y="787101"/>
            <a:ext cx="3352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EM + NN (equation)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3" name="Graphic 2" descr="Magnifying glass with solid fill">
            <a:extLst>
              <a:ext uri="{FF2B5EF4-FFF2-40B4-BE49-F238E27FC236}">
                <a16:creationId xmlns:a16="http://schemas.microsoft.com/office/drawing/2014/main" id="{012F4228-4446-7537-D917-EC6A24D58B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7260" y="787101"/>
            <a:ext cx="475673" cy="4756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E69FA81-1C5D-4A29-9B0D-00F4F6A558AF}"/>
              </a:ext>
            </a:extLst>
          </p:cNvPr>
          <p:cNvSpPr txBox="1"/>
          <p:nvPr/>
        </p:nvSpPr>
        <p:spPr>
          <a:xfrm>
            <a:off x="1224935" y="1313909"/>
            <a:ext cx="2387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EM equation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3169CBE-BC4B-2177-894A-49CF275B36E9}"/>
              </a:ext>
            </a:extLst>
          </p:cNvPr>
          <p:cNvGrpSpPr/>
          <p:nvPr/>
        </p:nvGrpSpPr>
        <p:grpSpPr>
          <a:xfrm>
            <a:off x="231486" y="2736502"/>
            <a:ext cx="5898820" cy="3009771"/>
            <a:chOff x="2830278" y="1419180"/>
            <a:chExt cx="8990821" cy="5077068"/>
          </a:xfrm>
        </p:grpSpPr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A7ECF96B-0C69-6FD6-121A-65F8081BEE86}"/>
                </a:ext>
              </a:extLst>
            </p:cNvPr>
            <p:cNvSpPr/>
            <p:nvPr/>
          </p:nvSpPr>
          <p:spPr>
            <a:xfrm>
              <a:off x="2830278" y="3183876"/>
              <a:ext cx="8990821" cy="3312372"/>
            </a:xfrm>
            <a:prstGeom prst="parallelogram">
              <a:avLst>
                <a:gd name="adj" fmla="val 94320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528A1B8-CE61-E667-1262-E6E58A018DA8}"/>
                </a:ext>
              </a:extLst>
            </p:cNvPr>
            <p:cNvSpPr/>
            <p:nvPr/>
          </p:nvSpPr>
          <p:spPr>
            <a:xfrm>
              <a:off x="7240006" y="4948068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FC9110A-70D0-FCB5-E401-C47E026CEB99}"/>
                </a:ext>
              </a:extLst>
            </p:cNvPr>
            <p:cNvSpPr/>
            <p:nvPr/>
          </p:nvSpPr>
          <p:spPr>
            <a:xfrm>
              <a:off x="5313303" y="4319298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CCAC661-A73E-403E-144F-AC26918624DF}"/>
                </a:ext>
              </a:extLst>
            </p:cNvPr>
            <p:cNvSpPr/>
            <p:nvPr/>
          </p:nvSpPr>
          <p:spPr>
            <a:xfrm>
              <a:off x="6157395" y="477209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FFFFD6F-512B-9E0F-3C41-0231149BEE91}"/>
                </a:ext>
              </a:extLst>
            </p:cNvPr>
            <p:cNvSpPr/>
            <p:nvPr/>
          </p:nvSpPr>
          <p:spPr>
            <a:xfrm>
              <a:off x="5416040" y="4998248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405F7710-921E-5554-5FCD-1E2A11C13EEA}"/>
                </a:ext>
              </a:extLst>
            </p:cNvPr>
            <p:cNvSpPr/>
            <p:nvPr/>
          </p:nvSpPr>
          <p:spPr>
            <a:xfrm>
              <a:off x="7240006" y="5137491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7241240-98A1-95ED-B9B1-75C4D3BFD23F}"/>
                </a:ext>
              </a:extLst>
            </p:cNvPr>
            <p:cNvSpPr/>
            <p:nvPr/>
          </p:nvSpPr>
          <p:spPr>
            <a:xfrm>
              <a:off x="7680389" y="5197076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C401811-CE50-E5E0-8D71-61090A02D3DE}"/>
                </a:ext>
              </a:extLst>
            </p:cNvPr>
            <p:cNvSpPr/>
            <p:nvPr/>
          </p:nvSpPr>
          <p:spPr>
            <a:xfrm>
              <a:off x="5933294" y="5439419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85A6C07-AC1A-48E9-B88D-E648C519A705}"/>
                </a:ext>
              </a:extLst>
            </p:cNvPr>
            <p:cNvSpPr/>
            <p:nvPr/>
          </p:nvSpPr>
          <p:spPr>
            <a:xfrm>
              <a:off x="8177751" y="510277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83FD12B-463B-EBAC-4F2B-2745E84D2518}"/>
                </a:ext>
              </a:extLst>
            </p:cNvPr>
            <p:cNvSpPr/>
            <p:nvPr/>
          </p:nvSpPr>
          <p:spPr>
            <a:xfrm>
              <a:off x="7393716" y="4384426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BEAEB81-2400-DF88-68F6-90A6F9649E2E}"/>
                </a:ext>
              </a:extLst>
            </p:cNvPr>
            <p:cNvSpPr/>
            <p:nvPr/>
          </p:nvSpPr>
          <p:spPr>
            <a:xfrm>
              <a:off x="7527622" y="4586949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44E3C07-E67D-AE28-0848-CA071B1B77E8}"/>
                </a:ext>
              </a:extLst>
            </p:cNvPr>
            <p:cNvSpPr/>
            <p:nvPr/>
          </p:nvSpPr>
          <p:spPr>
            <a:xfrm>
              <a:off x="7263897" y="455560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1E4E10ED-81CF-93DC-7C14-F4C3E22F8E41}"/>
                </a:ext>
              </a:extLst>
            </p:cNvPr>
            <p:cNvSpPr/>
            <p:nvPr/>
          </p:nvSpPr>
          <p:spPr>
            <a:xfrm>
              <a:off x="9474129" y="4323671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CF599B17-DD53-54D6-14BF-93F829D7D8FF}"/>
                </a:ext>
              </a:extLst>
            </p:cNvPr>
            <p:cNvSpPr/>
            <p:nvPr/>
          </p:nvSpPr>
          <p:spPr>
            <a:xfrm>
              <a:off x="7004550" y="5254649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C3E6D56C-478D-D5D6-E72C-4775215A4282}"/>
                </a:ext>
              </a:extLst>
            </p:cNvPr>
            <p:cNvSpPr/>
            <p:nvPr/>
          </p:nvSpPr>
          <p:spPr>
            <a:xfrm>
              <a:off x="6023445" y="4920606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A1C7A11-8B28-D2FA-870F-D57592A11D6E}"/>
                </a:ext>
              </a:extLst>
            </p:cNvPr>
            <p:cNvSpPr/>
            <p:nvPr/>
          </p:nvSpPr>
          <p:spPr>
            <a:xfrm>
              <a:off x="6362322" y="4998119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9A37AB3-7D21-F7EB-1A9E-021B5B661CED}"/>
                </a:ext>
              </a:extLst>
            </p:cNvPr>
            <p:cNvSpPr/>
            <p:nvPr/>
          </p:nvSpPr>
          <p:spPr>
            <a:xfrm>
              <a:off x="5313303" y="5245125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5849175F-84FD-2B6A-3983-84B929C865A7}"/>
                </a:ext>
              </a:extLst>
            </p:cNvPr>
            <p:cNvSpPr/>
            <p:nvPr/>
          </p:nvSpPr>
          <p:spPr>
            <a:xfrm>
              <a:off x="7444933" y="5363515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44D71BB-0CDB-5687-5F3B-54C52940C58A}"/>
                </a:ext>
              </a:extLst>
            </p:cNvPr>
            <p:cNvSpPr/>
            <p:nvPr/>
          </p:nvSpPr>
          <p:spPr>
            <a:xfrm>
              <a:off x="7885316" y="5423100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BE6197E-2F0F-0D63-3729-05855CF72FA4}"/>
                </a:ext>
              </a:extLst>
            </p:cNvPr>
            <p:cNvSpPr/>
            <p:nvPr/>
          </p:nvSpPr>
          <p:spPr>
            <a:xfrm>
              <a:off x="4967912" y="573079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0A606D36-C1E1-0363-CBEE-0B85B6789CEA}"/>
                </a:ext>
              </a:extLst>
            </p:cNvPr>
            <p:cNvSpPr/>
            <p:nvPr/>
          </p:nvSpPr>
          <p:spPr>
            <a:xfrm>
              <a:off x="8877196" y="5354905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A84C9A87-CBFF-45E6-B406-87D152EFDA1A}"/>
                </a:ext>
              </a:extLst>
            </p:cNvPr>
            <p:cNvSpPr/>
            <p:nvPr/>
          </p:nvSpPr>
          <p:spPr>
            <a:xfrm>
              <a:off x="7598643" y="4610450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12766EF7-6C25-C222-4569-7DE0229F0AE4}"/>
                </a:ext>
              </a:extLst>
            </p:cNvPr>
            <p:cNvSpPr/>
            <p:nvPr/>
          </p:nvSpPr>
          <p:spPr>
            <a:xfrm>
              <a:off x="7732550" y="4812972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E3AA6F0-5428-FEF2-D4E7-CBE56B1C5372}"/>
                </a:ext>
              </a:extLst>
            </p:cNvPr>
            <p:cNvSpPr/>
            <p:nvPr/>
          </p:nvSpPr>
          <p:spPr>
            <a:xfrm>
              <a:off x="7468824" y="4781630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E4E7ECBD-0404-DE93-5614-DA5B2676AFB2}"/>
                </a:ext>
              </a:extLst>
            </p:cNvPr>
            <p:cNvSpPr/>
            <p:nvPr/>
          </p:nvSpPr>
          <p:spPr>
            <a:xfrm>
              <a:off x="9679056" y="4549694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EDDF7F3A-E09B-5D37-BAC6-08F2BA7E7A68}"/>
                </a:ext>
              </a:extLst>
            </p:cNvPr>
            <p:cNvSpPr/>
            <p:nvPr/>
          </p:nvSpPr>
          <p:spPr>
            <a:xfrm>
              <a:off x="6659781" y="4562902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8B7AAA86-4DCC-40FF-1B05-2D7CAF231A09}"/>
                </a:ext>
              </a:extLst>
            </p:cNvPr>
            <p:cNvSpPr/>
            <p:nvPr/>
          </p:nvSpPr>
          <p:spPr>
            <a:xfrm>
              <a:off x="7100164" y="4622486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33B2EA46-DED4-6340-94E2-A44DF99B7C9D}"/>
                </a:ext>
              </a:extLst>
            </p:cNvPr>
            <p:cNvSpPr/>
            <p:nvPr/>
          </p:nvSpPr>
          <p:spPr>
            <a:xfrm>
              <a:off x="7597527" y="452818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60A74AB-E980-E372-D13A-BC674397400E}"/>
                </a:ext>
              </a:extLst>
            </p:cNvPr>
            <p:cNvSpPr/>
            <p:nvPr/>
          </p:nvSpPr>
          <p:spPr>
            <a:xfrm>
              <a:off x="6813491" y="380983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A2EA65B0-1ACA-F684-68B0-449C89366EE0}"/>
                </a:ext>
              </a:extLst>
            </p:cNvPr>
            <p:cNvSpPr/>
            <p:nvPr/>
          </p:nvSpPr>
          <p:spPr>
            <a:xfrm>
              <a:off x="6947398" y="4012359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FF53C1BD-2E12-131F-AA69-4ACF5BB035E7}"/>
                </a:ext>
              </a:extLst>
            </p:cNvPr>
            <p:cNvSpPr/>
            <p:nvPr/>
          </p:nvSpPr>
          <p:spPr>
            <a:xfrm>
              <a:off x="6683672" y="398101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E8A64718-20B6-C31A-0559-D963C70BE974}"/>
                </a:ext>
              </a:extLst>
            </p:cNvPr>
            <p:cNvSpPr/>
            <p:nvPr/>
          </p:nvSpPr>
          <p:spPr>
            <a:xfrm>
              <a:off x="8893904" y="3749081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57AE41A4-D948-CE7B-82BB-8E961872DAC6}"/>
                </a:ext>
              </a:extLst>
            </p:cNvPr>
            <p:cNvSpPr/>
            <p:nvPr/>
          </p:nvSpPr>
          <p:spPr>
            <a:xfrm>
              <a:off x="6004628" y="448766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C856BAE6-D591-F575-0BFD-286DB7886B2B}"/>
                </a:ext>
              </a:extLst>
            </p:cNvPr>
            <p:cNvSpPr/>
            <p:nvPr/>
          </p:nvSpPr>
          <p:spPr>
            <a:xfrm>
              <a:off x="6864709" y="4788925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A9A85CF7-C75F-D115-7C7B-758872C5623E}"/>
                </a:ext>
              </a:extLst>
            </p:cNvPr>
            <p:cNvSpPr/>
            <p:nvPr/>
          </p:nvSpPr>
          <p:spPr>
            <a:xfrm>
              <a:off x="6577102" y="6049562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35043195-A5C3-4505-A559-CE9BB8D212C6}"/>
                </a:ext>
              </a:extLst>
            </p:cNvPr>
            <p:cNvSpPr/>
            <p:nvPr/>
          </p:nvSpPr>
          <p:spPr>
            <a:xfrm>
              <a:off x="7802455" y="4754210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04AC2BFC-145F-084E-205E-6C99FDA4CC1E}"/>
                </a:ext>
              </a:extLst>
            </p:cNvPr>
            <p:cNvSpPr/>
            <p:nvPr/>
          </p:nvSpPr>
          <p:spPr>
            <a:xfrm>
              <a:off x="7211123" y="405588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D1D53072-058A-64D1-4C8B-F05223CCA1FD}"/>
                </a:ext>
              </a:extLst>
            </p:cNvPr>
            <p:cNvSpPr/>
            <p:nvPr/>
          </p:nvSpPr>
          <p:spPr>
            <a:xfrm>
              <a:off x="7152325" y="4238382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EB91810F-5430-8A28-7F27-D1F6B157BD1F}"/>
                </a:ext>
              </a:extLst>
            </p:cNvPr>
            <p:cNvSpPr/>
            <p:nvPr/>
          </p:nvSpPr>
          <p:spPr>
            <a:xfrm>
              <a:off x="6888599" y="4207040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3689D8E7-12F1-2E04-707D-912E52BEF568}"/>
                </a:ext>
              </a:extLst>
            </p:cNvPr>
            <p:cNvSpPr/>
            <p:nvPr/>
          </p:nvSpPr>
          <p:spPr>
            <a:xfrm>
              <a:off x="8618242" y="452818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22281E15-F95C-0415-A5FF-96F0296D7479}"/>
                </a:ext>
              </a:extLst>
            </p:cNvPr>
            <p:cNvSpPr/>
            <p:nvPr/>
          </p:nvSpPr>
          <p:spPr>
            <a:xfrm>
              <a:off x="7840900" y="4536414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AF88430D-B27E-F6D7-513D-FFDB4C75A100}"/>
                </a:ext>
              </a:extLst>
            </p:cNvPr>
            <p:cNvSpPr/>
            <p:nvPr/>
          </p:nvSpPr>
          <p:spPr>
            <a:xfrm>
              <a:off x="5914197" y="3907644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47C9B63D-EC2D-EE50-24DE-A7D3CAACCB8A}"/>
                </a:ext>
              </a:extLst>
            </p:cNvPr>
            <p:cNvSpPr/>
            <p:nvPr/>
          </p:nvSpPr>
          <p:spPr>
            <a:xfrm>
              <a:off x="6758289" y="4360442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5A780F13-7020-C635-1A0E-EC4667E89051}"/>
                </a:ext>
              </a:extLst>
            </p:cNvPr>
            <p:cNvSpPr/>
            <p:nvPr/>
          </p:nvSpPr>
          <p:spPr>
            <a:xfrm>
              <a:off x="6016934" y="4586594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EB6D5BAC-FF04-3F8F-CFC2-641813DA6979}"/>
                </a:ext>
              </a:extLst>
            </p:cNvPr>
            <p:cNvSpPr/>
            <p:nvPr/>
          </p:nvSpPr>
          <p:spPr>
            <a:xfrm>
              <a:off x="7840900" y="472583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4CECFA4E-7F35-F9AB-32A2-3369E31DAAE9}"/>
                </a:ext>
              </a:extLst>
            </p:cNvPr>
            <p:cNvSpPr/>
            <p:nvPr/>
          </p:nvSpPr>
          <p:spPr>
            <a:xfrm>
              <a:off x="8281283" y="4785422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B2BE0B4E-A79C-0F21-210D-1896B8734B6C}"/>
                </a:ext>
              </a:extLst>
            </p:cNvPr>
            <p:cNvSpPr/>
            <p:nvPr/>
          </p:nvSpPr>
          <p:spPr>
            <a:xfrm>
              <a:off x="6534188" y="5027765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97F2ADAA-54BB-C2E5-DD34-330D6E108CCB}"/>
                </a:ext>
              </a:extLst>
            </p:cNvPr>
            <p:cNvSpPr/>
            <p:nvPr/>
          </p:nvSpPr>
          <p:spPr>
            <a:xfrm>
              <a:off x="8778645" y="469112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20333AF1-365A-E84F-F1B7-EEA92750C92C}"/>
                </a:ext>
              </a:extLst>
            </p:cNvPr>
            <p:cNvSpPr/>
            <p:nvPr/>
          </p:nvSpPr>
          <p:spPr>
            <a:xfrm>
              <a:off x="7994610" y="3972772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D1A34075-1B94-8960-929C-A6146B7559D8}"/>
                </a:ext>
              </a:extLst>
            </p:cNvPr>
            <p:cNvSpPr/>
            <p:nvPr/>
          </p:nvSpPr>
          <p:spPr>
            <a:xfrm>
              <a:off x="8128516" y="4175295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FEF3DF7D-05DD-6103-DEC6-0DBF81C67E12}"/>
                </a:ext>
              </a:extLst>
            </p:cNvPr>
            <p:cNvSpPr/>
            <p:nvPr/>
          </p:nvSpPr>
          <p:spPr>
            <a:xfrm>
              <a:off x="7864791" y="414395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52B9739-CF98-3C3E-E3E3-18FBD96966D1}"/>
                </a:ext>
              </a:extLst>
            </p:cNvPr>
            <p:cNvSpPr/>
            <p:nvPr/>
          </p:nvSpPr>
          <p:spPr>
            <a:xfrm>
              <a:off x="10075023" y="391201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87DC3110-4513-0379-B0D5-1FBAECA08CCF}"/>
                </a:ext>
              </a:extLst>
            </p:cNvPr>
            <p:cNvSpPr/>
            <p:nvPr/>
          </p:nvSpPr>
          <p:spPr>
            <a:xfrm>
              <a:off x="7605444" y="4842994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FE2DC83E-BA46-8F28-D52C-1A6518048FE7}"/>
                </a:ext>
              </a:extLst>
            </p:cNvPr>
            <p:cNvSpPr/>
            <p:nvPr/>
          </p:nvSpPr>
          <p:spPr>
            <a:xfrm>
              <a:off x="6041288" y="4294608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D5EE382A-548F-9A51-3F49-F4663473EE80}"/>
                </a:ext>
              </a:extLst>
            </p:cNvPr>
            <p:cNvSpPr/>
            <p:nvPr/>
          </p:nvSpPr>
          <p:spPr>
            <a:xfrm>
              <a:off x="6963216" y="4586465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BDEBA6AA-4DCD-591B-2115-0F9EBC61E7E0}"/>
                </a:ext>
              </a:extLst>
            </p:cNvPr>
            <p:cNvSpPr/>
            <p:nvPr/>
          </p:nvSpPr>
          <p:spPr>
            <a:xfrm>
              <a:off x="4386357" y="5211509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A81220DB-7645-CE71-B517-545E7F0CD4A8}"/>
                </a:ext>
              </a:extLst>
            </p:cNvPr>
            <p:cNvSpPr/>
            <p:nvPr/>
          </p:nvSpPr>
          <p:spPr>
            <a:xfrm>
              <a:off x="8045827" y="4951861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844AC5ED-387B-4899-83A9-A06729C6407E}"/>
                </a:ext>
              </a:extLst>
            </p:cNvPr>
            <p:cNvSpPr/>
            <p:nvPr/>
          </p:nvSpPr>
          <p:spPr>
            <a:xfrm>
              <a:off x="8486210" y="5011446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CE4DBFC3-D85F-F777-0C90-F28465FFEAD8}"/>
                </a:ext>
              </a:extLst>
            </p:cNvPr>
            <p:cNvSpPr/>
            <p:nvPr/>
          </p:nvSpPr>
          <p:spPr>
            <a:xfrm>
              <a:off x="5568806" y="531914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4DA00EFF-38E9-CE87-9A1B-AF3B444513BE}"/>
                </a:ext>
              </a:extLst>
            </p:cNvPr>
            <p:cNvSpPr/>
            <p:nvPr/>
          </p:nvSpPr>
          <p:spPr>
            <a:xfrm>
              <a:off x="9478090" y="4943251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20E84BF0-AE17-8785-C6F0-38CB7B0F07EF}"/>
                </a:ext>
              </a:extLst>
            </p:cNvPr>
            <p:cNvSpPr/>
            <p:nvPr/>
          </p:nvSpPr>
          <p:spPr>
            <a:xfrm>
              <a:off x="8222484" y="352720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19E664DB-E299-2889-E7B7-EA0B5C0E358C}"/>
                </a:ext>
              </a:extLst>
            </p:cNvPr>
            <p:cNvSpPr/>
            <p:nvPr/>
          </p:nvSpPr>
          <p:spPr>
            <a:xfrm>
              <a:off x="8333444" y="440131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CD8B83A4-D455-A3D9-3164-3CFDB42851E9}"/>
                </a:ext>
              </a:extLst>
            </p:cNvPr>
            <p:cNvSpPr/>
            <p:nvPr/>
          </p:nvSpPr>
          <p:spPr>
            <a:xfrm>
              <a:off x="8069718" y="4369976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59F09E91-EDEC-265F-1C91-7A4DA96E9CC8}"/>
                </a:ext>
              </a:extLst>
            </p:cNvPr>
            <p:cNvSpPr/>
            <p:nvPr/>
          </p:nvSpPr>
          <p:spPr>
            <a:xfrm>
              <a:off x="10279950" y="4138039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EFC4A807-24D7-C9FC-CA7B-C287B0E385CC}"/>
                </a:ext>
              </a:extLst>
            </p:cNvPr>
            <p:cNvSpPr/>
            <p:nvPr/>
          </p:nvSpPr>
          <p:spPr>
            <a:xfrm>
              <a:off x="7260675" y="4151248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7B259782-784A-9B59-3E5C-A4DCDA9BF268}"/>
                </a:ext>
              </a:extLst>
            </p:cNvPr>
            <p:cNvSpPr/>
            <p:nvPr/>
          </p:nvSpPr>
          <p:spPr>
            <a:xfrm>
              <a:off x="7548165" y="3701395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173A4374-5AF3-4D08-6800-00C78216959B}"/>
                </a:ext>
              </a:extLst>
            </p:cNvPr>
            <p:cNvSpPr/>
            <p:nvPr/>
          </p:nvSpPr>
          <p:spPr>
            <a:xfrm>
              <a:off x="9922256" y="359709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5D6E968D-A8E5-E06E-B703-7A09DF9A8DDC}"/>
                </a:ext>
              </a:extLst>
            </p:cNvPr>
            <p:cNvSpPr/>
            <p:nvPr/>
          </p:nvSpPr>
          <p:spPr>
            <a:xfrm>
              <a:off x="7414385" y="339818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5223A17E-EB14-70D5-AA6B-2CAC672AFFDD}"/>
                </a:ext>
              </a:extLst>
            </p:cNvPr>
            <p:cNvSpPr/>
            <p:nvPr/>
          </p:nvSpPr>
          <p:spPr>
            <a:xfrm>
              <a:off x="5761430" y="3728138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BA64325B-ACF9-89F6-F33E-C00CFBCFF661}"/>
                </a:ext>
              </a:extLst>
            </p:cNvPr>
            <p:cNvSpPr/>
            <p:nvPr/>
          </p:nvSpPr>
          <p:spPr>
            <a:xfrm>
              <a:off x="7284566" y="356936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FBDED021-38D8-9461-01CC-A7608BA35F85}"/>
                </a:ext>
              </a:extLst>
            </p:cNvPr>
            <p:cNvSpPr/>
            <p:nvPr/>
          </p:nvSpPr>
          <p:spPr>
            <a:xfrm>
              <a:off x="9494798" y="333742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E4F994F1-A5B8-EDE8-0667-8893908C542C}"/>
                </a:ext>
              </a:extLst>
            </p:cNvPr>
            <p:cNvSpPr/>
            <p:nvPr/>
          </p:nvSpPr>
          <p:spPr>
            <a:xfrm>
              <a:off x="6605522" y="407601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A76BB2D1-3477-5C33-25B3-1DA7E7984B31}"/>
                </a:ext>
              </a:extLst>
            </p:cNvPr>
            <p:cNvSpPr/>
            <p:nvPr/>
          </p:nvSpPr>
          <p:spPr>
            <a:xfrm>
              <a:off x="7465602" y="4377271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74110A8C-EAD7-A99B-96A5-18A67E4AFA1F}"/>
                </a:ext>
              </a:extLst>
            </p:cNvPr>
            <p:cNvSpPr/>
            <p:nvPr/>
          </p:nvSpPr>
          <p:spPr>
            <a:xfrm>
              <a:off x="7177996" y="5637908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3D3D7956-D948-660A-8B86-CEDBBA099016}"/>
                </a:ext>
              </a:extLst>
            </p:cNvPr>
            <p:cNvSpPr/>
            <p:nvPr/>
          </p:nvSpPr>
          <p:spPr>
            <a:xfrm>
              <a:off x="8743938" y="411999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2012B0AC-B89C-4455-70D8-0A0F83EBF0B7}"/>
                </a:ext>
              </a:extLst>
            </p:cNvPr>
            <p:cNvSpPr/>
            <p:nvPr/>
          </p:nvSpPr>
          <p:spPr>
            <a:xfrm>
              <a:off x="7812017" y="3644229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ABD4DA13-AB34-DFD1-2F9A-B3C24BC159E1}"/>
                </a:ext>
              </a:extLst>
            </p:cNvPr>
            <p:cNvSpPr/>
            <p:nvPr/>
          </p:nvSpPr>
          <p:spPr>
            <a:xfrm>
              <a:off x="6023920" y="337134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C760BAA5-23B8-381F-FF29-EBD0022C29A4}"/>
                </a:ext>
              </a:extLst>
            </p:cNvPr>
            <p:cNvSpPr/>
            <p:nvPr/>
          </p:nvSpPr>
          <p:spPr>
            <a:xfrm>
              <a:off x="5611396" y="397296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EE9830CB-4EF2-1B40-D529-DF4222DFFE40}"/>
                </a:ext>
              </a:extLst>
            </p:cNvPr>
            <p:cNvSpPr/>
            <p:nvPr/>
          </p:nvSpPr>
          <p:spPr>
            <a:xfrm>
              <a:off x="9219136" y="411653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pic>
          <p:nvPicPr>
            <p:cNvPr id="99" name="Picture 6" descr="Gaussian filter, or Gaussian blur — Librow — Digital LCD dashboards for  cars and boats">
              <a:extLst>
                <a:ext uri="{FF2B5EF4-FFF2-40B4-BE49-F238E27FC236}">
                  <a16:creationId xmlns:a16="http://schemas.microsoft.com/office/drawing/2014/main" id="{0E6C98CB-CCD6-EC34-680E-A23E47190E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7484" y="1419180"/>
              <a:ext cx="4902845" cy="28315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0" name="Picture 6" descr="Gaussian filter, or Gaussian blur — Librow — Digital LCD dashboards for  cars and boats">
              <a:extLst>
                <a:ext uri="{FF2B5EF4-FFF2-40B4-BE49-F238E27FC236}">
                  <a16:creationId xmlns:a16="http://schemas.microsoft.com/office/drawing/2014/main" id="{D427042E-B7C8-7BD1-6C12-5ED1B8D81E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5605" y="2313063"/>
              <a:ext cx="4571764" cy="28315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5" name="Picture 104">
            <a:extLst>
              <a:ext uri="{FF2B5EF4-FFF2-40B4-BE49-F238E27FC236}">
                <a16:creationId xmlns:a16="http://schemas.microsoft.com/office/drawing/2014/main" id="{34B1D0CF-B747-2EB4-1290-3C666ADDB8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3698" y="1314300"/>
            <a:ext cx="5616286" cy="343270"/>
          </a:xfrm>
          <a:prstGeom prst="rect">
            <a:avLst/>
          </a:prstGeom>
        </p:spPr>
      </p:pic>
      <p:grpSp>
        <p:nvGrpSpPr>
          <p:cNvPr id="86" name="Group 85">
            <a:extLst>
              <a:ext uri="{FF2B5EF4-FFF2-40B4-BE49-F238E27FC236}">
                <a16:creationId xmlns:a16="http://schemas.microsoft.com/office/drawing/2014/main" id="{C727EBA9-16B8-F81B-EAE8-AB18DAB109A9}"/>
              </a:ext>
            </a:extLst>
          </p:cNvPr>
          <p:cNvGrpSpPr/>
          <p:nvPr/>
        </p:nvGrpSpPr>
        <p:grpSpPr>
          <a:xfrm>
            <a:off x="5413972" y="1694658"/>
            <a:ext cx="561315" cy="154612"/>
            <a:chOff x="5404919" y="1683241"/>
            <a:chExt cx="561315" cy="154612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6906D7B-AE54-740C-C666-0231D23C83B1}"/>
                </a:ext>
              </a:extLst>
            </p:cNvPr>
            <p:cNvCxnSpPr/>
            <p:nvPr/>
          </p:nvCxnSpPr>
          <p:spPr>
            <a:xfrm>
              <a:off x="5522614" y="1692296"/>
              <a:ext cx="44362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12836A6-C021-6B0A-D93D-DC3FAA7F40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04919" y="1683241"/>
              <a:ext cx="117695" cy="154612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087D6617-834B-A601-1B4D-B1442CDF767D}"/>
              </a:ext>
            </a:extLst>
          </p:cNvPr>
          <p:cNvGrpSpPr/>
          <p:nvPr/>
        </p:nvGrpSpPr>
        <p:grpSpPr>
          <a:xfrm>
            <a:off x="6224957" y="1700174"/>
            <a:ext cx="2254412" cy="141327"/>
            <a:chOff x="5522614" y="1692296"/>
            <a:chExt cx="521966" cy="231853"/>
          </a:xfrm>
        </p:grpSpPr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C4B1E6DD-35FD-3267-F978-18D3235D13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22614" y="1692296"/>
              <a:ext cx="494688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FBA4B07C-9B71-06A4-368A-3B7594D11B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17302" y="1708058"/>
              <a:ext cx="27278" cy="216091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C4014869-30D6-BD0E-1CE7-4F0BBFB52DBF}"/>
              </a:ext>
            </a:extLst>
          </p:cNvPr>
          <p:cNvSpPr txBox="1"/>
          <p:nvPr/>
        </p:nvSpPr>
        <p:spPr>
          <a:xfrm>
            <a:off x="7619454" y="1837222"/>
            <a:ext cx="1584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Arial Rounded MT Bold" panose="020F0704030504030204" pitchFamily="34" charset="77"/>
                <a:sym typeface="Wingdings" pitchFamily="2" charset="2"/>
              </a:rPr>
              <a:t>Likelihood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77"/>
            </a:endParaRPr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0CBF3389-BF3C-70E3-D6AD-44A48EF2BAE3}"/>
              </a:ext>
            </a:extLst>
          </p:cNvPr>
          <p:cNvGrpSpPr/>
          <p:nvPr/>
        </p:nvGrpSpPr>
        <p:grpSpPr>
          <a:xfrm>
            <a:off x="3170892" y="1783381"/>
            <a:ext cx="2285663" cy="369332"/>
            <a:chOff x="3161839" y="1771964"/>
            <a:chExt cx="2285663" cy="369332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BFAF220F-CD5F-6B0F-983E-6F7BF29F5352}"/>
                </a:ext>
              </a:extLst>
            </p:cNvPr>
            <p:cNvSpPr txBox="1"/>
            <p:nvPr/>
          </p:nvSpPr>
          <p:spPr>
            <a:xfrm>
              <a:off x="3161839" y="1771964"/>
              <a:ext cx="12411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rgbClr val="FF0000"/>
                  </a:solidFill>
                  <a:latin typeface="Arial Rounded MT Bold" panose="020F0704030504030204" pitchFamily="34" charset="77"/>
                  <a:sym typeface="Wingdings" pitchFamily="2" charset="2"/>
                </a:rPr>
                <a:t>Posterior</a:t>
              </a:r>
              <a:r>
                <a:rPr lang="zh-TW" altLang="en-US" dirty="0">
                  <a:latin typeface="Arial Rounded MT Bold" panose="020F0704030504030204" pitchFamily="34" charset="77"/>
                  <a:sym typeface="Wingdings" pitchFamily="2" charset="2"/>
                </a:rPr>
                <a:t> </a:t>
              </a:r>
              <a:endParaRPr lang="en-US" dirty="0">
                <a:latin typeface="Arial Rounded MT Bold" panose="020F0704030504030204" pitchFamily="34" charset="77"/>
              </a:endParaRPr>
            </a:p>
          </p:txBody>
        </p:sp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A0F05A08-33F5-C64C-BC30-D515BA2123C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03003" y="1831390"/>
              <a:ext cx="1044499" cy="250479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BEEA9F4-50D9-D3EB-D50B-B7DEB0718624}"/>
              </a:ext>
            </a:extLst>
          </p:cNvPr>
          <p:cNvSpPr txBox="1"/>
          <p:nvPr/>
        </p:nvSpPr>
        <p:spPr>
          <a:xfrm>
            <a:off x="6658685" y="2582929"/>
            <a:ext cx="8031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Arial Rounded MT Bold" panose="020F0704030504030204" pitchFamily="34" charset="77"/>
                <a:sym typeface="Wingdings" pitchFamily="2" charset="2"/>
              </a:rPr>
              <a:t>VAE</a:t>
            </a:r>
            <a:endParaRPr lang="en-US" sz="2400" dirty="0">
              <a:latin typeface="Arial Rounded MT Bold" panose="020F0704030504030204" pitchFamily="34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46631C-D04F-617E-DD3F-1805BBCF8170}"/>
              </a:ext>
            </a:extLst>
          </p:cNvPr>
          <p:cNvSpPr txBox="1"/>
          <p:nvPr/>
        </p:nvSpPr>
        <p:spPr>
          <a:xfrm>
            <a:off x="730569" y="2557962"/>
            <a:ext cx="8031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Arial Rounded MT Bold" panose="020F0704030504030204" pitchFamily="34" charset="77"/>
                <a:sym typeface="Wingdings" pitchFamily="2" charset="2"/>
              </a:rPr>
              <a:t>EM</a:t>
            </a:r>
            <a:endParaRPr lang="en-US" sz="2400" dirty="0">
              <a:latin typeface="Arial Rounded MT Bold" panose="020F0704030504030204" pitchFamily="34" charset="77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A7E08179-64E5-0F2D-6C2F-A87FCF04B57E}"/>
              </a:ext>
            </a:extLst>
          </p:cNvPr>
          <p:cNvGrpSpPr/>
          <p:nvPr/>
        </p:nvGrpSpPr>
        <p:grpSpPr>
          <a:xfrm>
            <a:off x="3697764" y="4903068"/>
            <a:ext cx="327209" cy="136337"/>
            <a:chOff x="5314278" y="3151991"/>
            <a:chExt cx="1032734" cy="430305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4C7EFC3B-FC5D-FCBA-95C7-5B4DD35C4D98}"/>
                </a:ext>
              </a:extLst>
            </p:cNvPr>
            <p:cNvSpPr/>
            <p:nvPr/>
          </p:nvSpPr>
          <p:spPr>
            <a:xfrm>
              <a:off x="5314278" y="3151991"/>
              <a:ext cx="1032734" cy="43030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Chord 61">
              <a:extLst>
                <a:ext uri="{FF2B5EF4-FFF2-40B4-BE49-F238E27FC236}">
                  <a16:creationId xmlns:a16="http://schemas.microsoft.com/office/drawing/2014/main" id="{E5E247BE-8D7A-DB25-0FAF-884F584F449F}"/>
                </a:ext>
              </a:extLst>
            </p:cNvPr>
            <p:cNvSpPr/>
            <p:nvPr/>
          </p:nvSpPr>
          <p:spPr>
            <a:xfrm>
              <a:off x="5314278" y="3151991"/>
              <a:ext cx="914400" cy="430305"/>
            </a:xfrm>
            <a:prstGeom prst="chord">
              <a:avLst>
                <a:gd name="adj1" fmla="val 2700000"/>
                <a:gd name="adj2" fmla="val 14372070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6CB74725-26EF-A72A-9534-087C3911C058}"/>
              </a:ext>
            </a:extLst>
          </p:cNvPr>
          <p:cNvGrpSpPr/>
          <p:nvPr/>
        </p:nvGrpSpPr>
        <p:grpSpPr>
          <a:xfrm rot="10800000">
            <a:off x="1592973" y="5242521"/>
            <a:ext cx="327209" cy="136337"/>
            <a:chOff x="5314278" y="3151991"/>
            <a:chExt cx="1032734" cy="430305"/>
          </a:xfrm>
        </p:grpSpPr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8EC4B8DD-AB23-1511-ECA7-A31D13B99221}"/>
                </a:ext>
              </a:extLst>
            </p:cNvPr>
            <p:cNvSpPr/>
            <p:nvPr/>
          </p:nvSpPr>
          <p:spPr>
            <a:xfrm>
              <a:off x="5314278" y="3151991"/>
              <a:ext cx="1032734" cy="43030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Chord 106">
              <a:extLst>
                <a:ext uri="{FF2B5EF4-FFF2-40B4-BE49-F238E27FC236}">
                  <a16:creationId xmlns:a16="http://schemas.microsoft.com/office/drawing/2014/main" id="{36FCA16B-888B-9750-96AC-655AD842EE1A}"/>
                </a:ext>
              </a:extLst>
            </p:cNvPr>
            <p:cNvSpPr/>
            <p:nvPr/>
          </p:nvSpPr>
          <p:spPr>
            <a:xfrm>
              <a:off x="5314278" y="3151991"/>
              <a:ext cx="914400" cy="430305"/>
            </a:xfrm>
            <a:prstGeom prst="chord">
              <a:avLst>
                <a:gd name="adj1" fmla="val 6799196"/>
                <a:gd name="adj2" fmla="val 12221036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7E76B708-FEAD-48E9-8491-8FE923D4CBD3}"/>
              </a:ext>
            </a:extLst>
          </p:cNvPr>
          <p:cNvGrpSpPr/>
          <p:nvPr/>
        </p:nvGrpSpPr>
        <p:grpSpPr>
          <a:xfrm>
            <a:off x="5079412" y="4281989"/>
            <a:ext cx="327209" cy="136337"/>
            <a:chOff x="5314278" y="3151991"/>
            <a:chExt cx="1032734" cy="430305"/>
          </a:xfrm>
        </p:grpSpPr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DCEFBA54-DF31-D056-103F-0657D9CA3008}"/>
                </a:ext>
              </a:extLst>
            </p:cNvPr>
            <p:cNvSpPr/>
            <p:nvPr/>
          </p:nvSpPr>
          <p:spPr>
            <a:xfrm>
              <a:off x="5314278" y="3151991"/>
              <a:ext cx="1032734" cy="43030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Chord 110">
              <a:extLst>
                <a:ext uri="{FF2B5EF4-FFF2-40B4-BE49-F238E27FC236}">
                  <a16:creationId xmlns:a16="http://schemas.microsoft.com/office/drawing/2014/main" id="{EBF4CACE-3CA7-4DA4-7C24-B017851B0714}"/>
                </a:ext>
              </a:extLst>
            </p:cNvPr>
            <p:cNvSpPr/>
            <p:nvPr/>
          </p:nvSpPr>
          <p:spPr>
            <a:xfrm>
              <a:off x="5314278" y="3151991"/>
              <a:ext cx="914400" cy="430305"/>
            </a:xfrm>
            <a:prstGeom prst="chord">
              <a:avLst>
                <a:gd name="adj1" fmla="val 713982"/>
                <a:gd name="adj2" fmla="val 18776560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4" name="Picture 113">
            <a:extLst>
              <a:ext uri="{FF2B5EF4-FFF2-40B4-BE49-F238E27FC236}">
                <a16:creationId xmlns:a16="http://schemas.microsoft.com/office/drawing/2014/main" id="{B6EBFF1D-BC1E-1B22-3ECF-B89DF76C2B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5912" y="5975092"/>
            <a:ext cx="1431438" cy="343270"/>
          </a:xfrm>
          <a:prstGeom prst="rect">
            <a:avLst/>
          </a:prstGeom>
        </p:spPr>
      </p:pic>
      <p:sp>
        <p:nvSpPr>
          <p:cNvPr id="115" name="TextBox 114">
            <a:extLst>
              <a:ext uri="{FF2B5EF4-FFF2-40B4-BE49-F238E27FC236}">
                <a16:creationId xmlns:a16="http://schemas.microsoft.com/office/drawing/2014/main" id="{4956C4E1-2632-D236-62DF-66F66C9D8881}"/>
              </a:ext>
            </a:extLst>
          </p:cNvPr>
          <p:cNvSpPr txBox="1"/>
          <p:nvPr/>
        </p:nvSpPr>
        <p:spPr>
          <a:xfrm>
            <a:off x="647260" y="5978940"/>
            <a:ext cx="184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Hive locations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119" name="Picture 118">
            <a:extLst>
              <a:ext uri="{FF2B5EF4-FFF2-40B4-BE49-F238E27FC236}">
                <a16:creationId xmlns:a16="http://schemas.microsoft.com/office/drawing/2014/main" id="{E1E789A6-9421-80B4-4499-369458C027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30551" y="5975092"/>
            <a:ext cx="233934" cy="373180"/>
          </a:xfrm>
          <a:prstGeom prst="rect">
            <a:avLst/>
          </a:prstGeom>
        </p:spPr>
      </p:pic>
      <p:sp>
        <p:nvSpPr>
          <p:cNvPr id="120" name="TextBox 119">
            <a:extLst>
              <a:ext uri="{FF2B5EF4-FFF2-40B4-BE49-F238E27FC236}">
                <a16:creationId xmlns:a16="http://schemas.microsoft.com/office/drawing/2014/main" id="{B9F5EE11-D933-47C4-EC15-74D2C5564422}"/>
              </a:ext>
            </a:extLst>
          </p:cNvPr>
          <p:cNvSpPr txBox="1"/>
          <p:nvPr/>
        </p:nvSpPr>
        <p:spPr>
          <a:xfrm>
            <a:off x="3368874" y="5975092"/>
            <a:ext cx="184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Bee colors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63480000-2F69-F929-259A-FC278DA083FD}"/>
              </a:ext>
            </a:extLst>
          </p:cNvPr>
          <p:cNvCxnSpPr/>
          <p:nvPr/>
        </p:nvCxnSpPr>
        <p:spPr>
          <a:xfrm>
            <a:off x="2935424" y="6171188"/>
            <a:ext cx="342900" cy="0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098E998B-115E-E629-A1D8-D19AA01ECFBC}"/>
              </a:ext>
            </a:extLst>
          </p:cNvPr>
          <p:cNvGrpSpPr/>
          <p:nvPr/>
        </p:nvGrpSpPr>
        <p:grpSpPr>
          <a:xfrm rot="5400000">
            <a:off x="6207458" y="4188358"/>
            <a:ext cx="2593960" cy="863491"/>
            <a:chOff x="2830278" y="3183876"/>
            <a:chExt cx="8990821" cy="3312372"/>
          </a:xfrm>
        </p:grpSpPr>
        <p:sp>
          <p:nvSpPr>
            <p:cNvPr id="124" name="Parallelogram 123">
              <a:extLst>
                <a:ext uri="{FF2B5EF4-FFF2-40B4-BE49-F238E27FC236}">
                  <a16:creationId xmlns:a16="http://schemas.microsoft.com/office/drawing/2014/main" id="{B2993354-5922-69C7-352B-5CCCD052AFEC}"/>
                </a:ext>
              </a:extLst>
            </p:cNvPr>
            <p:cNvSpPr/>
            <p:nvPr/>
          </p:nvSpPr>
          <p:spPr>
            <a:xfrm>
              <a:off x="2830278" y="3183876"/>
              <a:ext cx="8990821" cy="3312372"/>
            </a:xfrm>
            <a:prstGeom prst="parallelogram">
              <a:avLst>
                <a:gd name="adj" fmla="val 94320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304D54A0-1CB0-27BC-1140-8B45666F4486}"/>
                </a:ext>
              </a:extLst>
            </p:cNvPr>
            <p:cNvSpPr/>
            <p:nvPr/>
          </p:nvSpPr>
          <p:spPr>
            <a:xfrm>
              <a:off x="7240006" y="4948068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AF889EF2-76A4-73A4-D5ED-1DC3D290FFC1}"/>
                </a:ext>
              </a:extLst>
            </p:cNvPr>
            <p:cNvSpPr/>
            <p:nvPr/>
          </p:nvSpPr>
          <p:spPr>
            <a:xfrm>
              <a:off x="5313303" y="4319298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D5467704-6EFD-1882-BFD3-BD21B7BE91C0}"/>
                </a:ext>
              </a:extLst>
            </p:cNvPr>
            <p:cNvSpPr/>
            <p:nvPr/>
          </p:nvSpPr>
          <p:spPr>
            <a:xfrm>
              <a:off x="6157395" y="477209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6AA86F18-AFB9-501F-C6E3-8DAAD1C6245F}"/>
                </a:ext>
              </a:extLst>
            </p:cNvPr>
            <p:cNvSpPr/>
            <p:nvPr/>
          </p:nvSpPr>
          <p:spPr>
            <a:xfrm>
              <a:off x="5416040" y="4998248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1BF1454F-CC1D-BD3E-7F2C-8FE964212658}"/>
                </a:ext>
              </a:extLst>
            </p:cNvPr>
            <p:cNvSpPr/>
            <p:nvPr/>
          </p:nvSpPr>
          <p:spPr>
            <a:xfrm>
              <a:off x="7240006" y="5137491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EE96C4C5-0898-7817-6D92-46E616309C63}"/>
                </a:ext>
              </a:extLst>
            </p:cNvPr>
            <p:cNvSpPr/>
            <p:nvPr/>
          </p:nvSpPr>
          <p:spPr>
            <a:xfrm>
              <a:off x="7680389" y="5197076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8E85DCF7-AF0C-CF02-1D81-763D8B1A6B53}"/>
                </a:ext>
              </a:extLst>
            </p:cNvPr>
            <p:cNvSpPr/>
            <p:nvPr/>
          </p:nvSpPr>
          <p:spPr>
            <a:xfrm>
              <a:off x="5933294" y="5439419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E7E927E2-2AF4-2B00-10A7-C3A0BF58C120}"/>
                </a:ext>
              </a:extLst>
            </p:cNvPr>
            <p:cNvSpPr/>
            <p:nvPr/>
          </p:nvSpPr>
          <p:spPr>
            <a:xfrm>
              <a:off x="8177751" y="510277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E891F25B-79F2-849D-2471-D6510FF1080A}"/>
                </a:ext>
              </a:extLst>
            </p:cNvPr>
            <p:cNvSpPr/>
            <p:nvPr/>
          </p:nvSpPr>
          <p:spPr>
            <a:xfrm>
              <a:off x="7393716" y="4384426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D01CF4B4-CE0D-D001-ECD9-24F053578CB4}"/>
                </a:ext>
              </a:extLst>
            </p:cNvPr>
            <p:cNvSpPr/>
            <p:nvPr/>
          </p:nvSpPr>
          <p:spPr>
            <a:xfrm>
              <a:off x="7527622" y="4586949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CD40400D-662C-959C-3621-75EC9181D359}"/>
                </a:ext>
              </a:extLst>
            </p:cNvPr>
            <p:cNvSpPr/>
            <p:nvPr/>
          </p:nvSpPr>
          <p:spPr>
            <a:xfrm>
              <a:off x="7263897" y="455560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DF6CB300-4605-432D-1E11-667360259A47}"/>
                </a:ext>
              </a:extLst>
            </p:cNvPr>
            <p:cNvSpPr/>
            <p:nvPr/>
          </p:nvSpPr>
          <p:spPr>
            <a:xfrm>
              <a:off x="9474129" y="4323671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9FDE59A1-CE9C-6D31-21D4-B2686F84D849}"/>
                </a:ext>
              </a:extLst>
            </p:cNvPr>
            <p:cNvSpPr/>
            <p:nvPr/>
          </p:nvSpPr>
          <p:spPr>
            <a:xfrm>
              <a:off x="7004550" y="5254649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B8BF86FD-B497-AEE2-7377-6311DDBF7B8A}"/>
                </a:ext>
              </a:extLst>
            </p:cNvPr>
            <p:cNvSpPr/>
            <p:nvPr/>
          </p:nvSpPr>
          <p:spPr>
            <a:xfrm>
              <a:off x="6023445" y="4920606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34A08D57-5EA7-9474-D08C-4E53598996A7}"/>
                </a:ext>
              </a:extLst>
            </p:cNvPr>
            <p:cNvSpPr/>
            <p:nvPr/>
          </p:nvSpPr>
          <p:spPr>
            <a:xfrm>
              <a:off x="6362322" y="4998119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5F835D1B-40AD-EA38-7418-A54310F6D4DD}"/>
                </a:ext>
              </a:extLst>
            </p:cNvPr>
            <p:cNvSpPr/>
            <p:nvPr/>
          </p:nvSpPr>
          <p:spPr>
            <a:xfrm>
              <a:off x="5313303" y="5245125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D520F081-178B-EF02-D9C3-A26EF6DACB6F}"/>
                </a:ext>
              </a:extLst>
            </p:cNvPr>
            <p:cNvSpPr/>
            <p:nvPr/>
          </p:nvSpPr>
          <p:spPr>
            <a:xfrm>
              <a:off x="7444933" y="5363515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37CB3FE9-4B27-F20F-4467-258C808B5219}"/>
                </a:ext>
              </a:extLst>
            </p:cNvPr>
            <p:cNvSpPr/>
            <p:nvPr/>
          </p:nvSpPr>
          <p:spPr>
            <a:xfrm>
              <a:off x="7885316" y="5423100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2FBAEC8E-E33E-26C7-08AE-6B5AA98C977C}"/>
                </a:ext>
              </a:extLst>
            </p:cNvPr>
            <p:cNvSpPr/>
            <p:nvPr/>
          </p:nvSpPr>
          <p:spPr>
            <a:xfrm>
              <a:off x="4967912" y="573079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125F6B5A-825D-AE15-EDEB-0891488B89C6}"/>
                </a:ext>
              </a:extLst>
            </p:cNvPr>
            <p:cNvSpPr/>
            <p:nvPr/>
          </p:nvSpPr>
          <p:spPr>
            <a:xfrm>
              <a:off x="8877196" y="5354905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E6BB855E-72BF-0825-3CA2-26C2AB78C3C2}"/>
                </a:ext>
              </a:extLst>
            </p:cNvPr>
            <p:cNvSpPr/>
            <p:nvPr/>
          </p:nvSpPr>
          <p:spPr>
            <a:xfrm>
              <a:off x="7598643" y="4610450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CB57009D-505F-DDCC-299C-EAF3CB70700C}"/>
                </a:ext>
              </a:extLst>
            </p:cNvPr>
            <p:cNvSpPr/>
            <p:nvPr/>
          </p:nvSpPr>
          <p:spPr>
            <a:xfrm>
              <a:off x="7732550" y="4812972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ED7282A0-523F-DA44-DAD5-2C576C8A350B}"/>
                </a:ext>
              </a:extLst>
            </p:cNvPr>
            <p:cNvSpPr/>
            <p:nvPr/>
          </p:nvSpPr>
          <p:spPr>
            <a:xfrm>
              <a:off x="7468824" y="4781630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69ECA549-0540-A829-D04E-DD2982868D3C}"/>
                </a:ext>
              </a:extLst>
            </p:cNvPr>
            <p:cNvSpPr/>
            <p:nvPr/>
          </p:nvSpPr>
          <p:spPr>
            <a:xfrm>
              <a:off x="9679056" y="4549694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5420D065-A381-5CCE-2144-BA887F8F8E7F}"/>
                </a:ext>
              </a:extLst>
            </p:cNvPr>
            <p:cNvSpPr/>
            <p:nvPr/>
          </p:nvSpPr>
          <p:spPr>
            <a:xfrm>
              <a:off x="6659781" y="4562902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DCCD7604-5B43-6177-EBF4-63A719D17B73}"/>
                </a:ext>
              </a:extLst>
            </p:cNvPr>
            <p:cNvSpPr/>
            <p:nvPr/>
          </p:nvSpPr>
          <p:spPr>
            <a:xfrm>
              <a:off x="7100164" y="4622486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06FE0A97-45F2-0EF8-B996-7BC1F6117BDE}"/>
                </a:ext>
              </a:extLst>
            </p:cNvPr>
            <p:cNvSpPr/>
            <p:nvPr/>
          </p:nvSpPr>
          <p:spPr>
            <a:xfrm>
              <a:off x="7597527" y="452818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92E5882F-8A7E-7193-14BA-6733BECBA5E7}"/>
                </a:ext>
              </a:extLst>
            </p:cNvPr>
            <p:cNvSpPr/>
            <p:nvPr/>
          </p:nvSpPr>
          <p:spPr>
            <a:xfrm>
              <a:off x="6813491" y="380983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26A233CA-8794-0A1D-7549-ACD4158AAAF9}"/>
                </a:ext>
              </a:extLst>
            </p:cNvPr>
            <p:cNvSpPr/>
            <p:nvPr/>
          </p:nvSpPr>
          <p:spPr>
            <a:xfrm>
              <a:off x="6947398" y="4012359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5C7E5E9D-1D4F-8413-40CD-AD5174D5F6FE}"/>
                </a:ext>
              </a:extLst>
            </p:cNvPr>
            <p:cNvSpPr/>
            <p:nvPr/>
          </p:nvSpPr>
          <p:spPr>
            <a:xfrm>
              <a:off x="6683672" y="398101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D9438A74-93CB-C134-6944-F5CD47C457C5}"/>
                </a:ext>
              </a:extLst>
            </p:cNvPr>
            <p:cNvSpPr/>
            <p:nvPr/>
          </p:nvSpPr>
          <p:spPr>
            <a:xfrm>
              <a:off x="8893904" y="3749081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4AF98728-0592-EC28-CF25-F732E3D263E2}"/>
                </a:ext>
              </a:extLst>
            </p:cNvPr>
            <p:cNvSpPr/>
            <p:nvPr/>
          </p:nvSpPr>
          <p:spPr>
            <a:xfrm>
              <a:off x="6004628" y="448766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8238E21D-E984-EB2D-DFA1-74C6DBE1C610}"/>
                </a:ext>
              </a:extLst>
            </p:cNvPr>
            <p:cNvSpPr/>
            <p:nvPr/>
          </p:nvSpPr>
          <p:spPr>
            <a:xfrm>
              <a:off x="6864709" y="4788925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1A2C0B4B-1EDB-812E-7F58-8761AFC310D1}"/>
                </a:ext>
              </a:extLst>
            </p:cNvPr>
            <p:cNvSpPr/>
            <p:nvPr/>
          </p:nvSpPr>
          <p:spPr>
            <a:xfrm>
              <a:off x="6577102" y="6049562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179029B9-AC40-B5F7-3790-D2052F0D50E1}"/>
                </a:ext>
              </a:extLst>
            </p:cNvPr>
            <p:cNvSpPr/>
            <p:nvPr/>
          </p:nvSpPr>
          <p:spPr>
            <a:xfrm>
              <a:off x="7802455" y="4754210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21B43ACE-3697-DC72-3D86-EEDDC9718414}"/>
                </a:ext>
              </a:extLst>
            </p:cNvPr>
            <p:cNvSpPr/>
            <p:nvPr/>
          </p:nvSpPr>
          <p:spPr>
            <a:xfrm>
              <a:off x="7211123" y="405588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CEAAE38B-43BB-A155-0E98-EE465AB878F1}"/>
                </a:ext>
              </a:extLst>
            </p:cNvPr>
            <p:cNvSpPr/>
            <p:nvPr/>
          </p:nvSpPr>
          <p:spPr>
            <a:xfrm>
              <a:off x="7152325" y="4238382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72FEADD7-A99B-931E-3867-9A9272B6B338}"/>
                </a:ext>
              </a:extLst>
            </p:cNvPr>
            <p:cNvSpPr/>
            <p:nvPr/>
          </p:nvSpPr>
          <p:spPr>
            <a:xfrm>
              <a:off x="6888599" y="4207040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61C14486-D3FB-4131-763E-8A98487BCC08}"/>
                </a:ext>
              </a:extLst>
            </p:cNvPr>
            <p:cNvSpPr/>
            <p:nvPr/>
          </p:nvSpPr>
          <p:spPr>
            <a:xfrm>
              <a:off x="8618242" y="452818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2A073E2F-1EAD-BAC7-E524-19952F9A82E7}"/>
                </a:ext>
              </a:extLst>
            </p:cNvPr>
            <p:cNvSpPr/>
            <p:nvPr/>
          </p:nvSpPr>
          <p:spPr>
            <a:xfrm>
              <a:off x="7840900" y="4536414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D27D81E5-CFCC-1C25-81A2-113717B0BE63}"/>
                </a:ext>
              </a:extLst>
            </p:cNvPr>
            <p:cNvSpPr/>
            <p:nvPr/>
          </p:nvSpPr>
          <p:spPr>
            <a:xfrm>
              <a:off x="5914197" y="3907644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AEC5C487-4118-EDC3-A2F8-26E75F891F2C}"/>
                </a:ext>
              </a:extLst>
            </p:cNvPr>
            <p:cNvSpPr/>
            <p:nvPr/>
          </p:nvSpPr>
          <p:spPr>
            <a:xfrm>
              <a:off x="6758289" y="4360442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F67AA2CE-AA82-3942-6A09-1025FFA8E658}"/>
                </a:ext>
              </a:extLst>
            </p:cNvPr>
            <p:cNvSpPr/>
            <p:nvPr/>
          </p:nvSpPr>
          <p:spPr>
            <a:xfrm>
              <a:off x="6016934" y="4586594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046D79F7-DF36-C5FC-2E8F-8AE173CEE0A5}"/>
                </a:ext>
              </a:extLst>
            </p:cNvPr>
            <p:cNvSpPr/>
            <p:nvPr/>
          </p:nvSpPr>
          <p:spPr>
            <a:xfrm>
              <a:off x="7840900" y="472583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EA81F58D-938E-0C5D-004F-8053CFAC132F}"/>
                </a:ext>
              </a:extLst>
            </p:cNvPr>
            <p:cNvSpPr/>
            <p:nvPr/>
          </p:nvSpPr>
          <p:spPr>
            <a:xfrm>
              <a:off x="8281283" y="4785422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0E2F82C2-8D42-4FBE-D61B-8C670F1F1D64}"/>
                </a:ext>
              </a:extLst>
            </p:cNvPr>
            <p:cNvSpPr/>
            <p:nvPr/>
          </p:nvSpPr>
          <p:spPr>
            <a:xfrm>
              <a:off x="6534188" y="5027765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92843846-0A78-AEA5-2A9E-FA03480F4721}"/>
                </a:ext>
              </a:extLst>
            </p:cNvPr>
            <p:cNvSpPr/>
            <p:nvPr/>
          </p:nvSpPr>
          <p:spPr>
            <a:xfrm>
              <a:off x="8778645" y="469112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72" name="Oval 171">
              <a:extLst>
                <a:ext uri="{FF2B5EF4-FFF2-40B4-BE49-F238E27FC236}">
                  <a16:creationId xmlns:a16="http://schemas.microsoft.com/office/drawing/2014/main" id="{0D157B43-69B6-0212-0068-ABB837283C8A}"/>
                </a:ext>
              </a:extLst>
            </p:cNvPr>
            <p:cNvSpPr/>
            <p:nvPr/>
          </p:nvSpPr>
          <p:spPr>
            <a:xfrm>
              <a:off x="7994610" y="3972772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9EBDB0A8-8EF0-138E-9E8C-7B5F4C747C95}"/>
                </a:ext>
              </a:extLst>
            </p:cNvPr>
            <p:cNvSpPr/>
            <p:nvPr/>
          </p:nvSpPr>
          <p:spPr>
            <a:xfrm>
              <a:off x="8128516" y="4175295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91AD4854-4741-C999-B530-15CA34780086}"/>
                </a:ext>
              </a:extLst>
            </p:cNvPr>
            <p:cNvSpPr/>
            <p:nvPr/>
          </p:nvSpPr>
          <p:spPr>
            <a:xfrm>
              <a:off x="7864791" y="414395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7ED65AD7-CDCD-9095-7CBA-BE7340723E1C}"/>
                </a:ext>
              </a:extLst>
            </p:cNvPr>
            <p:cNvSpPr/>
            <p:nvPr/>
          </p:nvSpPr>
          <p:spPr>
            <a:xfrm>
              <a:off x="10075023" y="391201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76" name="Oval 175">
              <a:extLst>
                <a:ext uri="{FF2B5EF4-FFF2-40B4-BE49-F238E27FC236}">
                  <a16:creationId xmlns:a16="http://schemas.microsoft.com/office/drawing/2014/main" id="{1E7E088F-351B-C37E-4FE1-1C5B5E092BBE}"/>
                </a:ext>
              </a:extLst>
            </p:cNvPr>
            <p:cNvSpPr/>
            <p:nvPr/>
          </p:nvSpPr>
          <p:spPr>
            <a:xfrm>
              <a:off x="7605444" y="4842994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B3F8300A-B76D-8BB6-06A9-E5E6E3288468}"/>
                </a:ext>
              </a:extLst>
            </p:cNvPr>
            <p:cNvSpPr/>
            <p:nvPr/>
          </p:nvSpPr>
          <p:spPr>
            <a:xfrm>
              <a:off x="6041288" y="4294608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D80891F6-02FD-8D07-1DC2-AFF86719BE09}"/>
                </a:ext>
              </a:extLst>
            </p:cNvPr>
            <p:cNvSpPr/>
            <p:nvPr/>
          </p:nvSpPr>
          <p:spPr>
            <a:xfrm>
              <a:off x="6963216" y="4586465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79" name="Oval 178">
              <a:extLst>
                <a:ext uri="{FF2B5EF4-FFF2-40B4-BE49-F238E27FC236}">
                  <a16:creationId xmlns:a16="http://schemas.microsoft.com/office/drawing/2014/main" id="{43FFC4BC-5006-C28D-F268-00583EE471BB}"/>
                </a:ext>
              </a:extLst>
            </p:cNvPr>
            <p:cNvSpPr/>
            <p:nvPr/>
          </p:nvSpPr>
          <p:spPr>
            <a:xfrm>
              <a:off x="4386357" y="5211509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80" name="Oval 179">
              <a:extLst>
                <a:ext uri="{FF2B5EF4-FFF2-40B4-BE49-F238E27FC236}">
                  <a16:creationId xmlns:a16="http://schemas.microsoft.com/office/drawing/2014/main" id="{226DAFF3-600C-77D2-567C-F6A8A5E5AE26}"/>
                </a:ext>
              </a:extLst>
            </p:cNvPr>
            <p:cNvSpPr/>
            <p:nvPr/>
          </p:nvSpPr>
          <p:spPr>
            <a:xfrm>
              <a:off x="8045827" y="4951861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F512E809-92BF-5C62-5EEA-9B7D0B8C981B}"/>
                </a:ext>
              </a:extLst>
            </p:cNvPr>
            <p:cNvSpPr/>
            <p:nvPr/>
          </p:nvSpPr>
          <p:spPr>
            <a:xfrm>
              <a:off x="8486210" y="5011446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82" name="Oval 181">
              <a:extLst>
                <a:ext uri="{FF2B5EF4-FFF2-40B4-BE49-F238E27FC236}">
                  <a16:creationId xmlns:a16="http://schemas.microsoft.com/office/drawing/2014/main" id="{6143DB67-24AA-7DA6-C8BD-7569CC61249A}"/>
                </a:ext>
              </a:extLst>
            </p:cNvPr>
            <p:cNvSpPr/>
            <p:nvPr/>
          </p:nvSpPr>
          <p:spPr>
            <a:xfrm>
              <a:off x="5568806" y="531914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83" name="Oval 182">
              <a:extLst>
                <a:ext uri="{FF2B5EF4-FFF2-40B4-BE49-F238E27FC236}">
                  <a16:creationId xmlns:a16="http://schemas.microsoft.com/office/drawing/2014/main" id="{CD66635A-A02B-263B-1F68-E859578B2A02}"/>
                </a:ext>
              </a:extLst>
            </p:cNvPr>
            <p:cNvSpPr/>
            <p:nvPr/>
          </p:nvSpPr>
          <p:spPr>
            <a:xfrm>
              <a:off x="9478090" y="4943251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94E5C7C0-5490-57BD-48FB-06255065AA60}"/>
                </a:ext>
              </a:extLst>
            </p:cNvPr>
            <p:cNvSpPr/>
            <p:nvPr/>
          </p:nvSpPr>
          <p:spPr>
            <a:xfrm>
              <a:off x="8222484" y="352720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07EA0DD5-3387-A630-410F-0EEA9AC6A9C6}"/>
                </a:ext>
              </a:extLst>
            </p:cNvPr>
            <p:cNvSpPr/>
            <p:nvPr/>
          </p:nvSpPr>
          <p:spPr>
            <a:xfrm>
              <a:off x="8333444" y="440131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86" name="Oval 185">
              <a:extLst>
                <a:ext uri="{FF2B5EF4-FFF2-40B4-BE49-F238E27FC236}">
                  <a16:creationId xmlns:a16="http://schemas.microsoft.com/office/drawing/2014/main" id="{E1D8ABEC-F103-DFB0-46CF-2E326DEDC84B}"/>
                </a:ext>
              </a:extLst>
            </p:cNvPr>
            <p:cNvSpPr/>
            <p:nvPr/>
          </p:nvSpPr>
          <p:spPr>
            <a:xfrm>
              <a:off x="8069718" y="4369976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4D7C8E43-31AC-BBBA-C29A-9DCFCF5B6262}"/>
                </a:ext>
              </a:extLst>
            </p:cNvPr>
            <p:cNvSpPr/>
            <p:nvPr/>
          </p:nvSpPr>
          <p:spPr>
            <a:xfrm>
              <a:off x="10279950" y="4138039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88" name="Oval 187">
              <a:extLst>
                <a:ext uri="{FF2B5EF4-FFF2-40B4-BE49-F238E27FC236}">
                  <a16:creationId xmlns:a16="http://schemas.microsoft.com/office/drawing/2014/main" id="{40550F29-08C8-30B6-F355-A823C953F808}"/>
                </a:ext>
              </a:extLst>
            </p:cNvPr>
            <p:cNvSpPr/>
            <p:nvPr/>
          </p:nvSpPr>
          <p:spPr>
            <a:xfrm>
              <a:off x="7260675" y="4151248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89" name="Oval 188">
              <a:extLst>
                <a:ext uri="{FF2B5EF4-FFF2-40B4-BE49-F238E27FC236}">
                  <a16:creationId xmlns:a16="http://schemas.microsoft.com/office/drawing/2014/main" id="{6E82D112-DBDF-1EFA-492B-A39AA63F8306}"/>
                </a:ext>
              </a:extLst>
            </p:cNvPr>
            <p:cNvSpPr/>
            <p:nvPr/>
          </p:nvSpPr>
          <p:spPr>
            <a:xfrm>
              <a:off x="7548165" y="3701395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735B1346-5CF0-ED68-86E7-66DFD46681AB}"/>
                </a:ext>
              </a:extLst>
            </p:cNvPr>
            <p:cNvSpPr/>
            <p:nvPr/>
          </p:nvSpPr>
          <p:spPr>
            <a:xfrm>
              <a:off x="9922256" y="359709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492D19E3-C13E-25E4-91E9-F6ABA5D89B7F}"/>
                </a:ext>
              </a:extLst>
            </p:cNvPr>
            <p:cNvSpPr/>
            <p:nvPr/>
          </p:nvSpPr>
          <p:spPr>
            <a:xfrm>
              <a:off x="7414385" y="339818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92" name="Oval 191">
              <a:extLst>
                <a:ext uri="{FF2B5EF4-FFF2-40B4-BE49-F238E27FC236}">
                  <a16:creationId xmlns:a16="http://schemas.microsoft.com/office/drawing/2014/main" id="{7B7A7764-1855-F692-75B2-4B8B00C4CEBA}"/>
                </a:ext>
              </a:extLst>
            </p:cNvPr>
            <p:cNvSpPr/>
            <p:nvPr/>
          </p:nvSpPr>
          <p:spPr>
            <a:xfrm>
              <a:off x="5761430" y="3728138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C5C477E6-7276-5655-466B-C74F70098D98}"/>
                </a:ext>
              </a:extLst>
            </p:cNvPr>
            <p:cNvSpPr/>
            <p:nvPr/>
          </p:nvSpPr>
          <p:spPr>
            <a:xfrm>
              <a:off x="7284566" y="356936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94" name="Oval 193">
              <a:extLst>
                <a:ext uri="{FF2B5EF4-FFF2-40B4-BE49-F238E27FC236}">
                  <a16:creationId xmlns:a16="http://schemas.microsoft.com/office/drawing/2014/main" id="{08CE9579-6111-7098-0814-FEC5E49629E3}"/>
                </a:ext>
              </a:extLst>
            </p:cNvPr>
            <p:cNvSpPr/>
            <p:nvPr/>
          </p:nvSpPr>
          <p:spPr>
            <a:xfrm>
              <a:off x="9494798" y="333742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95" name="Oval 194">
              <a:extLst>
                <a:ext uri="{FF2B5EF4-FFF2-40B4-BE49-F238E27FC236}">
                  <a16:creationId xmlns:a16="http://schemas.microsoft.com/office/drawing/2014/main" id="{BA005F64-F608-CC02-94C8-EEAB3D44A80F}"/>
                </a:ext>
              </a:extLst>
            </p:cNvPr>
            <p:cNvSpPr/>
            <p:nvPr/>
          </p:nvSpPr>
          <p:spPr>
            <a:xfrm>
              <a:off x="6605522" y="407601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96" name="Oval 195">
              <a:extLst>
                <a:ext uri="{FF2B5EF4-FFF2-40B4-BE49-F238E27FC236}">
                  <a16:creationId xmlns:a16="http://schemas.microsoft.com/office/drawing/2014/main" id="{A28B5EE1-0A2A-8315-9852-192CEF3D16F3}"/>
                </a:ext>
              </a:extLst>
            </p:cNvPr>
            <p:cNvSpPr/>
            <p:nvPr/>
          </p:nvSpPr>
          <p:spPr>
            <a:xfrm>
              <a:off x="7465602" y="4377271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CE440F21-5E9E-98AD-8133-943368411851}"/>
                </a:ext>
              </a:extLst>
            </p:cNvPr>
            <p:cNvSpPr/>
            <p:nvPr/>
          </p:nvSpPr>
          <p:spPr>
            <a:xfrm>
              <a:off x="7177996" y="5637908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5A7798A8-67B2-830F-16F1-E428540D88FB}"/>
                </a:ext>
              </a:extLst>
            </p:cNvPr>
            <p:cNvSpPr/>
            <p:nvPr/>
          </p:nvSpPr>
          <p:spPr>
            <a:xfrm>
              <a:off x="8743938" y="411999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99" name="Oval 198">
              <a:extLst>
                <a:ext uri="{FF2B5EF4-FFF2-40B4-BE49-F238E27FC236}">
                  <a16:creationId xmlns:a16="http://schemas.microsoft.com/office/drawing/2014/main" id="{E0A7562B-9A34-927B-5ABF-031A7091DDF0}"/>
                </a:ext>
              </a:extLst>
            </p:cNvPr>
            <p:cNvSpPr/>
            <p:nvPr/>
          </p:nvSpPr>
          <p:spPr>
            <a:xfrm>
              <a:off x="7812017" y="3644229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00" name="Oval 199">
              <a:extLst>
                <a:ext uri="{FF2B5EF4-FFF2-40B4-BE49-F238E27FC236}">
                  <a16:creationId xmlns:a16="http://schemas.microsoft.com/office/drawing/2014/main" id="{C7E72E17-6CC1-2EBB-E1DF-BD4DE181CC0E}"/>
                </a:ext>
              </a:extLst>
            </p:cNvPr>
            <p:cNvSpPr/>
            <p:nvPr/>
          </p:nvSpPr>
          <p:spPr>
            <a:xfrm>
              <a:off x="6023920" y="337134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0BCE5E29-EE59-0BE9-04EF-3D5C137FCE5F}"/>
                </a:ext>
              </a:extLst>
            </p:cNvPr>
            <p:cNvSpPr/>
            <p:nvPr/>
          </p:nvSpPr>
          <p:spPr>
            <a:xfrm>
              <a:off x="5611396" y="397296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41018DD6-5C7F-1893-1A31-FC36E7579846}"/>
                </a:ext>
              </a:extLst>
            </p:cNvPr>
            <p:cNvSpPr/>
            <p:nvPr/>
          </p:nvSpPr>
          <p:spPr>
            <a:xfrm>
              <a:off x="9219136" y="411653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</p:grpSp>
      <p:sp>
        <p:nvSpPr>
          <p:cNvPr id="205" name="TextBox 204">
            <a:extLst>
              <a:ext uri="{FF2B5EF4-FFF2-40B4-BE49-F238E27FC236}">
                <a16:creationId xmlns:a16="http://schemas.microsoft.com/office/drawing/2014/main" id="{C38F2784-D48A-14D2-32E5-8E835B00460C}"/>
              </a:ext>
            </a:extLst>
          </p:cNvPr>
          <p:cNvSpPr txBox="1"/>
          <p:nvPr/>
        </p:nvSpPr>
        <p:spPr>
          <a:xfrm rot="5400000">
            <a:off x="7883212" y="4480409"/>
            <a:ext cx="1244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Encoder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sp>
        <p:nvSpPr>
          <p:cNvPr id="206" name="Trapezoid 205">
            <a:extLst>
              <a:ext uri="{FF2B5EF4-FFF2-40B4-BE49-F238E27FC236}">
                <a16:creationId xmlns:a16="http://schemas.microsoft.com/office/drawing/2014/main" id="{123264F4-9E7C-ED02-5E52-D6450E0AD819}"/>
              </a:ext>
            </a:extLst>
          </p:cNvPr>
          <p:cNvSpPr/>
          <p:nvPr/>
        </p:nvSpPr>
        <p:spPr>
          <a:xfrm rot="16200000" flipH="1">
            <a:off x="9310802" y="4285515"/>
            <a:ext cx="1943350" cy="731864"/>
          </a:xfrm>
          <a:prstGeom prst="trapezoid">
            <a:avLst>
              <a:gd name="adj" fmla="val 42499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EC9E444D-6F7B-28EF-9A6B-5669EE22D7D7}"/>
              </a:ext>
            </a:extLst>
          </p:cNvPr>
          <p:cNvSpPr txBox="1"/>
          <p:nvPr/>
        </p:nvSpPr>
        <p:spPr>
          <a:xfrm rot="5400000">
            <a:off x="9727861" y="4435437"/>
            <a:ext cx="11475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Decoder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sp>
        <p:nvSpPr>
          <p:cNvPr id="208" name="Trapezoid 207">
            <a:extLst>
              <a:ext uri="{FF2B5EF4-FFF2-40B4-BE49-F238E27FC236}">
                <a16:creationId xmlns:a16="http://schemas.microsoft.com/office/drawing/2014/main" id="{5EBA8459-EC8B-0C3C-920B-E4D221C70BD7}"/>
              </a:ext>
            </a:extLst>
          </p:cNvPr>
          <p:cNvSpPr/>
          <p:nvPr/>
        </p:nvSpPr>
        <p:spPr>
          <a:xfrm rot="5400000">
            <a:off x="7525705" y="4260737"/>
            <a:ext cx="1943350" cy="731864"/>
          </a:xfrm>
          <a:prstGeom prst="trapezoid">
            <a:avLst>
              <a:gd name="adj" fmla="val 42499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9" name="Straight Arrow Connector 208">
            <a:extLst>
              <a:ext uri="{FF2B5EF4-FFF2-40B4-BE49-F238E27FC236}">
                <a16:creationId xmlns:a16="http://schemas.microsoft.com/office/drawing/2014/main" id="{EFA84387-26B2-DE93-6F26-2C806E8DE037}"/>
              </a:ext>
            </a:extLst>
          </p:cNvPr>
          <p:cNvCxnSpPr>
            <a:cxnSpLocks/>
          </p:cNvCxnSpPr>
          <p:nvPr/>
        </p:nvCxnSpPr>
        <p:spPr>
          <a:xfrm rot="17459832" flipV="1">
            <a:off x="8695391" y="4346624"/>
            <a:ext cx="1696065" cy="67511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BD5C24F5-62CC-B6A8-0737-1F14D5EFA1CC}"/>
              </a:ext>
            </a:extLst>
          </p:cNvPr>
          <p:cNvGrpSpPr/>
          <p:nvPr/>
        </p:nvGrpSpPr>
        <p:grpSpPr>
          <a:xfrm rot="5400000">
            <a:off x="9059142" y="4567785"/>
            <a:ext cx="466992" cy="194580"/>
            <a:chOff x="5314278" y="3151991"/>
            <a:chExt cx="1032734" cy="430305"/>
          </a:xfrm>
        </p:grpSpPr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5A2E46B8-7B13-5FF5-3295-71B1F87A4423}"/>
                </a:ext>
              </a:extLst>
            </p:cNvPr>
            <p:cNvSpPr/>
            <p:nvPr/>
          </p:nvSpPr>
          <p:spPr>
            <a:xfrm>
              <a:off x="5314278" y="3151991"/>
              <a:ext cx="1032734" cy="43030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" name="Chord 217">
              <a:extLst>
                <a:ext uri="{FF2B5EF4-FFF2-40B4-BE49-F238E27FC236}">
                  <a16:creationId xmlns:a16="http://schemas.microsoft.com/office/drawing/2014/main" id="{6A218592-14A2-2012-1E4C-2DE7C87F3AA4}"/>
                </a:ext>
              </a:extLst>
            </p:cNvPr>
            <p:cNvSpPr/>
            <p:nvPr/>
          </p:nvSpPr>
          <p:spPr>
            <a:xfrm>
              <a:off x="5314278" y="3151991"/>
              <a:ext cx="914400" cy="430305"/>
            </a:xfrm>
            <a:prstGeom prst="chord">
              <a:avLst>
                <a:gd name="adj1" fmla="val 2700000"/>
                <a:gd name="adj2" fmla="val 14372070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FBBFEA5B-00A5-C9BB-49F5-6E78DE5882BB}"/>
              </a:ext>
            </a:extLst>
          </p:cNvPr>
          <p:cNvGrpSpPr/>
          <p:nvPr/>
        </p:nvGrpSpPr>
        <p:grpSpPr>
          <a:xfrm rot="5400000">
            <a:off x="9983616" y="4188358"/>
            <a:ext cx="2593960" cy="863491"/>
            <a:chOff x="2830278" y="3183876"/>
            <a:chExt cx="8990821" cy="3312372"/>
          </a:xfrm>
        </p:grpSpPr>
        <p:sp>
          <p:nvSpPr>
            <p:cNvPr id="220" name="Parallelogram 219">
              <a:extLst>
                <a:ext uri="{FF2B5EF4-FFF2-40B4-BE49-F238E27FC236}">
                  <a16:creationId xmlns:a16="http://schemas.microsoft.com/office/drawing/2014/main" id="{EC6FD5AC-9608-8241-0C39-57CE6B18E830}"/>
                </a:ext>
              </a:extLst>
            </p:cNvPr>
            <p:cNvSpPr/>
            <p:nvPr/>
          </p:nvSpPr>
          <p:spPr>
            <a:xfrm>
              <a:off x="2830278" y="3183876"/>
              <a:ext cx="8990821" cy="3312372"/>
            </a:xfrm>
            <a:prstGeom prst="parallelogram">
              <a:avLst>
                <a:gd name="adj" fmla="val 94320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21" name="Oval 220">
              <a:extLst>
                <a:ext uri="{FF2B5EF4-FFF2-40B4-BE49-F238E27FC236}">
                  <a16:creationId xmlns:a16="http://schemas.microsoft.com/office/drawing/2014/main" id="{C58022CD-FEAC-A3A0-5AF6-E9915E580584}"/>
                </a:ext>
              </a:extLst>
            </p:cNvPr>
            <p:cNvSpPr/>
            <p:nvPr/>
          </p:nvSpPr>
          <p:spPr>
            <a:xfrm>
              <a:off x="7240006" y="4948068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22" name="Oval 221">
              <a:extLst>
                <a:ext uri="{FF2B5EF4-FFF2-40B4-BE49-F238E27FC236}">
                  <a16:creationId xmlns:a16="http://schemas.microsoft.com/office/drawing/2014/main" id="{EDBCE47A-FEC7-36F3-8C81-7E5C6128ACAA}"/>
                </a:ext>
              </a:extLst>
            </p:cNvPr>
            <p:cNvSpPr/>
            <p:nvPr/>
          </p:nvSpPr>
          <p:spPr>
            <a:xfrm>
              <a:off x="5313303" y="4319298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23" name="Oval 222">
              <a:extLst>
                <a:ext uri="{FF2B5EF4-FFF2-40B4-BE49-F238E27FC236}">
                  <a16:creationId xmlns:a16="http://schemas.microsoft.com/office/drawing/2014/main" id="{4DD35DE5-7457-D884-3CE3-A30370259503}"/>
                </a:ext>
              </a:extLst>
            </p:cNvPr>
            <p:cNvSpPr/>
            <p:nvPr/>
          </p:nvSpPr>
          <p:spPr>
            <a:xfrm>
              <a:off x="6157395" y="477209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24" name="Oval 223">
              <a:extLst>
                <a:ext uri="{FF2B5EF4-FFF2-40B4-BE49-F238E27FC236}">
                  <a16:creationId xmlns:a16="http://schemas.microsoft.com/office/drawing/2014/main" id="{99D21132-0558-2FCD-3A23-5F6F30652E17}"/>
                </a:ext>
              </a:extLst>
            </p:cNvPr>
            <p:cNvSpPr/>
            <p:nvPr/>
          </p:nvSpPr>
          <p:spPr>
            <a:xfrm>
              <a:off x="5416040" y="4998248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25" name="Oval 224">
              <a:extLst>
                <a:ext uri="{FF2B5EF4-FFF2-40B4-BE49-F238E27FC236}">
                  <a16:creationId xmlns:a16="http://schemas.microsoft.com/office/drawing/2014/main" id="{6D5455C7-BDDE-3404-69D3-81179CBB94D9}"/>
                </a:ext>
              </a:extLst>
            </p:cNvPr>
            <p:cNvSpPr/>
            <p:nvPr/>
          </p:nvSpPr>
          <p:spPr>
            <a:xfrm>
              <a:off x="7240006" y="5137491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26" name="Oval 225">
              <a:extLst>
                <a:ext uri="{FF2B5EF4-FFF2-40B4-BE49-F238E27FC236}">
                  <a16:creationId xmlns:a16="http://schemas.microsoft.com/office/drawing/2014/main" id="{E610B152-E601-C0E1-2BD6-B26B1FAEC1C9}"/>
                </a:ext>
              </a:extLst>
            </p:cNvPr>
            <p:cNvSpPr/>
            <p:nvPr/>
          </p:nvSpPr>
          <p:spPr>
            <a:xfrm>
              <a:off x="7680389" y="5197076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27" name="Oval 226">
              <a:extLst>
                <a:ext uri="{FF2B5EF4-FFF2-40B4-BE49-F238E27FC236}">
                  <a16:creationId xmlns:a16="http://schemas.microsoft.com/office/drawing/2014/main" id="{848AE390-BCAA-17CB-A4C3-7FB3820685B5}"/>
                </a:ext>
              </a:extLst>
            </p:cNvPr>
            <p:cNvSpPr/>
            <p:nvPr/>
          </p:nvSpPr>
          <p:spPr>
            <a:xfrm>
              <a:off x="5933294" y="5439419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28" name="Oval 227">
              <a:extLst>
                <a:ext uri="{FF2B5EF4-FFF2-40B4-BE49-F238E27FC236}">
                  <a16:creationId xmlns:a16="http://schemas.microsoft.com/office/drawing/2014/main" id="{3A2ADEF9-1551-83D7-DD15-C0463E3CE5ED}"/>
                </a:ext>
              </a:extLst>
            </p:cNvPr>
            <p:cNvSpPr/>
            <p:nvPr/>
          </p:nvSpPr>
          <p:spPr>
            <a:xfrm>
              <a:off x="8177751" y="510277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29" name="Oval 228">
              <a:extLst>
                <a:ext uri="{FF2B5EF4-FFF2-40B4-BE49-F238E27FC236}">
                  <a16:creationId xmlns:a16="http://schemas.microsoft.com/office/drawing/2014/main" id="{49ED9EF1-58EB-D193-67F8-067C61BCF0E7}"/>
                </a:ext>
              </a:extLst>
            </p:cNvPr>
            <p:cNvSpPr/>
            <p:nvPr/>
          </p:nvSpPr>
          <p:spPr>
            <a:xfrm>
              <a:off x="7393716" y="4384426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30" name="Oval 229">
              <a:extLst>
                <a:ext uri="{FF2B5EF4-FFF2-40B4-BE49-F238E27FC236}">
                  <a16:creationId xmlns:a16="http://schemas.microsoft.com/office/drawing/2014/main" id="{032434A0-4F7C-66DC-1784-67C048F665AF}"/>
                </a:ext>
              </a:extLst>
            </p:cNvPr>
            <p:cNvSpPr/>
            <p:nvPr/>
          </p:nvSpPr>
          <p:spPr>
            <a:xfrm>
              <a:off x="7527622" y="4586949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31" name="Oval 230">
              <a:extLst>
                <a:ext uri="{FF2B5EF4-FFF2-40B4-BE49-F238E27FC236}">
                  <a16:creationId xmlns:a16="http://schemas.microsoft.com/office/drawing/2014/main" id="{4323B121-68A8-6881-B7A3-37F1449199CA}"/>
                </a:ext>
              </a:extLst>
            </p:cNvPr>
            <p:cNvSpPr/>
            <p:nvPr/>
          </p:nvSpPr>
          <p:spPr>
            <a:xfrm>
              <a:off x="7263897" y="455560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32" name="Oval 231">
              <a:extLst>
                <a:ext uri="{FF2B5EF4-FFF2-40B4-BE49-F238E27FC236}">
                  <a16:creationId xmlns:a16="http://schemas.microsoft.com/office/drawing/2014/main" id="{592E6E25-63F5-E823-E5F3-A2EE634C0001}"/>
                </a:ext>
              </a:extLst>
            </p:cNvPr>
            <p:cNvSpPr/>
            <p:nvPr/>
          </p:nvSpPr>
          <p:spPr>
            <a:xfrm>
              <a:off x="9474129" y="4323671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33" name="Oval 232">
              <a:extLst>
                <a:ext uri="{FF2B5EF4-FFF2-40B4-BE49-F238E27FC236}">
                  <a16:creationId xmlns:a16="http://schemas.microsoft.com/office/drawing/2014/main" id="{0905091F-A666-99F9-C684-AD6E2085CD3D}"/>
                </a:ext>
              </a:extLst>
            </p:cNvPr>
            <p:cNvSpPr/>
            <p:nvPr/>
          </p:nvSpPr>
          <p:spPr>
            <a:xfrm>
              <a:off x="7004550" y="5254649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34" name="Oval 233">
              <a:extLst>
                <a:ext uri="{FF2B5EF4-FFF2-40B4-BE49-F238E27FC236}">
                  <a16:creationId xmlns:a16="http://schemas.microsoft.com/office/drawing/2014/main" id="{190D2534-3E68-3556-9584-E0952CACA9DD}"/>
                </a:ext>
              </a:extLst>
            </p:cNvPr>
            <p:cNvSpPr/>
            <p:nvPr/>
          </p:nvSpPr>
          <p:spPr>
            <a:xfrm>
              <a:off x="6023445" y="4920606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35" name="Oval 234">
              <a:extLst>
                <a:ext uri="{FF2B5EF4-FFF2-40B4-BE49-F238E27FC236}">
                  <a16:creationId xmlns:a16="http://schemas.microsoft.com/office/drawing/2014/main" id="{DB859899-C463-5514-095C-2E3BBB48EAB1}"/>
                </a:ext>
              </a:extLst>
            </p:cNvPr>
            <p:cNvSpPr/>
            <p:nvPr/>
          </p:nvSpPr>
          <p:spPr>
            <a:xfrm>
              <a:off x="6362322" y="4998119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36" name="Oval 235">
              <a:extLst>
                <a:ext uri="{FF2B5EF4-FFF2-40B4-BE49-F238E27FC236}">
                  <a16:creationId xmlns:a16="http://schemas.microsoft.com/office/drawing/2014/main" id="{978BBACF-F82A-2188-E974-EBC07FEAE29E}"/>
                </a:ext>
              </a:extLst>
            </p:cNvPr>
            <p:cNvSpPr/>
            <p:nvPr/>
          </p:nvSpPr>
          <p:spPr>
            <a:xfrm>
              <a:off x="5313303" y="5245125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37" name="Oval 236">
              <a:extLst>
                <a:ext uri="{FF2B5EF4-FFF2-40B4-BE49-F238E27FC236}">
                  <a16:creationId xmlns:a16="http://schemas.microsoft.com/office/drawing/2014/main" id="{35CC92F8-1025-CE24-789F-2F473527F509}"/>
                </a:ext>
              </a:extLst>
            </p:cNvPr>
            <p:cNvSpPr/>
            <p:nvPr/>
          </p:nvSpPr>
          <p:spPr>
            <a:xfrm>
              <a:off x="7444933" y="5363515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38" name="Oval 237">
              <a:extLst>
                <a:ext uri="{FF2B5EF4-FFF2-40B4-BE49-F238E27FC236}">
                  <a16:creationId xmlns:a16="http://schemas.microsoft.com/office/drawing/2014/main" id="{5954AB87-3DEC-4EB7-3D36-E50649463F87}"/>
                </a:ext>
              </a:extLst>
            </p:cNvPr>
            <p:cNvSpPr/>
            <p:nvPr/>
          </p:nvSpPr>
          <p:spPr>
            <a:xfrm>
              <a:off x="7885316" y="5423100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39" name="Oval 238">
              <a:extLst>
                <a:ext uri="{FF2B5EF4-FFF2-40B4-BE49-F238E27FC236}">
                  <a16:creationId xmlns:a16="http://schemas.microsoft.com/office/drawing/2014/main" id="{6719C9A0-94B1-C27B-4BE8-31EF9CED436E}"/>
                </a:ext>
              </a:extLst>
            </p:cNvPr>
            <p:cNvSpPr/>
            <p:nvPr/>
          </p:nvSpPr>
          <p:spPr>
            <a:xfrm>
              <a:off x="4967912" y="573079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40" name="Oval 239">
              <a:extLst>
                <a:ext uri="{FF2B5EF4-FFF2-40B4-BE49-F238E27FC236}">
                  <a16:creationId xmlns:a16="http://schemas.microsoft.com/office/drawing/2014/main" id="{9922174E-CB6A-1C4A-7322-97A66191B0E1}"/>
                </a:ext>
              </a:extLst>
            </p:cNvPr>
            <p:cNvSpPr/>
            <p:nvPr/>
          </p:nvSpPr>
          <p:spPr>
            <a:xfrm>
              <a:off x="8877196" y="5354905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41" name="Oval 240">
              <a:extLst>
                <a:ext uri="{FF2B5EF4-FFF2-40B4-BE49-F238E27FC236}">
                  <a16:creationId xmlns:a16="http://schemas.microsoft.com/office/drawing/2014/main" id="{C4E68EB0-749D-69D2-5A3E-A4243C2414E7}"/>
                </a:ext>
              </a:extLst>
            </p:cNvPr>
            <p:cNvSpPr/>
            <p:nvPr/>
          </p:nvSpPr>
          <p:spPr>
            <a:xfrm>
              <a:off x="7598643" y="4610450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42" name="Oval 241">
              <a:extLst>
                <a:ext uri="{FF2B5EF4-FFF2-40B4-BE49-F238E27FC236}">
                  <a16:creationId xmlns:a16="http://schemas.microsoft.com/office/drawing/2014/main" id="{8A646273-A32C-2310-B5E8-4F7456203B19}"/>
                </a:ext>
              </a:extLst>
            </p:cNvPr>
            <p:cNvSpPr/>
            <p:nvPr/>
          </p:nvSpPr>
          <p:spPr>
            <a:xfrm>
              <a:off x="7732550" y="4812972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43" name="Oval 242">
              <a:extLst>
                <a:ext uri="{FF2B5EF4-FFF2-40B4-BE49-F238E27FC236}">
                  <a16:creationId xmlns:a16="http://schemas.microsoft.com/office/drawing/2014/main" id="{BD893B07-6757-CBA5-49EB-9D55C242E399}"/>
                </a:ext>
              </a:extLst>
            </p:cNvPr>
            <p:cNvSpPr/>
            <p:nvPr/>
          </p:nvSpPr>
          <p:spPr>
            <a:xfrm>
              <a:off x="7468824" y="4781630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44" name="Oval 243">
              <a:extLst>
                <a:ext uri="{FF2B5EF4-FFF2-40B4-BE49-F238E27FC236}">
                  <a16:creationId xmlns:a16="http://schemas.microsoft.com/office/drawing/2014/main" id="{9EB1A1E2-343F-D099-3B19-018E91090A83}"/>
                </a:ext>
              </a:extLst>
            </p:cNvPr>
            <p:cNvSpPr/>
            <p:nvPr/>
          </p:nvSpPr>
          <p:spPr>
            <a:xfrm>
              <a:off x="9679056" y="4549694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45" name="Oval 244">
              <a:extLst>
                <a:ext uri="{FF2B5EF4-FFF2-40B4-BE49-F238E27FC236}">
                  <a16:creationId xmlns:a16="http://schemas.microsoft.com/office/drawing/2014/main" id="{6E7B0F1F-E7C8-D05B-6C79-6B1D27BA7F0B}"/>
                </a:ext>
              </a:extLst>
            </p:cNvPr>
            <p:cNvSpPr/>
            <p:nvPr/>
          </p:nvSpPr>
          <p:spPr>
            <a:xfrm>
              <a:off x="6659781" y="4562902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46" name="Oval 245">
              <a:extLst>
                <a:ext uri="{FF2B5EF4-FFF2-40B4-BE49-F238E27FC236}">
                  <a16:creationId xmlns:a16="http://schemas.microsoft.com/office/drawing/2014/main" id="{8BD89F6C-8620-CDBE-F281-6D2FBEC8495A}"/>
                </a:ext>
              </a:extLst>
            </p:cNvPr>
            <p:cNvSpPr/>
            <p:nvPr/>
          </p:nvSpPr>
          <p:spPr>
            <a:xfrm>
              <a:off x="7100164" y="4622486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47" name="Oval 246">
              <a:extLst>
                <a:ext uri="{FF2B5EF4-FFF2-40B4-BE49-F238E27FC236}">
                  <a16:creationId xmlns:a16="http://schemas.microsoft.com/office/drawing/2014/main" id="{BD6EB76B-75BD-F895-4DB0-A48F61994BB7}"/>
                </a:ext>
              </a:extLst>
            </p:cNvPr>
            <p:cNvSpPr/>
            <p:nvPr/>
          </p:nvSpPr>
          <p:spPr>
            <a:xfrm>
              <a:off x="7597527" y="452818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48" name="Oval 247">
              <a:extLst>
                <a:ext uri="{FF2B5EF4-FFF2-40B4-BE49-F238E27FC236}">
                  <a16:creationId xmlns:a16="http://schemas.microsoft.com/office/drawing/2014/main" id="{47E2195E-4995-B627-AE50-57BF1F4F824F}"/>
                </a:ext>
              </a:extLst>
            </p:cNvPr>
            <p:cNvSpPr/>
            <p:nvPr/>
          </p:nvSpPr>
          <p:spPr>
            <a:xfrm>
              <a:off x="6813491" y="380983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49" name="Oval 248">
              <a:extLst>
                <a:ext uri="{FF2B5EF4-FFF2-40B4-BE49-F238E27FC236}">
                  <a16:creationId xmlns:a16="http://schemas.microsoft.com/office/drawing/2014/main" id="{18FDEE4D-4F84-77FD-02FF-D343BB308493}"/>
                </a:ext>
              </a:extLst>
            </p:cNvPr>
            <p:cNvSpPr/>
            <p:nvPr/>
          </p:nvSpPr>
          <p:spPr>
            <a:xfrm>
              <a:off x="6947398" y="4012359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50" name="Oval 249">
              <a:extLst>
                <a:ext uri="{FF2B5EF4-FFF2-40B4-BE49-F238E27FC236}">
                  <a16:creationId xmlns:a16="http://schemas.microsoft.com/office/drawing/2014/main" id="{B96961F2-B807-AAD3-439A-C15551557E6C}"/>
                </a:ext>
              </a:extLst>
            </p:cNvPr>
            <p:cNvSpPr/>
            <p:nvPr/>
          </p:nvSpPr>
          <p:spPr>
            <a:xfrm>
              <a:off x="6683672" y="398101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51" name="Oval 250">
              <a:extLst>
                <a:ext uri="{FF2B5EF4-FFF2-40B4-BE49-F238E27FC236}">
                  <a16:creationId xmlns:a16="http://schemas.microsoft.com/office/drawing/2014/main" id="{C26592B4-CBAF-CEC3-5406-093E109F759B}"/>
                </a:ext>
              </a:extLst>
            </p:cNvPr>
            <p:cNvSpPr/>
            <p:nvPr/>
          </p:nvSpPr>
          <p:spPr>
            <a:xfrm>
              <a:off x="8893904" y="3749081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52" name="Oval 251">
              <a:extLst>
                <a:ext uri="{FF2B5EF4-FFF2-40B4-BE49-F238E27FC236}">
                  <a16:creationId xmlns:a16="http://schemas.microsoft.com/office/drawing/2014/main" id="{F72E2E57-BAFE-C443-E817-6D290D5FE16B}"/>
                </a:ext>
              </a:extLst>
            </p:cNvPr>
            <p:cNvSpPr/>
            <p:nvPr/>
          </p:nvSpPr>
          <p:spPr>
            <a:xfrm>
              <a:off x="6004628" y="448766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53" name="Oval 252">
              <a:extLst>
                <a:ext uri="{FF2B5EF4-FFF2-40B4-BE49-F238E27FC236}">
                  <a16:creationId xmlns:a16="http://schemas.microsoft.com/office/drawing/2014/main" id="{51DE82C5-EFCB-A956-DF9D-07D4EC3A92A6}"/>
                </a:ext>
              </a:extLst>
            </p:cNvPr>
            <p:cNvSpPr/>
            <p:nvPr/>
          </p:nvSpPr>
          <p:spPr>
            <a:xfrm>
              <a:off x="6864709" y="4788925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54" name="Oval 253">
              <a:extLst>
                <a:ext uri="{FF2B5EF4-FFF2-40B4-BE49-F238E27FC236}">
                  <a16:creationId xmlns:a16="http://schemas.microsoft.com/office/drawing/2014/main" id="{A5269A25-6600-2DE0-6871-A2093165BB1B}"/>
                </a:ext>
              </a:extLst>
            </p:cNvPr>
            <p:cNvSpPr/>
            <p:nvPr/>
          </p:nvSpPr>
          <p:spPr>
            <a:xfrm>
              <a:off x="6577102" y="6049562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55" name="Oval 254">
              <a:extLst>
                <a:ext uri="{FF2B5EF4-FFF2-40B4-BE49-F238E27FC236}">
                  <a16:creationId xmlns:a16="http://schemas.microsoft.com/office/drawing/2014/main" id="{530CC91E-5273-9300-3F58-5C5E217C7B18}"/>
                </a:ext>
              </a:extLst>
            </p:cNvPr>
            <p:cNvSpPr/>
            <p:nvPr/>
          </p:nvSpPr>
          <p:spPr>
            <a:xfrm>
              <a:off x="7802455" y="4754210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56" name="Oval 255">
              <a:extLst>
                <a:ext uri="{FF2B5EF4-FFF2-40B4-BE49-F238E27FC236}">
                  <a16:creationId xmlns:a16="http://schemas.microsoft.com/office/drawing/2014/main" id="{88F5A10D-6305-18F0-0D68-AB38F8A0244F}"/>
                </a:ext>
              </a:extLst>
            </p:cNvPr>
            <p:cNvSpPr/>
            <p:nvPr/>
          </p:nvSpPr>
          <p:spPr>
            <a:xfrm>
              <a:off x="7211123" y="405588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57" name="Oval 256">
              <a:extLst>
                <a:ext uri="{FF2B5EF4-FFF2-40B4-BE49-F238E27FC236}">
                  <a16:creationId xmlns:a16="http://schemas.microsoft.com/office/drawing/2014/main" id="{96602FB5-EE73-81EC-BB7B-6CBAFDB389FD}"/>
                </a:ext>
              </a:extLst>
            </p:cNvPr>
            <p:cNvSpPr/>
            <p:nvPr/>
          </p:nvSpPr>
          <p:spPr>
            <a:xfrm>
              <a:off x="7152325" y="4238382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58" name="Oval 257">
              <a:extLst>
                <a:ext uri="{FF2B5EF4-FFF2-40B4-BE49-F238E27FC236}">
                  <a16:creationId xmlns:a16="http://schemas.microsoft.com/office/drawing/2014/main" id="{16108942-3F15-3DB3-E50A-75D27608F2B2}"/>
                </a:ext>
              </a:extLst>
            </p:cNvPr>
            <p:cNvSpPr/>
            <p:nvPr/>
          </p:nvSpPr>
          <p:spPr>
            <a:xfrm>
              <a:off x="6888599" y="4207040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59" name="Oval 258">
              <a:extLst>
                <a:ext uri="{FF2B5EF4-FFF2-40B4-BE49-F238E27FC236}">
                  <a16:creationId xmlns:a16="http://schemas.microsoft.com/office/drawing/2014/main" id="{C83B0918-6D7B-AE3A-2DCF-437888CB47B7}"/>
                </a:ext>
              </a:extLst>
            </p:cNvPr>
            <p:cNvSpPr/>
            <p:nvPr/>
          </p:nvSpPr>
          <p:spPr>
            <a:xfrm>
              <a:off x="8618242" y="452818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60" name="Oval 259">
              <a:extLst>
                <a:ext uri="{FF2B5EF4-FFF2-40B4-BE49-F238E27FC236}">
                  <a16:creationId xmlns:a16="http://schemas.microsoft.com/office/drawing/2014/main" id="{DD095B6F-EB05-0F9B-FBEE-7AD1EF1A2F43}"/>
                </a:ext>
              </a:extLst>
            </p:cNvPr>
            <p:cNvSpPr/>
            <p:nvPr/>
          </p:nvSpPr>
          <p:spPr>
            <a:xfrm>
              <a:off x="7840900" y="4536414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61" name="Oval 260">
              <a:extLst>
                <a:ext uri="{FF2B5EF4-FFF2-40B4-BE49-F238E27FC236}">
                  <a16:creationId xmlns:a16="http://schemas.microsoft.com/office/drawing/2014/main" id="{5F46B954-2F05-F0D2-B3BA-9DA63AF0FC57}"/>
                </a:ext>
              </a:extLst>
            </p:cNvPr>
            <p:cNvSpPr/>
            <p:nvPr/>
          </p:nvSpPr>
          <p:spPr>
            <a:xfrm>
              <a:off x="5914197" y="3907644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62" name="Oval 261">
              <a:extLst>
                <a:ext uri="{FF2B5EF4-FFF2-40B4-BE49-F238E27FC236}">
                  <a16:creationId xmlns:a16="http://schemas.microsoft.com/office/drawing/2014/main" id="{909C480F-2A8D-C964-20DB-CAAE1F9FD2B1}"/>
                </a:ext>
              </a:extLst>
            </p:cNvPr>
            <p:cNvSpPr/>
            <p:nvPr/>
          </p:nvSpPr>
          <p:spPr>
            <a:xfrm>
              <a:off x="6758289" y="4360442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63" name="Oval 262">
              <a:extLst>
                <a:ext uri="{FF2B5EF4-FFF2-40B4-BE49-F238E27FC236}">
                  <a16:creationId xmlns:a16="http://schemas.microsoft.com/office/drawing/2014/main" id="{5467A7EA-229D-6E07-925B-F2505D862B69}"/>
                </a:ext>
              </a:extLst>
            </p:cNvPr>
            <p:cNvSpPr/>
            <p:nvPr/>
          </p:nvSpPr>
          <p:spPr>
            <a:xfrm>
              <a:off x="6016934" y="4586594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64" name="Oval 263">
              <a:extLst>
                <a:ext uri="{FF2B5EF4-FFF2-40B4-BE49-F238E27FC236}">
                  <a16:creationId xmlns:a16="http://schemas.microsoft.com/office/drawing/2014/main" id="{FA618384-7A56-A08E-3DC6-433C481355F0}"/>
                </a:ext>
              </a:extLst>
            </p:cNvPr>
            <p:cNvSpPr/>
            <p:nvPr/>
          </p:nvSpPr>
          <p:spPr>
            <a:xfrm>
              <a:off x="7840900" y="472583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65" name="Oval 264">
              <a:extLst>
                <a:ext uri="{FF2B5EF4-FFF2-40B4-BE49-F238E27FC236}">
                  <a16:creationId xmlns:a16="http://schemas.microsoft.com/office/drawing/2014/main" id="{4695A2D7-E896-8944-9D87-A59BA237B5ED}"/>
                </a:ext>
              </a:extLst>
            </p:cNvPr>
            <p:cNvSpPr/>
            <p:nvPr/>
          </p:nvSpPr>
          <p:spPr>
            <a:xfrm>
              <a:off x="8281283" y="4785422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66" name="Oval 265">
              <a:extLst>
                <a:ext uri="{FF2B5EF4-FFF2-40B4-BE49-F238E27FC236}">
                  <a16:creationId xmlns:a16="http://schemas.microsoft.com/office/drawing/2014/main" id="{1731A740-7FB1-F389-F6C8-2C05178D1256}"/>
                </a:ext>
              </a:extLst>
            </p:cNvPr>
            <p:cNvSpPr/>
            <p:nvPr/>
          </p:nvSpPr>
          <p:spPr>
            <a:xfrm>
              <a:off x="6534188" y="5027765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67" name="Oval 266">
              <a:extLst>
                <a:ext uri="{FF2B5EF4-FFF2-40B4-BE49-F238E27FC236}">
                  <a16:creationId xmlns:a16="http://schemas.microsoft.com/office/drawing/2014/main" id="{4B56A68D-67F2-8391-553A-4097F974F7A4}"/>
                </a:ext>
              </a:extLst>
            </p:cNvPr>
            <p:cNvSpPr/>
            <p:nvPr/>
          </p:nvSpPr>
          <p:spPr>
            <a:xfrm>
              <a:off x="8778645" y="469112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68" name="Oval 267">
              <a:extLst>
                <a:ext uri="{FF2B5EF4-FFF2-40B4-BE49-F238E27FC236}">
                  <a16:creationId xmlns:a16="http://schemas.microsoft.com/office/drawing/2014/main" id="{6F92884C-A66A-E414-CDD7-23B389328D6E}"/>
                </a:ext>
              </a:extLst>
            </p:cNvPr>
            <p:cNvSpPr/>
            <p:nvPr/>
          </p:nvSpPr>
          <p:spPr>
            <a:xfrm>
              <a:off x="7994610" y="3972772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69" name="Oval 268">
              <a:extLst>
                <a:ext uri="{FF2B5EF4-FFF2-40B4-BE49-F238E27FC236}">
                  <a16:creationId xmlns:a16="http://schemas.microsoft.com/office/drawing/2014/main" id="{42978DC8-5883-80A6-B0A2-B0E7158DE55D}"/>
                </a:ext>
              </a:extLst>
            </p:cNvPr>
            <p:cNvSpPr/>
            <p:nvPr/>
          </p:nvSpPr>
          <p:spPr>
            <a:xfrm>
              <a:off x="8128516" y="4175295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70" name="Oval 269">
              <a:extLst>
                <a:ext uri="{FF2B5EF4-FFF2-40B4-BE49-F238E27FC236}">
                  <a16:creationId xmlns:a16="http://schemas.microsoft.com/office/drawing/2014/main" id="{7228556D-309B-937A-D70B-BDF3AED73674}"/>
                </a:ext>
              </a:extLst>
            </p:cNvPr>
            <p:cNvSpPr/>
            <p:nvPr/>
          </p:nvSpPr>
          <p:spPr>
            <a:xfrm>
              <a:off x="7864791" y="414395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71" name="Oval 270">
              <a:extLst>
                <a:ext uri="{FF2B5EF4-FFF2-40B4-BE49-F238E27FC236}">
                  <a16:creationId xmlns:a16="http://schemas.microsoft.com/office/drawing/2014/main" id="{2B1C7D35-3977-26B5-6DA6-CB27AD10D24C}"/>
                </a:ext>
              </a:extLst>
            </p:cNvPr>
            <p:cNvSpPr/>
            <p:nvPr/>
          </p:nvSpPr>
          <p:spPr>
            <a:xfrm>
              <a:off x="10075023" y="391201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72" name="Oval 271">
              <a:extLst>
                <a:ext uri="{FF2B5EF4-FFF2-40B4-BE49-F238E27FC236}">
                  <a16:creationId xmlns:a16="http://schemas.microsoft.com/office/drawing/2014/main" id="{C891E5AB-D367-9BE3-2C95-55E7355A3238}"/>
                </a:ext>
              </a:extLst>
            </p:cNvPr>
            <p:cNvSpPr/>
            <p:nvPr/>
          </p:nvSpPr>
          <p:spPr>
            <a:xfrm>
              <a:off x="7605444" y="4842994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73" name="Oval 272">
              <a:extLst>
                <a:ext uri="{FF2B5EF4-FFF2-40B4-BE49-F238E27FC236}">
                  <a16:creationId xmlns:a16="http://schemas.microsoft.com/office/drawing/2014/main" id="{77885370-19B8-768A-85FA-F7E609471002}"/>
                </a:ext>
              </a:extLst>
            </p:cNvPr>
            <p:cNvSpPr/>
            <p:nvPr/>
          </p:nvSpPr>
          <p:spPr>
            <a:xfrm>
              <a:off x="6041288" y="4294608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74" name="Oval 273">
              <a:extLst>
                <a:ext uri="{FF2B5EF4-FFF2-40B4-BE49-F238E27FC236}">
                  <a16:creationId xmlns:a16="http://schemas.microsoft.com/office/drawing/2014/main" id="{379BB04F-070A-5D03-7F79-667B8F89821C}"/>
                </a:ext>
              </a:extLst>
            </p:cNvPr>
            <p:cNvSpPr/>
            <p:nvPr/>
          </p:nvSpPr>
          <p:spPr>
            <a:xfrm>
              <a:off x="6963216" y="4586465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75" name="Oval 274">
              <a:extLst>
                <a:ext uri="{FF2B5EF4-FFF2-40B4-BE49-F238E27FC236}">
                  <a16:creationId xmlns:a16="http://schemas.microsoft.com/office/drawing/2014/main" id="{CDA2BE8F-4621-89D9-5D1C-427124AD5F13}"/>
                </a:ext>
              </a:extLst>
            </p:cNvPr>
            <p:cNvSpPr/>
            <p:nvPr/>
          </p:nvSpPr>
          <p:spPr>
            <a:xfrm>
              <a:off x="4386357" y="5211509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76" name="Oval 275">
              <a:extLst>
                <a:ext uri="{FF2B5EF4-FFF2-40B4-BE49-F238E27FC236}">
                  <a16:creationId xmlns:a16="http://schemas.microsoft.com/office/drawing/2014/main" id="{63112E7F-76A7-89E8-B41F-4C52A1AF2D1C}"/>
                </a:ext>
              </a:extLst>
            </p:cNvPr>
            <p:cNvSpPr/>
            <p:nvPr/>
          </p:nvSpPr>
          <p:spPr>
            <a:xfrm>
              <a:off x="8045827" y="4951861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77" name="Oval 276">
              <a:extLst>
                <a:ext uri="{FF2B5EF4-FFF2-40B4-BE49-F238E27FC236}">
                  <a16:creationId xmlns:a16="http://schemas.microsoft.com/office/drawing/2014/main" id="{5C44D3BA-9623-91A9-BAEE-4014D7767E53}"/>
                </a:ext>
              </a:extLst>
            </p:cNvPr>
            <p:cNvSpPr/>
            <p:nvPr/>
          </p:nvSpPr>
          <p:spPr>
            <a:xfrm>
              <a:off x="8486210" y="5011446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78" name="Oval 277">
              <a:extLst>
                <a:ext uri="{FF2B5EF4-FFF2-40B4-BE49-F238E27FC236}">
                  <a16:creationId xmlns:a16="http://schemas.microsoft.com/office/drawing/2014/main" id="{E6DC2A28-3903-5D52-9702-90B8D9715712}"/>
                </a:ext>
              </a:extLst>
            </p:cNvPr>
            <p:cNvSpPr/>
            <p:nvPr/>
          </p:nvSpPr>
          <p:spPr>
            <a:xfrm>
              <a:off x="5568806" y="531914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79" name="Oval 278">
              <a:extLst>
                <a:ext uri="{FF2B5EF4-FFF2-40B4-BE49-F238E27FC236}">
                  <a16:creationId xmlns:a16="http://schemas.microsoft.com/office/drawing/2014/main" id="{794A377B-09E1-0A25-C9BD-5CC546FA2FA9}"/>
                </a:ext>
              </a:extLst>
            </p:cNvPr>
            <p:cNvSpPr/>
            <p:nvPr/>
          </p:nvSpPr>
          <p:spPr>
            <a:xfrm>
              <a:off x="9478090" y="4943251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80" name="Oval 279">
              <a:extLst>
                <a:ext uri="{FF2B5EF4-FFF2-40B4-BE49-F238E27FC236}">
                  <a16:creationId xmlns:a16="http://schemas.microsoft.com/office/drawing/2014/main" id="{CA8E591F-F7EF-1E53-9A88-F09D4AE5AC9C}"/>
                </a:ext>
              </a:extLst>
            </p:cNvPr>
            <p:cNvSpPr/>
            <p:nvPr/>
          </p:nvSpPr>
          <p:spPr>
            <a:xfrm>
              <a:off x="8222484" y="352720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81" name="Oval 280">
              <a:extLst>
                <a:ext uri="{FF2B5EF4-FFF2-40B4-BE49-F238E27FC236}">
                  <a16:creationId xmlns:a16="http://schemas.microsoft.com/office/drawing/2014/main" id="{577AFA5E-DAC8-5361-93FB-600D899B6630}"/>
                </a:ext>
              </a:extLst>
            </p:cNvPr>
            <p:cNvSpPr/>
            <p:nvPr/>
          </p:nvSpPr>
          <p:spPr>
            <a:xfrm>
              <a:off x="8333444" y="440131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82" name="Oval 281">
              <a:extLst>
                <a:ext uri="{FF2B5EF4-FFF2-40B4-BE49-F238E27FC236}">
                  <a16:creationId xmlns:a16="http://schemas.microsoft.com/office/drawing/2014/main" id="{CB4A3A20-11E3-1314-F761-2DD95B70165C}"/>
                </a:ext>
              </a:extLst>
            </p:cNvPr>
            <p:cNvSpPr/>
            <p:nvPr/>
          </p:nvSpPr>
          <p:spPr>
            <a:xfrm>
              <a:off x="8069718" y="4369976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83" name="Oval 282">
              <a:extLst>
                <a:ext uri="{FF2B5EF4-FFF2-40B4-BE49-F238E27FC236}">
                  <a16:creationId xmlns:a16="http://schemas.microsoft.com/office/drawing/2014/main" id="{140A2C68-C5EF-D80D-762F-36109E03E177}"/>
                </a:ext>
              </a:extLst>
            </p:cNvPr>
            <p:cNvSpPr/>
            <p:nvPr/>
          </p:nvSpPr>
          <p:spPr>
            <a:xfrm>
              <a:off x="10279950" y="4138039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84" name="Oval 283">
              <a:extLst>
                <a:ext uri="{FF2B5EF4-FFF2-40B4-BE49-F238E27FC236}">
                  <a16:creationId xmlns:a16="http://schemas.microsoft.com/office/drawing/2014/main" id="{FEEC1E45-FBEE-4897-06EA-EFF2406F052C}"/>
                </a:ext>
              </a:extLst>
            </p:cNvPr>
            <p:cNvSpPr/>
            <p:nvPr/>
          </p:nvSpPr>
          <p:spPr>
            <a:xfrm>
              <a:off x="7260675" y="4151248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85" name="Oval 284">
              <a:extLst>
                <a:ext uri="{FF2B5EF4-FFF2-40B4-BE49-F238E27FC236}">
                  <a16:creationId xmlns:a16="http://schemas.microsoft.com/office/drawing/2014/main" id="{A9C00237-6711-B8F7-72E6-619B586BB255}"/>
                </a:ext>
              </a:extLst>
            </p:cNvPr>
            <p:cNvSpPr/>
            <p:nvPr/>
          </p:nvSpPr>
          <p:spPr>
            <a:xfrm>
              <a:off x="7548165" y="3701395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86" name="Oval 285">
              <a:extLst>
                <a:ext uri="{FF2B5EF4-FFF2-40B4-BE49-F238E27FC236}">
                  <a16:creationId xmlns:a16="http://schemas.microsoft.com/office/drawing/2014/main" id="{2F0C2DAF-7A9F-089E-38B0-12CDE0A006A9}"/>
                </a:ext>
              </a:extLst>
            </p:cNvPr>
            <p:cNvSpPr/>
            <p:nvPr/>
          </p:nvSpPr>
          <p:spPr>
            <a:xfrm>
              <a:off x="9922256" y="359709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87" name="Oval 286">
              <a:extLst>
                <a:ext uri="{FF2B5EF4-FFF2-40B4-BE49-F238E27FC236}">
                  <a16:creationId xmlns:a16="http://schemas.microsoft.com/office/drawing/2014/main" id="{9996203F-71DB-8D15-CC06-9B044BD77C90}"/>
                </a:ext>
              </a:extLst>
            </p:cNvPr>
            <p:cNvSpPr/>
            <p:nvPr/>
          </p:nvSpPr>
          <p:spPr>
            <a:xfrm>
              <a:off x="7414385" y="339818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88" name="Oval 287">
              <a:extLst>
                <a:ext uri="{FF2B5EF4-FFF2-40B4-BE49-F238E27FC236}">
                  <a16:creationId xmlns:a16="http://schemas.microsoft.com/office/drawing/2014/main" id="{DA8E1089-595C-7007-9E90-551826EDC6BC}"/>
                </a:ext>
              </a:extLst>
            </p:cNvPr>
            <p:cNvSpPr/>
            <p:nvPr/>
          </p:nvSpPr>
          <p:spPr>
            <a:xfrm>
              <a:off x="5761430" y="3728138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89" name="Oval 288">
              <a:extLst>
                <a:ext uri="{FF2B5EF4-FFF2-40B4-BE49-F238E27FC236}">
                  <a16:creationId xmlns:a16="http://schemas.microsoft.com/office/drawing/2014/main" id="{6864C897-1923-C668-AD7D-079FA5D95608}"/>
                </a:ext>
              </a:extLst>
            </p:cNvPr>
            <p:cNvSpPr/>
            <p:nvPr/>
          </p:nvSpPr>
          <p:spPr>
            <a:xfrm>
              <a:off x="7284566" y="356936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90" name="Oval 289">
              <a:extLst>
                <a:ext uri="{FF2B5EF4-FFF2-40B4-BE49-F238E27FC236}">
                  <a16:creationId xmlns:a16="http://schemas.microsoft.com/office/drawing/2014/main" id="{0BE7DAD8-1088-1C01-7F7D-FEE4F75BF34C}"/>
                </a:ext>
              </a:extLst>
            </p:cNvPr>
            <p:cNvSpPr/>
            <p:nvPr/>
          </p:nvSpPr>
          <p:spPr>
            <a:xfrm>
              <a:off x="9494798" y="333742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91" name="Oval 290">
              <a:extLst>
                <a:ext uri="{FF2B5EF4-FFF2-40B4-BE49-F238E27FC236}">
                  <a16:creationId xmlns:a16="http://schemas.microsoft.com/office/drawing/2014/main" id="{3577BB31-44B0-A02C-141E-D1810931A83A}"/>
                </a:ext>
              </a:extLst>
            </p:cNvPr>
            <p:cNvSpPr/>
            <p:nvPr/>
          </p:nvSpPr>
          <p:spPr>
            <a:xfrm>
              <a:off x="6605522" y="407601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92" name="Oval 291">
              <a:extLst>
                <a:ext uri="{FF2B5EF4-FFF2-40B4-BE49-F238E27FC236}">
                  <a16:creationId xmlns:a16="http://schemas.microsoft.com/office/drawing/2014/main" id="{5B1B2D28-49F8-10F9-4128-09DB046C5AC2}"/>
                </a:ext>
              </a:extLst>
            </p:cNvPr>
            <p:cNvSpPr/>
            <p:nvPr/>
          </p:nvSpPr>
          <p:spPr>
            <a:xfrm>
              <a:off x="7465602" y="4377271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93" name="Oval 292">
              <a:extLst>
                <a:ext uri="{FF2B5EF4-FFF2-40B4-BE49-F238E27FC236}">
                  <a16:creationId xmlns:a16="http://schemas.microsoft.com/office/drawing/2014/main" id="{9E348421-F58E-0747-2E9B-29F22F6BA152}"/>
                </a:ext>
              </a:extLst>
            </p:cNvPr>
            <p:cNvSpPr/>
            <p:nvPr/>
          </p:nvSpPr>
          <p:spPr>
            <a:xfrm>
              <a:off x="7177996" y="5637908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94" name="Oval 293">
              <a:extLst>
                <a:ext uri="{FF2B5EF4-FFF2-40B4-BE49-F238E27FC236}">
                  <a16:creationId xmlns:a16="http://schemas.microsoft.com/office/drawing/2014/main" id="{782B8B8D-F20B-BD97-7C96-D6F603B29BE1}"/>
                </a:ext>
              </a:extLst>
            </p:cNvPr>
            <p:cNvSpPr/>
            <p:nvPr/>
          </p:nvSpPr>
          <p:spPr>
            <a:xfrm>
              <a:off x="8743938" y="411999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95" name="Oval 294">
              <a:extLst>
                <a:ext uri="{FF2B5EF4-FFF2-40B4-BE49-F238E27FC236}">
                  <a16:creationId xmlns:a16="http://schemas.microsoft.com/office/drawing/2014/main" id="{F3B12E25-E10A-9891-1D54-DB53B7CAD41A}"/>
                </a:ext>
              </a:extLst>
            </p:cNvPr>
            <p:cNvSpPr/>
            <p:nvPr/>
          </p:nvSpPr>
          <p:spPr>
            <a:xfrm>
              <a:off x="7812017" y="3644229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96" name="Oval 295">
              <a:extLst>
                <a:ext uri="{FF2B5EF4-FFF2-40B4-BE49-F238E27FC236}">
                  <a16:creationId xmlns:a16="http://schemas.microsoft.com/office/drawing/2014/main" id="{0E8AF337-85D4-95DE-A490-21873EAC451A}"/>
                </a:ext>
              </a:extLst>
            </p:cNvPr>
            <p:cNvSpPr/>
            <p:nvPr/>
          </p:nvSpPr>
          <p:spPr>
            <a:xfrm>
              <a:off x="6023920" y="337134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97" name="Oval 296">
              <a:extLst>
                <a:ext uri="{FF2B5EF4-FFF2-40B4-BE49-F238E27FC236}">
                  <a16:creationId xmlns:a16="http://schemas.microsoft.com/office/drawing/2014/main" id="{6CCB5014-01BD-3435-90D0-D145B51FD2C2}"/>
                </a:ext>
              </a:extLst>
            </p:cNvPr>
            <p:cNvSpPr/>
            <p:nvPr/>
          </p:nvSpPr>
          <p:spPr>
            <a:xfrm>
              <a:off x="5611396" y="397296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98" name="Oval 297">
              <a:extLst>
                <a:ext uri="{FF2B5EF4-FFF2-40B4-BE49-F238E27FC236}">
                  <a16:creationId xmlns:a16="http://schemas.microsoft.com/office/drawing/2014/main" id="{379ECA11-B042-9302-046E-BF16F61D8715}"/>
                </a:ext>
              </a:extLst>
            </p:cNvPr>
            <p:cNvSpPr/>
            <p:nvPr/>
          </p:nvSpPr>
          <p:spPr>
            <a:xfrm>
              <a:off x="9219136" y="411653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</p:grpSp>
      <p:pic>
        <p:nvPicPr>
          <p:cNvPr id="299" name="Picture 6" descr="Gaussian filter, or Gaussian blur — Librow — Digital LCD dashboards for  cars and boats">
            <a:extLst>
              <a:ext uri="{FF2B5EF4-FFF2-40B4-BE49-F238E27FC236}">
                <a16:creationId xmlns:a16="http://schemas.microsoft.com/office/drawing/2014/main" id="{526CD058-4C14-E778-762F-10F4848E5E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5159" y="5040886"/>
            <a:ext cx="2087155" cy="1089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0" name="Picture 6" descr="Gaussian filter, or Gaussian blur — Librow — Digital LCD dashboards for  cars and boats">
            <a:extLst>
              <a:ext uri="{FF2B5EF4-FFF2-40B4-BE49-F238E27FC236}">
                <a16:creationId xmlns:a16="http://schemas.microsoft.com/office/drawing/2014/main" id="{93CDD937-266B-E0A1-3108-42E3D6BBAA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3151" y="5355029"/>
            <a:ext cx="1846335" cy="1033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6" name="Picture 305">
            <a:extLst>
              <a:ext uri="{FF2B5EF4-FFF2-40B4-BE49-F238E27FC236}">
                <a16:creationId xmlns:a16="http://schemas.microsoft.com/office/drawing/2014/main" id="{B74B3759-9461-2737-9009-B0F5A61EADF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79956" y="3233248"/>
            <a:ext cx="2520056" cy="296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3219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37DB9-1A80-35D5-5829-A653B413A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A530DB2-F81C-7DDC-B4A7-0D78E149F602}"/>
              </a:ext>
            </a:extLst>
          </p:cNvPr>
          <p:cNvSpPr txBox="1"/>
          <p:nvPr/>
        </p:nvSpPr>
        <p:spPr>
          <a:xfrm>
            <a:off x="276410" y="260293"/>
            <a:ext cx="2706038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VAE – Network on EM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145CFC-8238-9617-E1BB-A673F85920BB}"/>
              </a:ext>
            </a:extLst>
          </p:cNvPr>
          <p:cNvSpPr txBox="1"/>
          <p:nvPr/>
        </p:nvSpPr>
        <p:spPr>
          <a:xfrm>
            <a:off x="1224935" y="787101"/>
            <a:ext cx="3352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EM + NN (equation)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3" name="Graphic 2" descr="Magnifying glass with solid fill">
            <a:extLst>
              <a:ext uri="{FF2B5EF4-FFF2-40B4-BE49-F238E27FC236}">
                <a16:creationId xmlns:a16="http://schemas.microsoft.com/office/drawing/2014/main" id="{5CE47656-29AD-0236-C752-346A984909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7260" y="787101"/>
            <a:ext cx="475673" cy="4756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95D1C79-D17D-9B06-E109-2D476B743ED2}"/>
              </a:ext>
            </a:extLst>
          </p:cNvPr>
          <p:cNvSpPr txBox="1"/>
          <p:nvPr/>
        </p:nvSpPr>
        <p:spPr>
          <a:xfrm>
            <a:off x="1224935" y="1313909"/>
            <a:ext cx="2387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EM equation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3FA03E7-8050-28B5-30AE-5CAFAD4AB936}"/>
              </a:ext>
            </a:extLst>
          </p:cNvPr>
          <p:cNvGrpSpPr/>
          <p:nvPr/>
        </p:nvGrpSpPr>
        <p:grpSpPr>
          <a:xfrm>
            <a:off x="9366186" y="693215"/>
            <a:ext cx="2178554" cy="1241388"/>
            <a:chOff x="2830278" y="826237"/>
            <a:chExt cx="8990821" cy="5670011"/>
          </a:xfrm>
        </p:grpSpPr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D38EAA4B-FE28-880D-BC30-7ACD3D50534F}"/>
                </a:ext>
              </a:extLst>
            </p:cNvPr>
            <p:cNvSpPr/>
            <p:nvPr/>
          </p:nvSpPr>
          <p:spPr>
            <a:xfrm>
              <a:off x="2830278" y="3183876"/>
              <a:ext cx="8990821" cy="3312372"/>
            </a:xfrm>
            <a:prstGeom prst="parallelogram">
              <a:avLst>
                <a:gd name="adj" fmla="val 94320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88D0801-FFC6-21A7-C79C-72835D5B05A5}"/>
                </a:ext>
              </a:extLst>
            </p:cNvPr>
            <p:cNvSpPr/>
            <p:nvPr/>
          </p:nvSpPr>
          <p:spPr>
            <a:xfrm>
              <a:off x="7240006" y="4948068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733B37B-EDCC-1732-0026-D0A3B11BEFEC}"/>
                </a:ext>
              </a:extLst>
            </p:cNvPr>
            <p:cNvSpPr/>
            <p:nvPr/>
          </p:nvSpPr>
          <p:spPr>
            <a:xfrm>
              <a:off x="5313303" y="4319298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1768DE0-338B-3DB6-6097-F2116E4A0351}"/>
                </a:ext>
              </a:extLst>
            </p:cNvPr>
            <p:cNvSpPr/>
            <p:nvPr/>
          </p:nvSpPr>
          <p:spPr>
            <a:xfrm>
              <a:off x="6157395" y="477209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8BDC2C1E-B348-497C-B6D0-FA369722CA4F}"/>
                </a:ext>
              </a:extLst>
            </p:cNvPr>
            <p:cNvSpPr/>
            <p:nvPr/>
          </p:nvSpPr>
          <p:spPr>
            <a:xfrm>
              <a:off x="5416040" y="4998248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628BF9FF-D9A5-9DD4-7936-0305579F745C}"/>
                </a:ext>
              </a:extLst>
            </p:cNvPr>
            <p:cNvSpPr/>
            <p:nvPr/>
          </p:nvSpPr>
          <p:spPr>
            <a:xfrm>
              <a:off x="7240006" y="5137491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CAB30CE-B09B-682F-B173-739892D17056}"/>
                </a:ext>
              </a:extLst>
            </p:cNvPr>
            <p:cNvSpPr/>
            <p:nvPr/>
          </p:nvSpPr>
          <p:spPr>
            <a:xfrm>
              <a:off x="7680389" y="5197076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10A3DCA-94A5-DB80-394E-8B62DCD4E647}"/>
                </a:ext>
              </a:extLst>
            </p:cNvPr>
            <p:cNvSpPr/>
            <p:nvPr/>
          </p:nvSpPr>
          <p:spPr>
            <a:xfrm>
              <a:off x="5933294" y="5439419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896709E-4F16-1402-9A4D-8A034DDB6805}"/>
                </a:ext>
              </a:extLst>
            </p:cNvPr>
            <p:cNvSpPr/>
            <p:nvPr/>
          </p:nvSpPr>
          <p:spPr>
            <a:xfrm>
              <a:off x="8177751" y="510277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DC5D58E-0E8B-3A62-0816-302F5906B2D2}"/>
                </a:ext>
              </a:extLst>
            </p:cNvPr>
            <p:cNvSpPr/>
            <p:nvPr/>
          </p:nvSpPr>
          <p:spPr>
            <a:xfrm>
              <a:off x="7393716" y="4384426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2776EB4-C2E4-80C3-0917-C5C262BCFFBA}"/>
                </a:ext>
              </a:extLst>
            </p:cNvPr>
            <p:cNvSpPr/>
            <p:nvPr/>
          </p:nvSpPr>
          <p:spPr>
            <a:xfrm>
              <a:off x="7527622" y="4586949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A0ACF7C-1413-B4B5-0FB8-464D96D2BF9C}"/>
                </a:ext>
              </a:extLst>
            </p:cNvPr>
            <p:cNvSpPr/>
            <p:nvPr/>
          </p:nvSpPr>
          <p:spPr>
            <a:xfrm>
              <a:off x="7263897" y="455560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43302C4-0443-389B-3D00-83C92B7CF8C7}"/>
                </a:ext>
              </a:extLst>
            </p:cNvPr>
            <p:cNvSpPr/>
            <p:nvPr/>
          </p:nvSpPr>
          <p:spPr>
            <a:xfrm>
              <a:off x="9474129" y="4323671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E6C9105-0D11-44CE-396B-B63EC752B34A}"/>
                </a:ext>
              </a:extLst>
            </p:cNvPr>
            <p:cNvSpPr/>
            <p:nvPr/>
          </p:nvSpPr>
          <p:spPr>
            <a:xfrm>
              <a:off x="7004550" y="5254649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F598092-DB7F-ECD6-909C-EB3106E06618}"/>
                </a:ext>
              </a:extLst>
            </p:cNvPr>
            <p:cNvSpPr/>
            <p:nvPr/>
          </p:nvSpPr>
          <p:spPr>
            <a:xfrm>
              <a:off x="6023445" y="4920606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D21B35A8-FA01-8DFE-7852-4D85CC7B5956}"/>
                </a:ext>
              </a:extLst>
            </p:cNvPr>
            <p:cNvSpPr/>
            <p:nvPr/>
          </p:nvSpPr>
          <p:spPr>
            <a:xfrm>
              <a:off x="6362322" y="4998119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082904D0-6064-6A9F-E567-0E12173F4A35}"/>
                </a:ext>
              </a:extLst>
            </p:cNvPr>
            <p:cNvSpPr/>
            <p:nvPr/>
          </p:nvSpPr>
          <p:spPr>
            <a:xfrm>
              <a:off x="5313303" y="5245125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7D2EF4D-9B22-9DF5-C1FD-17B04E85D456}"/>
                </a:ext>
              </a:extLst>
            </p:cNvPr>
            <p:cNvSpPr/>
            <p:nvPr/>
          </p:nvSpPr>
          <p:spPr>
            <a:xfrm>
              <a:off x="7444933" y="5363515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DDBE5475-38F0-0E44-6A56-C4EA221BD9FA}"/>
                </a:ext>
              </a:extLst>
            </p:cNvPr>
            <p:cNvSpPr/>
            <p:nvPr/>
          </p:nvSpPr>
          <p:spPr>
            <a:xfrm>
              <a:off x="7885316" y="5423100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A0FB89E-D010-3021-1449-7FB72FD61DFB}"/>
                </a:ext>
              </a:extLst>
            </p:cNvPr>
            <p:cNvSpPr/>
            <p:nvPr/>
          </p:nvSpPr>
          <p:spPr>
            <a:xfrm>
              <a:off x="4967912" y="573079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0797C131-69D7-AD5A-2B12-E365BE6D5F21}"/>
                </a:ext>
              </a:extLst>
            </p:cNvPr>
            <p:cNvSpPr/>
            <p:nvPr/>
          </p:nvSpPr>
          <p:spPr>
            <a:xfrm>
              <a:off x="8877196" y="5354905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ED1D6641-27A8-1F43-DB43-863BBA9F0F69}"/>
                </a:ext>
              </a:extLst>
            </p:cNvPr>
            <p:cNvSpPr/>
            <p:nvPr/>
          </p:nvSpPr>
          <p:spPr>
            <a:xfrm>
              <a:off x="7598643" y="4610450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F15EBCD-E079-610A-5240-CE585C6CEC5F}"/>
                </a:ext>
              </a:extLst>
            </p:cNvPr>
            <p:cNvSpPr/>
            <p:nvPr/>
          </p:nvSpPr>
          <p:spPr>
            <a:xfrm>
              <a:off x="7732550" y="4812972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5890CBCB-4E5B-C7C8-8CBD-9D91490BB3C4}"/>
                </a:ext>
              </a:extLst>
            </p:cNvPr>
            <p:cNvSpPr/>
            <p:nvPr/>
          </p:nvSpPr>
          <p:spPr>
            <a:xfrm>
              <a:off x="7468824" y="4781630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671C4C6B-EC52-E1E2-29D6-E8A8C3C39294}"/>
                </a:ext>
              </a:extLst>
            </p:cNvPr>
            <p:cNvSpPr/>
            <p:nvPr/>
          </p:nvSpPr>
          <p:spPr>
            <a:xfrm>
              <a:off x="9679056" y="4549694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A8E4840-9B41-27C2-FC94-29C28F2EBB6C}"/>
                </a:ext>
              </a:extLst>
            </p:cNvPr>
            <p:cNvSpPr/>
            <p:nvPr/>
          </p:nvSpPr>
          <p:spPr>
            <a:xfrm>
              <a:off x="6659781" y="4562902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B065F287-D4CF-BE90-086E-5C4CBB8BFD60}"/>
                </a:ext>
              </a:extLst>
            </p:cNvPr>
            <p:cNvSpPr/>
            <p:nvPr/>
          </p:nvSpPr>
          <p:spPr>
            <a:xfrm>
              <a:off x="7100164" y="4622486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341A95BF-B5F6-3E6D-051D-AC8C8B1816BC}"/>
                </a:ext>
              </a:extLst>
            </p:cNvPr>
            <p:cNvSpPr/>
            <p:nvPr/>
          </p:nvSpPr>
          <p:spPr>
            <a:xfrm>
              <a:off x="7597527" y="452818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87BD31D6-3F13-25F0-92C0-0ACB81BC3B94}"/>
                </a:ext>
              </a:extLst>
            </p:cNvPr>
            <p:cNvSpPr/>
            <p:nvPr/>
          </p:nvSpPr>
          <p:spPr>
            <a:xfrm>
              <a:off x="6813491" y="380983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9E6DCD2F-4436-AB68-ED5B-1CE752D65380}"/>
                </a:ext>
              </a:extLst>
            </p:cNvPr>
            <p:cNvSpPr/>
            <p:nvPr/>
          </p:nvSpPr>
          <p:spPr>
            <a:xfrm>
              <a:off x="6947398" y="4012359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A18D61C5-D7CF-7BA2-7C3B-5E60241152AA}"/>
                </a:ext>
              </a:extLst>
            </p:cNvPr>
            <p:cNvSpPr/>
            <p:nvPr/>
          </p:nvSpPr>
          <p:spPr>
            <a:xfrm>
              <a:off x="6683672" y="398101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00CF33A2-66B8-05BB-F9D8-B2FF336FAAC4}"/>
                </a:ext>
              </a:extLst>
            </p:cNvPr>
            <p:cNvSpPr/>
            <p:nvPr/>
          </p:nvSpPr>
          <p:spPr>
            <a:xfrm>
              <a:off x="8893904" y="3749081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60022D08-0D55-E0EB-C1BF-364E3BF40BE0}"/>
                </a:ext>
              </a:extLst>
            </p:cNvPr>
            <p:cNvSpPr/>
            <p:nvPr/>
          </p:nvSpPr>
          <p:spPr>
            <a:xfrm>
              <a:off x="6004628" y="448766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670CEBE5-CE05-3E25-24A1-1B5BE6212BB7}"/>
                </a:ext>
              </a:extLst>
            </p:cNvPr>
            <p:cNvSpPr/>
            <p:nvPr/>
          </p:nvSpPr>
          <p:spPr>
            <a:xfrm>
              <a:off x="6864709" y="4788925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BE714351-1FD9-88A1-CECF-120493F2FD04}"/>
                </a:ext>
              </a:extLst>
            </p:cNvPr>
            <p:cNvSpPr/>
            <p:nvPr/>
          </p:nvSpPr>
          <p:spPr>
            <a:xfrm>
              <a:off x="6577102" y="6049562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4C087A21-FE35-3A00-8F47-1775E1C69C1C}"/>
                </a:ext>
              </a:extLst>
            </p:cNvPr>
            <p:cNvSpPr/>
            <p:nvPr/>
          </p:nvSpPr>
          <p:spPr>
            <a:xfrm>
              <a:off x="7802455" y="4754210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502E0350-F746-2DDE-24B9-AC4F2665D3A3}"/>
                </a:ext>
              </a:extLst>
            </p:cNvPr>
            <p:cNvSpPr/>
            <p:nvPr/>
          </p:nvSpPr>
          <p:spPr>
            <a:xfrm>
              <a:off x="7211123" y="405588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3DBE13EB-88D8-99E4-F3AA-B70E091016A0}"/>
                </a:ext>
              </a:extLst>
            </p:cNvPr>
            <p:cNvSpPr/>
            <p:nvPr/>
          </p:nvSpPr>
          <p:spPr>
            <a:xfrm>
              <a:off x="7152325" y="4238382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4E36D491-71F8-A2A9-0084-E366861E61B3}"/>
                </a:ext>
              </a:extLst>
            </p:cNvPr>
            <p:cNvSpPr/>
            <p:nvPr/>
          </p:nvSpPr>
          <p:spPr>
            <a:xfrm>
              <a:off x="6888599" y="4207040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DAB3FC1-EB25-7B54-8D18-87C75484EC5C}"/>
                </a:ext>
              </a:extLst>
            </p:cNvPr>
            <p:cNvSpPr/>
            <p:nvPr/>
          </p:nvSpPr>
          <p:spPr>
            <a:xfrm>
              <a:off x="8618242" y="452818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AF7E4690-24A5-1FCD-3E7B-7C8305CD8A26}"/>
                </a:ext>
              </a:extLst>
            </p:cNvPr>
            <p:cNvSpPr/>
            <p:nvPr/>
          </p:nvSpPr>
          <p:spPr>
            <a:xfrm>
              <a:off x="7840900" y="4536414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53245491-EA59-AC39-3F34-E73160D6669C}"/>
                </a:ext>
              </a:extLst>
            </p:cNvPr>
            <p:cNvSpPr/>
            <p:nvPr/>
          </p:nvSpPr>
          <p:spPr>
            <a:xfrm>
              <a:off x="5914197" y="3907644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E46F8235-3D0A-0870-316F-0383F2D515F9}"/>
                </a:ext>
              </a:extLst>
            </p:cNvPr>
            <p:cNvSpPr/>
            <p:nvPr/>
          </p:nvSpPr>
          <p:spPr>
            <a:xfrm>
              <a:off x="6758289" y="4360442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8947702C-7C49-D43B-076A-1E503191245B}"/>
                </a:ext>
              </a:extLst>
            </p:cNvPr>
            <p:cNvSpPr/>
            <p:nvPr/>
          </p:nvSpPr>
          <p:spPr>
            <a:xfrm>
              <a:off x="6016934" y="4586594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570DA8EB-8C88-0DCB-AC4B-0A542B9F80D9}"/>
                </a:ext>
              </a:extLst>
            </p:cNvPr>
            <p:cNvSpPr/>
            <p:nvPr/>
          </p:nvSpPr>
          <p:spPr>
            <a:xfrm>
              <a:off x="7840900" y="472583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1620A91D-C935-1EBA-0838-360290AC8B05}"/>
                </a:ext>
              </a:extLst>
            </p:cNvPr>
            <p:cNvSpPr/>
            <p:nvPr/>
          </p:nvSpPr>
          <p:spPr>
            <a:xfrm>
              <a:off x="8281283" y="4785422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3AB12707-0FD6-E8C4-EB89-D6042A836E53}"/>
                </a:ext>
              </a:extLst>
            </p:cNvPr>
            <p:cNvSpPr/>
            <p:nvPr/>
          </p:nvSpPr>
          <p:spPr>
            <a:xfrm>
              <a:off x="6534188" y="5027765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E44FB58E-DD86-0FEA-1BDF-479EF8C38FB7}"/>
                </a:ext>
              </a:extLst>
            </p:cNvPr>
            <p:cNvSpPr/>
            <p:nvPr/>
          </p:nvSpPr>
          <p:spPr>
            <a:xfrm>
              <a:off x="8778645" y="469112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11ADD484-0B1F-D2E3-D9CB-C1F9452710E5}"/>
                </a:ext>
              </a:extLst>
            </p:cNvPr>
            <p:cNvSpPr/>
            <p:nvPr/>
          </p:nvSpPr>
          <p:spPr>
            <a:xfrm>
              <a:off x="7994610" y="3972772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7B0B77F8-7163-6404-9105-2025B239C337}"/>
                </a:ext>
              </a:extLst>
            </p:cNvPr>
            <p:cNvSpPr/>
            <p:nvPr/>
          </p:nvSpPr>
          <p:spPr>
            <a:xfrm>
              <a:off x="8128516" y="4175295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AEFE7F0E-D017-6EE4-4CBB-4C499D63B03C}"/>
                </a:ext>
              </a:extLst>
            </p:cNvPr>
            <p:cNvSpPr/>
            <p:nvPr/>
          </p:nvSpPr>
          <p:spPr>
            <a:xfrm>
              <a:off x="7864791" y="414395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1943D849-0633-88D7-07BD-3A5B7106042D}"/>
                </a:ext>
              </a:extLst>
            </p:cNvPr>
            <p:cNvSpPr/>
            <p:nvPr/>
          </p:nvSpPr>
          <p:spPr>
            <a:xfrm>
              <a:off x="10075023" y="391201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54E70A22-8A9A-7A7E-FE48-CF204312AB70}"/>
                </a:ext>
              </a:extLst>
            </p:cNvPr>
            <p:cNvSpPr/>
            <p:nvPr/>
          </p:nvSpPr>
          <p:spPr>
            <a:xfrm>
              <a:off x="7605444" y="4842994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75E00D16-8ED8-4CE6-9213-B6C7D7273364}"/>
                </a:ext>
              </a:extLst>
            </p:cNvPr>
            <p:cNvSpPr/>
            <p:nvPr/>
          </p:nvSpPr>
          <p:spPr>
            <a:xfrm>
              <a:off x="6041288" y="4294608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E14E712A-1D8A-288A-34DE-31B996E6BED7}"/>
                </a:ext>
              </a:extLst>
            </p:cNvPr>
            <p:cNvSpPr/>
            <p:nvPr/>
          </p:nvSpPr>
          <p:spPr>
            <a:xfrm>
              <a:off x="6963216" y="4586465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8D45C678-919A-BA32-91C8-0EC430D12FFD}"/>
                </a:ext>
              </a:extLst>
            </p:cNvPr>
            <p:cNvSpPr/>
            <p:nvPr/>
          </p:nvSpPr>
          <p:spPr>
            <a:xfrm>
              <a:off x="4386357" y="5211509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5B9F7399-48E7-797A-6B7A-1BDF4F20BAD8}"/>
                </a:ext>
              </a:extLst>
            </p:cNvPr>
            <p:cNvSpPr/>
            <p:nvPr/>
          </p:nvSpPr>
          <p:spPr>
            <a:xfrm>
              <a:off x="8045827" y="4951861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DF67A965-AF58-012B-AA27-3BA9CBE817B7}"/>
                </a:ext>
              </a:extLst>
            </p:cNvPr>
            <p:cNvSpPr/>
            <p:nvPr/>
          </p:nvSpPr>
          <p:spPr>
            <a:xfrm>
              <a:off x="8486210" y="5011446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89F1F2B8-8FD7-2A39-F580-C9F157D0EC45}"/>
                </a:ext>
              </a:extLst>
            </p:cNvPr>
            <p:cNvSpPr/>
            <p:nvPr/>
          </p:nvSpPr>
          <p:spPr>
            <a:xfrm>
              <a:off x="5568806" y="531914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E204C943-C641-A45E-5CAA-112A7A13C69E}"/>
                </a:ext>
              </a:extLst>
            </p:cNvPr>
            <p:cNvSpPr/>
            <p:nvPr/>
          </p:nvSpPr>
          <p:spPr>
            <a:xfrm>
              <a:off x="9478090" y="4943251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0C96A278-4A26-FA6B-BA7E-048A5E3B8109}"/>
                </a:ext>
              </a:extLst>
            </p:cNvPr>
            <p:cNvSpPr/>
            <p:nvPr/>
          </p:nvSpPr>
          <p:spPr>
            <a:xfrm>
              <a:off x="8222484" y="352720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ACBDF819-A713-3A49-C630-1426E57A6BF7}"/>
                </a:ext>
              </a:extLst>
            </p:cNvPr>
            <p:cNvSpPr/>
            <p:nvPr/>
          </p:nvSpPr>
          <p:spPr>
            <a:xfrm>
              <a:off x="8333444" y="440131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2B1081C0-7115-EFB3-D590-C6709FF86285}"/>
                </a:ext>
              </a:extLst>
            </p:cNvPr>
            <p:cNvSpPr/>
            <p:nvPr/>
          </p:nvSpPr>
          <p:spPr>
            <a:xfrm>
              <a:off x="8069718" y="4369976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E5F2EA53-3304-A27B-59E5-318937C45627}"/>
                </a:ext>
              </a:extLst>
            </p:cNvPr>
            <p:cNvSpPr/>
            <p:nvPr/>
          </p:nvSpPr>
          <p:spPr>
            <a:xfrm>
              <a:off x="10279950" y="4138039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3ED3D686-4635-40E1-5DA7-418C4BA4A9DB}"/>
                </a:ext>
              </a:extLst>
            </p:cNvPr>
            <p:cNvSpPr/>
            <p:nvPr/>
          </p:nvSpPr>
          <p:spPr>
            <a:xfrm>
              <a:off x="7260675" y="4151248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B9BEAC84-B638-5490-955E-AEFC4FEC0ADA}"/>
                </a:ext>
              </a:extLst>
            </p:cNvPr>
            <p:cNvSpPr/>
            <p:nvPr/>
          </p:nvSpPr>
          <p:spPr>
            <a:xfrm>
              <a:off x="7548165" y="3701395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08AB6141-E1D6-49DA-9C4B-19C149911CB7}"/>
                </a:ext>
              </a:extLst>
            </p:cNvPr>
            <p:cNvSpPr/>
            <p:nvPr/>
          </p:nvSpPr>
          <p:spPr>
            <a:xfrm>
              <a:off x="9922256" y="359709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AE14565B-AD1E-892D-E6A8-AD0669254054}"/>
                </a:ext>
              </a:extLst>
            </p:cNvPr>
            <p:cNvSpPr/>
            <p:nvPr/>
          </p:nvSpPr>
          <p:spPr>
            <a:xfrm>
              <a:off x="7414385" y="339818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31930508-A060-1D40-B6C8-9D3CC8CAD63F}"/>
                </a:ext>
              </a:extLst>
            </p:cNvPr>
            <p:cNvSpPr/>
            <p:nvPr/>
          </p:nvSpPr>
          <p:spPr>
            <a:xfrm>
              <a:off x="5761430" y="3728138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104AB76D-FCBB-FEF6-827C-32D00A666FB8}"/>
                </a:ext>
              </a:extLst>
            </p:cNvPr>
            <p:cNvSpPr/>
            <p:nvPr/>
          </p:nvSpPr>
          <p:spPr>
            <a:xfrm>
              <a:off x="7284566" y="356936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D0471A37-A116-8372-A515-BB100C5948B1}"/>
                </a:ext>
              </a:extLst>
            </p:cNvPr>
            <p:cNvSpPr/>
            <p:nvPr/>
          </p:nvSpPr>
          <p:spPr>
            <a:xfrm>
              <a:off x="9494798" y="333742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D2028736-948D-DAF5-66A9-ABD07C065A2A}"/>
                </a:ext>
              </a:extLst>
            </p:cNvPr>
            <p:cNvSpPr/>
            <p:nvPr/>
          </p:nvSpPr>
          <p:spPr>
            <a:xfrm>
              <a:off x="6605522" y="407601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A970BE43-116C-F8C4-9D2B-75213A66F91A}"/>
                </a:ext>
              </a:extLst>
            </p:cNvPr>
            <p:cNvSpPr/>
            <p:nvPr/>
          </p:nvSpPr>
          <p:spPr>
            <a:xfrm>
              <a:off x="7465602" y="4377271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B9A653DD-0327-9E21-6771-6597E0A56A28}"/>
                </a:ext>
              </a:extLst>
            </p:cNvPr>
            <p:cNvSpPr/>
            <p:nvPr/>
          </p:nvSpPr>
          <p:spPr>
            <a:xfrm>
              <a:off x="7177996" y="5637908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A25FE36A-F733-F395-AE8B-201DA6A90698}"/>
                </a:ext>
              </a:extLst>
            </p:cNvPr>
            <p:cNvSpPr/>
            <p:nvPr/>
          </p:nvSpPr>
          <p:spPr>
            <a:xfrm>
              <a:off x="8743938" y="411999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6B7E543C-F0F0-74DF-BB03-9E9D3AC6C8A5}"/>
                </a:ext>
              </a:extLst>
            </p:cNvPr>
            <p:cNvSpPr/>
            <p:nvPr/>
          </p:nvSpPr>
          <p:spPr>
            <a:xfrm>
              <a:off x="7812017" y="3644229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96C73A21-3957-8BF4-9920-3A4AF8A87E53}"/>
                </a:ext>
              </a:extLst>
            </p:cNvPr>
            <p:cNvSpPr/>
            <p:nvPr/>
          </p:nvSpPr>
          <p:spPr>
            <a:xfrm>
              <a:off x="6023920" y="337134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15DE316F-EA4F-48CA-EC68-44987394372F}"/>
                </a:ext>
              </a:extLst>
            </p:cNvPr>
            <p:cNvSpPr/>
            <p:nvPr/>
          </p:nvSpPr>
          <p:spPr>
            <a:xfrm>
              <a:off x="5611396" y="397296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A8BBB9CA-2D76-8243-14F7-EA8370209B88}"/>
                </a:ext>
              </a:extLst>
            </p:cNvPr>
            <p:cNvSpPr/>
            <p:nvPr/>
          </p:nvSpPr>
          <p:spPr>
            <a:xfrm>
              <a:off x="9219136" y="411653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9" name="Picture 6" descr="Gaussian filter, or Gaussian blur — Librow — Digital LCD dashboards for  cars and boats">
              <a:extLst>
                <a:ext uri="{FF2B5EF4-FFF2-40B4-BE49-F238E27FC236}">
                  <a16:creationId xmlns:a16="http://schemas.microsoft.com/office/drawing/2014/main" id="{F99729AF-33D6-C5E7-23FB-1E6B323BC5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45059" y="826237"/>
              <a:ext cx="4902845" cy="28315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0" name="Picture 6" descr="Gaussian filter, or Gaussian blur — Librow — Digital LCD dashboards for  cars and boats">
              <a:extLst>
                <a:ext uri="{FF2B5EF4-FFF2-40B4-BE49-F238E27FC236}">
                  <a16:creationId xmlns:a16="http://schemas.microsoft.com/office/drawing/2014/main" id="{4B572168-14FE-CA6F-15FB-5CED50DDFB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90414" y="1966841"/>
              <a:ext cx="4571764" cy="28315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5" name="Picture 104">
            <a:extLst>
              <a:ext uri="{FF2B5EF4-FFF2-40B4-BE49-F238E27FC236}">
                <a16:creationId xmlns:a16="http://schemas.microsoft.com/office/drawing/2014/main" id="{1D1617C1-CC94-8E20-ED2C-B3B0F52202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3698" y="1314300"/>
            <a:ext cx="5616286" cy="343270"/>
          </a:xfrm>
          <a:prstGeom prst="rect">
            <a:avLst/>
          </a:prstGeom>
        </p:spPr>
      </p:pic>
      <p:grpSp>
        <p:nvGrpSpPr>
          <p:cNvPr id="86" name="Group 85">
            <a:extLst>
              <a:ext uri="{FF2B5EF4-FFF2-40B4-BE49-F238E27FC236}">
                <a16:creationId xmlns:a16="http://schemas.microsoft.com/office/drawing/2014/main" id="{D440B84A-2AE6-C01B-017B-EEBBA9DFF45B}"/>
              </a:ext>
            </a:extLst>
          </p:cNvPr>
          <p:cNvGrpSpPr/>
          <p:nvPr/>
        </p:nvGrpSpPr>
        <p:grpSpPr>
          <a:xfrm>
            <a:off x="5413972" y="1694658"/>
            <a:ext cx="561315" cy="154612"/>
            <a:chOff x="5404919" y="1683241"/>
            <a:chExt cx="561315" cy="154612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08CEDE4B-0679-5DFE-4511-56B6A0A6CF38}"/>
                </a:ext>
              </a:extLst>
            </p:cNvPr>
            <p:cNvCxnSpPr/>
            <p:nvPr/>
          </p:nvCxnSpPr>
          <p:spPr>
            <a:xfrm>
              <a:off x="5522614" y="1692296"/>
              <a:ext cx="44362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31F5BD9-A75B-833F-7001-EAF603C31F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04919" y="1683241"/>
              <a:ext cx="117695" cy="154612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E33E0795-E466-BE2D-DEE3-FD2E77D664E5}"/>
              </a:ext>
            </a:extLst>
          </p:cNvPr>
          <p:cNvGrpSpPr/>
          <p:nvPr/>
        </p:nvGrpSpPr>
        <p:grpSpPr>
          <a:xfrm>
            <a:off x="6224957" y="1700174"/>
            <a:ext cx="2254412" cy="141327"/>
            <a:chOff x="5522614" y="1692296"/>
            <a:chExt cx="521966" cy="231853"/>
          </a:xfrm>
        </p:grpSpPr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69111ED2-8C0F-8F28-A7F1-A31252A429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22614" y="1692296"/>
              <a:ext cx="494688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3072CD32-EA1F-FE4F-0B05-00E12B594C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17302" y="1708058"/>
              <a:ext cx="27278" cy="216091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4CBD68D8-8A5E-3DA5-F2D1-85782A14110D}"/>
              </a:ext>
            </a:extLst>
          </p:cNvPr>
          <p:cNvSpPr txBox="1"/>
          <p:nvPr/>
        </p:nvSpPr>
        <p:spPr>
          <a:xfrm>
            <a:off x="7619454" y="1837222"/>
            <a:ext cx="1584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Arial Rounded MT Bold" panose="020F0704030504030204" pitchFamily="34" charset="77"/>
                <a:sym typeface="Wingdings" pitchFamily="2" charset="2"/>
              </a:rPr>
              <a:t>Likelihood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77"/>
            </a:endParaRPr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489DFDE3-DD1E-8EFE-BDF4-6EBBA382CF0A}"/>
              </a:ext>
            </a:extLst>
          </p:cNvPr>
          <p:cNvGrpSpPr/>
          <p:nvPr/>
        </p:nvGrpSpPr>
        <p:grpSpPr>
          <a:xfrm>
            <a:off x="3170892" y="1783381"/>
            <a:ext cx="2285663" cy="369332"/>
            <a:chOff x="3161839" y="1771964"/>
            <a:chExt cx="2285663" cy="369332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9E1C79BD-A0EC-8ACB-4F4F-CA5E4F973CDE}"/>
                </a:ext>
              </a:extLst>
            </p:cNvPr>
            <p:cNvSpPr txBox="1"/>
            <p:nvPr/>
          </p:nvSpPr>
          <p:spPr>
            <a:xfrm>
              <a:off x="3161839" y="1771964"/>
              <a:ext cx="12411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rgbClr val="FF0000"/>
                  </a:solidFill>
                  <a:latin typeface="Arial Rounded MT Bold" panose="020F0704030504030204" pitchFamily="34" charset="77"/>
                  <a:sym typeface="Wingdings" pitchFamily="2" charset="2"/>
                </a:rPr>
                <a:t>Posterior</a:t>
              </a:r>
              <a:r>
                <a:rPr lang="zh-TW" altLang="en-US" dirty="0">
                  <a:latin typeface="Arial Rounded MT Bold" panose="020F0704030504030204" pitchFamily="34" charset="77"/>
                  <a:sym typeface="Wingdings" pitchFamily="2" charset="2"/>
                </a:rPr>
                <a:t> </a:t>
              </a:r>
              <a:endParaRPr lang="en-US" dirty="0">
                <a:latin typeface="Arial Rounded MT Bold" panose="020F0704030504030204" pitchFamily="34" charset="77"/>
              </a:endParaRPr>
            </a:p>
          </p:txBody>
        </p:sp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E559A687-804E-9FAE-41B6-E86A98356E0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03003" y="1831390"/>
              <a:ext cx="1044499" cy="250479"/>
            </a:xfrm>
            <a:prstGeom prst="rect">
              <a:avLst/>
            </a:prstGeom>
          </p:spPr>
        </p:pic>
      </p:grp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6377210B-3763-DA85-85D6-0D391090F32B}"/>
              </a:ext>
            </a:extLst>
          </p:cNvPr>
          <p:cNvCxnSpPr>
            <a:cxnSpLocks/>
          </p:cNvCxnSpPr>
          <p:nvPr/>
        </p:nvCxnSpPr>
        <p:spPr>
          <a:xfrm>
            <a:off x="274068" y="3597965"/>
            <a:ext cx="1059914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094E5C61-665C-DA5C-6894-C125921D991D}"/>
              </a:ext>
            </a:extLst>
          </p:cNvPr>
          <p:cNvCxnSpPr>
            <a:cxnSpLocks/>
          </p:cNvCxnSpPr>
          <p:nvPr/>
        </p:nvCxnSpPr>
        <p:spPr>
          <a:xfrm flipV="1">
            <a:off x="2843330" y="3193774"/>
            <a:ext cx="0" cy="2680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685EB880-AA4A-5F89-4D05-38976064FA75}"/>
              </a:ext>
            </a:extLst>
          </p:cNvPr>
          <p:cNvSpPr txBox="1"/>
          <p:nvPr/>
        </p:nvSpPr>
        <p:spPr>
          <a:xfrm>
            <a:off x="797590" y="3718601"/>
            <a:ext cx="1241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Arial Rounded MT Bold" panose="020F0704030504030204" pitchFamily="34" charset="77"/>
                <a:sym typeface="Wingdings" pitchFamily="2" charset="2"/>
              </a:rPr>
              <a:t>Posterior</a:t>
            </a:r>
            <a:r>
              <a:rPr lang="zh-TW" altLang="en-US" dirty="0">
                <a:latin typeface="Arial Rounded MT Bold" panose="020F0704030504030204" pitchFamily="34" charset="77"/>
                <a:sym typeface="Wingdings" pitchFamily="2" charset="2"/>
              </a:rPr>
              <a:t> 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131C83DA-C6E2-7E73-8DBF-1AAA73518074}"/>
              </a:ext>
            </a:extLst>
          </p:cNvPr>
          <p:cNvSpPr txBox="1"/>
          <p:nvPr/>
        </p:nvSpPr>
        <p:spPr>
          <a:xfrm>
            <a:off x="766232" y="5090787"/>
            <a:ext cx="1584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Arial Rounded MT Bold" panose="020F0704030504030204" pitchFamily="34" charset="77"/>
                <a:sym typeface="Wingdings" pitchFamily="2" charset="2"/>
              </a:rPr>
              <a:t>Likelihood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77"/>
            </a:endParaRPr>
          </a:p>
        </p:txBody>
      </p: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6104EEB0-5985-3162-12D8-084B5EC36B66}"/>
              </a:ext>
            </a:extLst>
          </p:cNvPr>
          <p:cNvCxnSpPr>
            <a:cxnSpLocks/>
          </p:cNvCxnSpPr>
          <p:nvPr/>
        </p:nvCxnSpPr>
        <p:spPr>
          <a:xfrm flipV="1">
            <a:off x="8273609" y="3192641"/>
            <a:ext cx="0" cy="2680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4" name="Picture 123">
            <a:extLst>
              <a:ext uri="{FF2B5EF4-FFF2-40B4-BE49-F238E27FC236}">
                <a16:creationId xmlns:a16="http://schemas.microsoft.com/office/drawing/2014/main" id="{95D8C0E8-050A-911D-E64E-A3E626A82A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4808" y="4139654"/>
            <a:ext cx="1334924" cy="369328"/>
          </a:xfrm>
          <a:prstGeom prst="rect">
            <a:avLst/>
          </a:prstGeom>
        </p:spPr>
      </p:pic>
      <p:pic>
        <p:nvPicPr>
          <p:cNvPr id="126" name="Picture 125">
            <a:extLst>
              <a:ext uri="{FF2B5EF4-FFF2-40B4-BE49-F238E27FC236}">
                <a16:creationId xmlns:a16="http://schemas.microsoft.com/office/drawing/2014/main" id="{87763D96-E76C-D039-FC46-607E11A6B91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503" y="5491891"/>
            <a:ext cx="1334905" cy="369323"/>
          </a:xfrm>
          <a:prstGeom prst="rect">
            <a:avLst/>
          </a:prstGeom>
        </p:spPr>
      </p:pic>
      <p:sp>
        <p:nvSpPr>
          <p:cNvPr id="129" name="TextBox 128">
            <a:extLst>
              <a:ext uri="{FF2B5EF4-FFF2-40B4-BE49-F238E27FC236}">
                <a16:creationId xmlns:a16="http://schemas.microsoft.com/office/drawing/2014/main" id="{BF755AA6-BD82-A370-B6E1-6CB7D904EC37}"/>
              </a:ext>
            </a:extLst>
          </p:cNvPr>
          <p:cNvSpPr txBox="1"/>
          <p:nvPr/>
        </p:nvSpPr>
        <p:spPr>
          <a:xfrm>
            <a:off x="5272434" y="3149895"/>
            <a:ext cx="80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EM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130" name="Picture 129">
            <a:extLst>
              <a:ext uri="{FF2B5EF4-FFF2-40B4-BE49-F238E27FC236}">
                <a16:creationId xmlns:a16="http://schemas.microsoft.com/office/drawing/2014/main" id="{52684B71-59E4-415E-45F3-CC77504A778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66106" y="4062283"/>
            <a:ext cx="4655115" cy="792283"/>
          </a:xfrm>
          <a:prstGeom prst="rect">
            <a:avLst/>
          </a:prstGeom>
        </p:spPr>
      </p:pic>
      <p:pic>
        <p:nvPicPr>
          <p:cNvPr id="131" name="Picture 130">
            <a:extLst>
              <a:ext uri="{FF2B5EF4-FFF2-40B4-BE49-F238E27FC236}">
                <a16:creationId xmlns:a16="http://schemas.microsoft.com/office/drawing/2014/main" id="{10C288A8-A7F0-00CA-F607-734B7D9660F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56802" y="5552307"/>
            <a:ext cx="5003335" cy="436206"/>
          </a:xfrm>
          <a:prstGeom prst="rect">
            <a:avLst/>
          </a:prstGeom>
        </p:spPr>
      </p:pic>
      <p:sp>
        <p:nvSpPr>
          <p:cNvPr id="132" name="TextBox 131">
            <a:extLst>
              <a:ext uri="{FF2B5EF4-FFF2-40B4-BE49-F238E27FC236}">
                <a16:creationId xmlns:a16="http://schemas.microsoft.com/office/drawing/2014/main" id="{18F9466A-7698-B5DE-CEB8-358C4C03A7AE}"/>
              </a:ext>
            </a:extLst>
          </p:cNvPr>
          <p:cNvSpPr txBox="1"/>
          <p:nvPr/>
        </p:nvSpPr>
        <p:spPr>
          <a:xfrm>
            <a:off x="5137763" y="3692951"/>
            <a:ext cx="937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Arial Rounded MT Bold" panose="020F0704030504030204" pitchFamily="34" charset="77"/>
                <a:sym typeface="Wingdings" pitchFamily="2" charset="2"/>
              </a:rPr>
              <a:t>Bayes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87440FF4-86FD-55CA-28BA-47CFE5D30DED}"/>
              </a:ext>
            </a:extLst>
          </p:cNvPr>
          <p:cNvSpPr txBox="1"/>
          <p:nvPr/>
        </p:nvSpPr>
        <p:spPr>
          <a:xfrm>
            <a:off x="5272434" y="5090701"/>
            <a:ext cx="701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Arial Rounded MT Bold" panose="020F0704030504030204" pitchFamily="34" charset="77"/>
                <a:sym typeface="Wingdings" pitchFamily="2" charset="2"/>
              </a:rPr>
              <a:t>MLE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3665414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0DD51-9AB1-04E8-F8B1-C6506684D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67E442F-91EC-CE98-8765-5C697079BAF1}"/>
              </a:ext>
            </a:extLst>
          </p:cNvPr>
          <p:cNvSpPr txBox="1"/>
          <p:nvPr/>
        </p:nvSpPr>
        <p:spPr>
          <a:xfrm>
            <a:off x="276410" y="260293"/>
            <a:ext cx="2706038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VAE – Network on EM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D980D9-5CD5-48B6-5FC2-ADBE53591DEE}"/>
              </a:ext>
            </a:extLst>
          </p:cNvPr>
          <p:cNvSpPr txBox="1"/>
          <p:nvPr/>
        </p:nvSpPr>
        <p:spPr>
          <a:xfrm>
            <a:off x="1224935" y="787101"/>
            <a:ext cx="3352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EM + NN (equation)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3" name="Graphic 2" descr="Magnifying glass with solid fill">
            <a:extLst>
              <a:ext uri="{FF2B5EF4-FFF2-40B4-BE49-F238E27FC236}">
                <a16:creationId xmlns:a16="http://schemas.microsoft.com/office/drawing/2014/main" id="{61913F20-A936-B9D8-2F06-DB2E13B2A1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7260" y="787101"/>
            <a:ext cx="475673" cy="4756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29750E6-82D9-C20A-BAF2-83CCAFE65B17}"/>
              </a:ext>
            </a:extLst>
          </p:cNvPr>
          <p:cNvSpPr txBox="1"/>
          <p:nvPr/>
        </p:nvSpPr>
        <p:spPr>
          <a:xfrm>
            <a:off x="1224935" y="1313909"/>
            <a:ext cx="2387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EM equation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745E168-449B-E73F-D595-E6052847CDAA}"/>
              </a:ext>
            </a:extLst>
          </p:cNvPr>
          <p:cNvGrpSpPr/>
          <p:nvPr/>
        </p:nvGrpSpPr>
        <p:grpSpPr>
          <a:xfrm>
            <a:off x="9366186" y="693215"/>
            <a:ext cx="2178554" cy="1241388"/>
            <a:chOff x="2830278" y="826237"/>
            <a:chExt cx="8990821" cy="5670011"/>
          </a:xfrm>
        </p:grpSpPr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DF663EE7-ECAD-1A9B-C5A1-727978C38502}"/>
                </a:ext>
              </a:extLst>
            </p:cNvPr>
            <p:cNvSpPr/>
            <p:nvPr/>
          </p:nvSpPr>
          <p:spPr>
            <a:xfrm>
              <a:off x="2830278" y="3183876"/>
              <a:ext cx="8990821" cy="3312372"/>
            </a:xfrm>
            <a:prstGeom prst="parallelogram">
              <a:avLst>
                <a:gd name="adj" fmla="val 94320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0E3FF0B-BC7C-3BE5-AD02-B66692E4B687}"/>
                </a:ext>
              </a:extLst>
            </p:cNvPr>
            <p:cNvSpPr/>
            <p:nvPr/>
          </p:nvSpPr>
          <p:spPr>
            <a:xfrm>
              <a:off x="7240006" y="4948068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4EA5FC4-89F1-841B-821C-49891E83EA68}"/>
                </a:ext>
              </a:extLst>
            </p:cNvPr>
            <p:cNvSpPr/>
            <p:nvPr/>
          </p:nvSpPr>
          <p:spPr>
            <a:xfrm>
              <a:off x="5313303" y="4319298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E057AC7-2790-7FAC-A0A6-3A29CD9BE0D7}"/>
                </a:ext>
              </a:extLst>
            </p:cNvPr>
            <p:cNvSpPr/>
            <p:nvPr/>
          </p:nvSpPr>
          <p:spPr>
            <a:xfrm>
              <a:off x="6157395" y="477209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E12CA23-3B2C-C50A-AB39-F2FCA7D264C5}"/>
                </a:ext>
              </a:extLst>
            </p:cNvPr>
            <p:cNvSpPr/>
            <p:nvPr/>
          </p:nvSpPr>
          <p:spPr>
            <a:xfrm>
              <a:off x="5416040" y="4998248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B5A1C98E-646A-AC44-778D-A0D51238946B}"/>
                </a:ext>
              </a:extLst>
            </p:cNvPr>
            <p:cNvSpPr/>
            <p:nvPr/>
          </p:nvSpPr>
          <p:spPr>
            <a:xfrm>
              <a:off x="7240006" y="5137491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0D164C3-9BA5-284E-F862-8A5E7874FD13}"/>
                </a:ext>
              </a:extLst>
            </p:cNvPr>
            <p:cNvSpPr/>
            <p:nvPr/>
          </p:nvSpPr>
          <p:spPr>
            <a:xfrm>
              <a:off x="7680389" y="5197076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2FD90CC-868F-BD11-0B82-F25150C4C19F}"/>
                </a:ext>
              </a:extLst>
            </p:cNvPr>
            <p:cNvSpPr/>
            <p:nvPr/>
          </p:nvSpPr>
          <p:spPr>
            <a:xfrm>
              <a:off x="5933294" y="5439419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2715F34-5838-0017-7630-F2A7B1FC6DC5}"/>
                </a:ext>
              </a:extLst>
            </p:cNvPr>
            <p:cNvSpPr/>
            <p:nvPr/>
          </p:nvSpPr>
          <p:spPr>
            <a:xfrm>
              <a:off x="8177751" y="510277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5278BFC-877E-8A6F-A7ED-EC3A383B213A}"/>
                </a:ext>
              </a:extLst>
            </p:cNvPr>
            <p:cNvSpPr/>
            <p:nvPr/>
          </p:nvSpPr>
          <p:spPr>
            <a:xfrm>
              <a:off x="7393716" y="4384426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83FE853-D690-D40C-F475-1DD17193B286}"/>
                </a:ext>
              </a:extLst>
            </p:cNvPr>
            <p:cNvSpPr/>
            <p:nvPr/>
          </p:nvSpPr>
          <p:spPr>
            <a:xfrm>
              <a:off x="7527622" y="4586949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665CBF1C-4F8B-86C1-C102-1B1C2C4F4500}"/>
                </a:ext>
              </a:extLst>
            </p:cNvPr>
            <p:cNvSpPr/>
            <p:nvPr/>
          </p:nvSpPr>
          <p:spPr>
            <a:xfrm>
              <a:off x="7263897" y="455560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2884E9B-E9E0-AD90-332C-402FA97488DD}"/>
                </a:ext>
              </a:extLst>
            </p:cNvPr>
            <p:cNvSpPr/>
            <p:nvPr/>
          </p:nvSpPr>
          <p:spPr>
            <a:xfrm>
              <a:off x="9474129" y="4323671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51ADB9E-528C-7777-9EA6-858616F56C32}"/>
                </a:ext>
              </a:extLst>
            </p:cNvPr>
            <p:cNvSpPr/>
            <p:nvPr/>
          </p:nvSpPr>
          <p:spPr>
            <a:xfrm>
              <a:off x="7004550" y="5254649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670429F2-E1E8-87C7-ADD8-7FB50185EA98}"/>
                </a:ext>
              </a:extLst>
            </p:cNvPr>
            <p:cNvSpPr/>
            <p:nvPr/>
          </p:nvSpPr>
          <p:spPr>
            <a:xfrm>
              <a:off x="6023445" y="4920606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A86847A2-FEF5-38E2-40DD-9A3B70A9A37A}"/>
                </a:ext>
              </a:extLst>
            </p:cNvPr>
            <p:cNvSpPr/>
            <p:nvPr/>
          </p:nvSpPr>
          <p:spPr>
            <a:xfrm>
              <a:off x="6362322" y="4998119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35FCD1D4-7FC5-21E4-2220-F896435DBFD9}"/>
                </a:ext>
              </a:extLst>
            </p:cNvPr>
            <p:cNvSpPr/>
            <p:nvPr/>
          </p:nvSpPr>
          <p:spPr>
            <a:xfrm>
              <a:off x="5313303" y="5245125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FE99AF5B-C014-2B33-D5D6-0553CB61B099}"/>
                </a:ext>
              </a:extLst>
            </p:cNvPr>
            <p:cNvSpPr/>
            <p:nvPr/>
          </p:nvSpPr>
          <p:spPr>
            <a:xfrm>
              <a:off x="7444933" y="5363515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5FF49F0F-016D-E1BE-4DEB-3CF1918511FA}"/>
                </a:ext>
              </a:extLst>
            </p:cNvPr>
            <p:cNvSpPr/>
            <p:nvPr/>
          </p:nvSpPr>
          <p:spPr>
            <a:xfrm>
              <a:off x="7885316" y="5423100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09CE868-2B48-B64C-EB86-15B660455347}"/>
                </a:ext>
              </a:extLst>
            </p:cNvPr>
            <p:cNvSpPr/>
            <p:nvPr/>
          </p:nvSpPr>
          <p:spPr>
            <a:xfrm>
              <a:off x="4967912" y="573079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DAF5136C-34E1-84D0-B357-7808DD37BB17}"/>
                </a:ext>
              </a:extLst>
            </p:cNvPr>
            <p:cNvSpPr/>
            <p:nvPr/>
          </p:nvSpPr>
          <p:spPr>
            <a:xfrm>
              <a:off x="8877196" y="5354905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554CEC39-7F31-BE31-1B2B-25C8B57B2543}"/>
                </a:ext>
              </a:extLst>
            </p:cNvPr>
            <p:cNvSpPr/>
            <p:nvPr/>
          </p:nvSpPr>
          <p:spPr>
            <a:xfrm>
              <a:off x="7598643" y="4610450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C63860E-DF71-E769-7E16-D189DC8544BC}"/>
                </a:ext>
              </a:extLst>
            </p:cNvPr>
            <p:cNvSpPr/>
            <p:nvPr/>
          </p:nvSpPr>
          <p:spPr>
            <a:xfrm>
              <a:off x="7732550" y="4812972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3AAC1EDA-44CF-5165-E046-FC8ABA8BA00A}"/>
                </a:ext>
              </a:extLst>
            </p:cNvPr>
            <p:cNvSpPr/>
            <p:nvPr/>
          </p:nvSpPr>
          <p:spPr>
            <a:xfrm>
              <a:off x="7468824" y="4781630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B768088C-59DC-1017-9BBD-7340FAD3BD3F}"/>
                </a:ext>
              </a:extLst>
            </p:cNvPr>
            <p:cNvSpPr/>
            <p:nvPr/>
          </p:nvSpPr>
          <p:spPr>
            <a:xfrm>
              <a:off x="9679056" y="4549694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AD8A2721-5AE0-7B3F-616C-AF0AA26485F5}"/>
                </a:ext>
              </a:extLst>
            </p:cNvPr>
            <p:cNvSpPr/>
            <p:nvPr/>
          </p:nvSpPr>
          <p:spPr>
            <a:xfrm>
              <a:off x="6659781" y="4562902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17CC619-012B-AB92-E464-58B2CBD5951F}"/>
                </a:ext>
              </a:extLst>
            </p:cNvPr>
            <p:cNvSpPr/>
            <p:nvPr/>
          </p:nvSpPr>
          <p:spPr>
            <a:xfrm>
              <a:off x="7100164" y="4622486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126DCF2E-8565-264F-8A59-855670616CF7}"/>
                </a:ext>
              </a:extLst>
            </p:cNvPr>
            <p:cNvSpPr/>
            <p:nvPr/>
          </p:nvSpPr>
          <p:spPr>
            <a:xfrm>
              <a:off x="7597527" y="452818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0DE65DEB-089A-CD8E-2F56-4B8DF252FFA2}"/>
                </a:ext>
              </a:extLst>
            </p:cNvPr>
            <p:cNvSpPr/>
            <p:nvPr/>
          </p:nvSpPr>
          <p:spPr>
            <a:xfrm>
              <a:off x="6813491" y="380983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E821DB71-10E0-E634-F05E-BEDAAEBCEF3E}"/>
                </a:ext>
              </a:extLst>
            </p:cNvPr>
            <p:cNvSpPr/>
            <p:nvPr/>
          </p:nvSpPr>
          <p:spPr>
            <a:xfrm>
              <a:off x="6947398" y="4012359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E032CAF3-E1DD-B3BB-66F2-A024841B9526}"/>
                </a:ext>
              </a:extLst>
            </p:cNvPr>
            <p:cNvSpPr/>
            <p:nvPr/>
          </p:nvSpPr>
          <p:spPr>
            <a:xfrm>
              <a:off x="6683672" y="398101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33AA0276-EE51-1B34-55CF-00730A58E2D5}"/>
                </a:ext>
              </a:extLst>
            </p:cNvPr>
            <p:cNvSpPr/>
            <p:nvPr/>
          </p:nvSpPr>
          <p:spPr>
            <a:xfrm>
              <a:off x="8893904" y="3749081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8B384DBB-A940-2755-DBA5-77D92107AB1B}"/>
                </a:ext>
              </a:extLst>
            </p:cNvPr>
            <p:cNvSpPr/>
            <p:nvPr/>
          </p:nvSpPr>
          <p:spPr>
            <a:xfrm>
              <a:off x="6004628" y="448766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6B4F6644-BB7C-D6EB-DE8A-403F1BE095E2}"/>
                </a:ext>
              </a:extLst>
            </p:cNvPr>
            <p:cNvSpPr/>
            <p:nvPr/>
          </p:nvSpPr>
          <p:spPr>
            <a:xfrm>
              <a:off x="6864709" y="4788925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F1E38B48-1E45-1503-AC36-E01AA9B5B53B}"/>
                </a:ext>
              </a:extLst>
            </p:cNvPr>
            <p:cNvSpPr/>
            <p:nvPr/>
          </p:nvSpPr>
          <p:spPr>
            <a:xfrm>
              <a:off x="6577102" y="6049562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BDB170CC-DFE6-C4DF-CB43-B91A8A769F92}"/>
                </a:ext>
              </a:extLst>
            </p:cNvPr>
            <p:cNvSpPr/>
            <p:nvPr/>
          </p:nvSpPr>
          <p:spPr>
            <a:xfrm>
              <a:off x="7802455" y="4754210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C502C671-0C62-9C54-3E3E-A0693030ABCB}"/>
                </a:ext>
              </a:extLst>
            </p:cNvPr>
            <p:cNvSpPr/>
            <p:nvPr/>
          </p:nvSpPr>
          <p:spPr>
            <a:xfrm>
              <a:off x="7211123" y="405588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273DA9D5-F2A2-F79B-C153-64080E909E71}"/>
                </a:ext>
              </a:extLst>
            </p:cNvPr>
            <p:cNvSpPr/>
            <p:nvPr/>
          </p:nvSpPr>
          <p:spPr>
            <a:xfrm>
              <a:off x="7152325" y="4238382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D14CDDAE-3AA9-5EEE-A0BD-18DBC011F741}"/>
                </a:ext>
              </a:extLst>
            </p:cNvPr>
            <p:cNvSpPr/>
            <p:nvPr/>
          </p:nvSpPr>
          <p:spPr>
            <a:xfrm>
              <a:off x="6888599" y="4207040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A759B357-0B79-4D44-55E3-56526125EFB5}"/>
                </a:ext>
              </a:extLst>
            </p:cNvPr>
            <p:cNvSpPr/>
            <p:nvPr/>
          </p:nvSpPr>
          <p:spPr>
            <a:xfrm>
              <a:off x="8618242" y="452818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91CE43FC-F408-F2A6-D3A1-518E7ABB212A}"/>
                </a:ext>
              </a:extLst>
            </p:cNvPr>
            <p:cNvSpPr/>
            <p:nvPr/>
          </p:nvSpPr>
          <p:spPr>
            <a:xfrm>
              <a:off x="7840900" y="4536414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B767A403-3A2A-E6AE-7470-85A2EA7B1D78}"/>
                </a:ext>
              </a:extLst>
            </p:cNvPr>
            <p:cNvSpPr/>
            <p:nvPr/>
          </p:nvSpPr>
          <p:spPr>
            <a:xfrm>
              <a:off x="5914197" y="3907644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AAA2E4B5-163C-7A86-E65B-2A5E80E568F4}"/>
                </a:ext>
              </a:extLst>
            </p:cNvPr>
            <p:cNvSpPr/>
            <p:nvPr/>
          </p:nvSpPr>
          <p:spPr>
            <a:xfrm>
              <a:off x="6758289" y="4360442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CE38E05A-5757-27C0-7609-938B04387D4E}"/>
                </a:ext>
              </a:extLst>
            </p:cNvPr>
            <p:cNvSpPr/>
            <p:nvPr/>
          </p:nvSpPr>
          <p:spPr>
            <a:xfrm>
              <a:off x="6016934" y="4586594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D93B8690-C25B-0F54-3D8E-921215D269AC}"/>
                </a:ext>
              </a:extLst>
            </p:cNvPr>
            <p:cNvSpPr/>
            <p:nvPr/>
          </p:nvSpPr>
          <p:spPr>
            <a:xfrm>
              <a:off x="7840900" y="472583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E4B18309-4F30-1414-C0E6-40A197584EA5}"/>
                </a:ext>
              </a:extLst>
            </p:cNvPr>
            <p:cNvSpPr/>
            <p:nvPr/>
          </p:nvSpPr>
          <p:spPr>
            <a:xfrm>
              <a:off x="8281283" y="4785422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AF7BE91B-1912-CD60-A2D0-2B3C10C50615}"/>
                </a:ext>
              </a:extLst>
            </p:cNvPr>
            <p:cNvSpPr/>
            <p:nvPr/>
          </p:nvSpPr>
          <p:spPr>
            <a:xfrm>
              <a:off x="6534188" y="5027765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3BCC7CA3-B757-2F10-7246-5E28AAE7874B}"/>
                </a:ext>
              </a:extLst>
            </p:cNvPr>
            <p:cNvSpPr/>
            <p:nvPr/>
          </p:nvSpPr>
          <p:spPr>
            <a:xfrm>
              <a:off x="8778645" y="469112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673770F0-6528-46A9-82CD-6B909E5871FC}"/>
                </a:ext>
              </a:extLst>
            </p:cNvPr>
            <p:cNvSpPr/>
            <p:nvPr/>
          </p:nvSpPr>
          <p:spPr>
            <a:xfrm>
              <a:off x="7994610" y="3972772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B8F352EE-D758-479F-EBE7-7B95BB8A4E4E}"/>
                </a:ext>
              </a:extLst>
            </p:cNvPr>
            <p:cNvSpPr/>
            <p:nvPr/>
          </p:nvSpPr>
          <p:spPr>
            <a:xfrm>
              <a:off x="8128516" y="4175295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5A648C99-79D0-1C05-0474-4D43AAA7A29B}"/>
                </a:ext>
              </a:extLst>
            </p:cNvPr>
            <p:cNvSpPr/>
            <p:nvPr/>
          </p:nvSpPr>
          <p:spPr>
            <a:xfrm>
              <a:off x="7864791" y="414395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F36D1CDE-9DAE-3AAC-629B-B74A8C77E197}"/>
                </a:ext>
              </a:extLst>
            </p:cNvPr>
            <p:cNvSpPr/>
            <p:nvPr/>
          </p:nvSpPr>
          <p:spPr>
            <a:xfrm>
              <a:off x="10075023" y="391201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7D71B1D1-1D09-6734-0618-5A98EE336C47}"/>
                </a:ext>
              </a:extLst>
            </p:cNvPr>
            <p:cNvSpPr/>
            <p:nvPr/>
          </p:nvSpPr>
          <p:spPr>
            <a:xfrm>
              <a:off x="7605444" y="4842994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B694726D-6A53-9286-18F3-FEF7D4EC21F0}"/>
                </a:ext>
              </a:extLst>
            </p:cNvPr>
            <p:cNvSpPr/>
            <p:nvPr/>
          </p:nvSpPr>
          <p:spPr>
            <a:xfrm>
              <a:off x="6041288" y="4294608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255D7CBD-75D4-F3B8-77D2-E9928EAA08FC}"/>
                </a:ext>
              </a:extLst>
            </p:cNvPr>
            <p:cNvSpPr/>
            <p:nvPr/>
          </p:nvSpPr>
          <p:spPr>
            <a:xfrm>
              <a:off x="6963216" y="4586465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1120C1A7-731C-DA54-49D2-6570ACFAE906}"/>
                </a:ext>
              </a:extLst>
            </p:cNvPr>
            <p:cNvSpPr/>
            <p:nvPr/>
          </p:nvSpPr>
          <p:spPr>
            <a:xfrm>
              <a:off x="4386357" y="5211509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69B41276-3DDD-F7F2-BADA-C026A77ACD5E}"/>
                </a:ext>
              </a:extLst>
            </p:cNvPr>
            <p:cNvSpPr/>
            <p:nvPr/>
          </p:nvSpPr>
          <p:spPr>
            <a:xfrm>
              <a:off x="8045827" y="4951861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C0BCF8D5-40DE-0B46-2DBA-23353C93E76F}"/>
                </a:ext>
              </a:extLst>
            </p:cNvPr>
            <p:cNvSpPr/>
            <p:nvPr/>
          </p:nvSpPr>
          <p:spPr>
            <a:xfrm>
              <a:off x="8486210" y="5011446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95D3DE96-8B4B-2794-9048-B43C6E34F7BC}"/>
                </a:ext>
              </a:extLst>
            </p:cNvPr>
            <p:cNvSpPr/>
            <p:nvPr/>
          </p:nvSpPr>
          <p:spPr>
            <a:xfrm>
              <a:off x="5568806" y="531914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7DEDF51B-3D82-16E7-CF0C-A633D9F96735}"/>
                </a:ext>
              </a:extLst>
            </p:cNvPr>
            <p:cNvSpPr/>
            <p:nvPr/>
          </p:nvSpPr>
          <p:spPr>
            <a:xfrm>
              <a:off x="9478090" y="4943251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790825AA-07AD-8625-7AA8-7CBFBFBF65FF}"/>
                </a:ext>
              </a:extLst>
            </p:cNvPr>
            <p:cNvSpPr/>
            <p:nvPr/>
          </p:nvSpPr>
          <p:spPr>
            <a:xfrm>
              <a:off x="8222484" y="352720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BA23D07D-7B9A-8898-8C8C-52724A6EEE5A}"/>
                </a:ext>
              </a:extLst>
            </p:cNvPr>
            <p:cNvSpPr/>
            <p:nvPr/>
          </p:nvSpPr>
          <p:spPr>
            <a:xfrm>
              <a:off x="8333444" y="440131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08739212-1D8E-0579-A900-ED24888348AE}"/>
                </a:ext>
              </a:extLst>
            </p:cNvPr>
            <p:cNvSpPr/>
            <p:nvPr/>
          </p:nvSpPr>
          <p:spPr>
            <a:xfrm>
              <a:off x="8069718" y="4369976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A62C7537-B769-C13F-AED6-558BC2359B01}"/>
                </a:ext>
              </a:extLst>
            </p:cNvPr>
            <p:cNvSpPr/>
            <p:nvPr/>
          </p:nvSpPr>
          <p:spPr>
            <a:xfrm>
              <a:off x="10279950" y="4138039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93505B0A-A90F-DA8C-6F2A-F917C16524D3}"/>
                </a:ext>
              </a:extLst>
            </p:cNvPr>
            <p:cNvSpPr/>
            <p:nvPr/>
          </p:nvSpPr>
          <p:spPr>
            <a:xfrm>
              <a:off x="7260675" y="4151248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534CB8E5-06DA-840A-59BD-5EA6CB2E37C6}"/>
                </a:ext>
              </a:extLst>
            </p:cNvPr>
            <p:cNvSpPr/>
            <p:nvPr/>
          </p:nvSpPr>
          <p:spPr>
            <a:xfrm>
              <a:off x="7548165" y="3701395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BBE89338-0CB2-3639-AD41-C016EF51BCA6}"/>
                </a:ext>
              </a:extLst>
            </p:cNvPr>
            <p:cNvSpPr/>
            <p:nvPr/>
          </p:nvSpPr>
          <p:spPr>
            <a:xfrm>
              <a:off x="9922256" y="359709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A780F825-3A48-1631-4ABD-3446FD86A11B}"/>
                </a:ext>
              </a:extLst>
            </p:cNvPr>
            <p:cNvSpPr/>
            <p:nvPr/>
          </p:nvSpPr>
          <p:spPr>
            <a:xfrm>
              <a:off x="7414385" y="339818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9934ED27-647F-30DE-760F-75F3D4AA1B9C}"/>
                </a:ext>
              </a:extLst>
            </p:cNvPr>
            <p:cNvSpPr/>
            <p:nvPr/>
          </p:nvSpPr>
          <p:spPr>
            <a:xfrm>
              <a:off x="5761430" y="3728138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A61F6875-5F3F-9757-7EBC-30FF4ADFB582}"/>
                </a:ext>
              </a:extLst>
            </p:cNvPr>
            <p:cNvSpPr/>
            <p:nvPr/>
          </p:nvSpPr>
          <p:spPr>
            <a:xfrm>
              <a:off x="7284566" y="356936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135A5D74-C5B8-D9C1-0D28-6257D6D5D21B}"/>
                </a:ext>
              </a:extLst>
            </p:cNvPr>
            <p:cNvSpPr/>
            <p:nvPr/>
          </p:nvSpPr>
          <p:spPr>
            <a:xfrm>
              <a:off x="9494798" y="333742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CBB5E7C6-3031-F0F2-786F-4FD7C7A60265}"/>
                </a:ext>
              </a:extLst>
            </p:cNvPr>
            <p:cNvSpPr/>
            <p:nvPr/>
          </p:nvSpPr>
          <p:spPr>
            <a:xfrm>
              <a:off x="6605522" y="407601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2371BD26-D356-EC53-25FC-D1498D40D02F}"/>
                </a:ext>
              </a:extLst>
            </p:cNvPr>
            <p:cNvSpPr/>
            <p:nvPr/>
          </p:nvSpPr>
          <p:spPr>
            <a:xfrm>
              <a:off x="7465602" y="4377271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929A5830-8D93-4476-FD56-9A4E31D6E112}"/>
                </a:ext>
              </a:extLst>
            </p:cNvPr>
            <p:cNvSpPr/>
            <p:nvPr/>
          </p:nvSpPr>
          <p:spPr>
            <a:xfrm>
              <a:off x="7177996" y="5637908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5B167B9E-04A9-CDF7-ACFD-4BD1F2EBF2AF}"/>
                </a:ext>
              </a:extLst>
            </p:cNvPr>
            <p:cNvSpPr/>
            <p:nvPr/>
          </p:nvSpPr>
          <p:spPr>
            <a:xfrm>
              <a:off x="8743938" y="411999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5885C1F8-5549-4A13-E36E-F817741BC700}"/>
                </a:ext>
              </a:extLst>
            </p:cNvPr>
            <p:cNvSpPr/>
            <p:nvPr/>
          </p:nvSpPr>
          <p:spPr>
            <a:xfrm>
              <a:off x="7812017" y="3644229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7B5C133E-6230-1852-97EE-B4404470C985}"/>
                </a:ext>
              </a:extLst>
            </p:cNvPr>
            <p:cNvSpPr/>
            <p:nvPr/>
          </p:nvSpPr>
          <p:spPr>
            <a:xfrm>
              <a:off x="6023920" y="3371347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19EC0A01-70CF-E9BA-7E8F-D0B81DB72D2D}"/>
                </a:ext>
              </a:extLst>
            </p:cNvPr>
            <p:cNvSpPr/>
            <p:nvPr/>
          </p:nvSpPr>
          <p:spPr>
            <a:xfrm>
              <a:off x="5611396" y="397296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5A1DDFC9-FFEF-419F-E3DC-3EAB4B71A585}"/>
                </a:ext>
              </a:extLst>
            </p:cNvPr>
            <p:cNvSpPr/>
            <p:nvPr/>
          </p:nvSpPr>
          <p:spPr>
            <a:xfrm>
              <a:off x="9219136" y="4116533"/>
              <a:ext cx="305533" cy="1076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9" name="Picture 6" descr="Gaussian filter, or Gaussian blur — Librow — Digital LCD dashboards for  cars and boats">
              <a:extLst>
                <a:ext uri="{FF2B5EF4-FFF2-40B4-BE49-F238E27FC236}">
                  <a16:creationId xmlns:a16="http://schemas.microsoft.com/office/drawing/2014/main" id="{B9A98576-0E3E-EF6F-36A4-D61E56A0E3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45059" y="826237"/>
              <a:ext cx="4902845" cy="28315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0" name="Picture 6" descr="Gaussian filter, or Gaussian blur — Librow — Digital LCD dashboards for  cars and boats">
              <a:extLst>
                <a:ext uri="{FF2B5EF4-FFF2-40B4-BE49-F238E27FC236}">
                  <a16:creationId xmlns:a16="http://schemas.microsoft.com/office/drawing/2014/main" id="{D9E9B4A4-0A5E-264E-F55B-05FBE4FACB6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90414" y="1966841"/>
              <a:ext cx="4571764" cy="28315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5" name="Picture 104">
            <a:extLst>
              <a:ext uri="{FF2B5EF4-FFF2-40B4-BE49-F238E27FC236}">
                <a16:creationId xmlns:a16="http://schemas.microsoft.com/office/drawing/2014/main" id="{4F564266-72C7-F007-DBD7-1B09F2C9AE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3698" y="1314300"/>
            <a:ext cx="5616286" cy="343270"/>
          </a:xfrm>
          <a:prstGeom prst="rect">
            <a:avLst/>
          </a:prstGeom>
        </p:spPr>
      </p:pic>
      <p:grpSp>
        <p:nvGrpSpPr>
          <p:cNvPr id="86" name="Group 85">
            <a:extLst>
              <a:ext uri="{FF2B5EF4-FFF2-40B4-BE49-F238E27FC236}">
                <a16:creationId xmlns:a16="http://schemas.microsoft.com/office/drawing/2014/main" id="{9F607413-633F-59CD-298D-8D50BF6EFA2E}"/>
              </a:ext>
            </a:extLst>
          </p:cNvPr>
          <p:cNvGrpSpPr/>
          <p:nvPr/>
        </p:nvGrpSpPr>
        <p:grpSpPr>
          <a:xfrm>
            <a:off x="5413972" y="1694658"/>
            <a:ext cx="561315" cy="154612"/>
            <a:chOff x="5404919" y="1683241"/>
            <a:chExt cx="561315" cy="154612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051F1D48-928F-627B-3AD8-2FFA6348FE00}"/>
                </a:ext>
              </a:extLst>
            </p:cNvPr>
            <p:cNvCxnSpPr/>
            <p:nvPr/>
          </p:nvCxnSpPr>
          <p:spPr>
            <a:xfrm>
              <a:off x="5522614" y="1692296"/>
              <a:ext cx="44362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2BDF4AE-EEDE-2E16-0D70-DE0C8EE0DF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04919" y="1683241"/>
              <a:ext cx="117695" cy="154612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B4BC9971-4D59-466D-1252-0D8A4D559DDC}"/>
              </a:ext>
            </a:extLst>
          </p:cNvPr>
          <p:cNvGrpSpPr/>
          <p:nvPr/>
        </p:nvGrpSpPr>
        <p:grpSpPr>
          <a:xfrm>
            <a:off x="6224957" y="1700174"/>
            <a:ext cx="2254412" cy="141327"/>
            <a:chOff x="5522614" y="1692296"/>
            <a:chExt cx="521966" cy="231853"/>
          </a:xfrm>
        </p:grpSpPr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B9CEEB4A-67C8-2F7C-3840-003E411863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22614" y="1692296"/>
              <a:ext cx="494688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1AF7FB78-2F1A-B8C6-A1AA-336643441D3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17302" y="1708058"/>
              <a:ext cx="27278" cy="216091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40998E91-FC6E-B382-C4A4-9FBAAD561189}"/>
              </a:ext>
            </a:extLst>
          </p:cNvPr>
          <p:cNvSpPr txBox="1"/>
          <p:nvPr/>
        </p:nvSpPr>
        <p:spPr>
          <a:xfrm>
            <a:off x="7619454" y="1837222"/>
            <a:ext cx="1584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Arial Rounded MT Bold" panose="020F0704030504030204" pitchFamily="34" charset="77"/>
                <a:sym typeface="Wingdings" pitchFamily="2" charset="2"/>
              </a:rPr>
              <a:t>Likelihood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77"/>
            </a:endParaRPr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59FD70BC-7B79-4DF3-32B4-04B0F6D4D507}"/>
              </a:ext>
            </a:extLst>
          </p:cNvPr>
          <p:cNvGrpSpPr/>
          <p:nvPr/>
        </p:nvGrpSpPr>
        <p:grpSpPr>
          <a:xfrm>
            <a:off x="3170892" y="1783381"/>
            <a:ext cx="2285663" cy="369332"/>
            <a:chOff x="3161839" y="1771964"/>
            <a:chExt cx="2285663" cy="369332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8E13E72-0BA5-8285-35BE-AF8CD895EF5E}"/>
                </a:ext>
              </a:extLst>
            </p:cNvPr>
            <p:cNvSpPr txBox="1"/>
            <p:nvPr/>
          </p:nvSpPr>
          <p:spPr>
            <a:xfrm>
              <a:off x="3161839" y="1771964"/>
              <a:ext cx="12411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rgbClr val="FF0000"/>
                  </a:solidFill>
                  <a:latin typeface="Arial Rounded MT Bold" panose="020F0704030504030204" pitchFamily="34" charset="77"/>
                  <a:sym typeface="Wingdings" pitchFamily="2" charset="2"/>
                </a:rPr>
                <a:t>Posterior</a:t>
              </a:r>
              <a:r>
                <a:rPr lang="zh-TW" altLang="en-US" dirty="0">
                  <a:latin typeface="Arial Rounded MT Bold" panose="020F0704030504030204" pitchFamily="34" charset="77"/>
                  <a:sym typeface="Wingdings" pitchFamily="2" charset="2"/>
                </a:rPr>
                <a:t> </a:t>
              </a:r>
              <a:endParaRPr lang="en-US" dirty="0">
                <a:latin typeface="Arial Rounded MT Bold" panose="020F0704030504030204" pitchFamily="34" charset="77"/>
              </a:endParaRPr>
            </a:p>
          </p:txBody>
        </p:sp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C53AD737-D5EA-79A6-07A3-3430F5C7989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03003" y="1831390"/>
              <a:ext cx="1044499" cy="250479"/>
            </a:xfrm>
            <a:prstGeom prst="rect">
              <a:avLst/>
            </a:prstGeom>
          </p:spPr>
        </p:pic>
      </p:grpSp>
      <p:sp>
        <p:nvSpPr>
          <p:cNvPr id="119" name="TextBox 118">
            <a:extLst>
              <a:ext uri="{FF2B5EF4-FFF2-40B4-BE49-F238E27FC236}">
                <a16:creationId xmlns:a16="http://schemas.microsoft.com/office/drawing/2014/main" id="{903061EC-CA46-BB0D-46B4-40B26522FE59}"/>
              </a:ext>
            </a:extLst>
          </p:cNvPr>
          <p:cNvSpPr txBox="1"/>
          <p:nvPr/>
        </p:nvSpPr>
        <p:spPr>
          <a:xfrm>
            <a:off x="1276071" y="2432738"/>
            <a:ext cx="5919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Can we</a:t>
            </a:r>
            <a:r>
              <a:rPr lang="zh-TW" altLang="en-US" dirty="0">
                <a:latin typeface="Arial Rounded MT Bold" panose="020F0704030504030204" pitchFamily="34" charset="77"/>
                <a:sym typeface="Wingdings" pitchFamily="2" charset="2"/>
              </a:rPr>
              <a:t> </a:t>
            </a:r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estimate </a:t>
            </a:r>
            <a:r>
              <a:rPr lang="en-US" altLang="zh-TW" dirty="0">
                <a:solidFill>
                  <a:srgbClr val="FF0000"/>
                </a:solidFill>
                <a:latin typeface="Arial Rounded MT Bold" panose="020F0704030504030204" pitchFamily="34" charset="77"/>
                <a:sym typeface="Wingdings" pitchFamily="2" charset="2"/>
              </a:rPr>
              <a:t>Posterior</a:t>
            </a:r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 and </a:t>
            </a:r>
            <a:r>
              <a:rPr lang="en-US" altLang="zh-TW" dirty="0">
                <a:solidFill>
                  <a:srgbClr val="FF0000"/>
                </a:solidFill>
                <a:latin typeface="Arial Rounded MT Bold" panose="020F0704030504030204" pitchFamily="34" charset="77"/>
                <a:sym typeface="Wingdings" pitchFamily="2" charset="2"/>
              </a:rPr>
              <a:t>Likelihood</a:t>
            </a:r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 with NN? 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37C17691-EA0E-DEF0-E6BF-661C370AB74B}"/>
              </a:ext>
            </a:extLst>
          </p:cNvPr>
          <p:cNvCxnSpPr>
            <a:cxnSpLocks/>
          </p:cNvCxnSpPr>
          <p:nvPr/>
        </p:nvCxnSpPr>
        <p:spPr>
          <a:xfrm>
            <a:off x="274068" y="3597965"/>
            <a:ext cx="1059914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AAB04DBC-46A5-06B2-18BD-204490272C32}"/>
              </a:ext>
            </a:extLst>
          </p:cNvPr>
          <p:cNvCxnSpPr>
            <a:cxnSpLocks/>
          </p:cNvCxnSpPr>
          <p:nvPr/>
        </p:nvCxnSpPr>
        <p:spPr>
          <a:xfrm flipV="1">
            <a:off x="2843330" y="3193774"/>
            <a:ext cx="0" cy="2680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DCBF6CDE-A5BC-2A72-DDC6-554F3164DE0C}"/>
              </a:ext>
            </a:extLst>
          </p:cNvPr>
          <p:cNvSpPr txBox="1"/>
          <p:nvPr/>
        </p:nvSpPr>
        <p:spPr>
          <a:xfrm>
            <a:off x="797590" y="3718601"/>
            <a:ext cx="1241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Arial Rounded MT Bold" panose="020F0704030504030204" pitchFamily="34" charset="77"/>
                <a:sym typeface="Wingdings" pitchFamily="2" charset="2"/>
              </a:rPr>
              <a:t>Posterior</a:t>
            </a:r>
            <a:r>
              <a:rPr lang="zh-TW" altLang="en-US" dirty="0">
                <a:latin typeface="Arial Rounded MT Bold" panose="020F0704030504030204" pitchFamily="34" charset="77"/>
                <a:sym typeface="Wingdings" pitchFamily="2" charset="2"/>
              </a:rPr>
              <a:t> 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24275539-9995-5189-1E04-0F883BD6A744}"/>
              </a:ext>
            </a:extLst>
          </p:cNvPr>
          <p:cNvSpPr txBox="1"/>
          <p:nvPr/>
        </p:nvSpPr>
        <p:spPr>
          <a:xfrm>
            <a:off x="766232" y="5090787"/>
            <a:ext cx="1584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Arial Rounded MT Bold" panose="020F0704030504030204" pitchFamily="34" charset="77"/>
                <a:sym typeface="Wingdings" pitchFamily="2" charset="2"/>
              </a:rPr>
              <a:t>Likelihood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77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AD2DBAF8-9DAC-7769-D4DB-266FF80BB8F8}"/>
              </a:ext>
            </a:extLst>
          </p:cNvPr>
          <p:cNvSpPr txBox="1"/>
          <p:nvPr/>
        </p:nvSpPr>
        <p:spPr>
          <a:xfrm>
            <a:off x="9352835" y="3137385"/>
            <a:ext cx="80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VAE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3AB4866C-A9AB-F1DB-A99F-AF34550BB863}"/>
              </a:ext>
            </a:extLst>
          </p:cNvPr>
          <p:cNvCxnSpPr>
            <a:cxnSpLocks/>
          </p:cNvCxnSpPr>
          <p:nvPr/>
        </p:nvCxnSpPr>
        <p:spPr>
          <a:xfrm flipV="1">
            <a:off x="8273609" y="3192641"/>
            <a:ext cx="0" cy="2680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0" name="Picture 149">
            <a:extLst>
              <a:ext uri="{FF2B5EF4-FFF2-40B4-BE49-F238E27FC236}">
                <a16:creationId xmlns:a16="http://schemas.microsoft.com/office/drawing/2014/main" id="{EBCE2E8C-CA28-EC43-E6C5-DD83CCAFFD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4808" y="4139654"/>
            <a:ext cx="1334924" cy="369328"/>
          </a:xfrm>
          <a:prstGeom prst="rect">
            <a:avLst/>
          </a:prstGeom>
        </p:spPr>
      </p:pic>
      <p:pic>
        <p:nvPicPr>
          <p:cNvPr id="154" name="Picture 153">
            <a:extLst>
              <a:ext uri="{FF2B5EF4-FFF2-40B4-BE49-F238E27FC236}">
                <a16:creationId xmlns:a16="http://schemas.microsoft.com/office/drawing/2014/main" id="{F45B5CC3-924C-F07A-CE63-45D52F6EAF7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6385" y="4021413"/>
            <a:ext cx="1372755" cy="420977"/>
          </a:xfrm>
          <a:prstGeom prst="rect">
            <a:avLst/>
          </a:prstGeom>
        </p:spPr>
      </p:pic>
      <p:pic>
        <p:nvPicPr>
          <p:cNvPr id="165" name="Picture 164">
            <a:extLst>
              <a:ext uri="{FF2B5EF4-FFF2-40B4-BE49-F238E27FC236}">
                <a16:creationId xmlns:a16="http://schemas.microsoft.com/office/drawing/2014/main" id="{ADD147B3-5767-3B43-3267-9736DC2D0A7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503" y="5491891"/>
            <a:ext cx="1334905" cy="369323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A3AF1BE0-0DAE-ED59-E20F-16DDD37260C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78339" y="5333284"/>
            <a:ext cx="2861824" cy="3432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17051A9-B4A0-4F51-FA6A-92DACFC98DBB}"/>
              </a:ext>
            </a:extLst>
          </p:cNvPr>
          <p:cNvSpPr txBox="1"/>
          <p:nvPr/>
        </p:nvSpPr>
        <p:spPr>
          <a:xfrm>
            <a:off x="5272434" y="3149895"/>
            <a:ext cx="80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Arial Rounded MT Bold" panose="020F0704030504030204" pitchFamily="34" charset="77"/>
                <a:sym typeface="Wingdings" pitchFamily="2" charset="2"/>
              </a:rPr>
              <a:t>EM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4F8E83-07A8-22CC-D0DD-E16781FE134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66106" y="4062283"/>
            <a:ext cx="4655115" cy="792283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881511E2-9AC7-8CEF-88AB-7DCD5E5E4CB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56802" y="5552307"/>
            <a:ext cx="5003335" cy="436206"/>
          </a:xfrm>
          <a:prstGeom prst="rect">
            <a:avLst/>
          </a:prstGeom>
        </p:spPr>
      </p:pic>
      <p:sp>
        <p:nvSpPr>
          <p:cNvPr id="101" name="TextBox 100">
            <a:extLst>
              <a:ext uri="{FF2B5EF4-FFF2-40B4-BE49-F238E27FC236}">
                <a16:creationId xmlns:a16="http://schemas.microsoft.com/office/drawing/2014/main" id="{60A6A724-56E1-A6E6-B2D8-AF7465662A90}"/>
              </a:ext>
            </a:extLst>
          </p:cNvPr>
          <p:cNvSpPr txBox="1"/>
          <p:nvPr/>
        </p:nvSpPr>
        <p:spPr>
          <a:xfrm>
            <a:off x="5137763" y="3692951"/>
            <a:ext cx="937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Arial Rounded MT Bold" panose="020F0704030504030204" pitchFamily="34" charset="77"/>
                <a:sym typeface="Wingdings" pitchFamily="2" charset="2"/>
              </a:rPr>
              <a:t>Bayes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EFD42824-707C-4719-0FBC-9794333D6CAB}"/>
              </a:ext>
            </a:extLst>
          </p:cNvPr>
          <p:cNvSpPr txBox="1"/>
          <p:nvPr/>
        </p:nvSpPr>
        <p:spPr>
          <a:xfrm>
            <a:off x="5272434" y="5090701"/>
            <a:ext cx="701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Arial Rounded MT Bold" panose="020F0704030504030204" pitchFamily="34" charset="77"/>
                <a:sym typeface="Wingdings" pitchFamily="2" charset="2"/>
              </a:rPr>
              <a:t>MLE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3386510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20089-8901-E5C4-07E7-C0D5C1E10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1F145C-0DBB-5196-0CC2-A0791BFE61D8}"/>
              </a:ext>
            </a:extLst>
          </p:cNvPr>
          <p:cNvSpPr txBox="1"/>
          <p:nvPr/>
        </p:nvSpPr>
        <p:spPr>
          <a:xfrm>
            <a:off x="276410" y="260293"/>
            <a:ext cx="2706038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VAE – Network on EM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8B22B3-86BB-58F6-681F-AFC3DBE5B762}"/>
              </a:ext>
            </a:extLst>
          </p:cNvPr>
          <p:cNvSpPr txBox="1"/>
          <p:nvPr/>
        </p:nvSpPr>
        <p:spPr>
          <a:xfrm>
            <a:off x="1224935" y="787101"/>
            <a:ext cx="3352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EM + NN (equation)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3" name="Graphic 2" descr="Magnifying glass with solid fill">
            <a:extLst>
              <a:ext uri="{FF2B5EF4-FFF2-40B4-BE49-F238E27FC236}">
                <a16:creationId xmlns:a16="http://schemas.microsoft.com/office/drawing/2014/main" id="{05F2E5BC-C973-D607-F6B8-2679E02DC6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7260" y="787101"/>
            <a:ext cx="475673" cy="4756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B67D0A9-126C-B3F5-544B-7A069BC0625C}"/>
              </a:ext>
            </a:extLst>
          </p:cNvPr>
          <p:cNvSpPr txBox="1"/>
          <p:nvPr/>
        </p:nvSpPr>
        <p:spPr>
          <a:xfrm>
            <a:off x="737310" y="1464942"/>
            <a:ext cx="3164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To maximize the likelihood 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0D1F6E2-19FB-2164-80CD-BEB9D481CC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069075"/>
            <a:ext cx="77869" cy="3801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6FCEAC3-F946-A3D7-6ADD-56C16F7B0A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4089" y="2227090"/>
            <a:ext cx="238484" cy="10279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8997361-9C5B-C119-D4A7-CB4E923F91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8959" y="2036442"/>
            <a:ext cx="2001823" cy="46231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6168519-BF66-4FE8-FB1B-69C9F76FFD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1716" y="2077482"/>
            <a:ext cx="77869" cy="38018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F06ECA0-3BD5-F63F-E486-94BD136D08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3423" y="2039519"/>
            <a:ext cx="2001823" cy="46231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0FCF3D9-29D6-897C-6A5A-D8A450A5D5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5538" y="2122588"/>
            <a:ext cx="1386838" cy="30695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0E957C1-9E06-CC00-B21A-C2D92E68E01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7652" y="2087274"/>
            <a:ext cx="1217498" cy="35707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48AE5CC-DF13-51BB-ECEC-1BED60C0CE5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34055" y="1916317"/>
            <a:ext cx="1397972" cy="698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6034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D934E-07BB-3309-F75D-77054ED48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E378B3A-AA61-9D31-1F01-4D45E9FC16D0}"/>
              </a:ext>
            </a:extLst>
          </p:cNvPr>
          <p:cNvSpPr txBox="1"/>
          <p:nvPr/>
        </p:nvSpPr>
        <p:spPr>
          <a:xfrm>
            <a:off x="276410" y="260293"/>
            <a:ext cx="2706038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VAE – Network on EM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A5FC5D-0B75-92EB-F4E2-84B31674B2E6}"/>
              </a:ext>
            </a:extLst>
          </p:cNvPr>
          <p:cNvSpPr txBox="1"/>
          <p:nvPr/>
        </p:nvSpPr>
        <p:spPr>
          <a:xfrm>
            <a:off x="1224935" y="787101"/>
            <a:ext cx="3352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EM + NN (equation)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3" name="Graphic 2" descr="Magnifying glass with solid fill">
            <a:extLst>
              <a:ext uri="{FF2B5EF4-FFF2-40B4-BE49-F238E27FC236}">
                <a16:creationId xmlns:a16="http://schemas.microsoft.com/office/drawing/2014/main" id="{896492AE-A125-C050-847A-17B0819535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7260" y="787101"/>
            <a:ext cx="475673" cy="4756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8E37CF-77CA-DE8F-CF4B-CEB764995383}"/>
              </a:ext>
            </a:extLst>
          </p:cNvPr>
          <p:cNvSpPr txBox="1"/>
          <p:nvPr/>
        </p:nvSpPr>
        <p:spPr>
          <a:xfrm>
            <a:off x="737310" y="1464942"/>
            <a:ext cx="3164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To maximize the likelihood 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2AC09C-EC0C-D8C7-DE9A-4E00397289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069075"/>
            <a:ext cx="77869" cy="3801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90CC020-A4C5-0370-F146-761F617311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4089" y="2227090"/>
            <a:ext cx="238484" cy="10279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A036B1D-6E69-93EB-2ACB-2A4FB81057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8959" y="2036442"/>
            <a:ext cx="2001823" cy="46231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2761C6A-BC59-79DF-0332-1E04F4389C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1716" y="2077482"/>
            <a:ext cx="77869" cy="38018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0354574-6E34-F59B-9C8A-4834EC7C5D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3423" y="2039519"/>
            <a:ext cx="2001823" cy="46231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8AFDF9F-4959-58BA-D505-C52FEF68D5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2095" y="2929535"/>
            <a:ext cx="238484" cy="10279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2A0BFF8-D804-9C53-307E-525A9B4BC5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1220" y="2839136"/>
            <a:ext cx="77869" cy="38018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FF85B8E-3C43-92E6-8770-4B58AE724B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8959" y="2801173"/>
            <a:ext cx="2001823" cy="46231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1AE6588-3F4B-22EE-36D8-44285DEACE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5538" y="2122588"/>
            <a:ext cx="1386838" cy="30695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6A2B97B-D510-31A8-7678-BA91136A81E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7652" y="2087274"/>
            <a:ext cx="1217498" cy="35707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D89A8F4-69F6-A66C-3F3D-943F64BC482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34055" y="1916317"/>
            <a:ext cx="1397972" cy="69898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C99EE10-9C42-523F-3501-FFCF350A8D3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7652" y="2689392"/>
            <a:ext cx="2621197" cy="698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6216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4BED6-67AD-B489-EDAB-CE4CED0C2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B913973-25A2-0272-1E41-0EDA3CDFAEBC}"/>
              </a:ext>
            </a:extLst>
          </p:cNvPr>
          <p:cNvSpPr txBox="1"/>
          <p:nvPr/>
        </p:nvSpPr>
        <p:spPr>
          <a:xfrm>
            <a:off x="276410" y="260293"/>
            <a:ext cx="2706038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VAE – Network on EM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55B5B0-A559-8CEF-C12E-D237733505A7}"/>
              </a:ext>
            </a:extLst>
          </p:cNvPr>
          <p:cNvSpPr txBox="1"/>
          <p:nvPr/>
        </p:nvSpPr>
        <p:spPr>
          <a:xfrm>
            <a:off x="1224935" y="787101"/>
            <a:ext cx="3352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EM + NN (equation)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3" name="Graphic 2" descr="Magnifying glass with solid fill">
            <a:extLst>
              <a:ext uri="{FF2B5EF4-FFF2-40B4-BE49-F238E27FC236}">
                <a16:creationId xmlns:a16="http://schemas.microsoft.com/office/drawing/2014/main" id="{8ED12DBD-2165-CE39-6AD3-12DF0ED2E3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7260" y="787101"/>
            <a:ext cx="475673" cy="4756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269FC58-C9CE-95C6-5F1E-0A443DF71179}"/>
              </a:ext>
            </a:extLst>
          </p:cNvPr>
          <p:cNvSpPr txBox="1"/>
          <p:nvPr/>
        </p:nvSpPr>
        <p:spPr>
          <a:xfrm>
            <a:off x="737310" y="1464942"/>
            <a:ext cx="3164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To maximize the likelihood 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DBE4C0F6-B77F-AA2C-49C5-6240E9E75A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069075"/>
            <a:ext cx="77869" cy="380185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96E1328E-4867-903A-A0AD-E31B9CE21A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4089" y="2227090"/>
            <a:ext cx="238484" cy="102795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6272353B-2243-14E4-554C-8DE6914AFD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8959" y="2036442"/>
            <a:ext cx="2001823" cy="462314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184BB524-2CD9-53F8-9DF2-7311D53A4E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1716" y="2077482"/>
            <a:ext cx="77869" cy="380185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1255289A-91F6-13FB-CF01-F843EED986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3423" y="2039519"/>
            <a:ext cx="2001823" cy="462314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BD0887DC-6868-E950-60C0-05A073E373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2095" y="2929535"/>
            <a:ext cx="238484" cy="102795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3EBAEE4D-2AAE-9EE1-D122-614A03C905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1220" y="2839136"/>
            <a:ext cx="77869" cy="380185"/>
          </a:xfrm>
          <a:prstGeom prst="rect">
            <a:avLst/>
          </a:prstGeom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66E5E177-5D9A-A493-7C90-0E0B3FC4E0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8959" y="2801173"/>
            <a:ext cx="2001823" cy="462314"/>
          </a:xfrm>
          <a:prstGeom prst="rect">
            <a:avLst/>
          </a:prstGeom>
        </p:spPr>
      </p:pic>
      <p:pic>
        <p:nvPicPr>
          <p:cNvPr id="112" name="Picture 111">
            <a:extLst>
              <a:ext uri="{FF2B5EF4-FFF2-40B4-BE49-F238E27FC236}">
                <a16:creationId xmlns:a16="http://schemas.microsoft.com/office/drawing/2014/main" id="{44BE6D0E-46B6-DDBF-1999-7D055281EB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2095" y="3685800"/>
            <a:ext cx="238484" cy="102795"/>
          </a:xfrm>
          <a:prstGeom prst="rect">
            <a:avLst/>
          </a:prstGeom>
        </p:spPr>
      </p:pic>
      <p:pic>
        <p:nvPicPr>
          <p:cNvPr id="115" name="Picture 114">
            <a:extLst>
              <a:ext uri="{FF2B5EF4-FFF2-40B4-BE49-F238E27FC236}">
                <a16:creationId xmlns:a16="http://schemas.microsoft.com/office/drawing/2014/main" id="{C4CE7E4A-F6F5-518B-D82F-A5F33DEB2B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7434" y="3595401"/>
            <a:ext cx="77869" cy="380185"/>
          </a:xfrm>
          <a:prstGeom prst="rect">
            <a:avLst/>
          </a:prstGeom>
        </p:spPr>
      </p:pic>
      <p:pic>
        <p:nvPicPr>
          <p:cNvPr id="116" name="Picture 115">
            <a:extLst>
              <a:ext uri="{FF2B5EF4-FFF2-40B4-BE49-F238E27FC236}">
                <a16:creationId xmlns:a16="http://schemas.microsoft.com/office/drawing/2014/main" id="{13295605-21B9-A559-43F8-9A39A7F7D9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8959" y="3557438"/>
            <a:ext cx="2001823" cy="462314"/>
          </a:xfrm>
          <a:prstGeom prst="rect">
            <a:avLst/>
          </a:prstGeom>
        </p:spPr>
      </p:pic>
      <p:pic>
        <p:nvPicPr>
          <p:cNvPr id="119" name="Picture 118">
            <a:extLst>
              <a:ext uri="{FF2B5EF4-FFF2-40B4-BE49-F238E27FC236}">
                <a16:creationId xmlns:a16="http://schemas.microsoft.com/office/drawing/2014/main" id="{492CA039-98F4-0A14-BB57-CFC9358432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5742" y="3595401"/>
            <a:ext cx="77869" cy="380185"/>
          </a:xfrm>
          <a:prstGeom prst="rect">
            <a:avLst/>
          </a:prstGeom>
        </p:spPr>
      </p:pic>
      <p:pic>
        <p:nvPicPr>
          <p:cNvPr id="120" name="Picture 119">
            <a:extLst>
              <a:ext uri="{FF2B5EF4-FFF2-40B4-BE49-F238E27FC236}">
                <a16:creationId xmlns:a16="http://schemas.microsoft.com/office/drawing/2014/main" id="{4AEF2BC5-D082-945A-5C2F-44F019BED0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7267" y="3557438"/>
            <a:ext cx="2001823" cy="4623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3ACB7D1-0C5F-FD52-BBB7-9ACB4E2B01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5538" y="2122588"/>
            <a:ext cx="1386838" cy="30695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6F2EAA6-4CEF-5B58-E282-A931D890B3B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7652" y="2087274"/>
            <a:ext cx="1217498" cy="3570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765F3F6-B09D-FA0B-E493-5554BBFD59A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34055" y="1916317"/>
            <a:ext cx="1397972" cy="69898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1BFA25A-3609-2878-EBCC-28736EC3DC9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7652" y="2689392"/>
            <a:ext cx="2621197" cy="69898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4DD2F3D-5904-33B0-7E81-61864BF7118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61729" y="3455492"/>
            <a:ext cx="1544758" cy="72694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6A63CAF-2938-D3D2-0576-46C23748C9C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54181" y="3685800"/>
            <a:ext cx="238484" cy="23848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D4F2D57-730C-329A-E638-523DB5DE723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18784" y="3483452"/>
            <a:ext cx="1485345" cy="698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9523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29AC9-01AB-193B-DE17-485412296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6B4392-5925-FAD5-FBEF-25EC7421B7AC}"/>
              </a:ext>
            </a:extLst>
          </p:cNvPr>
          <p:cNvSpPr txBox="1"/>
          <p:nvPr/>
        </p:nvSpPr>
        <p:spPr>
          <a:xfrm>
            <a:off x="276410" y="260293"/>
            <a:ext cx="2706038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VAE – Network on EM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A1A215-EAB0-6C9F-EDCE-4A8F1D09E80C}"/>
              </a:ext>
            </a:extLst>
          </p:cNvPr>
          <p:cNvSpPr txBox="1"/>
          <p:nvPr/>
        </p:nvSpPr>
        <p:spPr>
          <a:xfrm>
            <a:off x="1224935" y="787101"/>
            <a:ext cx="3352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EM + NN (equation)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3" name="Graphic 2" descr="Magnifying glass with solid fill">
            <a:extLst>
              <a:ext uri="{FF2B5EF4-FFF2-40B4-BE49-F238E27FC236}">
                <a16:creationId xmlns:a16="http://schemas.microsoft.com/office/drawing/2014/main" id="{7C067E75-1212-AFC8-25F4-408838F68A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7260" y="787101"/>
            <a:ext cx="475673" cy="4756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C64114B-F7C4-5471-9DA3-B39FB14604F9}"/>
              </a:ext>
            </a:extLst>
          </p:cNvPr>
          <p:cNvSpPr txBox="1"/>
          <p:nvPr/>
        </p:nvSpPr>
        <p:spPr>
          <a:xfrm>
            <a:off x="737310" y="1464942"/>
            <a:ext cx="3164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To maximize the likelihood 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FCD0A3F-68E3-CE76-AA56-BFB5A20B0257}"/>
              </a:ext>
            </a:extLst>
          </p:cNvPr>
          <p:cNvGrpSpPr/>
          <p:nvPr/>
        </p:nvGrpSpPr>
        <p:grpSpPr>
          <a:xfrm>
            <a:off x="3907336" y="4289746"/>
            <a:ext cx="2645237" cy="154612"/>
            <a:chOff x="5404919" y="1683241"/>
            <a:chExt cx="2645237" cy="154612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9B58D22-96CD-0B81-27D2-5929FDBD3582}"/>
                </a:ext>
              </a:extLst>
            </p:cNvPr>
            <p:cNvCxnSpPr>
              <a:cxnSpLocks/>
            </p:cNvCxnSpPr>
            <p:nvPr/>
          </p:nvCxnSpPr>
          <p:spPr>
            <a:xfrm>
              <a:off x="5522614" y="1692296"/>
              <a:ext cx="2527542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FBF41F5-671D-EBD6-6466-95F124C0ED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04919" y="1683241"/>
              <a:ext cx="117695" cy="154612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748F87EE-3506-903F-DC21-27A90E1DC116}"/>
              </a:ext>
            </a:extLst>
          </p:cNvPr>
          <p:cNvSpPr txBox="1"/>
          <p:nvPr/>
        </p:nvSpPr>
        <p:spPr>
          <a:xfrm>
            <a:off x="379378" y="4577851"/>
            <a:ext cx="44624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solidFill>
                  <a:srgbClr val="FF0000"/>
                </a:solidFill>
                <a:latin typeface="Arial Rounded MT Bold" panose="020F0704030504030204" pitchFamily="34" charset="77"/>
                <a:sym typeface="Wingdings" pitchFamily="2" charset="2"/>
              </a:rPr>
              <a:t>Evidence Lower </a:t>
            </a:r>
            <a:r>
              <a:rPr lang="en-US" altLang="zh-TW" sz="2000" dirty="0" err="1">
                <a:solidFill>
                  <a:srgbClr val="FF0000"/>
                </a:solidFill>
                <a:latin typeface="Arial Rounded MT Bold" panose="020F0704030504030204" pitchFamily="34" charset="77"/>
                <a:sym typeface="Wingdings" pitchFamily="2" charset="2"/>
              </a:rPr>
              <a:t>BOund</a:t>
            </a:r>
            <a:r>
              <a:rPr lang="en-US" altLang="zh-TW" sz="2000" dirty="0">
                <a:solidFill>
                  <a:srgbClr val="FF0000"/>
                </a:solidFill>
                <a:latin typeface="Arial Rounded MT Bold" panose="020F0704030504030204" pitchFamily="34" charset="77"/>
                <a:sym typeface="Wingdings" pitchFamily="2" charset="2"/>
              </a:rPr>
              <a:t> (ELBO)</a:t>
            </a:r>
            <a:endParaRPr lang="en-US" sz="2000" dirty="0">
              <a:latin typeface="Arial Rounded MT Bold" panose="020F0704030504030204" pitchFamily="34" charset="77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32210DD-8515-4914-6239-C300076230BD}"/>
              </a:ext>
            </a:extLst>
          </p:cNvPr>
          <p:cNvGrpSpPr/>
          <p:nvPr/>
        </p:nvGrpSpPr>
        <p:grpSpPr>
          <a:xfrm>
            <a:off x="7754348" y="4305755"/>
            <a:ext cx="2645237" cy="154612"/>
            <a:chOff x="5404919" y="1683241"/>
            <a:chExt cx="2645237" cy="154612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4EFC592-EC04-C9D4-1A7D-7923EDC6E75D}"/>
                </a:ext>
              </a:extLst>
            </p:cNvPr>
            <p:cNvCxnSpPr>
              <a:cxnSpLocks/>
            </p:cNvCxnSpPr>
            <p:nvPr/>
          </p:nvCxnSpPr>
          <p:spPr>
            <a:xfrm>
              <a:off x="5522614" y="1692296"/>
              <a:ext cx="2527542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1D2B8C4D-FA47-FE1B-167D-EFDB101290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04919" y="1683241"/>
              <a:ext cx="117695" cy="154612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8" name="Picture 37">
            <a:extLst>
              <a:ext uri="{FF2B5EF4-FFF2-40B4-BE49-F238E27FC236}">
                <a16:creationId xmlns:a16="http://schemas.microsoft.com/office/drawing/2014/main" id="{BCA583BC-1C50-F86D-5735-63519EE9EA2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064712" y="4643502"/>
            <a:ext cx="3221068" cy="332217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753C064B-D627-CEA8-F417-433C3F0F7948}"/>
              </a:ext>
            </a:extLst>
          </p:cNvPr>
          <p:cNvSpPr txBox="1"/>
          <p:nvPr/>
        </p:nvSpPr>
        <p:spPr>
          <a:xfrm>
            <a:off x="6333747" y="5173466"/>
            <a:ext cx="3784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Intractable since we don’t know 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BEDB7B71-30FE-2781-5741-D104EF07AA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7473" y="5189475"/>
            <a:ext cx="1048037" cy="2824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6D9E5BA-B44B-024F-0E55-BC4CB17140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2069075"/>
            <a:ext cx="77869" cy="3801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1177C38-B47A-0C30-752F-01EF3406E0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4089" y="2227090"/>
            <a:ext cx="238484" cy="10279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E9289A0-CBF9-99E9-9BD6-C53F7DA0ECE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58959" y="2036442"/>
            <a:ext cx="2001823" cy="46231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10FF376-6F01-730D-9DF1-9F5A49E68B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21716" y="2077482"/>
            <a:ext cx="77869" cy="38018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0133DFE-AE89-C007-07AB-0C4822618DF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3423" y="2039519"/>
            <a:ext cx="2001823" cy="46231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E75D65B-1985-FBBA-9858-D1501272A9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72095" y="2929535"/>
            <a:ext cx="238484" cy="10279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832DF68-1305-88D3-3DDA-E65AEF8459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1220" y="2839136"/>
            <a:ext cx="77869" cy="38018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102D670-FB03-0919-FE2C-A8465ED2D3C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58959" y="2801173"/>
            <a:ext cx="2001823" cy="46231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C3AA921-4D24-1349-F6E2-14D6544C64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72095" y="3685800"/>
            <a:ext cx="238484" cy="10279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8C8C79F-0E26-E4A3-378A-6BAA1E02DE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7434" y="3595401"/>
            <a:ext cx="77869" cy="38018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C0F27312-EBDE-4638-0030-D4E9BF138E1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58959" y="3557438"/>
            <a:ext cx="2001823" cy="46231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ED89BF2-BB42-751D-C34E-AE78723205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35742" y="3595401"/>
            <a:ext cx="77869" cy="38018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B78FD350-5107-1905-19A2-6F00FA9D443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87267" y="3557438"/>
            <a:ext cx="2001823" cy="46231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386F28E-819B-6196-AFF4-394A4B2A393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05538" y="2122588"/>
            <a:ext cx="1386838" cy="30695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1313B71-D1BB-275E-EC5D-CF704471DFB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7652" y="2087274"/>
            <a:ext cx="1217498" cy="35707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056C547-7ECE-40C4-F756-D793B729935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34055" y="1916317"/>
            <a:ext cx="1397972" cy="698987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84A6C11-4288-7557-92F4-165BF32518F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57652" y="2689392"/>
            <a:ext cx="2621197" cy="698987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C9D92EC9-70D8-9EDE-E01F-60FD2DFD30F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61729" y="3455492"/>
            <a:ext cx="1544758" cy="726947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94EBAE47-59D5-BC7C-2717-7CAB7EEEC40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54181" y="3685800"/>
            <a:ext cx="238484" cy="238484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20DF9FE6-B9BE-DEFD-C83D-DD17E5B6AE5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18784" y="3483452"/>
            <a:ext cx="1485345" cy="698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6855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7283F-0938-6FED-D3A9-D97D231EE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5089D3-D45A-C397-8733-5D42C1F77CBB}"/>
              </a:ext>
            </a:extLst>
          </p:cNvPr>
          <p:cNvSpPr txBox="1"/>
          <p:nvPr/>
        </p:nvSpPr>
        <p:spPr>
          <a:xfrm>
            <a:off x="276409" y="260293"/>
            <a:ext cx="4384373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VAE – Evidence Lower </a:t>
            </a:r>
            <a:r>
              <a:rPr lang="en-US" dirty="0" err="1">
                <a:latin typeface="Arial Rounded MT Bold" panose="020F0704030504030204" pitchFamily="34" charset="77"/>
              </a:rPr>
              <a:t>BOund</a:t>
            </a:r>
            <a:r>
              <a:rPr lang="en-US" dirty="0">
                <a:latin typeface="Arial Rounded MT Bold" panose="020F0704030504030204" pitchFamily="34" charset="77"/>
              </a:rPr>
              <a:t> (ELBO)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681923-47BF-6608-B47C-38BD85FEBB46}"/>
              </a:ext>
            </a:extLst>
          </p:cNvPr>
          <p:cNvSpPr txBox="1"/>
          <p:nvPr/>
        </p:nvSpPr>
        <p:spPr>
          <a:xfrm>
            <a:off x="1224935" y="787101"/>
            <a:ext cx="3352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EM + NN (equation)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3" name="Graphic 2" descr="Magnifying glass with solid fill">
            <a:extLst>
              <a:ext uri="{FF2B5EF4-FFF2-40B4-BE49-F238E27FC236}">
                <a16:creationId xmlns:a16="http://schemas.microsoft.com/office/drawing/2014/main" id="{EA7FB289-A8E1-1AE2-F02F-BF8AF99EDF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7260" y="787101"/>
            <a:ext cx="475673" cy="4756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D84410F-BD77-CC25-0D19-41E95EADD33D}"/>
              </a:ext>
            </a:extLst>
          </p:cNvPr>
          <p:cNvSpPr txBox="1"/>
          <p:nvPr/>
        </p:nvSpPr>
        <p:spPr>
          <a:xfrm>
            <a:off x="737310" y="1464942"/>
            <a:ext cx="4531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ELBO is the bound to optimize for VAE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23E86F-0306-C8EF-E52C-7D00F28370DE}"/>
              </a:ext>
            </a:extLst>
          </p:cNvPr>
          <p:cNvSpPr txBox="1"/>
          <p:nvPr/>
        </p:nvSpPr>
        <p:spPr>
          <a:xfrm>
            <a:off x="737310" y="2300259"/>
            <a:ext cx="4531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ELBO 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C6641F1-5244-E327-D0C8-B7002915D9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4904" y="3109500"/>
            <a:ext cx="74979" cy="3660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B07B2AE-7F42-1ACE-8028-9B1770A7E3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5534" y="3085633"/>
            <a:ext cx="1791800" cy="41381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BB9328D-21E8-3B81-AC8A-E47E84A9B6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4114" y="3104604"/>
            <a:ext cx="74979" cy="3660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B9001E4-06E9-6C6E-41FC-6537BF5962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0999" y="3086094"/>
            <a:ext cx="1927528" cy="44515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DB8F2FE-43E0-D1B9-789E-95AD4D35DD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8957" y="2086195"/>
            <a:ext cx="4784755" cy="79746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E3D8995-3763-F53A-AF4C-7136F99F36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63686" y="3207785"/>
            <a:ext cx="238484" cy="10279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5DB54FD-9036-AAFD-814E-0E9F6553534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41199" y="3168399"/>
            <a:ext cx="238484" cy="2384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B30673-6842-D170-5039-0A013B8232A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0219" y="3126418"/>
            <a:ext cx="1791800" cy="3645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79FA168-8215-7CED-76AD-59C5B9B2131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86442" y="2938621"/>
            <a:ext cx="1139756" cy="74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76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F3E73-220E-1283-895E-104E7AD95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6916616-C078-9813-A751-41E44667D2B3}"/>
              </a:ext>
            </a:extLst>
          </p:cNvPr>
          <p:cNvSpPr txBox="1"/>
          <p:nvPr/>
        </p:nvSpPr>
        <p:spPr>
          <a:xfrm>
            <a:off x="276409" y="260293"/>
            <a:ext cx="4384373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VAE – Evidence Lower </a:t>
            </a:r>
            <a:r>
              <a:rPr lang="en-US" dirty="0" err="1">
                <a:latin typeface="Arial Rounded MT Bold" panose="020F0704030504030204" pitchFamily="34" charset="77"/>
              </a:rPr>
              <a:t>BOund</a:t>
            </a:r>
            <a:r>
              <a:rPr lang="en-US" dirty="0">
                <a:latin typeface="Arial Rounded MT Bold" panose="020F0704030504030204" pitchFamily="34" charset="77"/>
              </a:rPr>
              <a:t> (ELBO)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D28CF6-D5C4-85B5-9310-AB3E291D1188}"/>
              </a:ext>
            </a:extLst>
          </p:cNvPr>
          <p:cNvSpPr txBox="1"/>
          <p:nvPr/>
        </p:nvSpPr>
        <p:spPr>
          <a:xfrm>
            <a:off x="1224935" y="787101"/>
            <a:ext cx="3352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EM + NN (equation)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3" name="Graphic 2" descr="Magnifying glass with solid fill">
            <a:extLst>
              <a:ext uri="{FF2B5EF4-FFF2-40B4-BE49-F238E27FC236}">
                <a16:creationId xmlns:a16="http://schemas.microsoft.com/office/drawing/2014/main" id="{D68F3859-D817-38D0-5970-42E1F3C37C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7260" y="787101"/>
            <a:ext cx="475673" cy="4756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DC9762A-D69B-FF70-1E0F-60D7425D01F7}"/>
              </a:ext>
            </a:extLst>
          </p:cNvPr>
          <p:cNvSpPr txBox="1"/>
          <p:nvPr/>
        </p:nvSpPr>
        <p:spPr>
          <a:xfrm>
            <a:off x="737310" y="1464942"/>
            <a:ext cx="4531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ELBO is the bound to optimize for VAE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EA97D3-F71B-5878-82FC-68B9C4BF7CAB}"/>
              </a:ext>
            </a:extLst>
          </p:cNvPr>
          <p:cNvSpPr txBox="1"/>
          <p:nvPr/>
        </p:nvSpPr>
        <p:spPr>
          <a:xfrm>
            <a:off x="737310" y="2300259"/>
            <a:ext cx="4531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ELBO 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A1A507F-23B3-4DE5-FB92-CFB45C62A1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4904" y="3109500"/>
            <a:ext cx="74979" cy="3660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D8DBA7F-FBBF-2037-C159-F35FCA1F90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5534" y="3085633"/>
            <a:ext cx="1791800" cy="41381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90FE567-4FAE-FB79-3683-A5265D23C1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4114" y="3104604"/>
            <a:ext cx="74979" cy="3660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6001277-6A8D-C4C2-EE71-6F486FA9A3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0999" y="3086094"/>
            <a:ext cx="1927528" cy="44515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8208CCA-8C69-70E9-A12B-AD6CACA8CE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8957" y="2086195"/>
            <a:ext cx="4784755" cy="79746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B62A67C-0E4A-FCA6-6830-9F0126C4AA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63686" y="3207785"/>
            <a:ext cx="238484" cy="10279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F491D5D-D2CE-B781-3BD3-5ED2173E232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41199" y="3168399"/>
            <a:ext cx="238484" cy="2384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3617070-9535-AEDA-6379-F22139794C9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0219" y="3126418"/>
            <a:ext cx="1791800" cy="3645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4884F3B-C23F-3449-7191-13021152C07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86442" y="2938621"/>
            <a:ext cx="1139756" cy="740102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45BBC200-4A80-EF93-E395-24FF73F9DC7E}"/>
              </a:ext>
            </a:extLst>
          </p:cNvPr>
          <p:cNvGrpSpPr/>
          <p:nvPr/>
        </p:nvGrpSpPr>
        <p:grpSpPr>
          <a:xfrm>
            <a:off x="3946499" y="3585499"/>
            <a:ext cx="2645237" cy="154612"/>
            <a:chOff x="5404919" y="1683241"/>
            <a:chExt cx="2645237" cy="154612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A62680F-E2AF-4A2E-33AE-1F795DE1F205}"/>
                </a:ext>
              </a:extLst>
            </p:cNvPr>
            <p:cNvCxnSpPr>
              <a:cxnSpLocks/>
            </p:cNvCxnSpPr>
            <p:nvPr/>
          </p:nvCxnSpPr>
          <p:spPr>
            <a:xfrm>
              <a:off x="5522614" y="1692296"/>
              <a:ext cx="2527542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5268867-56FC-566A-C2D3-9DE21E875A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04919" y="1683241"/>
              <a:ext cx="117695" cy="154612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BBEEB9A0-49DF-89C4-1359-71B2BF41DAB4}"/>
              </a:ext>
            </a:extLst>
          </p:cNvPr>
          <p:cNvSpPr txBox="1"/>
          <p:nvPr/>
        </p:nvSpPr>
        <p:spPr>
          <a:xfrm>
            <a:off x="1261545" y="3774291"/>
            <a:ext cx="28812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Arial Rounded MT Bold" panose="020F0704030504030204" pitchFamily="34" charset="77"/>
                <a:sym typeface="Wingdings" pitchFamily="2" charset="2"/>
              </a:rPr>
              <a:t>Reconstruction loss</a:t>
            </a:r>
            <a:endParaRPr lang="en-US" sz="2000" dirty="0">
              <a:latin typeface="Arial Rounded MT Bold" panose="020F0704030504030204" pitchFamily="34" charset="77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43CFB0C-F8C7-38D9-F177-0C76D773E723}"/>
              </a:ext>
            </a:extLst>
          </p:cNvPr>
          <p:cNvGrpSpPr/>
          <p:nvPr/>
        </p:nvGrpSpPr>
        <p:grpSpPr>
          <a:xfrm>
            <a:off x="7775908" y="3698183"/>
            <a:ext cx="2645237" cy="154612"/>
            <a:chOff x="5404919" y="1683241"/>
            <a:chExt cx="2645237" cy="154612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73DE8D4-DE0A-4D97-01DE-E7C6E2E0DB12}"/>
                </a:ext>
              </a:extLst>
            </p:cNvPr>
            <p:cNvCxnSpPr>
              <a:cxnSpLocks/>
            </p:cNvCxnSpPr>
            <p:nvPr/>
          </p:nvCxnSpPr>
          <p:spPr>
            <a:xfrm>
              <a:off x="5522614" y="1692296"/>
              <a:ext cx="2527542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2034886-56F2-9E9E-AD15-73266849AC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04919" y="1683241"/>
              <a:ext cx="117695" cy="154612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D8BA2033-FFE6-07C2-A8E7-8EB640719DE1}"/>
              </a:ext>
            </a:extLst>
          </p:cNvPr>
          <p:cNvSpPr txBox="1"/>
          <p:nvPr/>
        </p:nvSpPr>
        <p:spPr>
          <a:xfrm>
            <a:off x="6615966" y="3899931"/>
            <a:ext cx="28812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Arial Rounded MT Bold" panose="020F0704030504030204" pitchFamily="34" charset="77"/>
                <a:sym typeface="Wingdings" pitchFamily="2" charset="2"/>
              </a:rPr>
              <a:t>Prior matching loss</a:t>
            </a:r>
            <a:endParaRPr lang="en-US" sz="2000" dirty="0">
              <a:latin typeface="Arial Rounded MT Bold" panose="020F0704030504030204" pitchFamily="34" charset="77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613F68A1-CA71-601E-E530-128817FB5345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012575" y="3832615"/>
            <a:ext cx="1129516" cy="299341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E3417FAD-E66B-A2AC-8465-943186F1278E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75396" y="3940387"/>
            <a:ext cx="605172" cy="287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4554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49501-D018-01FD-AE8E-A36D213CA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EB28CCB-A72F-6F7C-22BA-197278786D28}"/>
              </a:ext>
            </a:extLst>
          </p:cNvPr>
          <p:cNvSpPr/>
          <p:nvPr/>
        </p:nvSpPr>
        <p:spPr>
          <a:xfrm>
            <a:off x="570368" y="4370017"/>
            <a:ext cx="10813403" cy="1595764"/>
          </a:xfrm>
          <a:prstGeom prst="roundRect">
            <a:avLst/>
          </a:prstGeom>
          <a:solidFill>
            <a:schemeClr val="bg1">
              <a:lumMod val="85000"/>
              <a:alpha val="2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112336-1374-7755-AFB0-8A1AD439746E}"/>
              </a:ext>
            </a:extLst>
          </p:cNvPr>
          <p:cNvSpPr txBox="1"/>
          <p:nvPr/>
        </p:nvSpPr>
        <p:spPr>
          <a:xfrm>
            <a:off x="276409" y="260293"/>
            <a:ext cx="4384373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VAE – Evidence Lower </a:t>
            </a:r>
            <a:r>
              <a:rPr lang="en-US" dirty="0" err="1">
                <a:latin typeface="Arial Rounded MT Bold" panose="020F0704030504030204" pitchFamily="34" charset="77"/>
              </a:rPr>
              <a:t>BOund</a:t>
            </a:r>
            <a:r>
              <a:rPr lang="en-US" dirty="0">
                <a:latin typeface="Arial Rounded MT Bold" panose="020F0704030504030204" pitchFamily="34" charset="77"/>
              </a:rPr>
              <a:t> (ELBO)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6DF022-B01B-00FC-EFB9-FB3FDE8A4FD4}"/>
              </a:ext>
            </a:extLst>
          </p:cNvPr>
          <p:cNvSpPr txBox="1"/>
          <p:nvPr/>
        </p:nvSpPr>
        <p:spPr>
          <a:xfrm>
            <a:off x="1224935" y="787101"/>
            <a:ext cx="3352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EM + NN (equation)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3" name="Graphic 2" descr="Magnifying glass with solid fill">
            <a:extLst>
              <a:ext uri="{FF2B5EF4-FFF2-40B4-BE49-F238E27FC236}">
                <a16:creationId xmlns:a16="http://schemas.microsoft.com/office/drawing/2014/main" id="{FD134424-6D5B-A794-0041-6DCBA28EEC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7260" y="787101"/>
            <a:ext cx="475673" cy="4756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58F3CB6-F8ED-28C2-6E51-260765694681}"/>
              </a:ext>
            </a:extLst>
          </p:cNvPr>
          <p:cNvSpPr txBox="1"/>
          <p:nvPr/>
        </p:nvSpPr>
        <p:spPr>
          <a:xfrm>
            <a:off x="737310" y="1464942"/>
            <a:ext cx="4531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ELBO is the bound to optimize for VAE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CDD4F2-CA57-9957-F331-B006D8EC8FA6}"/>
              </a:ext>
            </a:extLst>
          </p:cNvPr>
          <p:cNvSpPr txBox="1"/>
          <p:nvPr/>
        </p:nvSpPr>
        <p:spPr>
          <a:xfrm>
            <a:off x="737310" y="2300259"/>
            <a:ext cx="4531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ELBO 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D5D349B-C0FD-8D1D-FFE4-19D78D01BE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4904" y="3109500"/>
            <a:ext cx="74979" cy="3660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81086BC-0211-A978-9151-04355E205C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5534" y="3085633"/>
            <a:ext cx="1791800" cy="41381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02AA131-199C-0335-CE95-647BB0466E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4114" y="3104604"/>
            <a:ext cx="74979" cy="3660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E2F9446-8C3D-677A-F897-FFB60E239B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0999" y="3086094"/>
            <a:ext cx="1927528" cy="44515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5A73DDA-4068-3286-3AC2-B5FD56D16A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8957" y="2086195"/>
            <a:ext cx="4784755" cy="79746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C74DDF9-056D-BAC6-DC0E-77760D3DE8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63686" y="3207785"/>
            <a:ext cx="238484" cy="10279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665F7B3-C450-6E4D-211F-2F927AFE16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41199" y="3168399"/>
            <a:ext cx="238484" cy="23848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AD2D1B7-CF64-9674-C7F0-37EAE5487C02}"/>
              </a:ext>
            </a:extLst>
          </p:cNvPr>
          <p:cNvSpPr txBox="1"/>
          <p:nvPr/>
        </p:nvSpPr>
        <p:spPr>
          <a:xfrm>
            <a:off x="1122933" y="4985805"/>
            <a:ext cx="3437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Take-away: VAE optimize for  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2B5F05-93B9-0FC4-0D86-0ABE0A51686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0219" y="3126418"/>
            <a:ext cx="1791800" cy="3645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BB0E25A-4B8B-750A-B485-D42F761C6D7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86442" y="2938621"/>
            <a:ext cx="1139756" cy="740102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B6E605BA-6E7B-244E-9400-CFEBF8F8E943}"/>
              </a:ext>
            </a:extLst>
          </p:cNvPr>
          <p:cNvGrpSpPr/>
          <p:nvPr/>
        </p:nvGrpSpPr>
        <p:grpSpPr>
          <a:xfrm>
            <a:off x="3946499" y="3585499"/>
            <a:ext cx="2645237" cy="154612"/>
            <a:chOff x="5404919" y="1683241"/>
            <a:chExt cx="2645237" cy="154612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AB3ED0-6774-35C2-EB0A-ABBAF2F84F17}"/>
                </a:ext>
              </a:extLst>
            </p:cNvPr>
            <p:cNvCxnSpPr>
              <a:cxnSpLocks/>
            </p:cNvCxnSpPr>
            <p:nvPr/>
          </p:nvCxnSpPr>
          <p:spPr>
            <a:xfrm>
              <a:off x="5522614" y="1692296"/>
              <a:ext cx="2527542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1F79875-AD54-790D-55C0-3DA9B143E6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04919" y="1683241"/>
              <a:ext cx="117695" cy="154612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6432826C-D2A4-4CC9-DF0E-55CD5F8F6927}"/>
              </a:ext>
            </a:extLst>
          </p:cNvPr>
          <p:cNvSpPr txBox="1"/>
          <p:nvPr/>
        </p:nvSpPr>
        <p:spPr>
          <a:xfrm>
            <a:off x="1261545" y="3774291"/>
            <a:ext cx="28812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Arial Rounded MT Bold" panose="020F0704030504030204" pitchFamily="34" charset="77"/>
                <a:sym typeface="Wingdings" pitchFamily="2" charset="2"/>
              </a:rPr>
              <a:t>Reconstruction loss</a:t>
            </a:r>
            <a:endParaRPr lang="en-US" sz="2000" dirty="0">
              <a:latin typeface="Arial Rounded MT Bold" panose="020F0704030504030204" pitchFamily="34" charset="77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DD2AD45-8F3B-F0A1-3162-611E11541AE1}"/>
              </a:ext>
            </a:extLst>
          </p:cNvPr>
          <p:cNvGrpSpPr/>
          <p:nvPr/>
        </p:nvGrpSpPr>
        <p:grpSpPr>
          <a:xfrm>
            <a:off x="7775908" y="3698183"/>
            <a:ext cx="2645237" cy="154612"/>
            <a:chOff x="5404919" y="1683241"/>
            <a:chExt cx="2645237" cy="154612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490E01E-A9CC-E6DE-DC07-B4292EB86C1D}"/>
                </a:ext>
              </a:extLst>
            </p:cNvPr>
            <p:cNvCxnSpPr>
              <a:cxnSpLocks/>
            </p:cNvCxnSpPr>
            <p:nvPr/>
          </p:nvCxnSpPr>
          <p:spPr>
            <a:xfrm>
              <a:off x="5522614" y="1692296"/>
              <a:ext cx="2527542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2F07D41-F118-ABF2-4200-EA399DA4ED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04919" y="1683241"/>
              <a:ext cx="117695" cy="154612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B5755E01-7FE9-1A73-C35C-4434B1C21F3F}"/>
              </a:ext>
            </a:extLst>
          </p:cNvPr>
          <p:cNvSpPr txBox="1"/>
          <p:nvPr/>
        </p:nvSpPr>
        <p:spPr>
          <a:xfrm>
            <a:off x="6615966" y="3899931"/>
            <a:ext cx="28812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Arial Rounded MT Bold" panose="020F0704030504030204" pitchFamily="34" charset="77"/>
                <a:sym typeface="Wingdings" pitchFamily="2" charset="2"/>
              </a:rPr>
              <a:t>Prior matching loss</a:t>
            </a:r>
            <a:endParaRPr lang="en-US" sz="2000" dirty="0">
              <a:latin typeface="Arial Rounded MT Bold" panose="020F0704030504030204" pitchFamily="34" charset="77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5A060F1-53DD-172A-77B7-CB746F7E63D4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012575" y="3832615"/>
            <a:ext cx="1129516" cy="299341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199F4389-EC8F-8443-A24B-6C1F20C94FD1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75396" y="3940387"/>
            <a:ext cx="605172" cy="28726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DDE35D7-C7FE-20C3-0EDA-7CAF04909F1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39166" y="4610213"/>
            <a:ext cx="5708874" cy="39589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A66ACE2-BAAC-BB65-F1D3-2CB0ADEF4C7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39353" y="5261298"/>
            <a:ext cx="3736043" cy="355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7590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7F815F-D0F8-9AD8-2381-878DBF88C9C3}"/>
              </a:ext>
            </a:extLst>
          </p:cNvPr>
          <p:cNvSpPr txBox="1"/>
          <p:nvPr/>
        </p:nvSpPr>
        <p:spPr>
          <a:xfrm>
            <a:off x="5189149" y="3244334"/>
            <a:ext cx="1317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77"/>
                <a:ea typeface="+mn-ea"/>
                <a:cs typeface="+mn-cs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9560997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53137" y="3179785"/>
            <a:ext cx="5483703" cy="412547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7444" y="169694"/>
            <a:ext cx="2335325" cy="44712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 rotWithShape="1">
          <a:blip r:embed="rId3" cstate="print"/>
          <a:srcRect b="75871"/>
          <a:stretch/>
        </p:blipFill>
        <p:spPr>
          <a:xfrm>
            <a:off x="220732" y="876460"/>
            <a:ext cx="5875268" cy="1236545"/>
          </a:xfrm>
          <a:prstGeom prst="rect">
            <a:avLst/>
          </a:prstGeom>
        </p:spPr>
      </p:pic>
      <p:sp>
        <p:nvSpPr>
          <p:cNvPr id="13312" name="Parallelogram 13311">
            <a:extLst>
              <a:ext uri="{FF2B5EF4-FFF2-40B4-BE49-F238E27FC236}">
                <a16:creationId xmlns:a16="http://schemas.microsoft.com/office/drawing/2014/main" id="{5F1D4484-6B59-512B-B6A1-B058991292C3}"/>
              </a:ext>
            </a:extLst>
          </p:cNvPr>
          <p:cNvSpPr/>
          <p:nvPr/>
        </p:nvSpPr>
        <p:spPr>
          <a:xfrm>
            <a:off x="8140602" y="1868977"/>
            <a:ext cx="2387531" cy="875187"/>
          </a:xfrm>
          <a:prstGeom prst="parallelogram">
            <a:avLst>
              <a:gd name="adj" fmla="val 5718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313" name="Picture 2" descr="Bi modal histograms. What they want to tell us?">
            <a:extLst>
              <a:ext uri="{FF2B5EF4-FFF2-40B4-BE49-F238E27FC236}">
                <a16:creationId xmlns:a16="http://schemas.microsoft.com/office/drawing/2014/main" id="{E9C94F21-9406-5EB4-69C9-517EB22FC8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9EFE5"/>
              </a:clrFrom>
              <a:clrTo>
                <a:srgbClr val="F9EFE5">
                  <a:alpha val="0"/>
                </a:srgbClr>
              </a:clrTo>
            </a:clrChange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14" t="14812" r="5916" b="14774"/>
          <a:stretch/>
        </p:blipFill>
        <p:spPr bwMode="auto">
          <a:xfrm>
            <a:off x="8304454" y="756458"/>
            <a:ext cx="2169562" cy="1783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315" name="Group 13314">
            <a:extLst>
              <a:ext uri="{FF2B5EF4-FFF2-40B4-BE49-F238E27FC236}">
                <a16:creationId xmlns:a16="http://schemas.microsoft.com/office/drawing/2014/main" id="{EF79D4EB-ED0C-337D-2C44-E28CB19CB8D4}"/>
              </a:ext>
            </a:extLst>
          </p:cNvPr>
          <p:cNvGrpSpPr/>
          <p:nvPr/>
        </p:nvGrpSpPr>
        <p:grpSpPr>
          <a:xfrm>
            <a:off x="10280466" y="946624"/>
            <a:ext cx="1674176" cy="1494379"/>
            <a:chOff x="9739269" y="1314490"/>
            <a:chExt cx="1674176" cy="1494379"/>
          </a:xfrm>
        </p:grpSpPr>
        <p:sp>
          <p:nvSpPr>
            <p:cNvPr id="13316" name="Trapezoid 13315">
              <a:extLst>
                <a:ext uri="{FF2B5EF4-FFF2-40B4-BE49-F238E27FC236}">
                  <a16:creationId xmlns:a16="http://schemas.microsoft.com/office/drawing/2014/main" id="{7FF90577-CD6C-7D0D-7C83-119949A56BF2}"/>
                </a:ext>
              </a:extLst>
            </p:cNvPr>
            <p:cNvSpPr/>
            <p:nvPr/>
          </p:nvSpPr>
          <p:spPr>
            <a:xfrm rot="16200000">
              <a:off x="10377972" y="1773396"/>
              <a:ext cx="1494379" cy="576567"/>
            </a:xfrm>
            <a:prstGeom prst="trapezoid">
              <a:avLst>
                <a:gd name="adj" fmla="val 46698"/>
              </a:avLst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317" name="TextBox 13316">
              <a:extLst>
                <a:ext uri="{FF2B5EF4-FFF2-40B4-BE49-F238E27FC236}">
                  <a16:creationId xmlns:a16="http://schemas.microsoft.com/office/drawing/2014/main" id="{078FE757-D224-2135-0C60-D4764A8E6811}"/>
                </a:ext>
              </a:extLst>
            </p:cNvPr>
            <p:cNvSpPr txBox="1"/>
            <p:nvPr/>
          </p:nvSpPr>
          <p:spPr>
            <a:xfrm rot="16200000">
              <a:off x="10564355" y="1877013"/>
              <a:ext cx="11544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Decoder</a:t>
              </a:r>
            </a:p>
          </p:txBody>
        </p:sp>
        <p:cxnSp>
          <p:nvCxnSpPr>
            <p:cNvPr id="13318" name="Straight Arrow Connector 13317">
              <a:extLst>
                <a:ext uri="{FF2B5EF4-FFF2-40B4-BE49-F238E27FC236}">
                  <a16:creationId xmlns:a16="http://schemas.microsoft.com/office/drawing/2014/main" id="{02FF4D88-2CCD-BDA9-350B-8E8A311EF32C}"/>
                </a:ext>
              </a:extLst>
            </p:cNvPr>
            <p:cNvCxnSpPr>
              <a:cxnSpLocks/>
            </p:cNvCxnSpPr>
            <p:nvPr/>
          </p:nvCxnSpPr>
          <p:spPr>
            <a:xfrm>
              <a:off x="9739269" y="2053102"/>
              <a:ext cx="1025148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319" name="Picture 13318">
            <a:extLst>
              <a:ext uri="{FF2B5EF4-FFF2-40B4-BE49-F238E27FC236}">
                <a16:creationId xmlns:a16="http://schemas.microsoft.com/office/drawing/2014/main" id="{30BEE446-30A7-63C6-31BB-777C10C57F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3338" y="316922"/>
            <a:ext cx="591813" cy="294133"/>
          </a:xfrm>
          <a:prstGeom prst="rect">
            <a:avLst/>
          </a:prstGeom>
        </p:spPr>
      </p:pic>
      <p:sp>
        <p:nvSpPr>
          <p:cNvPr id="13320" name="TextBox 13319">
            <a:extLst>
              <a:ext uri="{FF2B5EF4-FFF2-40B4-BE49-F238E27FC236}">
                <a16:creationId xmlns:a16="http://schemas.microsoft.com/office/drawing/2014/main" id="{0390948F-2689-06A4-E184-5CC8E591979B}"/>
              </a:ext>
            </a:extLst>
          </p:cNvPr>
          <p:cNvSpPr txBox="1"/>
          <p:nvPr/>
        </p:nvSpPr>
        <p:spPr>
          <a:xfrm>
            <a:off x="8291983" y="169694"/>
            <a:ext cx="9781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 Rounded MT Bold" panose="020F0704030504030204" pitchFamily="34" charset="77"/>
              </a:rPr>
              <a:t>True but </a:t>
            </a:r>
          </a:p>
          <a:p>
            <a:pPr algn="ctr"/>
            <a:r>
              <a:rPr lang="en-US" sz="1400" dirty="0">
                <a:latin typeface="Arial Rounded MT Bold" panose="020F0704030504030204" pitchFamily="34" charset="77"/>
              </a:rPr>
              <a:t>unknown</a:t>
            </a:r>
          </a:p>
        </p:txBody>
      </p:sp>
      <p:sp>
        <p:nvSpPr>
          <p:cNvPr id="13321" name="TextBox 13320">
            <a:extLst>
              <a:ext uri="{FF2B5EF4-FFF2-40B4-BE49-F238E27FC236}">
                <a16:creationId xmlns:a16="http://schemas.microsoft.com/office/drawing/2014/main" id="{7D22D725-C47E-ACDE-8CA9-1E44403950A2}"/>
              </a:ext>
            </a:extLst>
          </p:cNvPr>
          <p:cNvSpPr txBox="1"/>
          <p:nvPr/>
        </p:nvSpPr>
        <p:spPr>
          <a:xfrm>
            <a:off x="9160662" y="2734476"/>
            <a:ext cx="8771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 Rounded MT Bold" panose="020F0704030504030204" pitchFamily="34" charset="77"/>
              </a:rPr>
              <a:t>Z space</a:t>
            </a:r>
          </a:p>
        </p:txBody>
      </p:sp>
      <p:grpSp>
        <p:nvGrpSpPr>
          <p:cNvPr id="13322" name="Group 13321">
            <a:extLst>
              <a:ext uri="{FF2B5EF4-FFF2-40B4-BE49-F238E27FC236}">
                <a16:creationId xmlns:a16="http://schemas.microsoft.com/office/drawing/2014/main" id="{1EDAAE42-505E-597A-716C-E9F6BBEFAF95}"/>
              </a:ext>
            </a:extLst>
          </p:cNvPr>
          <p:cNvGrpSpPr/>
          <p:nvPr/>
        </p:nvGrpSpPr>
        <p:grpSpPr>
          <a:xfrm>
            <a:off x="7012512" y="946624"/>
            <a:ext cx="576567" cy="1494379"/>
            <a:chOff x="7199047" y="4033850"/>
            <a:chExt cx="576567" cy="1494379"/>
          </a:xfrm>
        </p:grpSpPr>
        <p:sp>
          <p:nvSpPr>
            <p:cNvPr id="13323" name="Trapezoid 13322">
              <a:extLst>
                <a:ext uri="{FF2B5EF4-FFF2-40B4-BE49-F238E27FC236}">
                  <a16:creationId xmlns:a16="http://schemas.microsoft.com/office/drawing/2014/main" id="{A602472D-047B-D3E8-F85D-9E0B085C4F89}"/>
                </a:ext>
              </a:extLst>
            </p:cNvPr>
            <p:cNvSpPr/>
            <p:nvPr/>
          </p:nvSpPr>
          <p:spPr>
            <a:xfrm rot="5400000">
              <a:off x="6740141" y="4492756"/>
              <a:ext cx="1494379" cy="576567"/>
            </a:xfrm>
            <a:prstGeom prst="trapezoid">
              <a:avLst>
                <a:gd name="adj" fmla="val 46698"/>
              </a:avLst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324" name="TextBox 13323">
              <a:extLst>
                <a:ext uri="{FF2B5EF4-FFF2-40B4-BE49-F238E27FC236}">
                  <a16:creationId xmlns:a16="http://schemas.microsoft.com/office/drawing/2014/main" id="{634B90D3-11CF-0B2A-4914-759EDA2120F0}"/>
                </a:ext>
              </a:extLst>
            </p:cNvPr>
            <p:cNvSpPr txBox="1"/>
            <p:nvPr/>
          </p:nvSpPr>
          <p:spPr>
            <a:xfrm rot="5400000">
              <a:off x="6934539" y="4596373"/>
              <a:ext cx="11384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Encoder</a:t>
              </a:r>
            </a:p>
          </p:txBody>
        </p:sp>
      </p:grpSp>
      <p:cxnSp>
        <p:nvCxnSpPr>
          <p:cNvPr id="13325" name="Straight Arrow Connector 13324">
            <a:extLst>
              <a:ext uri="{FF2B5EF4-FFF2-40B4-BE49-F238E27FC236}">
                <a16:creationId xmlns:a16="http://schemas.microsoft.com/office/drawing/2014/main" id="{7CB18F81-9FAF-8424-47C3-2ED0C986964C}"/>
              </a:ext>
            </a:extLst>
          </p:cNvPr>
          <p:cNvCxnSpPr>
            <a:cxnSpLocks/>
            <a:endCxn id="13313" idx="1"/>
          </p:cNvCxnSpPr>
          <p:nvPr/>
        </p:nvCxnSpPr>
        <p:spPr>
          <a:xfrm>
            <a:off x="7589079" y="1643552"/>
            <a:ext cx="715375" cy="4500"/>
          </a:xfrm>
          <a:prstGeom prst="straightConnector1">
            <a:avLst/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7444" y="169694"/>
            <a:ext cx="2335325" cy="44712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 rotWithShape="1">
          <a:blip r:embed="rId3" cstate="print"/>
          <a:srcRect t="2" b="38737"/>
          <a:stretch/>
        </p:blipFill>
        <p:spPr>
          <a:xfrm>
            <a:off x="220732" y="876460"/>
            <a:ext cx="5875268" cy="3139486"/>
          </a:xfrm>
          <a:prstGeom prst="rect">
            <a:avLst/>
          </a:prstGeom>
        </p:spPr>
      </p:pic>
      <p:sp>
        <p:nvSpPr>
          <p:cNvPr id="24" name="Parallelogram 23">
            <a:extLst>
              <a:ext uri="{FF2B5EF4-FFF2-40B4-BE49-F238E27FC236}">
                <a16:creationId xmlns:a16="http://schemas.microsoft.com/office/drawing/2014/main" id="{4319E18F-DB3F-270F-2830-E887C1F9926A}"/>
              </a:ext>
            </a:extLst>
          </p:cNvPr>
          <p:cNvSpPr/>
          <p:nvPr/>
        </p:nvSpPr>
        <p:spPr>
          <a:xfrm>
            <a:off x="8140602" y="1868977"/>
            <a:ext cx="2387531" cy="875187"/>
          </a:xfrm>
          <a:prstGeom prst="parallelogram">
            <a:avLst>
              <a:gd name="adj" fmla="val 5718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" descr="Bi modal histograms. What they want to tell us?">
            <a:extLst>
              <a:ext uri="{FF2B5EF4-FFF2-40B4-BE49-F238E27FC236}">
                <a16:creationId xmlns:a16="http://schemas.microsoft.com/office/drawing/2014/main" id="{69FA647A-ED32-D970-732D-C7A16A43EE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9EFE5"/>
              </a:clrFrom>
              <a:clrTo>
                <a:srgbClr val="F9EFE5">
                  <a:alpha val="0"/>
                </a:srgbClr>
              </a:clrTo>
            </a:clrChange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14" t="14812" r="5916" b="14774"/>
          <a:stretch/>
        </p:blipFill>
        <p:spPr bwMode="auto">
          <a:xfrm>
            <a:off x="8304454" y="756458"/>
            <a:ext cx="2169562" cy="1783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87B71A88-1DFD-CBB1-102E-628686DB1A60}"/>
              </a:ext>
            </a:extLst>
          </p:cNvPr>
          <p:cNvGrpSpPr/>
          <p:nvPr/>
        </p:nvGrpSpPr>
        <p:grpSpPr>
          <a:xfrm>
            <a:off x="10280466" y="946624"/>
            <a:ext cx="1674176" cy="1494379"/>
            <a:chOff x="9739269" y="1314490"/>
            <a:chExt cx="1674176" cy="1494379"/>
          </a:xfrm>
        </p:grpSpPr>
        <p:sp>
          <p:nvSpPr>
            <p:cNvPr id="27" name="Trapezoid 26">
              <a:extLst>
                <a:ext uri="{FF2B5EF4-FFF2-40B4-BE49-F238E27FC236}">
                  <a16:creationId xmlns:a16="http://schemas.microsoft.com/office/drawing/2014/main" id="{7878FBE1-6B97-7AD0-7E76-3751E86D5D05}"/>
                </a:ext>
              </a:extLst>
            </p:cNvPr>
            <p:cNvSpPr/>
            <p:nvPr/>
          </p:nvSpPr>
          <p:spPr>
            <a:xfrm rot="16200000">
              <a:off x="10377972" y="1773396"/>
              <a:ext cx="1494379" cy="576567"/>
            </a:xfrm>
            <a:prstGeom prst="trapezoid">
              <a:avLst>
                <a:gd name="adj" fmla="val 46698"/>
              </a:avLst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591A14F-0980-8048-0989-2AB76ED29EE5}"/>
                </a:ext>
              </a:extLst>
            </p:cNvPr>
            <p:cNvSpPr txBox="1"/>
            <p:nvPr/>
          </p:nvSpPr>
          <p:spPr>
            <a:xfrm rot="16200000">
              <a:off x="10564355" y="1877013"/>
              <a:ext cx="11544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Decoder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0F25C31A-78D1-A5DB-CDF5-AAB659CA7FA5}"/>
                </a:ext>
              </a:extLst>
            </p:cNvPr>
            <p:cNvCxnSpPr>
              <a:cxnSpLocks/>
            </p:cNvCxnSpPr>
            <p:nvPr/>
          </p:nvCxnSpPr>
          <p:spPr>
            <a:xfrm>
              <a:off x="9739269" y="2053102"/>
              <a:ext cx="1025148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0" name="Picture 29">
            <a:extLst>
              <a:ext uri="{FF2B5EF4-FFF2-40B4-BE49-F238E27FC236}">
                <a16:creationId xmlns:a16="http://schemas.microsoft.com/office/drawing/2014/main" id="{00D2ADE3-7011-2663-485D-ACE61012BE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3338" y="316922"/>
            <a:ext cx="591813" cy="294133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F009CFCA-5230-ABD2-2C0D-23E3E2B5C177}"/>
              </a:ext>
            </a:extLst>
          </p:cNvPr>
          <p:cNvSpPr txBox="1"/>
          <p:nvPr/>
        </p:nvSpPr>
        <p:spPr>
          <a:xfrm>
            <a:off x="8291983" y="169694"/>
            <a:ext cx="9781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 Rounded MT Bold" panose="020F0704030504030204" pitchFamily="34" charset="77"/>
              </a:rPr>
              <a:t>True but </a:t>
            </a:r>
          </a:p>
          <a:p>
            <a:pPr algn="ctr"/>
            <a:r>
              <a:rPr lang="en-US" sz="1400" dirty="0">
                <a:latin typeface="Arial Rounded MT Bold" panose="020F0704030504030204" pitchFamily="34" charset="77"/>
              </a:rPr>
              <a:t>unknown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53D8E72-9772-284E-7182-7E64A5D4D4C9}"/>
              </a:ext>
            </a:extLst>
          </p:cNvPr>
          <p:cNvSpPr txBox="1"/>
          <p:nvPr/>
        </p:nvSpPr>
        <p:spPr>
          <a:xfrm>
            <a:off x="9160662" y="2734476"/>
            <a:ext cx="8771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 Rounded MT Bold" panose="020F0704030504030204" pitchFamily="34" charset="77"/>
              </a:rPr>
              <a:t>Z space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41B6DE5-5B65-ECCE-93C3-FF8C545B2916}"/>
              </a:ext>
            </a:extLst>
          </p:cNvPr>
          <p:cNvGrpSpPr/>
          <p:nvPr/>
        </p:nvGrpSpPr>
        <p:grpSpPr>
          <a:xfrm>
            <a:off x="7012512" y="946624"/>
            <a:ext cx="576567" cy="1494379"/>
            <a:chOff x="7199047" y="4033850"/>
            <a:chExt cx="576567" cy="1494379"/>
          </a:xfrm>
        </p:grpSpPr>
        <p:sp>
          <p:nvSpPr>
            <p:cNvPr id="34" name="Trapezoid 33">
              <a:extLst>
                <a:ext uri="{FF2B5EF4-FFF2-40B4-BE49-F238E27FC236}">
                  <a16:creationId xmlns:a16="http://schemas.microsoft.com/office/drawing/2014/main" id="{1F54ECA1-24FA-FF16-344C-1AF79C0B1E49}"/>
                </a:ext>
              </a:extLst>
            </p:cNvPr>
            <p:cNvSpPr/>
            <p:nvPr/>
          </p:nvSpPr>
          <p:spPr>
            <a:xfrm rot="5400000">
              <a:off x="6740141" y="4492756"/>
              <a:ext cx="1494379" cy="576567"/>
            </a:xfrm>
            <a:prstGeom prst="trapezoid">
              <a:avLst>
                <a:gd name="adj" fmla="val 46698"/>
              </a:avLst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F1E1BE9-D3F8-6E3F-D389-C61878E06A73}"/>
                </a:ext>
              </a:extLst>
            </p:cNvPr>
            <p:cNvSpPr txBox="1"/>
            <p:nvPr/>
          </p:nvSpPr>
          <p:spPr>
            <a:xfrm rot="5400000">
              <a:off x="6934539" y="4596373"/>
              <a:ext cx="11384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Encoder</a:t>
              </a:r>
            </a:p>
          </p:txBody>
        </p:sp>
      </p:grp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953D468-A912-4982-4943-3FF20B35F9C3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7589079" y="1643552"/>
            <a:ext cx="715375" cy="4500"/>
          </a:xfrm>
          <a:prstGeom prst="straightConnector1">
            <a:avLst/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Parallelogram 36">
            <a:extLst>
              <a:ext uri="{FF2B5EF4-FFF2-40B4-BE49-F238E27FC236}">
                <a16:creationId xmlns:a16="http://schemas.microsoft.com/office/drawing/2014/main" id="{BA046427-1D93-BA6A-5299-3A214DB6ECE0}"/>
              </a:ext>
            </a:extLst>
          </p:cNvPr>
          <p:cNvSpPr/>
          <p:nvPr/>
        </p:nvSpPr>
        <p:spPr>
          <a:xfrm>
            <a:off x="8140602" y="5169624"/>
            <a:ext cx="2387531" cy="875187"/>
          </a:xfrm>
          <a:prstGeom prst="parallelogram">
            <a:avLst>
              <a:gd name="adj" fmla="val 5718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398D5E1-3123-7597-5B84-712D650F6A45}"/>
              </a:ext>
            </a:extLst>
          </p:cNvPr>
          <p:cNvGrpSpPr/>
          <p:nvPr/>
        </p:nvGrpSpPr>
        <p:grpSpPr>
          <a:xfrm>
            <a:off x="10280466" y="4247271"/>
            <a:ext cx="1674176" cy="1494379"/>
            <a:chOff x="9739269" y="1314490"/>
            <a:chExt cx="1674176" cy="1494379"/>
          </a:xfrm>
        </p:grpSpPr>
        <p:sp>
          <p:nvSpPr>
            <p:cNvPr id="39" name="Trapezoid 38">
              <a:extLst>
                <a:ext uri="{FF2B5EF4-FFF2-40B4-BE49-F238E27FC236}">
                  <a16:creationId xmlns:a16="http://schemas.microsoft.com/office/drawing/2014/main" id="{41F34B0C-C2B8-E2E9-1F8E-330A64AE1E39}"/>
                </a:ext>
              </a:extLst>
            </p:cNvPr>
            <p:cNvSpPr/>
            <p:nvPr/>
          </p:nvSpPr>
          <p:spPr>
            <a:xfrm rot="16200000">
              <a:off x="10377972" y="1773396"/>
              <a:ext cx="1494379" cy="576567"/>
            </a:xfrm>
            <a:prstGeom prst="trapezoid">
              <a:avLst>
                <a:gd name="adj" fmla="val 46698"/>
              </a:avLst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CD5C327-24DF-60BC-3F24-C3994AB7AFAE}"/>
                </a:ext>
              </a:extLst>
            </p:cNvPr>
            <p:cNvSpPr txBox="1"/>
            <p:nvPr/>
          </p:nvSpPr>
          <p:spPr>
            <a:xfrm rot="16200000">
              <a:off x="10564355" y="1877013"/>
              <a:ext cx="11544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Decoder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7F9E139E-9F03-BEE6-FD38-52C0D5ECB9B3}"/>
                </a:ext>
              </a:extLst>
            </p:cNvPr>
            <p:cNvCxnSpPr>
              <a:cxnSpLocks/>
            </p:cNvCxnSpPr>
            <p:nvPr/>
          </p:nvCxnSpPr>
          <p:spPr>
            <a:xfrm>
              <a:off x="9739269" y="2053102"/>
              <a:ext cx="1025148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456D0239-5251-7DBC-BC3C-126FE1F017EA}"/>
              </a:ext>
            </a:extLst>
          </p:cNvPr>
          <p:cNvSpPr txBox="1"/>
          <p:nvPr/>
        </p:nvSpPr>
        <p:spPr>
          <a:xfrm>
            <a:off x="8061841" y="3693052"/>
            <a:ext cx="142173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 Rounded MT Bold" panose="020F0704030504030204" pitchFamily="34" charset="77"/>
              </a:rPr>
              <a:t>Importance</a:t>
            </a:r>
          </a:p>
          <a:p>
            <a:pPr algn="ctr"/>
            <a:r>
              <a:rPr lang="en-US" sz="1400" dirty="0">
                <a:latin typeface="Arial Rounded MT Bold" panose="020F0704030504030204" pitchFamily="34" charset="77"/>
              </a:rPr>
              <a:t>sampling from</a:t>
            </a:r>
          </a:p>
          <a:p>
            <a:pPr algn="ctr"/>
            <a:r>
              <a:rPr lang="en-US" sz="1400" dirty="0">
                <a:latin typeface="Arial Rounded MT Bold" panose="020F0704030504030204" pitchFamily="34" charset="77"/>
              </a:rPr>
              <a:t>posterior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03631C7-5832-A1B2-FDE7-D8F680C86C9A}"/>
              </a:ext>
            </a:extLst>
          </p:cNvPr>
          <p:cNvSpPr txBox="1"/>
          <p:nvPr/>
        </p:nvSpPr>
        <p:spPr>
          <a:xfrm>
            <a:off x="9160662" y="6035123"/>
            <a:ext cx="8771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 Rounded MT Bold" panose="020F0704030504030204" pitchFamily="34" charset="77"/>
              </a:rPr>
              <a:t>Z space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FA71C4C-062C-AC56-A0B3-5EFCFDEE303B}"/>
              </a:ext>
            </a:extLst>
          </p:cNvPr>
          <p:cNvGrpSpPr/>
          <p:nvPr/>
        </p:nvGrpSpPr>
        <p:grpSpPr>
          <a:xfrm>
            <a:off x="8032520" y="4572551"/>
            <a:ext cx="2571064" cy="1370702"/>
            <a:chOff x="1133247" y="4882932"/>
            <a:chExt cx="3443895" cy="1370702"/>
          </a:xfrm>
        </p:grpSpPr>
        <p:pic>
          <p:nvPicPr>
            <p:cNvPr id="50" name="Picture 49" descr="Gaussian filter, or Gaussian blur — Librow — Digital LCD dashboards for  cars and boats">
              <a:extLst>
                <a:ext uri="{FF2B5EF4-FFF2-40B4-BE49-F238E27FC236}">
                  <a16:creationId xmlns:a16="http://schemas.microsoft.com/office/drawing/2014/main" id="{F9E0E335-0791-F19B-2BA5-7E1EC0A139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3247" y="5063200"/>
              <a:ext cx="1561429" cy="11355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2" name="Picture 61" descr="Gaussian filter, or Gaussian blur — Librow — Digital LCD dashboards for  cars and boats">
              <a:extLst>
                <a:ext uri="{FF2B5EF4-FFF2-40B4-BE49-F238E27FC236}">
                  <a16:creationId xmlns:a16="http://schemas.microsoft.com/office/drawing/2014/main" id="{523F7E7D-09E5-8C64-8426-A7A2EB8E21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67215" y="4882932"/>
              <a:ext cx="1229691" cy="11355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3" name="Picture 62" descr="Gaussian filter, or Gaussian blur — Librow — Digital LCD dashboards for  cars and boats">
              <a:extLst>
                <a:ext uri="{FF2B5EF4-FFF2-40B4-BE49-F238E27FC236}">
                  <a16:creationId xmlns:a16="http://schemas.microsoft.com/office/drawing/2014/main" id="{7337C018-3602-B910-6E5A-399599038F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01782" y="5041998"/>
              <a:ext cx="1975360" cy="8173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312" name="Picture 13311" descr="Gaussian filter, or Gaussian blur — Librow — Digital LCD dashboards for  cars and boats">
              <a:extLst>
                <a:ext uri="{FF2B5EF4-FFF2-40B4-BE49-F238E27FC236}">
                  <a16:creationId xmlns:a16="http://schemas.microsoft.com/office/drawing/2014/main" id="{FE306FDE-43B0-A292-89EB-3A5D81231E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89668" y="5696015"/>
              <a:ext cx="2160855" cy="5576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3313" name="Picture 13312">
            <a:extLst>
              <a:ext uri="{FF2B5EF4-FFF2-40B4-BE49-F238E27FC236}">
                <a16:creationId xmlns:a16="http://schemas.microsoft.com/office/drawing/2014/main" id="{42B2C900-9DB1-94AD-D442-E51688EF59B0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491930" y="3789673"/>
            <a:ext cx="876300" cy="622300"/>
          </a:xfrm>
          <a:prstGeom prst="rect">
            <a:avLst/>
          </a:prstGeom>
        </p:spPr>
      </p:pic>
      <p:grpSp>
        <p:nvGrpSpPr>
          <p:cNvPr id="13315" name="Group 13314">
            <a:extLst>
              <a:ext uri="{FF2B5EF4-FFF2-40B4-BE49-F238E27FC236}">
                <a16:creationId xmlns:a16="http://schemas.microsoft.com/office/drawing/2014/main" id="{AECF46A5-C329-3B3A-9559-EB7DDAB78462}"/>
              </a:ext>
            </a:extLst>
          </p:cNvPr>
          <p:cNvGrpSpPr/>
          <p:nvPr/>
        </p:nvGrpSpPr>
        <p:grpSpPr>
          <a:xfrm>
            <a:off x="7019642" y="4243492"/>
            <a:ext cx="1291942" cy="1494379"/>
            <a:chOff x="6991125" y="2717682"/>
            <a:chExt cx="1291942" cy="1494379"/>
          </a:xfrm>
        </p:grpSpPr>
        <p:grpSp>
          <p:nvGrpSpPr>
            <p:cNvPr id="13316" name="Group 13315">
              <a:extLst>
                <a:ext uri="{FF2B5EF4-FFF2-40B4-BE49-F238E27FC236}">
                  <a16:creationId xmlns:a16="http://schemas.microsoft.com/office/drawing/2014/main" id="{FF39AC4C-A374-3CB4-3CE7-00FFD861372E}"/>
                </a:ext>
              </a:extLst>
            </p:cNvPr>
            <p:cNvGrpSpPr/>
            <p:nvPr/>
          </p:nvGrpSpPr>
          <p:grpSpPr>
            <a:xfrm>
              <a:off x="6991125" y="2717682"/>
              <a:ext cx="576567" cy="1494379"/>
              <a:chOff x="7199047" y="4033850"/>
              <a:chExt cx="576567" cy="1494379"/>
            </a:xfrm>
          </p:grpSpPr>
          <p:sp>
            <p:nvSpPr>
              <p:cNvPr id="13318" name="Trapezoid 13317">
                <a:extLst>
                  <a:ext uri="{FF2B5EF4-FFF2-40B4-BE49-F238E27FC236}">
                    <a16:creationId xmlns:a16="http://schemas.microsoft.com/office/drawing/2014/main" id="{01A9F9B9-B728-A69E-75A3-E1E327F90439}"/>
                  </a:ext>
                </a:extLst>
              </p:cNvPr>
              <p:cNvSpPr/>
              <p:nvPr/>
            </p:nvSpPr>
            <p:spPr>
              <a:xfrm rot="5400000">
                <a:off x="6740141" y="4492756"/>
                <a:ext cx="1494379" cy="576567"/>
              </a:xfrm>
              <a:prstGeom prst="trapezoid">
                <a:avLst>
                  <a:gd name="adj" fmla="val 46698"/>
                </a:avLst>
              </a:prstGeom>
              <a:solidFill>
                <a:schemeClr val="bg1">
                  <a:lumMod val="6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319" name="TextBox 13318">
                <a:extLst>
                  <a:ext uri="{FF2B5EF4-FFF2-40B4-BE49-F238E27FC236}">
                    <a16:creationId xmlns:a16="http://schemas.microsoft.com/office/drawing/2014/main" id="{F8BB6DE6-FA62-204E-23C2-FF62EAC10FD4}"/>
                  </a:ext>
                </a:extLst>
              </p:cNvPr>
              <p:cNvSpPr txBox="1"/>
              <p:nvPr/>
            </p:nvSpPr>
            <p:spPr>
              <a:xfrm rot="5400000">
                <a:off x="6934539" y="4596373"/>
                <a:ext cx="11384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 Rounded MT Bold" panose="020F0704030504030204" pitchFamily="34" charset="77"/>
                  </a:rPr>
                  <a:t>Encoder</a:t>
                </a:r>
              </a:p>
            </p:txBody>
          </p:sp>
        </p:grpSp>
        <p:cxnSp>
          <p:nvCxnSpPr>
            <p:cNvPr id="13317" name="Straight Arrow Connector 13316">
              <a:extLst>
                <a:ext uri="{FF2B5EF4-FFF2-40B4-BE49-F238E27FC236}">
                  <a16:creationId xmlns:a16="http://schemas.microsoft.com/office/drawing/2014/main" id="{949A2599-0468-74FB-0B54-2CDE739BD21E}"/>
                </a:ext>
              </a:extLst>
            </p:cNvPr>
            <p:cNvCxnSpPr>
              <a:cxnSpLocks/>
            </p:cNvCxnSpPr>
            <p:nvPr/>
          </p:nvCxnSpPr>
          <p:spPr>
            <a:xfrm>
              <a:off x="7567692" y="3414610"/>
              <a:ext cx="715375" cy="450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9145172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7444" y="169694"/>
            <a:ext cx="2335325" cy="44712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 rotWithShape="1">
          <a:blip r:embed="rId3" cstate="print"/>
          <a:srcRect t="1" b="-1126"/>
          <a:stretch/>
        </p:blipFill>
        <p:spPr>
          <a:xfrm>
            <a:off x="220732" y="876460"/>
            <a:ext cx="5875268" cy="51823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4274687-E58A-7F28-C7D1-9ABB274018B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170475" y="4759403"/>
            <a:ext cx="2025343" cy="352590"/>
          </a:xfrm>
          <a:prstGeom prst="rect">
            <a:avLst/>
          </a:prstGeom>
        </p:spPr>
      </p:pic>
      <p:sp>
        <p:nvSpPr>
          <p:cNvPr id="10" name="Parallelogram 9">
            <a:extLst>
              <a:ext uri="{FF2B5EF4-FFF2-40B4-BE49-F238E27FC236}">
                <a16:creationId xmlns:a16="http://schemas.microsoft.com/office/drawing/2014/main" id="{799AA982-2BDF-E2B5-A798-60DCCF53DE3E}"/>
              </a:ext>
            </a:extLst>
          </p:cNvPr>
          <p:cNvSpPr/>
          <p:nvPr/>
        </p:nvSpPr>
        <p:spPr>
          <a:xfrm>
            <a:off x="8140602" y="1868977"/>
            <a:ext cx="2387531" cy="875187"/>
          </a:xfrm>
          <a:prstGeom prst="parallelogram">
            <a:avLst>
              <a:gd name="adj" fmla="val 5718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" descr="Bi modal histograms. What they want to tell us?">
            <a:extLst>
              <a:ext uri="{FF2B5EF4-FFF2-40B4-BE49-F238E27FC236}">
                <a16:creationId xmlns:a16="http://schemas.microsoft.com/office/drawing/2014/main" id="{0E903490-2F74-4110-91A9-8470EC176C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clrChange>
              <a:clrFrom>
                <a:srgbClr val="F9EFE5"/>
              </a:clrFrom>
              <a:clrTo>
                <a:srgbClr val="F9EFE5">
                  <a:alpha val="0"/>
                </a:srgbClr>
              </a:clrTo>
            </a:clrChange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14" t="14812" r="5916" b="14774"/>
          <a:stretch/>
        </p:blipFill>
        <p:spPr bwMode="auto">
          <a:xfrm>
            <a:off x="8304454" y="756458"/>
            <a:ext cx="2169562" cy="1783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392A0CCA-4F50-0AC3-DBDA-1B3A04A56EFE}"/>
              </a:ext>
            </a:extLst>
          </p:cNvPr>
          <p:cNvGrpSpPr/>
          <p:nvPr/>
        </p:nvGrpSpPr>
        <p:grpSpPr>
          <a:xfrm>
            <a:off x="10280466" y="946624"/>
            <a:ext cx="1674176" cy="1494379"/>
            <a:chOff x="9739269" y="1314490"/>
            <a:chExt cx="1674176" cy="1494379"/>
          </a:xfrm>
        </p:grpSpPr>
        <p:sp>
          <p:nvSpPr>
            <p:cNvPr id="25" name="Trapezoid 24">
              <a:extLst>
                <a:ext uri="{FF2B5EF4-FFF2-40B4-BE49-F238E27FC236}">
                  <a16:creationId xmlns:a16="http://schemas.microsoft.com/office/drawing/2014/main" id="{7642063B-A273-E36E-E76F-206BB2FBE87D}"/>
                </a:ext>
              </a:extLst>
            </p:cNvPr>
            <p:cNvSpPr/>
            <p:nvPr/>
          </p:nvSpPr>
          <p:spPr>
            <a:xfrm rot="16200000">
              <a:off x="10377972" y="1773396"/>
              <a:ext cx="1494379" cy="576567"/>
            </a:xfrm>
            <a:prstGeom prst="trapezoid">
              <a:avLst>
                <a:gd name="adj" fmla="val 46698"/>
              </a:avLst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D405F49-6892-078F-FAC7-F8141A4B8047}"/>
                </a:ext>
              </a:extLst>
            </p:cNvPr>
            <p:cNvSpPr txBox="1"/>
            <p:nvPr/>
          </p:nvSpPr>
          <p:spPr>
            <a:xfrm rot="16200000">
              <a:off x="10564355" y="1877013"/>
              <a:ext cx="11544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Decoder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FBDC08AC-53A1-2802-C06C-E952FE2EC0A2}"/>
                </a:ext>
              </a:extLst>
            </p:cNvPr>
            <p:cNvCxnSpPr>
              <a:cxnSpLocks/>
            </p:cNvCxnSpPr>
            <p:nvPr/>
          </p:nvCxnSpPr>
          <p:spPr>
            <a:xfrm>
              <a:off x="9739269" y="2053102"/>
              <a:ext cx="1025148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341CFE70-15DF-CE47-1145-8A595F6A06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3338" y="316922"/>
            <a:ext cx="591813" cy="294133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D604404D-5EE7-33AC-41BB-C66BCF3F7742}"/>
              </a:ext>
            </a:extLst>
          </p:cNvPr>
          <p:cNvSpPr txBox="1"/>
          <p:nvPr/>
        </p:nvSpPr>
        <p:spPr>
          <a:xfrm>
            <a:off x="8291983" y="169694"/>
            <a:ext cx="9781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 Rounded MT Bold" panose="020F0704030504030204" pitchFamily="34" charset="77"/>
              </a:rPr>
              <a:t>True but </a:t>
            </a:r>
          </a:p>
          <a:p>
            <a:pPr algn="ctr"/>
            <a:r>
              <a:rPr lang="en-US" sz="1400" dirty="0">
                <a:latin typeface="Arial Rounded MT Bold" panose="020F0704030504030204" pitchFamily="34" charset="77"/>
              </a:rPr>
              <a:t>unknown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E843237-845E-FAAD-4E1A-BE5B32FA71DC}"/>
              </a:ext>
            </a:extLst>
          </p:cNvPr>
          <p:cNvSpPr txBox="1"/>
          <p:nvPr/>
        </p:nvSpPr>
        <p:spPr>
          <a:xfrm>
            <a:off x="9160662" y="2734476"/>
            <a:ext cx="8771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 Rounded MT Bold" panose="020F0704030504030204" pitchFamily="34" charset="77"/>
              </a:rPr>
              <a:t>Z space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D1490AF-0B3B-1328-A188-53F86B6C530D}"/>
              </a:ext>
            </a:extLst>
          </p:cNvPr>
          <p:cNvGrpSpPr/>
          <p:nvPr/>
        </p:nvGrpSpPr>
        <p:grpSpPr>
          <a:xfrm>
            <a:off x="7012512" y="946624"/>
            <a:ext cx="576567" cy="1494379"/>
            <a:chOff x="7199047" y="4033850"/>
            <a:chExt cx="576567" cy="1494379"/>
          </a:xfrm>
        </p:grpSpPr>
        <p:sp>
          <p:nvSpPr>
            <p:cNvPr id="32" name="Trapezoid 31">
              <a:extLst>
                <a:ext uri="{FF2B5EF4-FFF2-40B4-BE49-F238E27FC236}">
                  <a16:creationId xmlns:a16="http://schemas.microsoft.com/office/drawing/2014/main" id="{CC998B18-ACA5-61A4-60A0-A510FE158651}"/>
                </a:ext>
              </a:extLst>
            </p:cNvPr>
            <p:cNvSpPr/>
            <p:nvPr/>
          </p:nvSpPr>
          <p:spPr>
            <a:xfrm rot="5400000">
              <a:off x="6740141" y="4492756"/>
              <a:ext cx="1494379" cy="576567"/>
            </a:xfrm>
            <a:prstGeom prst="trapezoid">
              <a:avLst>
                <a:gd name="adj" fmla="val 46698"/>
              </a:avLst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E4C02F9-BEEF-1D55-3DCC-F87F7C275CE3}"/>
                </a:ext>
              </a:extLst>
            </p:cNvPr>
            <p:cNvSpPr txBox="1"/>
            <p:nvPr/>
          </p:nvSpPr>
          <p:spPr>
            <a:xfrm rot="5400000">
              <a:off x="6934539" y="4596373"/>
              <a:ext cx="11384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Encoder</a:t>
              </a:r>
            </a:p>
          </p:txBody>
        </p:sp>
      </p:grp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4BF2969-9979-A2D3-8783-7D8A898A27E0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7589079" y="1643552"/>
            <a:ext cx="715375" cy="4500"/>
          </a:xfrm>
          <a:prstGeom prst="straightConnector1">
            <a:avLst/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Parallelogram 34">
            <a:extLst>
              <a:ext uri="{FF2B5EF4-FFF2-40B4-BE49-F238E27FC236}">
                <a16:creationId xmlns:a16="http://schemas.microsoft.com/office/drawing/2014/main" id="{ABAD85B7-6716-18FB-9FA6-57D47B392E44}"/>
              </a:ext>
            </a:extLst>
          </p:cNvPr>
          <p:cNvSpPr/>
          <p:nvPr/>
        </p:nvSpPr>
        <p:spPr>
          <a:xfrm>
            <a:off x="8140602" y="5169624"/>
            <a:ext cx="2387531" cy="875187"/>
          </a:xfrm>
          <a:prstGeom prst="parallelogram">
            <a:avLst>
              <a:gd name="adj" fmla="val 5718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B694682-0C33-135B-0CEB-0BD4F2AF4F3E}"/>
              </a:ext>
            </a:extLst>
          </p:cNvPr>
          <p:cNvGrpSpPr/>
          <p:nvPr/>
        </p:nvGrpSpPr>
        <p:grpSpPr>
          <a:xfrm>
            <a:off x="10280466" y="4247271"/>
            <a:ext cx="1674176" cy="1494379"/>
            <a:chOff x="9739269" y="1314490"/>
            <a:chExt cx="1674176" cy="1494379"/>
          </a:xfrm>
        </p:grpSpPr>
        <p:sp>
          <p:nvSpPr>
            <p:cNvPr id="37" name="Trapezoid 36">
              <a:extLst>
                <a:ext uri="{FF2B5EF4-FFF2-40B4-BE49-F238E27FC236}">
                  <a16:creationId xmlns:a16="http://schemas.microsoft.com/office/drawing/2014/main" id="{FB71A812-CF4B-359B-4E8B-B8B17362332E}"/>
                </a:ext>
              </a:extLst>
            </p:cNvPr>
            <p:cNvSpPr/>
            <p:nvPr/>
          </p:nvSpPr>
          <p:spPr>
            <a:xfrm rot="16200000">
              <a:off x="10377972" y="1773396"/>
              <a:ext cx="1494379" cy="576567"/>
            </a:xfrm>
            <a:prstGeom prst="trapezoid">
              <a:avLst>
                <a:gd name="adj" fmla="val 46698"/>
              </a:avLst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012E882-DE40-3963-81E1-D80F8712314D}"/>
                </a:ext>
              </a:extLst>
            </p:cNvPr>
            <p:cNvSpPr txBox="1"/>
            <p:nvPr/>
          </p:nvSpPr>
          <p:spPr>
            <a:xfrm rot="16200000">
              <a:off x="10564355" y="1877013"/>
              <a:ext cx="11544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Decoder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73903032-D346-751B-F1A2-6F139E160E60}"/>
                </a:ext>
              </a:extLst>
            </p:cNvPr>
            <p:cNvCxnSpPr>
              <a:cxnSpLocks/>
            </p:cNvCxnSpPr>
            <p:nvPr/>
          </p:nvCxnSpPr>
          <p:spPr>
            <a:xfrm>
              <a:off x="9739269" y="2053102"/>
              <a:ext cx="1025148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10C938B1-1636-E102-A44D-1317A38FEB40}"/>
              </a:ext>
            </a:extLst>
          </p:cNvPr>
          <p:cNvSpPr txBox="1"/>
          <p:nvPr/>
        </p:nvSpPr>
        <p:spPr>
          <a:xfrm>
            <a:off x="8061841" y="3693052"/>
            <a:ext cx="142173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 Rounded MT Bold" panose="020F0704030504030204" pitchFamily="34" charset="77"/>
              </a:rPr>
              <a:t>Importance</a:t>
            </a:r>
          </a:p>
          <a:p>
            <a:pPr algn="ctr"/>
            <a:r>
              <a:rPr lang="en-US" sz="1400" dirty="0">
                <a:latin typeface="Arial Rounded MT Bold" panose="020F0704030504030204" pitchFamily="34" charset="77"/>
              </a:rPr>
              <a:t>sampling from</a:t>
            </a:r>
          </a:p>
          <a:p>
            <a:pPr algn="ctr"/>
            <a:r>
              <a:rPr lang="en-US" sz="1400" dirty="0">
                <a:latin typeface="Arial Rounded MT Bold" panose="020F0704030504030204" pitchFamily="34" charset="77"/>
              </a:rPr>
              <a:t>posterior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CD8B57B-5258-0AE8-9464-D8DC65DFB2E7}"/>
              </a:ext>
            </a:extLst>
          </p:cNvPr>
          <p:cNvSpPr txBox="1"/>
          <p:nvPr/>
        </p:nvSpPr>
        <p:spPr>
          <a:xfrm>
            <a:off x="9160662" y="6035123"/>
            <a:ext cx="8771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 Rounded MT Bold" panose="020F0704030504030204" pitchFamily="34" charset="77"/>
              </a:rPr>
              <a:t>Z space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311CA2E-20C1-A409-7AE4-E5A5FCF5D087}"/>
              </a:ext>
            </a:extLst>
          </p:cNvPr>
          <p:cNvGrpSpPr/>
          <p:nvPr/>
        </p:nvGrpSpPr>
        <p:grpSpPr>
          <a:xfrm>
            <a:off x="8032520" y="4572551"/>
            <a:ext cx="2571064" cy="1370702"/>
            <a:chOff x="1133247" y="4882932"/>
            <a:chExt cx="3443895" cy="1370702"/>
          </a:xfrm>
        </p:grpSpPr>
        <p:pic>
          <p:nvPicPr>
            <p:cNvPr id="47" name="Picture 46" descr="Gaussian filter, or Gaussian blur — Librow — Digital LCD dashboards for  cars and boats">
              <a:extLst>
                <a:ext uri="{FF2B5EF4-FFF2-40B4-BE49-F238E27FC236}">
                  <a16:creationId xmlns:a16="http://schemas.microsoft.com/office/drawing/2014/main" id="{E561D1DE-48A5-09D3-1A31-3C1E7A20AC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3247" y="5063200"/>
              <a:ext cx="1561429" cy="11355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9" name="Picture 48" descr="Gaussian filter, or Gaussian blur — Librow — Digital LCD dashboards for  cars and boats">
              <a:extLst>
                <a:ext uri="{FF2B5EF4-FFF2-40B4-BE49-F238E27FC236}">
                  <a16:creationId xmlns:a16="http://schemas.microsoft.com/office/drawing/2014/main" id="{5220C877-5669-B0EF-C8FE-200CC9DFD3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67215" y="4882932"/>
              <a:ext cx="1229691" cy="11355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0" name="Picture 49" descr="Gaussian filter, or Gaussian blur — Librow — Digital LCD dashboards for  cars and boats">
              <a:extLst>
                <a:ext uri="{FF2B5EF4-FFF2-40B4-BE49-F238E27FC236}">
                  <a16:creationId xmlns:a16="http://schemas.microsoft.com/office/drawing/2014/main" id="{9892328F-97FF-D728-8CB3-F9D682FA54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01782" y="5041998"/>
              <a:ext cx="1975360" cy="8173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2" name="Picture 61" descr="Gaussian filter, or Gaussian blur — Librow — Digital LCD dashboards for  cars and boats">
              <a:extLst>
                <a:ext uri="{FF2B5EF4-FFF2-40B4-BE49-F238E27FC236}">
                  <a16:creationId xmlns:a16="http://schemas.microsoft.com/office/drawing/2014/main" id="{D22E0D46-359A-2E11-EACA-B6F4B79569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89668" y="5696015"/>
              <a:ext cx="2160855" cy="5576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63" name="Picture 62">
            <a:extLst>
              <a:ext uri="{FF2B5EF4-FFF2-40B4-BE49-F238E27FC236}">
                <a16:creationId xmlns:a16="http://schemas.microsoft.com/office/drawing/2014/main" id="{6794BB39-4A80-C201-1DBF-35ADC20E70B7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491930" y="3789673"/>
            <a:ext cx="876300" cy="622300"/>
          </a:xfrm>
          <a:prstGeom prst="rect">
            <a:avLst/>
          </a:prstGeom>
        </p:spPr>
      </p:pic>
      <p:grpSp>
        <p:nvGrpSpPr>
          <p:cNvPr id="13312" name="Group 13311">
            <a:extLst>
              <a:ext uri="{FF2B5EF4-FFF2-40B4-BE49-F238E27FC236}">
                <a16:creationId xmlns:a16="http://schemas.microsoft.com/office/drawing/2014/main" id="{D1E6AC7F-7266-5908-C297-ACAE1C85E8CA}"/>
              </a:ext>
            </a:extLst>
          </p:cNvPr>
          <p:cNvGrpSpPr/>
          <p:nvPr/>
        </p:nvGrpSpPr>
        <p:grpSpPr>
          <a:xfrm>
            <a:off x="7019642" y="4243492"/>
            <a:ext cx="1291942" cy="1494379"/>
            <a:chOff x="6991125" y="2717682"/>
            <a:chExt cx="1291942" cy="1494379"/>
          </a:xfrm>
        </p:grpSpPr>
        <p:grpSp>
          <p:nvGrpSpPr>
            <p:cNvPr id="13313" name="Group 13312">
              <a:extLst>
                <a:ext uri="{FF2B5EF4-FFF2-40B4-BE49-F238E27FC236}">
                  <a16:creationId xmlns:a16="http://schemas.microsoft.com/office/drawing/2014/main" id="{90D8A770-3A1D-D647-A5C4-1AF6EA963ED5}"/>
                </a:ext>
              </a:extLst>
            </p:cNvPr>
            <p:cNvGrpSpPr/>
            <p:nvPr/>
          </p:nvGrpSpPr>
          <p:grpSpPr>
            <a:xfrm>
              <a:off x="6991125" y="2717682"/>
              <a:ext cx="576567" cy="1494379"/>
              <a:chOff x="7199047" y="4033850"/>
              <a:chExt cx="576567" cy="1494379"/>
            </a:xfrm>
          </p:grpSpPr>
          <p:sp>
            <p:nvSpPr>
              <p:cNvPr id="13316" name="Trapezoid 13315">
                <a:extLst>
                  <a:ext uri="{FF2B5EF4-FFF2-40B4-BE49-F238E27FC236}">
                    <a16:creationId xmlns:a16="http://schemas.microsoft.com/office/drawing/2014/main" id="{8667CF4D-6A20-9D45-5B18-51D3ED12D929}"/>
                  </a:ext>
                </a:extLst>
              </p:cNvPr>
              <p:cNvSpPr/>
              <p:nvPr/>
            </p:nvSpPr>
            <p:spPr>
              <a:xfrm rot="5400000">
                <a:off x="6740141" y="4492756"/>
                <a:ext cx="1494379" cy="576567"/>
              </a:xfrm>
              <a:prstGeom prst="trapezoid">
                <a:avLst>
                  <a:gd name="adj" fmla="val 46698"/>
                </a:avLst>
              </a:prstGeom>
              <a:solidFill>
                <a:schemeClr val="bg1">
                  <a:lumMod val="6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317" name="TextBox 13316">
                <a:extLst>
                  <a:ext uri="{FF2B5EF4-FFF2-40B4-BE49-F238E27FC236}">
                    <a16:creationId xmlns:a16="http://schemas.microsoft.com/office/drawing/2014/main" id="{B80362F8-1DE2-1259-CAC5-1CFCEEA188CD}"/>
                  </a:ext>
                </a:extLst>
              </p:cNvPr>
              <p:cNvSpPr txBox="1"/>
              <p:nvPr/>
            </p:nvSpPr>
            <p:spPr>
              <a:xfrm rot="5400000">
                <a:off x="6934539" y="4596373"/>
                <a:ext cx="11384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 Rounded MT Bold" panose="020F0704030504030204" pitchFamily="34" charset="77"/>
                  </a:rPr>
                  <a:t>Encoder</a:t>
                </a:r>
              </a:p>
            </p:txBody>
          </p:sp>
        </p:grpSp>
        <p:cxnSp>
          <p:nvCxnSpPr>
            <p:cNvPr id="13315" name="Straight Arrow Connector 13314">
              <a:extLst>
                <a:ext uri="{FF2B5EF4-FFF2-40B4-BE49-F238E27FC236}">
                  <a16:creationId xmlns:a16="http://schemas.microsoft.com/office/drawing/2014/main" id="{F498C608-06EB-416C-E131-7B545722A5F8}"/>
                </a:ext>
              </a:extLst>
            </p:cNvPr>
            <p:cNvCxnSpPr>
              <a:cxnSpLocks/>
            </p:cNvCxnSpPr>
            <p:nvPr/>
          </p:nvCxnSpPr>
          <p:spPr>
            <a:xfrm>
              <a:off x="7567692" y="3414610"/>
              <a:ext cx="715375" cy="450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4071823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7444" y="169694"/>
            <a:ext cx="2335325" cy="44712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 rotWithShape="1">
          <a:blip r:embed="rId3" cstate="print"/>
          <a:srcRect t="1" b="-1126"/>
          <a:stretch/>
        </p:blipFill>
        <p:spPr>
          <a:xfrm>
            <a:off x="220732" y="876460"/>
            <a:ext cx="5875268" cy="5182398"/>
          </a:xfrm>
          <a:prstGeom prst="rect">
            <a:avLst/>
          </a:prstGeom>
        </p:spPr>
      </p:pic>
      <p:sp>
        <p:nvSpPr>
          <p:cNvPr id="51" name="Parallelogram 50">
            <a:extLst>
              <a:ext uri="{FF2B5EF4-FFF2-40B4-BE49-F238E27FC236}">
                <a16:creationId xmlns:a16="http://schemas.microsoft.com/office/drawing/2014/main" id="{D6CCFF76-BE63-EC27-0CBF-54F9F53E87BA}"/>
              </a:ext>
            </a:extLst>
          </p:cNvPr>
          <p:cNvSpPr/>
          <p:nvPr/>
        </p:nvSpPr>
        <p:spPr>
          <a:xfrm>
            <a:off x="8140602" y="1868977"/>
            <a:ext cx="2387531" cy="875187"/>
          </a:xfrm>
          <a:prstGeom prst="parallelogram">
            <a:avLst>
              <a:gd name="adj" fmla="val 5718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314" name="Picture 2" descr="Bi modal histograms. What they want to tell us?">
            <a:extLst>
              <a:ext uri="{FF2B5EF4-FFF2-40B4-BE49-F238E27FC236}">
                <a16:creationId xmlns:a16="http://schemas.microsoft.com/office/drawing/2014/main" id="{DEC03BD0-9B12-814C-EEB3-73EF6E147C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9EFE5"/>
              </a:clrFrom>
              <a:clrTo>
                <a:srgbClr val="F9EFE5">
                  <a:alpha val="0"/>
                </a:srgbClr>
              </a:clrTo>
            </a:clrChange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14" t="14812" r="5916" b="14774"/>
          <a:stretch/>
        </p:blipFill>
        <p:spPr bwMode="auto">
          <a:xfrm>
            <a:off x="8304454" y="756458"/>
            <a:ext cx="2169562" cy="1783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4" name="Group 53">
            <a:extLst>
              <a:ext uri="{FF2B5EF4-FFF2-40B4-BE49-F238E27FC236}">
                <a16:creationId xmlns:a16="http://schemas.microsoft.com/office/drawing/2014/main" id="{78A64723-77C1-D57C-511D-6610F320BA80}"/>
              </a:ext>
            </a:extLst>
          </p:cNvPr>
          <p:cNvGrpSpPr/>
          <p:nvPr/>
        </p:nvGrpSpPr>
        <p:grpSpPr>
          <a:xfrm>
            <a:off x="10280466" y="946624"/>
            <a:ext cx="1674176" cy="1494379"/>
            <a:chOff x="9739269" y="1314490"/>
            <a:chExt cx="1674176" cy="1494379"/>
          </a:xfrm>
        </p:grpSpPr>
        <p:sp>
          <p:nvSpPr>
            <p:cNvPr id="48" name="Trapezoid 47">
              <a:extLst>
                <a:ext uri="{FF2B5EF4-FFF2-40B4-BE49-F238E27FC236}">
                  <a16:creationId xmlns:a16="http://schemas.microsoft.com/office/drawing/2014/main" id="{555EEE48-F244-6C5C-8F94-AEBFF45CFB3D}"/>
                </a:ext>
              </a:extLst>
            </p:cNvPr>
            <p:cNvSpPr/>
            <p:nvPr/>
          </p:nvSpPr>
          <p:spPr>
            <a:xfrm rot="16200000">
              <a:off x="10377972" y="1773396"/>
              <a:ext cx="1494379" cy="576567"/>
            </a:xfrm>
            <a:prstGeom prst="trapezoid">
              <a:avLst>
                <a:gd name="adj" fmla="val 46698"/>
              </a:avLst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B53B3EE-FA54-EC3A-309F-B77C2B218410}"/>
                </a:ext>
              </a:extLst>
            </p:cNvPr>
            <p:cNvSpPr txBox="1"/>
            <p:nvPr/>
          </p:nvSpPr>
          <p:spPr>
            <a:xfrm rot="16200000">
              <a:off x="10564355" y="1877013"/>
              <a:ext cx="11544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Decoder</a:t>
              </a:r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643A4297-7E34-467E-4044-421041B5A091}"/>
                </a:ext>
              </a:extLst>
            </p:cNvPr>
            <p:cNvCxnSpPr>
              <a:cxnSpLocks/>
            </p:cNvCxnSpPr>
            <p:nvPr/>
          </p:nvCxnSpPr>
          <p:spPr>
            <a:xfrm>
              <a:off x="9739269" y="2053102"/>
              <a:ext cx="1025148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5" name="Picture 54">
            <a:extLst>
              <a:ext uri="{FF2B5EF4-FFF2-40B4-BE49-F238E27FC236}">
                <a16:creationId xmlns:a16="http://schemas.microsoft.com/office/drawing/2014/main" id="{6ECF939E-5E71-14D2-DD06-B3C708CCDB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3338" y="316922"/>
            <a:ext cx="591813" cy="294133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44CA5EA7-4E49-E34D-92B3-044493CC60DF}"/>
              </a:ext>
            </a:extLst>
          </p:cNvPr>
          <p:cNvSpPr txBox="1"/>
          <p:nvPr/>
        </p:nvSpPr>
        <p:spPr>
          <a:xfrm>
            <a:off x="8291983" y="169694"/>
            <a:ext cx="9781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 Rounded MT Bold" panose="020F0704030504030204" pitchFamily="34" charset="77"/>
              </a:rPr>
              <a:t>True but </a:t>
            </a:r>
          </a:p>
          <a:p>
            <a:pPr algn="ctr"/>
            <a:r>
              <a:rPr lang="en-US" sz="1400" dirty="0">
                <a:latin typeface="Arial Rounded MT Bold" panose="020F0704030504030204" pitchFamily="34" charset="77"/>
              </a:rPr>
              <a:t>unknown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BCD4FE4-9D17-8521-691F-143877836FE2}"/>
              </a:ext>
            </a:extLst>
          </p:cNvPr>
          <p:cNvSpPr txBox="1"/>
          <p:nvPr/>
        </p:nvSpPr>
        <p:spPr>
          <a:xfrm>
            <a:off x="9160662" y="2734476"/>
            <a:ext cx="8771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 Rounded MT Bold" panose="020F0704030504030204" pitchFamily="34" charset="77"/>
              </a:rPr>
              <a:t>Z space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B51FAE8-54D5-5299-BD35-3EE6547AE0AC}"/>
              </a:ext>
            </a:extLst>
          </p:cNvPr>
          <p:cNvGrpSpPr/>
          <p:nvPr/>
        </p:nvGrpSpPr>
        <p:grpSpPr>
          <a:xfrm>
            <a:off x="7012512" y="946624"/>
            <a:ext cx="576567" cy="1494379"/>
            <a:chOff x="7199047" y="4033850"/>
            <a:chExt cx="576567" cy="1494379"/>
          </a:xfrm>
        </p:grpSpPr>
        <p:sp>
          <p:nvSpPr>
            <p:cNvPr id="58" name="Trapezoid 57">
              <a:extLst>
                <a:ext uri="{FF2B5EF4-FFF2-40B4-BE49-F238E27FC236}">
                  <a16:creationId xmlns:a16="http://schemas.microsoft.com/office/drawing/2014/main" id="{1F72F4C0-1C0D-77D7-B75F-325C47285DA6}"/>
                </a:ext>
              </a:extLst>
            </p:cNvPr>
            <p:cNvSpPr/>
            <p:nvPr/>
          </p:nvSpPr>
          <p:spPr>
            <a:xfrm rot="5400000">
              <a:off x="6740141" y="4492756"/>
              <a:ext cx="1494379" cy="576567"/>
            </a:xfrm>
            <a:prstGeom prst="trapezoid">
              <a:avLst>
                <a:gd name="adj" fmla="val 46698"/>
              </a:avLst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3A90FB16-39D5-C041-4AC7-226383D9C737}"/>
                </a:ext>
              </a:extLst>
            </p:cNvPr>
            <p:cNvSpPr txBox="1"/>
            <p:nvPr/>
          </p:nvSpPr>
          <p:spPr>
            <a:xfrm rot="5400000">
              <a:off x="6934539" y="4596373"/>
              <a:ext cx="11384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Encoder</a:t>
              </a:r>
            </a:p>
          </p:txBody>
        </p:sp>
      </p:grp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EC3D1305-843E-B142-2B46-FFBD668C1089}"/>
              </a:ext>
            </a:extLst>
          </p:cNvPr>
          <p:cNvCxnSpPr>
            <a:cxnSpLocks/>
            <a:endCxn id="13314" idx="1"/>
          </p:cNvCxnSpPr>
          <p:nvPr/>
        </p:nvCxnSpPr>
        <p:spPr>
          <a:xfrm>
            <a:off x="7589079" y="1643552"/>
            <a:ext cx="715375" cy="4500"/>
          </a:xfrm>
          <a:prstGeom prst="straightConnector1">
            <a:avLst/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Parallelogram 3">
            <a:extLst>
              <a:ext uri="{FF2B5EF4-FFF2-40B4-BE49-F238E27FC236}">
                <a16:creationId xmlns:a16="http://schemas.microsoft.com/office/drawing/2014/main" id="{AE8CB0EC-1911-1465-7B04-87843F5216EF}"/>
              </a:ext>
            </a:extLst>
          </p:cNvPr>
          <p:cNvSpPr/>
          <p:nvPr/>
        </p:nvSpPr>
        <p:spPr>
          <a:xfrm>
            <a:off x="8140602" y="5169624"/>
            <a:ext cx="2387531" cy="875187"/>
          </a:xfrm>
          <a:prstGeom prst="parallelogram">
            <a:avLst>
              <a:gd name="adj" fmla="val 5718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E968E5E-31DE-B088-7FB3-994A425F500B}"/>
              </a:ext>
            </a:extLst>
          </p:cNvPr>
          <p:cNvGrpSpPr/>
          <p:nvPr/>
        </p:nvGrpSpPr>
        <p:grpSpPr>
          <a:xfrm>
            <a:off x="10280466" y="4247271"/>
            <a:ext cx="1674176" cy="1494379"/>
            <a:chOff x="9739269" y="1314490"/>
            <a:chExt cx="1674176" cy="1494379"/>
          </a:xfrm>
        </p:grpSpPr>
        <p:sp>
          <p:nvSpPr>
            <p:cNvPr id="7" name="Trapezoid 6">
              <a:extLst>
                <a:ext uri="{FF2B5EF4-FFF2-40B4-BE49-F238E27FC236}">
                  <a16:creationId xmlns:a16="http://schemas.microsoft.com/office/drawing/2014/main" id="{EDFE77C5-74D6-5F1E-5DDC-0F742A7111D8}"/>
                </a:ext>
              </a:extLst>
            </p:cNvPr>
            <p:cNvSpPr/>
            <p:nvPr/>
          </p:nvSpPr>
          <p:spPr>
            <a:xfrm rot="16200000">
              <a:off x="10377972" y="1773396"/>
              <a:ext cx="1494379" cy="576567"/>
            </a:xfrm>
            <a:prstGeom prst="trapezoid">
              <a:avLst>
                <a:gd name="adj" fmla="val 46698"/>
              </a:avLst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56FA065-0A84-37DA-0708-CBF56396B662}"/>
                </a:ext>
              </a:extLst>
            </p:cNvPr>
            <p:cNvSpPr txBox="1"/>
            <p:nvPr/>
          </p:nvSpPr>
          <p:spPr>
            <a:xfrm rot="16200000">
              <a:off x="10564355" y="1877013"/>
              <a:ext cx="11544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Decoder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1CF396F1-118A-3DBD-55AF-271C185AC266}"/>
                </a:ext>
              </a:extLst>
            </p:cNvPr>
            <p:cNvCxnSpPr>
              <a:cxnSpLocks/>
            </p:cNvCxnSpPr>
            <p:nvPr/>
          </p:nvCxnSpPr>
          <p:spPr>
            <a:xfrm>
              <a:off x="9739269" y="2053102"/>
              <a:ext cx="1025148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CBE664B0-CBD1-A0DE-27DA-94F8A3C28EAB}"/>
              </a:ext>
            </a:extLst>
          </p:cNvPr>
          <p:cNvSpPr txBox="1"/>
          <p:nvPr/>
        </p:nvSpPr>
        <p:spPr>
          <a:xfrm>
            <a:off x="8061841" y="3693052"/>
            <a:ext cx="142173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 Rounded MT Bold" panose="020F0704030504030204" pitchFamily="34" charset="77"/>
              </a:rPr>
              <a:t>Importance</a:t>
            </a:r>
          </a:p>
          <a:p>
            <a:pPr algn="ctr"/>
            <a:r>
              <a:rPr lang="en-US" sz="1400" dirty="0">
                <a:latin typeface="Arial Rounded MT Bold" panose="020F0704030504030204" pitchFamily="34" charset="77"/>
              </a:rPr>
              <a:t>sampling from</a:t>
            </a:r>
          </a:p>
          <a:p>
            <a:pPr algn="ctr"/>
            <a:r>
              <a:rPr lang="en-US" sz="1400" dirty="0">
                <a:latin typeface="Arial Rounded MT Bold" panose="020F0704030504030204" pitchFamily="34" charset="77"/>
              </a:rPr>
              <a:t>posterior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2F4207-7126-4EE9-E4A0-C67EB3665811}"/>
              </a:ext>
            </a:extLst>
          </p:cNvPr>
          <p:cNvSpPr txBox="1"/>
          <p:nvPr/>
        </p:nvSpPr>
        <p:spPr>
          <a:xfrm>
            <a:off x="9160662" y="6035123"/>
            <a:ext cx="8771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 Rounded MT Bold" panose="020F0704030504030204" pitchFamily="34" charset="77"/>
              </a:rPr>
              <a:t>Z space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3B45EF0-51FF-EDCC-ED93-8D94354D4185}"/>
              </a:ext>
            </a:extLst>
          </p:cNvPr>
          <p:cNvGrpSpPr/>
          <p:nvPr/>
        </p:nvGrpSpPr>
        <p:grpSpPr>
          <a:xfrm>
            <a:off x="8032520" y="4572551"/>
            <a:ext cx="2571064" cy="1370702"/>
            <a:chOff x="1133247" y="4882932"/>
            <a:chExt cx="3443895" cy="1370702"/>
          </a:xfrm>
        </p:grpSpPr>
        <p:pic>
          <p:nvPicPr>
            <p:cNvPr id="17" name="Picture 16" descr="Gaussian filter, or Gaussian blur — Librow — Digital LCD dashboards for  cars and boats">
              <a:extLst>
                <a:ext uri="{FF2B5EF4-FFF2-40B4-BE49-F238E27FC236}">
                  <a16:creationId xmlns:a16="http://schemas.microsoft.com/office/drawing/2014/main" id="{F54EEB61-237B-4B1D-0CD9-685A541F97E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3247" y="5063200"/>
              <a:ext cx="1561429" cy="11355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7" descr="Gaussian filter, or Gaussian blur — Librow — Digital LCD dashboards for  cars and boats">
              <a:extLst>
                <a:ext uri="{FF2B5EF4-FFF2-40B4-BE49-F238E27FC236}">
                  <a16:creationId xmlns:a16="http://schemas.microsoft.com/office/drawing/2014/main" id="{CDC93EE9-C577-643A-7838-2CC5E95FB2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67215" y="4882932"/>
              <a:ext cx="1229691" cy="11355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8" descr="Gaussian filter, or Gaussian blur — Librow — Digital LCD dashboards for  cars and boats">
              <a:extLst>
                <a:ext uri="{FF2B5EF4-FFF2-40B4-BE49-F238E27FC236}">
                  <a16:creationId xmlns:a16="http://schemas.microsoft.com/office/drawing/2014/main" id="{20B8493E-A4E2-6108-85E6-F91EB4D291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01782" y="5041998"/>
              <a:ext cx="1975360" cy="8173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19" descr="Gaussian filter, or Gaussian blur — Librow — Digital LCD dashboards for  cars and boats">
              <a:extLst>
                <a:ext uri="{FF2B5EF4-FFF2-40B4-BE49-F238E27FC236}">
                  <a16:creationId xmlns:a16="http://schemas.microsoft.com/office/drawing/2014/main" id="{0C32BFE1-D006-92CB-C32E-E5B8C737F3A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89668" y="5696015"/>
              <a:ext cx="2160855" cy="5576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2B2FA093-CF54-E8DB-D656-B610B3C7C9EA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491930" y="3789673"/>
            <a:ext cx="876300" cy="622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4274687-E58A-7F28-C7D1-9ABB274018B3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170475" y="4759403"/>
            <a:ext cx="2025343" cy="3525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9A664EF-3A82-10AF-E5DD-72C17B14743B}"/>
              </a:ext>
            </a:extLst>
          </p:cNvPr>
          <p:cNvSpPr txBox="1"/>
          <p:nvPr/>
        </p:nvSpPr>
        <p:spPr>
          <a:xfrm>
            <a:off x="4142263" y="6229862"/>
            <a:ext cx="3379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  <a:sym typeface="Wingdings" pitchFamily="2" charset="2"/>
              </a:rPr>
              <a:t>Samples from the posterior</a:t>
            </a:r>
            <a:endParaRPr lang="en-US" dirty="0">
              <a:solidFill>
                <a:srgbClr val="C00000"/>
              </a:solidFill>
              <a:latin typeface="Arial Rounded MT Bold" panose="020F0704030504030204" pitchFamily="34" charset="77"/>
            </a:endParaRPr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88AE68FD-2744-8927-D876-13484D77B16E}"/>
              </a:ext>
            </a:extLst>
          </p:cNvPr>
          <p:cNvSpPr/>
          <p:nvPr/>
        </p:nvSpPr>
        <p:spPr>
          <a:xfrm rot="773029" flipV="1">
            <a:off x="2055674" y="6158097"/>
            <a:ext cx="2096238" cy="150127"/>
          </a:xfrm>
          <a:custGeom>
            <a:avLst/>
            <a:gdLst>
              <a:gd name="connsiteX0" fmla="*/ 0 w 1583473"/>
              <a:gd name="connsiteY0" fmla="*/ 200978 h 200978"/>
              <a:gd name="connsiteX1" fmla="*/ 825190 w 1583473"/>
              <a:gd name="connsiteY1" fmla="*/ 256 h 200978"/>
              <a:gd name="connsiteX2" fmla="*/ 1583473 w 1583473"/>
              <a:gd name="connsiteY2" fmla="*/ 167524 h 200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83473" h="200978">
                <a:moveTo>
                  <a:pt x="0" y="200978"/>
                </a:moveTo>
                <a:cubicBezTo>
                  <a:pt x="280639" y="103405"/>
                  <a:pt x="561278" y="5832"/>
                  <a:pt x="825190" y="256"/>
                </a:cubicBezTo>
                <a:cubicBezTo>
                  <a:pt x="1089102" y="-5320"/>
                  <a:pt x="1336287" y="81102"/>
                  <a:pt x="1583473" y="167524"/>
                </a:cubicBezTo>
              </a:path>
            </a:pathLst>
          </a:custGeom>
          <a:noFill/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F97A219-AEFA-A5F1-5DF2-FEB9D22FA7C7}"/>
              </a:ext>
            </a:extLst>
          </p:cNvPr>
          <p:cNvGrpSpPr/>
          <p:nvPr/>
        </p:nvGrpSpPr>
        <p:grpSpPr>
          <a:xfrm>
            <a:off x="7019642" y="4243492"/>
            <a:ext cx="1291942" cy="1494379"/>
            <a:chOff x="6991125" y="2717682"/>
            <a:chExt cx="1291942" cy="1494379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0377C626-CE4E-1816-5306-AF3BF9E5DA28}"/>
                </a:ext>
              </a:extLst>
            </p:cNvPr>
            <p:cNvGrpSpPr/>
            <p:nvPr/>
          </p:nvGrpSpPr>
          <p:grpSpPr>
            <a:xfrm>
              <a:off x="6991125" y="2717682"/>
              <a:ext cx="576567" cy="1494379"/>
              <a:chOff x="7199047" y="4033850"/>
              <a:chExt cx="576567" cy="1494379"/>
            </a:xfrm>
          </p:grpSpPr>
          <p:sp>
            <p:nvSpPr>
              <p:cNvPr id="27" name="Trapezoid 26">
                <a:extLst>
                  <a:ext uri="{FF2B5EF4-FFF2-40B4-BE49-F238E27FC236}">
                    <a16:creationId xmlns:a16="http://schemas.microsoft.com/office/drawing/2014/main" id="{F36B1EAA-554A-A507-3B69-132419FC0AEB}"/>
                  </a:ext>
                </a:extLst>
              </p:cNvPr>
              <p:cNvSpPr/>
              <p:nvPr/>
            </p:nvSpPr>
            <p:spPr>
              <a:xfrm rot="5400000">
                <a:off x="6740141" y="4492756"/>
                <a:ext cx="1494379" cy="576567"/>
              </a:xfrm>
              <a:prstGeom prst="trapezoid">
                <a:avLst>
                  <a:gd name="adj" fmla="val 46698"/>
                </a:avLst>
              </a:prstGeom>
              <a:solidFill>
                <a:schemeClr val="bg1">
                  <a:lumMod val="6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1126686-CF93-4528-E088-E9C961BD34F6}"/>
                  </a:ext>
                </a:extLst>
              </p:cNvPr>
              <p:cNvSpPr txBox="1"/>
              <p:nvPr/>
            </p:nvSpPr>
            <p:spPr>
              <a:xfrm rot="5400000">
                <a:off x="6934539" y="4596373"/>
                <a:ext cx="11384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 Rounded MT Bold" panose="020F0704030504030204" pitchFamily="34" charset="77"/>
                  </a:rPr>
                  <a:t>Encoder</a:t>
                </a:r>
              </a:p>
            </p:txBody>
          </p:sp>
        </p:grp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B1E43197-0474-1833-AE38-EC85D8D8BCDD}"/>
                </a:ext>
              </a:extLst>
            </p:cNvPr>
            <p:cNvCxnSpPr>
              <a:cxnSpLocks/>
            </p:cNvCxnSpPr>
            <p:nvPr/>
          </p:nvCxnSpPr>
          <p:spPr>
            <a:xfrm>
              <a:off x="7567692" y="3414610"/>
              <a:ext cx="715375" cy="450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22355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7444" y="169694"/>
            <a:ext cx="2335325" cy="44712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 rotWithShape="1">
          <a:blip r:embed="rId3" cstate="print"/>
          <a:srcRect t="1" b="-1126"/>
          <a:stretch/>
        </p:blipFill>
        <p:spPr>
          <a:xfrm>
            <a:off x="422561" y="882970"/>
            <a:ext cx="3666815" cy="2816592"/>
          </a:xfrm>
          <a:prstGeom prst="rect">
            <a:avLst/>
          </a:prstGeom>
        </p:spPr>
      </p:pic>
      <p:sp>
        <p:nvSpPr>
          <p:cNvPr id="51" name="Parallelogram 50">
            <a:extLst>
              <a:ext uri="{FF2B5EF4-FFF2-40B4-BE49-F238E27FC236}">
                <a16:creationId xmlns:a16="http://schemas.microsoft.com/office/drawing/2014/main" id="{D6CCFF76-BE63-EC27-0CBF-54F9F53E87BA}"/>
              </a:ext>
            </a:extLst>
          </p:cNvPr>
          <p:cNvSpPr/>
          <p:nvPr/>
        </p:nvSpPr>
        <p:spPr>
          <a:xfrm>
            <a:off x="8140602" y="1868977"/>
            <a:ext cx="2387531" cy="875187"/>
          </a:xfrm>
          <a:prstGeom prst="parallelogram">
            <a:avLst>
              <a:gd name="adj" fmla="val 5718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314" name="Picture 2" descr="Bi modal histograms. What they want to tell us?">
            <a:extLst>
              <a:ext uri="{FF2B5EF4-FFF2-40B4-BE49-F238E27FC236}">
                <a16:creationId xmlns:a16="http://schemas.microsoft.com/office/drawing/2014/main" id="{DEC03BD0-9B12-814C-EEB3-73EF6E147C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9EFE5"/>
              </a:clrFrom>
              <a:clrTo>
                <a:srgbClr val="F9EFE5">
                  <a:alpha val="0"/>
                </a:srgbClr>
              </a:clrTo>
            </a:clrChange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14" t="14812" r="5916" b="14774"/>
          <a:stretch/>
        </p:blipFill>
        <p:spPr bwMode="auto">
          <a:xfrm>
            <a:off x="8304454" y="756458"/>
            <a:ext cx="2169562" cy="1783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4" name="Group 53">
            <a:extLst>
              <a:ext uri="{FF2B5EF4-FFF2-40B4-BE49-F238E27FC236}">
                <a16:creationId xmlns:a16="http://schemas.microsoft.com/office/drawing/2014/main" id="{78A64723-77C1-D57C-511D-6610F320BA80}"/>
              </a:ext>
            </a:extLst>
          </p:cNvPr>
          <p:cNvGrpSpPr/>
          <p:nvPr/>
        </p:nvGrpSpPr>
        <p:grpSpPr>
          <a:xfrm>
            <a:off x="10280466" y="946624"/>
            <a:ext cx="1674176" cy="1494379"/>
            <a:chOff x="9739269" y="1314490"/>
            <a:chExt cx="1674176" cy="1494379"/>
          </a:xfrm>
        </p:grpSpPr>
        <p:sp>
          <p:nvSpPr>
            <p:cNvPr id="48" name="Trapezoid 47">
              <a:extLst>
                <a:ext uri="{FF2B5EF4-FFF2-40B4-BE49-F238E27FC236}">
                  <a16:creationId xmlns:a16="http://schemas.microsoft.com/office/drawing/2014/main" id="{555EEE48-F244-6C5C-8F94-AEBFF45CFB3D}"/>
                </a:ext>
              </a:extLst>
            </p:cNvPr>
            <p:cNvSpPr/>
            <p:nvPr/>
          </p:nvSpPr>
          <p:spPr>
            <a:xfrm rot="16200000">
              <a:off x="10377972" y="1773396"/>
              <a:ext cx="1494379" cy="576567"/>
            </a:xfrm>
            <a:prstGeom prst="trapezoid">
              <a:avLst>
                <a:gd name="adj" fmla="val 46698"/>
              </a:avLst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B53B3EE-FA54-EC3A-309F-B77C2B218410}"/>
                </a:ext>
              </a:extLst>
            </p:cNvPr>
            <p:cNvSpPr txBox="1"/>
            <p:nvPr/>
          </p:nvSpPr>
          <p:spPr>
            <a:xfrm rot="16200000">
              <a:off x="10564355" y="1877013"/>
              <a:ext cx="11544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Decoder</a:t>
              </a:r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643A4297-7E34-467E-4044-421041B5A091}"/>
                </a:ext>
              </a:extLst>
            </p:cNvPr>
            <p:cNvCxnSpPr>
              <a:cxnSpLocks/>
            </p:cNvCxnSpPr>
            <p:nvPr/>
          </p:nvCxnSpPr>
          <p:spPr>
            <a:xfrm>
              <a:off x="9739269" y="2053102"/>
              <a:ext cx="1025148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5" name="Picture 54">
            <a:extLst>
              <a:ext uri="{FF2B5EF4-FFF2-40B4-BE49-F238E27FC236}">
                <a16:creationId xmlns:a16="http://schemas.microsoft.com/office/drawing/2014/main" id="{6ECF939E-5E71-14D2-DD06-B3C708CCDB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3338" y="316922"/>
            <a:ext cx="591813" cy="294133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44CA5EA7-4E49-E34D-92B3-044493CC60DF}"/>
              </a:ext>
            </a:extLst>
          </p:cNvPr>
          <p:cNvSpPr txBox="1"/>
          <p:nvPr/>
        </p:nvSpPr>
        <p:spPr>
          <a:xfrm>
            <a:off x="8291983" y="169694"/>
            <a:ext cx="9781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 Rounded MT Bold" panose="020F0704030504030204" pitchFamily="34" charset="77"/>
              </a:rPr>
              <a:t>True but </a:t>
            </a:r>
          </a:p>
          <a:p>
            <a:pPr algn="ctr"/>
            <a:r>
              <a:rPr lang="en-US" sz="1400" dirty="0">
                <a:latin typeface="Arial Rounded MT Bold" panose="020F0704030504030204" pitchFamily="34" charset="77"/>
              </a:rPr>
              <a:t>unknown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BCD4FE4-9D17-8521-691F-143877836FE2}"/>
              </a:ext>
            </a:extLst>
          </p:cNvPr>
          <p:cNvSpPr txBox="1"/>
          <p:nvPr/>
        </p:nvSpPr>
        <p:spPr>
          <a:xfrm>
            <a:off x="9160662" y="2734476"/>
            <a:ext cx="8771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 Rounded MT Bold" panose="020F0704030504030204" pitchFamily="34" charset="77"/>
              </a:rPr>
              <a:t>Z space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B51FAE8-54D5-5299-BD35-3EE6547AE0AC}"/>
              </a:ext>
            </a:extLst>
          </p:cNvPr>
          <p:cNvGrpSpPr/>
          <p:nvPr/>
        </p:nvGrpSpPr>
        <p:grpSpPr>
          <a:xfrm>
            <a:off x="7012512" y="946624"/>
            <a:ext cx="576567" cy="1494379"/>
            <a:chOff x="7199047" y="4033850"/>
            <a:chExt cx="576567" cy="1494379"/>
          </a:xfrm>
        </p:grpSpPr>
        <p:sp>
          <p:nvSpPr>
            <p:cNvPr id="58" name="Trapezoid 57">
              <a:extLst>
                <a:ext uri="{FF2B5EF4-FFF2-40B4-BE49-F238E27FC236}">
                  <a16:creationId xmlns:a16="http://schemas.microsoft.com/office/drawing/2014/main" id="{1F72F4C0-1C0D-77D7-B75F-325C47285DA6}"/>
                </a:ext>
              </a:extLst>
            </p:cNvPr>
            <p:cNvSpPr/>
            <p:nvPr/>
          </p:nvSpPr>
          <p:spPr>
            <a:xfrm rot="5400000">
              <a:off x="6740141" y="4492756"/>
              <a:ext cx="1494379" cy="576567"/>
            </a:xfrm>
            <a:prstGeom prst="trapezoid">
              <a:avLst>
                <a:gd name="adj" fmla="val 46698"/>
              </a:avLst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3A90FB16-39D5-C041-4AC7-226383D9C737}"/>
                </a:ext>
              </a:extLst>
            </p:cNvPr>
            <p:cNvSpPr txBox="1"/>
            <p:nvPr/>
          </p:nvSpPr>
          <p:spPr>
            <a:xfrm rot="5400000">
              <a:off x="6934539" y="4596373"/>
              <a:ext cx="11384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Encoder</a:t>
              </a:r>
            </a:p>
          </p:txBody>
        </p:sp>
      </p:grp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EC3D1305-843E-B142-2B46-FFBD668C1089}"/>
              </a:ext>
            </a:extLst>
          </p:cNvPr>
          <p:cNvCxnSpPr>
            <a:cxnSpLocks/>
            <a:endCxn id="13314" idx="1"/>
          </p:cNvCxnSpPr>
          <p:nvPr/>
        </p:nvCxnSpPr>
        <p:spPr>
          <a:xfrm>
            <a:off x="7589079" y="1643552"/>
            <a:ext cx="715375" cy="4500"/>
          </a:xfrm>
          <a:prstGeom prst="straightConnector1">
            <a:avLst/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Parallelogram 3">
            <a:extLst>
              <a:ext uri="{FF2B5EF4-FFF2-40B4-BE49-F238E27FC236}">
                <a16:creationId xmlns:a16="http://schemas.microsoft.com/office/drawing/2014/main" id="{AE8CB0EC-1911-1465-7B04-87843F5216EF}"/>
              </a:ext>
            </a:extLst>
          </p:cNvPr>
          <p:cNvSpPr/>
          <p:nvPr/>
        </p:nvSpPr>
        <p:spPr>
          <a:xfrm>
            <a:off x="8140602" y="5169624"/>
            <a:ext cx="2387531" cy="875187"/>
          </a:xfrm>
          <a:prstGeom prst="parallelogram">
            <a:avLst>
              <a:gd name="adj" fmla="val 5718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E968E5E-31DE-B088-7FB3-994A425F500B}"/>
              </a:ext>
            </a:extLst>
          </p:cNvPr>
          <p:cNvGrpSpPr/>
          <p:nvPr/>
        </p:nvGrpSpPr>
        <p:grpSpPr>
          <a:xfrm>
            <a:off x="10280466" y="4247271"/>
            <a:ext cx="1674176" cy="1494379"/>
            <a:chOff x="9739269" y="1314490"/>
            <a:chExt cx="1674176" cy="1494379"/>
          </a:xfrm>
        </p:grpSpPr>
        <p:sp>
          <p:nvSpPr>
            <p:cNvPr id="7" name="Trapezoid 6">
              <a:extLst>
                <a:ext uri="{FF2B5EF4-FFF2-40B4-BE49-F238E27FC236}">
                  <a16:creationId xmlns:a16="http://schemas.microsoft.com/office/drawing/2014/main" id="{EDFE77C5-74D6-5F1E-5DDC-0F742A7111D8}"/>
                </a:ext>
              </a:extLst>
            </p:cNvPr>
            <p:cNvSpPr/>
            <p:nvPr/>
          </p:nvSpPr>
          <p:spPr>
            <a:xfrm rot="16200000">
              <a:off x="10377972" y="1773396"/>
              <a:ext cx="1494379" cy="576567"/>
            </a:xfrm>
            <a:prstGeom prst="trapezoid">
              <a:avLst>
                <a:gd name="adj" fmla="val 46698"/>
              </a:avLst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56FA065-0A84-37DA-0708-CBF56396B662}"/>
                </a:ext>
              </a:extLst>
            </p:cNvPr>
            <p:cNvSpPr txBox="1"/>
            <p:nvPr/>
          </p:nvSpPr>
          <p:spPr>
            <a:xfrm rot="16200000">
              <a:off x="10564355" y="1877013"/>
              <a:ext cx="11544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Decoder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1CF396F1-118A-3DBD-55AF-271C185AC266}"/>
                </a:ext>
              </a:extLst>
            </p:cNvPr>
            <p:cNvCxnSpPr>
              <a:cxnSpLocks/>
            </p:cNvCxnSpPr>
            <p:nvPr/>
          </p:nvCxnSpPr>
          <p:spPr>
            <a:xfrm>
              <a:off x="9739269" y="2053102"/>
              <a:ext cx="1025148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CBE664B0-CBD1-A0DE-27DA-94F8A3C28EAB}"/>
              </a:ext>
            </a:extLst>
          </p:cNvPr>
          <p:cNvSpPr txBox="1"/>
          <p:nvPr/>
        </p:nvSpPr>
        <p:spPr>
          <a:xfrm>
            <a:off x="8061841" y="3693052"/>
            <a:ext cx="142173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 Rounded MT Bold" panose="020F0704030504030204" pitchFamily="34" charset="77"/>
              </a:rPr>
              <a:t>Importance</a:t>
            </a:r>
          </a:p>
          <a:p>
            <a:pPr algn="ctr"/>
            <a:r>
              <a:rPr lang="en-US" sz="1400" dirty="0">
                <a:latin typeface="Arial Rounded MT Bold" panose="020F0704030504030204" pitchFamily="34" charset="77"/>
              </a:rPr>
              <a:t>sampling from</a:t>
            </a:r>
          </a:p>
          <a:p>
            <a:pPr algn="ctr"/>
            <a:r>
              <a:rPr lang="en-US" sz="1400" dirty="0">
                <a:latin typeface="Arial Rounded MT Bold" panose="020F0704030504030204" pitchFamily="34" charset="77"/>
              </a:rPr>
              <a:t>posterior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2F4207-7126-4EE9-E4A0-C67EB3665811}"/>
              </a:ext>
            </a:extLst>
          </p:cNvPr>
          <p:cNvSpPr txBox="1"/>
          <p:nvPr/>
        </p:nvSpPr>
        <p:spPr>
          <a:xfrm>
            <a:off x="9160662" y="6035123"/>
            <a:ext cx="8771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 Rounded MT Bold" panose="020F0704030504030204" pitchFamily="34" charset="77"/>
              </a:rPr>
              <a:t>Z space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3B45EF0-51FF-EDCC-ED93-8D94354D4185}"/>
              </a:ext>
            </a:extLst>
          </p:cNvPr>
          <p:cNvGrpSpPr/>
          <p:nvPr/>
        </p:nvGrpSpPr>
        <p:grpSpPr>
          <a:xfrm>
            <a:off x="8032520" y="4572551"/>
            <a:ext cx="2571064" cy="1370702"/>
            <a:chOff x="1133247" y="4882932"/>
            <a:chExt cx="3443895" cy="1370702"/>
          </a:xfrm>
        </p:grpSpPr>
        <p:pic>
          <p:nvPicPr>
            <p:cNvPr id="17" name="Picture 16" descr="Gaussian filter, or Gaussian blur — Librow — Digital LCD dashboards for  cars and boats">
              <a:extLst>
                <a:ext uri="{FF2B5EF4-FFF2-40B4-BE49-F238E27FC236}">
                  <a16:creationId xmlns:a16="http://schemas.microsoft.com/office/drawing/2014/main" id="{F54EEB61-237B-4B1D-0CD9-685A541F97E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3247" y="5063200"/>
              <a:ext cx="1561429" cy="11355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7" descr="Gaussian filter, or Gaussian blur — Librow — Digital LCD dashboards for  cars and boats">
              <a:extLst>
                <a:ext uri="{FF2B5EF4-FFF2-40B4-BE49-F238E27FC236}">
                  <a16:creationId xmlns:a16="http://schemas.microsoft.com/office/drawing/2014/main" id="{CDC93EE9-C577-643A-7838-2CC5E95FB2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67215" y="4882932"/>
              <a:ext cx="1229691" cy="11355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8" descr="Gaussian filter, or Gaussian blur — Librow — Digital LCD dashboards for  cars and boats">
              <a:extLst>
                <a:ext uri="{FF2B5EF4-FFF2-40B4-BE49-F238E27FC236}">
                  <a16:creationId xmlns:a16="http://schemas.microsoft.com/office/drawing/2014/main" id="{20B8493E-A4E2-6108-85E6-F91EB4D291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01782" y="5041998"/>
              <a:ext cx="1975360" cy="8173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19" descr="Gaussian filter, or Gaussian blur — Librow — Digital LCD dashboards for  cars and boats">
              <a:extLst>
                <a:ext uri="{FF2B5EF4-FFF2-40B4-BE49-F238E27FC236}">
                  <a16:creationId xmlns:a16="http://schemas.microsoft.com/office/drawing/2014/main" id="{0C32BFE1-D006-92CB-C32E-E5B8C737F3A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89668" y="5696015"/>
              <a:ext cx="2160855" cy="5576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2B2FA093-CF54-E8DB-D656-B610B3C7C9EA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491930" y="3789673"/>
            <a:ext cx="876300" cy="622300"/>
          </a:xfrm>
          <a:prstGeom prst="rect">
            <a:avLst/>
          </a:prstGeom>
        </p:spPr>
      </p:pic>
      <p:pic>
        <p:nvPicPr>
          <p:cNvPr id="24" name="object 3">
            <a:extLst>
              <a:ext uri="{FF2B5EF4-FFF2-40B4-BE49-F238E27FC236}">
                <a16:creationId xmlns:a16="http://schemas.microsoft.com/office/drawing/2014/main" id="{C725F658-5F3F-E162-A4FB-A2CE83435110}"/>
              </a:ext>
            </a:extLst>
          </p:cNvPr>
          <p:cNvPicPr/>
          <p:nvPr/>
        </p:nvPicPr>
        <p:blipFill rotWithShape="1"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37498"/>
          <a:stretch/>
        </p:blipFill>
        <p:spPr>
          <a:xfrm>
            <a:off x="1002274" y="3789673"/>
            <a:ext cx="5173305" cy="1713711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FD8BD4A2-96B2-5D36-CC37-C938349AF284}"/>
              </a:ext>
            </a:extLst>
          </p:cNvPr>
          <p:cNvGrpSpPr/>
          <p:nvPr/>
        </p:nvGrpSpPr>
        <p:grpSpPr>
          <a:xfrm>
            <a:off x="7019642" y="4243492"/>
            <a:ext cx="1291942" cy="1494379"/>
            <a:chOff x="6991125" y="2717682"/>
            <a:chExt cx="1291942" cy="1494379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2773A0C1-4254-8BC1-2CF5-89F865C3436E}"/>
                </a:ext>
              </a:extLst>
            </p:cNvPr>
            <p:cNvGrpSpPr/>
            <p:nvPr/>
          </p:nvGrpSpPr>
          <p:grpSpPr>
            <a:xfrm>
              <a:off x="6991125" y="2717682"/>
              <a:ext cx="576567" cy="1494379"/>
              <a:chOff x="7199047" y="4033850"/>
              <a:chExt cx="576567" cy="1494379"/>
            </a:xfrm>
          </p:grpSpPr>
          <p:sp>
            <p:nvSpPr>
              <p:cNvPr id="32" name="Trapezoid 31">
                <a:extLst>
                  <a:ext uri="{FF2B5EF4-FFF2-40B4-BE49-F238E27FC236}">
                    <a16:creationId xmlns:a16="http://schemas.microsoft.com/office/drawing/2014/main" id="{7CD3DA99-5A7E-0AD2-CC6E-533FA1340E1D}"/>
                  </a:ext>
                </a:extLst>
              </p:cNvPr>
              <p:cNvSpPr/>
              <p:nvPr/>
            </p:nvSpPr>
            <p:spPr>
              <a:xfrm rot="5400000">
                <a:off x="6740141" y="4492756"/>
                <a:ext cx="1494379" cy="576567"/>
              </a:xfrm>
              <a:prstGeom prst="trapezoid">
                <a:avLst>
                  <a:gd name="adj" fmla="val 46698"/>
                </a:avLst>
              </a:prstGeom>
              <a:solidFill>
                <a:schemeClr val="bg1">
                  <a:lumMod val="6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EA27F6F-EC96-4264-BF88-023A98F4DA66}"/>
                  </a:ext>
                </a:extLst>
              </p:cNvPr>
              <p:cNvSpPr txBox="1"/>
              <p:nvPr/>
            </p:nvSpPr>
            <p:spPr>
              <a:xfrm rot="5400000">
                <a:off x="6934539" y="4596373"/>
                <a:ext cx="11384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 Rounded MT Bold" panose="020F0704030504030204" pitchFamily="34" charset="77"/>
                  </a:rPr>
                  <a:t>Encoder</a:t>
                </a:r>
              </a:p>
            </p:txBody>
          </p:sp>
        </p:grp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09A9FF67-133C-79DD-E2BE-877C31DF5FE5}"/>
                </a:ext>
              </a:extLst>
            </p:cNvPr>
            <p:cNvCxnSpPr>
              <a:cxnSpLocks/>
            </p:cNvCxnSpPr>
            <p:nvPr/>
          </p:nvCxnSpPr>
          <p:spPr>
            <a:xfrm>
              <a:off x="7567692" y="3414610"/>
              <a:ext cx="715375" cy="450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271173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7444" y="169694"/>
            <a:ext cx="2335325" cy="44712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 rotWithShape="1">
          <a:blip r:embed="rId3" cstate="print"/>
          <a:srcRect t="1" b="-1126"/>
          <a:stretch/>
        </p:blipFill>
        <p:spPr>
          <a:xfrm>
            <a:off x="422561" y="882970"/>
            <a:ext cx="3666815" cy="2816592"/>
          </a:xfrm>
          <a:prstGeom prst="rect">
            <a:avLst/>
          </a:prstGeom>
        </p:spPr>
      </p:pic>
      <p:sp>
        <p:nvSpPr>
          <p:cNvPr id="51" name="Parallelogram 50">
            <a:extLst>
              <a:ext uri="{FF2B5EF4-FFF2-40B4-BE49-F238E27FC236}">
                <a16:creationId xmlns:a16="http://schemas.microsoft.com/office/drawing/2014/main" id="{D6CCFF76-BE63-EC27-0CBF-54F9F53E87BA}"/>
              </a:ext>
            </a:extLst>
          </p:cNvPr>
          <p:cNvSpPr/>
          <p:nvPr/>
        </p:nvSpPr>
        <p:spPr>
          <a:xfrm>
            <a:off x="8140602" y="1868977"/>
            <a:ext cx="2387531" cy="875187"/>
          </a:xfrm>
          <a:prstGeom prst="parallelogram">
            <a:avLst>
              <a:gd name="adj" fmla="val 5718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314" name="Picture 2" descr="Bi modal histograms. What they want to tell us?">
            <a:extLst>
              <a:ext uri="{FF2B5EF4-FFF2-40B4-BE49-F238E27FC236}">
                <a16:creationId xmlns:a16="http://schemas.microsoft.com/office/drawing/2014/main" id="{DEC03BD0-9B12-814C-EEB3-73EF6E147C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9EFE5"/>
              </a:clrFrom>
              <a:clrTo>
                <a:srgbClr val="F9EFE5">
                  <a:alpha val="0"/>
                </a:srgbClr>
              </a:clrTo>
            </a:clrChange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14" t="14812" r="5916" b="14774"/>
          <a:stretch/>
        </p:blipFill>
        <p:spPr bwMode="auto">
          <a:xfrm>
            <a:off x="8304454" y="756458"/>
            <a:ext cx="2169562" cy="1783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4" name="Group 53">
            <a:extLst>
              <a:ext uri="{FF2B5EF4-FFF2-40B4-BE49-F238E27FC236}">
                <a16:creationId xmlns:a16="http://schemas.microsoft.com/office/drawing/2014/main" id="{78A64723-77C1-D57C-511D-6610F320BA80}"/>
              </a:ext>
            </a:extLst>
          </p:cNvPr>
          <p:cNvGrpSpPr/>
          <p:nvPr/>
        </p:nvGrpSpPr>
        <p:grpSpPr>
          <a:xfrm>
            <a:off x="10280466" y="946624"/>
            <a:ext cx="1674176" cy="1494379"/>
            <a:chOff x="9739269" y="1314490"/>
            <a:chExt cx="1674176" cy="1494379"/>
          </a:xfrm>
        </p:grpSpPr>
        <p:sp>
          <p:nvSpPr>
            <p:cNvPr id="48" name="Trapezoid 47">
              <a:extLst>
                <a:ext uri="{FF2B5EF4-FFF2-40B4-BE49-F238E27FC236}">
                  <a16:creationId xmlns:a16="http://schemas.microsoft.com/office/drawing/2014/main" id="{555EEE48-F244-6C5C-8F94-AEBFF45CFB3D}"/>
                </a:ext>
              </a:extLst>
            </p:cNvPr>
            <p:cNvSpPr/>
            <p:nvPr/>
          </p:nvSpPr>
          <p:spPr>
            <a:xfrm rot="16200000">
              <a:off x="10377972" y="1773396"/>
              <a:ext cx="1494379" cy="576567"/>
            </a:xfrm>
            <a:prstGeom prst="trapezoid">
              <a:avLst>
                <a:gd name="adj" fmla="val 46698"/>
              </a:avLst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B53B3EE-FA54-EC3A-309F-B77C2B218410}"/>
                </a:ext>
              </a:extLst>
            </p:cNvPr>
            <p:cNvSpPr txBox="1"/>
            <p:nvPr/>
          </p:nvSpPr>
          <p:spPr>
            <a:xfrm rot="16200000">
              <a:off x="10564355" y="1877013"/>
              <a:ext cx="11544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Decoder</a:t>
              </a:r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643A4297-7E34-467E-4044-421041B5A091}"/>
                </a:ext>
              </a:extLst>
            </p:cNvPr>
            <p:cNvCxnSpPr>
              <a:cxnSpLocks/>
            </p:cNvCxnSpPr>
            <p:nvPr/>
          </p:nvCxnSpPr>
          <p:spPr>
            <a:xfrm>
              <a:off x="9739269" y="2053102"/>
              <a:ext cx="1025148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5" name="Picture 54">
            <a:extLst>
              <a:ext uri="{FF2B5EF4-FFF2-40B4-BE49-F238E27FC236}">
                <a16:creationId xmlns:a16="http://schemas.microsoft.com/office/drawing/2014/main" id="{6ECF939E-5E71-14D2-DD06-B3C708CCDB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3338" y="316922"/>
            <a:ext cx="591813" cy="294133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44CA5EA7-4E49-E34D-92B3-044493CC60DF}"/>
              </a:ext>
            </a:extLst>
          </p:cNvPr>
          <p:cNvSpPr txBox="1"/>
          <p:nvPr/>
        </p:nvSpPr>
        <p:spPr>
          <a:xfrm>
            <a:off x="8291983" y="169694"/>
            <a:ext cx="9781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 Rounded MT Bold" panose="020F0704030504030204" pitchFamily="34" charset="77"/>
              </a:rPr>
              <a:t>True but </a:t>
            </a:r>
          </a:p>
          <a:p>
            <a:pPr algn="ctr"/>
            <a:r>
              <a:rPr lang="en-US" sz="1400" dirty="0">
                <a:latin typeface="Arial Rounded MT Bold" panose="020F0704030504030204" pitchFamily="34" charset="77"/>
              </a:rPr>
              <a:t>unknown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BCD4FE4-9D17-8521-691F-143877836FE2}"/>
              </a:ext>
            </a:extLst>
          </p:cNvPr>
          <p:cNvSpPr txBox="1"/>
          <p:nvPr/>
        </p:nvSpPr>
        <p:spPr>
          <a:xfrm>
            <a:off x="9160662" y="2734476"/>
            <a:ext cx="8771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 Rounded MT Bold" panose="020F0704030504030204" pitchFamily="34" charset="77"/>
              </a:rPr>
              <a:t>Z space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B51FAE8-54D5-5299-BD35-3EE6547AE0AC}"/>
              </a:ext>
            </a:extLst>
          </p:cNvPr>
          <p:cNvGrpSpPr/>
          <p:nvPr/>
        </p:nvGrpSpPr>
        <p:grpSpPr>
          <a:xfrm>
            <a:off x="7012512" y="946624"/>
            <a:ext cx="576567" cy="1494379"/>
            <a:chOff x="7199047" y="4033850"/>
            <a:chExt cx="576567" cy="1494379"/>
          </a:xfrm>
        </p:grpSpPr>
        <p:sp>
          <p:nvSpPr>
            <p:cNvPr id="58" name="Trapezoid 57">
              <a:extLst>
                <a:ext uri="{FF2B5EF4-FFF2-40B4-BE49-F238E27FC236}">
                  <a16:creationId xmlns:a16="http://schemas.microsoft.com/office/drawing/2014/main" id="{1F72F4C0-1C0D-77D7-B75F-325C47285DA6}"/>
                </a:ext>
              </a:extLst>
            </p:cNvPr>
            <p:cNvSpPr/>
            <p:nvPr/>
          </p:nvSpPr>
          <p:spPr>
            <a:xfrm rot="5400000">
              <a:off x="6740141" y="4492756"/>
              <a:ext cx="1494379" cy="576567"/>
            </a:xfrm>
            <a:prstGeom prst="trapezoid">
              <a:avLst>
                <a:gd name="adj" fmla="val 46698"/>
              </a:avLst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3A90FB16-39D5-C041-4AC7-226383D9C737}"/>
                </a:ext>
              </a:extLst>
            </p:cNvPr>
            <p:cNvSpPr txBox="1"/>
            <p:nvPr/>
          </p:nvSpPr>
          <p:spPr>
            <a:xfrm rot="5400000">
              <a:off x="6934539" y="4596373"/>
              <a:ext cx="11384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Encoder</a:t>
              </a:r>
            </a:p>
          </p:txBody>
        </p:sp>
      </p:grp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EC3D1305-843E-B142-2B46-FFBD668C1089}"/>
              </a:ext>
            </a:extLst>
          </p:cNvPr>
          <p:cNvCxnSpPr>
            <a:cxnSpLocks/>
            <a:endCxn id="13314" idx="1"/>
          </p:cNvCxnSpPr>
          <p:nvPr/>
        </p:nvCxnSpPr>
        <p:spPr>
          <a:xfrm>
            <a:off x="7589079" y="1643552"/>
            <a:ext cx="715375" cy="4500"/>
          </a:xfrm>
          <a:prstGeom prst="straightConnector1">
            <a:avLst/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Parallelogram 3">
            <a:extLst>
              <a:ext uri="{FF2B5EF4-FFF2-40B4-BE49-F238E27FC236}">
                <a16:creationId xmlns:a16="http://schemas.microsoft.com/office/drawing/2014/main" id="{AE8CB0EC-1911-1465-7B04-87843F5216EF}"/>
              </a:ext>
            </a:extLst>
          </p:cNvPr>
          <p:cNvSpPr/>
          <p:nvPr/>
        </p:nvSpPr>
        <p:spPr>
          <a:xfrm>
            <a:off x="8140602" y="5169624"/>
            <a:ext cx="2387531" cy="875187"/>
          </a:xfrm>
          <a:prstGeom prst="parallelogram">
            <a:avLst>
              <a:gd name="adj" fmla="val 5718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E968E5E-31DE-B088-7FB3-994A425F500B}"/>
              </a:ext>
            </a:extLst>
          </p:cNvPr>
          <p:cNvGrpSpPr/>
          <p:nvPr/>
        </p:nvGrpSpPr>
        <p:grpSpPr>
          <a:xfrm>
            <a:off x="10280466" y="4247271"/>
            <a:ext cx="1674176" cy="1494379"/>
            <a:chOff x="9739269" y="1314490"/>
            <a:chExt cx="1674176" cy="1494379"/>
          </a:xfrm>
        </p:grpSpPr>
        <p:sp>
          <p:nvSpPr>
            <p:cNvPr id="7" name="Trapezoid 6">
              <a:extLst>
                <a:ext uri="{FF2B5EF4-FFF2-40B4-BE49-F238E27FC236}">
                  <a16:creationId xmlns:a16="http://schemas.microsoft.com/office/drawing/2014/main" id="{EDFE77C5-74D6-5F1E-5DDC-0F742A7111D8}"/>
                </a:ext>
              </a:extLst>
            </p:cNvPr>
            <p:cNvSpPr/>
            <p:nvPr/>
          </p:nvSpPr>
          <p:spPr>
            <a:xfrm rot="16200000">
              <a:off x="10377972" y="1773396"/>
              <a:ext cx="1494379" cy="576567"/>
            </a:xfrm>
            <a:prstGeom prst="trapezoid">
              <a:avLst>
                <a:gd name="adj" fmla="val 46698"/>
              </a:avLst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56FA065-0A84-37DA-0708-CBF56396B662}"/>
                </a:ext>
              </a:extLst>
            </p:cNvPr>
            <p:cNvSpPr txBox="1"/>
            <p:nvPr/>
          </p:nvSpPr>
          <p:spPr>
            <a:xfrm rot="16200000">
              <a:off x="10564355" y="1877013"/>
              <a:ext cx="11544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Decoder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1CF396F1-118A-3DBD-55AF-271C185AC266}"/>
                </a:ext>
              </a:extLst>
            </p:cNvPr>
            <p:cNvCxnSpPr>
              <a:cxnSpLocks/>
            </p:cNvCxnSpPr>
            <p:nvPr/>
          </p:nvCxnSpPr>
          <p:spPr>
            <a:xfrm>
              <a:off x="9739269" y="2053102"/>
              <a:ext cx="1025148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CBE664B0-CBD1-A0DE-27DA-94F8A3C28EAB}"/>
              </a:ext>
            </a:extLst>
          </p:cNvPr>
          <p:cNvSpPr txBox="1"/>
          <p:nvPr/>
        </p:nvSpPr>
        <p:spPr>
          <a:xfrm>
            <a:off x="8061841" y="3693052"/>
            <a:ext cx="142173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 Rounded MT Bold" panose="020F0704030504030204" pitchFamily="34" charset="77"/>
              </a:rPr>
              <a:t>Importance</a:t>
            </a:r>
          </a:p>
          <a:p>
            <a:pPr algn="ctr"/>
            <a:r>
              <a:rPr lang="en-US" sz="1400" dirty="0">
                <a:latin typeface="Arial Rounded MT Bold" panose="020F0704030504030204" pitchFamily="34" charset="77"/>
              </a:rPr>
              <a:t>sampling from</a:t>
            </a:r>
          </a:p>
          <a:p>
            <a:pPr algn="ctr"/>
            <a:r>
              <a:rPr lang="en-US" sz="1400" dirty="0">
                <a:latin typeface="Arial Rounded MT Bold" panose="020F0704030504030204" pitchFamily="34" charset="77"/>
              </a:rPr>
              <a:t>posterior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2F4207-7126-4EE9-E4A0-C67EB3665811}"/>
              </a:ext>
            </a:extLst>
          </p:cNvPr>
          <p:cNvSpPr txBox="1"/>
          <p:nvPr/>
        </p:nvSpPr>
        <p:spPr>
          <a:xfrm>
            <a:off x="9160662" y="6035123"/>
            <a:ext cx="8771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 Rounded MT Bold" panose="020F0704030504030204" pitchFamily="34" charset="77"/>
              </a:rPr>
              <a:t>Z space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3B45EF0-51FF-EDCC-ED93-8D94354D4185}"/>
              </a:ext>
            </a:extLst>
          </p:cNvPr>
          <p:cNvGrpSpPr/>
          <p:nvPr/>
        </p:nvGrpSpPr>
        <p:grpSpPr>
          <a:xfrm>
            <a:off x="8032520" y="4572551"/>
            <a:ext cx="2571064" cy="1370702"/>
            <a:chOff x="1133247" y="4882932"/>
            <a:chExt cx="3443895" cy="1370702"/>
          </a:xfrm>
        </p:grpSpPr>
        <p:pic>
          <p:nvPicPr>
            <p:cNvPr id="17" name="Picture 16" descr="Gaussian filter, or Gaussian blur — Librow — Digital LCD dashboards for  cars and boats">
              <a:extLst>
                <a:ext uri="{FF2B5EF4-FFF2-40B4-BE49-F238E27FC236}">
                  <a16:creationId xmlns:a16="http://schemas.microsoft.com/office/drawing/2014/main" id="{F54EEB61-237B-4B1D-0CD9-685A541F97E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3247" y="5063200"/>
              <a:ext cx="1561429" cy="11355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7" descr="Gaussian filter, or Gaussian blur — Librow — Digital LCD dashboards for  cars and boats">
              <a:extLst>
                <a:ext uri="{FF2B5EF4-FFF2-40B4-BE49-F238E27FC236}">
                  <a16:creationId xmlns:a16="http://schemas.microsoft.com/office/drawing/2014/main" id="{CDC93EE9-C577-643A-7838-2CC5E95FB2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67215" y="4882932"/>
              <a:ext cx="1229691" cy="11355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8" descr="Gaussian filter, or Gaussian blur — Librow — Digital LCD dashboards for  cars and boats">
              <a:extLst>
                <a:ext uri="{FF2B5EF4-FFF2-40B4-BE49-F238E27FC236}">
                  <a16:creationId xmlns:a16="http://schemas.microsoft.com/office/drawing/2014/main" id="{20B8493E-A4E2-6108-85E6-F91EB4D291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01782" y="5041998"/>
              <a:ext cx="1975360" cy="8173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19" descr="Gaussian filter, or Gaussian blur — Librow — Digital LCD dashboards for  cars and boats">
              <a:extLst>
                <a:ext uri="{FF2B5EF4-FFF2-40B4-BE49-F238E27FC236}">
                  <a16:creationId xmlns:a16="http://schemas.microsoft.com/office/drawing/2014/main" id="{0C32BFE1-D006-92CB-C32E-E5B8C737F3A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89668" y="5696015"/>
              <a:ext cx="2160855" cy="5576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2B2FA093-CF54-E8DB-D656-B610B3C7C9EA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491930" y="3789673"/>
            <a:ext cx="876300" cy="622300"/>
          </a:xfrm>
          <a:prstGeom prst="rect">
            <a:avLst/>
          </a:prstGeom>
        </p:spPr>
      </p:pic>
      <p:sp>
        <p:nvSpPr>
          <p:cNvPr id="26" name="Left Brace 25">
            <a:extLst>
              <a:ext uri="{FF2B5EF4-FFF2-40B4-BE49-F238E27FC236}">
                <a16:creationId xmlns:a16="http://schemas.microsoft.com/office/drawing/2014/main" id="{63D8983A-07AA-11DE-5B23-D3241406B54E}"/>
              </a:ext>
            </a:extLst>
          </p:cNvPr>
          <p:cNvSpPr/>
          <p:nvPr/>
        </p:nvSpPr>
        <p:spPr>
          <a:xfrm rot="16200000">
            <a:off x="3597316" y="3212095"/>
            <a:ext cx="239624" cy="4906815"/>
          </a:xfrm>
          <a:prstGeom prst="leftBrace">
            <a:avLst>
              <a:gd name="adj1" fmla="val 52333"/>
              <a:gd name="adj2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FA58EF3-52FD-7F3A-3187-7983A9EAD392}"/>
              </a:ext>
            </a:extLst>
          </p:cNvPr>
          <p:cNvSpPr txBox="1"/>
          <p:nvPr/>
        </p:nvSpPr>
        <p:spPr>
          <a:xfrm>
            <a:off x="1841045" y="5829841"/>
            <a:ext cx="3752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  <a:sym typeface="Wingdings" pitchFamily="2" charset="2"/>
              </a:rPr>
              <a:t>Evidence Lower Bound (ELBO)</a:t>
            </a:r>
            <a:endParaRPr lang="en-US" dirty="0">
              <a:solidFill>
                <a:srgbClr val="C00000"/>
              </a:solidFill>
              <a:latin typeface="Arial Rounded MT Bold" panose="020F0704030504030204" pitchFamily="34" charset="77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AAC0DAA-862D-A004-B814-EE046607FD4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34461" y="5045254"/>
            <a:ext cx="1078519" cy="408702"/>
          </a:xfrm>
          <a:prstGeom prst="rect">
            <a:avLst/>
          </a:prstGeom>
        </p:spPr>
      </p:pic>
      <p:pic>
        <p:nvPicPr>
          <p:cNvPr id="5" name="object 3">
            <a:extLst>
              <a:ext uri="{FF2B5EF4-FFF2-40B4-BE49-F238E27FC236}">
                <a16:creationId xmlns:a16="http://schemas.microsoft.com/office/drawing/2014/main" id="{713A35F2-D537-97E2-098D-ED252FCCE6CD}"/>
              </a:ext>
            </a:extLst>
          </p:cNvPr>
          <p:cNvPicPr/>
          <p:nvPr/>
        </p:nvPicPr>
        <p:blipFill rotWithShape="1">
          <a:blip r:embed="rId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37498"/>
          <a:stretch/>
        </p:blipFill>
        <p:spPr>
          <a:xfrm>
            <a:off x="1002274" y="3789673"/>
            <a:ext cx="5173305" cy="1713711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755CC0CC-6084-360B-60CD-187580B9BD0C}"/>
              </a:ext>
            </a:extLst>
          </p:cNvPr>
          <p:cNvGrpSpPr/>
          <p:nvPr/>
        </p:nvGrpSpPr>
        <p:grpSpPr>
          <a:xfrm>
            <a:off x="7019642" y="4243492"/>
            <a:ext cx="1291942" cy="1494379"/>
            <a:chOff x="6991125" y="2717682"/>
            <a:chExt cx="1291942" cy="1494379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7CA58231-2C2A-849E-D2A0-F747F5F5CC4C}"/>
                </a:ext>
              </a:extLst>
            </p:cNvPr>
            <p:cNvGrpSpPr/>
            <p:nvPr/>
          </p:nvGrpSpPr>
          <p:grpSpPr>
            <a:xfrm>
              <a:off x="6991125" y="2717682"/>
              <a:ext cx="576567" cy="1494379"/>
              <a:chOff x="7199047" y="4033850"/>
              <a:chExt cx="576567" cy="1494379"/>
            </a:xfrm>
          </p:grpSpPr>
          <p:sp>
            <p:nvSpPr>
              <p:cNvPr id="29" name="Trapezoid 28">
                <a:extLst>
                  <a:ext uri="{FF2B5EF4-FFF2-40B4-BE49-F238E27FC236}">
                    <a16:creationId xmlns:a16="http://schemas.microsoft.com/office/drawing/2014/main" id="{C30ED4BA-E716-B84B-090B-3553C18AB905}"/>
                  </a:ext>
                </a:extLst>
              </p:cNvPr>
              <p:cNvSpPr/>
              <p:nvPr/>
            </p:nvSpPr>
            <p:spPr>
              <a:xfrm rot="5400000">
                <a:off x="6740141" y="4492756"/>
                <a:ext cx="1494379" cy="576567"/>
              </a:xfrm>
              <a:prstGeom prst="trapezoid">
                <a:avLst>
                  <a:gd name="adj" fmla="val 46698"/>
                </a:avLst>
              </a:prstGeom>
              <a:solidFill>
                <a:schemeClr val="bg1">
                  <a:lumMod val="6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E04B9BC-C897-30A7-B006-FE96575045D7}"/>
                  </a:ext>
                </a:extLst>
              </p:cNvPr>
              <p:cNvSpPr txBox="1"/>
              <p:nvPr/>
            </p:nvSpPr>
            <p:spPr>
              <a:xfrm rot="5400000">
                <a:off x="6934539" y="4596373"/>
                <a:ext cx="11384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 Rounded MT Bold" panose="020F0704030504030204" pitchFamily="34" charset="77"/>
                  </a:rPr>
                  <a:t>Encoder</a:t>
                </a:r>
              </a:p>
            </p:txBody>
          </p:sp>
        </p:grp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DF73A321-308C-7F44-B5E8-1728418B7F60}"/>
                </a:ext>
              </a:extLst>
            </p:cNvPr>
            <p:cNvCxnSpPr>
              <a:cxnSpLocks/>
            </p:cNvCxnSpPr>
            <p:nvPr/>
          </p:nvCxnSpPr>
          <p:spPr>
            <a:xfrm>
              <a:off x="7567692" y="3414610"/>
              <a:ext cx="715375" cy="450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2531187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 rotWithShape="1">
          <a:blip r:embed="rId2" cstate="print"/>
          <a:srcRect t="1" b="-1126"/>
          <a:stretch/>
        </p:blipFill>
        <p:spPr>
          <a:xfrm>
            <a:off x="486254" y="756458"/>
            <a:ext cx="1974650" cy="1192965"/>
          </a:xfrm>
          <a:prstGeom prst="rect">
            <a:avLst/>
          </a:prstGeom>
        </p:spPr>
      </p:pic>
      <p:sp>
        <p:nvSpPr>
          <p:cNvPr id="51" name="Parallelogram 50">
            <a:extLst>
              <a:ext uri="{FF2B5EF4-FFF2-40B4-BE49-F238E27FC236}">
                <a16:creationId xmlns:a16="http://schemas.microsoft.com/office/drawing/2014/main" id="{D6CCFF76-BE63-EC27-0CBF-54F9F53E87BA}"/>
              </a:ext>
            </a:extLst>
          </p:cNvPr>
          <p:cNvSpPr/>
          <p:nvPr/>
        </p:nvSpPr>
        <p:spPr>
          <a:xfrm>
            <a:off x="8140602" y="1868977"/>
            <a:ext cx="2387531" cy="875187"/>
          </a:xfrm>
          <a:prstGeom prst="parallelogram">
            <a:avLst>
              <a:gd name="adj" fmla="val 5718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314" name="Picture 2" descr="Bi modal histograms. What they want to tell us?">
            <a:extLst>
              <a:ext uri="{FF2B5EF4-FFF2-40B4-BE49-F238E27FC236}">
                <a16:creationId xmlns:a16="http://schemas.microsoft.com/office/drawing/2014/main" id="{DEC03BD0-9B12-814C-EEB3-73EF6E147C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9EFE5"/>
              </a:clrFrom>
              <a:clrTo>
                <a:srgbClr val="F9EFE5">
                  <a:alpha val="0"/>
                </a:srgbClr>
              </a:clrTo>
            </a:clrChange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14" t="14812" r="5916" b="14774"/>
          <a:stretch/>
        </p:blipFill>
        <p:spPr bwMode="auto">
          <a:xfrm>
            <a:off x="8304454" y="756458"/>
            <a:ext cx="2169562" cy="1783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4" name="Group 53">
            <a:extLst>
              <a:ext uri="{FF2B5EF4-FFF2-40B4-BE49-F238E27FC236}">
                <a16:creationId xmlns:a16="http://schemas.microsoft.com/office/drawing/2014/main" id="{78A64723-77C1-D57C-511D-6610F320BA80}"/>
              </a:ext>
            </a:extLst>
          </p:cNvPr>
          <p:cNvGrpSpPr/>
          <p:nvPr/>
        </p:nvGrpSpPr>
        <p:grpSpPr>
          <a:xfrm>
            <a:off x="10280466" y="946624"/>
            <a:ext cx="1674176" cy="1494379"/>
            <a:chOff x="9739269" y="1314490"/>
            <a:chExt cx="1674176" cy="1494379"/>
          </a:xfrm>
        </p:grpSpPr>
        <p:sp>
          <p:nvSpPr>
            <p:cNvPr id="48" name="Trapezoid 47">
              <a:extLst>
                <a:ext uri="{FF2B5EF4-FFF2-40B4-BE49-F238E27FC236}">
                  <a16:creationId xmlns:a16="http://schemas.microsoft.com/office/drawing/2014/main" id="{555EEE48-F244-6C5C-8F94-AEBFF45CFB3D}"/>
                </a:ext>
              </a:extLst>
            </p:cNvPr>
            <p:cNvSpPr/>
            <p:nvPr/>
          </p:nvSpPr>
          <p:spPr>
            <a:xfrm rot="16200000">
              <a:off x="10377972" y="1773396"/>
              <a:ext cx="1494379" cy="576567"/>
            </a:xfrm>
            <a:prstGeom prst="trapezoid">
              <a:avLst>
                <a:gd name="adj" fmla="val 46698"/>
              </a:avLst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B53B3EE-FA54-EC3A-309F-B77C2B218410}"/>
                </a:ext>
              </a:extLst>
            </p:cNvPr>
            <p:cNvSpPr txBox="1"/>
            <p:nvPr/>
          </p:nvSpPr>
          <p:spPr>
            <a:xfrm rot="16200000">
              <a:off x="10564355" y="1877013"/>
              <a:ext cx="11544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Decoder</a:t>
              </a:r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643A4297-7E34-467E-4044-421041B5A091}"/>
                </a:ext>
              </a:extLst>
            </p:cNvPr>
            <p:cNvCxnSpPr>
              <a:cxnSpLocks/>
            </p:cNvCxnSpPr>
            <p:nvPr/>
          </p:nvCxnSpPr>
          <p:spPr>
            <a:xfrm>
              <a:off x="9739269" y="2053102"/>
              <a:ext cx="1025148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5" name="Picture 54">
            <a:extLst>
              <a:ext uri="{FF2B5EF4-FFF2-40B4-BE49-F238E27FC236}">
                <a16:creationId xmlns:a16="http://schemas.microsoft.com/office/drawing/2014/main" id="{6ECF939E-5E71-14D2-DD06-B3C708CCDB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3338" y="316922"/>
            <a:ext cx="591813" cy="294133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44CA5EA7-4E49-E34D-92B3-044493CC60DF}"/>
              </a:ext>
            </a:extLst>
          </p:cNvPr>
          <p:cNvSpPr txBox="1"/>
          <p:nvPr/>
        </p:nvSpPr>
        <p:spPr>
          <a:xfrm>
            <a:off x="8291983" y="169694"/>
            <a:ext cx="9781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 Rounded MT Bold" panose="020F0704030504030204" pitchFamily="34" charset="77"/>
              </a:rPr>
              <a:t>True but </a:t>
            </a:r>
          </a:p>
          <a:p>
            <a:pPr algn="ctr"/>
            <a:r>
              <a:rPr lang="en-US" sz="1400" dirty="0">
                <a:latin typeface="Arial Rounded MT Bold" panose="020F0704030504030204" pitchFamily="34" charset="77"/>
              </a:rPr>
              <a:t>unknown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BCD4FE4-9D17-8521-691F-143877836FE2}"/>
              </a:ext>
            </a:extLst>
          </p:cNvPr>
          <p:cNvSpPr txBox="1"/>
          <p:nvPr/>
        </p:nvSpPr>
        <p:spPr>
          <a:xfrm>
            <a:off x="9160662" y="2734476"/>
            <a:ext cx="8771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 Rounded MT Bold" panose="020F0704030504030204" pitchFamily="34" charset="77"/>
              </a:rPr>
              <a:t>Z space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B51FAE8-54D5-5299-BD35-3EE6547AE0AC}"/>
              </a:ext>
            </a:extLst>
          </p:cNvPr>
          <p:cNvGrpSpPr/>
          <p:nvPr/>
        </p:nvGrpSpPr>
        <p:grpSpPr>
          <a:xfrm>
            <a:off x="7012512" y="946624"/>
            <a:ext cx="576567" cy="1494379"/>
            <a:chOff x="7199047" y="4033850"/>
            <a:chExt cx="576567" cy="1494379"/>
          </a:xfrm>
        </p:grpSpPr>
        <p:sp>
          <p:nvSpPr>
            <p:cNvPr id="58" name="Trapezoid 57">
              <a:extLst>
                <a:ext uri="{FF2B5EF4-FFF2-40B4-BE49-F238E27FC236}">
                  <a16:creationId xmlns:a16="http://schemas.microsoft.com/office/drawing/2014/main" id="{1F72F4C0-1C0D-77D7-B75F-325C47285DA6}"/>
                </a:ext>
              </a:extLst>
            </p:cNvPr>
            <p:cNvSpPr/>
            <p:nvPr/>
          </p:nvSpPr>
          <p:spPr>
            <a:xfrm rot="5400000">
              <a:off x="6740141" y="4492756"/>
              <a:ext cx="1494379" cy="576567"/>
            </a:xfrm>
            <a:prstGeom prst="trapezoid">
              <a:avLst>
                <a:gd name="adj" fmla="val 46698"/>
              </a:avLst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3A90FB16-39D5-C041-4AC7-226383D9C737}"/>
                </a:ext>
              </a:extLst>
            </p:cNvPr>
            <p:cNvSpPr txBox="1"/>
            <p:nvPr/>
          </p:nvSpPr>
          <p:spPr>
            <a:xfrm rot="5400000">
              <a:off x="6934539" y="4596373"/>
              <a:ext cx="11384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Encoder</a:t>
              </a:r>
            </a:p>
          </p:txBody>
        </p:sp>
      </p:grp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EC3D1305-843E-B142-2B46-FFBD668C1089}"/>
              </a:ext>
            </a:extLst>
          </p:cNvPr>
          <p:cNvCxnSpPr>
            <a:cxnSpLocks/>
            <a:endCxn id="13314" idx="1"/>
          </p:cNvCxnSpPr>
          <p:nvPr/>
        </p:nvCxnSpPr>
        <p:spPr>
          <a:xfrm>
            <a:off x="7589079" y="1643552"/>
            <a:ext cx="715375" cy="4500"/>
          </a:xfrm>
          <a:prstGeom prst="straightConnector1">
            <a:avLst/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Left Brace 25">
            <a:extLst>
              <a:ext uri="{FF2B5EF4-FFF2-40B4-BE49-F238E27FC236}">
                <a16:creationId xmlns:a16="http://schemas.microsoft.com/office/drawing/2014/main" id="{63D8983A-07AA-11DE-5B23-D3241406B54E}"/>
              </a:ext>
            </a:extLst>
          </p:cNvPr>
          <p:cNvSpPr/>
          <p:nvPr/>
        </p:nvSpPr>
        <p:spPr>
          <a:xfrm rot="16200000">
            <a:off x="3629627" y="1226503"/>
            <a:ext cx="239624" cy="4906815"/>
          </a:xfrm>
          <a:prstGeom prst="leftBrace">
            <a:avLst>
              <a:gd name="adj1" fmla="val 52333"/>
              <a:gd name="adj2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FA58EF3-52FD-7F3A-3187-7983A9EAD392}"/>
              </a:ext>
            </a:extLst>
          </p:cNvPr>
          <p:cNvSpPr txBox="1"/>
          <p:nvPr/>
        </p:nvSpPr>
        <p:spPr>
          <a:xfrm>
            <a:off x="1873356" y="3844249"/>
            <a:ext cx="3752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  <a:sym typeface="Wingdings" pitchFamily="2" charset="2"/>
              </a:rPr>
              <a:t>Evidence Lower Bound (ELBO)</a:t>
            </a:r>
            <a:endParaRPr lang="en-US" dirty="0">
              <a:solidFill>
                <a:srgbClr val="C00000"/>
              </a:solidFill>
              <a:latin typeface="Arial Rounded MT Bold" panose="020F0704030504030204" pitchFamily="34" charset="77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AAC0DAA-862D-A004-B814-EE046607FD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150" y="3059662"/>
            <a:ext cx="1078519" cy="408702"/>
          </a:xfrm>
          <a:prstGeom prst="rect">
            <a:avLst/>
          </a:prstGeom>
        </p:spPr>
      </p:pic>
      <p:pic>
        <p:nvPicPr>
          <p:cNvPr id="5" name="object 3">
            <a:extLst>
              <a:ext uri="{FF2B5EF4-FFF2-40B4-BE49-F238E27FC236}">
                <a16:creationId xmlns:a16="http://schemas.microsoft.com/office/drawing/2014/main" id="{713A35F2-D537-97E2-098D-ED252FCCE6CD}"/>
              </a:ext>
            </a:extLst>
          </p:cNvPr>
          <p:cNvPicPr/>
          <p:nvPr/>
        </p:nvPicPr>
        <p:blipFill rotWithShape="1"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37498"/>
          <a:stretch/>
        </p:blipFill>
        <p:spPr>
          <a:xfrm>
            <a:off x="1034585" y="1804081"/>
            <a:ext cx="5173305" cy="1713711"/>
          </a:xfrm>
          <a:prstGeom prst="rect">
            <a:avLst/>
          </a:prstGeom>
        </p:spPr>
      </p:pic>
      <p:pic>
        <p:nvPicPr>
          <p:cNvPr id="10" name="object 2">
            <a:extLst>
              <a:ext uri="{FF2B5EF4-FFF2-40B4-BE49-F238E27FC236}">
                <a16:creationId xmlns:a16="http://schemas.microsoft.com/office/drawing/2014/main" id="{340163AF-8498-94E6-B1B3-CB88D9D612BF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7444" y="169694"/>
            <a:ext cx="2335325" cy="447120"/>
          </a:xfrm>
          <a:prstGeom prst="rect">
            <a:avLst/>
          </a:prstGeom>
        </p:spPr>
      </p:pic>
      <p:pic>
        <p:nvPicPr>
          <p:cNvPr id="22" name="object 5">
            <a:extLst>
              <a:ext uri="{FF2B5EF4-FFF2-40B4-BE49-F238E27FC236}">
                <a16:creationId xmlns:a16="http://schemas.microsoft.com/office/drawing/2014/main" id="{49EA7853-A224-B9DD-396B-BA1E58C9FC90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873356" y="2897911"/>
            <a:ext cx="1116392" cy="199994"/>
          </a:xfrm>
          <a:prstGeom prst="rect">
            <a:avLst/>
          </a:prstGeom>
        </p:spPr>
      </p:pic>
      <p:pic>
        <p:nvPicPr>
          <p:cNvPr id="24" name="object 7">
            <a:extLst>
              <a:ext uri="{FF2B5EF4-FFF2-40B4-BE49-F238E27FC236}">
                <a16:creationId xmlns:a16="http://schemas.microsoft.com/office/drawing/2014/main" id="{84B17E54-09D2-B7D0-C6FA-0217226F1A25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020151" y="2905674"/>
            <a:ext cx="784353" cy="184468"/>
          </a:xfrm>
          <a:prstGeom prst="rect">
            <a:avLst/>
          </a:prstGeom>
        </p:spPr>
      </p:pic>
      <p:pic>
        <p:nvPicPr>
          <p:cNvPr id="25" name="object 21">
            <a:extLst>
              <a:ext uri="{FF2B5EF4-FFF2-40B4-BE49-F238E27FC236}">
                <a16:creationId xmlns:a16="http://schemas.microsoft.com/office/drawing/2014/main" id="{27CFF029-7FBB-76E6-3B5C-C2EF0599835A}"/>
              </a:ext>
            </a:extLst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-4269" y="5977972"/>
            <a:ext cx="3649512" cy="477756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721CA61E-A6CE-918E-44F1-622128B9793B}"/>
              </a:ext>
            </a:extLst>
          </p:cNvPr>
          <p:cNvSpPr txBox="1"/>
          <p:nvPr/>
        </p:nvSpPr>
        <p:spPr>
          <a:xfrm>
            <a:off x="284628" y="4500882"/>
            <a:ext cx="78559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Arial Rounded MT Bold" panose="020F0704030504030204" pitchFamily="34" charset="77"/>
                <a:sym typeface="Wingdings" pitchFamily="2" charset="2"/>
              </a:rPr>
              <a:t>VAE learns the posterior and </a:t>
            </a:r>
          </a:p>
          <a:p>
            <a:r>
              <a:rPr lang="en-US" dirty="0">
                <a:solidFill>
                  <a:srgbClr val="00B050"/>
                </a:solidFill>
                <a:latin typeface="Arial Rounded MT Bold" panose="020F0704030504030204" pitchFamily="34" charset="77"/>
                <a:sym typeface="Wingdings" pitchFamily="2" charset="2"/>
              </a:rPr>
              <a:t>likelihood function parameters:       and </a:t>
            </a:r>
            <a:endParaRPr lang="en-US" dirty="0">
              <a:solidFill>
                <a:srgbClr val="00B050"/>
              </a:solidFill>
              <a:latin typeface="Arial Rounded MT Bold" panose="020F0704030504030204" pitchFamily="34" charset="77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D9356C35-25E9-EF17-694F-722A5843C23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6233" y="5241305"/>
            <a:ext cx="5642077" cy="55292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65DD241-6174-4BDC-2AA5-DB1C3B75B4CC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3833" t="1" r="65988" b="-10389"/>
          <a:stretch/>
        </p:blipFill>
        <p:spPr>
          <a:xfrm>
            <a:off x="3872202" y="4788774"/>
            <a:ext cx="286366" cy="37065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32A6A27-BC64-8E1E-1E31-C57118B702C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39531" y="4769715"/>
            <a:ext cx="355600" cy="406400"/>
          </a:xfrm>
          <a:prstGeom prst="rect">
            <a:avLst/>
          </a:prstGeom>
        </p:spPr>
      </p:pic>
      <p:sp>
        <p:nvSpPr>
          <p:cNvPr id="34" name="Parallelogram 33">
            <a:extLst>
              <a:ext uri="{FF2B5EF4-FFF2-40B4-BE49-F238E27FC236}">
                <a16:creationId xmlns:a16="http://schemas.microsoft.com/office/drawing/2014/main" id="{A1FB7D55-BD2E-7641-9342-70EE8BC5D8A6}"/>
              </a:ext>
            </a:extLst>
          </p:cNvPr>
          <p:cNvSpPr/>
          <p:nvPr/>
        </p:nvSpPr>
        <p:spPr>
          <a:xfrm>
            <a:off x="8140602" y="5169624"/>
            <a:ext cx="2387531" cy="875187"/>
          </a:xfrm>
          <a:prstGeom prst="parallelogram">
            <a:avLst>
              <a:gd name="adj" fmla="val 5718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3797F4E-CBFE-531D-E26D-9429CC168FBA}"/>
              </a:ext>
            </a:extLst>
          </p:cNvPr>
          <p:cNvGrpSpPr/>
          <p:nvPr/>
        </p:nvGrpSpPr>
        <p:grpSpPr>
          <a:xfrm>
            <a:off x="10280466" y="4247271"/>
            <a:ext cx="1674176" cy="1494379"/>
            <a:chOff x="9739269" y="1314490"/>
            <a:chExt cx="1674176" cy="1494379"/>
          </a:xfrm>
        </p:grpSpPr>
        <p:sp>
          <p:nvSpPr>
            <p:cNvPr id="36" name="Trapezoid 35">
              <a:extLst>
                <a:ext uri="{FF2B5EF4-FFF2-40B4-BE49-F238E27FC236}">
                  <a16:creationId xmlns:a16="http://schemas.microsoft.com/office/drawing/2014/main" id="{C2ED1AEB-963C-7E43-2DC8-97FCB51E49F5}"/>
                </a:ext>
              </a:extLst>
            </p:cNvPr>
            <p:cNvSpPr/>
            <p:nvPr/>
          </p:nvSpPr>
          <p:spPr>
            <a:xfrm rot="16200000">
              <a:off x="10377972" y="1773396"/>
              <a:ext cx="1494379" cy="576567"/>
            </a:xfrm>
            <a:prstGeom prst="trapezoid">
              <a:avLst>
                <a:gd name="adj" fmla="val 46698"/>
              </a:avLst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E827B88-39F4-F9AD-1083-DCD33233D2B2}"/>
                </a:ext>
              </a:extLst>
            </p:cNvPr>
            <p:cNvSpPr txBox="1"/>
            <p:nvPr/>
          </p:nvSpPr>
          <p:spPr>
            <a:xfrm rot="16200000">
              <a:off x="10564355" y="1877013"/>
              <a:ext cx="11544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Decoder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3BAE9822-B74C-A8C1-8342-AAEC61D3094E}"/>
                </a:ext>
              </a:extLst>
            </p:cNvPr>
            <p:cNvCxnSpPr>
              <a:cxnSpLocks/>
            </p:cNvCxnSpPr>
            <p:nvPr/>
          </p:nvCxnSpPr>
          <p:spPr>
            <a:xfrm>
              <a:off x="9739269" y="2053102"/>
              <a:ext cx="1025148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D5DEAB44-0FAD-E07C-AF2C-44202111EEEE}"/>
              </a:ext>
            </a:extLst>
          </p:cNvPr>
          <p:cNvSpPr txBox="1"/>
          <p:nvPr/>
        </p:nvSpPr>
        <p:spPr>
          <a:xfrm>
            <a:off x="8061841" y="3693052"/>
            <a:ext cx="142173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 Rounded MT Bold" panose="020F0704030504030204" pitchFamily="34" charset="77"/>
              </a:rPr>
              <a:t>Importance</a:t>
            </a:r>
          </a:p>
          <a:p>
            <a:pPr algn="ctr"/>
            <a:r>
              <a:rPr lang="en-US" sz="1400" dirty="0">
                <a:latin typeface="Arial Rounded MT Bold" panose="020F0704030504030204" pitchFamily="34" charset="77"/>
              </a:rPr>
              <a:t>sampling from</a:t>
            </a:r>
          </a:p>
          <a:p>
            <a:pPr algn="ctr"/>
            <a:r>
              <a:rPr lang="en-US" sz="1400" dirty="0">
                <a:latin typeface="Arial Rounded MT Bold" panose="020F0704030504030204" pitchFamily="34" charset="77"/>
              </a:rPr>
              <a:t>posterior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A6DF58C-3CB2-FCD2-D166-FF22B581F59D}"/>
              </a:ext>
            </a:extLst>
          </p:cNvPr>
          <p:cNvSpPr txBox="1"/>
          <p:nvPr/>
        </p:nvSpPr>
        <p:spPr>
          <a:xfrm>
            <a:off x="9160662" y="6035123"/>
            <a:ext cx="8771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 Rounded MT Bold" panose="020F0704030504030204" pitchFamily="34" charset="77"/>
              </a:rPr>
              <a:t>Z space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72B7C23-D73C-1B76-1FCD-DF4F0AF78F39}"/>
              </a:ext>
            </a:extLst>
          </p:cNvPr>
          <p:cNvGrpSpPr/>
          <p:nvPr/>
        </p:nvGrpSpPr>
        <p:grpSpPr>
          <a:xfrm>
            <a:off x="8032520" y="4572551"/>
            <a:ext cx="2571064" cy="1370702"/>
            <a:chOff x="1133247" y="4882932"/>
            <a:chExt cx="3443895" cy="1370702"/>
          </a:xfrm>
        </p:grpSpPr>
        <p:pic>
          <p:nvPicPr>
            <p:cNvPr id="46" name="Picture 45" descr="Gaussian filter, or Gaussian blur — Librow — Digital LCD dashboards for  cars and boats">
              <a:extLst>
                <a:ext uri="{FF2B5EF4-FFF2-40B4-BE49-F238E27FC236}">
                  <a16:creationId xmlns:a16="http://schemas.microsoft.com/office/drawing/2014/main" id="{337290AD-6B0E-2388-D709-B22713DBC3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3247" y="5063200"/>
              <a:ext cx="1561429" cy="11355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" name="Picture 46" descr="Gaussian filter, or Gaussian blur — Librow — Digital LCD dashboards for  cars and boats">
              <a:extLst>
                <a:ext uri="{FF2B5EF4-FFF2-40B4-BE49-F238E27FC236}">
                  <a16:creationId xmlns:a16="http://schemas.microsoft.com/office/drawing/2014/main" id="{EF6F0BB9-C7F3-6E5D-DD23-B87FE43774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67215" y="4882932"/>
              <a:ext cx="1229691" cy="11355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9" name="Picture 48" descr="Gaussian filter, or Gaussian blur — Librow — Digital LCD dashboards for  cars and boats">
              <a:extLst>
                <a:ext uri="{FF2B5EF4-FFF2-40B4-BE49-F238E27FC236}">
                  <a16:creationId xmlns:a16="http://schemas.microsoft.com/office/drawing/2014/main" id="{8EAD00C9-0C7A-C3CC-0D15-D99FED1490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01782" y="5041998"/>
              <a:ext cx="1975360" cy="8173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0" name="Picture 49" descr="Gaussian filter, or Gaussian blur — Librow — Digital LCD dashboards for  cars and boats">
              <a:extLst>
                <a:ext uri="{FF2B5EF4-FFF2-40B4-BE49-F238E27FC236}">
                  <a16:creationId xmlns:a16="http://schemas.microsoft.com/office/drawing/2014/main" id="{28E3101B-66C0-2C41-B359-0743EB1DCD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89668" y="5696015"/>
              <a:ext cx="2160855" cy="5576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62" name="Picture 61">
            <a:extLst>
              <a:ext uri="{FF2B5EF4-FFF2-40B4-BE49-F238E27FC236}">
                <a16:creationId xmlns:a16="http://schemas.microsoft.com/office/drawing/2014/main" id="{C923D9F3-5935-1155-3D65-CAAF973F06FE}"/>
              </a:ext>
            </a:extLst>
          </p:cNvPr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491930" y="3789673"/>
            <a:ext cx="876300" cy="622300"/>
          </a:xfrm>
          <a:prstGeom prst="rect">
            <a:avLst/>
          </a:prstGeom>
        </p:spPr>
      </p:pic>
      <p:grpSp>
        <p:nvGrpSpPr>
          <p:cNvPr id="63" name="Group 62">
            <a:extLst>
              <a:ext uri="{FF2B5EF4-FFF2-40B4-BE49-F238E27FC236}">
                <a16:creationId xmlns:a16="http://schemas.microsoft.com/office/drawing/2014/main" id="{BAA7FE35-B26B-C572-772A-E48CE4BDBC76}"/>
              </a:ext>
            </a:extLst>
          </p:cNvPr>
          <p:cNvGrpSpPr/>
          <p:nvPr/>
        </p:nvGrpSpPr>
        <p:grpSpPr>
          <a:xfrm>
            <a:off x="7019642" y="4243492"/>
            <a:ext cx="1291942" cy="1494379"/>
            <a:chOff x="6991125" y="2717682"/>
            <a:chExt cx="1291942" cy="1494379"/>
          </a:xfrm>
        </p:grpSpPr>
        <p:grpSp>
          <p:nvGrpSpPr>
            <p:cNvPr id="13312" name="Group 13311">
              <a:extLst>
                <a:ext uri="{FF2B5EF4-FFF2-40B4-BE49-F238E27FC236}">
                  <a16:creationId xmlns:a16="http://schemas.microsoft.com/office/drawing/2014/main" id="{F02BFC12-4367-5321-80BE-A4B3F859FC21}"/>
                </a:ext>
              </a:extLst>
            </p:cNvPr>
            <p:cNvGrpSpPr/>
            <p:nvPr/>
          </p:nvGrpSpPr>
          <p:grpSpPr>
            <a:xfrm>
              <a:off x="6991125" y="2717682"/>
              <a:ext cx="576567" cy="1494379"/>
              <a:chOff x="7199047" y="4033850"/>
              <a:chExt cx="576567" cy="1494379"/>
            </a:xfrm>
          </p:grpSpPr>
          <p:sp>
            <p:nvSpPr>
              <p:cNvPr id="13315" name="Trapezoid 13314">
                <a:extLst>
                  <a:ext uri="{FF2B5EF4-FFF2-40B4-BE49-F238E27FC236}">
                    <a16:creationId xmlns:a16="http://schemas.microsoft.com/office/drawing/2014/main" id="{23D65617-4318-6D05-179A-3FCFD5193FAA}"/>
                  </a:ext>
                </a:extLst>
              </p:cNvPr>
              <p:cNvSpPr/>
              <p:nvPr/>
            </p:nvSpPr>
            <p:spPr>
              <a:xfrm rot="5400000">
                <a:off x="6740141" y="4492756"/>
                <a:ext cx="1494379" cy="576567"/>
              </a:xfrm>
              <a:prstGeom prst="trapezoid">
                <a:avLst>
                  <a:gd name="adj" fmla="val 46698"/>
                </a:avLst>
              </a:prstGeom>
              <a:solidFill>
                <a:schemeClr val="bg1">
                  <a:lumMod val="6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316" name="TextBox 13315">
                <a:extLst>
                  <a:ext uri="{FF2B5EF4-FFF2-40B4-BE49-F238E27FC236}">
                    <a16:creationId xmlns:a16="http://schemas.microsoft.com/office/drawing/2014/main" id="{EA690D11-991D-FA1E-6D2A-28C2C9F7FEAF}"/>
                  </a:ext>
                </a:extLst>
              </p:cNvPr>
              <p:cNvSpPr txBox="1"/>
              <p:nvPr/>
            </p:nvSpPr>
            <p:spPr>
              <a:xfrm rot="5400000">
                <a:off x="6934539" y="4596373"/>
                <a:ext cx="11384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 Rounded MT Bold" panose="020F0704030504030204" pitchFamily="34" charset="77"/>
                  </a:rPr>
                  <a:t>Encoder</a:t>
                </a:r>
              </a:p>
            </p:txBody>
          </p:sp>
        </p:grpSp>
        <p:cxnSp>
          <p:nvCxnSpPr>
            <p:cNvPr id="13313" name="Straight Arrow Connector 13312">
              <a:extLst>
                <a:ext uri="{FF2B5EF4-FFF2-40B4-BE49-F238E27FC236}">
                  <a16:creationId xmlns:a16="http://schemas.microsoft.com/office/drawing/2014/main" id="{E99A682A-ABFF-A759-4A2B-9440C944522D}"/>
                </a:ext>
              </a:extLst>
            </p:cNvPr>
            <p:cNvCxnSpPr>
              <a:cxnSpLocks/>
            </p:cNvCxnSpPr>
            <p:nvPr/>
          </p:nvCxnSpPr>
          <p:spPr>
            <a:xfrm>
              <a:off x="7567692" y="3414610"/>
              <a:ext cx="715375" cy="450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230710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0" name="Cloud 13339">
            <a:extLst>
              <a:ext uri="{FF2B5EF4-FFF2-40B4-BE49-F238E27FC236}">
                <a16:creationId xmlns:a16="http://schemas.microsoft.com/office/drawing/2014/main" id="{50B616E2-4B7D-58F1-793B-18F2C15BDBC6}"/>
              </a:ext>
            </a:extLst>
          </p:cNvPr>
          <p:cNvSpPr/>
          <p:nvPr/>
        </p:nvSpPr>
        <p:spPr>
          <a:xfrm>
            <a:off x="5460115" y="5072701"/>
            <a:ext cx="1160565" cy="897598"/>
          </a:xfrm>
          <a:prstGeom prst="cloud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object 3"/>
          <p:cNvPicPr/>
          <p:nvPr/>
        </p:nvPicPr>
        <p:blipFill rotWithShape="1">
          <a:blip r:embed="rId2" cstate="print"/>
          <a:srcRect t="1" b="-1126"/>
          <a:stretch/>
        </p:blipFill>
        <p:spPr>
          <a:xfrm>
            <a:off x="486254" y="756458"/>
            <a:ext cx="1974650" cy="1192965"/>
          </a:xfrm>
          <a:prstGeom prst="rect">
            <a:avLst/>
          </a:prstGeom>
        </p:spPr>
      </p:pic>
      <p:sp>
        <p:nvSpPr>
          <p:cNvPr id="51" name="Parallelogram 50">
            <a:extLst>
              <a:ext uri="{FF2B5EF4-FFF2-40B4-BE49-F238E27FC236}">
                <a16:creationId xmlns:a16="http://schemas.microsoft.com/office/drawing/2014/main" id="{D6CCFF76-BE63-EC27-0CBF-54F9F53E87BA}"/>
              </a:ext>
            </a:extLst>
          </p:cNvPr>
          <p:cNvSpPr/>
          <p:nvPr/>
        </p:nvSpPr>
        <p:spPr>
          <a:xfrm>
            <a:off x="8140602" y="1868977"/>
            <a:ext cx="2387531" cy="875187"/>
          </a:xfrm>
          <a:prstGeom prst="parallelogram">
            <a:avLst>
              <a:gd name="adj" fmla="val 5718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314" name="Picture 2" descr="Bi modal histograms. What they want to tell us?">
            <a:extLst>
              <a:ext uri="{FF2B5EF4-FFF2-40B4-BE49-F238E27FC236}">
                <a16:creationId xmlns:a16="http://schemas.microsoft.com/office/drawing/2014/main" id="{DEC03BD0-9B12-814C-EEB3-73EF6E147C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9EFE5"/>
              </a:clrFrom>
              <a:clrTo>
                <a:srgbClr val="F9EFE5">
                  <a:alpha val="0"/>
                </a:srgbClr>
              </a:clrTo>
            </a:clrChange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14" t="14812" r="5916" b="14774"/>
          <a:stretch/>
        </p:blipFill>
        <p:spPr bwMode="auto">
          <a:xfrm>
            <a:off x="8304454" y="756458"/>
            <a:ext cx="2169562" cy="1783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4" name="Group 53">
            <a:extLst>
              <a:ext uri="{FF2B5EF4-FFF2-40B4-BE49-F238E27FC236}">
                <a16:creationId xmlns:a16="http://schemas.microsoft.com/office/drawing/2014/main" id="{78A64723-77C1-D57C-511D-6610F320BA80}"/>
              </a:ext>
            </a:extLst>
          </p:cNvPr>
          <p:cNvGrpSpPr/>
          <p:nvPr/>
        </p:nvGrpSpPr>
        <p:grpSpPr>
          <a:xfrm>
            <a:off x="10280466" y="946624"/>
            <a:ext cx="1674176" cy="1494379"/>
            <a:chOff x="9739269" y="1314490"/>
            <a:chExt cx="1674176" cy="1494379"/>
          </a:xfrm>
        </p:grpSpPr>
        <p:sp>
          <p:nvSpPr>
            <p:cNvPr id="48" name="Trapezoid 47">
              <a:extLst>
                <a:ext uri="{FF2B5EF4-FFF2-40B4-BE49-F238E27FC236}">
                  <a16:creationId xmlns:a16="http://schemas.microsoft.com/office/drawing/2014/main" id="{555EEE48-F244-6C5C-8F94-AEBFF45CFB3D}"/>
                </a:ext>
              </a:extLst>
            </p:cNvPr>
            <p:cNvSpPr/>
            <p:nvPr/>
          </p:nvSpPr>
          <p:spPr>
            <a:xfrm rot="16200000">
              <a:off x="10377972" y="1773396"/>
              <a:ext cx="1494379" cy="576567"/>
            </a:xfrm>
            <a:prstGeom prst="trapezoid">
              <a:avLst>
                <a:gd name="adj" fmla="val 46698"/>
              </a:avLst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B53B3EE-FA54-EC3A-309F-B77C2B218410}"/>
                </a:ext>
              </a:extLst>
            </p:cNvPr>
            <p:cNvSpPr txBox="1"/>
            <p:nvPr/>
          </p:nvSpPr>
          <p:spPr>
            <a:xfrm rot="16200000">
              <a:off x="10564355" y="1877013"/>
              <a:ext cx="11544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Decoder</a:t>
              </a:r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643A4297-7E34-467E-4044-421041B5A091}"/>
                </a:ext>
              </a:extLst>
            </p:cNvPr>
            <p:cNvCxnSpPr>
              <a:cxnSpLocks/>
            </p:cNvCxnSpPr>
            <p:nvPr/>
          </p:nvCxnSpPr>
          <p:spPr>
            <a:xfrm>
              <a:off x="9739269" y="2053102"/>
              <a:ext cx="1025148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5" name="Picture 54">
            <a:extLst>
              <a:ext uri="{FF2B5EF4-FFF2-40B4-BE49-F238E27FC236}">
                <a16:creationId xmlns:a16="http://schemas.microsoft.com/office/drawing/2014/main" id="{6ECF939E-5E71-14D2-DD06-B3C708CCDB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3338" y="316922"/>
            <a:ext cx="591813" cy="294133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44CA5EA7-4E49-E34D-92B3-044493CC60DF}"/>
              </a:ext>
            </a:extLst>
          </p:cNvPr>
          <p:cNvSpPr txBox="1"/>
          <p:nvPr/>
        </p:nvSpPr>
        <p:spPr>
          <a:xfrm>
            <a:off x="8291983" y="169694"/>
            <a:ext cx="9781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 Rounded MT Bold" panose="020F0704030504030204" pitchFamily="34" charset="77"/>
              </a:rPr>
              <a:t>True but </a:t>
            </a:r>
          </a:p>
          <a:p>
            <a:pPr algn="ctr"/>
            <a:r>
              <a:rPr lang="en-US" sz="1400" dirty="0">
                <a:latin typeface="Arial Rounded MT Bold" panose="020F0704030504030204" pitchFamily="34" charset="77"/>
              </a:rPr>
              <a:t>unknown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BCD4FE4-9D17-8521-691F-143877836FE2}"/>
              </a:ext>
            </a:extLst>
          </p:cNvPr>
          <p:cNvSpPr txBox="1"/>
          <p:nvPr/>
        </p:nvSpPr>
        <p:spPr>
          <a:xfrm>
            <a:off x="9160662" y="2734476"/>
            <a:ext cx="8771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 Rounded MT Bold" panose="020F0704030504030204" pitchFamily="34" charset="77"/>
              </a:rPr>
              <a:t>Z space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B51FAE8-54D5-5299-BD35-3EE6547AE0AC}"/>
              </a:ext>
            </a:extLst>
          </p:cNvPr>
          <p:cNvGrpSpPr/>
          <p:nvPr/>
        </p:nvGrpSpPr>
        <p:grpSpPr>
          <a:xfrm>
            <a:off x="7012512" y="946624"/>
            <a:ext cx="576567" cy="1494379"/>
            <a:chOff x="7199047" y="4033850"/>
            <a:chExt cx="576567" cy="1494379"/>
          </a:xfrm>
        </p:grpSpPr>
        <p:sp>
          <p:nvSpPr>
            <p:cNvPr id="58" name="Trapezoid 57">
              <a:extLst>
                <a:ext uri="{FF2B5EF4-FFF2-40B4-BE49-F238E27FC236}">
                  <a16:creationId xmlns:a16="http://schemas.microsoft.com/office/drawing/2014/main" id="{1F72F4C0-1C0D-77D7-B75F-325C47285DA6}"/>
                </a:ext>
              </a:extLst>
            </p:cNvPr>
            <p:cNvSpPr/>
            <p:nvPr/>
          </p:nvSpPr>
          <p:spPr>
            <a:xfrm rot="5400000">
              <a:off x="6740141" y="4492756"/>
              <a:ext cx="1494379" cy="576567"/>
            </a:xfrm>
            <a:prstGeom prst="trapezoid">
              <a:avLst>
                <a:gd name="adj" fmla="val 46698"/>
              </a:avLst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3A90FB16-39D5-C041-4AC7-226383D9C737}"/>
                </a:ext>
              </a:extLst>
            </p:cNvPr>
            <p:cNvSpPr txBox="1"/>
            <p:nvPr/>
          </p:nvSpPr>
          <p:spPr>
            <a:xfrm rot="5400000">
              <a:off x="6934539" y="4596373"/>
              <a:ext cx="11384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Encoder</a:t>
              </a:r>
            </a:p>
          </p:txBody>
        </p:sp>
      </p:grp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EC3D1305-843E-B142-2B46-FFBD668C1089}"/>
              </a:ext>
            </a:extLst>
          </p:cNvPr>
          <p:cNvCxnSpPr>
            <a:cxnSpLocks/>
            <a:endCxn id="13314" idx="1"/>
          </p:cNvCxnSpPr>
          <p:nvPr/>
        </p:nvCxnSpPr>
        <p:spPr>
          <a:xfrm>
            <a:off x="7589079" y="1643552"/>
            <a:ext cx="715375" cy="4500"/>
          </a:xfrm>
          <a:prstGeom prst="straightConnector1">
            <a:avLst/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Left Brace 25">
            <a:extLst>
              <a:ext uri="{FF2B5EF4-FFF2-40B4-BE49-F238E27FC236}">
                <a16:creationId xmlns:a16="http://schemas.microsoft.com/office/drawing/2014/main" id="{63D8983A-07AA-11DE-5B23-D3241406B54E}"/>
              </a:ext>
            </a:extLst>
          </p:cNvPr>
          <p:cNvSpPr/>
          <p:nvPr/>
        </p:nvSpPr>
        <p:spPr>
          <a:xfrm rot="16200000">
            <a:off x="3629627" y="1226503"/>
            <a:ext cx="239624" cy="4906815"/>
          </a:xfrm>
          <a:prstGeom prst="leftBrace">
            <a:avLst>
              <a:gd name="adj1" fmla="val 52333"/>
              <a:gd name="adj2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FA58EF3-52FD-7F3A-3187-7983A9EAD392}"/>
              </a:ext>
            </a:extLst>
          </p:cNvPr>
          <p:cNvSpPr txBox="1"/>
          <p:nvPr/>
        </p:nvSpPr>
        <p:spPr>
          <a:xfrm>
            <a:off x="1873356" y="3844249"/>
            <a:ext cx="3752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  <a:sym typeface="Wingdings" pitchFamily="2" charset="2"/>
              </a:rPr>
              <a:t>Evidence Lower Bound (ELBO)</a:t>
            </a:r>
            <a:endParaRPr lang="en-US" dirty="0">
              <a:solidFill>
                <a:srgbClr val="C00000"/>
              </a:solidFill>
              <a:latin typeface="Arial Rounded MT Bold" panose="020F0704030504030204" pitchFamily="34" charset="77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AAC0DAA-862D-A004-B814-EE046607FD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150" y="3059662"/>
            <a:ext cx="1078519" cy="408702"/>
          </a:xfrm>
          <a:prstGeom prst="rect">
            <a:avLst/>
          </a:prstGeom>
        </p:spPr>
      </p:pic>
      <p:pic>
        <p:nvPicPr>
          <p:cNvPr id="5" name="object 3">
            <a:extLst>
              <a:ext uri="{FF2B5EF4-FFF2-40B4-BE49-F238E27FC236}">
                <a16:creationId xmlns:a16="http://schemas.microsoft.com/office/drawing/2014/main" id="{713A35F2-D537-97E2-098D-ED252FCCE6CD}"/>
              </a:ext>
            </a:extLst>
          </p:cNvPr>
          <p:cNvPicPr/>
          <p:nvPr/>
        </p:nvPicPr>
        <p:blipFill rotWithShape="1"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37498"/>
          <a:stretch/>
        </p:blipFill>
        <p:spPr>
          <a:xfrm>
            <a:off x="1034585" y="1804081"/>
            <a:ext cx="5173305" cy="1713711"/>
          </a:xfrm>
          <a:prstGeom prst="rect">
            <a:avLst/>
          </a:prstGeom>
        </p:spPr>
      </p:pic>
      <p:pic>
        <p:nvPicPr>
          <p:cNvPr id="10" name="object 2">
            <a:extLst>
              <a:ext uri="{FF2B5EF4-FFF2-40B4-BE49-F238E27FC236}">
                <a16:creationId xmlns:a16="http://schemas.microsoft.com/office/drawing/2014/main" id="{340163AF-8498-94E6-B1B3-CB88D9D612BF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7444" y="169694"/>
            <a:ext cx="2335325" cy="447120"/>
          </a:xfrm>
          <a:prstGeom prst="rect">
            <a:avLst/>
          </a:prstGeom>
        </p:spPr>
      </p:pic>
      <p:pic>
        <p:nvPicPr>
          <p:cNvPr id="22" name="object 5">
            <a:extLst>
              <a:ext uri="{FF2B5EF4-FFF2-40B4-BE49-F238E27FC236}">
                <a16:creationId xmlns:a16="http://schemas.microsoft.com/office/drawing/2014/main" id="{49EA7853-A224-B9DD-396B-BA1E58C9FC90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873356" y="2897911"/>
            <a:ext cx="1116392" cy="199994"/>
          </a:xfrm>
          <a:prstGeom prst="rect">
            <a:avLst/>
          </a:prstGeom>
        </p:spPr>
      </p:pic>
      <p:pic>
        <p:nvPicPr>
          <p:cNvPr id="24" name="object 7">
            <a:extLst>
              <a:ext uri="{FF2B5EF4-FFF2-40B4-BE49-F238E27FC236}">
                <a16:creationId xmlns:a16="http://schemas.microsoft.com/office/drawing/2014/main" id="{84B17E54-09D2-B7D0-C6FA-0217226F1A25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020151" y="2905674"/>
            <a:ext cx="784353" cy="184468"/>
          </a:xfrm>
          <a:prstGeom prst="rect">
            <a:avLst/>
          </a:prstGeom>
        </p:spPr>
      </p:pic>
      <p:pic>
        <p:nvPicPr>
          <p:cNvPr id="25" name="object 21">
            <a:extLst>
              <a:ext uri="{FF2B5EF4-FFF2-40B4-BE49-F238E27FC236}">
                <a16:creationId xmlns:a16="http://schemas.microsoft.com/office/drawing/2014/main" id="{27CFF029-7FBB-76E6-3B5C-C2EF0599835A}"/>
              </a:ext>
            </a:extLst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-4269" y="5977972"/>
            <a:ext cx="3649512" cy="477756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721CA61E-A6CE-918E-44F1-622128B9793B}"/>
              </a:ext>
            </a:extLst>
          </p:cNvPr>
          <p:cNvSpPr txBox="1"/>
          <p:nvPr/>
        </p:nvSpPr>
        <p:spPr>
          <a:xfrm>
            <a:off x="284628" y="4500882"/>
            <a:ext cx="78559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Arial Rounded MT Bold" panose="020F0704030504030204" pitchFamily="34" charset="77"/>
                <a:sym typeface="Wingdings" pitchFamily="2" charset="2"/>
              </a:rPr>
              <a:t>VAE learns the posterior and </a:t>
            </a:r>
          </a:p>
          <a:p>
            <a:r>
              <a:rPr lang="en-US" dirty="0">
                <a:solidFill>
                  <a:srgbClr val="00B050"/>
                </a:solidFill>
                <a:latin typeface="Arial Rounded MT Bold" panose="020F0704030504030204" pitchFamily="34" charset="77"/>
                <a:sym typeface="Wingdings" pitchFamily="2" charset="2"/>
              </a:rPr>
              <a:t>likelihood function parameters:       and </a:t>
            </a:r>
            <a:endParaRPr lang="en-US" dirty="0">
              <a:solidFill>
                <a:srgbClr val="00B050"/>
              </a:solidFill>
              <a:latin typeface="Arial Rounded MT Bold" panose="020F0704030504030204" pitchFamily="34" charset="77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D9356C35-25E9-EF17-694F-722A5843C230}"/>
              </a:ext>
            </a:extLst>
          </p:cNvPr>
          <p:cNvPicPr>
            <a:picLocks noChangeAspect="1"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66233" y="5241305"/>
            <a:ext cx="5642077" cy="55292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65DD241-6174-4BDC-2AA5-DB1C3B75B4CC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3833" t="1" r="65988" b="-10389"/>
          <a:stretch/>
        </p:blipFill>
        <p:spPr>
          <a:xfrm>
            <a:off x="3872202" y="4788774"/>
            <a:ext cx="286366" cy="37065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32A6A27-BC64-8E1E-1E31-C57118B702C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39531" y="4769715"/>
            <a:ext cx="355600" cy="406400"/>
          </a:xfrm>
          <a:prstGeom prst="rect">
            <a:avLst/>
          </a:prstGeom>
        </p:spPr>
      </p:pic>
      <p:sp>
        <p:nvSpPr>
          <p:cNvPr id="13325" name="Parallelogram 13324">
            <a:extLst>
              <a:ext uri="{FF2B5EF4-FFF2-40B4-BE49-F238E27FC236}">
                <a16:creationId xmlns:a16="http://schemas.microsoft.com/office/drawing/2014/main" id="{771F9E50-0DCC-5B7D-7E4C-58184A6C8C4F}"/>
              </a:ext>
            </a:extLst>
          </p:cNvPr>
          <p:cNvSpPr/>
          <p:nvPr/>
        </p:nvSpPr>
        <p:spPr>
          <a:xfrm>
            <a:off x="8140602" y="5169624"/>
            <a:ext cx="2387531" cy="875187"/>
          </a:xfrm>
          <a:prstGeom prst="parallelogram">
            <a:avLst>
              <a:gd name="adj" fmla="val 5718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326" name="Group 13325">
            <a:extLst>
              <a:ext uri="{FF2B5EF4-FFF2-40B4-BE49-F238E27FC236}">
                <a16:creationId xmlns:a16="http://schemas.microsoft.com/office/drawing/2014/main" id="{85905D94-8E44-AB1E-8440-0A754C73EC27}"/>
              </a:ext>
            </a:extLst>
          </p:cNvPr>
          <p:cNvGrpSpPr/>
          <p:nvPr/>
        </p:nvGrpSpPr>
        <p:grpSpPr>
          <a:xfrm>
            <a:off x="10280466" y="4247271"/>
            <a:ext cx="1674176" cy="1494379"/>
            <a:chOff x="9739269" y="1314490"/>
            <a:chExt cx="1674176" cy="1494379"/>
          </a:xfrm>
        </p:grpSpPr>
        <p:sp>
          <p:nvSpPr>
            <p:cNvPr id="13327" name="Trapezoid 13326">
              <a:extLst>
                <a:ext uri="{FF2B5EF4-FFF2-40B4-BE49-F238E27FC236}">
                  <a16:creationId xmlns:a16="http://schemas.microsoft.com/office/drawing/2014/main" id="{1CDD732D-9AEA-F98C-2294-162C418C89FA}"/>
                </a:ext>
              </a:extLst>
            </p:cNvPr>
            <p:cNvSpPr/>
            <p:nvPr/>
          </p:nvSpPr>
          <p:spPr>
            <a:xfrm rot="16200000">
              <a:off x="10377972" y="1773396"/>
              <a:ext cx="1494379" cy="576567"/>
            </a:xfrm>
            <a:prstGeom prst="trapezoid">
              <a:avLst>
                <a:gd name="adj" fmla="val 46698"/>
              </a:avLst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328" name="TextBox 13327">
              <a:extLst>
                <a:ext uri="{FF2B5EF4-FFF2-40B4-BE49-F238E27FC236}">
                  <a16:creationId xmlns:a16="http://schemas.microsoft.com/office/drawing/2014/main" id="{DA805598-89C1-8766-3936-36B7849920B4}"/>
                </a:ext>
              </a:extLst>
            </p:cNvPr>
            <p:cNvSpPr txBox="1"/>
            <p:nvPr/>
          </p:nvSpPr>
          <p:spPr>
            <a:xfrm rot="16200000">
              <a:off x="10564355" y="1877013"/>
              <a:ext cx="11544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Decoder</a:t>
              </a:r>
            </a:p>
          </p:txBody>
        </p:sp>
        <p:cxnSp>
          <p:nvCxnSpPr>
            <p:cNvPr id="13329" name="Straight Arrow Connector 13328">
              <a:extLst>
                <a:ext uri="{FF2B5EF4-FFF2-40B4-BE49-F238E27FC236}">
                  <a16:creationId xmlns:a16="http://schemas.microsoft.com/office/drawing/2014/main" id="{782FC48E-9557-7728-054F-268D2F70BD54}"/>
                </a:ext>
              </a:extLst>
            </p:cNvPr>
            <p:cNvCxnSpPr>
              <a:cxnSpLocks/>
            </p:cNvCxnSpPr>
            <p:nvPr/>
          </p:nvCxnSpPr>
          <p:spPr>
            <a:xfrm>
              <a:off x="9739269" y="2053102"/>
              <a:ext cx="1025148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330" name="TextBox 13329">
            <a:extLst>
              <a:ext uri="{FF2B5EF4-FFF2-40B4-BE49-F238E27FC236}">
                <a16:creationId xmlns:a16="http://schemas.microsoft.com/office/drawing/2014/main" id="{323F5B79-69AE-4AA9-8318-49D5A0B6F9B5}"/>
              </a:ext>
            </a:extLst>
          </p:cNvPr>
          <p:cNvSpPr txBox="1"/>
          <p:nvPr/>
        </p:nvSpPr>
        <p:spPr>
          <a:xfrm>
            <a:off x="9160662" y="6035123"/>
            <a:ext cx="8771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 Rounded MT Bold" panose="020F0704030504030204" pitchFamily="34" charset="77"/>
              </a:rPr>
              <a:t>Z space</a:t>
            </a:r>
          </a:p>
        </p:txBody>
      </p:sp>
      <p:grpSp>
        <p:nvGrpSpPr>
          <p:cNvPr id="13335" name="Group 13334">
            <a:extLst>
              <a:ext uri="{FF2B5EF4-FFF2-40B4-BE49-F238E27FC236}">
                <a16:creationId xmlns:a16="http://schemas.microsoft.com/office/drawing/2014/main" id="{4E8BF2C9-304F-518C-0292-1C60B5E59769}"/>
              </a:ext>
            </a:extLst>
          </p:cNvPr>
          <p:cNvGrpSpPr/>
          <p:nvPr/>
        </p:nvGrpSpPr>
        <p:grpSpPr>
          <a:xfrm>
            <a:off x="8032520" y="4572551"/>
            <a:ext cx="2571064" cy="1370702"/>
            <a:chOff x="1133247" y="4882932"/>
            <a:chExt cx="3443895" cy="1370702"/>
          </a:xfrm>
        </p:grpSpPr>
        <p:pic>
          <p:nvPicPr>
            <p:cNvPr id="13336" name="Picture 13335" descr="Gaussian filter, or Gaussian blur — Librow — Digital LCD dashboards for  cars and boats">
              <a:extLst>
                <a:ext uri="{FF2B5EF4-FFF2-40B4-BE49-F238E27FC236}">
                  <a16:creationId xmlns:a16="http://schemas.microsoft.com/office/drawing/2014/main" id="{149D978D-EC7C-E7E7-9925-B6CFF9A1E8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3247" y="5063200"/>
              <a:ext cx="1561429" cy="11355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337" name="Picture 13336" descr="Gaussian filter, or Gaussian blur — Librow — Digital LCD dashboards for  cars and boats">
              <a:extLst>
                <a:ext uri="{FF2B5EF4-FFF2-40B4-BE49-F238E27FC236}">
                  <a16:creationId xmlns:a16="http://schemas.microsoft.com/office/drawing/2014/main" id="{56E5DC0B-60AE-A42E-0F20-07F970D80F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67215" y="4882932"/>
              <a:ext cx="1229691" cy="11355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338" name="Picture 13337" descr="Gaussian filter, or Gaussian blur — Librow — Digital LCD dashboards for  cars and boats">
              <a:extLst>
                <a:ext uri="{FF2B5EF4-FFF2-40B4-BE49-F238E27FC236}">
                  <a16:creationId xmlns:a16="http://schemas.microsoft.com/office/drawing/2014/main" id="{8BB6D471-5FE2-6ADC-24CF-6FB28E28BA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01782" y="5041998"/>
              <a:ext cx="1975360" cy="8173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339" name="Picture 13338" descr="Gaussian filter, or Gaussian blur — Librow — Digital LCD dashboards for  cars and boats">
              <a:extLst>
                <a:ext uri="{FF2B5EF4-FFF2-40B4-BE49-F238E27FC236}">
                  <a16:creationId xmlns:a16="http://schemas.microsoft.com/office/drawing/2014/main" id="{8A2C62DE-F289-0F1C-21ED-8DF667682D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89668" y="5696015"/>
              <a:ext cx="2160855" cy="5576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3341" name="Freeform 13340">
            <a:extLst>
              <a:ext uri="{FF2B5EF4-FFF2-40B4-BE49-F238E27FC236}">
                <a16:creationId xmlns:a16="http://schemas.microsoft.com/office/drawing/2014/main" id="{723A593C-B573-F70A-2BF5-1628511AE766}"/>
              </a:ext>
            </a:extLst>
          </p:cNvPr>
          <p:cNvSpPr/>
          <p:nvPr/>
        </p:nvSpPr>
        <p:spPr>
          <a:xfrm rot="20473311">
            <a:off x="5857847" y="3772857"/>
            <a:ext cx="3128663" cy="774698"/>
          </a:xfrm>
          <a:custGeom>
            <a:avLst/>
            <a:gdLst>
              <a:gd name="connsiteX0" fmla="*/ 0 w 1583473"/>
              <a:gd name="connsiteY0" fmla="*/ 200978 h 200978"/>
              <a:gd name="connsiteX1" fmla="*/ 825190 w 1583473"/>
              <a:gd name="connsiteY1" fmla="*/ 256 h 200978"/>
              <a:gd name="connsiteX2" fmla="*/ 1583473 w 1583473"/>
              <a:gd name="connsiteY2" fmla="*/ 167524 h 200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83473" h="200978">
                <a:moveTo>
                  <a:pt x="0" y="200978"/>
                </a:moveTo>
                <a:cubicBezTo>
                  <a:pt x="280639" y="103405"/>
                  <a:pt x="561278" y="5832"/>
                  <a:pt x="825190" y="256"/>
                </a:cubicBezTo>
                <a:cubicBezTo>
                  <a:pt x="1089102" y="-5320"/>
                  <a:pt x="1336287" y="81102"/>
                  <a:pt x="1583473" y="167524"/>
                </a:cubicBezTo>
              </a:path>
            </a:pathLst>
          </a:custGeom>
          <a:noFill/>
          <a:ln w="28575">
            <a:solidFill>
              <a:schemeClr val="accent6">
                <a:lumMod val="40000"/>
                <a:lumOff val="6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42" name="TextBox 13341">
            <a:extLst>
              <a:ext uri="{FF2B5EF4-FFF2-40B4-BE49-F238E27FC236}">
                <a16:creationId xmlns:a16="http://schemas.microsoft.com/office/drawing/2014/main" id="{1781263D-818E-6D6E-1140-936EFFC1A450}"/>
              </a:ext>
            </a:extLst>
          </p:cNvPr>
          <p:cNvSpPr txBox="1"/>
          <p:nvPr/>
        </p:nvSpPr>
        <p:spPr>
          <a:xfrm>
            <a:off x="7329648" y="3370568"/>
            <a:ext cx="15980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 Rounded MT Bold" panose="020F0704030504030204" pitchFamily="34" charset="77"/>
              </a:rPr>
              <a:t>False but known</a:t>
            </a:r>
          </a:p>
        </p:txBody>
      </p:sp>
      <p:pic>
        <p:nvPicPr>
          <p:cNvPr id="13324" name="Picture 6" descr="Gaussian filter, or Gaussian blur — Librow — Digital LCD dashboards for  cars and boats">
            <a:extLst>
              <a:ext uri="{FF2B5EF4-FFF2-40B4-BE49-F238E27FC236}">
                <a16:creationId xmlns:a16="http://schemas.microsoft.com/office/drawing/2014/main" id="{C5040F50-A1F7-4E4F-F510-6F75F8D3E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35000"/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7076" y="3567907"/>
            <a:ext cx="2387532" cy="2533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343" name="Group 13342">
            <a:extLst>
              <a:ext uri="{FF2B5EF4-FFF2-40B4-BE49-F238E27FC236}">
                <a16:creationId xmlns:a16="http://schemas.microsoft.com/office/drawing/2014/main" id="{91FCD67E-3308-945B-02A9-36328BB872DA}"/>
              </a:ext>
            </a:extLst>
          </p:cNvPr>
          <p:cNvGrpSpPr/>
          <p:nvPr/>
        </p:nvGrpSpPr>
        <p:grpSpPr>
          <a:xfrm>
            <a:off x="7019642" y="4243492"/>
            <a:ext cx="1291942" cy="1494379"/>
            <a:chOff x="6991125" y="2717682"/>
            <a:chExt cx="1291942" cy="1494379"/>
          </a:xfrm>
        </p:grpSpPr>
        <p:grpSp>
          <p:nvGrpSpPr>
            <p:cNvPr id="13344" name="Group 13343">
              <a:extLst>
                <a:ext uri="{FF2B5EF4-FFF2-40B4-BE49-F238E27FC236}">
                  <a16:creationId xmlns:a16="http://schemas.microsoft.com/office/drawing/2014/main" id="{9ED9F4D0-8F3E-65D1-D3CB-67D8BF14FA60}"/>
                </a:ext>
              </a:extLst>
            </p:cNvPr>
            <p:cNvGrpSpPr/>
            <p:nvPr/>
          </p:nvGrpSpPr>
          <p:grpSpPr>
            <a:xfrm>
              <a:off x="6991125" y="2717682"/>
              <a:ext cx="576567" cy="1494379"/>
              <a:chOff x="7199047" y="4033850"/>
              <a:chExt cx="576567" cy="1494379"/>
            </a:xfrm>
          </p:grpSpPr>
          <p:sp>
            <p:nvSpPr>
              <p:cNvPr id="13346" name="Trapezoid 13345">
                <a:extLst>
                  <a:ext uri="{FF2B5EF4-FFF2-40B4-BE49-F238E27FC236}">
                    <a16:creationId xmlns:a16="http://schemas.microsoft.com/office/drawing/2014/main" id="{E61CE3AB-231B-D8A0-2D16-D0B6A43E61AD}"/>
                  </a:ext>
                </a:extLst>
              </p:cNvPr>
              <p:cNvSpPr/>
              <p:nvPr/>
            </p:nvSpPr>
            <p:spPr>
              <a:xfrm rot="5400000">
                <a:off x="6740141" y="4492756"/>
                <a:ext cx="1494379" cy="576567"/>
              </a:xfrm>
              <a:prstGeom prst="trapezoid">
                <a:avLst>
                  <a:gd name="adj" fmla="val 46698"/>
                </a:avLst>
              </a:prstGeom>
              <a:solidFill>
                <a:schemeClr val="bg1">
                  <a:lumMod val="6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347" name="TextBox 13346">
                <a:extLst>
                  <a:ext uri="{FF2B5EF4-FFF2-40B4-BE49-F238E27FC236}">
                    <a16:creationId xmlns:a16="http://schemas.microsoft.com/office/drawing/2014/main" id="{9DA40320-EB34-3B5B-EFA8-30A6EC110C35}"/>
                  </a:ext>
                </a:extLst>
              </p:cNvPr>
              <p:cNvSpPr txBox="1"/>
              <p:nvPr/>
            </p:nvSpPr>
            <p:spPr>
              <a:xfrm rot="5400000">
                <a:off x="6934539" y="4596373"/>
                <a:ext cx="11384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 Rounded MT Bold" panose="020F0704030504030204" pitchFamily="34" charset="77"/>
                  </a:rPr>
                  <a:t>Encoder</a:t>
                </a:r>
              </a:p>
            </p:txBody>
          </p:sp>
        </p:grpSp>
        <p:cxnSp>
          <p:nvCxnSpPr>
            <p:cNvPr id="13345" name="Straight Arrow Connector 13344">
              <a:extLst>
                <a:ext uri="{FF2B5EF4-FFF2-40B4-BE49-F238E27FC236}">
                  <a16:creationId xmlns:a16="http://schemas.microsoft.com/office/drawing/2014/main" id="{1E2E07E1-9DA8-A9D9-708B-1EF40FCECFEB}"/>
                </a:ext>
              </a:extLst>
            </p:cNvPr>
            <p:cNvCxnSpPr>
              <a:cxnSpLocks/>
            </p:cNvCxnSpPr>
            <p:nvPr/>
          </p:nvCxnSpPr>
          <p:spPr>
            <a:xfrm>
              <a:off x="7567692" y="3414610"/>
              <a:ext cx="715375" cy="450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8225167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arallelogram 50">
            <a:extLst>
              <a:ext uri="{FF2B5EF4-FFF2-40B4-BE49-F238E27FC236}">
                <a16:creationId xmlns:a16="http://schemas.microsoft.com/office/drawing/2014/main" id="{D6CCFF76-BE63-EC27-0CBF-54F9F53E87BA}"/>
              </a:ext>
            </a:extLst>
          </p:cNvPr>
          <p:cNvSpPr/>
          <p:nvPr/>
        </p:nvSpPr>
        <p:spPr>
          <a:xfrm>
            <a:off x="8140602" y="1868977"/>
            <a:ext cx="2387531" cy="875187"/>
          </a:xfrm>
          <a:prstGeom prst="parallelogram">
            <a:avLst>
              <a:gd name="adj" fmla="val 5718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314" name="Picture 2" descr="Bi modal histograms. What they want to tell us?">
            <a:extLst>
              <a:ext uri="{FF2B5EF4-FFF2-40B4-BE49-F238E27FC236}">
                <a16:creationId xmlns:a16="http://schemas.microsoft.com/office/drawing/2014/main" id="{DEC03BD0-9B12-814C-EEB3-73EF6E147C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9EFE5"/>
              </a:clrFrom>
              <a:clrTo>
                <a:srgbClr val="F9EFE5">
                  <a:alpha val="0"/>
                </a:srgbClr>
              </a:clrTo>
            </a:clrChange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14" t="14812" r="5916" b="14774"/>
          <a:stretch/>
        </p:blipFill>
        <p:spPr bwMode="auto">
          <a:xfrm>
            <a:off x="8304454" y="756458"/>
            <a:ext cx="2169562" cy="1783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4" name="Group 53">
            <a:extLst>
              <a:ext uri="{FF2B5EF4-FFF2-40B4-BE49-F238E27FC236}">
                <a16:creationId xmlns:a16="http://schemas.microsoft.com/office/drawing/2014/main" id="{78A64723-77C1-D57C-511D-6610F320BA80}"/>
              </a:ext>
            </a:extLst>
          </p:cNvPr>
          <p:cNvGrpSpPr/>
          <p:nvPr/>
        </p:nvGrpSpPr>
        <p:grpSpPr>
          <a:xfrm>
            <a:off x="10280466" y="946624"/>
            <a:ext cx="1674176" cy="1494379"/>
            <a:chOff x="9739269" y="1314490"/>
            <a:chExt cx="1674176" cy="1494379"/>
          </a:xfrm>
        </p:grpSpPr>
        <p:sp>
          <p:nvSpPr>
            <p:cNvPr id="48" name="Trapezoid 47">
              <a:extLst>
                <a:ext uri="{FF2B5EF4-FFF2-40B4-BE49-F238E27FC236}">
                  <a16:creationId xmlns:a16="http://schemas.microsoft.com/office/drawing/2014/main" id="{555EEE48-F244-6C5C-8F94-AEBFF45CFB3D}"/>
                </a:ext>
              </a:extLst>
            </p:cNvPr>
            <p:cNvSpPr/>
            <p:nvPr/>
          </p:nvSpPr>
          <p:spPr>
            <a:xfrm rot="16200000">
              <a:off x="10377972" y="1773396"/>
              <a:ext cx="1494379" cy="576567"/>
            </a:xfrm>
            <a:prstGeom prst="trapezoid">
              <a:avLst>
                <a:gd name="adj" fmla="val 46698"/>
              </a:avLst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B53B3EE-FA54-EC3A-309F-B77C2B218410}"/>
                </a:ext>
              </a:extLst>
            </p:cNvPr>
            <p:cNvSpPr txBox="1"/>
            <p:nvPr/>
          </p:nvSpPr>
          <p:spPr>
            <a:xfrm rot="16200000">
              <a:off x="10564355" y="1877013"/>
              <a:ext cx="11544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Decoder</a:t>
              </a:r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643A4297-7E34-467E-4044-421041B5A091}"/>
                </a:ext>
              </a:extLst>
            </p:cNvPr>
            <p:cNvCxnSpPr>
              <a:cxnSpLocks/>
            </p:cNvCxnSpPr>
            <p:nvPr/>
          </p:nvCxnSpPr>
          <p:spPr>
            <a:xfrm>
              <a:off x="9739269" y="2053102"/>
              <a:ext cx="1025148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5" name="Picture 54">
            <a:extLst>
              <a:ext uri="{FF2B5EF4-FFF2-40B4-BE49-F238E27FC236}">
                <a16:creationId xmlns:a16="http://schemas.microsoft.com/office/drawing/2014/main" id="{6ECF939E-5E71-14D2-DD06-B3C708CCD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3338" y="316922"/>
            <a:ext cx="591813" cy="294133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44CA5EA7-4E49-E34D-92B3-044493CC60DF}"/>
              </a:ext>
            </a:extLst>
          </p:cNvPr>
          <p:cNvSpPr txBox="1"/>
          <p:nvPr/>
        </p:nvSpPr>
        <p:spPr>
          <a:xfrm>
            <a:off x="8291983" y="169694"/>
            <a:ext cx="9781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 Rounded MT Bold" panose="020F0704030504030204" pitchFamily="34" charset="77"/>
              </a:rPr>
              <a:t>True but </a:t>
            </a:r>
          </a:p>
          <a:p>
            <a:pPr algn="ctr"/>
            <a:r>
              <a:rPr lang="en-US" sz="1400" dirty="0">
                <a:latin typeface="Arial Rounded MT Bold" panose="020F0704030504030204" pitchFamily="34" charset="77"/>
              </a:rPr>
              <a:t>unknown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BCD4FE4-9D17-8521-691F-143877836FE2}"/>
              </a:ext>
            </a:extLst>
          </p:cNvPr>
          <p:cNvSpPr txBox="1"/>
          <p:nvPr/>
        </p:nvSpPr>
        <p:spPr>
          <a:xfrm>
            <a:off x="9160662" y="2734476"/>
            <a:ext cx="8771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 Rounded MT Bold" panose="020F0704030504030204" pitchFamily="34" charset="77"/>
              </a:rPr>
              <a:t>Z space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B51FAE8-54D5-5299-BD35-3EE6547AE0AC}"/>
              </a:ext>
            </a:extLst>
          </p:cNvPr>
          <p:cNvGrpSpPr/>
          <p:nvPr/>
        </p:nvGrpSpPr>
        <p:grpSpPr>
          <a:xfrm>
            <a:off x="7012512" y="946624"/>
            <a:ext cx="576567" cy="1494379"/>
            <a:chOff x="7199047" y="4033850"/>
            <a:chExt cx="576567" cy="1494379"/>
          </a:xfrm>
        </p:grpSpPr>
        <p:sp>
          <p:nvSpPr>
            <p:cNvPr id="58" name="Trapezoid 57">
              <a:extLst>
                <a:ext uri="{FF2B5EF4-FFF2-40B4-BE49-F238E27FC236}">
                  <a16:creationId xmlns:a16="http://schemas.microsoft.com/office/drawing/2014/main" id="{1F72F4C0-1C0D-77D7-B75F-325C47285DA6}"/>
                </a:ext>
              </a:extLst>
            </p:cNvPr>
            <p:cNvSpPr/>
            <p:nvPr/>
          </p:nvSpPr>
          <p:spPr>
            <a:xfrm rot="5400000">
              <a:off x="6740141" y="4492756"/>
              <a:ext cx="1494379" cy="576567"/>
            </a:xfrm>
            <a:prstGeom prst="trapezoid">
              <a:avLst>
                <a:gd name="adj" fmla="val 46698"/>
              </a:avLst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3A90FB16-39D5-C041-4AC7-226383D9C737}"/>
                </a:ext>
              </a:extLst>
            </p:cNvPr>
            <p:cNvSpPr txBox="1"/>
            <p:nvPr/>
          </p:nvSpPr>
          <p:spPr>
            <a:xfrm rot="5400000">
              <a:off x="6934539" y="4596373"/>
              <a:ext cx="11384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Encoder</a:t>
              </a:r>
            </a:p>
          </p:txBody>
        </p:sp>
      </p:grp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EC3D1305-843E-B142-2B46-FFBD668C1089}"/>
              </a:ext>
            </a:extLst>
          </p:cNvPr>
          <p:cNvCxnSpPr>
            <a:cxnSpLocks/>
            <a:endCxn id="13314" idx="1"/>
          </p:cNvCxnSpPr>
          <p:nvPr/>
        </p:nvCxnSpPr>
        <p:spPr>
          <a:xfrm>
            <a:off x="7589079" y="1643552"/>
            <a:ext cx="715375" cy="4500"/>
          </a:xfrm>
          <a:prstGeom prst="straightConnector1">
            <a:avLst/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Left Brace 25">
            <a:extLst>
              <a:ext uri="{FF2B5EF4-FFF2-40B4-BE49-F238E27FC236}">
                <a16:creationId xmlns:a16="http://schemas.microsoft.com/office/drawing/2014/main" id="{63D8983A-07AA-11DE-5B23-D3241406B54E}"/>
              </a:ext>
            </a:extLst>
          </p:cNvPr>
          <p:cNvSpPr/>
          <p:nvPr/>
        </p:nvSpPr>
        <p:spPr>
          <a:xfrm rot="16200000">
            <a:off x="2257276" y="436925"/>
            <a:ext cx="138537" cy="2274718"/>
          </a:xfrm>
          <a:prstGeom prst="leftBrace">
            <a:avLst>
              <a:gd name="adj1" fmla="val 52333"/>
              <a:gd name="adj2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FA58EF3-52FD-7F3A-3187-7983A9EAD392}"/>
              </a:ext>
            </a:extLst>
          </p:cNvPr>
          <p:cNvSpPr txBox="1"/>
          <p:nvPr/>
        </p:nvSpPr>
        <p:spPr>
          <a:xfrm>
            <a:off x="1197746" y="1643552"/>
            <a:ext cx="37521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C00000"/>
                </a:solidFill>
                <a:latin typeface="Arial Rounded MT Bold" panose="020F0704030504030204" pitchFamily="34" charset="77"/>
                <a:sym typeface="Wingdings" pitchFamily="2" charset="2"/>
              </a:rPr>
              <a:t>Evidence Lower Bound (ELBO)</a:t>
            </a:r>
            <a:endParaRPr lang="en-US" sz="1100" dirty="0">
              <a:solidFill>
                <a:srgbClr val="C00000"/>
              </a:solidFill>
              <a:latin typeface="Arial Rounded MT Bold" panose="020F0704030504030204" pitchFamily="34" charset="77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AAC0DAA-862D-A004-B814-EE046607FD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563" y="687377"/>
            <a:ext cx="527762" cy="199994"/>
          </a:xfrm>
          <a:prstGeom prst="rect">
            <a:avLst/>
          </a:prstGeom>
        </p:spPr>
      </p:pic>
      <p:pic>
        <p:nvPicPr>
          <p:cNvPr id="5" name="object 3">
            <a:extLst>
              <a:ext uri="{FF2B5EF4-FFF2-40B4-BE49-F238E27FC236}">
                <a16:creationId xmlns:a16="http://schemas.microsoft.com/office/drawing/2014/main" id="{713A35F2-D537-97E2-098D-ED252FCCE6CD}"/>
              </a:ext>
            </a:extLst>
          </p:cNvPr>
          <p:cNvPicPr/>
          <p:nvPr/>
        </p:nvPicPr>
        <p:blipFill rotWithShape="1"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37498"/>
          <a:stretch/>
        </p:blipFill>
        <p:spPr>
          <a:xfrm>
            <a:off x="1076369" y="602118"/>
            <a:ext cx="2387532" cy="872612"/>
          </a:xfrm>
          <a:prstGeom prst="rect">
            <a:avLst/>
          </a:prstGeom>
        </p:spPr>
      </p:pic>
      <p:pic>
        <p:nvPicPr>
          <p:cNvPr id="10" name="object 2">
            <a:extLst>
              <a:ext uri="{FF2B5EF4-FFF2-40B4-BE49-F238E27FC236}">
                <a16:creationId xmlns:a16="http://schemas.microsoft.com/office/drawing/2014/main" id="{340163AF-8498-94E6-B1B3-CB88D9D612BF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7444" y="169694"/>
            <a:ext cx="2335325" cy="447120"/>
          </a:xfrm>
          <a:prstGeom prst="rect">
            <a:avLst/>
          </a:prstGeom>
        </p:spPr>
      </p:pic>
      <p:pic>
        <p:nvPicPr>
          <p:cNvPr id="25" name="object 21">
            <a:extLst>
              <a:ext uri="{FF2B5EF4-FFF2-40B4-BE49-F238E27FC236}">
                <a16:creationId xmlns:a16="http://schemas.microsoft.com/office/drawing/2014/main" id="{27CFF029-7FBB-76E6-3B5C-C2EF0599835A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643" y="3494405"/>
            <a:ext cx="3649512" cy="477756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721CA61E-A6CE-918E-44F1-622128B9793B}"/>
              </a:ext>
            </a:extLst>
          </p:cNvPr>
          <p:cNvSpPr txBox="1"/>
          <p:nvPr/>
        </p:nvSpPr>
        <p:spPr>
          <a:xfrm>
            <a:off x="324540" y="2017315"/>
            <a:ext cx="78559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Arial Rounded MT Bold" panose="020F0704030504030204" pitchFamily="34" charset="77"/>
                <a:sym typeface="Wingdings" pitchFamily="2" charset="2"/>
              </a:rPr>
              <a:t>VAE learns the posterior and </a:t>
            </a:r>
          </a:p>
          <a:p>
            <a:r>
              <a:rPr lang="en-US" dirty="0">
                <a:solidFill>
                  <a:srgbClr val="00B050"/>
                </a:solidFill>
                <a:latin typeface="Arial Rounded MT Bold" panose="020F0704030504030204" pitchFamily="34" charset="77"/>
                <a:sym typeface="Wingdings" pitchFamily="2" charset="2"/>
              </a:rPr>
              <a:t>likelihood function parameters:       and </a:t>
            </a:r>
            <a:endParaRPr lang="en-US" dirty="0">
              <a:solidFill>
                <a:srgbClr val="00B050"/>
              </a:solidFill>
              <a:latin typeface="Arial Rounded MT Bold" panose="020F0704030504030204" pitchFamily="34" charset="77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D9356C35-25E9-EF17-694F-722A5843C23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6145" y="2757738"/>
            <a:ext cx="5642077" cy="55292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65DD241-6174-4BDC-2AA5-DB1C3B75B4CC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3833" t="1" r="65988" b="-10389"/>
          <a:stretch/>
        </p:blipFill>
        <p:spPr>
          <a:xfrm>
            <a:off x="3912114" y="2305207"/>
            <a:ext cx="286366" cy="37065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32A6A27-BC64-8E1E-1E31-C57118B702C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79443" y="2286148"/>
            <a:ext cx="355600" cy="406400"/>
          </a:xfrm>
          <a:prstGeom prst="rect">
            <a:avLst/>
          </a:prstGeom>
        </p:spPr>
      </p:pic>
      <p:grpSp>
        <p:nvGrpSpPr>
          <p:cNvPr id="13337" name="Group 13336">
            <a:extLst>
              <a:ext uri="{FF2B5EF4-FFF2-40B4-BE49-F238E27FC236}">
                <a16:creationId xmlns:a16="http://schemas.microsoft.com/office/drawing/2014/main" id="{48F6CD5F-6F2A-1613-8506-7E8F9D0DCAA2}"/>
              </a:ext>
            </a:extLst>
          </p:cNvPr>
          <p:cNvGrpSpPr/>
          <p:nvPr/>
        </p:nvGrpSpPr>
        <p:grpSpPr>
          <a:xfrm>
            <a:off x="274081" y="4108302"/>
            <a:ext cx="5259057" cy="1284649"/>
            <a:chOff x="274081" y="4108302"/>
            <a:chExt cx="5259057" cy="1284649"/>
          </a:xfrm>
        </p:grpSpPr>
        <p:pic>
          <p:nvPicPr>
            <p:cNvPr id="2" name="object 3">
              <a:extLst>
                <a:ext uri="{FF2B5EF4-FFF2-40B4-BE49-F238E27FC236}">
                  <a16:creationId xmlns:a16="http://schemas.microsoft.com/office/drawing/2014/main" id="{BF368B2D-3F80-1BE0-587A-C027E5B2F677}"/>
                </a:ext>
              </a:extLst>
            </p:cNvPr>
            <p:cNvPicPr/>
            <p:nvPr/>
          </p:nvPicPr>
          <p:blipFill rotWithShape="1">
            <a:blip r:embed="rId11" cstate="print"/>
            <a:srcRect l="26650" t="1954"/>
            <a:stretch/>
          </p:blipFill>
          <p:spPr>
            <a:xfrm>
              <a:off x="1555825" y="4784712"/>
              <a:ext cx="3870643" cy="608239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1EC289E-B028-60C0-C4A6-BB48BAAC4B59}"/>
                </a:ext>
              </a:extLst>
            </p:cNvPr>
            <p:cNvSpPr txBox="1"/>
            <p:nvPr/>
          </p:nvSpPr>
          <p:spPr>
            <a:xfrm>
              <a:off x="274081" y="4108302"/>
              <a:ext cx="52590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 Rounded MT Bold" panose="020F0704030504030204" pitchFamily="34" charset="77"/>
                  <a:sym typeface="Wingdings" pitchFamily="2" charset="2"/>
                </a:rPr>
                <a:t>Maximize Expected ELBO over all data points</a:t>
              </a:r>
              <a:endParaRPr lang="en-US" dirty="0">
                <a:solidFill>
                  <a:srgbClr val="C00000"/>
                </a:solidFill>
                <a:latin typeface="Arial Rounded MT Bold" panose="020F0704030504030204" pitchFamily="34" charset="77"/>
              </a:endParaRP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9B9BAA9B-AD87-C8C1-48A0-DAE9A9839B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03857" y="4466774"/>
              <a:ext cx="308257" cy="377793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322" name="Parallelogram 13321">
            <a:extLst>
              <a:ext uri="{FF2B5EF4-FFF2-40B4-BE49-F238E27FC236}">
                <a16:creationId xmlns:a16="http://schemas.microsoft.com/office/drawing/2014/main" id="{A83D5BBE-C864-397A-7E08-9B360D7216E4}"/>
              </a:ext>
            </a:extLst>
          </p:cNvPr>
          <p:cNvSpPr/>
          <p:nvPr/>
        </p:nvSpPr>
        <p:spPr>
          <a:xfrm>
            <a:off x="8140602" y="5169624"/>
            <a:ext cx="2387531" cy="875187"/>
          </a:xfrm>
          <a:prstGeom prst="parallelogram">
            <a:avLst>
              <a:gd name="adj" fmla="val 5718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323" name="Group 13322">
            <a:extLst>
              <a:ext uri="{FF2B5EF4-FFF2-40B4-BE49-F238E27FC236}">
                <a16:creationId xmlns:a16="http://schemas.microsoft.com/office/drawing/2014/main" id="{DDD3D2AD-9765-B28E-9B76-48A014645BC2}"/>
              </a:ext>
            </a:extLst>
          </p:cNvPr>
          <p:cNvGrpSpPr/>
          <p:nvPr/>
        </p:nvGrpSpPr>
        <p:grpSpPr>
          <a:xfrm>
            <a:off x="10280466" y="4247271"/>
            <a:ext cx="1674176" cy="1494379"/>
            <a:chOff x="9739269" y="1314490"/>
            <a:chExt cx="1674176" cy="1494379"/>
          </a:xfrm>
        </p:grpSpPr>
        <p:sp>
          <p:nvSpPr>
            <p:cNvPr id="13324" name="Trapezoid 13323">
              <a:extLst>
                <a:ext uri="{FF2B5EF4-FFF2-40B4-BE49-F238E27FC236}">
                  <a16:creationId xmlns:a16="http://schemas.microsoft.com/office/drawing/2014/main" id="{E261EB5E-D3F6-C514-3892-6868A5CB1A4F}"/>
                </a:ext>
              </a:extLst>
            </p:cNvPr>
            <p:cNvSpPr/>
            <p:nvPr/>
          </p:nvSpPr>
          <p:spPr>
            <a:xfrm rot="16200000">
              <a:off x="10377972" y="1773396"/>
              <a:ext cx="1494379" cy="576567"/>
            </a:xfrm>
            <a:prstGeom prst="trapezoid">
              <a:avLst>
                <a:gd name="adj" fmla="val 46698"/>
              </a:avLst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325" name="TextBox 13324">
              <a:extLst>
                <a:ext uri="{FF2B5EF4-FFF2-40B4-BE49-F238E27FC236}">
                  <a16:creationId xmlns:a16="http://schemas.microsoft.com/office/drawing/2014/main" id="{A26413D9-C4A5-D28E-5CAA-F3550E01B002}"/>
                </a:ext>
              </a:extLst>
            </p:cNvPr>
            <p:cNvSpPr txBox="1"/>
            <p:nvPr/>
          </p:nvSpPr>
          <p:spPr>
            <a:xfrm rot="16200000">
              <a:off x="10564355" y="1877013"/>
              <a:ext cx="11544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Decoder</a:t>
              </a:r>
            </a:p>
          </p:txBody>
        </p:sp>
        <p:cxnSp>
          <p:nvCxnSpPr>
            <p:cNvPr id="13326" name="Straight Arrow Connector 13325">
              <a:extLst>
                <a:ext uri="{FF2B5EF4-FFF2-40B4-BE49-F238E27FC236}">
                  <a16:creationId xmlns:a16="http://schemas.microsoft.com/office/drawing/2014/main" id="{8100CC7E-C9F3-7F99-91F7-1FE822E0C8CF}"/>
                </a:ext>
              </a:extLst>
            </p:cNvPr>
            <p:cNvCxnSpPr>
              <a:cxnSpLocks/>
            </p:cNvCxnSpPr>
            <p:nvPr/>
          </p:nvCxnSpPr>
          <p:spPr>
            <a:xfrm>
              <a:off x="9739269" y="2053102"/>
              <a:ext cx="1025148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327" name="TextBox 13326">
            <a:extLst>
              <a:ext uri="{FF2B5EF4-FFF2-40B4-BE49-F238E27FC236}">
                <a16:creationId xmlns:a16="http://schemas.microsoft.com/office/drawing/2014/main" id="{B1373B7B-F51A-D9C6-50BF-BC228A386E1F}"/>
              </a:ext>
            </a:extLst>
          </p:cNvPr>
          <p:cNvSpPr txBox="1"/>
          <p:nvPr/>
        </p:nvSpPr>
        <p:spPr>
          <a:xfrm>
            <a:off x="9160662" y="6035123"/>
            <a:ext cx="8771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 Rounded MT Bold" panose="020F0704030504030204" pitchFamily="34" charset="77"/>
              </a:rPr>
              <a:t>Z space</a:t>
            </a:r>
          </a:p>
        </p:txBody>
      </p:sp>
      <p:grpSp>
        <p:nvGrpSpPr>
          <p:cNvPr id="13332" name="Group 13331">
            <a:extLst>
              <a:ext uri="{FF2B5EF4-FFF2-40B4-BE49-F238E27FC236}">
                <a16:creationId xmlns:a16="http://schemas.microsoft.com/office/drawing/2014/main" id="{977A3DBD-34DC-5B66-563C-D3E3D685933F}"/>
              </a:ext>
            </a:extLst>
          </p:cNvPr>
          <p:cNvGrpSpPr/>
          <p:nvPr/>
        </p:nvGrpSpPr>
        <p:grpSpPr>
          <a:xfrm>
            <a:off x="8032520" y="4572551"/>
            <a:ext cx="2571064" cy="1370702"/>
            <a:chOff x="1133247" y="4882932"/>
            <a:chExt cx="3443895" cy="1370702"/>
          </a:xfrm>
        </p:grpSpPr>
        <p:pic>
          <p:nvPicPr>
            <p:cNvPr id="13333" name="Picture 13332" descr="Gaussian filter, or Gaussian blur — Librow — Digital LCD dashboards for  cars and boats">
              <a:extLst>
                <a:ext uri="{FF2B5EF4-FFF2-40B4-BE49-F238E27FC236}">
                  <a16:creationId xmlns:a16="http://schemas.microsoft.com/office/drawing/2014/main" id="{A64EB5EF-F3CC-2DC1-44BE-F52551D005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3247" y="5063200"/>
              <a:ext cx="1561429" cy="11355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334" name="Picture 13333" descr="Gaussian filter, or Gaussian blur — Librow — Digital LCD dashboards for  cars and boats">
              <a:extLst>
                <a:ext uri="{FF2B5EF4-FFF2-40B4-BE49-F238E27FC236}">
                  <a16:creationId xmlns:a16="http://schemas.microsoft.com/office/drawing/2014/main" id="{4DE2BB25-D607-370D-5D25-12E97AB82B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67215" y="4882932"/>
              <a:ext cx="1229691" cy="11355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335" name="Picture 13334" descr="Gaussian filter, or Gaussian blur — Librow — Digital LCD dashboards for  cars and boats">
              <a:extLst>
                <a:ext uri="{FF2B5EF4-FFF2-40B4-BE49-F238E27FC236}">
                  <a16:creationId xmlns:a16="http://schemas.microsoft.com/office/drawing/2014/main" id="{FCED9A5B-572B-C96D-5F15-2BE3268467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01782" y="5041998"/>
              <a:ext cx="1975360" cy="8173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336" name="Picture 13335" descr="Gaussian filter, or Gaussian blur — Librow — Digital LCD dashboards for  cars and boats">
              <a:extLst>
                <a:ext uri="{FF2B5EF4-FFF2-40B4-BE49-F238E27FC236}">
                  <a16:creationId xmlns:a16="http://schemas.microsoft.com/office/drawing/2014/main" id="{B8D6D4F6-CC90-43C0-87E0-1027B9E7BC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89668" y="5696015"/>
              <a:ext cx="2160855" cy="5576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3321" name="Picture 6" descr="Gaussian filter, or Gaussian blur — Librow — Digital LCD dashboards for  cars and boats">
            <a:extLst>
              <a:ext uri="{FF2B5EF4-FFF2-40B4-BE49-F238E27FC236}">
                <a16:creationId xmlns:a16="http://schemas.microsoft.com/office/drawing/2014/main" id="{051806DB-5B95-62E4-24AC-2592FB7F18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35000"/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7076" y="3567907"/>
            <a:ext cx="2387532" cy="2533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338" name="Group 13337">
            <a:extLst>
              <a:ext uri="{FF2B5EF4-FFF2-40B4-BE49-F238E27FC236}">
                <a16:creationId xmlns:a16="http://schemas.microsoft.com/office/drawing/2014/main" id="{B080ABC2-2A34-134D-5668-A928EF87C7B8}"/>
              </a:ext>
            </a:extLst>
          </p:cNvPr>
          <p:cNvGrpSpPr/>
          <p:nvPr/>
        </p:nvGrpSpPr>
        <p:grpSpPr>
          <a:xfrm>
            <a:off x="7019642" y="4243492"/>
            <a:ext cx="1291942" cy="1494379"/>
            <a:chOff x="6991125" y="2717682"/>
            <a:chExt cx="1291942" cy="1494379"/>
          </a:xfrm>
        </p:grpSpPr>
        <p:grpSp>
          <p:nvGrpSpPr>
            <p:cNvPr id="13339" name="Group 13338">
              <a:extLst>
                <a:ext uri="{FF2B5EF4-FFF2-40B4-BE49-F238E27FC236}">
                  <a16:creationId xmlns:a16="http://schemas.microsoft.com/office/drawing/2014/main" id="{F6046A75-175D-ED3C-F262-BDF7B8F9F4F4}"/>
                </a:ext>
              </a:extLst>
            </p:cNvPr>
            <p:cNvGrpSpPr/>
            <p:nvPr/>
          </p:nvGrpSpPr>
          <p:grpSpPr>
            <a:xfrm>
              <a:off x="6991125" y="2717682"/>
              <a:ext cx="576567" cy="1494379"/>
              <a:chOff x="7199047" y="4033850"/>
              <a:chExt cx="576567" cy="1494379"/>
            </a:xfrm>
          </p:grpSpPr>
          <p:sp>
            <p:nvSpPr>
              <p:cNvPr id="13341" name="Trapezoid 13340">
                <a:extLst>
                  <a:ext uri="{FF2B5EF4-FFF2-40B4-BE49-F238E27FC236}">
                    <a16:creationId xmlns:a16="http://schemas.microsoft.com/office/drawing/2014/main" id="{52675CBB-A041-C9FF-237B-86FFE22D4905}"/>
                  </a:ext>
                </a:extLst>
              </p:cNvPr>
              <p:cNvSpPr/>
              <p:nvPr/>
            </p:nvSpPr>
            <p:spPr>
              <a:xfrm rot="5400000">
                <a:off x="6740141" y="4492756"/>
                <a:ext cx="1494379" cy="576567"/>
              </a:xfrm>
              <a:prstGeom prst="trapezoid">
                <a:avLst>
                  <a:gd name="adj" fmla="val 46698"/>
                </a:avLst>
              </a:prstGeom>
              <a:solidFill>
                <a:schemeClr val="bg1">
                  <a:lumMod val="6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342" name="TextBox 13341">
                <a:extLst>
                  <a:ext uri="{FF2B5EF4-FFF2-40B4-BE49-F238E27FC236}">
                    <a16:creationId xmlns:a16="http://schemas.microsoft.com/office/drawing/2014/main" id="{78A7804E-B601-5FE0-7778-97566319314A}"/>
                  </a:ext>
                </a:extLst>
              </p:cNvPr>
              <p:cNvSpPr txBox="1"/>
              <p:nvPr/>
            </p:nvSpPr>
            <p:spPr>
              <a:xfrm rot="5400000">
                <a:off x="6934539" y="4596373"/>
                <a:ext cx="11384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 Rounded MT Bold" panose="020F0704030504030204" pitchFamily="34" charset="77"/>
                  </a:rPr>
                  <a:t>Encoder</a:t>
                </a:r>
              </a:p>
            </p:txBody>
          </p:sp>
        </p:grpSp>
        <p:cxnSp>
          <p:nvCxnSpPr>
            <p:cNvPr id="13340" name="Straight Arrow Connector 13339">
              <a:extLst>
                <a:ext uri="{FF2B5EF4-FFF2-40B4-BE49-F238E27FC236}">
                  <a16:creationId xmlns:a16="http://schemas.microsoft.com/office/drawing/2014/main" id="{1306F039-ADF7-6B4B-278E-39031AD3E8FB}"/>
                </a:ext>
              </a:extLst>
            </p:cNvPr>
            <p:cNvCxnSpPr>
              <a:cxnSpLocks/>
            </p:cNvCxnSpPr>
            <p:nvPr/>
          </p:nvCxnSpPr>
          <p:spPr>
            <a:xfrm>
              <a:off x="7567692" y="3414610"/>
              <a:ext cx="715375" cy="450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917199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ject 2">
            <a:extLst>
              <a:ext uri="{FF2B5EF4-FFF2-40B4-BE49-F238E27FC236}">
                <a16:creationId xmlns:a16="http://schemas.microsoft.com/office/drawing/2014/main" id="{340163AF-8498-94E6-B1B3-CB88D9D612B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7444" y="169694"/>
            <a:ext cx="2335325" cy="44712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9356C35-25E9-EF17-694F-722A5843C2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575" y="670162"/>
            <a:ext cx="5642077" cy="552924"/>
          </a:xfrm>
          <a:prstGeom prst="rect">
            <a:avLst/>
          </a:prstGeom>
        </p:spPr>
      </p:pic>
      <p:grpSp>
        <p:nvGrpSpPr>
          <p:cNvPr id="13320" name="Group 13319">
            <a:extLst>
              <a:ext uri="{FF2B5EF4-FFF2-40B4-BE49-F238E27FC236}">
                <a16:creationId xmlns:a16="http://schemas.microsoft.com/office/drawing/2014/main" id="{66FA0791-8D3B-FA8A-C3FD-AD88B261A045}"/>
              </a:ext>
            </a:extLst>
          </p:cNvPr>
          <p:cNvGrpSpPr/>
          <p:nvPr/>
        </p:nvGrpSpPr>
        <p:grpSpPr>
          <a:xfrm rot="183999">
            <a:off x="239121" y="2519930"/>
            <a:ext cx="6403626" cy="1873278"/>
            <a:chOff x="2765151" y="2055714"/>
            <a:chExt cx="8224629" cy="2209354"/>
          </a:xfrm>
        </p:grpSpPr>
        <p:pic>
          <p:nvPicPr>
            <p:cNvPr id="39" name="object 8">
              <a:extLst>
                <a:ext uri="{FF2B5EF4-FFF2-40B4-BE49-F238E27FC236}">
                  <a16:creationId xmlns:a16="http://schemas.microsoft.com/office/drawing/2014/main" id="{35696728-CBA5-9AAA-C6C9-9EA2F4AE1EB7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91133" y="2673776"/>
              <a:ext cx="1009472" cy="485114"/>
            </a:xfrm>
            <a:prstGeom prst="rect">
              <a:avLst/>
            </a:prstGeom>
          </p:spPr>
        </p:pic>
        <p:pic>
          <p:nvPicPr>
            <p:cNvPr id="40" name="object 9">
              <a:extLst>
                <a:ext uri="{FF2B5EF4-FFF2-40B4-BE49-F238E27FC236}">
                  <a16:creationId xmlns:a16="http://schemas.microsoft.com/office/drawing/2014/main" id="{D8A96817-6FB5-7F28-E6F5-EA66627E94F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22576" y="2568885"/>
              <a:ext cx="1563252" cy="566147"/>
            </a:xfrm>
            <a:prstGeom prst="rect">
              <a:avLst/>
            </a:prstGeom>
          </p:spPr>
        </p:pic>
        <p:pic>
          <p:nvPicPr>
            <p:cNvPr id="41" name="object 10">
              <a:extLst>
                <a:ext uri="{FF2B5EF4-FFF2-40B4-BE49-F238E27FC236}">
                  <a16:creationId xmlns:a16="http://schemas.microsoft.com/office/drawing/2014/main" id="{9B440848-D7CA-7314-DED2-E35D056A8D4D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25195" y="2554630"/>
              <a:ext cx="688239" cy="449831"/>
            </a:xfrm>
            <a:prstGeom prst="rect">
              <a:avLst/>
            </a:prstGeom>
          </p:spPr>
        </p:pic>
        <p:pic>
          <p:nvPicPr>
            <p:cNvPr id="42" name="object 11">
              <a:extLst>
                <a:ext uri="{FF2B5EF4-FFF2-40B4-BE49-F238E27FC236}">
                  <a16:creationId xmlns:a16="http://schemas.microsoft.com/office/drawing/2014/main" id="{D23D6053-BCDA-C7DC-0D73-25597A1217F2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92690" y="2623075"/>
              <a:ext cx="166226" cy="36817"/>
            </a:xfrm>
            <a:prstGeom prst="rect">
              <a:avLst/>
            </a:prstGeom>
          </p:spPr>
        </p:pic>
        <p:pic>
          <p:nvPicPr>
            <p:cNvPr id="43" name="object 12">
              <a:extLst>
                <a:ext uri="{FF2B5EF4-FFF2-40B4-BE49-F238E27FC236}">
                  <a16:creationId xmlns:a16="http://schemas.microsoft.com/office/drawing/2014/main" id="{7600A0CD-B7B9-36D1-F391-14DFD0C4F658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930867" y="2545801"/>
              <a:ext cx="997714" cy="527256"/>
            </a:xfrm>
            <a:prstGeom prst="rect">
              <a:avLst/>
            </a:prstGeom>
          </p:spPr>
        </p:pic>
        <p:grpSp>
          <p:nvGrpSpPr>
            <p:cNvPr id="44" name="object 13">
              <a:extLst>
                <a:ext uri="{FF2B5EF4-FFF2-40B4-BE49-F238E27FC236}">
                  <a16:creationId xmlns:a16="http://schemas.microsoft.com/office/drawing/2014/main" id="{579603E2-E0B5-43EA-6F73-349BF1F26D80}"/>
                </a:ext>
              </a:extLst>
            </p:cNvPr>
            <p:cNvGrpSpPr/>
            <p:nvPr/>
          </p:nvGrpSpPr>
          <p:grpSpPr>
            <a:xfrm>
              <a:off x="8113136" y="2055714"/>
              <a:ext cx="2686751" cy="927599"/>
              <a:chOff x="5654173" y="1549399"/>
              <a:chExt cx="2025014" cy="699135"/>
            </a:xfrm>
          </p:grpSpPr>
          <p:pic>
            <p:nvPicPr>
              <p:cNvPr id="45" name="object 14">
                <a:extLst>
                  <a:ext uri="{FF2B5EF4-FFF2-40B4-BE49-F238E27FC236}">
                    <a16:creationId xmlns:a16="http://schemas.microsoft.com/office/drawing/2014/main" id="{907B7E3D-2872-6C60-1256-70F4CBF05D21}"/>
                  </a:ext>
                </a:extLst>
              </p:cNvPr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5654173" y="1751113"/>
                <a:ext cx="1239631" cy="471601"/>
              </a:xfrm>
              <a:prstGeom prst="rect">
                <a:avLst/>
              </a:prstGeom>
            </p:spPr>
          </p:pic>
          <p:pic>
            <p:nvPicPr>
              <p:cNvPr id="46" name="object 15">
                <a:extLst>
                  <a:ext uri="{FF2B5EF4-FFF2-40B4-BE49-F238E27FC236}">
                    <a16:creationId xmlns:a16="http://schemas.microsoft.com/office/drawing/2014/main" id="{0C81E527-5DFD-B9C1-0E64-F3A95A266704}"/>
                  </a:ext>
                </a:extLst>
              </p:cNvPr>
              <p:cNvPicPr/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6926935" y="1549399"/>
                <a:ext cx="752055" cy="699008"/>
              </a:xfrm>
              <a:prstGeom prst="rect">
                <a:avLst/>
              </a:prstGeom>
            </p:spPr>
          </p:pic>
        </p:grpSp>
        <p:sp>
          <p:nvSpPr>
            <p:cNvPr id="47" name="object 16">
              <a:extLst>
                <a:ext uri="{FF2B5EF4-FFF2-40B4-BE49-F238E27FC236}">
                  <a16:creationId xmlns:a16="http://schemas.microsoft.com/office/drawing/2014/main" id="{2B3D722B-1465-BB42-E979-4548DF9BD369}"/>
                </a:ext>
              </a:extLst>
            </p:cNvPr>
            <p:cNvSpPr/>
            <p:nvPr/>
          </p:nvSpPr>
          <p:spPr>
            <a:xfrm>
              <a:off x="2765151" y="3124630"/>
              <a:ext cx="3836773" cy="411143"/>
            </a:xfrm>
            <a:custGeom>
              <a:avLst/>
              <a:gdLst/>
              <a:ahLst/>
              <a:cxnLst/>
              <a:rect l="l" t="t" r="r" b="b"/>
              <a:pathLst>
                <a:path w="2891790" h="309880">
                  <a:moveTo>
                    <a:pt x="35433" y="292100"/>
                  </a:moveTo>
                  <a:lnTo>
                    <a:pt x="32996" y="294428"/>
                  </a:lnTo>
                  <a:lnTo>
                    <a:pt x="33528" y="297180"/>
                  </a:lnTo>
                  <a:lnTo>
                    <a:pt x="30375" y="302808"/>
                  </a:lnTo>
                  <a:lnTo>
                    <a:pt x="30264" y="303530"/>
                  </a:lnTo>
                  <a:lnTo>
                    <a:pt x="32636" y="307568"/>
                  </a:lnTo>
                  <a:lnTo>
                    <a:pt x="41846" y="309880"/>
                  </a:lnTo>
                  <a:lnTo>
                    <a:pt x="41991" y="309742"/>
                  </a:lnTo>
                  <a:lnTo>
                    <a:pt x="37528" y="308610"/>
                  </a:lnTo>
                  <a:lnTo>
                    <a:pt x="43184" y="308610"/>
                  </a:lnTo>
                  <a:lnTo>
                    <a:pt x="45859" y="306069"/>
                  </a:lnTo>
                  <a:lnTo>
                    <a:pt x="47129" y="297180"/>
                  </a:lnTo>
                  <a:lnTo>
                    <a:pt x="44145" y="293369"/>
                  </a:lnTo>
                  <a:lnTo>
                    <a:pt x="39801" y="293369"/>
                  </a:lnTo>
                  <a:lnTo>
                    <a:pt x="36667" y="292277"/>
                  </a:lnTo>
                  <a:lnTo>
                    <a:pt x="35433" y="292100"/>
                  </a:lnTo>
                  <a:close/>
                </a:path>
                <a:path w="2891790" h="309880">
                  <a:moveTo>
                    <a:pt x="48806" y="293369"/>
                  </a:moveTo>
                  <a:lnTo>
                    <a:pt x="44145" y="293369"/>
                  </a:lnTo>
                  <a:lnTo>
                    <a:pt x="47129" y="297180"/>
                  </a:lnTo>
                  <a:lnTo>
                    <a:pt x="45859" y="306069"/>
                  </a:lnTo>
                  <a:lnTo>
                    <a:pt x="41991" y="309742"/>
                  </a:lnTo>
                  <a:lnTo>
                    <a:pt x="42532" y="309880"/>
                  </a:lnTo>
                  <a:lnTo>
                    <a:pt x="73190" y="309880"/>
                  </a:lnTo>
                  <a:lnTo>
                    <a:pt x="69646" y="307340"/>
                  </a:lnTo>
                  <a:lnTo>
                    <a:pt x="69722" y="298450"/>
                  </a:lnTo>
                  <a:lnTo>
                    <a:pt x="73342" y="294640"/>
                  </a:lnTo>
                  <a:lnTo>
                    <a:pt x="61467" y="294640"/>
                  </a:lnTo>
                  <a:lnTo>
                    <a:pt x="48806" y="293369"/>
                  </a:lnTo>
                  <a:close/>
                </a:path>
                <a:path w="2891790" h="309880">
                  <a:moveTo>
                    <a:pt x="82219" y="294640"/>
                  </a:moveTo>
                  <a:lnTo>
                    <a:pt x="73342" y="294640"/>
                  </a:lnTo>
                  <a:lnTo>
                    <a:pt x="69722" y="298450"/>
                  </a:lnTo>
                  <a:lnTo>
                    <a:pt x="69646" y="307340"/>
                  </a:lnTo>
                  <a:lnTo>
                    <a:pt x="73190" y="309880"/>
                  </a:lnTo>
                  <a:lnTo>
                    <a:pt x="82016" y="309880"/>
                  </a:lnTo>
                  <a:lnTo>
                    <a:pt x="85648" y="307340"/>
                  </a:lnTo>
                  <a:lnTo>
                    <a:pt x="85763" y="298450"/>
                  </a:lnTo>
                  <a:lnTo>
                    <a:pt x="82219" y="294640"/>
                  </a:lnTo>
                  <a:close/>
                </a:path>
                <a:path w="2891790" h="309880">
                  <a:moveTo>
                    <a:pt x="121094" y="293369"/>
                  </a:moveTo>
                  <a:lnTo>
                    <a:pt x="113620" y="293369"/>
                  </a:lnTo>
                  <a:lnTo>
                    <a:pt x="101669" y="294640"/>
                  </a:lnTo>
                  <a:lnTo>
                    <a:pt x="82219" y="294640"/>
                  </a:lnTo>
                  <a:lnTo>
                    <a:pt x="85763" y="298450"/>
                  </a:lnTo>
                  <a:lnTo>
                    <a:pt x="85648" y="307340"/>
                  </a:lnTo>
                  <a:lnTo>
                    <a:pt x="82016" y="309880"/>
                  </a:lnTo>
                  <a:lnTo>
                    <a:pt x="114673" y="309880"/>
                  </a:lnTo>
                  <a:lnTo>
                    <a:pt x="121798" y="309145"/>
                  </a:lnTo>
                  <a:lnTo>
                    <a:pt x="118630" y="306069"/>
                  </a:lnTo>
                  <a:lnTo>
                    <a:pt x="117817" y="297180"/>
                  </a:lnTo>
                  <a:lnTo>
                    <a:pt x="121094" y="293369"/>
                  </a:lnTo>
                  <a:close/>
                </a:path>
                <a:path w="2891790" h="309880">
                  <a:moveTo>
                    <a:pt x="126999" y="308610"/>
                  </a:moveTo>
                  <a:lnTo>
                    <a:pt x="121798" y="309145"/>
                  </a:lnTo>
                  <a:lnTo>
                    <a:pt x="122554" y="309880"/>
                  </a:lnTo>
                  <a:lnTo>
                    <a:pt x="126999" y="308610"/>
                  </a:lnTo>
                  <a:close/>
                </a:path>
                <a:path w="2891790" h="309880">
                  <a:moveTo>
                    <a:pt x="43184" y="308610"/>
                  </a:moveTo>
                  <a:lnTo>
                    <a:pt x="37528" y="308610"/>
                  </a:lnTo>
                  <a:lnTo>
                    <a:pt x="41991" y="309742"/>
                  </a:lnTo>
                  <a:lnTo>
                    <a:pt x="43184" y="308610"/>
                  </a:lnTo>
                  <a:close/>
                </a:path>
                <a:path w="2891790" h="309880">
                  <a:moveTo>
                    <a:pt x="130379" y="292469"/>
                  </a:moveTo>
                  <a:lnTo>
                    <a:pt x="127842" y="292715"/>
                  </a:lnTo>
                  <a:lnTo>
                    <a:pt x="125552" y="293369"/>
                  </a:lnTo>
                  <a:lnTo>
                    <a:pt x="121094" y="293369"/>
                  </a:lnTo>
                  <a:lnTo>
                    <a:pt x="117817" y="297180"/>
                  </a:lnTo>
                  <a:lnTo>
                    <a:pt x="118630" y="306069"/>
                  </a:lnTo>
                  <a:lnTo>
                    <a:pt x="121798" y="309145"/>
                  </a:lnTo>
                  <a:lnTo>
                    <a:pt x="126999" y="308610"/>
                  </a:lnTo>
                  <a:lnTo>
                    <a:pt x="131445" y="308610"/>
                  </a:lnTo>
                  <a:lnTo>
                    <a:pt x="134734" y="304800"/>
                  </a:lnTo>
                  <a:lnTo>
                    <a:pt x="133934" y="295910"/>
                  </a:lnTo>
                  <a:lnTo>
                    <a:pt x="131309" y="293369"/>
                  </a:lnTo>
                  <a:lnTo>
                    <a:pt x="125552" y="293369"/>
                  </a:lnTo>
                  <a:lnTo>
                    <a:pt x="127842" y="292715"/>
                  </a:lnTo>
                  <a:lnTo>
                    <a:pt x="130633" y="292715"/>
                  </a:lnTo>
                  <a:lnTo>
                    <a:pt x="130379" y="292469"/>
                  </a:lnTo>
                  <a:close/>
                </a:path>
                <a:path w="2891790" h="309880">
                  <a:moveTo>
                    <a:pt x="32636" y="307568"/>
                  </a:moveTo>
                  <a:lnTo>
                    <a:pt x="33248" y="308610"/>
                  </a:lnTo>
                  <a:lnTo>
                    <a:pt x="36785" y="308610"/>
                  </a:lnTo>
                  <a:lnTo>
                    <a:pt x="32636" y="307568"/>
                  </a:lnTo>
                  <a:close/>
                </a:path>
                <a:path w="2891790" h="309880">
                  <a:moveTo>
                    <a:pt x="155714" y="290830"/>
                  </a:moveTo>
                  <a:lnTo>
                    <a:pt x="151512" y="290830"/>
                  </a:lnTo>
                  <a:lnTo>
                    <a:pt x="142848" y="292100"/>
                  </a:lnTo>
                  <a:lnTo>
                    <a:pt x="134190" y="292100"/>
                  </a:lnTo>
                  <a:lnTo>
                    <a:pt x="130379" y="292469"/>
                  </a:lnTo>
                  <a:lnTo>
                    <a:pt x="133934" y="295910"/>
                  </a:lnTo>
                  <a:lnTo>
                    <a:pt x="134734" y="304800"/>
                  </a:lnTo>
                  <a:lnTo>
                    <a:pt x="131445" y="308610"/>
                  </a:lnTo>
                  <a:lnTo>
                    <a:pt x="135508" y="308610"/>
                  </a:lnTo>
                  <a:lnTo>
                    <a:pt x="144021" y="307340"/>
                  </a:lnTo>
                  <a:lnTo>
                    <a:pt x="152538" y="307340"/>
                  </a:lnTo>
                  <a:lnTo>
                    <a:pt x="156063" y="306814"/>
                  </a:lnTo>
                  <a:lnTo>
                    <a:pt x="152768" y="303530"/>
                  </a:lnTo>
                  <a:lnTo>
                    <a:pt x="152285" y="294640"/>
                  </a:lnTo>
                  <a:lnTo>
                    <a:pt x="155714" y="290830"/>
                  </a:lnTo>
                  <a:close/>
                </a:path>
                <a:path w="2891790" h="309880">
                  <a:moveTo>
                    <a:pt x="30375" y="302808"/>
                  </a:moveTo>
                  <a:lnTo>
                    <a:pt x="29260" y="304800"/>
                  </a:lnTo>
                  <a:lnTo>
                    <a:pt x="25272" y="305841"/>
                  </a:lnTo>
                  <a:lnTo>
                    <a:pt x="25730" y="306069"/>
                  </a:lnTo>
                  <a:lnTo>
                    <a:pt x="31724" y="307340"/>
                  </a:lnTo>
                  <a:lnTo>
                    <a:pt x="32636" y="307568"/>
                  </a:lnTo>
                  <a:lnTo>
                    <a:pt x="30264" y="303530"/>
                  </a:lnTo>
                  <a:lnTo>
                    <a:pt x="30375" y="302808"/>
                  </a:lnTo>
                  <a:close/>
                </a:path>
                <a:path w="2891790" h="309880">
                  <a:moveTo>
                    <a:pt x="161061" y="306069"/>
                  </a:moveTo>
                  <a:lnTo>
                    <a:pt x="156063" y="306814"/>
                  </a:lnTo>
                  <a:lnTo>
                    <a:pt x="156590" y="307340"/>
                  </a:lnTo>
                  <a:lnTo>
                    <a:pt x="161061" y="306069"/>
                  </a:lnTo>
                  <a:close/>
                </a:path>
                <a:path w="2891790" h="309880">
                  <a:moveTo>
                    <a:pt x="165149" y="290052"/>
                  </a:moveTo>
                  <a:lnTo>
                    <a:pt x="160185" y="290830"/>
                  </a:lnTo>
                  <a:lnTo>
                    <a:pt x="155714" y="290830"/>
                  </a:lnTo>
                  <a:lnTo>
                    <a:pt x="152476" y="294428"/>
                  </a:lnTo>
                  <a:lnTo>
                    <a:pt x="152354" y="295910"/>
                  </a:lnTo>
                  <a:lnTo>
                    <a:pt x="152768" y="303530"/>
                  </a:lnTo>
                  <a:lnTo>
                    <a:pt x="156063" y="306814"/>
                  </a:lnTo>
                  <a:lnTo>
                    <a:pt x="161061" y="306069"/>
                  </a:lnTo>
                  <a:lnTo>
                    <a:pt x="165531" y="306069"/>
                  </a:lnTo>
                  <a:lnTo>
                    <a:pt x="168960" y="302260"/>
                  </a:lnTo>
                  <a:lnTo>
                    <a:pt x="168478" y="293369"/>
                  </a:lnTo>
                  <a:lnTo>
                    <a:pt x="165149" y="290052"/>
                  </a:lnTo>
                  <a:close/>
                </a:path>
                <a:path w="2891790" h="309880">
                  <a:moveTo>
                    <a:pt x="11557" y="283219"/>
                  </a:moveTo>
                  <a:lnTo>
                    <a:pt x="11976" y="288290"/>
                  </a:lnTo>
                  <a:lnTo>
                    <a:pt x="14566" y="297180"/>
                  </a:lnTo>
                  <a:lnTo>
                    <a:pt x="16764" y="300990"/>
                  </a:lnTo>
                  <a:lnTo>
                    <a:pt x="24396" y="306069"/>
                  </a:lnTo>
                  <a:lnTo>
                    <a:pt x="25272" y="305841"/>
                  </a:lnTo>
                  <a:lnTo>
                    <a:pt x="20650" y="303530"/>
                  </a:lnTo>
                  <a:lnTo>
                    <a:pt x="16776" y="300990"/>
                  </a:lnTo>
                  <a:lnTo>
                    <a:pt x="15684" y="295910"/>
                  </a:lnTo>
                  <a:lnTo>
                    <a:pt x="20383" y="288290"/>
                  </a:lnTo>
                  <a:lnTo>
                    <a:pt x="25272" y="287019"/>
                  </a:lnTo>
                  <a:lnTo>
                    <a:pt x="28435" y="287019"/>
                  </a:lnTo>
                  <a:lnTo>
                    <a:pt x="28124" y="285750"/>
                  </a:lnTo>
                  <a:lnTo>
                    <a:pt x="15290" y="285750"/>
                  </a:lnTo>
                  <a:lnTo>
                    <a:pt x="11557" y="283219"/>
                  </a:lnTo>
                  <a:close/>
                </a:path>
                <a:path w="2891790" h="309880">
                  <a:moveTo>
                    <a:pt x="197116" y="287019"/>
                  </a:moveTo>
                  <a:lnTo>
                    <a:pt x="184504" y="288290"/>
                  </a:lnTo>
                  <a:lnTo>
                    <a:pt x="176404" y="289560"/>
                  </a:lnTo>
                  <a:lnTo>
                    <a:pt x="168297" y="289560"/>
                  </a:lnTo>
                  <a:lnTo>
                    <a:pt x="165149" y="290052"/>
                  </a:lnTo>
                  <a:lnTo>
                    <a:pt x="168478" y="293369"/>
                  </a:lnTo>
                  <a:lnTo>
                    <a:pt x="168960" y="302260"/>
                  </a:lnTo>
                  <a:lnTo>
                    <a:pt x="165531" y="306069"/>
                  </a:lnTo>
                  <a:lnTo>
                    <a:pt x="177730" y="306069"/>
                  </a:lnTo>
                  <a:lnTo>
                    <a:pt x="186050" y="304800"/>
                  </a:lnTo>
                  <a:lnTo>
                    <a:pt x="189539" y="304453"/>
                  </a:lnTo>
                  <a:lnTo>
                    <a:pt x="185902" y="300990"/>
                  </a:lnTo>
                  <a:lnTo>
                    <a:pt x="184899" y="292100"/>
                  </a:lnTo>
                  <a:lnTo>
                    <a:pt x="188112" y="288290"/>
                  </a:lnTo>
                  <a:lnTo>
                    <a:pt x="192595" y="288290"/>
                  </a:lnTo>
                  <a:lnTo>
                    <a:pt x="197385" y="287275"/>
                  </a:lnTo>
                  <a:lnTo>
                    <a:pt x="197116" y="287019"/>
                  </a:lnTo>
                  <a:close/>
                </a:path>
                <a:path w="2891790" h="309880">
                  <a:moveTo>
                    <a:pt x="25272" y="287019"/>
                  </a:moveTo>
                  <a:lnTo>
                    <a:pt x="20383" y="288290"/>
                  </a:lnTo>
                  <a:lnTo>
                    <a:pt x="15684" y="295910"/>
                  </a:lnTo>
                  <a:lnTo>
                    <a:pt x="16776" y="300990"/>
                  </a:lnTo>
                  <a:lnTo>
                    <a:pt x="20650" y="303530"/>
                  </a:lnTo>
                  <a:lnTo>
                    <a:pt x="25272" y="305841"/>
                  </a:lnTo>
                  <a:lnTo>
                    <a:pt x="29260" y="304800"/>
                  </a:lnTo>
                  <a:lnTo>
                    <a:pt x="30375" y="302808"/>
                  </a:lnTo>
                  <a:lnTo>
                    <a:pt x="31445" y="295910"/>
                  </a:lnTo>
                  <a:lnTo>
                    <a:pt x="32996" y="294428"/>
                  </a:lnTo>
                  <a:lnTo>
                    <a:pt x="32791" y="293369"/>
                  </a:lnTo>
                  <a:lnTo>
                    <a:pt x="29971" y="290830"/>
                  </a:lnTo>
                  <a:lnTo>
                    <a:pt x="29717" y="290830"/>
                  </a:lnTo>
                  <a:lnTo>
                    <a:pt x="28562" y="289560"/>
                  </a:lnTo>
                  <a:lnTo>
                    <a:pt x="25272" y="287019"/>
                  </a:lnTo>
                  <a:close/>
                </a:path>
                <a:path w="2891790" h="309880">
                  <a:moveTo>
                    <a:pt x="191963" y="304213"/>
                  </a:moveTo>
                  <a:lnTo>
                    <a:pt x="189539" y="304453"/>
                  </a:lnTo>
                  <a:lnTo>
                    <a:pt x="189903" y="304800"/>
                  </a:lnTo>
                  <a:lnTo>
                    <a:pt x="191963" y="304213"/>
                  </a:lnTo>
                  <a:close/>
                </a:path>
                <a:path w="2891790" h="309880">
                  <a:moveTo>
                    <a:pt x="197385" y="287275"/>
                  </a:moveTo>
                  <a:lnTo>
                    <a:pt x="192595" y="288290"/>
                  </a:lnTo>
                  <a:lnTo>
                    <a:pt x="188112" y="288290"/>
                  </a:lnTo>
                  <a:lnTo>
                    <a:pt x="184899" y="292100"/>
                  </a:lnTo>
                  <a:lnTo>
                    <a:pt x="185902" y="300990"/>
                  </a:lnTo>
                  <a:lnTo>
                    <a:pt x="189539" y="304453"/>
                  </a:lnTo>
                  <a:lnTo>
                    <a:pt x="191963" y="304213"/>
                  </a:lnTo>
                  <a:lnTo>
                    <a:pt x="194360" y="303530"/>
                  </a:lnTo>
                  <a:lnTo>
                    <a:pt x="199279" y="303017"/>
                  </a:lnTo>
                  <a:lnTo>
                    <a:pt x="202082" y="299719"/>
                  </a:lnTo>
                  <a:lnTo>
                    <a:pt x="201129" y="290830"/>
                  </a:lnTo>
                  <a:lnTo>
                    <a:pt x="197385" y="287275"/>
                  </a:lnTo>
                  <a:close/>
                </a:path>
                <a:path w="2891790" h="309880">
                  <a:moveTo>
                    <a:pt x="199279" y="303017"/>
                  </a:moveTo>
                  <a:lnTo>
                    <a:pt x="194360" y="303530"/>
                  </a:lnTo>
                  <a:lnTo>
                    <a:pt x="191963" y="304213"/>
                  </a:lnTo>
                  <a:lnTo>
                    <a:pt x="198843" y="303530"/>
                  </a:lnTo>
                  <a:lnTo>
                    <a:pt x="199279" y="303017"/>
                  </a:lnTo>
                  <a:close/>
                </a:path>
                <a:path w="2891790" h="309880">
                  <a:moveTo>
                    <a:pt x="235799" y="282083"/>
                  </a:moveTo>
                  <a:lnTo>
                    <a:pt x="228406" y="283219"/>
                  </a:lnTo>
                  <a:lnTo>
                    <a:pt x="204583" y="285750"/>
                  </a:lnTo>
                  <a:lnTo>
                    <a:pt x="197385" y="287275"/>
                  </a:lnTo>
                  <a:lnTo>
                    <a:pt x="201129" y="290830"/>
                  </a:lnTo>
                  <a:lnTo>
                    <a:pt x="202082" y="299719"/>
                  </a:lnTo>
                  <a:lnTo>
                    <a:pt x="199279" y="303017"/>
                  </a:lnTo>
                  <a:lnTo>
                    <a:pt x="218719" y="300990"/>
                  </a:lnTo>
                  <a:lnTo>
                    <a:pt x="230868" y="298450"/>
                  </a:lnTo>
                  <a:lnTo>
                    <a:pt x="237713" y="297733"/>
                  </a:lnTo>
                  <a:lnTo>
                    <a:pt x="234289" y="294640"/>
                  </a:lnTo>
                  <a:lnTo>
                    <a:pt x="232841" y="285750"/>
                  </a:lnTo>
                  <a:lnTo>
                    <a:pt x="235799" y="282083"/>
                  </a:lnTo>
                  <a:close/>
                </a:path>
                <a:path w="2891790" h="309880">
                  <a:moveTo>
                    <a:pt x="32996" y="294428"/>
                  </a:moveTo>
                  <a:lnTo>
                    <a:pt x="31445" y="295910"/>
                  </a:lnTo>
                  <a:lnTo>
                    <a:pt x="30375" y="302808"/>
                  </a:lnTo>
                  <a:lnTo>
                    <a:pt x="33528" y="297180"/>
                  </a:lnTo>
                  <a:lnTo>
                    <a:pt x="32996" y="294428"/>
                  </a:lnTo>
                  <a:close/>
                </a:path>
                <a:path w="2891790" h="309880">
                  <a:moveTo>
                    <a:pt x="243001" y="297180"/>
                  </a:moveTo>
                  <a:lnTo>
                    <a:pt x="237713" y="297733"/>
                  </a:lnTo>
                  <a:lnTo>
                    <a:pt x="238505" y="298450"/>
                  </a:lnTo>
                  <a:lnTo>
                    <a:pt x="243001" y="297180"/>
                  </a:lnTo>
                  <a:close/>
                </a:path>
                <a:path w="2891790" h="309880">
                  <a:moveTo>
                    <a:pt x="244970" y="280669"/>
                  </a:moveTo>
                  <a:lnTo>
                    <a:pt x="235799" y="282083"/>
                  </a:lnTo>
                  <a:lnTo>
                    <a:pt x="232841" y="285750"/>
                  </a:lnTo>
                  <a:lnTo>
                    <a:pt x="234289" y="294640"/>
                  </a:lnTo>
                  <a:lnTo>
                    <a:pt x="237713" y="297733"/>
                  </a:lnTo>
                  <a:lnTo>
                    <a:pt x="243001" y="297180"/>
                  </a:lnTo>
                  <a:lnTo>
                    <a:pt x="247510" y="295910"/>
                  </a:lnTo>
                  <a:lnTo>
                    <a:pt x="250609" y="292100"/>
                  </a:lnTo>
                  <a:lnTo>
                    <a:pt x="249199" y="283210"/>
                  </a:lnTo>
                  <a:lnTo>
                    <a:pt x="244970" y="280669"/>
                  </a:lnTo>
                  <a:close/>
                </a:path>
                <a:path w="2891790" h="309880">
                  <a:moveTo>
                    <a:pt x="281873" y="280669"/>
                  </a:moveTo>
                  <a:lnTo>
                    <a:pt x="244970" y="280669"/>
                  </a:lnTo>
                  <a:lnTo>
                    <a:pt x="249200" y="283219"/>
                  </a:lnTo>
                  <a:lnTo>
                    <a:pt x="250609" y="292100"/>
                  </a:lnTo>
                  <a:lnTo>
                    <a:pt x="247510" y="295910"/>
                  </a:lnTo>
                  <a:lnTo>
                    <a:pt x="243001" y="297180"/>
                  </a:lnTo>
                  <a:lnTo>
                    <a:pt x="255075" y="295910"/>
                  </a:lnTo>
                  <a:lnTo>
                    <a:pt x="267161" y="293369"/>
                  </a:lnTo>
                  <a:lnTo>
                    <a:pt x="291388" y="290830"/>
                  </a:lnTo>
                  <a:lnTo>
                    <a:pt x="286804" y="290830"/>
                  </a:lnTo>
                  <a:lnTo>
                    <a:pt x="282663" y="288290"/>
                  </a:lnTo>
                  <a:lnTo>
                    <a:pt x="281873" y="280669"/>
                  </a:lnTo>
                  <a:close/>
                </a:path>
                <a:path w="2891790" h="309880">
                  <a:moveTo>
                    <a:pt x="29294" y="290015"/>
                  </a:moveTo>
                  <a:lnTo>
                    <a:pt x="29494" y="290399"/>
                  </a:lnTo>
                  <a:lnTo>
                    <a:pt x="32791" y="293369"/>
                  </a:lnTo>
                  <a:lnTo>
                    <a:pt x="32996" y="294428"/>
                  </a:lnTo>
                  <a:lnTo>
                    <a:pt x="35433" y="292100"/>
                  </a:lnTo>
                  <a:lnTo>
                    <a:pt x="32092" y="292100"/>
                  </a:lnTo>
                  <a:lnTo>
                    <a:pt x="29294" y="290015"/>
                  </a:lnTo>
                  <a:close/>
                </a:path>
                <a:path w="2891790" h="309880">
                  <a:moveTo>
                    <a:pt x="36667" y="292277"/>
                  </a:moveTo>
                  <a:lnTo>
                    <a:pt x="39801" y="293369"/>
                  </a:lnTo>
                  <a:lnTo>
                    <a:pt x="44246" y="293369"/>
                  </a:lnTo>
                  <a:lnTo>
                    <a:pt x="36667" y="292277"/>
                  </a:lnTo>
                  <a:close/>
                </a:path>
                <a:path w="2891790" h="309880">
                  <a:moveTo>
                    <a:pt x="129997" y="292100"/>
                  </a:moveTo>
                  <a:lnTo>
                    <a:pt x="127842" y="292715"/>
                  </a:lnTo>
                  <a:lnTo>
                    <a:pt x="130379" y="292469"/>
                  </a:lnTo>
                  <a:lnTo>
                    <a:pt x="129997" y="292100"/>
                  </a:lnTo>
                  <a:close/>
                </a:path>
                <a:path w="2891790" h="309880">
                  <a:moveTo>
                    <a:pt x="36156" y="292100"/>
                  </a:moveTo>
                  <a:lnTo>
                    <a:pt x="35433" y="292100"/>
                  </a:lnTo>
                  <a:lnTo>
                    <a:pt x="36667" y="292277"/>
                  </a:lnTo>
                  <a:lnTo>
                    <a:pt x="36156" y="292100"/>
                  </a:lnTo>
                  <a:close/>
                </a:path>
                <a:path w="2891790" h="309880">
                  <a:moveTo>
                    <a:pt x="28562" y="289560"/>
                  </a:moveTo>
                  <a:lnTo>
                    <a:pt x="29717" y="290830"/>
                  </a:lnTo>
                  <a:lnTo>
                    <a:pt x="29494" y="290399"/>
                  </a:lnTo>
                  <a:lnTo>
                    <a:pt x="28562" y="289560"/>
                  </a:lnTo>
                  <a:close/>
                </a:path>
                <a:path w="2891790" h="309880">
                  <a:moveTo>
                    <a:pt x="29494" y="290399"/>
                  </a:moveTo>
                  <a:lnTo>
                    <a:pt x="29717" y="290830"/>
                  </a:lnTo>
                  <a:lnTo>
                    <a:pt x="29971" y="290830"/>
                  </a:lnTo>
                  <a:lnTo>
                    <a:pt x="29494" y="290399"/>
                  </a:lnTo>
                  <a:close/>
                </a:path>
                <a:path w="2891790" h="309880">
                  <a:moveTo>
                    <a:pt x="164655" y="289560"/>
                  </a:moveTo>
                  <a:lnTo>
                    <a:pt x="160185" y="290830"/>
                  </a:lnTo>
                  <a:lnTo>
                    <a:pt x="165149" y="290052"/>
                  </a:lnTo>
                  <a:lnTo>
                    <a:pt x="164655" y="289560"/>
                  </a:lnTo>
                  <a:close/>
                </a:path>
                <a:path w="2891790" h="309880">
                  <a:moveTo>
                    <a:pt x="294764" y="273597"/>
                  </a:moveTo>
                  <a:lnTo>
                    <a:pt x="289559" y="274319"/>
                  </a:lnTo>
                  <a:lnTo>
                    <a:pt x="284455" y="274846"/>
                  </a:lnTo>
                  <a:lnTo>
                    <a:pt x="281609" y="278130"/>
                  </a:lnTo>
                  <a:lnTo>
                    <a:pt x="282663" y="288290"/>
                  </a:lnTo>
                  <a:lnTo>
                    <a:pt x="286804" y="290830"/>
                  </a:lnTo>
                  <a:lnTo>
                    <a:pt x="291388" y="290830"/>
                  </a:lnTo>
                  <a:lnTo>
                    <a:pt x="295998" y="289560"/>
                  </a:lnTo>
                  <a:lnTo>
                    <a:pt x="299326" y="285750"/>
                  </a:lnTo>
                  <a:lnTo>
                    <a:pt x="298310" y="276860"/>
                  </a:lnTo>
                  <a:lnTo>
                    <a:pt x="294764" y="273597"/>
                  </a:lnTo>
                  <a:close/>
                </a:path>
                <a:path w="2891790" h="309880">
                  <a:moveTo>
                    <a:pt x="321792" y="270510"/>
                  </a:moveTo>
                  <a:lnTo>
                    <a:pt x="317212" y="270510"/>
                  </a:lnTo>
                  <a:lnTo>
                    <a:pt x="294764" y="273597"/>
                  </a:lnTo>
                  <a:lnTo>
                    <a:pt x="298310" y="276860"/>
                  </a:lnTo>
                  <a:lnTo>
                    <a:pt x="299326" y="285750"/>
                  </a:lnTo>
                  <a:lnTo>
                    <a:pt x="295998" y="289560"/>
                  </a:lnTo>
                  <a:lnTo>
                    <a:pt x="291388" y="290830"/>
                  </a:lnTo>
                  <a:lnTo>
                    <a:pt x="309503" y="288290"/>
                  </a:lnTo>
                  <a:lnTo>
                    <a:pt x="318572" y="288290"/>
                  </a:lnTo>
                  <a:lnTo>
                    <a:pt x="327647" y="287019"/>
                  </a:lnTo>
                  <a:lnTo>
                    <a:pt x="322986" y="287019"/>
                  </a:lnTo>
                  <a:lnTo>
                    <a:pt x="318947" y="284480"/>
                  </a:lnTo>
                  <a:lnTo>
                    <a:pt x="318287" y="274306"/>
                  </a:lnTo>
                  <a:lnTo>
                    <a:pt x="321792" y="270510"/>
                  </a:lnTo>
                  <a:close/>
                </a:path>
                <a:path w="2891790" h="309880">
                  <a:moveTo>
                    <a:pt x="28682" y="289560"/>
                  </a:moveTo>
                  <a:lnTo>
                    <a:pt x="29494" y="290399"/>
                  </a:lnTo>
                  <a:lnTo>
                    <a:pt x="29294" y="290015"/>
                  </a:lnTo>
                  <a:lnTo>
                    <a:pt x="28682" y="289560"/>
                  </a:lnTo>
                  <a:close/>
                </a:path>
                <a:path w="2891790" h="309880">
                  <a:moveTo>
                    <a:pt x="28435" y="287019"/>
                  </a:moveTo>
                  <a:lnTo>
                    <a:pt x="25272" y="287019"/>
                  </a:lnTo>
                  <a:lnTo>
                    <a:pt x="29294" y="290015"/>
                  </a:lnTo>
                  <a:lnTo>
                    <a:pt x="29057" y="289560"/>
                  </a:lnTo>
                  <a:lnTo>
                    <a:pt x="28435" y="287019"/>
                  </a:lnTo>
                  <a:close/>
                </a:path>
                <a:path w="2891790" h="309880">
                  <a:moveTo>
                    <a:pt x="331177" y="270510"/>
                  </a:moveTo>
                  <a:lnTo>
                    <a:pt x="321792" y="270510"/>
                  </a:lnTo>
                  <a:lnTo>
                    <a:pt x="318287" y="274306"/>
                  </a:lnTo>
                  <a:lnTo>
                    <a:pt x="318947" y="284480"/>
                  </a:lnTo>
                  <a:lnTo>
                    <a:pt x="322986" y="287019"/>
                  </a:lnTo>
                  <a:lnTo>
                    <a:pt x="332320" y="287019"/>
                  </a:lnTo>
                  <a:lnTo>
                    <a:pt x="335843" y="283219"/>
                  </a:lnTo>
                  <a:lnTo>
                    <a:pt x="335229" y="273050"/>
                  </a:lnTo>
                  <a:lnTo>
                    <a:pt x="331177" y="270510"/>
                  </a:lnTo>
                  <a:close/>
                </a:path>
                <a:path w="2891790" h="309880">
                  <a:moveTo>
                    <a:pt x="369190" y="268515"/>
                  </a:moveTo>
                  <a:lnTo>
                    <a:pt x="362352" y="269240"/>
                  </a:lnTo>
                  <a:lnTo>
                    <a:pt x="338418" y="269240"/>
                  </a:lnTo>
                  <a:lnTo>
                    <a:pt x="326466" y="270510"/>
                  </a:lnTo>
                  <a:lnTo>
                    <a:pt x="331177" y="270510"/>
                  </a:lnTo>
                  <a:lnTo>
                    <a:pt x="335229" y="273050"/>
                  </a:lnTo>
                  <a:lnTo>
                    <a:pt x="335843" y="283219"/>
                  </a:lnTo>
                  <a:lnTo>
                    <a:pt x="332320" y="287019"/>
                  </a:lnTo>
                  <a:lnTo>
                    <a:pt x="339371" y="287019"/>
                  </a:lnTo>
                  <a:lnTo>
                    <a:pt x="351108" y="285750"/>
                  </a:lnTo>
                  <a:lnTo>
                    <a:pt x="369874" y="285750"/>
                  </a:lnTo>
                  <a:lnTo>
                    <a:pt x="365988" y="281940"/>
                  </a:lnTo>
                  <a:lnTo>
                    <a:pt x="365870" y="275590"/>
                  </a:lnTo>
                  <a:lnTo>
                    <a:pt x="365865" y="272994"/>
                  </a:lnTo>
                  <a:lnTo>
                    <a:pt x="369190" y="268515"/>
                  </a:lnTo>
                  <a:close/>
                </a:path>
                <a:path w="2891790" h="309880">
                  <a:moveTo>
                    <a:pt x="23736" y="269240"/>
                  </a:moveTo>
                  <a:lnTo>
                    <a:pt x="14808" y="270510"/>
                  </a:lnTo>
                  <a:lnTo>
                    <a:pt x="11342" y="272994"/>
                  </a:lnTo>
                  <a:lnTo>
                    <a:pt x="11350" y="276860"/>
                  </a:lnTo>
                  <a:lnTo>
                    <a:pt x="11557" y="283219"/>
                  </a:lnTo>
                  <a:lnTo>
                    <a:pt x="15290" y="285750"/>
                  </a:lnTo>
                  <a:lnTo>
                    <a:pt x="24193" y="285750"/>
                  </a:lnTo>
                  <a:lnTo>
                    <a:pt x="27660" y="281940"/>
                  </a:lnTo>
                  <a:lnTo>
                    <a:pt x="27390" y="272994"/>
                  </a:lnTo>
                  <a:lnTo>
                    <a:pt x="23736" y="269240"/>
                  </a:lnTo>
                  <a:close/>
                </a:path>
                <a:path w="2891790" h="309880">
                  <a:moveTo>
                    <a:pt x="27390" y="272994"/>
                  </a:moveTo>
                  <a:lnTo>
                    <a:pt x="27660" y="281940"/>
                  </a:lnTo>
                  <a:lnTo>
                    <a:pt x="24193" y="285750"/>
                  </a:lnTo>
                  <a:lnTo>
                    <a:pt x="28124" y="285750"/>
                  </a:lnTo>
                  <a:lnTo>
                    <a:pt x="27812" y="284480"/>
                  </a:lnTo>
                  <a:lnTo>
                    <a:pt x="27694" y="281940"/>
                  </a:lnTo>
                  <a:lnTo>
                    <a:pt x="27571" y="278130"/>
                  </a:lnTo>
                  <a:lnTo>
                    <a:pt x="27458" y="273597"/>
                  </a:lnTo>
                  <a:lnTo>
                    <a:pt x="27390" y="272994"/>
                  </a:lnTo>
                  <a:close/>
                </a:path>
                <a:path w="2891790" h="309880">
                  <a:moveTo>
                    <a:pt x="379069" y="267969"/>
                  </a:moveTo>
                  <a:lnTo>
                    <a:pt x="374345" y="267969"/>
                  </a:lnTo>
                  <a:lnTo>
                    <a:pt x="369190" y="268515"/>
                  </a:lnTo>
                  <a:lnTo>
                    <a:pt x="365865" y="272994"/>
                  </a:lnTo>
                  <a:lnTo>
                    <a:pt x="365870" y="275590"/>
                  </a:lnTo>
                  <a:lnTo>
                    <a:pt x="365988" y="281940"/>
                  </a:lnTo>
                  <a:lnTo>
                    <a:pt x="369874" y="285750"/>
                  </a:lnTo>
                  <a:lnTo>
                    <a:pt x="379323" y="285750"/>
                  </a:lnTo>
                  <a:lnTo>
                    <a:pt x="383095" y="281940"/>
                  </a:lnTo>
                  <a:lnTo>
                    <a:pt x="382955" y="271780"/>
                  </a:lnTo>
                  <a:lnTo>
                    <a:pt x="379069" y="267969"/>
                  </a:lnTo>
                  <a:close/>
                </a:path>
                <a:path w="2891790" h="309880">
                  <a:moveTo>
                    <a:pt x="426872" y="267969"/>
                  </a:moveTo>
                  <a:lnTo>
                    <a:pt x="379069" y="267969"/>
                  </a:lnTo>
                  <a:lnTo>
                    <a:pt x="382955" y="271780"/>
                  </a:lnTo>
                  <a:lnTo>
                    <a:pt x="383095" y="281940"/>
                  </a:lnTo>
                  <a:lnTo>
                    <a:pt x="379323" y="285750"/>
                  </a:lnTo>
                  <a:lnTo>
                    <a:pt x="426885" y="285750"/>
                  </a:lnTo>
                  <a:lnTo>
                    <a:pt x="423036" y="281940"/>
                  </a:lnTo>
                  <a:lnTo>
                    <a:pt x="423024" y="271780"/>
                  </a:lnTo>
                  <a:lnTo>
                    <a:pt x="426872" y="267969"/>
                  </a:lnTo>
                  <a:close/>
                </a:path>
                <a:path w="2891790" h="309880">
                  <a:moveTo>
                    <a:pt x="436397" y="267969"/>
                  </a:moveTo>
                  <a:lnTo>
                    <a:pt x="426872" y="267969"/>
                  </a:lnTo>
                  <a:lnTo>
                    <a:pt x="423024" y="271780"/>
                  </a:lnTo>
                  <a:lnTo>
                    <a:pt x="423036" y="281940"/>
                  </a:lnTo>
                  <a:lnTo>
                    <a:pt x="426885" y="285750"/>
                  </a:lnTo>
                  <a:lnTo>
                    <a:pt x="436397" y="285750"/>
                  </a:lnTo>
                  <a:lnTo>
                    <a:pt x="440245" y="281940"/>
                  </a:lnTo>
                  <a:lnTo>
                    <a:pt x="440245" y="271780"/>
                  </a:lnTo>
                  <a:lnTo>
                    <a:pt x="436397" y="267969"/>
                  </a:lnTo>
                  <a:close/>
                </a:path>
                <a:path w="2891790" h="309880">
                  <a:moveTo>
                    <a:pt x="465010" y="267969"/>
                  </a:moveTo>
                  <a:lnTo>
                    <a:pt x="436397" y="267969"/>
                  </a:lnTo>
                  <a:lnTo>
                    <a:pt x="440245" y="271780"/>
                  </a:lnTo>
                  <a:lnTo>
                    <a:pt x="440245" y="281940"/>
                  </a:lnTo>
                  <a:lnTo>
                    <a:pt x="436397" y="285750"/>
                  </a:lnTo>
                  <a:lnTo>
                    <a:pt x="451032" y="285750"/>
                  </a:lnTo>
                  <a:lnTo>
                    <a:pt x="460729" y="284480"/>
                  </a:lnTo>
                  <a:lnTo>
                    <a:pt x="465670" y="284480"/>
                  </a:lnTo>
                  <a:lnTo>
                    <a:pt x="461670" y="280669"/>
                  </a:lnTo>
                  <a:lnTo>
                    <a:pt x="461276" y="271780"/>
                  </a:lnTo>
                  <a:lnTo>
                    <a:pt x="465010" y="267969"/>
                  </a:lnTo>
                  <a:close/>
                </a:path>
                <a:path w="2891790" h="309880">
                  <a:moveTo>
                    <a:pt x="474637" y="267969"/>
                  </a:moveTo>
                  <a:lnTo>
                    <a:pt x="465010" y="267969"/>
                  </a:lnTo>
                  <a:lnTo>
                    <a:pt x="461276" y="271780"/>
                  </a:lnTo>
                  <a:lnTo>
                    <a:pt x="461670" y="280669"/>
                  </a:lnTo>
                  <a:lnTo>
                    <a:pt x="465670" y="284480"/>
                  </a:lnTo>
                  <a:lnTo>
                    <a:pt x="475208" y="284480"/>
                  </a:lnTo>
                  <a:lnTo>
                    <a:pt x="478955" y="280669"/>
                  </a:lnTo>
                  <a:lnTo>
                    <a:pt x="478637" y="270510"/>
                  </a:lnTo>
                  <a:lnTo>
                    <a:pt x="474637" y="267969"/>
                  </a:lnTo>
                  <a:close/>
                </a:path>
                <a:path w="2891790" h="309880">
                  <a:moveTo>
                    <a:pt x="496519" y="265430"/>
                  </a:moveTo>
                  <a:lnTo>
                    <a:pt x="493442" y="265430"/>
                  </a:lnTo>
                  <a:lnTo>
                    <a:pt x="485562" y="266700"/>
                  </a:lnTo>
                  <a:lnTo>
                    <a:pt x="477677" y="266700"/>
                  </a:lnTo>
                  <a:lnTo>
                    <a:pt x="469785" y="267969"/>
                  </a:lnTo>
                  <a:lnTo>
                    <a:pt x="474637" y="267969"/>
                  </a:lnTo>
                  <a:lnTo>
                    <a:pt x="478637" y="270510"/>
                  </a:lnTo>
                  <a:lnTo>
                    <a:pt x="478955" y="280669"/>
                  </a:lnTo>
                  <a:lnTo>
                    <a:pt x="475208" y="284480"/>
                  </a:lnTo>
                  <a:lnTo>
                    <a:pt x="486552" y="284480"/>
                  </a:lnTo>
                  <a:lnTo>
                    <a:pt x="494613" y="283210"/>
                  </a:lnTo>
                  <a:lnTo>
                    <a:pt x="497546" y="282920"/>
                  </a:lnTo>
                  <a:lnTo>
                    <a:pt x="493674" y="279400"/>
                  </a:lnTo>
                  <a:lnTo>
                    <a:pt x="492925" y="270510"/>
                  </a:lnTo>
                  <a:lnTo>
                    <a:pt x="496519" y="265430"/>
                  </a:lnTo>
                  <a:close/>
                </a:path>
                <a:path w="2891790" h="309880">
                  <a:moveTo>
                    <a:pt x="540491" y="262586"/>
                  </a:moveTo>
                  <a:lnTo>
                    <a:pt x="523659" y="264160"/>
                  </a:lnTo>
                  <a:lnTo>
                    <a:pt x="501319" y="265430"/>
                  </a:lnTo>
                  <a:lnTo>
                    <a:pt x="506133" y="265430"/>
                  </a:lnTo>
                  <a:lnTo>
                    <a:pt x="510324" y="269240"/>
                  </a:lnTo>
                  <a:lnTo>
                    <a:pt x="511060" y="278130"/>
                  </a:lnTo>
                  <a:lnTo>
                    <a:pt x="507466" y="281940"/>
                  </a:lnTo>
                  <a:lnTo>
                    <a:pt x="497546" y="282920"/>
                  </a:lnTo>
                  <a:lnTo>
                    <a:pt x="497865" y="283210"/>
                  </a:lnTo>
                  <a:lnTo>
                    <a:pt x="502666" y="283210"/>
                  </a:lnTo>
                  <a:lnTo>
                    <a:pt x="525056" y="280669"/>
                  </a:lnTo>
                  <a:lnTo>
                    <a:pt x="552272" y="279400"/>
                  </a:lnTo>
                  <a:lnTo>
                    <a:pt x="542632" y="279400"/>
                  </a:lnTo>
                  <a:lnTo>
                    <a:pt x="538403" y="275590"/>
                  </a:lnTo>
                  <a:lnTo>
                    <a:pt x="537591" y="266700"/>
                  </a:lnTo>
                  <a:lnTo>
                    <a:pt x="540491" y="262586"/>
                  </a:lnTo>
                  <a:close/>
                </a:path>
                <a:path w="2891790" h="309880">
                  <a:moveTo>
                    <a:pt x="506133" y="265430"/>
                  </a:moveTo>
                  <a:lnTo>
                    <a:pt x="496519" y="265430"/>
                  </a:lnTo>
                  <a:lnTo>
                    <a:pt x="492925" y="270510"/>
                  </a:lnTo>
                  <a:lnTo>
                    <a:pt x="493674" y="279400"/>
                  </a:lnTo>
                  <a:lnTo>
                    <a:pt x="497546" y="282920"/>
                  </a:lnTo>
                  <a:lnTo>
                    <a:pt x="507466" y="281940"/>
                  </a:lnTo>
                  <a:lnTo>
                    <a:pt x="511060" y="278130"/>
                  </a:lnTo>
                  <a:lnTo>
                    <a:pt x="510324" y="269240"/>
                  </a:lnTo>
                  <a:lnTo>
                    <a:pt x="506133" y="265430"/>
                  </a:lnTo>
                  <a:close/>
                </a:path>
                <a:path w="2891790" h="309880">
                  <a:moveTo>
                    <a:pt x="284455" y="274846"/>
                  </a:moveTo>
                  <a:lnTo>
                    <a:pt x="264928" y="276860"/>
                  </a:lnTo>
                  <a:lnTo>
                    <a:pt x="252668" y="279400"/>
                  </a:lnTo>
                  <a:lnTo>
                    <a:pt x="235915" y="281940"/>
                  </a:lnTo>
                  <a:lnTo>
                    <a:pt x="235799" y="282083"/>
                  </a:lnTo>
                  <a:lnTo>
                    <a:pt x="244970" y="280669"/>
                  </a:lnTo>
                  <a:lnTo>
                    <a:pt x="281873" y="280669"/>
                  </a:lnTo>
                  <a:lnTo>
                    <a:pt x="281609" y="278130"/>
                  </a:lnTo>
                  <a:lnTo>
                    <a:pt x="284455" y="274846"/>
                  </a:lnTo>
                  <a:close/>
                </a:path>
                <a:path w="2891790" h="309880">
                  <a:moveTo>
                    <a:pt x="550824" y="261619"/>
                  </a:moveTo>
                  <a:lnTo>
                    <a:pt x="540491" y="262586"/>
                  </a:lnTo>
                  <a:lnTo>
                    <a:pt x="537591" y="266700"/>
                  </a:lnTo>
                  <a:lnTo>
                    <a:pt x="538403" y="275590"/>
                  </a:lnTo>
                  <a:lnTo>
                    <a:pt x="542632" y="279400"/>
                  </a:lnTo>
                  <a:lnTo>
                    <a:pt x="547446" y="279400"/>
                  </a:lnTo>
                  <a:lnTo>
                    <a:pt x="552669" y="278836"/>
                  </a:lnTo>
                  <a:lnTo>
                    <a:pt x="555853" y="274319"/>
                  </a:lnTo>
                  <a:lnTo>
                    <a:pt x="555066" y="265430"/>
                  </a:lnTo>
                  <a:lnTo>
                    <a:pt x="550824" y="261619"/>
                  </a:lnTo>
                  <a:close/>
                </a:path>
                <a:path w="2891790" h="309880">
                  <a:moveTo>
                    <a:pt x="552669" y="278836"/>
                  </a:moveTo>
                  <a:lnTo>
                    <a:pt x="547446" y="279400"/>
                  </a:lnTo>
                  <a:lnTo>
                    <a:pt x="552272" y="279400"/>
                  </a:lnTo>
                  <a:lnTo>
                    <a:pt x="552669" y="278836"/>
                  </a:lnTo>
                  <a:close/>
                </a:path>
                <a:path w="2891790" h="309880">
                  <a:moveTo>
                    <a:pt x="586160" y="261619"/>
                  </a:moveTo>
                  <a:lnTo>
                    <a:pt x="550824" y="261619"/>
                  </a:lnTo>
                  <a:lnTo>
                    <a:pt x="555066" y="265430"/>
                  </a:lnTo>
                  <a:lnTo>
                    <a:pt x="555853" y="274319"/>
                  </a:lnTo>
                  <a:lnTo>
                    <a:pt x="552669" y="278836"/>
                  </a:lnTo>
                  <a:lnTo>
                    <a:pt x="570999" y="276860"/>
                  </a:lnTo>
                  <a:lnTo>
                    <a:pt x="582780" y="276860"/>
                  </a:lnTo>
                  <a:lnTo>
                    <a:pt x="599401" y="275590"/>
                  </a:lnTo>
                  <a:lnTo>
                    <a:pt x="589724" y="275590"/>
                  </a:lnTo>
                  <a:lnTo>
                    <a:pt x="585546" y="273050"/>
                  </a:lnTo>
                  <a:lnTo>
                    <a:pt x="584936" y="262890"/>
                  </a:lnTo>
                  <a:lnTo>
                    <a:pt x="586160" y="261619"/>
                  </a:lnTo>
                  <a:close/>
                </a:path>
                <a:path w="2891790" h="309880">
                  <a:moveTo>
                    <a:pt x="9194" y="240002"/>
                  </a:moveTo>
                  <a:lnTo>
                    <a:pt x="9251" y="241300"/>
                  </a:lnTo>
                  <a:lnTo>
                    <a:pt x="10079" y="252730"/>
                  </a:lnTo>
                  <a:lnTo>
                    <a:pt x="10955" y="267969"/>
                  </a:lnTo>
                  <a:lnTo>
                    <a:pt x="11379" y="278130"/>
                  </a:lnTo>
                  <a:lnTo>
                    <a:pt x="11342" y="272994"/>
                  </a:lnTo>
                  <a:lnTo>
                    <a:pt x="14808" y="270510"/>
                  </a:lnTo>
                  <a:lnTo>
                    <a:pt x="23736" y="269240"/>
                  </a:lnTo>
                  <a:lnTo>
                    <a:pt x="27276" y="269240"/>
                  </a:lnTo>
                  <a:lnTo>
                    <a:pt x="26757" y="257810"/>
                  </a:lnTo>
                  <a:lnTo>
                    <a:pt x="26482" y="252730"/>
                  </a:lnTo>
                  <a:lnTo>
                    <a:pt x="13754" y="252730"/>
                  </a:lnTo>
                  <a:lnTo>
                    <a:pt x="9829" y="248919"/>
                  </a:lnTo>
                  <a:lnTo>
                    <a:pt x="9194" y="240002"/>
                  </a:lnTo>
                  <a:close/>
                </a:path>
                <a:path w="2891790" h="309880">
                  <a:moveTo>
                    <a:pt x="598284" y="257810"/>
                  </a:moveTo>
                  <a:lnTo>
                    <a:pt x="591472" y="258327"/>
                  </a:lnTo>
                  <a:lnTo>
                    <a:pt x="588606" y="259080"/>
                  </a:lnTo>
                  <a:lnTo>
                    <a:pt x="584936" y="262890"/>
                  </a:lnTo>
                  <a:lnTo>
                    <a:pt x="585546" y="273050"/>
                  </a:lnTo>
                  <a:lnTo>
                    <a:pt x="589724" y="275590"/>
                  </a:lnTo>
                  <a:lnTo>
                    <a:pt x="599401" y="275590"/>
                  </a:lnTo>
                  <a:lnTo>
                    <a:pt x="603084" y="271780"/>
                  </a:lnTo>
                  <a:lnTo>
                    <a:pt x="602462" y="261619"/>
                  </a:lnTo>
                  <a:lnTo>
                    <a:pt x="598284" y="257810"/>
                  </a:lnTo>
                  <a:close/>
                </a:path>
                <a:path w="2891790" h="309880">
                  <a:moveTo>
                    <a:pt x="639787" y="255784"/>
                  </a:moveTo>
                  <a:lnTo>
                    <a:pt x="632111" y="256540"/>
                  </a:lnTo>
                  <a:lnTo>
                    <a:pt x="619217" y="256540"/>
                  </a:lnTo>
                  <a:lnTo>
                    <a:pt x="606327" y="257810"/>
                  </a:lnTo>
                  <a:lnTo>
                    <a:pt x="598284" y="257810"/>
                  </a:lnTo>
                  <a:lnTo>
                    <a:pt x="602462" y="261619"/>
                  </a:lnTo>
                  <a:lnTo>
                    <a:pt x="603084" y="271780"/>
                  </a:lnTo>
                  <a:lnTo>
                    <a:pt x="599401" y="275590"/>
                  </a:lnTo>
                  <a:lnTo>
                    <a:pt x="607349" y="275590"/>
                  </a:lnTo>
                  <a:lnTo>
                    <a:pt x="620142" y="274319"/>
                  </a:lnTo>
                  <a:lnTo>
                    <a:pt x="632937" y="274319"/>
                  </a:lnTo>
                  <a:lnTo>
                    <a:pt x="650582" y="273050"/>
                  </a:lnTo>
                  <a:lnTo>
                    <a:pt x="640892" y="273050"/>
                  </a:lnTo>
                  <a:lnTo>
                    <a:pt x="636803" y="269240"/>
                  </a:lnTo>
                  <a:lnTo>
                    <a:pt x="636397" y="260350"/>
                  </a:lnTo>
                  <a:lnTo>
                    <a:pt x="639787" y="255784"/>
                  </a:lnTo>
                  <a:close/>
                </a:path>
                <a:path w="2891790" h="309880">
                  <a:moveTo>
                    <a:pt x="289559" y="274319"/>
                  </a:moveTo>
                  <a:lnTo>
                    <a:pt x="284911" y="274319"/>
                  </a:lnTo>
                  <a:lnTo>
                    <a:pt x="284455" y="274846"/>
                  </a:lnTo>
                  <a:lnTo>
                    <a:pt x="289559" y="274319"/>
                  </a:lnTo>
                  <a:close/>
                </a:path>
                <a:path w="2891790" h="309880">
                  <a:moveTo>
                    <a:pt x="294170" y="273050"/>
                  </a:moveTo>
                  <a:lnTo>
                    <a:pt x="289610" y="274306"/>
                  </a:lnTo>
                  <a:lnTo>
                    <a:pt x="294764" y="273597"/>
                  </a:lnTo>
                  <a:lnTo>
                    <a:pt x="294170" y="273050"/>
                  </a:lnTo>
                  <a:close/>
                </a:path>
                <a:path w="2891790" h="309880">
                  <a:moveTo>
                    <a:pt x="649859" y="255269"/>
                  </a:moveTo>
                  <a:lnTo>
                    <a:pt x="645007" y="255269"/>
                  </a:lnTo>
                  <a:lnTo>
                    <a:pt x="639787" y="255784"/>
                  </a:lnTo>
                  <a:lnTo>
                    <a:pt x="636397" y="260350"/>
                  </a:lnTo>
                  <a:lnTo>
                    <a:pt x="636803" y="269240"/>
                  </a:lnTo>
                  <a:lnTo>
                    <a:pt x="640892" y="273050"/>
                  </a:lnTo>
                  <a:lnTo>
                    <a:pt x="650582" y="273050"/>
                  </a:lnTo>
                  <a:lnTo>
                    <a:pt x="654342" y="269240"/>
                  </a:lnTo>
                  <a:lnTo>
                    <a:pt x="653948" y="259080"/>
                  </a:lnTo>
                  <a:lnTo>
                    <a:pt x="649859" y="255269"/>
                  </a:lnTo>
                  <a:close/>
                </a:path>
                <a:path w="2891790" h="309880">
                  <a:moveTo>
                    <a:pt x="693648" y="254000"/>
                  </a:moveTo>
                  <a:lnTo>
                    <a:pt x="671747" y="254000"/>
                  </a:lnTo>
                  <a:lnTo>
                    <a:pt x="658378" y="255269"/>
                  </a:lnTo>
                  <a:lnTo>
                    <a:pt x="649859" y="255269"/>
                  </a:lnTo>
                  <a:lnTo>
                    <a:pt x="653948" y="259080"/>
                  </a:lnTo>
                  <a:lnTo>
                    <a:pt x="654342" y="269240"/>
                  </a:lnTo>
                  <a:lnTo>
                    <a:pt x="650582" y="273050"/>
                  </a:lnTo>
                  <a:lnTo>
                    <a:pt x="659056" y="273050"/>
                  </a:lnTo>
                  <a:lnTo>
                    <a:pt x="672382" y="271780"/>
                  </a:lnTo>
                  <a:lnTo>
                    <a:pt x="685707" y="271780"/>
                  </a:lnTo>
                  <a:lnTo>
                    <a:pt x="693595" y="271228"/>
                  </a:lnTo>
                  <a:lnTo>
                    <a:pt x="690130" y="267969"/>
                  </a:lnTo>
                  <a:lnTo>
                    <a:pt x="689838" y="257810"/>
                  </a:lnTo>
                  <a:lnTo>
                    <a:pt x="693648" y="254000"/>
                  </a:lnTo>
                  <a:close/>
                </a:path>
                <a:path w="2891790" h="309880">
                  <a:moveTo>
                    <a:pt x="27276" y="269240"/>
                  </a:moveTo>
                  <a:lnTo>
                    <a:pt x="23736" y="269240"/>
                  </a:lnTo>
                  <a:lnTo>
                    <a:pt x="27390" y="272994"/>
                  </a:lnTo>
                  <a:lnTo>
                    <a:pt x="27276" y="269240"/>
                  </a:lnTo>
                  <a:close/>
                </a:path>
                <a:path w="2891790" h="309880">
                  <a:moveTo>
                    <a:pt x="744533" y="254000"/>
                  </a:moveTo>
                  <a:lnTo>
                    <a:pt x="703326" y="254000"/>
                  </a:lnTo>
                  <a:lnTo>
                    <a:pt x="707377" y="257810"/>
                  </a:lnTo>
                  <a:lnTo>
                    <a:pt x="707682" y="266700"/>
                  </a:lnTo>
                  <a:lnTo>
                    <a:pt x="703872" y="270510"/>
                  </a:lnTo>
                  <a:lnTo>
                    <a:pt x="693595" y="271228"/>
                  </a:lnTo>
                  <a:lnTo>
                    <a:pt x="694182" y="271780"/>
                  </a:lnTo>
                  <a:lnTo>
                    <a:pt x="699033" y="271780"/>
                  </a:lnTo>
                  <a:lnTo>
                    <a:pt x="712492" y="270510"/>
                  </a:lnTo>
                  <a:lnTo>
                    <a:pt x="725949" y="270510"/>
                  </a:lnTo>
                  <a:lnTo>
                    <a:pt x="739404" y="269240"/>
                  </a:lnTo>
                  <a:lnTo>
                    <a:pt x="748004" y="269240"/>
                  </a:lnTo>
                  <a:lnTo>
                    <a:pt x="743851" y="265430"/>
                  </a:lnTo>
                  <a:lnTo>
                    <a:pt x="743292" y="255269"/>
                  </a:lnTo>
                  <a:lnTo>
                    <a:pt x="744533" y="254000"/>
                  </a:lnTo>
                  <a:close/>
                </a:path>
                <a:path w="2891790" h="309880">
                  <a:moveTo>
                    <a:pt x="747014" y="251460"/>
                  </a:moveTo>
                  <a:lnTo>
                    <a:pt x="738533" y="251460"/>
                  </a:lnTo>
                  <a:lnTo>
                    <a:pt x="725187" y="252730"/>
                  </a:lnTo>
                  <a:lnTo>
                    <a:pt x="711839" y="252730"/>
                  </a:lnTo>
                  <a:lnTo>
                    <a:pt x="693648" y="254000"/>
                  </a:lnTo>
                  <a:lnTo>
                    <a:pt x="689838" y="257810"/>
                  </a:lnTo>
                  <a:lnTo>
                    <a:pt x="690130" y="267969"/>
                  </a:lnTo>
                  <a:lnTo>
                    <a:pt x="693595" y="271228"/>
                  </a:lnTo>
                  <a:lnTo>
                    <a:pt x="703872" y="270510"/>
                  </a:lnTo>
                  <a:lnTo>
                    <a:pt x="707682" y="266700"/>
                  </a:lnTo>
                  <a:lnTo>
                    <a:pt x="707377" y="257810"/>
                  </a:lnTo>
                  <a:lnTo>
                    <a:pt x="703326" y="254000"/>
                  </a:lnTo>
                  <a:lnTo>
                    <a:pt x="744533" y="254000"/>
                  </a:lnTo>
                  <a:lnTo>
                    <a:pt x="747014" y="251460"/>
                  </a:lnTo>
                  <a:close/>
                </a:path>
                <a:path w="2891790" h="309880">
                  <a:moveTo>
                    <a:pt x="787793" y="249789"/>
                  </a:moveTo>
                  <a:lnTo>
                    <a:pt x="782973" y="250190"/>
                  </a:lnTo>
                  <a:lnTo>
                    <a:pt x="772606" y="250190"/>
                  </a:lnTo>
                  <a:lnTo>
                    <a:pt x="747014" y="251460"/>
                  </a:lnTo>
                  <a:lnTo>
                    <a:pt x="743292" y="255269"/>
                  </a:lnTo>
                  <a:lnTo>
                    <a:pt x="743851" y="265430"/>
                  </a:lnTo>
                  <a:lnTo>
                    <a:pt x="748004" y="269240"/>
                  </a:lnTo>
                  <a:lnTo>
                    <a:pt x="752855" y="269240"/>
                  </a:lnTo>
                  <a:lnTo>
                    <a:pt x="757949" y="268926"/>
                  </a:lnTo>
                  <a:lnTo>
                    <a:pt x="761441" y="264160"/>
                  </a:lnTo>
                  <a:lnTo>
                    <a:pt x="760920" y="255269"/>
                  </a:lnTo>
                  <a:lnTo>
                    <a:pt x="756767" y="251460"/>
                  </a:lnTo>
                  <a:lnTo>
                    <a:pt x="786549" y="251460"/>
                  </a:lnTo>
                  <a:lnTo>
                    <a:pt x="787793" y="249789"/>
                  </a:lnTo>
                  <a:close/>
                </a:path>
                <a:path w="2891790" h="309880">
                  <a:moveTo>
                    <a:pt x="757949" y="268926"/>
                  </a:moveTo>
                  <a:lnTo>
                    <a:pt x="752855" y="269240"/>
                  </a:lnTo>
                  <a:lnTo>
                    <a:pt x="757720" y="269240"/>
                  </a:lnTo>
                  <a:lnTo>
                    <a:pt x="757949" y="268926"/>
                  </a:lnTo>
                  <a:close/>
                </a:path>
                <a:path w="2891790" h="309880">
                  <a:moveTo>
                    <a:pt x="786549" y="251460"/>
                  </a:moveTo>
                  <a:lnTo>
                    <a:pt x="756767" y="251460"/>
                  </a:lnTo>
                  <a:lnTo>
                    <a:pt x="760920" y="255269"/>
                  </a:lnTo>
                  <a:lnTo>
                    <a:pt x="761441" y="264160"/>
                  </a:lnTo>
                  <a:lnTo>
                    <a:pt x="757949" y="268926"/>
                  </a:lnTo>
                  <a:lnTo>
                    <a:pt x="773488" y="267969"/>
                  </a:lnTo>
                  <a:lnTo>
                    <a:pt x="783808" y="266700"/>
                  </a:lnTo>
                  <a:lnTo>
                    <a:pt x="789241" y="266700"/>
                  </a:lnTo>
                  <a:lnTo>
                    <a:pt x="785101" y="262890"/>
                  </a:lnTo>
                  <a:lnTo>
                    <a:pt x="784656" y="254000"/>
                  </a:lnTo>
                  <a:lnTo>
                    <a:pt x="786549" y="251460"/>
                  </a:lnTo>
                  <a:close/>
                </a:path>
                <a:path w="2891790" h="309880">
                  <a:moveTo>
                    <a:pt x="374345" y="267969"/>
                  </a:moveTo>
                  <a:lnTo>
                    <a:pt x="369595" y="267969"/>
                  </a:lnTo>
                  <a:lnTo>
                    <a:pt x="369190" y="268515"/>
                  </a:lnTo>
                  <a:lnTo>
                    <a:pt x="374345" y="267969"/>
                  </a:lnTo>
                  <a:close/>
                </a:path>
                <a:path w="2891790" h="309880">
                  <a:moveTo>
                    <a:pt x="798245" y="248919"/>
                  </a:moveTo>
                  <a:lnTo>
                    <a:pt x="787793" y="249789"/>
                  </a:lnTo>
                  <a:lnTo>
                    <a:pt x="784656" y="254000"/>
                  </a:lnTo>
                  <a:lnTo>
                    <a:pt x="785101" y="262890"/>
                  </a:lnTo>
                  <a:lnTo>
                    <a:pt x="789241" y="266700"/>
                  </a:lnTo>
                  <a:lnTo>
                    <a:pt x="799020" y="266700"/>
                  </a:lnTo>
                  <a:lnTo>
                    <a:pt x="802817" y="262890"/>
                  </a:lnTo>
                  <a:lnTo>
                    <a:pt x="802398" y="252730"/>
                  </a:lnTo>
                  <a:lnTo>
                    <a:pt x="798245" y="248919"/>
                  </a:lnTo>
                  <a:close/>
                </a:path>
                <a:path w="2891790" h="309880">
                  <a:moveTo>
                    <a:pt x="838212" y="246380"/>
                  </a:moveTo>
                  <a:lnTo>
                    <a:pt x="813300" y="247650"/>
                  </a:lnTo>
                  <a:lnTo>
                    <a:pt x="803323" y="248919"/>
                  </a:lnTo>
                  <a:lnTo>
                    <a:pt x="798245" y="248919"/>
                  </a:lnTo>
                  <a:lnTo>
                    <a:pt x="802398" y="252730"/>
                  </a:lnTo>
                  <a:lnTo>
                    <a:pt x="802817" y="262890"/>
                  </a:lnTo>
                  <a:lnTo>
                    <a:pt x="799020" y="266700"/>
                  </a:lnTo>
                  <a:lnTo>
                    <a:pt x="804168" y="266700"/>
                  </a:lnTo>
                  <a:lnTo>
                    <a:pt x="814203" y="265430"/>
                  </a:lnTo>
                  <a:lnTo>
                    <a:pt x="828554" y="264700"/>
                  </a:lnTo>
                  <a:lnTo>
                    <a:pt x="825144" y="261619"/>
                  </a:lnTo>
                  <a:lnTo>
                    <a:pt x="824560" y="251460"/>
                  </a:lnTo>
                  <a:lnTo>
                    <a:pt x="828306" y="247650"/>
                  </a:lnTo>
                  <a:lnTo>
                    <a:pt x="838800" y="246911"/>
                  </a:lnTo>
                  <a:lnTo>
                    <a:pt x="838212" y="246380"/>
                  </a:lnTo>
                  <a:close/>
                </a:path>
                <a:path w="2891790" h="309880">
                  <a:moveTo>
                    <a:pt x="885633" y="243849"/>
                  </a:moveTo>
                  <a:lnTo>
                    <a:pt x="872564" y="245110"/>
                  </a:lnTo>
                  <a:lnTo>
                    <a:pt x="859455" y="245110"/>
                  </a:lnTo>
                  <a:lnTo>
                    <a:pt x="846348" y="246380"/>
                  </a:lnTo>
                  <a:lnTo>
                    <a:pt x="838800" y="246911"/>
                  </a:lnTo>
                  <a:lnTo>
                    <a:pt x="842429" y="250190"/>
                  </a:lnTo>
                  <a:lnTo>
                    <a:pt x="842975" y="260350"/>
                  </a:lnTo>
                  <a:lnTo>
                    <a:pt x="839203" y="264160"/>
                  </a:lnTo>
                  <a:lnTo>
                    <a:pt x="828554" y="264700"/>
                  </a:lnTo>
                  <a:lnTo>
                    <a:pt x="829360" y="265430"/>
                  </a:lnTo>
                  <a:lnTo>
                    <a:pt x="834275" y="265430"/>
                  </a:lnTo>
                  <a:lnTo>
                    <a:pt x="860275" y="262890"/>
                  </a:lnTo>
                  <a:lnTo>
                    <a:pt x="881303" y="262890"/>
                  </a:lnTo>
                  <a:lnTo>
                    <a:pt x="877125" y="259080"/>
                  </a:lnTo>
                  <a:lnTo>
                    <a:pt x="876757" y="248919"/>
                  </a:lnTo>
                  <a:lnTo>
                    <a:pt x="880668" y="245110"/>
                  </a:lnTo>
                  <a:lnTo>
                    <a:pt x="885633" y="243849"/>
                  </a:lnTo>
                  <a:close/>
                </a:path>
                <a:path w="2891790" h="309880">
                  <a:moveTo>
                    <a:pt x="838800" y="246911"/>
                  </a:moveTo>
                  <a:lnTo>
                    <a:pt x="828306" y="247650"/>
                  </a:lnTo>
                  <a:lnTo>
                    <a:pt x="824560" y="251460"/>
                  </a:lnTo>
                  <a:lnTo>
                    <a:pt x="825144" y="261619"/>
                  </a:lnTo>
                  <a:lnTo>
                    <a:pt x="828554" y="264700"/>
                  </a:lnTo>
                  <a:lnTo>
                    <a:pt x="839203" y="264160"/>
                  </a:lnTo>
                  <a:lnTo>
                    <a:pt x="842975" y="260350"/>
                  </a:lnTo>
                  <a:lnTo>
                    <a:pt x="842429" y="250190"/>
                  </a:lnTo>
                  <a:lnTo>
                    <a:pt x="838800" y="246911"/>
                  </a:lnTo>
                  <a:close/>
                </a:path>
                <a:path w="2891790" h="309880">
                  <a:moveTo>
                    <a:pt x="890739" y="243840"/>
                  </a:moveTo>
                  <a:lnTo>
                    <a:pt x="885633" y="243849"/>
                  </a:lnTo>
                  <a:lnTo>
                    <a:pt x="880668" y="245110"/>
                  </a:lnTo>
                  <a:lnTo>
                    <a:pt x="876757" y="248919"/>
                  </a:lnTo>
                  <a:lnTo>
                    <a:pt x="877125" y="259080"/>
                  </a:lnTo>
                  <a:lnTo>
                    <a:pt x="881303" y="262890"/>
                  </a:lnTo>
                  <a:lnTo>
                    <a:pt x="886294" y="262890"/>
                  </a:lnTo>
                  <a:lnTo>
                    <a:pt x="891528" y="262609"/>
                  </a:lnTo>
                  <a:lnTo>
                    <a:pt x="895248" y="257810"/>
                  </a:lnTo>
                  <a:lnTo>
                    <a:pt x="894930" y="247650"/>
                  </a:lnTo>
                  <a:lnTo>
                    <a:pt x="890739" y="243840"/>
                  </a:lnTo>
                  <a:close/>
                </a:path>
                <a:path w="2891790" h="309880">
                  <a:moveTo>
                    <a:pt x="891528" y="262609"/>
                  </a:moveTo>
                  <a:lnTo>
                    <a:pt x="886294" y="262890"/>
                  </a:lnTo>
                  <a:lnTo>
                    <a:pt x="891311" y="262890"/>
                  </a:lnTo>
                  <a:lnTo>
                    <a:pt x="891528" y="262609"/>
                  </a:lnTo>
                  <a:close/>
                </a:path>
                <a:path w="2891790" h="309880">
                  <a:moveTo>
                    <a:pt x="976134" y="243840"/>
                  </a:moveTo>
                  <a:lnTo>
                    <a:pt x="890739" y="243840"/>
                  </a:lnTo>
                  <a:lnTo>
                    <a:pt x="894930" y="247650"/>
                  </a:lnTo>
                  <a:lnTo>
                    <a:pt x="895248" y="257810"/>
                  </a:lnTo>
                  <a:lnTo>
                    <a:pt x="891528" y="262609"/>
                  </a:lnTo>
                  <a:lnTo>
                    <a:pt x="910020" y="261619"/>
                  </a:lnTo>
                  <a:lnTo>
                    <a:pt x="976147" y="261619"/>
                  </a:lnTo>
                  <a:lnTo>
                    <a:pt x="972032" y="257810"/>
                  </a:lnTo>
                  <a:lnTo>
                    <a:pt x="972019" y="247650"/>
                  </a:lnTo>
                  <a:lnTo>
                    <a:pt x="976134" y="243840"/>
                  </a:lnTo>
                  <a:close/>
                </a:path>
                <a:path w="2891790" h="309880">
                  <a:moveTo>
                    <a:pt x="591472" y="258327"/>
                  </a:moveTo>
                  <a:lnTo>
                    <a:pt x="581577" y="259080"/>
                  </a:lnTo>
                  <a:lnTo>
                    <a:pt x="569712" y="260350"/>
                  </a:lnTo>
                  <a:lnTo>
                    <a:pt x="557851" y="260350"/>
                  </a:lnTo>
                  <a:lnTo>
                    <a:pt x="541172" y="261619"/>
                  </a:lnTo>
                  <a:lnTo>
                    <a:pt x="540491" y="262586"/>
                  </a:lnTo>
                  <a:lnTo>
                    <a:pt x="550824" y="261619"/>
                  </a:lnTo>
                  <a:lnTo>
                    <a:pt x="586160" y="261619"/>
                  </a:lnTo>
                  <a:lnTo>
                    <a:pt x="588606" y="259080"/>
                  </a:lnTo>
                  <a:lnTo>
                    <a:pt x="591472" y="258327"/>
                  </a:lnTo>
                  <a:close/>
                </a:path>
                <a:path w="2891790" h="309880">
                  <a:moveTo>
                    <a:pt x="986294" y="243840"/>
                  </a:moveTo>
                  <a:lnTo>
                    <a:pt x="976124" y="243849"/>
                  </a:lnTo>
                  <a:lnTo>
                    <a:pt x="972019" y="247650"/>
                  </a:lnTo>
                  <a:lnTo>
                    <a:pt x="972032" y="257810"/>
                  </a:lnTo>
                  <a:lnTo>
                    <a:pt x="976147" y="261619"/>
                  </a:lnTo>
                  <a:lnTo>
                    <a:pt x="986307" y="261619"/>
                  </a:lnTo>
                  <a:lnTo>
                    <a:pt x="990422" y="257810"/>
                  </a:lnTo>
                  <a:lnTo>
                    <a:pt x="990422" y="247650"/>
                  </a:lnTo>
                  <a:lnTo>
                    <a:pt x="986294" y="243840"/>
                  </a:lnTo>
                  <a:close/>
                </a:path>
                <a:path w="2891790" h="309880">
                  <a:moveTo>
                    <a:pt x="1058697" y="242569"/>
                  </a:moveTo>
                  <a:lnTo>
                    <a:pt x="1050029" y="242569"/>
                  </a:lnTo>
                  <a:lnTo>
                    <a:pt x="1022493" y="243840"/>
                  </a:lnTo>
                  <a:lnTo>
                    <a:pt x="986294" y="243840"/>
                  </a:lnTo>
                  <a:lnTo>
                    <a:pt x="990422" y="247650"/>
                  </a:lnTo>
                  <a:lnTo>
                    <a:pt x="990422" y="257810"/>
                  </a:lnTo>
                  <a:lnTo>
                    <a:pt x="986307" y="261619"/>
                  </a:lnTo>
                  <a:lnTo>
                    <a:pt x="1059180" y="261619"/>
                  </a:lnTo>
                  <a:lnTo>
                    <a:pt x="1054950" y="257810"/>
                  </a:lnTo>
                  <a:lnTo>
                    <a:pt x="1054671" y="247650"/>
                  </a:lnTo>
                  <a:lnTo>
                    <a:pt x="1058697" y="242569"/>
                  </a:lnTo>
                  <a:close/>
                </a:path>
                <a:path w="2891790" h="309880">
                  <a:moveTo>
                    <a:pt x="1068920" y="242569"/>
                  </a:moveTo>
                  <a:lnTo>
                    <a:pt x="1058697" y="242569"/>
                  </a:lnTo>
                  <a:lnTo>
                    <a:pt x="1054671" y="247650"/>
                  </a:lnTo>
                  <a:lnTo>
                    <a:pt x="1054950" y="257810"/>
                  </a:lnTo>
                  <a:lnTo>
                    <a:pt x="1059180" y="261619"/>
                  </a:lnTo>
                  <a:lnTo>
                    <a:pt x="1069378" y="261619"/>
                  </a:lnTo>
                  <a:lnTo>
                    <a:pt x="1073416" y="256540"/>
                  </a:lnTo>
                  <a:lnTo>
                    <a:pt x="1073162" y="246380"/>
                  </a:lnTo>
                  <a:lnTo>
                    <a:pt x="1068920" y="242569"/>
                  </a:lnTo>
                  <a:close/>
                </a:path>
                <a:path w="2891790" h="309880">
                  <a:moveTo>
                    <a:pt x="1141882" y="237490"/>
                  </a:moveTo>
                  <a:lnTo>
                    <a:pt x="1112785" y="240030"/>
                  </a:lnTo>
                  <a:lnTo>
                    <a:pt x="1100804" y="241300"/>
                  </a:lnTo>
                  <a:lnTo>
                    <a:pt x="1080490" y="242569"/>
                  </a:lnTo>
                  <a:lnTo>
                    <a:pt x="1068920" y="242569"/>
                  </a:lnTo>
                  <a:lnTo>
                    <a:pt x="1073162" y="246380"/>
                  </a:lnTo>
                  <a:lnTo>
                    <a:pt x="1073416" y="256540"/>
                  </a:lnTo>
                  <a:lnTo>
                    <a:pt x="1069378" y="261619"/>
                  </a:lnTo>
                  <a:lnTo>
                    <a:pt x="1070726" y="261619"/>
                  </a:lnTo>
                  <a:lnTo>
                    <a:pt x="1077167" y="260350"/>
                  </a:lnTo>
                  <a:lnTo>
                    <a:pt x="1090041" y="260350"/>
                  </a:lnTo>
                  <a:lnTo>
                    <a:pt x="1114093" y="257810"/>
                  </a:lnTo>
                  <a:lnTo>
                    <a:pt x="1143254" y="256540"/>
                  </a:lnTo>
                  <a:lnTo>
                    <a:pt x="1133017" y="256540"/>
                  </a:lnTo>
                  <a:lnTo>
                    <a:pt x="1128560" y="252730"/>
                  </a:lnTo>
                  <a:lnTo>
                    <a:pt x="1127772" y="242569"/>
                  </a:lnTo>
                  <a:lnTo>
                    <a:pt x="1131620" y="238760"/>
                  </a:lnTo>
                  <a:lnTo>
                    <a:pt x="1142251" y="237805"/>
                  </a:lnTo>
                  <a:lnTo>
                    <a:pt x="1141882" y="237490"/>
                  </a:lnTo>
                  <a:close/>
                </a:path>
                <a:path w="2891790" h="309880">
                  <a:moveTo>
                    <a:pt x="598284" y="257810"/>
                  </a:moveTo>
                  <a:lnTo>
                    <a:pt x="593445" y="257810"/>
                  </a:lnTo>
                  <a:lnTo>
                    <a:pt x="591472" y="258327"/>
                  </a:lnTo>
                  <a:lnTo>
                    <a:pt x="598284" y="257810"/>
                  </a:lnTo>
                  <a:close/>
                </a:path>
                <a:path w="2891790" h="309880">
                  <a:moveTo>
                    <a:pt x="1142251" y="237805"/>
                  </a:moveTo>
                  <a:lnTo>
                    <a:pt x="1131620" y="238760"/>
                  </a:lnTo>
                  <a:lnTo>
                    <a:pt x="1127772" y="242569"/>
                  </a:lnTo>
                  <a:lnTo>
                    <a:pt x="1128560" y="252730"/>
                  </a:lnTo>
                  <a:lnTo>
                    <a:pt x="1133017" y="256540"/>
                  </a:lnTo>
                  <a:lnTo>
                    <a:pt x="1138135" y="256540"/>
                  </a:lnTo>
                  <a:lnTo>
                    <a:pt x="1143533" y="256171"/>
                  </a:lnTo>
                  <a:lnTo>
                    <a:pt x="1147102" y="251460"/>
                  </a:lnTo>
                  <a:lnTo>
                    <a:pt x="1146340" y="241300"/>
                  </a:lnTo>
                  <a:lnTo>
                    <a:pt x="1142251" y="237805"/>
                  </a:lnTo>
                  <a:close/>
                </a:path>
                <a:path w="2891790" h="309880">
                  <a:moveTo>
                    <a:pt x="1143533" y="256171"/>
                  </a:moveTo>
                  <a:lnTo>
                    <a:pt x="1138135" y="256540"/>
                  </a:lnTo>
                  <a:lnTo>
                    <a:pt x="1143254" y="256540"/>
                  </a:lnTo>
                  <a:lnTo>
                    <a:pt x="1143533" y="256171"/>
                  </a:lnTo>
                  <a:close/>
                </a:path>
                <a:path w="2891790" h="309880">
                  <a:moveTo>
                    <a:pt x="1205945" y="232781"/>
                  </a:moveTo>
                  <a:lnTo>
                    <a:pt x="1174061" y="234950"/>
                  </a:lnTo>
                  <a:lnTo>
                    <a:pt x="1142251" y="237805"/>
                  </a:lnTo>
                  <a:lnTo>
                    <a:pt x="1146340" y="241300"/>
                  </a:lnTo>
                  <a:lnTo>
                    <a:pt x="1147102" y="251460"/>
                  </a:lnTo>
                  <a:lnTo>
                    <a:pt x="1143533" y="256171"/>
                  </a:lnTo>
                  <a:lnTo>
                    <a:pt x="1212507" y="251460"/>
                  </a:lnTo>
                  <a:lnTo>
                    <a:pt x="1207350" y="251460"/>
                  </a:lnTo>
                  <a:lnTo>
                    <a:pt x="1202950" y="247677"/>
                  </a:lnTo>
                  <a:lnTo>
                    <a:pt x="1202826" y="246153"/>
                  </a:lnTo>
                  <a:lnTo>
                    <a:pt x="1202296" y="237490"/>
                  </a:lnTo>
                  <a:lnTo>
                    <a:pt x="1205945" y="232781"/>
                  </a:lnTo>
                  <a:close/>
                </a:path>
                <a:path w="2891790" h="309880">
                  <a:moveTo>
                    <a:pt x="645007" y="255269"/>
                  </a:moveTo>
                  <a:lnTo>
                    <a:pt x="640168" y="255269"/>
                  </a:lnTo>
                  <a:lnTo>
                    <a:pt x="639787" y="255784"/>
                  </a:lnTo>
                  <a:lnTo>
                    <a:pt x="645007" y="255269"/>
                  </a:lnTo>
                  <a:close/>
                </a:path>
                <a:path w="2891790" h="309880">
                  <a:moveTo>
                    <a:pt x="21602" y="234950"/>
                  </a:moveTo>
                  <a:lnTo>
                    <a:pt x="15228" y="235846"/>
                  </a:lnTo>
                  <a:lnTo>
                    <a:pt x="14998" y="236219"/>
                  </a:lnTo>
                  <a:lnTo>
                    <a:pt x="12572" y="236219"/>
                  </a:lnTo>
                  <a:lnTo>
                    <a:pt x="9194" y="240002"/>
                  </a:lnTo>
                  <a:lnTo>
                    <a:pt x="9829" y="248919"/>
                  </a:lnTo>
                  <a:lnTo>
                    <a:pt x="13754" y="252730"/>
                  </a:lnTo>
                  <a:lnTo>
                    <a:pt x="22771" y="251460"/>
                  </a:lnTo>
                  <a:lnTo>
                    <a:pt x="26149" y="247677"/>
                  </a:lnTo>
                  <a:lnTo>
                    <a:pt x="25527" y="238760"/>
                  </a:lnTo>
                  <a:lnTo>
                    <a:pt x="22910" y="236219"/>
                  </a:lnTo>
                  <a:lnTo>
                    <a:pt x="14998" y="236219"/>
                  </a:lnTo>
                  <a:lnTo>
                    <a:pt x="15228" y="235846"/>
                  </a:lnTo>
                  <a:lnTo>
                    <a:pt x="22526" y="235846"/>
                  </a:lnTo>
                  <a:lnTo>
                    <a:pt x="21602" y="234950"/>
                  </a:lnTo>
                  <a:close/>
                </a:path>
                <a:path w="2891790" h="309880">
                  <a:moveTo>
                    <a:pt x="26149" y="247677"/>
                  </a:moveTo>
                  <a:lnTo>
                    <a:pt x="22771" y="251460"/>
                  </a:lnTo>
                  <a:lnTo>
                    <a:pt x="13754" y="252730"/>
                  </a:lnTo>
                  <a:lnTo>
                    <a:pt x="26482" y="252730"/>
                  </a:lnTo>
                  <a:lnTo>
                    <a:pt x="26149" y="247677"/>
                  </a:lnTo>
                  <a:close/>
                </a:path>
                <a:path w="2891790" h="309880">
                  <a:moveTo>
                    <a:pt x="1216571" y="232410"/>
                  </a:moveTo>
                  <a:lnTo>
                    <a:pt x="1211414" y="232410"/>
                  </a:lnTo>
                  <a:lnTo>
                    <a:pt x="1205945" y="232781"/>
                  </a:lnTo>
                  <a:lnTo>
                    <a:pt x="1202296" y="237490"/>
                  </a:lnTo>
                  <a:lnTo>
                    <a:pt x="1202826" y="246153"/>
                  </a:lnTo>
                  <a:lnTo>
                    <a:pt x="1202950" y="247677"/>
                  </a:lnTo>
                  <a:lnTo>
                    <a:pt x="1207350" y="251460"/>
                  </a:lnTo>
                  <a:lnTo>
                    <a:pt x="1212507" y="251460"/>
                  </a:lnTo>
                  <a:lnTo>
                    <a:pt x="1218216" y="250746"/>
                  </a:lnTo>
                  <a:lnTo>
                    <a:pt x="1221600" y="246380"/>
                  </a:lnTo>
                  <a:lnTo>
                    <a:pt x="1221003" y="236219"/>
                  </a:lnTo>
                  <a:lnTo>
                    <a:pt x="1216571" y="232410"/>
                  </a:lnTo>
                  <a:close/>
                </a:path>
                <a:path w="2891790" h="309880">
                  <a:moveTo>
                    <a:pt x="1218216" y="250746"/>
                  </a:moveTo>
                  <a:lnTo>
                    <a:pt x="1212507" y="251460"/>
                  </a:lnTo>
                  <a:lnTo>
                    <a:pt x="1217663" y="251460"/>
                  </a:lnTo>
                  <a:lnTo>
                    <a:pt x="1218216" y="250746"/>
                  </a:lnTo>
                  <a:close/>
                </a:path>
                <a:path w="2891790" h="309880">
                  <a:moveTo>
                    <a:pt x="1247609" y="231140"/>
                  </a:moveTo>
                  <a:lnTo>
                    <a:pt x="1232095" y="231140"/>
                  </a:lnTo>
                  <a:lnTo>
                    <a:pt x="1221743" y="232410"/>
                  </a:lnTo>
                  <a:lnTo>
                    <a:pt x="1216571" y="232410"/>
                  </a:lnTo>
                  <a:lnTo>
                    <a:pt x="1221003" y="236219"/>
                  </a:lnTo>
                  <a:lnTo>
                    <a:pt x="1221600" y="246380"/>
                  </a:lnTo>
                  <a:lnTo>
                    <a:pt x="1218216" y="250746"/>
                  </a:lnTo>
                  <a:lnTo>
                    <a:pt x="1222664" y="250190"/>
                  </a:lnTo>
                  <a:lnTo>
                    <a:pt x="1247978" y="250190"/>
                  </a:lnTo>
                  <a:lnTo>
                    <a:pt x="1243698" y="246380"/>
                  </a:lnTo>
                  <a:lnTo>
                    <a:pt x="1243482" y="234950"/>
                  </a:lnTo>
                  <a:lnTo>
                    <a:pt x="1247609" y="231140"/>
                  </a:lnTo>
                  <a:close/>
                </a:path>
                <a:path w="2891790" h="309880">
                  <a:moveTo>
                    <a:pt x="1258049" y="231140"/>
                  </a:moveTo>
                  <a:lnTo>
                    <a:pt x="1247609" y="231140"/>
                  </a:lnTo>
                  <a:lnTo>
                    <a:pt x="1243482" y="234950"/>
                  </a:lnTo>
                  <a:lnTo>
                    <a:pt x="1243698" y="246380"/>
                  </a:lnTo>
                  <a:lnTo>
                    <a:pt x="1247978" y="250190"/>
                  </a:lnTo>
                  <a:lnTo>
                    <a:pt x="1258366" y="250190"/>
                  </a:lnTo>
                  <a:lnTo>
                    <a:pt x="1262507" y="245110"/>
                  </a:lnTo>
                  <a:lnTo>
                    <a:pt x="1262329" y="234950"/>
                  </a:lnTo>
                  <a:lnTo>
                    <a:pt x="1258049" y="231140"/>
                  </a:lnTo>
                  <a:close/>
                </a:path>
                <a:path w="2891790" h="309880">
                  <a:moveTo>
                    <a:pt x="1336903" y="231140"/>
                  </a:moveTo>
                  <a:lnTo>
                    <a:pt x="1258049" y="231140"/>
                  </a:lnTo>
                  <a:lnTo>
                    <a:pt x="1262329" y="234950"/>
                  </a:lnTo>
                  <a:lnTo>
                    <a:pt x="1262507" y="245110"/>
                  </a:lnTo>
                  <a:lnTo>
                    <a:pt x="1258366" y="250190"/>
                  </a:lnTo>
                  <a:lnTo>
                    <a:pt x="1336916" y="250190"/>
                  </a:lnTo>
                  <a:lnTo>
                    <a:pt x="1332661" y="245110"/>
                  </a:lnTo>
                  <a:lnTo>
                    <a:pt x="1332649" y="234950"/>
                  </a:lnTo>
                  <a:lnTo>
                    <a:pt x="1336903" y="231140"/>
                  </a:lnTo>
                  <a:close/>
                </a:path>
                <a:path w="2891790" h="309880">
                  <a:moveTo>
                    <a:pt x="1347406" y="231140"/>
                  </a:moveTo>
                  <a:lnTo>
                    <a:pt x="1336903" y="231140"/>
                  </a:lnTo>
                  <a:lnTo>
                    <a:pt x="1332649" y="234950"/>
                  </a:lnTo>
                  <a:lnTo>
                    <a:pt x="1332661" y="245110"/>
                  </a:lnTo>
                  <a:lnTo>
                    <a:pt x="1336916" y="250190"/>
                  </a:lnTo>
                  <a:lnTo>
                    <a:pt x="1347393" y="250190"/>
                  </a:lnTo>
                  <a:lnTo>
                    <a:pt x="1351648" y="245110"/>
                  </a:lnTo>
                  <a:lnTo>
                    <a:pt x="1351648" y="234950"/>
                  </a:lnTo>
                  <a:lnTo>
                    <a:pt x="1347406" y="231140"/>
                  </a:lnTo>
                  <a:close/>
                </a:path>
                <a:path w="2891790" h="309880">
                  <a:moveTo>
                    <a:pt x="1426146" y="231140"/>
                  </a:moveTo>
                  <a:lnTo>
                    <a:pt x="1347406" y="231140"/>
                  </a:lnTo>
                  <a:lnTo>
                    <a:pt x="1351648" y="234950"/>
                  </a:lnTo>
                  <a:lnTo>
                    <a:pt x="1351648" y="245110"/>
                  </a:lnTo>
                  <a:lnTo>
                    <a:pt x="1347393" y="250190"/>
                  </a:lnTo>
                  <a:lnTo>
                    <a:pt x="1425867" y="250190"/>
                  </a:lnTo>
                  <a:lnTo>
                    <a:pt x="1421663" y="245110"/>
                  </a:lnTo>
                  <a:lnTo>
                    <a:pt x="1421815" y="234950"/>
                  </a:lnTo>
                  <a:lnTo>
                    <a:pt x="1426146" y="231140"/>
                  </a:lnTo>
                  <a:close/>
                </a:path>
                <a:path w="2891790" h="309880">
                  <a:moveTo>
                    <a:pt x="1436687" y="231140"/>
                  </a:moveTo>
                  <a:lnTo>
                    <a:pt x="1426146" y="231140"/>
                  </a:lnTo>
                  <a:lnTo>
                    <a:pt x="1421815" y="234950"/>
                  </a:lnTo>
                  <a:lnTo>
                    <a:pt x="1421663" y="245110"/>
                  </a:lnTo>
                  <a:lnTo>
                    <a:pt x="1425867" y="250190"/>
                  </a:lnTo>
                  <a:lnTo>
                    <a:pt x="1436408" y="250190"/>
                  </a:lnTo>
                  <a:lnTo>
                    <a:pt x="1440738" y="246380"/>
                  </a:lnTo>
                  <a:lnTo>
                    <a:pt x="1440891" y="234950"/>
                  </a:lnTo>
                  <a:lnTo>
                    <a:pt x="1436687" y="231140"/>
                  </a:lnTo>
                  <a:close/>
                </a:path>
                <a:path w="2891790" h="309880">
                  <a:moveTo>
                    <a:pt x="1507045" y="231140"/>
                  </a:moveTo>
                  <a:lnTo>
                    <a:pt x="1436687" y="231140"/>
                  </a:lnTo>
                  <a:lnTo>
                    <a:pt x="1440891" y="234950"/>
                  </a:lnTo>
                  <a:lnTo>
                    <a:pt x="1440738" y="246380"/>
                  </a:lnTo>
                  <a:lnTo>
                    <a:pt x="1436408" y="250190"/>
                  </a:lnTo>
                  <a:lnTo>
                    <a:pt x="1507045" y="250190"/>
                  </a:lnTo>
                  <a:lnTo>
                    <a:pt x="1502740" y="246380"/>
                  </a:lnTo>
                  <a:lnTo>
                    <a:pt x="1502727" y="234950"/>
                  </a:lnTo>
                  <a:lnTo>
                    <a:pt x="1507045" y="231140"/>
                  </a:lnTo>
                  <a:close/>
                </a:path>
                <a:path w="2891790" h="309880">
                  <a:moveTo>
                    <a:pt x="1517713" y="231140"/>
                  </a:moveTo>
                  <a:lnTo>
                    <a:pt x="1507045" y="231140"/>
                  </a:lnTo>
                  <a:lnTo>
                    <a:pt x="1502727" y="234950"/>
                  </a:lnTo>
                  <a:lnTo>
                    <a:pt x="1502740" y="246380"/>
                  </a:lnTo>
                  <a:lnTo>
                    <a:pt x="1507045" y="250190"/>
                  </a:lnTo>
                  <a:lnTo>
                    <a:pt x="1517675" y="250190"/>
                  </a:lnTo>
                  <a:lnTo>
                    <a:pt x="1522006" y="246380"/>
                  </a:lnTo>
                  <a:lnTo>
                    <a:pt x="1522031" y="234950"/>
                  </a:lnTo>
                  <a:lnTo>
                    <a:pt x="1517713" y="231140"/>
                  </a:lnTo>
                  <a:close/>
                </a:path>
                <a:path w="2891790" h="309880">
                  <a:moveTo>
                    <a:pt x="1592936" y="230204"/>
                  </a:moveTo>
                  <a:lnTo>
                    <a:pt x="1577048" y="231140"/>
                  </a:lnTo>
                  <a:lnTo>
                    <a:pt x="1517713" y="231140"/>
                  </a:lnTo>
                  <a:lnTo>
                    <a:pt x="1522031" y="234950"/>
                  </a:lnTo>
                  <a:lnTo>
                    <a:pt x="1522006" y="246380"/>
                  </a:lnTo>
                  <a:lnTo>
                    <a:pt x="1517675" y="250190"/>
                  </a:lnTo>
                  <a:lnTo>
                    <a:pt x="1593862" y="250190"/>
                  </a:lnTo>
                  <a:lnTo>
                    <a:pt x="1589354" y="245110"/>
                  </a:lnTo>
                  <a:lnTo>
                    <a:pt x="1588985" y="234950"/>
                  </a:lnTo>
                  <a:lnTo>
                    <a:pt x="1592936" y="230204"/>
                  </a:lnTo>
                  <a:close/>
                </a:path>
                <a:path w="2891790" h="309880">
                  <a:moveTo>
                    <a:pt x="1604022" y="229869"/>
                  </a:moveTo>
                  <a:lnTo>
                    <a:pt x="1598625" y="229869"/>
                  </a:lnTo>
                  <a:lnTo>
                    <a:pt x="1592936" y="230204"/>
                  </a:lnTo>
                  <a:lnTo>
                    <a:pt x="1588985" y="234950"/>
                  </a:lnTo>
                  <a:lnTo>
                    <a:pt x="1589354" y="245110"/>
                  </a:lnTo>
                  <a:lnTo>
                    <a:pt x="1593862" y="250190"/>
                  </a:lnTo>
                  <a:lnTo>
                    <a:pt x="1599247" y="250190"/>
                  </a:lnTo>
                  <a:lnTo>
                    <a:pt x="1604632" y="248919"/>
                  </a:lnTo>
                  <a:lnTo>
                    <a:pt x="1608874" y="245110"/>
                  </a:lnTo>
                  <a:lnTo>
                    <a:pt x="1608531" y="233680"/>
                  </a:lnTo>
                  <a:lnTo>
                    <a:pt x="1604022" y="229869"/>
                  </a:lnTo>
                  <a:close/>
                </a:path>
                <a:path w="2891790" h="309880">
                  <a:moveTo>
                    <a:pt x="1655102" y="228600"/>
                  </a:moveTo>
                  <a:lnTo>
                    <a:pt x="1629557" y="228600"/>
                  </a:lnTo>
                  <a:lnTo>
                    <a:pt x="1614078" y="229869"/>
                  </a:lnTo>
                  <a:lnTo>
                    <a:pt x="1604022" y="229869"/>
                  </a:lnTo>
                  <a:lnTo>
                    <a:pt x="1608531" y="233680"/>
                  </a:lnTo>
                  <a:lnTo>
                    <a:pt x="1608874" y="245110"/>
                  </a:lnTo>
                  <a:lnTo>
                    <a:pt x="1604632" y="248919"/>
                  </a:lnTo>
                  <a:lnTo>
                    <a:pt x="1599247" y="250190"/>
                  </a:lnTo>
                  <a:lnTo>
                    <a:pt x="1614632" y="248919"/>
                  </a:lnTo>
                  <a:lnTo>
                    <a:pt x="1645412" y="248919"/>
                  </a:lnTo>
                  <a:lnTo>
                    <a:pt x="1666227" y="247650"/>
                  </a:lnTo>
                  <a:lnTo>
                    <a:pt x="1655394" y="247650"/>
                  </a:lnTo>
                  <a:lnTo>
                    <a:pt x="1650948" y="243849"/>
                  </a:lnTo>
                  <a:lnTo>
                    <a:pt x="1650771" y="233680"/>
                  </a:lnTo>
                  <a:lnTo>
                    <a:pt x="1655102" y="228600"/>
                  </a:lnTo>
                  <a:close/>
                </a:path>
                <a:path w="2891790" h="309880">
                  <a:moveTo>
                    <a:pt x="798245" y="248919"/>
                  </a:moveTo>
                  <a:lnTo>
                    <a:pt x="788441" y="248919"/>
                  </a:lnTo>
                  <a:lnTo>
                    <a:pt x="787793" y="249789"/>
                  </a:lnTo>
                  <a:lnTo>
                    <a:pt x="798245" y="248919"/>
                  </a:lnTo>
                  <a:close/>
                </a:path>
                <a:path w="2891790" h="309880">
                  <a:moveTo>
                    <a:pt x="25243" y="234950"/>
                  </a:moveTo>
                  <a:lnTo>
                    <a:pt x="21602" y="234950"/>
                  </a:lnTo>
                  <a:lnTo>
                    <a:pt x="25527" y="238760"/>
                  </a:lnTo>
                  <a:lnTo>
                    <a:pt x="26149" y="247677"/>
                  </a:lnTo>
                  <a:lnTo>
                    <a:pt x="26066" y="246153"/>
                  </a:lnTo>
                  <a:lnTo>
                    <a:pt x="25243" y="234950"/>
                  </a:lnTo>
                  <a:close/>
                </a:path>
                <a:path w="2891790" h="309880">
                  <a:moveTo>
                    <a:pt x="1665960" y="228600"/>
                  </a:moveTo>
                  <a:lnTo>
                    <a:pt x="1655102" y="228600"/>
                  </a:lnTo>
                  <a:lnTo>
                    <a:pt x="1650771" y="233680"/>
                  </a:lnTo>
                  <a:lnTo>
                    <a:pt x="1650948" y="243849"/>
                  </a:lnTo>
                  <a:lnTo>
                    <a:pt x="1655394" y="247650"/>
                  </a:lnTo>
                  <a:lnTo>
                    <a:pt x="1666227" y="247650"/>
                  </a:lnTo>
                  <a:lnTo>
                    <a:pt x="1670546" y="243849"/>
                  </a:lnTo>
                  <a:lnTo>
                    <a:pt x="1670418" y="232410"/>
                  </a:lnTo>
                  <a:lnTo>
                    <a:pt x="1665960" y="228600"/>
                  </a:lnTo>
                  <a:close/>
                </a:path>
                <a:path w="2891790" h="309880">
                  <a:moveTo>
                    <a:pt x="1717408" y="227330"/>
                  </a:moveTo>
                  <a:lnTo>
                    <a:pt x="1691682" y="227330"/>
                  </a:lnTo>
                  <a:lnTo>
                    <a:pt x="1676105" y="228600"/>
                  </a:lnTo>
                  <a:lnTo>
                    <a:pt x="1665960" y="228600"/>
                  </a:lnTo>
                  <a:lnTo>
                    <a:pt x="1670418" y="232410"/>
                  </a:lnTo>
                  <a:lnTo>
                    <a:pt x="1670546" y="243849"/>
                  </a:lnTo>
                  <a:lnTo>
                    <a:pt x="1666227" y="247650"/>
                  </a:lnTo>
                  <a:lnTo>
                    <a:pt x="1707812" y="247650"/>
                  </a:lnTo>
                  <a:lnTo>
                    <a:pt x="1728901" y="246380"/>
                  </a:lnTo>
                  <a:lnTo>
                    <a:pt x="1718043" y="246380"/>
                  </a:lnTo>
                  <a:lnTo>
                    <a:pt x="1713509" y="242569"/>
                  </a:lnTo>
                  <a:lnTo>
                    <a:pt x="1713141" y="232410"/>
                  </a:lnTo>
                  <a:lnTo>
                    <a:pt x="1717408" y="227330"/>
                  </a:lnTo>
                  <a:close/>
                </a:path>
                <a:path w="2891790" h="309880">
                  <a:moveTo>
                    <a:pt x="1780474" y="225470"/>
                  </a:moveTo>
                  <a:lnTo>
                    <a:pt x="1770562" y="226060"/>
                  </a:lnTo>
                  <a:lnTo>
                    <a:pt x="1738739" y="226060"/>
                  </a:lnTo>
                  <a:lnTo>
                    <a:pt x="1717408" y="227330"/>
                  </a:lnTo>
                  <a:lnTo>
                    <a:pt x="1713141" y="232410"/>
                  </a:lnTo>
                  <a:lnTo>
                    <a:pt x="1713509" y="242569"/>
                  </a:lnTo>
                  <a:lnTo>
                    <a:pt x="1718043" y="246380"/>
                  </a:lnTo>
                  <a:lnTo>
                    <a:pt x="1723478" y="246380"/>
                  </a:lnTo>
                  <a:lnTo>
                    <a:pt x="1729155" y="246153"/>
                  </a:lnTo>
                  <a:lnTo>
                    <a:pt x="1733156" y="242569"/>
                  </a:lnTo>
                  <a:lnTo>
                    <a:pt x="1732800" y="231140"/>
                  </a:lnTo>
                  <a:lnTo>
                    <a:pt x="1728254" y="227330"/>
                  </a:lnTo>
                  <a:lnTo>
                    <a:pt x="1778908" y="227330"/>
                  </a:lnTo>
                  <a:lnTo>
                    <a:pt x="1780474" y="225470"/>
                  </a:lnTo>
                  <a:close/>
                </a:path>
                <a:path w="2891790" h="309880">
                  <a:moveTo>
                    <a:pt x="1729155" y="246153"/>
                  </a:moveTo>
                  <a:lnTo>
                    <a:pt x="1723478" y="246380"/>
                  </a:lnTo>
                  <a:lnTo>
                    <a:pt x="1728901" y="246380"/>
                  </a:lnTo>
                  <a:lnTo>
                    <a:pt x="1729155" y="246153"/>
                  </a:lnTo>
                  <a:close/>
                </a:path>
                <a:path w="2891790" h="309880">
                  <a:moveTo>
                    <a:pt x="1778908" y="227330"/>
                  </a:moveTo>
                  <a:lnTo>
                    <a:pt x="1728254" y="227330"/>
                  </a:lnTo>
                  <a:lnTo>
                    <a:pt x="1732800" y="231140"/>
                  </a:lnTo>
                  <a:lnTo>
                    <a:pt x="1733156" y="242569"/>
                  </a:lnTo>
                  <a:lnTo>
                    <a:pt x="1729155" y="246153"/>
                  </a:lnTo>
                  <a:lnTo>
                    <a:pt x="1755247" y="245110"/>
                  </a:lnTo>
                  <a:lnTo>
                    <a:pt x="1781594" y="245110"/>
                  </a:lnTo>
                  <a:lnTo>
                    <a:pt x="1777072" y="240030"/>
                  </a:lnTo>
                  <a:lnTo>
                    <a:pt x="1776768" y="229869"/>
                  </a:lnTo>
                  <a:lnTo>
                    <a:pt x="1778908" y="227330"/>
                  </a:lnTo>
                  <a:close/>
                </a:path>
                <a:path w="2891790" h="309880">
                  <a:moveTo>
                    <a:pt x="1791906" y="224790"/>
                  </a:moveTo>
                  <a:lnTo>
                    <a:pt x="1780474" y="225470"/>
                  </a:lnTo>
                  <a:lnTo>
                    <a:pt x="1776768" y="229869"/>
                  </a:lnTo>
                  <a:lnTo>
                    <a:pt x="1777072" y="240030"/>
                  </a:lnTo>
                  <a:lnTo>
                    <a:pt x="1781594" y="245110"/>
                  </a:lnTo>
                  <a:lnTo>
                    <a:pt x="1787017" y="245110"/>
                  </a:lnTo>
                  <a:lnTo>
                    <a:pt x="1792867" y="244615"/>
                  </a:lnTo>
                  <a:lnTo>
                    <a:pt x="1796719" y="240030"/>
                  </a:lnTo>
                  <a:lnTo>
                    <a:pt x="1796427" y="229869"/>
                  </a:lnTo>
                  <a:lnTo>
                    <a:pt x="1791906" y="224790"/>
                  </a:lnTo>
                  <a:close/>
                </a:path>
                <a:path w="2891790" h="309880">
                  <a:moveTo>
                    <a:pt x="1792867" y="244615"/>
                  </a:moveTo>
                  <a:lnTo>
                    <a:pt x="1787017" y="245110"/>
                  </a:lnTo>
                  <a:lnTo>
                    <a:pt x="1792452" y="245110"/>
                  </a:lnTo>
                  <a:lnTo>
                    <a:pt x="1792867" y="244615"/>
                  </a:lnTo>
                  <a:close/>
                </a:path>
                <a:path w="2891790" h="309880">
                  <a:moveTo>
                    <a:pt x="1841141" y="224010"/>
                  </a:moveTo>
                  <a:lnTo>
                    <a:pt x="1831858" y="224790"/>
                  </a:lnTo>
                  <a:lnTo>
                    <a:pt x="1791906" y="224790"/>
                  </a:lnTo>
                  <a:lnTo>
                    <a:pt x="1796427" y="229869"/>
                  </a:lnTo>
                  <a:lnTo>
                    <a:pt x="1796719" y="240030"/>
                  </a:lnTo>
                  <a:lnTo>
                    <a:pt x="1792867" y="244615"/>
                  </a:lnTo>
                  <a:lnTo>
                    <a:pt x="1802047" y="243840"/>
                  </a:lnTo>
                  <a:lnTo>
                    <a:pt x="1841715" y="243840"/>
                  </a:lnTo>
                  <a:lnTo>
                    <a:pt x="1837283" y="238760"/>
                  </a:lnTo>
                  <a:lnTo>
                    <a:pt x="1837194" y="228600"/>
                  </a:lnTo>
                  <a:lnTo>
                    <a:pt x="1841141" y="224010"/>
                  </a:lnTo>
                  <a:close/>
                </a:path>
                <a:path w="2891790" h="309880">
                  <a:moveTo>
                    <a:pt x="1852409" y="223519"/>
                  </a:moveTo>
                  <a:lnTo>
                    <a:pt x="1846986" y="223519"/>
                  </a:lnTo>
                  <a:lnTo>
                    <a:pt x="1841141" y="224010"/>
                  </a:lnTo>
                  <a:lnTo>
                    <a:pt x="1837194" y="228600"/>
                  </a:lnTo>
                  <a:lnTo>
                    <a:pt x="1837283" y="238760"/>
                  </a:lnTo>
                  <a:lnTo>
                    <a:pt x="1841715" y="243840"/>
                  </a:lnTo>
                  <a:lnTo>
                    <a:pt x="1852574" y="243840"/>
                  </a:lnTo>
                  <a:lnTo>
                    <a:pt x="1856930" y="238760"/>
                  </a:lnTo>
                  <a:lnTo>
                    <a:pt x="1856841" y="228600"/>
                  </a:lnTo>
                  <a:lnTo>
                    <a:pt x="1852409" y="223519"/>
                  </a:lnTo>
                  <a:close/>
                </a:path>
                <a:path w="2891790" h="309880">
                  <a:moveTo>
                    <a:pt x="1911616" y="223519"/>
                  </a:moveTo>
                  <a:lnTo>
                    <a:pt x="1852409" y="223519"/>
                  </a:lnTo>
                  <a:lnTo>
                    <a:pt x="1856841" y="228600"/>
                  </a:lnTo>
                  <a:lnTo>
                    <a:pt x="1856930" y="238760"/>
                  </a:lnTo>
                  <a:lnTo>
                    <a:pt x="1852574" y="243840"/>
                  </a:lnTo>
                  <a:lnTo>
                    <a:pt x="1882247" y="243840"/>
                  </a:lnTo>
                  <a:lnTo>
                    <a:pt x="1922780" y="242569"/>
                  </a:lnTo>
                  <a:lnTo>
                    <a:pt x="1911921" y="242569"/>
                  </a:lnTo>
                  <a:lnTo>
                    <a:pt x="1907451" y="238760"/>
                  </a:lnTo>
                  <a:lnTo>
                    <a:pt x="1907286" y="227330"/>
                  </a:lnTo>
                  <a:lnTo>
                    <a:pt x="1911616" y="223519"/>
                  </a:lnTo>
                  <a:close/>
                </a:path>
                <a:path w="2891790" h="309880">
                  <a:moveTo>
                    <a:pt x="1922500" y="223519"/>
                  </a:moveTo>
                  <a:lnTo>
                    <a:pt x="1911616" y="223519"/>
                  </a:lnTo>
                  <a:lnTo>
                    <a:pt x="1907286" y="227330"/>
                  </a:lnTo>
                  <a:lnTo>
                    <a:pt x="1907451" y="238760"/>
                  </a:lnTo>
                  <a:lnTo>
                    <a:pt x="1911921" y="242569"/>
                  </a:lnTo>
                  <a:lnTo>
                    <a:pt x="1922780" y="242569"/>
                  </a:lnTo>
                  <a:lnTo>
                    <a:pt x="1927123" y="238760"/>
                  </a:lnTo>
                  <a:lnTo>
                    <a:pt x="1926971" y="227330"/>
                  </a:lnTo>
                  <a:lnTo>
                    <a:pt x="1922500" y="223519"/>
                  </a:lnTo>
                  <a:close/>
                </a:path>
                <a:path w="2891790" h="309880">
                  <a:moveTo>
                    <a:pt x="1990686" y="220980"/>
                  </a:moveTo>
                  <a:lnTo>
                    <a:pt x="1968167" y="222250"/>
                  </a:lnTo>
                  <a:lnTo>
                    <a:pt x="1951131" y="222250"/>
                  </a:lnTo>
                  <a:lnTo>
                    <a:pt x="1934092" y="223519"/>
                  </a:lnTo>
                  <a:lnTo>
                    <a:pt x="1922500" y="223519"/>
                  </a:lnTo>
                  <a:lnTo>
                    <a:pt x="1926971" y="227330"/>
                  </a:lnTo>
                  <a:lnTo>
                    <a:pt x="1927123" y="238760"/>
                  </a:lnTo>
                  <a:lnTo>
                    <a:pt x="1922780" y="242569"/>
                  </a:lnTo>
                  <a:lnTo>
                    <a:pt x="1951594" y="242569"/>
                  </a:lnTo>
                  <a:lnTo>
                    <a:pt x="1968716" y="241300"/>
                  </a:lnTo>
                  <a:lnTo>
                    <a:pt x="1980374" y="241300"/>
                  </a:lnTo>
                  <a:lnTo>
                    <a:pt x="1975815" y="237490"/>
                  </a:lnTo>
                  <a:lnTo>
                    <a:pt x="1975578" y="229869"/>
                  </a:lnTo>
                  <a:lnTo>
                    <a:pt x="1975498" y="226025"/>
                  </a:lnTo>
                  <a:lnTo>
                    <a:pt x="1979739" y="222250"/>
                  </a:lnTo>
                  <a:lnTo>
                    <a:pt x="1991247" y="221604"/>
                  </a:lnTo>
                  <a:lnTo>
                    <a:pt x="1990686" y="220980"/>
                  </a:lnTo>
                  <a:close/>
                </a:path>
                <a:path w="2891790" h="309880">
                  <a:moveTo>
                    <a:pt x="1991247" y="221604"/>
                  </a:moveTo>
                  <a:lnTo>
                    <a:pt x="1979739" y="222250"/>
                  </a:lnTo>
                  <a:lnTo>
                    <a:pt x="1975498" y="226025"/>
                  </a:lnTo>
                  <a:lnTo>
                    <a:pt x="1975578" y="229869"/>
                  </a:lnTo>
                  <a:lnTo>
                    <a:pt x="1975815" y="237490"/>
                  </a:lnTo>
                  <a:lnTo>
                    <a:pt x="1980374" y="241300"/>
                  </a:lnTo>
                  <a:lnTo>
                    <a:pt x="1991296" y="241300"/>
                  </a:lnTo>
                  <a:lnTo>
                    <a:pt x="1995576" y="236219"/>
                  </a:lnTo>
                  <a:lnTo>
                    <a:pt x="1995328" y="228600"/>
                  </a:lnTo>
                  <a:lnTo>
                    <a:pt x="1995215" y="226025"/>
                  </a:lnTo>
                  <a:lnTo>
                    <a:pt x="1991247" y="221604"/>
                  </a:lnTo>
                  <a:close/>
                </a:path>
                <a:path w="2891790" h="309880">
                  <a:moveTo>
                    <a:pt x="2047842" y="219086"/>
                  </a:moveTo>
                  <a:lnTo>
                    <a:pt x="2036715" y="219710"/>
                  </a:lnTo>
                  <a:lnTo>
                    <a:pt x="2019546" y="220980"/>
                  </a:lnTo>
                  <a:lnTo>
                    <a:pt x="2002373" y="220980"/>
                  </a:lnTo>
                  <a:lnTo>
                    <a:pt x="1991247" y="221604"/>
                  </a:lnTo>
                  <a:lnTo>
                    <a:pt x="1995215" y="226025"/>
                  </a:lnTo>
                  <a:lnTo>
                    <a:pt x="1995328" y="228600"/>
                  </a:lnTo>
                  <a:lnTo>
                    <a:pt x="1995576" y="236219"/>
                  </a:lnTo>
                  <a:lnTo>
                    <a:pt x="1991296" y="241300"/>
                  </a:lnTo>
                  <a:lnTo>
                    <a:pt x="2003075" y="241300"/>
                  </a:lnTo>
                  <a:lnTo>
                    <a:pt x="2020316" y="240030"/>
                  </a:lnTo>
                  <a:lnTo>
                    <a:pt x="2037556" y="240030"/>
                  </a:lnTo>
                  <a:lnTo>
                    <a:pt x="2060295" y="238760"/>
                  </a:lnTo>
                  <a:lnTo>
                    <a:pt x="2049310" y="238760"/>
                  </a:lnTo>
                  <a:lnTo>
                    <a:pt x="2044649" y="234950"/>
                  </a:lnTo>
                  <a:lnTo>
                    <a:pt x="2044141" y="223519"/>
                  </a:lnTo>
                  <a:lnTo>
                    <a:pt x="2047842" y="219086"/>
                  </a:lnTo>
                  <a:close/>
                </a:path>
                <a:path w="2891790" h="309880">
                  <a:moveTo>
                    <a:pt x="7514" y="223107"/>
                  </a:moveTo>
                  <a:lnTo>
                    <a:pt x="7815" y="225293"/>
                  </a:lnTo>
                  <a:lnTo>
                    <a:pt x="8461" y="231140"/>
                  </a:lnTo>
                  <a:lnTo>
                    <a:pt x="9015" y="237490"/>
                  </a:lnTo>
                  <a:lnTo>
                    <a:pt x="9194" y="240002"/>
                  </a:lnTo>
                  <a:lnTo>
                    <a:pt x="11438" y="237490"/>
                  </a:lnTo>
                  <a:lnTo>
                    <a:pt x="11010" y="237490"/>
                  </a:lnTo>
                  <a:lnTo>
                    <a:pt x="9982" y="236219"/>
                  </a:lnTo>
                  <a:lnTo>
                    <a:pt x="9156" y="234950"/>
                  </a:lnTo>
                  <a:lnTo>
                    <a:pt x="9639" y="233680"/>
                  </a:lnTo>
                  <a:lnTo>
                    <a:pt x="11023" y="232410"/>
                  </a:lnTo>
                  <a:lnTo>
                    <a:pt x="11810" y="232410"/>
                  </a:lnTo>
                  <a:lnTo>
                    <a:pt x="11709" y="231486"/>
                  </a:lnTo>
                  <a:lnTo>
                    <a:pt x="10795" y="227330"/>
                  </a:lnTo>
                  <a:lnTo>
                    <a:pt x="9286" y="224887"/>
                  </a:lnTo>
                  <a:lnTo>
                    <a:pt x="9055" y="224790"/>
                  </a:lnTo>
                  <a:lnTo>
                    <a:pt x="8654" y="224153"/>
                  </a:lnTo>
                  <a:lnTo>
                    <a:pt x="7581" y="223519"/>
                  </a:lnTo>
                  <a:lnTo>
                    <a:pt x="7514" y="223107"/>
                  </a:lnTo>
                  <a:close/>
                </a:path>
                <a:path w="2891790" h="309880">
                  <a:moveTo>
                    <a:pt x="2059393" y="218440"/>
                  </a:moveTo>
                  <a:lnTo>
                    <a:pt x="2047842" y="219086"/>
                  </a:lnTo>
                  <a:lnTo>
                    <a:pt x="2044141" y="223519"/>
                  </a:lnTo>
                  <a:lnTo>
                    <a:pt x="2044649" y="234950"/>
                  </a:lnTo>
                  <a:lnTo>
                    <a:pt x="2049310" y="238760"/>
                  </a:lnTo>
                  <a:lnTo>
                    <a:pt x="2054796" y="238760"/>
                  </a:lnTo>
                  <a:lnTo>
                    <a:pt x="2060515" y="238497"/>
                  </a:lnTo>
                  <a:lnTo>
                    <a:pt x="2064550" y="233680"/>
                  </a:lnTo>
                  <a:lnTo>
                    <a:pt x="2064054" y="222250"/>
                  </a:lnTo>
                  <a:lnTo>
                    <a:pt x="2059393" y="218440"/>
                  </a:lnTo>
                  <a:close/>
                </a:path>
                <a:path w="2891790" h="309880">
                  <a:moveTo>
                    <a:pt x="2060515" y="238497"/>
                  </a:moveTo>
                  <a:lnTo>
                    <a:pt x="2054796" y="238760"/>
                  </a:lnTo>
                  <a:lnTo>
                    <a:pt x="2060295" y="238760"/>
                  </a:lnTo>
                  <a:lnTo>
                    <a:pt x="2060515" y="238497"/>
                  </a:lnTo>
                  <a:close/>
                </a:path>
                <a:path w="2891790" h="309880">
                  <a:moveTo>
                    <a:pt x="2102446" y="218440"/>
                  </a:moveTo>
                  <a:lnTo>
                    <a:pt x="2059393" y="218440"/>
                  </a:lnTo>
                  <a:lnTo>
                    <a:pt x="2064054" y="222250"/>
                  </a:lnTo>
                  <a:lnTo>
                    <a:pt x="2064550" y="233680"/>
                  </a:lnTo>
                  <a:lnTo>
                    <a:pt x="2060515" y="238497"/>
                  </a:lnTo>
                  <a:lnTo>
                    <a:pt x="2082426" y="237490"/>
                  </a:lnTo>
                  <a:lnTo>
                    <a:pt x="2096246" y="237490"/>
                  </a:lnTo>
                  <a:lnTo>
                    <a:pt x="2110066" y="236219"/>
                  </a:lnTo>
                  <a:lnTo>
                    <a:pt x="2104542" y="236219"/>
                  </a:lnTo>
                  <a:lnTo>
                    <a:pt x="2099919" y="232410"/>
                  </a:lnTo>
                  <a:lnTo>
                    <a:pt x="2099551" y="220980"/>
                  </a:lnTo>
                  <a:lnTo>
                    <a:pt x="2102446" y="218440"/>
                  </a:lnTo>
                  <a:close/>
                </a:path>
                <a:path w="2891790" h="309880">
                  <a:moveTo>
                    <a:pt x="11912" y="232410"/>
                  </a:moveTo>
                  <a:lnTo>
                    <a:pt x="11023" y="232410"/>
                  </a:lnTo>
                  <a:lnTo>
                    <a:pt x="9639" y="233680"/>
                  </a:lnTo>
                  <a:lnTo>
                    <a:pt x="9156" y="234950"/>
                  </a:lnTo>
                  <a:lnTo>
                    <a:pt x="9982" y="236219"/>
                  </a:lnTo>
                  <a:lnTo>
                    <a:pt x="11010" y="237490"/>
                  </a:lnTo>
                  <a:lnTo>
                    <a:pt x="11988" y="236219"/>
                  </a:lnTo>
                  <a:lnTo>
                    <a:pt x="12572" y="236219"/>
                  </a:lnTo>
                  <a:lnTo>
                    <a:pt x="15228" y="235846"/>
                  </a:lnTo>
                  <a:lnTo>
                    <a:pt x="16560" y="233680"/>
                  </a:lnTo>
                  <a:lnTo>
                    <a:pt x="13423" y="233680"/>
                  </a:lnTo>
                  <a:lnTo>
                    <a:pt x="11912" y="232410"/>
                  </a:lnTo>
                  <a:close/>
                </a:path>
                <a:path w="2891790" h="309880">
                  <a:moveTo>
                    <a:pt x="12572" y="236219"/>
                  </a:moveTo>
                  <a:lnTo>
                    <a:pt x="11988" y="236219"/>
                  </a:lnTo>
                  <a:lnTo>
                    <a:pt x="11010" y="237490"/>
                  </a:lnTo>
                  <a:lnTo>
                    <a:pt x="11438" y="237490"/>
                  </a:lnTo>
                  <a:lnTo>
                    <a:pt x="12572" y="236219"/>
                  </a:lnTo>
                  <a:close/>
                </a:path>
                <a:path w="2891790" h="309880">
                  <a:moveTo>
                    <a:pt x="2114981" y="215900"/>
                  </a:moveTo>
                  <a:lnTo>
                    <a:pt x="2109423" y="215901"/>
                  </a:lnTo>
                  <a:lnTo>
                    <a:pt x="2103894" y="217169"/>
                  </a:lnTo>
                  <a:lnTo>
                    <a:pt x="2099551" y="220980"/>
                  </a:lnTo>
                  <a:lnTo>
                    <a:pt x="2099919" y="232410"/>
                  </a:lnTo>
                  <a:lnTo>
                    <a:pt x="2104542" y="236219"/>
                  </a:lnTo>
                  <a:lnTo>
                    <a:pt x="2115604" y="236219"/>
                  </a:lnTo>
                  <a:lnTo>
                    <a:pt x="2119947" y="231140"/>
                  </a:lnTo>
                  <a:lnTo>
                    <a:pt x="2119604" y="220980"/>
                  </a:lnTo>
                  <a:lnTo>
                    <a:pt x="2114981" y="215900"/>
                  </a:lnTo>
                  <a:close/>
                </a:path>
                <a:path w="2891790" h="309880">
                  <a:moveTo>
                    <a:pt x="2158621" y="213800"/>
                  </a:moveTo>
                  <a:lnTo>
                    <a:pt x="2136994" y="214630"/>
                  </a:lnTo>
                  <a:lnTo>
                    <a:pt x="2123214" y="215900"/>
                  </a:lnTo>
                  <a:lnTo>
                    <a:pt x="2114981" y="215900"/>
                  </a:lnTo>
                  <a:lnTo>
                    <a:pt x="2119604" y="220980"/>
                  </a:lnTo>
                  <a:lnTo>
                    <a:pt x="2119947" y="231140"/>
                  </a:lnTo>
                  <a:lnTo>
                    <a:pt x="2115604" y="236219"/>
                  </a:lnTo>
                  <a:lnTo>
                    <a:pt x="2123992" y="236219"/>
                  </a:lnTo>
                  <a:lnTo>
                    <a:pt x="2137914" y="234950"/>
                  </a:lnTo>
                  <a:lnTo>
                    <a:pt x="2171293" y="233680"/>
                  </a:lnTo>
                  <a:lnTo>
                    <a:pt x="2160206" y="233680"/>
                  </a:lnTo>
                  <a:lnTo>
                    <a:pt x="2155444" y="229869"/>
                  </a:lnTo>
                  <a:lnTo>
                    <a:pt x="2154770" y="218440"/>
                  </a:lnTo>
                  <a:lnTo>
                    <a:pt x="2158621" y="213800"/>
                  </a:lnTo>
                  <a:close/>
                </a:path>
                <a:path w="2891790" h="309880">
                  <a:moveTo>
                    <a:pt x="22777" y="210800"/>
                  </a:moveTo>
                  <a:lnTo>
                    <a:pt x="23799" y="219563"/>
                  </a:lnTo>
                  <a:lnTo>
                    <a:pt x="23883" y="221080"/>
                  </a:lnTo>
                  <a:lnTo>
                    <a:pt x="20891" y="224790"/>
                  </a:lnTo>
                  <a:lnTo>
                    <a:pt x="17318" y="225293"/>
                  </a:lnTo>
                  <a:lnTo>
                    <a:pt x="17487" y="227330"/>
                  </a:lnTo>
                  <a:lnTo>
                    <a:pt x="16989" y="230204"/>
                  </a:lnTo>
                  <a:lnTo>
                    <a:pt x="16560" y="233680"/>
                  </a:lnTo>
                  <a:lnTo>
                    <a:pt x="15228" y="235846"/>
                  </a:lnTo>
                  <a:lnTo>
                    <a:pt x="21602" y="234950"/>
                  </a:lnTo>
                  <a:lnTo>
                    <a:pt x="25243" y="234950"/>
                  </a:lnTo>
                  <a:lnTo>
                    <a:pt x="24155" y="222104"/>
                  </a:lnTo>
                  <a:lnTo>
                    <a:pt x="22809" y="210819"/>
                  </a:lnTo>
                  <a:close/>
                </a:path>
                <a:path w="2891790" h="309880">
                  <a:moveTo>
                    <a:pt x="16128" y="227330"/>
                  </a:moveTo>
                  <a:lnTo>
                    <a:pt x="13093" y="227330"/>
                  </a:lnTo>
                  <a:lnTo>
                    <a:pt x="11696" y="228600"/>
                  </a:lnTo>
                  <a:lnTo>
                    <a:pt x="11429" y="229869"/>
                  </a:lnTo>
                  <a:lnTo>
                    <a:pt x="11522" y="230265"/>
                  </a:lnTo>
                  <a:lnTo>
                    <a:pt x="11671" y="231140"/>
                  </a:lnTo>
                  <a:lnTo>
                    <a:pt x="11709" y="231486"/>
                  </a:lnTo>
                  <a:lnTo>
                    <a:pt x="11912" y="232410"/>
                  </a:lnTo>
                  <a:lnTo>
                    <a:pt x="13423" y="233680"/>
                  </a:lnTo>
                  <a:lnTo>
                    <a:pt x="16002" y="232410"/>
                  </a:lnTo>
                  <a:lnTo>
                    <a:pt x="16827" y="231140"/>
                  </a:lnTo>
                  <a:lnTo>
                    <a:pt x="16979" y="230265"/>
                  </a:lnTo>
                  <a:lnTo>
                    <a:pt x="17183" y="228600"/>
                  </a:lnTo>
                  <a:lnTo>
                    <a:pt x="16128" y="227330"/>
                  </a:lnTo>
                  <a:close/>
                </a:path>
                <a:path w="2891790" h="309880">
                  <a:moveTo>
                    <a:pt x="16979" y="230265"/>
                  </a:moveTo>
                  <a:lnTo>
                    <a:pt x="16827" y="231140"/>
                  </a:lnTo>
                  <a:lnTo>
                    <a:pt x="16002" y="232410"/>
                  </a:lnTo>
                  <a:lnTo>
                    <a:pt x="13423" y="233680"/>
                  </a:lnTo>
                  <a:lnTo>
                    <a:pt x="16560" y="233680"/>
                  </a:lnTo>
                  <a:lnTo>
                    <a:pt x="16979" y="230265"/>
                  </a:lnTo>
                  <a:close/>
                </a:path>
                <a:path w="2891790" h="309880">
                  <a:moveTo>
                    <a:pt x="2170099" y="213360"/>
                  </a:moveTo>
                  <a:lnTo>
                    <a:pt x="2158621" y="213800"/>
                  </a:lnTo>
                  <a:lnTo>
                    <a:pt x="2154770" y="218440"/>
                  </a:lnTo>
                  <a:lnTo>
                    <a:pt x="2155444" y="229869"/>
                  </a:lnTo>
                  <a:lnTo>
                    <a:pt x="2160206" y="233680"/>
                  </a:lnTo>
                  <a:lnTo>
                    <a:pt x="2165743" y="233680"/>
                  </a:lnTo>
                  <a:lnTo>
                    <a:pt x="2171589" y="233324"/>
                  </a:lnTo>
                  <a:lnTo>
                    <a:pt x="2175522" y="228600"/>
                  </a:lnTo>
                  <a:lnTo>
                    <a:pt x="2174862" y="217169"/>
                  </a:lnTo>
                  <a:lnTo>
                    <a:pt x="2170099" y="213360"/>
                  </a:lnTo>
                  <a:close/>
                </a:path>
                <a:path w="2891790" h="309880">
                  <a:moveTo>
                    <a:pt x="2171589" y="233324"/>
                  </a:moveTo>
                  <a:lnTo>
                    <a:pt x="2165743" y="233680"/>
                  </a:lnTo>
                  <a:lnTo>
                    <a:pt x="2171293" y="233680"/>
                  </a:lnTo>
                  <a:lnTo>
                    <a:pt x="2171589" y="233324"/>
                  </a:lnTo>
                  <a:close/>
                </a:path>
                <a:path w="2891790" h="309880">
                  <a:moveTo>
                    <a:pt x="2237917" y="213360"/>
                  </a:moveTo>
                  <a:lnTo>
                    <a:pt x="2170099" y="213360"/>
                  </a:lnTo>
                  <a:lnTo>
                    <a:pt x="2174862" y="217169"/>
                  </a:lnTo>
                  <a:lnTo>
                    <a:pt x="2175522" y="228600"/>
                  </a:lnTo>
                  <a:lnTo>
                    <a:pt x="2171589" y="233324"/>
                  </a:lnTo>
                  <a:lnTo>
                    <a:pt x="2207555" y="231140"/>
                  </a:lnTo>
                  <a:lnTo>
                    <a:pt x="2228440" y="228600"/>
                  </a:lnTo>
                  <a:lnTo>
                    <a:pt x="2249309" y="227330"/>
                  </a:lnTo>
                  <a:lnTo>
                    <a:pt x="2243759" y="227330"/>
                  </a:lnTo>
                  <a:lnTo>
                    <a:pt x="2238832" y="223519"/>
                  </a:lnTo>
                  <a:lnTo>
                    <a:pt x="2237917" y="213360"/>
                  </a:lnTo>
                  <a:close/>
                </a:path>
                <a:path w="2891790" h="309880">
                  <a:moveTo>
                    <a:pt x="1211414" y="232410"/>
                  </a:moveTo>
                  <a:lnTo>
                    <a:pt x="1206233" y="232410"/>
                  </a:lnTo>
                  <a:lnTo>
                    <a:pt x="1205945" y="232781"/>
                  </a:lnTo>
                  <a:lnTo>
                    <a:pt x="1211414" y="232410"/>
                  </a:lnTo>
                  <a:close/>
                </a:path>
                <a:path w="2891790" h="309880">
                  <a:moveTo>
                    <a:pt x="11709" y="231486"/>
                  </a:moveTo>
                  <a:lnTo>
                    <a:pt x="11810" y="232410"/>
                  </a:lnTo>
                  <a:lnTo>
                    <a:pt x="11709" y="231486"/>
                  </a:lnTo>
                  <a:close/>
                </a:path>
                <a:path w="2891790" h="309880">
                  <a:moveTo>
                    <a:pt x="11455" y="229869"/>
                  </a:moveTo>
                  <a:lnTo>
                    <a:pt x="11709" y="231486"/>
                  </a:lnTo>
                  <a:lnTo>
                    <a:pt x="11671" y="231140"/>
                  </a:lnTo>
                  <a:lnTo>
                    <a:pt x="11455" y="229869"/>
                  </a:lnTo>
                  <a:close/>
                </a:path>
                <a:path w="2891790" h="309880">
                  <a:moveTo>
                    <a:pt x="17487" y="227330"/>
                  </a:moveTo>
                  <a:lnTo>
                    <a:pt x="16128" y="227330"/>
                  </a:lnTo>
                  <a:lnTo>
                    <a:pt x="17183" y="228600"/>
                  </a:lnTo>
                  <a:lnTo>
                    <a:pt x="16979" y="230265"/>
                  </a:lnTo>
                  <a:lnTo>
                    <a:pt x="17487" y="227330"/>
                  </a:lnTo>
                  <a:close/>
                </a:path>
                <a:path w="2891790" h="309880">
                  <a:moveTo>
                    <a:pt x="1598625" y="229869"/>
                  </a:moveTo>
                  <a:lnTo>
                    <a:pt x="1593215" y="229869"/>
                  </a:lnTo>
                  <a:lnTo>
                    <a:pt x="1592936" y="230204"/>
                  </a:lnTo>
                  <a:lnTo>
                    <a:pt x="1598625" y="229869"/>
                  </a:lnTo>
                  <a:close/>
                </a:path>
                <a:path w="2891790" h="309880">
                  <a:moveTo>
                    <a:pt x="9286" y="224887"/>
                  </a:moveTo>
                  <a:lnTo>
                    <a:pt x="10795" y="227330"/>
                  </a:lnTo>
                  <a:lnTo>
                    <a:pt x="11353" y="229869"/>
                  </a:lnTo>
                  <a:lnTo>
                    <a:pt x="11696" y="228600"/>
                  </a:lnTo>
                  <a:lnTo>
                    <a:pt x="13093" y="227330"/>
                  </a:lnTo>
                  <a:lnTo>
                    <a:pt x="17487" y="227330"/>
                  </a:lnTo>
                  <a:lnTo>
                    <a:pt x="17382" y="226060"/>
                  </a:lnTo>
                  <a:lnTo>
                    <a:pt x="11887" y="226060"/>
                  </a:lnTo>
                  <a:lnTo>
                    <a:pt x="11415" y="225781"/>
                  </a:lnTo>
                  <a:lnTo>
                    <a:pt x="9286" y="224887"/>
                  </a:lnTo>
                  <a:close/>
                </a:path>
                <a:path w="2891790" h="309880">
                  <a:moveTo>
                    <a:pt x="2253030" y="207010"/>
                  </a:moveTo>
                  <a:lnTo>
                    <a:pt x="2241453" y="207569"/>
                  </a:lnTo>
                  <a:lnTo>
                    <a:pt x="2237803" y="212090"/>
                  </a:lnTo>
                  <a:lnTo>
                    <a:pt x="2238832" y="223519"/>
                  </a:lnTo>
                  <a:lnTo>
                    <a:pt x="2243759" y="227330"/>
                  </a:lnTo>
                  <a:lnTo>
                    <a:pt x="2249309" y="227330"/>
                  </a:lnTo>
                  <a:lnTo>
                    <a:pt x="2254872" y="226060"/>
                  </a:lnTo>
                  <a:lnTo>
                    <a:pt x="2258974" y="222250"/>
                  </a:lnTo>
                  <a:lnTo>
                    <a:pt x="2257958" y="210819"/>
                  </a:lnTo>
                  <a:lnTo>
                    <a:pt x="2253030" y="207010"/>
                  </a:lnTo>
                  <a:close/>
                </a:path>
                <a:path w="2891790" h="309880">
                  <a:moveTo>
                    <a:pt x="2318307" y="207010"/>
                  </a:moveTo>
                  <a:lnTo>
                    <a:pt x="2253030" y="207010"/>
                  </a:lnTo>
                  <a:lnTo>
                    <a:pt x="2257958" y="210819"/>
                  </a:lnTo>
                  <a:lnTo>
                    <a:pt x="2258974" y="222250"/>
                  </a:lnTo>
                  <a:lnTo>
                    <a:pt x="2254872" y="226060"/>
                  </a:lnTo>
                  <a:lnTo>
                    <a:pt x="2249309" y="227330"/>
                  </a:lnTo>
                  <a:lnTo>
                    <a:pt x="2269452" y="224790"/>
                  </a:lnTo>
                  <a:lnTo>
                    <a:pt x="2289589" y="223519"/>
                  </a:lnTo>
                  <a:lnTo>
                    <a:pt x="2309719" y="220980"/>
                  </a:lnTo>
                  <a:lnTo>
                    <a:pt x="2324059" y="219563"/>
                  </a:lnTo>
                  <a:lnTo>
                    <a:pt x="2319238" y="215901"/>
                  </a:lnTo>
                  <a:lnTo>
                    <a:pt x="2318307" y="207010"/>
                  </a:lnTo>
                  <a:close/>
                </a:path>
                <a:path w="2891790" h="309880">
                  <a:moveTo>
                    <a:pt x="11415" y="225781"/>
                  </a:moveTo>
                  <a:lnTo>
                    <a:pt x="11887" y="226060"/>
                  </a:lnTo>
                  <a:lnTo>
                    <a:pt x="11415" y="225781"/>
                  </a:lnTo>
                  <a:close/>
                </a:path>
                <a:path w="2891790" h="309880">
                  <a:moveTo>
                    <a:pt x="12029" y="226039"/>
                  </a:moveTo>
                  <a:lnTo>
                    <a:pt x="11887" y="226060"/>
                  </a:lnTo>
                  <a:lnTo>
                    <a:pt x="12077" y="226060"/>
                  </a:lnTo>
                  <a:close/>
                </a:path>
                <a:path w="2891790" h="309880">
                  <a:moveTo>
                    <a:pt x="17318" y="225293"/>
                  </a:moveTo>
                  <a:lnTo>
                    <a:pt x="12131" y="226025"/>
                  </a:lnTo>
                  <a:lnTo>
                    <a:pt x="17382" y="226060"/>
                  </a:lnTo>
                  <a:lnTo>
                    <a:pt x="17318" y="225293"/>
                  </a:lnTo>
                  <a:close/>
                </a:path>
                <a:path w="2891790" h="309880">
                  <a:moveTo>
                    <a:pt x="16490" y="222250"/>
                  </a:moveTo>
                  <a:lnTo>
                    <a:pt x="7658" y="222250"/>
                  </a:lnTo>
                  <a:lnTo>
                    <a:pt x="8935" y="224318"/>
                  </a:lnTo>
                  <a:lnTo>
                    <a:pt x="11415" y="225781"/>
                  </a:lnTo>
                  <a:lnTo>
                    <a:pt x="12029" y="226039"/>
                  </a:lnTo>
                  <a:lnTo>
                    <a:pt x="16040" y="223519"/>
                  </a:lnTo>
                  <a:lnTo>
                    <a:pt x="16490" y="222250"/>
                  </a:lnTo>
                  <a:close/>
                </a:path>
                <a:path w="2891790" h="309880">
                  <a:moveTo>
                    <a:pt x="16906" y="221080"/>
                  </a:moveTo>
                  <a:lnTo>
                    <a:pt x="16040" y="223519"/>
                  </a:lnTo>
                  <a:lnTo>
                    <a:pt x="12131" y="226025"/>
                  </a:lnTo>
                  <a:lnTo>
                    <a:pt x="17318" y="225293"/>
                  </a:lnTo>
                  <a:lnTo>
                    <a:pt x="17125" y="223107"/>
                  </a:lnTo>
                  <a:lnTo>
                    <a:pt x="16906" y="221080"/>
                  </a:lnTo>
                  <a:close/>
                </a:path>
                <a:path w="2891790" h="309880">
                  <a:moveTo>
                    <a:pt x="8935" y="224318"/>
                  </a:moveTo>
                  <a:lnTo>
                    <a:pt x="9286" y="224887"/>
                  </a:lnTo>
                  <a:lnTo>
                    <a:pt x="11415" y="225781"/>
                  </a:lnTo>
                  <a:lnTo>
                    <a:pt x="8935" y="224318"/>
                  </a:lnTo>
                  <a:close/>
                </a:path>
                <a:path w="2891790" h="309880">
                  <a:moveTo>
                    <a:pt x="1791906" y="224790"/>
                  </a:moveTo>
                  <a:lnTo>
                    <a:pt x="1781048" y="224790"/>
                  </a:lnTo>
                  <a:lnTo>
                    <a:pt x="1780474" y="225470"/>
                  </a:lnTo>
                  <a:lnTo>
                    <a:pt x="1791906" y="224790"/>
                  </a:lnTo>
                  <a:close/>
                </a:path>
                <a:path w="2891790" h="309880">
                  <a:moveTo>
                    <a:pt x="18618" y="208280"/>
                  </a:moveTo>
                  <a:lnTo>
                    <a:pt x="16316" y="208598"/>
                  </a:lnTo>
                  <a:lnTo>
                    <a:pt x="16014" y="214630"/>
                  </a:lnTo>
                  <a:lnTo>
                    <a:pt x="16188" y="215818"/>
                  </a:lnTo>
                  <a:lnTo>
                    <a:pt x="16345" y="215901"/>
                  </a:lnTo>
                  <a:lnTo>
                    <a:pt x="16761" y="219743"/>
                  </a:lnTo>
                  <a:lnTo>
                    <a:pt x="16941" y="220980"/>
                  </a:lnTo>
                  <a:lnTo>
                    <a:pt x="17012" y="222066"/>
                  </a:lnTo>
                  <a:lnTo>
                    <a:pt x="17211" y="224010"/>
                  </a:lnTo>
                  <a:lnTo>
                    <a:pt x="17318" y="225293"/>
                  </a:lnTo>
                  <a:lnTo>
                    <a:pt x="20891" y="224790"/>
                  </a:lnTo>
                  <a:lnTo>
                    <a:pt x="23964" y="220980"/>
                  </a:lnTo>
                  <a:lnTo>
                    <a:pt x="22777" y="210800"/>
                  </a:lnTo>
                  <a:lnTo>
                    <a:pt x="18618" y="208280"/>
                  </a:lnTo>
                  <a:close/>
                </a:path>
                <a:path w="2891790" h="309880">
                  <a:moveTo>
                    <a:pt x="8654" y="224153"/>
                  </a:moveTo>
                  <a:lnTo>
                    <a:pt x="9055" y="224790"/>
                  </a:lnTo>
                  <a:lnTo>
                    <a:pt x="9286" y="224887"/>
                  </a:lnTo>
                  <a:lnTo>
                    <a:pt x="8935" y="224318"/>
                  </a:lnTo>
                  <a:lnTo>
                    <a:pt x="8654" y="224153"/>
                  </a:lnTo>
                  <a:close/>
                </a:path>
                <a:path w="2891790" h="309880">
                  <a:moveTo>
                    <a:pt x="13893" y="214630"/>
                  </a:moveTo>
                  <a:lnTo>
                    <a:pt x="8518" y="215901"/>
                  </a:lnTo>
                  <a:lnTo>
                    <a:pt x="6670" y="217142"/>
                  </a:lnTo>
                  <a:lnTo>
                    <a:pt x="7338" y="221900"/>
                  </a:lnTo>
                  <a:lnTo>
                    <a:pt x="7459" y="222250"/>
                  </a:lnTo>
                  <a:lnTo>
                    <a:pt x="8654" y="224153"/>
                  </a:lnTo>
                  <a:lnTo>
                    <a:pt x="8935" y="224318"/>
                  </a:lnTo>
                  <a:lnTo>
                    <a:pt x="7658" y="222250"/>
                  </a:lnTo>
                  <a:lnTo>
                    <a:pt x="16490" y="222250"/>
                  </a:lnTo>
                  <a:lnTo>
                    <a:pt x="16906" y="221080"/>
                  </a:lnTo>
                  <a:lnTo>
                    <a:pt x="16761" y="219743"/>
                  </a:lnTo>
                  <a:lnTo>
                    <a:pt x="16188" y="215818"/>
                  </a:lnTo>
                  <a:lnTo>
                    <a:pt x="13893" y="214630"/>
                  </a:lnTo>
                  <a:close/>
                </a:path>
                <a:path w="2891790" h="309880">
                  <a:moveTo>
                    <a:pt x="7367" y="222104"/>
                  </a:moveTo>
                  <a:lnTo>
                    <a:pt x="7581" y="223519"/>
                  </a:lnTo>
                  <a:lnTo>
                    <a:pt x="8654" y="224153"/>
                  </a:lnTo>
                  <a:lnTo>
                    <a:pt x="7367" y="222104"/>
                  </a:lnTo>
                  <a:close/>
                </a:path>
                <a:path w="2891790" h="309880">
                  <a:moveTo>
                    <a:pt x="1846986" y="223519"/>
                  </a:moveTo>
                  <a:lnTo>
                    <a:pt x="1841563" y="223519"/>
                  </a:lnTo>
                  <a:lnTo>
                    <a:pt x="1841141" y="224010"/>
                  </a:lnTo>
                  <a:lnTo>
                    <a:pt x="1846986" y="223519"/>
                  </a:lnTo>
                  <a:close/>
                </a:path>
                <a:path w="2891790" h="309880">
                  <a:moveTo>
                    <a:pt x="7343" y="222066"/>
                  </a:moveTo>
                  <a:lnTo>
                    <a:pt x="7514" y="223107"/>
                  </a:lnTo>
                  <a:lnTo>
                    <a:pt x="7389" y="222250"/>
                  </a:lnTo>
                  <a:lnTo>
                    <a:pt x="7343" y="222066"/>
                  </a:lnTo>
                  <a:close/>
                </a:path>
                <a:path w="2891790" h="309880">
                  <a:moveTo>
                    <a:pt x="7239" y="221900"/>
                  </a:moveTo>
                  <a:lnTo>
                    <a:pt x="7302" y="222250"/>
                  </a:lnTo>
                  <a:lnTo>
                    <a:pt x="7343" y="222066"/>
                  </a:lnTo>
                  <a:lnTo>
                    <a:pt x="7239" y="221900"/>
                  </a:lnTo>
                  <a:close/>
                </a:path>
                <a:path w="2891790" h="309880">
                  <a:moveTo>
                    <a:pt x="6670" y="217142"/>
                  </a:moveTo>
                  <a:lnTo>
                    <a:pt x="6845" y="219024"/>
                  </a:lnTo>
                  <a:lnTo>
                    <a:pt x="7268" y="221604"/>
                  </a:lnTo>
                  <a:lnTo>
                    <a:pt x="7367" y="222104"/>
                  </a:lnTo>
                  <a:lnTo>
                    <a:pt x="6832" y="218440"/>
                  </a:lnTo>
                  <a:lnTo>
                    <a:pt x="6670" y="217142"/>
                  </a:lnTo>
                  <a:close/>
                </a:path>
                <a:path w="2891790" h="309880">
                  <a:moveTo>
                    <a:pt x="6845" y="219024"/>
                  </a:moveTo>
                  <a:lnTo>
                    <a:pt x="7073" y="220980"/>
                  </a:lnTo>
                  <a:lnTo>
                    <a:pt x="7239" y="221900"/>
                  </a:lnTo>
                  <a:lnTo>
                    <a:pt x="7343" y="222066"/>
                  </a:lnTo>
                  <a:lnTo>
                    <a:pt x="6845" y="219024"/>
                  </a:lnTo>
                  <a:close/>
                </a:path>
                <a:path w="2891790" h="309880">
                  <a:moveTo>
                    <a:pt x="2809" y="208371"/>
                  </a:moveTo>
                  <a:lnTo>
                    <a:pt x="2946" y="209550"/>
                  </a:lnTo>
                  <a:lnTo>
                    <a:pt x="4267" y="217169"/>
                  </a:lnTo>
                  <a:lnTo>
                    <a:pt x="7239" y="221900"/>
                  </a:lnTo>
                  <a:lnTo>
                    <a:pt x="7073" y="220980"/>
                  </a:lnTo>
                  <a:lnTo>
                    <a:pt x="6845" y="219024"/>
                  </a:lnTo>
                  <a:lnTo>
                    <a:pt x="5918" y="213360"/>
                  </a:lnTo>
                  <a:lnTo>
                    <a:pt x="5354" y="210157"/>
                  </a:lnTo>
                  <a:lnTo>
                    <a:pt x="2809" y="208371"/>
                  </a:lnTo>
                  <a:close/>
                </a:path>
                <a:path w="2891790" h="309880">
                  <a:moveTo>
                    <a:pt x="16761" y="219743"/>
                  </a:moveTo>
                  <a:lnTo>
                    <a:pt x="16906" y="221080"/>
                  </a:lnTo>
                  <a:lnTo>
                    <a:pt x="16761" y="219743"/>
                  </a:lnTo>
                  <a:close/>
                </a:path>
                <a:path w="2891790" h="309880">
                  <a:moveTo>
                    <a:pt x="16188" y="215818"/>
                  </a:moveTo>
                  <a:lnTo>
                    <a:pt x="16761" y="219743"/>
                  </a:lnTo>
                  <a:lnTo>
                    <a:pt x="16344" y="215900"/>
                  </a:lnTo>
                  <a:lnTo>
                    <a:pt x="16188" y="215818"/>
                  </a:lnTo>
                  <a:close/>
                </a:path>
                <a:path w="2891790" h="309880">
                  <a:moveTo>
                    <a:pt x="2381250" y="198119"/>
                  </a:moveTo>
                  <a:lnTo>
                    <a:pt x="2333320" y="198119"/>
                  </a:lnTo>
                  <a:lnTo>
                    <a:pt x="2338336" y="201930"/>
                  </a:lnTo>
                  <a:lnTo>
                    <a:pt x="2339505" y="213360"/>
                  </a:lnTo>
                  <a:lnTo>
                    <a:pt x="2335441" y="218440"/>
                  </a:lnTo>
                  <a:lnTo>
                    <a:pt x="2324059" y="219563"/>
                  </a:lnTo>
                  <a:lnTo>
                    <a:pt x="2324252" y="219710"/>
                  </a:lnTo>
                  <a:lnTo>
                    <a:pt x="2329840" y="219710"/>
                  </a:lnTo>
                  <a:lnTo>
                    <a:pt x="2345588" y="217169"/>
                  </a:lnTo>
                  <a:lnTo>
                    <a:pt x="2377107" y="214630"/>
                  </a:lnTo>
                  <a:lnTo>
                    <a:pt x="2387820" y="213360"/>
                  </a:lnTo>
                  <a:lnTo>
                    <a:pt x="2387231" y="213360"/>
                  </a:lnTo>
                  <a:lnTo>
                    <a:pt x="2382253" y="209550"/>
                  </a:lnTo>
                  <a:lnTo>
                    <a:pt x="2381250" y="198119"/>
                  </a:lnTo>
                  <a:close/>
                </a:path>
                <a:path w="2891790" h="309880">
                  <a:moveTo>
                    <a:pt x="2333320" y="198119"/>
                  </a:moveTo>
                  <a:lnTo>
                    <a:pt x="2330248" y="198423"/>
                  </a:lnTo>
                  <a:lnTo>
                    <a:pt x="2322093" y="199390"/>
                  </a:lnTo>
                  <a:lnTo>
                    <a:pt x="2318042" y="204469"/>
                  </a:lnTo>
                  <a:lnTo>
                    <a:pt x="2319238" y="215901"/>
                  </a:lnTo>
                  <a:lnTo>
                    <a:pt x="2324059" y="219563"/>
                  </a:lnTo>
                  <a:lnTo>
                    <a:pt x="2335441" y="218440"/>
                  </a:lnTo>
                  <a:lnTo>
                    <a:pt x="2339505" y="213360"/>
                  </a:lnTo>
                  <a:lnTo>
                    <a:pt x="2338336" y="201930"/>
                  </a:lnTo>
                  <a:lnTo>
                    <a:pt x="2333320" y="198119"/>
                  </a:lnTo>
                  <a:close/>
                </a:path>
                <a:path w="2891790" h="309880">
                  <a:moveTo>
                    <a:pt x="2109423" y="215901"/>
                  </a:moveTo>
                  <a:lnTo>
                    <a:pt x="2095537" y="217169"/>
                  </a:lnTo>
                  <a:lnTo>
                    <a:pt x="2081647" y="217169"/>
                  </a:lnTo>
                  <a:lnTo>
                    <a:pt x="2048383" y="218440"/>
                  </a:lnTo>
                  <a:lnTo>
                    <a:pt x="2047842" y="219086"/>
                  </a:lnTo>
                  <a:lnTo>
                    <a:pt x="2059393" y="218440"/>
                  </a:lnTo>
                  <a:lnTo>
                    <a:pt x="2102446" y="218440"/>
                  </a:lnTo>
                  <a:lnTo>
                    <a:pt x="2103894" y="217169"/>
                  </a:lnTo>
                  <a:lnTo>
                    <a:pt x="2109423" y="215901"/>
                  </a:lnTo>
                  <a:close/>
                </a:path>
                <a:path w="2891790" h="309880">
                  <a:moveTo>
                    <a:pt x="5354" y="210157"/>
                  </a:moveTo>
                  <a:lnTo>
                    <a:pt x="5990" y="213800"/>
                  </a:lnTo>
                  <a:lnTo>
                    <a:pt x="6845" y="219024"/>
                  </a:lnTo>
                  <a:lnTo>
                    <a:pt x="6777" y="218440"/>
                  </a:lnTo>
                  <a:lnTo>
                    <a:pt x="6670" y="217142"/>
                  </a:lnTo>
                  <a:lnTo>
                    <a:pt x="6197" y="213360"/>
                  </a:lnTo>
                  <a:lnTo>
                    <a:pt x="8365" y="210819"/>
                  </a:lnTo>
                  <a:lnTo>
                    <a:pt x="6299" y="210819"/>
                  </a:lnTo>
                  <a:lnTo>
                    <a:pt x="5354" y="210157"/>
                  </a:lnTo>
                  <a:close/>
                </a:path>
                <a:path w="2891790" h="309880">
                  <a:moveTo>
                    <a:pt x="16316" y="208598"/>
                  </a:moveTo>
                  <a:lnTo>
                    <a:pt x="14496" y="208861"/>
                  </a:lnTo>
                  <a:lnTo>
                    <a:pt x="13766" y="209550"/>
                  </a:lnTo>
                  <a:lnTo>
                    <a:pt x="8715" y="210409"/>
                  </a:lnTo>
                  <a:lnTo>
                    <a:pt x="6197" y="213360"/>
                  </a:lnTo>
                  <a:lnTo>
                    <a:pt x="6670" y="217142"/>
                  </a:lnTo>
                  <a:lnTo>
                    <a:pt x="8521" y="215900"/>
                  </a:lnTo>
                  <a:lnTo>
                    <a:pt x="13893" y="214630"/>
                  </a:lnTo>
                  <a:lnTo>
                    <a:pt x="16014" y="214630"/>
                  </a:lnTo>
                  <a:lnTo>
                    <a:pt x="16316" y="208598"/>
                  </a:lnTo>
                  <a:close/>
                </a:path>
                <a:path w="2891790" h="309880">
                  <a:moveTo>
                    <a:pt x="16014" y="214630"/>
                  </a:moveTo>
                  <a:lnTo>
                    <a:pt x="13893" y="214630"/>
                  </a:lnTo>
                  <a:lnTo>
                    <a:pt x="16188" y="215818"/>
                  </a:lnTo>
                  <a:lnTo>
                    <a:pt x="16014" y="214630"/>
                  </a:lnTo>
                  <a:close/>
                </a:path>
                <a:path w="2891790" h="309880">
                  <a:moveTo>
                    <a:pt x="2241453" y="207569"/>
                  </a:moveTo>
                  <a:lnTo>
                    <a:pt x="2226748" y="208280"/>
                  </a:lnTo>
                  <a:lnTo>
                    <a:pt x="2206024" y="210819"/>
                  </a:lnTo>
                  <a:lnTo>
                    <a:pt x="2185287" y="212090"/>
                  </a:lnTo>
                  <a:lnTo>
                    <a:pt x="2158987" y="213360"/>
                  </a:lnTo>
                  <a:lnTo>
                    <a:pt x="2158621" y="213800"/>
                  </a:lnTo>
                  <a:lnTo>
                    <a:pt x="2170099" y="213360"/>
                  </a:lnTo>
                  <a:lnTo>
                    <a:pt x="2237917" y="213360"/>
                  </a:lnTo>
                  <a:lnTo>
                    <a:pt x="2237803" y="212090"/>
                  </a:lnTo>
                  <a:lnTo>
                    <a:pt x="2241453" y="207569"/>
                  </a:lnTo>
                  <a:close/>
                </a:path>
                <a:path w="2891790" h="309880">
                  <a:moveTo>
                    <a:pt x="2397187" y="192195"/>
                  </a:moveTo>
                  <a:lnTo>
                    <a:pt x="2393778" y="192440"/>
                  </a:lnTo>
                  <a:lnTo>
                    <a:pt x="2391105" y="193040"/>
                  </a:lnTo>
                  <a:lnTo>
                    <a:pt x="2385027" y="193526"/>
                  </a:lnTo>
                  <a:lnTo>
                    <a:pt x="2381310" y="198046"/>
                  </a:lnTo>
                  <a:lnTo>
                    <a:pt x="2381361" y="199388"/>
                  </a:lnTo>
                  <a:lnTo>
                    <a:pt x="2382253" y="209550"/>
                  </a:lnTo>
                  <a:lnTo>
                    <a:pt x="2387231" y="213360"/>
                  </a:lnTo>
                  <a:lnTo>
                    <a:pt x="2387820" y="213360"/>
                  </a:lnTo>
                  <a:lnTo>
                    <a:pt x="2398534" y="212090"/>
                  </a:lnTo>
                  <a:lnTo>
                    <a:pt x="2402637" y="208371"/>
                  </a:lnTo>
                  <a:lnTo>
                    <a:pt x="2402521" y="205740"/>
                  </a:lnTo>
                  <a:lnTo>
                    <a:pt x="2401760" y="196850"/>
                  </a:lnTo>
                  <a:lnTo>
                    <a:pt x="2397187" y="192195"/>
                  </a:lnTo>
                  <a:close/>
                </a:path>
                <a:path w="2891790" h="309880">
                  <a:moveTo>
                    <a:pt x="2433574" y="189230"/>
                  </a:moveTo>
                  <a:lnTo>
                    <a:pt x="2427225" y="189230"/>
                  </a:lnTo>
                  <a:lnTo>
                    <a:pt x="2403121" y="191769"/>
                  </a:lnTo>
                  <a:lnTo>
                    <a:pt x="2397187" y="192195"/>
                  </a:lnTo>
                  <a:lnTo>
                    <a:pt x="2401760" y="196850"/>
                  </a:lnTo>
                  <a:lnTo>
                    <a:pt x="2402521" y="205740"/>
                  </a:lnTo>
                  <a:lnTo>
                    <a:pt x="2402637" y="208371"/>
                  </a:lnTo>
                  <a:lnTo>
                    <a:pt x="2398534" y="212090"/>
                  </a:lnTo>
                  <a:lnTo>
                    <a:pt x="2387820" y="213360"/>
                  </a:lnTo>
                  <a:lnTo>
                    <a:pt x="2392883" y="213360"/>
                  </a:lnTo>
                  <a:lnTo>
                    <a:pt x="2416751" y="210819"/>
                  </a:lnTo>
                  <a:lnTo>
                    <a:pt x="2428696" y="210819"/>
                  </a:lnTo>
                  <a:lnTo>
                    <a:pt x="2446350" y="209550"/>
                  </a:lnTo>
                  <a:lnTo>
                    <a:pt x="2434958" y="209550"/>
                  </a:lnTo>
                  <a:lnTo>
                    <a:pt x="2430030" y="205740"/>
                  </a:lnTo>
                  <a:lnTo>
                    <a:pt x="2429353" y="195580"/>
                  </a:lnTo>
                  <a:lnTo>
                    <a:pt x="2429362" y="194199"/>
                  </a:lnTo>
                  <a:lnTo>
                    <a:pt x="2433574" y="189230"/>
                  </a:lnTo>
                  <a:close/>
                </a:path>
                <a:path w="2891790" h="309880">
                  <a:moveTo>
                    <a:pt x="4822" y="207132"/>
                  </a:moveTo>
                  <a:lnTo>
                    <a:pt x="5354" y="210157"/>
                  </a:lnTo>
                  <a:lnTo>
                    <a:pt x="6299" y="210819"/>
                  </a:lnTo>
                  <a:lnTo>
                    <a:pt x="8715" y="210409"/>
                  </a:lnTo>
                  <a:lnTo>
                    <a:pt x="9448" y="209550"/>
                  </a:lnTo>
                  <a:lnTo>
                    <a:pt x="9245" y="209550"/>
                  </a:lnTo>
                  <a:lnTo>
                    <a:pt x="4822" y="207132"/>
                  </a:lnTo>
                  <a:close/>
                </a:path>
                <a:path w="2891790" h="309880">
                  <a:moveTo>
                    <a:pt x="8715" y="210409"/>
                  </a:moveTo>
                  <a:lnTo>
                    <a:pt x="6299" y="210819"/>
                  </a:lnTo>
                  <a:lnTo>
                    <a:pt x="8365" y="210819"/>
                  </a:lnTo>
                  <a:lnTo>
                    <a:pt x="8715" y="210409"/>
                  </a:lnTo>
                  <a:close/>
                </a:path>
                <a:path w="2891790" h="309880">
                  <a:moveTo>
                    <a:pt x="22352" y="208280"/>
                  </a:moveTo>
                  <a:lnTo>
                    <a:pt x="18618" y="208280"/>
                  </a:lnTo>
                  <a:lnTo>
                    <a:pt x="22777" y="210800"/>
                  </a:lnTo>
                  <a:lnTo>
                    <a:pt x="22631" y="209550"/>
                  </a:lnTo>
                  <a:lnTo>
                    <a:pt x="22352" y="208280"/>
                  </a:lnTo>
                  <a:close/>
                </a:path>
                <a:path w="2891790" h="309880">
                  <a:moveTo>
                    <a:pt x="14509" y="208849"/>
                  </a:moveTo>
                  <a:lnTo>
                    <a:pt x="9448" y="209550"/>
                  </a:lnTo>
                  <a:lnTo>
                    <a:pt x="8715" y="210409"/>
                  </a:lnTo>
                  <a:lnTo>
                    <a:pt x="13766" y="209550"/>
                  </a:lnTo>
                  <a:lnTo>
                    <a:pt x="14509" y="208849"/>
                  </a:lnTo>
                  <a:close/>
                </a:path>
                <a:path w="2891790" h="309880">
                  <a:moveTo>
                    <a:pt x="2477" y="198468"/>
                  </a:moveTo>
                  <a:lnTo>
                    <a:pt x="2146" y="203200"/>
                  </a:lnTo>
                  <a:lnTo>
                    <a:pt x="2809" y="208371"/>
                  </a:lnTo>
                  <a:lnTo>
                    <a:pt x="5354" y="210157"/>
                  </a:lnTo>
                  <a:lnTo>
                    <a:pt x="4822" y="207132"/>
                  </a:lnTo>
                  <a:lnTo>
                    <a:pt x="4597" y="207010"/>
                  </a:lnTo>
                  <a:lnTo>
                    <a:pt x="2477" y="198468"/>
                  </a:lnTo>
                  <a:close/>
                </a:path>
                <a:path w="2891790" h="309880">
                  <a:moveTo>
                    <a:pt x="2937" y="197804"/>
                  </a:moveTo>
                  <a:lnTo>
                    <a:pt x="2603" y="198046"/>
                  </a:lnTo>
                  <a:lnTo>
                    <a:pt x="3553" y="202258"/>
                  </a:lnTo>
                  <a:lnTo>
                    <a:pt x="4822" y="207132"/>
                  </a:lnTo>
                  <a:lnTo>
                    <a:pt x="9245" y="209550"/>
                  </a:lnTo>
                  <a:lnTo>
                    <a:pt x="15649" y="207773"/>
                  </a:lnTo>
                  <a:lnTo>
                    <a:pt x="16328" y="207132"/>
                  </a:lnTo>
                  <a:lnTo>
                    <a:pt x="17054" y="199390"/>
                  </a:lnTo>
                  <a:lnTo>
                    <a:pt x="5559" y="199388"/>
                  </a:lnTo>
                  <a:lnTo>
                    <a:pt x="2937" y="197804"/>
                  </a:lnTo>
                  <a:close/>
                </a:path>
                <a:path w="2891790" h="309880">
                  <a:moveTo>
                    <a:pt x="15649" y="207773"/>
                  </a:moveTo>
                  <a:lnTo>
                    <a:pt x="9245" y="209550"/>
                  </a:lnTo>
                  <a:lnTo>
                    <a:pt x="9448" y="209550"/>
                  </a:lnTo>
                  <a:lnTo>
                    <a:pt x="14509" y="208849"/>
                  </a:lnTo>
                  <a:lnTo>
                    <a:pt x="15649" y="207773"/>
                  </a:lnTo>
                  <a:close/>
                </a:path>
                <a:path w="2891790" h="309880">
                  <a:moveTo>
                    <a:pt x="2442171" y="188593"/>
                  </a:moveTo>
                  <a:lnTo>
                    <a:pt x="2433574" y="189230"/>
                  </a:lnTo>
                  <a:lnTo>
                    <a:pt x="2429362" y="194199"/>
                  </a:lnTo>
                  <a:lnTo>
                    <a:pt x="2429353" y="195580"/>
                  </a:lnTo>
                  <a:lnTo>
                    <a:pt x="2430030" y="205740"/>
                  </a:lnTo>
                  <a:lnTo>
                    <a:pt x="2434958" y="209550"/>
                  </a:lnTo>
                  <a:lnTo>
                    <a:pt x="2440647" y="209550"/>
                  </a:lnTo>
                  <a:lnTo>
                    <a:pt x="2446947" y="208849"/>
                  </a:lnTo>
                  <a:lnTo>
                    <a:pt x="2450680" y="204469"/>
                  </a:lnTo>
                  <a:lnTo>
                    <a:pt x="2450019" y="194199"/>
                  </a:lnTo>
                  <a:lnTo>
                    <a:pt x="2449920" y="193015"/>
                  </a:lnTo>
                  <a:lnTo>
                    <a:pt x="2446248" y="189230"/>
                  </a:lnTo>
                  <a:lnTo>
                    <a:pt x="2439314" y="189230"/>
                  </a:lnTo>
                  <a:lnTo>
                    <a:pt x="2442171" y="188593"/>
                  </a:lnTo>
                  <a:close/>
                </a:path>
                <a:path w="2891790" h="309880">
                  <a:moveTo>
                    <a:pt x="2446937" y="208861"/>
                  </a:moveTo>
                  <a:lnTo>
                    <a:pt x="2440647" y="209550"/>
                  </a:lnTo>
                  <a:lnTo>
                    <a:pt x="2446350" y="209550"/>
                  </a:lnTo>
                  <a:lnTo>
                    <a:pt x="2446937" y="208861"/>
                  </a:lnTo>
                  <a:close/>
                </a:path>
                <a:path w="2891790" h="309880">
                  <a:moveTo>
                    <a:pt x="2478944" y="185903"/>
                  </a:moveTo>
                  <a:lnTo>
                    <a:pt x="2473625" y="186690"/>
                  </a:lnTo>
                  <a:lnTo>
                    <a:pt x="2462182" y="186690"/>
                  </a:lnTo>
                  <a:lnTo>
                    <a:pt x="2450732" y="187960"/>
                  </a:lnTo>
                  <a:lnTo>
                    <a:pt x="2445399" y="188354"/>
                  </a:lnTo>
                  <a:lnTo>
                    <a:pt x="2449920" y="193015"/>
                  </a:lnTo>
                  <a:lnTo>
                    <a:pt x="2450680" y="204469"/>
                  </a:lnTo>
                  <a:lnTo>
                    <a:pt x="2446937" y="208861"/>
                  </a:lnTo>
                  <a:lnTo>
                    <a:pt x="2452244" y="208280"/>
                  </a:lnTo>
                  <a:lnTo>
                    <a:pt x="2463834" y="208280"/>
                  </a:lnTo>
                  <a:lnTo>
                    <a:pt x="2475420" y="207010"/>
                  </a:lnTo>
                  <a:lnTo>
                    <a:pt x="2480887" y="206608"/>
                  </a:lnTo>
                  <a:lnTo>
                    <a:pt x="2476220" y="201930"/>
                  </a:lnTo>
                  <a:lnTo>
                    <a:pt x="2475141" y="190500"/>
                  </a:lnTo>
                  <a:lnTo>
                    <a:pt x="2478944" y="185903"/>
                  </a:lnTo>
                  <a:close/>
                </a:path>
                <a:path w="2891790" h="309880">
                  <a:moveTo>
                    <a:pt x="16390" y="207568"/>
                  </a:moveTo>
                  <a:lnTo>
                    <a:pt x="15649" y="207773"/>
                  </a:lnTo>
                  <a:lnTo>
                    <a:pt x="14509" y="208849"/>
                  </a:lnTo>
                  <a:lnTo>
                    <a:pt x="16316" y="208598"/>
                  </a:lnTo>
                  <a:lnTo>
                    <a:pt x="16390" y="207568"/>
                  </a:lnTo>
                  <a:close/>
                </a:path>
                <a:path w="2891790" h="309880">
                  <a:moveTo>
                    <a:pt x="21027" y="202258"/>
                  </a:moveTo>
                  <a:lnTo>
                    <a:pt x="18402" y="207010"/>
                  </a:lnTo>
                  <a:lnTo>
                    <a:pt x="16390" y="207568"/>
                  </a:lnTo>
                  <a:lnTo>
                    <a:pt x="16316" y="208598"/>
                  </a:lnTo>
                  <a:lnTo>
                    <a:pt x="18618" y="208280"/>
                  </a:lnTo>
                  <a:lnTo>
                    <a:pt x="22352" y="208280"/>
                  </a:lnTo>
                  <a:lnTo>
                    <a:pt x="21027" y="202258"/>
                  </a:lnTo>
                  <a:close/>
                </a:path>
                <a:path w="2891790" h="309880">
                  <a:moveTo>
                    <a:pt x="2209" y="203200"/>
                  </a:moveTo>
                  <a:lnTo>
                    <a:pt x="2679" y="208280"/>
                  </a:lnTo>
                  <a:lnTo>
                    <a:pt x="2809" y="208371"/>
                  </a:lnTo>
                  <a:lnTo>
                    <a:pt x="2209" y="203200"/>
                  </a:lnTo>
                  <a:close/>
                </a:path>
                <a:path w="2891790" h="309880">
                  <a:moveTo>
                    <a:pt x="16433" y="207034"/>
                  </a:moveTo>
                  <a:lnTo>
                    <a:pt x="15649" y="207773"/>
                  </a:lnTo>
                  <a:lnTo>
                    <a:pt x="16385" y="207569"/>
                  </a:lnTo>
                  <a:lnTo>
                    <a:pt x="16433" y="207034"/>
                  </a:lnTo>
                  <a:close/>
                </a:path>
                <a:path w="2891790" h="309880">
                  <a:moveTo>
                    <a:pt x="2330248" y="198423"/>
                  </a:moveTo>
                  <a:lnTo>
                    <a:pt x="2307648" y="200660"/>
                  </a:lnTo>
                  <a:lnTo>
                    <a:pt x="2267529" y="205740"/>
                  </a:lnTo>
                  <a:lnTo>
                    <a:pt x="2241905" y="207010"/>
                  </a:lnTo>
                  <a:lnTo>
                    <a:pt x="2241453" y="207569"/>
                  </a:lnTo>
                  <a:lnTo>
                    <a:pt x="2253030" y="207010"/>
                  </a:lnTo>
                  <a:lnTo>
                    <a:pt x="2318307" y="207010"/>
                  </a:lnTo>
                  <a:lnTo>
                    <a:pt x="2318042" y="204469"/>
                  </a:lnTo>
                  <a:lnTo>
                    <a:pt x="2322108" y="199388"/>
                  </a:lnTo>
                  <a:lnTo>
                    <a:pt x="2330248" y="198423"/>
                  </a:lnTo>
                  <a:close/>
                </a:path>
                <a:path w="2891790" h="309880">
                  <a:moveTo>
                    <a:pt x="18331" y="192673"/>
                  </a:moveTo>
                  <a:lnTo>
                    <a:pt x="17412" y="194810"/>
                  </a:lnTo>
                  <a:lnTo>
                    <a:pt x="16509" y="206366"/>
                  </a:lnTo>
                  <a:lnTo>
                    <a:pt x="16390" y="207568"/>
                  </a:lnTo>
                  <a:lnTo>
                    <a:pt x="18402" y="207010"/>
                  </a:lnTo>
                  <a:lnTo>
                    <a:pt x="21027" y="202258"/>
                  </a:lnTo>
                  <a:lnTo>
                    <a:pt x="19254" y="194199"/>
                  </a:lnTo>
                  <a:lnTo>
                    <a:pt x="18954" y="193015"/>
                  </a:lnTo>
                  <a:lnTo>
                    <a:pt x="18331" y="192673"/>
                  </a:lnTo>
                  <a:close/>
                </a:path>
                <a:path w="2891790" h="309880">
                  <a:moveTo>
                    <a:pt x="2603" y="198046"/>
                  </a:moveTo>
                  <a:lnTo>
                    <a:pt x="2477" y="198468"/>
                  </a:lnTo>
                  <a:lnTo>
                    <a:pt x="4597" y="207010"/>
                  </a:lnTo>
                  <a:lnTo>
                    <a:pt x="4822" y="207132"/>
                  </a:lnTo>
                  <a:lnTo>
                    <a:pt x="3467" y="201930"/>
                  </a:lnTo>
                  <a:lnTo>
                    <a:pt x="2603" y="198046"/>
                  </a:lnTo>
                  <a:close/>
                </a:path>
                <a:path w="2891790" h="309880">
                  <a:moveTo>
                    <a:pt x="2484183" y="206366"/>
                  </a:moveTo>
                  <a:lnTo>
                    <a:pt x="2480887" y="206608"/>
                  </a:lnTo>
                  <a:lnTo>
                    <a:pt x="2481287" y="207010"/>
                  </a:lnTo>
                  <a:lnTo>
                    <a:pt x="2484183" y="206366"/>
                  </a:lnTo>
                  <a:close/>
                </a:path>
                <a:path w="2891790" h="309880">
                  <a:moveTo>
                    <a:pt x="2491314" y="184652"/>
                  </a:moveTo>
                  <a:lnTo>
                    <a:pt x="2484422" y="185094"/>
                  </a:lnTo>
                  <a:lnTo>
                    <a:pt x="2478944" y="185903"/>
                  </a:lnTo>
                  <a:lnTo>
                    <a:pt x="2475141" y="190500"/>
                  </a:lnTo>
                  <a:lnTo>
                    <a:pt x="2476220" y="201930"/>
                  </a:lnTo>
                  <a:lnTo>
                    <a:pt x="2480887" y="206608"/>
                  </a:lnTo>
                  <a:lnTo>
                    <a:pt x="2484183" y="206366"/>
                  </a:lnTo>
                  <a:lnTo>
                    <a:pt x="2487002" y="205740"/>
                  </a:lnTo>
                  <a:lnTo>
                    <a:pt x="2493178" y="205185"/>
                  </a:lnTo>
                  <a:lnTo>
                    <a:pt x="2496934" y="200660"/>
                  </a:lnTo>
                  <a:lnTo>
                    <a:pt x="2495880" y="189230"/>
                  </a:lnTo>
                  <a:lnTo>
                    <a:pt x="2491314" y="184652"/>
                  </a:lnTo>
                  <a:close/>
                </a:path>
                <a:path w="2891790" h="309880">
                  <a:moveTo>
                    <a:pt x="2493178" y="205185"/>
                  </a:moveTo>
                  <a:lnTo>
                    <a:pt x="2487002" y="205740"/>
                  </a:lnTo>
                  <a:lnTo>
                    <a:pt x="2484183" y="206366"/>
                  </a:lnTo>
                  <a:lnTo>
                    <a:pt x="2492717" y="205740"/>
                  </a:lnTo>
                  <a:lnTo>
                    <a:pt x="2493178" y="205185"/>
                  </a:lnTo>
                  <a:close/>
                </a:path>
                <a:path w="2891790" h="309880">
                  <a:moveTo>
                    <a:pt x="2535417" y="180569"/>
                  </a:moveTo>
                  <a:lnTo>
                    <a:pt x="2527290" y="181610"/>
                  </a:lnTo>
                  <a:lnTo>
                    <a:pt x="2499129" y="184151"/>
                  </a:lnTo>
                  <a:lnTo>
                    <a:pt x="2491314" y="184652"/>
                  </a:lnTo>
                  <a:lnTo>
                    <a:pt x="2495880" y="189230"/>
                  </a:lnTo>
                  <a:lnTo>
                    <a:pt x="2496934" y="200660"/>
                  </a:lnTo>
                  <a:lnTo>
                    <a:pt x="2493178" y="205185"/>
                  </a:lnTo>
                  <a:lnTo>
                    <a:pt x="2529431" y="201930"/>
                  </a:lnTo>
                  <a:lnTo>
                    <a:pt x="2539376" y="200660"/>
                  </a:lnTo>
                  <a:lnTo>
                    <a:pt x="2537828" y="200660"/>
                  </a:lnTo>
                  <a:lnTo>
                    <a:pt x="2532672" y="196850"/>
                  </a:lnTo>
                  <a:lnTo>
                    <a:pt x="2531440" y="185419"/>
                  </a:lnTo>
                  <a:lnTo>
                    <a:pt x="2535417" y="180569"/>
                  </a:lnTo>
                  <a:close/>
                </a:path>
                <a:path w="2891790" h="309880">
                  <a:moveTo>
                    <a:pt x="1398" y="196874"/>
                  </a:moveTo>
                  <a:lnTo>
                    <a:pt x="2109" y="203200"/>
                  </a:lnTo>
                  <a:lnTo>
                    <a:pt x="2413" y="199388"/>
                  </a:lnTo>
                  <a:lnTo>
                    <a:pt x="2312" y="197804"/>
                  </a:lnTo>
                  <a:lnTo>
                    <a:pt x="2202" y="197359"/>
                  </a:lnTo>
                  <a:lnTo>
                    <a:pt x="1398" y="196874"/>
                  </a:lnTo>
                  <a:close/>
                </a:path>
                <a:path w="2891790" h="309880">
                  <a:moveTo>
                    <a:pt x="19254" y="194199"/>
                  </a:moveTo>
                  <a:lnTo>
                    <a:pt x="21027" y="202258"/>
                  </a:lnTo>
                  <a:lnTo>
                    <a:pt x="21209" y="201930"/>
                  </a:lnTo>
                  <a:lnTo>
                    <a:pt x="19254" y="194199"/>
                  </a:lnTo>
                  <a:close/>
                </a:path>
                <a:path w="2891790" h="309880">
                  <a:moveTo>
                    <a:pt x="2547374" y="179245"/>
                  </a:moveTo>
                  <a:lnTo>
                    <a:pt x="2541488" y="179792"/>
                  </a:lnTo>
                  <a:lnTo>
                    <a:pt x="2535417" y="180569"/>
                  </a:lnTo>
                  <a:lnTo>
                    <a:pt x="2531440" y="185419"/>
                  </a:lnTo>
                  <a:lnTo>
                    <a:pt x="2532672" y="196850"/>
                  </a:lnTo>
                  <a:lnTo>
                    <a:pt x="2537828" y="200660"/>
                  </a:lnTo>
                  <a:lnTo>
                    <a:pt x="2539376" y="200660"/>
                  </a:lnTo>
                  <a:lnTo>
                    <a:pt x="2549323" y="199388"/>
                  </a:lnTo>
                  <a:lnTo>
                    <a:pt x="2553500" y="194310"/>
                  </a:lnTo>
                  <a:lnTo>
                    <a:pt x="2552362" y="183534"/>
                  </a:lnTo>
                  <a:lnTo>
                    <a:pt x="2552253" y="182850"/>
                  </a:lnTo>
                  <a:lnTo>
                    <a:pt x="2547374" y="179245"/>
                  </a:lnTo>
                  <a:close/>
                </a:path>
                <a:path w="2891790" h="309880">
                  <a:moveTo>
                    <a:pt x="2633408" y="170180"/>
                  </a:moveTo>
                  <a:lnTo>
                    <a:pt x="2606050" y="172719"/>
                  </a:lnTo>
                  <a:lnTo>
                    <a:pt x="2562918" y="177800"/>
                  </a:lnTo>
                  <a:lnTo>
                    <a:pt x="2547374" y="179245"/>
                  </a:lnTo>
                  <a:lnTo>
                    <a:pt x="2552253" y="182850"/>
                  </a:lnTo>
                  <a:lnTo>
                    <a:pt x="2552362" y="183534"/>
                  </a:lnTo>
                  <a:lnTo>
                    <a:pt x="2553500" y="194310"/>
                  </a:lnTo>
                  <a:lnTo>
                    <a:pt x="2549321" y="199390"/>
                  </a:lnTo>
                  <a:lnTo>
                    <a:pt x="2539376" y="200660"/>
                  </a:lnTo>
                  <a:lnTo>
                    <a:pt x="2543568" y="200660"/>
                  </a:lnTo>
                  <a:lnTo>
                    <a:pt x="2565106" y="198119"/>
                  </a:lnTo>
                  <a:lnTo>
                    <a:pt x="2608192" y="194310"/>
                  </a:lnTo>
                  <a:lnTo>
                    <a:pt x="2626408" y="191769"/>
                  </a:lnTo>
                  <a:lnTo>
                    <a:pt x="2623947" y="191769"/>
                  </a:lnTo>
                  <a:lnTo>
                    <a:pt x="2618790" y="187960"/>
                  </a:lnTo>
                  <a:lnTo>
                    <a:pt x="2617622" y="176530"/>
                  </a:lnTo>
                  <a:lnTo>
                    <a:pt x="2621838" y="171450"/>
                  </a:lnTo>
                  <a:lnTo>
                    <a:pt x="2633539" y="170276"/>
                  </a:lnTo>
                  <a:lnTo>
                    <a:pt x="2633408" y="170180"/>
                  </a:lnTo>
                  <a:close/>
                </a:path>
                <a:path w="2891790" h="309880">
                  <a:moveTo>
                    <a:pt x="14046" y="195580"/>
                  </a:moveTo>
                  <a:lnTo>
                    <a:pt x="6007" y="195580"/>
                  </a:lnTo>
                  <a:lnTo>
                    <a:pt x="2937" y="197804"/>
                  </a:lnTo>
                  <a:lnTo>
                    <a:pt x="5562" y="199390"/>
                  </a:lnTo>
                  <a:lnTo>
                    <a:pt x="11495" y="199388"/>
                  </a:lnTo>
                  <a:lnTo>
                    <a:pt x="12712" y="198119"/>
                  </a:lnTo>
                  <a:lnTo>
                    <a:pt x="13792" y="198119"/>
                  </a:lnTo>
                  <a:lnTo>
                    <a:pt x="15196" y="197035"/>
                  </a:lnTo>
                  <a:lnTo>
                    <a:pt x="14046" y="195580"/>
                  </a:lnTo>
                  <a:close/>
                </a:path>
                <a:path w="2891790" h="309880">
                  <a:moveTo>
                    <a:pt x="15196" y="197035"/>
                  </a:moveTo>
                  <a:lnTo>
                    <a:pt x="13792" y="198119"/>
                  </a:lnTo>
                  <a:lnTo>
                    <a:pt x="12712" y="198119"/>
                  </a:lnTo>
                  <a:lnTo>
                    <a:pt x="11493" y="199390"/>
                  </a:lnTo>
                  <a:lnTo>
                    <a:pt x="17054" y="199388"/>
                  </a:lnTo>
                  <a:lnTo>
                    <a:pt x="15196" y="197035"/>
                  </a:lnTo>
                  <a:close/>
                </a:path>
                <a:path w="2891790" h="309880">
                  <a:moveTo>
                    <a:pt x="17412" y="194810"/>
                  </a:moveTo>
                  <a:lnTo>
                    <a:pt x="17081" y="195580"/>
                  </a:lnTo>
                  <a:lnTo>
                    <a:pt x="15196" y="197035"/>
                  </a:lnTo>
                  <a:lnTo>
                    <a:pt x="17054" y="199388"/>
                  </a:lnTo>
                  <a:lnTo>
                    <a:pt x="17412" y="194810"/>
                  </a:lnTo>
                  <a:close/>
                </a:path>
                <a:path w="2891790" h="309880">
                  <a:moveTo>
                    <a:pt x="2202" y="197359"/>
                  </a:moveTo>
                  <a:lnTo>
                    <a:pt x="2477" y="198468"/>
                  </a:lnTo>
                  <a:lnTo>
                    <a:pt x="2488" y="197532"/>
                  </a:lnTo>
                  <a:lnTo>
                    <a:pt x="2202" y="197359"/>
                  </a:lnTo>
                  <a:close/>
                </a:path>
                <a:path w="2891790" h="309880">
                  <a:moveTo>
                    <a:pt x="2385027" y="193526"/>
                  </a:moveTo>
                  <a:lnTo>
                    <a:pt x="2343534" y="196850"/>
                  </a:lnTo>
                  <a:lnTo>
                    <a:pt x="2330248" y="198423"/>
                  </a:lnTo>
                  <a:lnTo>
                    <a:pt x="2333320" y="198119"/>
                  </a:lnTo>
                  <a:lnTo>
                    <a:pt x="2381250" y="198119"/>
                  </a:lnTo>
                  <a:lnTo>
                    <a:pt x="2385027" y="193526"/>
                  </a:lnTo>
                  <a:close/>
                </a:path>
                <a:path w="2891790" h="309880">
                  <a:moveTo>
                    <a:pt x="2488" y="197532"/>
                  </a:moveTo>
                  <a:lnTo>
                    <a:pt x="2603" y="198046"/>
                  </a:lnTo>
                  <a:lnTo>
                    <a:pt x="2937" y="197804"/>
                  </a:lnTo>
                  <a:lnTo>
                    <a:pt x="2488" y="197532"/>
                  </a:lnTo>
                  <a:close/>
                </a:path>
                <a:path w="2891790" h="309880">
                  <a:moveTo>
                    <a:pt x="14363" y="190500"/>
                  </a:moveTo>
                  <a:lnTo>
                    <a:pt x="5168" y="193040"/>
                  </a:lnTo>
                  <a:lnTo>
                    <a:pt x="2336" y="196850"/>
                  </a:lnTo>
                  <a:lnTo>
                    <a:pt x="2488" y="197532"/>
                  </a:lnTo>
                  <a:lnTo>
                    <a:pt x="2937" y="197804"/>
                  </a:lnTo>
                  <a:lnTo>
                    <a:pt x="6007" y="195580"/>
                  </a:lnTo>
                  <a:lnTo>
                    <a:pt x="17081" y="195580"/>
                  </a:lnTo>
                  <a:lnTo>
                    <a:pt x="17412" y="194810"/>
                  </a:lnTo>
                  <a:lnTo>
                    <a:pt x="17610" y="192278"/>
                  </a:lnTo>
                  <a:lnTo>
                    <a:pt x="14363" y="190500"/>
                  </a:lnTo>
                  <a:close/>
                </a:path>
                <a:path w="2891790" h="309880">
                  <a:moveTo>
                    <a:pt x="5004" y="182582"/>
                  </a:moveTo>
                  <a:lnTo>
                    <a:pt x="847" y="191769"/>
                  </a:lnTo>
                  <a:lnTo>
                    <a:pt x="1569" y="194810"/>
                  </a:lnTo>
                  <a:lnTo>
                    <a:pt x="2202" y="197359"/>
                  </a:lnTo>
                  <a:lnTo>
                    <a:pt x="2488" y="197532"/>
                  </a:lnTo>
                  <a:lnTo>
                    <a:pt x="2336" y="196850"/>
                  </a:lnTo>
                  <a:lnTo>
                    <a:pt x="5168" y="193040"/>
                  </a:lnTo>
                  <a:lnTo>
                    <a:pt x="14363" y="190500"/>
                  </a:lnTo>
                  <a:lnTo>
                    <a:pt x="17749" y="190500"/>
                  </a:lnTo>
                  <a:lnTo>
                    <a:pt x="17848" y="189230"/>
                  </a:lnTo>
                  <a:lnTo>
                    <a:pt x="17776" y="188354"/>
                  </a:lnTo>
                  <a:lnTo>
                    <a:pt x="17092" y="185648"/>
                  </a:lnTo>
                  <a:lnTo>
                    <a:pt x="14719" y="183060"/>
                  </a:lnTo>
                  <a:lnTo>
                    <a:pt x="14389" y="182880"/>
                  </a:lnTo>
                  <a:lnTo>
                    <a:pt x="4546" y="182880"/>
                  </a:lnTo>
                  <a:lnTo>
                    <a:pt x="5004" y="182582"/>
                  </a:lnTo>
                  <a:close/>
                </a:path>
                <a:path w="2891790" h="309880">
                  <a:moveTo>
                    <a:pt x="797" y="191542"/>
                  </a:moveTo>
                  <a:lnTo>
                    <a:pt x="1398" y="196874"/>
                  </a:lnTo>
                  <a:lnTo>
                    <a:pt x="2202" y="197359"/>
                  </a:lnTo>
                  <a:lnTo>
                    <a:pt x="797" y="191542"/>
                  </a:lnTo>
                  <a:close/>
                </a:path>
                <a:path w="2891790" h="309880">
                  <a:moveTo>
                    <a:pt x="17081" y="195580"/>
                  </a:moveTo>
                  <a:lnTo>
                    <a:pt x="14046" y="195580"/>
                  </a:lnTo>
                  <a:lnTo>
                    <a:pt x="15196" y="197035"/>
                  </a:lnTo>
                  <a:lnTo>
                    <a:pt x="17081" y="195580"/>
                  </a:lnTo>
                  <a:close/>
                </a:path>
                <a:path w="2891790" h="309880">
                  <a:moveTo>
                    <a:pt x="825" y="191769"/>
                  </a:moveTo>
                  <a:lnTo>
                    <a:pt x="1358" y="196850"/>
                  </a:lnTo>
                  <a:lnTo>
                    <a:pt x="825" y="191769"/>
                  </a:lnTo>
                  <a:close/>
                </a:path>
                <a:path w="2891790" h="309880">
                  <a:moveTo>
                    <a:pt x="17610" y="192278"/>
                  </a:moveTo>
                  <a:lnTo>
                    <a:pt x="17412" y="194810"/>
                  </a:lnTo>
                  <a:lnTo>
                    <a:pt x="18331" y="192673"/>
                  </a:lnTo>
                  <a:lnTo>
                    <a:pt x="17610" y="192278"/>
                  </a:lnTo>
                  <a:close/>
                </a:path>
                <a:path w="2891790" h="309880">
                  <a:moveTo>
                    <a:pt x="18954" y="193015"/>
                  </a:moveTo>
                  <a:lnTo>
                    <a:pt x="19254" y="194199"/>
                  </a:lnTo>
                  <a:lnTo>
                    <a:pt x="18999" y="193040"/>
                  </a:lnTo>
                  <a:close/>
                </a:path>
                <a:path w="2891790" h="309880">
                  <a:moveTo>
                    <a:pt x="2393778" y="192440"/>
                  </a:moveTo>
                  <a:lnTo>
                    <a:pt x="2385428" y="193040"/>
                  </a:lnTo>
                  <a:lnTo>
                    <a:pt x="2385027" y="193526"/>
                  </a:lnTo>
                  <a:lnTo>
                    <a:pt x="2391105" y="193040"/>
                  </a:lnTo>
                  <a:lnTo>
                    <a:pt x="2393778" y="192440"/>
                  </a:lnTo>
                  <a:close/>
                </a:path>
                <a:path w="2891790" h="309880">
                  <a:moveTo>
                    <a:pt x="18669" y="191886"/>
                  </a:moveTo>
                  <a:lnTo>
                    <a:pt x="18331" y="192673"/>
                  </a:lnTo>
                  <a:lnTo>
                    <a:pt x="18954" y="193015"/>
                  </a:lnTo>
                  <a:lnTo>
                    <a:pt x="18669" y="191886"/>
                  </a:lnTo>
                  <a:close/>
                </a:path>
                <a:path w="2891790" h="309880">
                  <a:moveTo>
                    <a:pt x="17883" y="188778"/>
                  </a:moveTo>
                  <a:lnTo>
                    <a:pt x="17610" y="192278"/>
                  </a:lnTo>
                  <a:lnTo>
                    <a:pt x="18331" y="192673"/>
                  </a:lnTo>
                  <a:lnTo>
                    <a:pt x="18536" y="192195"/>
                  </a:lnTo>
                  <a:lnTo>
                    <a:pt x="18500" y="191217"/>
                  </a:lnTo>
                  <a:lnTo>
                    <a:pt x="17883" y="188778"/>
                  </a:lnTo>
                  <a:close/>
                </a:path>
                <a:path w="2891790" h="309880">
                  <a:moveTo>
                    <a:pt x="2396769" y="191769"/>
                  </a:moveTo>
                  <a:lnTo>
                    <a:pt x="2393778" y="192440"/>
                  </a:lnTo>
                  <a:lnTo>
                    <a:pt x="2397187" y="192195"/>
                  </a:lnTo>
                  <a:lnTo>
                    <a:pt x="2396769" y="191769"/>
                  </a:lnTo>
                  <a:close/>
                </a:path>
                <a:path w="2891790" h="309880">
                  <a:moveTo>
                    <a:pt x="17749" y="190500"/>
                  </a:moveTo>
                  <a:lnTo>
                    <a:pt x="14363" y="190500"/>
                  </a:lnTo>
                  <a:lnTo>
                    <a:pt x="17610" y="192278"/>
                  </a:lnTo>
                  <a:lnTo>
                    <a:pt x="17749" y="190500"/>
                  </a:lnTo>
                  <a:close/>
                </a:path>
                <a:path w="2891790" h="309880">
                  <a:moveTo>
                    <a:pt x="17905" y="188492"/>
                  </a:moveTo>
                  <a:lnTo>
                    <a:pt x="17997" y="189230"/>
                  </a:lnTo>
                  <a:lnTo>
                    <a:pt x="18669" y="191886"/>
                  </a:lnTo>
                  <a:lnTo>
                    <a:pt x="18582" y="191217"/>
                  </a:lnTo>
                  <a:lnTo>
                    <a:pt x="17905" y="188492"/>
                  </a:lnTo>
                  <a:close/>
                </a:path>
                <a:path w="2891790" h="309880">
                  <a:moveTo>
                    <a:pt x="757" y="191366"/>
                  </a:moveTo>
                  <a:lnTo>
                    <a:pt x="762" y="191769"/>
                  </a:lnTo>
                  <a:lnTo>
                    <a:pt x="757" y="191366"/>
                  </a:lnTo>
                  <a:close/>
                </a:path>
                <a:path w="2891790" h="309880">
                  <a:moveTo>
                    <a:pt x="2633539" y="170276"/>
                  </a:moveTo>
                  <a:lnTo>
                    <a:pt x="2621838" y="171450"/>
                  </a:lnTo>
                  <a:lnTo>
                    <a:pt x="2617622" y="176530"/>
                  </a:lnTo>
                  <a:lnTo>
                    <a:pt x="2618790" y="187960"/>
                  </a:lnTo>
                  <a:lnTo>
                    <a:pt x="2623947" y="191769"/>
                  </a:lnTo>
                  <a:lnTo>
                    <a:pt x="2626408" y="191769"/>
                  </a:lnTo>
                  <a:lnTo>
                    <a:pt x="2635516" y="190500"/>
                  </a:lnTo>
                  <a:lnTo>
                    <a:pt x="2639733" y="185419"/>
                  </a:lnTo>
                  <a:lnTo>
                    <a:pt x="2638577" y="173990"/>
                  </a:lnTo>
                  <a:lnTo>
                    <a:pt x="2633539" y="170276"/>
                  </a:lnTo>
                  <a:close/>
                </a:path>
                <a:path w="2891790" h="309880">
                  <a:moveTo>
                    <a:pt x="2699728" y="164228"/>
                  </a:moveTo>
                  <a:lnTo>
                    <a:pt x="2666722" y="166369"/>
                  </a:lnTo>
                  <a:lnTo>
                    <a:pt x="2647165" y="168910"/>
                  </a:lnTo>
                  <a:lnTo>
                    <a:pt x="2633539" y="170276"/>
                  </a:lnTo>
                  <a:lnTo>
                    <a:pt x="2638577" y="173990"/>
                  </a:lnTo>
                  <a:lnTo>
                    <a:pt x="2639733" y="185419"/>
                  </a:lnTo>
                  <a:lnTo>
                    <a:pt x="2635516" y="190500"/>
                  </a:lnTo>
                  <a:lnTo>
                    <a:pt x="2626408" y="191769"/>
                  </a:lnTo>
                  <a:lnTo>
                    <a:pt x="2629738" y="191769"/>
                  </a:lnTo>
                  <a:lnTo>
                    <a:pt x="2649145" y="189230"/>
                  </a:lnTo>
                  <a:lnTo>
                    <a:pt x="2668563" y="187960"/>
                  </a:lnTo>
                  <a:lnTo>
                    <a:pt x="2687993" y="185419"/>
                  </a:lnTo>
                  <a:lnTo>
                    <a:pt x="2700790" y="184584"/>
                  </a:lnTo>
                  <a:lnTo>
                    <a:pt x="2696578" y="180340"/>
                  </a:lnTo>
                  <a:lnTo>
                    <a:pt x="2695810" y="170180"/>
                  </a:lnTo>
                  <a:lnTo>
                    <a:pt x="2695756" y="168861"/>
                  </a:lnTo>
                  <a:lnTo>
                    <a:pt x="2699728" y="164228"/>
                  </a:lnTo>
                  <a:close/>
                </a:path>
                <a:path w="2891790" h="309880">
                  <a:moveTo>
                    <a:pt x="1111" y="185975"/>
                  </a:moveTo>
                  <a:lnTo>
                    <a:pt x="0" y="187960"/>
                  </a:lnTo>
                  <a:lnTo>
                    <a:pt x="757" y="191366"/>
                  </a:lnTo>
                  <a:lnTo>
                    <a:pt x="666" y="190500"/>
                  </a:lnTo>
                  <a:lnTo>
                    <a:pt x="761" y="187960"/>
                  </a:lnTo>
                  <a:lnTo>
                    <a:pt x="1015" y="186690"/>
                  </a:lnTo>
                  <a:lnTo>
                    <a:pt x="1111" y="185975"/>
                  </a:lnTo>
                  <a:close/>
                </a:path>
                <a:path w="2891790" h="309880">
                  <a:moveTo>
                    <a:pt x="1058" y="186629"/>
                  </a:moveTo>
                  <a:lnTo>
                    <a:pt x="507" y="189230"/>
                  </a:lnTo>
                  <a:lnTo>
                    <a:pt x="756" y="191217"/>
                  </a:lnTo>
                  <a:lnTo>
                    <a:pt x="850" y="189230"/>
                  </a:lnTo>
                  <a:lnTo>
                    <a:pt x="1058" y="186629"/>
                  </a:lnTo>
                  <a:close/>
                </a:path>
                <a:path w="2891790" h="309880">
                  <a:moveTo>
                    <a:pt x="2445399" y="188354"/>
                  </a:moveTo>
                  <a:lnTo>
                    <a:pt x="2442171" y="188593"/>
                  </a:lnTo>
                  <a:lnTo>
                    <a:pt x="2439314" y="189230"/>
                  </a:lnTo>
                  <a:lnTo>
                    <a:pt x="2446248" y="189230"/>
                  </a:lnTo>
                  <a:lnTo>
                    <a:pt x="2445399" y="188354"/>
                  </a:lnTo>
                  <a:close/>
                </a:path>
                <a:path w="2891790" h="309880">
                  <a:moveTo>
                    <a:pt x="17092" y="185648"/>
                  </a:moveTo>
                  <a:lnTo>
                    <a:pt x="17883" y="188778"/>
                  </a:lnTo>
                  <a:lnTo>
                    <a:pt x="17773" y="187960"/>
                  </a:lnTo>
                  <a:lnTo>
                    <a:pt x="17239" y="185809"/>
                  </a:lnTo>
                  <a:lnTo>
                    <a:pt x="17092" y="185648"/>
                  </a:lnTo>
                  <a:close/>
                </a:path>
                <a:path w="2891790" h="309880">
                  <a:moveTo>
                    <a:pt x="2445016" y="187960"/>
                  </a:moveTo>
                  <a:lnTo>
                    <a:pt x="2442171" y="188593"/>
                  </a:lnTo>
                  <a:lnTo>
                    <a:pt x="2445399" y="188354"/>
                  </a:lnTo>
                  <a:lnTo>
                    <a:pt x="2445016" y="187960"/>
                  </a:lnTo>
                  <a:close/>
                </a:path>
                <a:path w="2891790" h="309880">
                  <a:moveTo>
                    <a:pt x="17239" y="185809"/>
                  </a:moveTo>
                  <a:lnTo>
                    <a:pt x="17905" y="188492"/>
                  </a:lnTo>
                  <a:lnTo>
                    <a:pt x="17947" y="187960"/>
                  </a:lnTo>
                  <a:lnTo>
                    <a:pt x="17990" y="186629"/>
                  </a:lnTo>
                  <a:lnTo>
                    <a:pt x="17239" y="185809"/>
                  </a:lnTo>
                  <a:close/>
                </a:path>
                <a:path w="2891790" h="309880">
                  <a:moveTo>
                    <a:pt x="3387" y="183334"/>
                  </a:moveTo>
                  <a:lnTo>
                    <a:pt x="1715" y="184897"/>
                  </a:lnTo>
                  <a:lnTo>
                    <a:pt x="1151" y="185903"/>
                  </a:lnTo>
                  <a:lnTo>
                    <a:pt x="1058" y="186629"/>
                  </a:lnTo>
                  <a:lnTo>
                    <a:pt x="3387" y="183334"/>
                  </a:lnTo>
                  <a:close/>
                </a:path>
                <a:path w="2891790" h="309880">
                  <a:moveTo>
                    <a:pt x="1715" y="184897"/>
                  </a:moveTo>
                  <a:lnTo>
                    <a:pt x="1155" y="185419"/>
                  </a:lnTo>
                  <a:lnTo>
                    <a:pt x="1111" y="185975"/>
                  </a:lnTo>
                  <a:lnTo>
                    <a:pt x="1715" y="184897"/>
                  </a:lnTo>
                  <a:close/>
                </a:path>
                <a:path w="2891790" h="309880">
                  <a:moveTo>
                    <a:pt x="2484422" y="185094"/>
                  </a:moveTo>
                  <a:lnTo>
                    <a:pt x="2479344" y="185419"/>
                  </a:lnTo>
                  <a:lnTo>
                    <a:pt x="2478944" y="185903"/>
                  </a:lnTo>
                  <a:lnTo>
                    <a:pt x="2484422" y="185094"/>
                  </a:lnTo>
                  <a:close/>
                </a:path>
                <a:path w="2891790" h="309880">
                  <a:moveTo>
                    <a:pt x="13233" y="181610"/>
                  </a:moveTo>
                  <a:lnTo>
                    <a:pt x="12065" y="181610"/>
                  </a:lnTo>
                  <a:lnTo>
                    <a:pt x="14334" y="182850"/>
                  </a:lnTo>
                  <a:lnTo>
                    <a:pt x="14554" y="182880"/>
                  </a:lnTo>
                  <a:lnTo>
                    <a:pt x="14719" y="183060"/>
                  </a:lnTo>
                  <a:lnTo>
                    <a:pt x="16713" y="184151"/>
                  </a:lnTo>
                  <a:lnTo>
                    <a:pt x="17092" y="185648"/>
                  </a:lnTo>
                  <a:lnTo>
                    <a:pt x="17239" y="185809"/>
                  </a:lnTo>
                  <a:lnTo>
                    <a:pt x="16827" y="184150"/>
                  </a:lnTo>
                  <a:lnTo>
                    <a:pt x="13233" y="181610"/>
                  </a:lnTo>
                  <a:close/>
                </a:path>
                <a:path w="2891790" h="309880">
                  <a:moveTo>
                    <a:pt x="14719" y="183060"/>
                  </a:moveTo>
                  <a:lnTo>
                    <a:pt x="17092" y="185648"/>
                  </a:lnTo>
                  <a:lnTo>
                    <a:pt x="16713" y="184150"/>
                  </a:lnTo>
                  <a:lnTo>
                    <a:pt x="14719" y="183060"/>
                  </a:lnTo>
                  <a:close/>
                </a:path>
                <a:path w="2891790" h="309880">
                  <a:moveTo>
                    <a:pt x="2707418" y="184151"/>
                  </a:moveTo>
                  <a:lnTo>
                    <a:pt x="2700790" y="184584"/>
                  </a:lnTo>
                  <a:lnTo>
                    <a:pt x="2701620" y="185419"/>
                  </a:lnTo>
                  <a:lnTo>
                    <a:pt x="2707418" y="184151"/>
                  </a:lnTo>
                  <a:close/>
                </a:path>
                <a:path w="2891790" h="309880">
                  <a:moveTo>
                    <a:pt x="2490812" y="184150"/>
                  </a:moveTo>
                  <a:lnTo>
                    <a:pt x="2484422" y="185094"/>
                  </a:lnTo>
                  <a:lnTo>
                    <a:pt x="2491314" y="184652"/>
                  </a:lnTo>
                  <a:lnTo>
                    <a:pt x="2490812" y="184150"/>
                  </a:lnTo>
                  <a:close/>
                </a:path>
                <a:path w="2891790" h="309880">
                  <a:moveTo>
                    <a:pt x="4051" y="182713"/>
                  </a:moveTo>
                  <a:lnTo>
                    <a:pt x="2844" y="182880"/>
                  </a:lnTo>
                  <a:lnTo>
                    <a:pt x="1715" y="184897"/>
                  </a:lnTo>
                  <a:lnTo>
                    <a:pt x="3387" y="183334"/>
                  </a:lnTo>
                  <a:lnTo>
                    <a:pt x="3708" y="182880"/>
                  </a:lnTo>
                  <a:lnTo>
                    <a:pt x="3873" y="182880"/>
                  </a:lnTo>
                  <a:lnTo>
                    <a:pt x="4051" y="182713"/>
                  </a:lnTo>
                  <a:close/>
                </a:path>
                <a:path w="2891790" h="309880">
                  <a:moveTo>
                    <a:pt x="2712137" y="163021"/>
                  </a:moveTo>
                  <a:lnTo>
                    <a:pt x="2708435" y="163269"/>
                  </a:lnTo>
                  <a:lnTo>
                    <a:pt x="2705874" y="163830"/>
                  </a:lnTo>
                  <a:lnTo>
                    <a:pt x="2699728" y="164228"/>
                  </a:lnTo>
                  <a:lnTo>
                    <a:pt x="2695756" y="168861"/>
                  </a:lnTo>
                  <a:lnTo>
                    <a:pt x="2695810" y="170180"/>
                  </a:lnTo>
                  <a:lnTo>
                    <a:pt x="2696578" y="180340"/>
                  </a:lnTo>
                  <a:lnTo>
                    <a:pt x="2700790" y="184584"/>
                  </a:lnTo>
                  <a:lnTo>
                    <a:pt x="2707436" y="184150"/>
                  </a:lnTo>
                  <a:lnTo>
                    <a:pt x="2713768" y="183534"/>
                  </a:lnTo>
                  <a:lnTo>
                    <a:pt x="2717596" y="179069"/>
                  </a:lnTo>
                  <a:lnTo>
                    <a:pt x="2716825" y="168861"/>
                  </a:lnTo>
                  <a:lnTo>
                    <a:pt x="2716705" y="167612"/>
                  </a:lnTo>
                  <a:lnTo>
                    <a:pt x="2712137" y="163021"/>
                  </a:lnTo>
                  <a:close/>
                </a:path>
                <a:path w="2891790" h="309880">
                  <a:moveTo>
                    <a:pt x="2713768" y="183534"/>
                  </a:moveTo>
                  <a:lnTo>
                    <a:pt x="2707436" y="184150"/>
                  </a:lnTo>
                  <a:lnTo>
                    <a:pt x="2713240" y="184150"/>
                  </a:lnTo>
                  <a:lnTo>
                    <a:pt x="2713768" y="183534"/>
                  </a:lnTo>
                  <a:close/>
                </a:path>
                <a:path w="2891790" h="309880">
                  <a:moveTo>
                    <a:pt x="2751968" y="160845"/>
                  </a:moveTo>
                  <a:lnTo>
                    <a:pt x="2745336" y="161290"/>
                  </a:lnTo>
                  <a:lnTo>
                    <a:pt x="2732182" y="161290"/>
                  </a:lnTo>
                  <a:lnTo>
                    <a:pt x="2719028" y="162560"/>
                  </a:lnTo>
                  <a:lnTo>
                    <a:pt x="2712137" y="163021"/>
                  </a:lnTo>
                  <a:lnTo>
                    <a:pt x="2716705" y="167612"/>
                  </a:lnTo>
                  <a:lnTo>
                    <a:pt x="2716825" y="168861"/>
                  </a:lnTo>
                  <a:lnTo>
                    <a:pt x="2717596" y="179069"/>
                  </a:lnTo>
                  <a:lnTo>
                    <a:pt x="2713768" y="183534"/>
                  </a:lnTo>
                  <a:lnTo>
                    <a:pt x="2720509" y="182880"/>
                  </a:lnTo>
                  <a:lnTo>
                    <a:pt x="2733587" y="182880"/>
                  </a:lnTo>
                  <a:lnTo>
                    <a:pt x="2746668" y="181610"/>
                  </a:lnTo>
                  <a:lnTo>
                    <a:pt x="2753494" y="181150"/>
                  </a:lnTo>
                  <a:lnTo>
                    <a:pt x="2748965" y="176530"/>
                  </a:lnTo>
                  <a:lnTo>
                    <a:pt x="2748267" y="165100"/>
                  </a:lnTo>
                  <a:lnTo>
                    <a:pt x="2751968" y="160845"/>
                  </a:lnTo>
                  <a:close/>
                </a:path>
                <a:path w="2891790" h="309880">
                  <a:moveTo>
                    <a:pt x="3873" y="182880"/>
                  </a:moveTo>
                  <a:lnTo>
                    <a:pt x="3708" y="182880"/>
                  </a:lnTo>
                  <a:lnTo>
                    <a:pt x="3387" y="183334"/>
                  </a:lnTo>
                  <a:lnTo>
                    <a:pt x="3873" y="182880"/>
                  </a:lnTo>
                  <a:close/>
                </a:path>
                <a:path w="2891790" h="309880">
                  <a:moveTo>
                    <a:pt x="14334" y="182850"/>
                  </a:moveTo>
                  <a:lnTo>
                    <a:pt x="14719" y="183060"/>
                  </a:lnTo>
                  <a:lnTo>
                    <a:pt x="14554" y="182880"/>
                  </a:lnTo>
                  <a:lnTo>
                    <a:pt x="14334" y="182850"/>
                  </a:lnTo>
                  <a:close/>
                </a:path>
                <a:path w="2891790" h="309880">
                  <a:moveTo>
                    <a:pt x="8667" y="182077"/>
                  </a:moveTo>
                  <a:lnTo>
                    <a:pt x="5004" y="182582"/>
                  </a:lnTo>
                  <a:lnTo>
                    <a:pt x="4546" y="182880"/>
                  </a:lnTo>
                  <a:lnTo>
                    <a:pt x="14389" y="182880"/>
                  </a:lnTo>
                  <a:lnTo>
                    <a:pt x="8667" y="182077"/>
                  </a:lnTo>
                  <a:close/>
                </a:path>
                <a:path w="2891790" h="309880">
                  <a:moveTo>
                    <a:pt x="12065" y="181610"/>
                  </a:moveTo>
                  <a:lnTo>
                    <a:pt x="8667" y="182077"/>
                  </a:lnTo>
                  <a:lnTo>
                    <a:pt x="14334" y="182850"/>
                  </a:lnTo>
                  <a:lnTo>
                    <a:pt x="12065" y="181610"/>
                  </a:lnTo>
                  <a:close/>
                </a:path>
                <a:path w="2891790" h="309880">
                  <a:moveTo>
                    <a:pt x="5232" y="181610"/>
                  </a:moveTo>
                  <a:lnTo>
                    <a:pt x="4051" y="182713"/>
                  </a:lnTo>
                  <a:lnTo>
                    <a:pt x="5004" y="182582"/>
                  </a:lnTo>
                  <a:lnTo>
                    <a:pt x="6282" y="181753"/>
                  </a:lnTo>
                  <a:lnTo>
                    <a:pt x="5232" y="181610"/>
                  </a:lnTo>
                  <a:close/>
                </a:path>
                <a:path w="2891790" h="309880">
                  <a:moveTo>
                    <a:pt x="6282" y="181753"/>
                  </a:moveTo>
                  <a:lnTo>
                    <a:pt x="5004" y="182582"/>
                  </a:lnTo>
                  <a:lnTo>
                    <a:pt x="8667" y="182077"/>
                  </a:lnTo>
                  <a:lnTo>
                    <a:pt x="6282" y="181753"/>
                  </a:lnTo>
                  <a:close/>
                </a:path>
                <a:path w="2891790" h="309880">
                  <a:moveTo>
                    <a:pt x="12065" y="181610"/>
                  </a:moveTo>
                  <a:lnTo>
                    <a:pt x="6502" y="181610"/>
                  </a:lnTo>
                  <a:lnTo>
                    <a:pt x="6282" y="181753"/>
                  </a:lnTo>
                  <a:lnTo>
                    <a:pt x="8667" y="182077"/>
                  </a:lnTo>
                  <a:lnTo>
                    <a:pt x="12065" y="181610"/>
                  </a:lnTo>
                  <a:close/>
                </a:path>
                <a:path w="2891790" h="309880">
                  <a:moveTo>
                    <a:pt x="2757172" y="180903"/>
                  </a:moveTo>
                  <a:lnTo>
                    <a:pt x="2753494" y="181150"/>
                  </a:lnTo>
                  <a:lnTo>
                    <a:pt x="2753944" y="181610"/>
                  </a:lnTo>
                  <a:lnTo>
                    <a:pt x="2757172" y="180903"/>
                  </a:lnTo>
                  <a:close/>
                </a:path>
                <a:path w="2891790" h="309880">
                  <a:moveTo>
                    <a:pt x="2764294" y="160019"/>
                  </a:moveTo>
                  <a:lnTo>
                    <a:pt x="2751968" y="160845"/>
                  </a:lnTo>
                  <a:lnTo>
                    <a:pt x="2748267" y="165100"/>
                  </a:lnTo>
                  <a:lnTo>
                    <a:pt x="2748965" y="176530"/>
                  </a:lnTo>
                  <a:lnTo>
                    <a:pt x="2753494" y="181150"/>
                  </a:lnTo>
                  <a:lnTo>
                    <a:pt x="2757172" y="180903"/>
                  </a:lnTo>
                  <a:lnTo>
                    <a:pt x="2759748" y="180340"/>
                  </a:lnTo>
                  <a:lnTo>
                    <a:pt x="2765552" y="180340"/>
                  </a:lnTo>
                  <a:lnTo>
                    <a:pt x="2769971" y="175260"/>
                  </a:lnTo>
                  <a:lnTo>
                    <a:pt x="2769273" y="163830"/>
                  </a:lnTo>
                  <a:lnTo>
                    <a:pt x="2764294" y="160019"/>
                  </a:lnTo>
                  <a:close/>
                </a:path>
                <a:path w="2891790" h="309880">
                  <a:moveTo>
                    <a:pt x="2765552" y="180340"/>
                  </a:moveTo>
                  <a:lnTo>
                    <a:pt x="2759748" y="180340"/>
                  </a:lnTo>
                  <a:lnTo>
                    <a:pt x="2757172" y="180903"/>
                  </a:lnTo>
                  <a:lnTo>
                    <a:pt x="2765552" y="180340"/>
                  </a:lnTo>
                  <a:close/>
                </a:path>
                <a:path w="2891790" h="309880">
                  <a:moveTo>
                    <a:pt x="2541488" y="179792"/>
                  </a:moveTo>
                  <a:lnTo>
                    <a:pt x="2535605" y="180340"/>
                  </a:lnTo>
                  <a:lnTo>
                    <a:pt x="2535417" y="180569"/>
                  </a:lnTo>
                  <a:lnTo>
                    <a:pt x="2541488" y="179792"/>
                  </a:lnTo>
                  <a:close/>
                </a:path>
                <a:path w="2891790" h="309880">
                  <a:moveTo>
                    <a:pt x="2794628" y="160019"/>
                  </a:moveTo>
                  <a:lnTo>
                    <a:pt x="2764294" y="160019"/>
                  </a:lnTo>
                  <a:lnTo>
                    <a:pt x="2769273" y="163830"/>
                  </a:lnTo>
                  <a:lnTo>
                    <a:pt x="2769971" y="175260"/>
                  </a:lnTo>
                  <a:lnTo>
                    <a:pt x="2765552" y="180340"/>
                  </a:lnTo>
                  <a:lnTo>
                    <a:pt x="2771053" y="180340"/>
                  </a:lnTo>
                  <a:lnTo>
                    <a:pt x="2798406" y="177261"/>
                  </a:lnTo>
                  <a:lnTo>
                    <a:pt x="2793923" y="173990"/>
                  </a:lnTo>
                  <a:lnTo>
                    <a:pt x="2792564" y="162560"/>
                  </a:lnTo>
                  <a:lnTo>
                    <a:pt x="2794628" y="160019"/>
                  </a:lnTo>
                  <a:close/>
                </a:path>
                <a:path w="2891790" h="309880">
                  <a:moveTo>
                    <a:pt x="2547137" y="179069"/>
                  </a:moveTo>
                  <a:lnTo>
                    <a:pt x="2541488" y="179792"/>
                  </a:lnTo>
                  <a:lnTo>
                    <a:pt x="2547374" y="179245"/>
                  </a:lnTo>
                  <a:lnTo>
                    <a:pt x="2547137" y="179069"/>
                  </a:lnTo>
                  <a:close/>
                </a:path>
                <a:path w="2891790" h="309880">
                  <a:moveTo>
                    <a:pt x="2804909" y="176530"/>
                  </a:moveTo>
                  <a:lnTo>
                    <a:pt x="2798406" y="177261"/>
                  </a:lnTo>
                  <a:lnTo>
                    <a:pt x="2799143" y="177800"/>
                  </a:lnTo>
                  <a:lnTo>
                    <a:pt x="2804909" y="176530"/>
                  </a:lnTo>
                  <a:close/>
                </a:path>
                <a:path w="2891790" h="309880">
                  <a:moveTo>
                    <a:pt x="2808581" y="155262"/>
                  </a:moveTo>
                  <a:lnTo>
                    <a:pt x="2796692" y="157480"/>
                  </a:lnTo>
                  <a:lnTo>
                    <a:pt x="2792564" y="162560"/>
                  </a:lnTo>
                  <a:lnTo>
                    <a:pt x="2793923" y="173990"/>
                  </a:lnTo>
                  <a:lnTo>
                    <a:pt x="2798406" y="177261"/>
                  </a:lnTo>
                  <a:lnTo>
                    <a:pt x="2804909" y="176530"/>
                  </a:lnTo>
                  <a:lnTo>
                    <a:pt x="2811087" y="176024"/>
                  </a:lnTo>
                  <a:lnTo>
                    <a:pt x="2814815" y="171450"/>
                  </a:lnTo>
                  <a:lnTo>
                    <a:pt x="2813469" y="160019"/>
                  </a:lnTo>
                  <a:lnTo>
                    <a:pt x="2808581" y="155262"/>
                  </a:lnTo>
                  <a:close/>
                </a:path>
                <a:path w="2891790" h="309880">
                  <a:moveTo>
                    <a:pt x="2811087" y="176024"/>
                  </a:moveTo>
                  <a:lnTo>
                    <a:pt x="2804909" y="176530"/>
                  </a:lnTo>
                  <a:lnTo>
                    <a:pt x="2810675" y="176530"/>
                  </a:lnTo>
                  <a:lnTo>
                    <a:pt x="2811087" y="176024"/>
                  </a:lnTo>
                  <a:close/>
                </a:path>
                <a:path w="2891790" h="309880">
                  <a:moveTo>
                    <a:pt x="2839681" y="152400"/>
                  </a:moveTo>
                  <a:lnTo>
                    <a:pt x="2833890" y="152400"/>
                  </a:lnTo>
                  <a:lnTo>
                    <a:pt x="2818158" y="154940"/>
                  </a:lnTo>
                  <a:lnTo>
                    <a:pt x="2810312" y="154940"/>
                  </a:lnTo>
                  <a:lnTo>
                    <a:pt x="2808581" y="155262"/>
                  </a:lnTo>
                  <a:lnTo>
                    <a:pt x="2813469" y="160019"/>
                  </a:lnTo>
                  <a:lnTo>
                    <a:pt x="2814815" y="171450"/>
                  </a:lnTo>
                  <a:lnTo>
                    <a:pt x="2811087" y="176024"/>
                  </a:lnTo>
                  <a:lnTo>
                    <a:pt x="2820417" y="175260"/>
                  </a:lnTo>
                  <a:lnTo>
                    <a:pt x="2828174" y="173990"/>
                  </a:lnTo>
                  <a:lnTo>
                    <a:pt x="2829923" y="173826"/>
                  </a:lnTo>
                  <a:lnTo>
                    <a:pt x="2825000" y="170180"/>
                  </a:lnTo>
                  <a:lnTo>
                    <a:pt x="2823847" y="158772"/>
                  </a:lnTo>
                  <a:lnTo>
                    <a:pt x="2828061" y="153669"/>
                  </a:lnTo>
                  <a:lnTo>
                    <a:pt x="2839854" y="152527"/>
                  </a:lnTo>
                  <a:lnTo>
                    <a:pt x="2839681" y="152400"/>
                  </a:lnTo>
                  <a:close/>
                </a:path>
                <a:path w="2891790" h="309880">
                  <a:moveTo>
                    <a:pt x="2860947" y="148688"/>
                  </a:moveTo>
                  <a:lnTo>
                    <a:pt x="2848457" y="151130"/>
                  </a:lnTo>
                  <a:lnTo>
                    <a:pt x="2841167" y="152400"/>
                  </a:lnTo>
                  <a:lnTo>
                    <a:pt x="2839854" y="152527"/>
                  </a:lnTo>
                  <a:lnTo>
                    <a:pt x="2844838" y="156210"/>
                  </a:lnTo>
                  <a:lnTo>
                    <a:pt x="2845968" y="167640"/>
                  </a:lnTo>
                  <a:lnTo>
                    <a:pt x="2841726" y="172719"/>
                  </a:lnTo>
                  <a:lnTo>
                    <a:pt x="2829923" y="173826"/>
                  </a:lnTo>
                  <a:lnTo>
                    <a:pt x="2830144" y="173990"/>
                  </a:lnTo>
                  <a:lnTo>
                    <a:pt x="2835935" y="173990"/>
                  </a:lnTo>
                  <a:lnTo>
                    <a:pt x="2851708" y="171450"/>
                  </a:lnTo>
                  <a:lnTo>
                    <a:pt x="2853532" y="171279"/>
                  </a:lnTo>
                  <a:lnTo>
                    <a:pt x="2848279" y="167640"/>
                  </a:lnTo>
                  <a:lnTo>
                    <a:pt x="2846146" y="156210"/>
                  </a:lnTo>
                  <a:lnTo>
                    <a:pt x="2849943" y="151130"/>
                  </a:lnTo>
                  <a:lnTo>
                    <a:pt x="2858135" y="149860"/>
                  </a:lnTo>
                  <a:lnTo>
                    <a:pt x="2860947" y="148688"/>
                  </a:lnTo>
                  <a:close/>
                </a:path>
                <a:path w="2891790" h="309880">
                  <a:moveTo>
                    <a:pt x="2839854" y="152527"/>
                  </a:moveTo>
                  <a:lnTo>
                    <a:pt x="2828061" y="153669"/>
                  </a:lnTo>
                  <a:lnTo>
                    <a:pt x="2823869" y="158720"/>
                  </a:lnTo>
                  <a:lnTo>
                    <a:pt x="2825000" y="170180"/>
                  </a:lnTo>
                  <a:lnTo>
                    <a:pt x="2829923" y="173826"/>
                  </a:lnTo>
                  <a:lnTo>
                    <a:pt x="2841726" y="172719"/>
                  </a:lnTo>
                  <a:lnTo>
                    <a:pt x="2845968" y="167640"/>
                  </a:lnTo>
                  <a:lnTo>
                    <a:pt x="2844838" y="156210"/>
                  </a:lnTo>
                  <a:lnTo>
                    <a:pt x="2839854" y="152527"/>
                  </a:lnTo>
                  <a:close/>
                </a:path>
                <a:path w="2891790" h="309880">
                  <a:moveTo>
                    <a:pt x="2855300" y="171113"/>
                  </a:moveTo>
                  <a:lnTo>
                    <a:pt x="2853532" y="171279"/>
                  </a:lnTo>
                  <a:lnTo>
                    <a:pt x="2853778" y="171450"/>
                  </a:lnTo>
                  <a:lnTo>
                    <a:pt x="2855300" y="171113"/>
                  </a:lnTo>
                  <a:close/>
                </a:path>
                <a:path w="2891790" h="309880">
                  <a:moveTo>
                    <a:pt x="2861449" y="148590"/>
                  </a:moveTo>
                  <a:lnTo>
                    <a:pt x="2860947" y="148688"/>
                  </a:lnTo>
                  <a:lnTo>
                    <a:pt x="2858135" y="149860"/>
                  </a:lnTo>
                  <a:lnTo>
                    <a:pt x="2849943" y="151130"/>
                  </a:lnTo>
                  <a:lnTo>
                    <a:pt x="2846146" y="156210"/>
                  </a:lnTo>
                  <a:lnTo>
                    <a:pt x="2848279" y="167640"/>
                  </a:lnTo>
                  <a:lnTo>
                    <a:pt x="2853532" y="171279"/>
                  </a:lnTo>
                  <a:lnTo>
                    <a:pt x="2855300" y="171113"/>
                  </a:lnTo>
                  <a:lnTo>
                    <a:pt x="2859519" y="170180"/>
                  </a:lnTo>
                  <a:lnTo>
                    <a:pt x="2866048" y="168861"/>
                  </a:lnTo>
                  <a:lnTo>
                    <a:pt x="2866795" y="167612"/>
                  </a:lnTo>
                  <a:lnTo>
                    <a:pt x="2858372" y="158772"/>
                  </a:lnTo>
                  <a:lnTo>
                    <a:pt x="2858147" y="152400"/>
                  </a:lnTo>
                  <a:lnTo>
                    <a:pt x="2861706" y="148768"/>
                  </a:lnTo>
                  <a:lnTo>
                    <a:pt x="2861449" y="148590"/>
                  </a:lnTo>
                  <a:close/>
                </a:path>
                <a:path w="2891790" h="309880">
                  <a:moveTo>
                    <a:pt x="2866048" y="168861"/>
                  </a:moveTo>
                  <a:lnTo>
                    <a:pt x="2859519" y="170180"/>
                  </a:lnTo>
                  <a:lnTo>
                    <a:pt x="2855300" y="171113"/>
                  </a:lnTo>
                  <a:lnTo>
                    <a:pt x="2865259" y="170180"/>
                  </a:lnTo>
                  <a:lnTo>
                    <a:pt x="2866048" y="168861"/>
                  </a:lnTo>
                  <a:close/>
                </a:path>
                <a:path w="2891790" h="309880">
                  <a:moveTo>
                    <a:pt x="2867734" y="156658"/>
                  </a:moveTo>
                  <a:lnTo>
                    <a:pt x="2869057" y="163830"/>
                  </a:lnTo>
                  <a:lnTo>
                    <a:pt x="2866795" y="167612"/>
                  </a:lnTo>
                  <a:lnTo>
                    <a:pt x="2866048" y="168861"/>
                  </a:lnTo>
                  <a:lnTo>
                    <a:pt x="2872740" y="167640"/>
                  </a:lnTo>
                  <a:lnTo>
                    <a:pt x="2875844" y="164530"/>
                  </a:lnTo>
                  <a:lnTo>
                    <a:pt x="2877426" y="162560"/>
                  </a:lnTo>
                  <a:lnTo>
                    <a:pt x="2878717" y="161653"/>
                  </a:lnTo>
                  <a:lnTo>
                    <a:pt x="2881604" y="158750"/>
                  </a:lnTo>
                  <a:lnTo>
                    <a:pt x="2877146" y="158750"/>
                  </a:lnTo>
                  <a:lnTo>
                    <a:pt x="2867734" y="156658"/>
                  </a:lnTo>
                  <a:close/>
                </a:path>
                <a:path w="2891790" h="309880">
                  <a:moveTo>
                    <a:pt x="2866795" y="167612"/>
                  </a:moveTo>
                  <a:close/>
                </a:path>
                <a:path w="2891790" h="309880">
                  <a:moveTo>
                    <a:pt x="2875844" y="164530"/>
                  </a:moveTo>
                  <a:lnTo>
                    <a:pt x="2872740" y="167640"/>
                  </a:lnTo>
                  <a:lnTo>
                    <a:pt x="2873349" y="167640"/>
                  </a:lnTo>
                  <a:lnTo>
                    <a:pt x="2875844" y="164530"/>
                  </a:lnTo>
                  <a:close/>
                </a:path>
                <a:path w="2891790" h="309880">
                  <a:moveTo>
                    <a:pt x="2861706" y="148768"/>
                  </a:moveTo>
                  <a:lnTo>
                    <a:pt x="2858147" y="152400"/>
                  </a:lnTo>
                  <a:lnTo>
                    <a:pt x="2858372" y="158772"/>
                  </a:lnTo>
                  <a:lnTo>
                    <a:pt x="2866795" y="167612"/>
                  </a:lnTo>
                  <a:lnTo>
                    <a:pt x="2869057" y="163830"/>
                  </a:lnTo>
                  <a:lnTo>
                    <a:pt x="2867734" y="156658"/>
                  </a:lnTo>
                  <a:lnTo>
                    <a:pt x="2865716" y="156210"/>
                  </a:lnTo>
                  <a:lnTo>
                    <a:pt x="2862338" y="149860"/>
                  </a:lnTo>
                  <a:lnTo>
                    <a:pt x="2862490" y="149311"/>
                  </a:lnTo>
                  <a:lnTo>
                    <a:pt x="2861706" y="148768"/>
                  </a:lnTo>
                  <a:close/>
                </a:path>
                <a:path w="2891790" h="309880">
                  <a:moveTo>
                    <a:pt x="2878717" y="161653"/>
                  </a:moveTo>
                  <a:lnTo>
                    <a:pt x="2877426" y="162560"/>
                  </a:lnTo>
                  <a:lnTo>
                    <a:pt x="2875844" y="164530"/>
                  </a:lnTo>
                  <a:lnTo>
                    <a:pt x="2878717" y="161653"/>
                  </a:lnTo>
                  <a:close/>
                </a:path>
                <a:path w="2891790" h="309880">
                  <a:moveTo>
                    <a:pt x="2708435" y="163269"/>
                  </a:moveTo>
                  <a:lnTo>
                    <a:pt x="2700070" y="163830"/>
                  </a:lnTo>
                  <a:lnTo>
                    <a:pt x="2699728" y="164228"/>
                  </a:lnTo>
                  <a:lnTo>
                    <a:pt x="2705874" y="163830"/>
                  </a:lnTo>
                  <a:lnTo>
                    <a:pt x="2708435" y="163269"/>
                  </a:lnTo>
                  <a:close/>
                </a:path>
                <a:path w="2891790" h="309880">
                  <a:moveTo>
                    <a:pt x="2711678" y="162560"/>
                  </a:moveTo>
                  <a:lnTo>
                    <a:pt x="2708435" y="163269"/>
                  </a:lnTo>
                  <a:lnTo>
                    <a:pt x="2712137" y="163021"/>
                  </a:lnTo>
                  <a:lnTo>
                    <a:pt x="2711678" y="162560"/>
                  </a:lnTo>
                  <a:close/>
                </a:path>
                <a:path w="2891790" h="309880">
                  <a:moveTo>
                    <a:pt x="2881594" y="158772"/>
                  </a:moveTo>
                  <a:lnTo>
                    <a:pt x="2878717" y="161653"/>
                  </a:lnTo>
                  <a:lnTo>
                    <a:pt x="2881045" y="160019"/>
                  </a:lnTo>
                  <a:lnTo>
                    <a:pt x="2881594" y="158772"/>
                  </a:lnTo>
                  <a:close/>
                </a:path>
                <a:path w="2891790" h="309880">
                  <a:moveTo>
                    <a:pt x="2808249" y="154940"/>
                  </a:moveTo>
                  <a:lnTo>
                    <a:pt x="2802483" y="156210"/>
                  </a:lnTo>
                  <a:lnTo>
                    <a:pt x="2780509" y="158750"/>
                  </a:lnTo>
                  <a:lnTo>
                    <a:pt x="2769502" y="158750"/>
                  </a:lnTo>
                  <a:lnTo>
                    <a:pt x="2752686" y="160019"/>
                  </a:lnTo>
                  <a:lnTo>
                    <a:pt x="2751968" y="160845"/>
                  </a:lnTo>
                  <a:lnTo>
                    <a:pt x="2764294" y="160019"/>
                  </a:lnTo>
                  <a:lnTo>
                    <a:pt x="2794628" y="160019"/>
                  </a:lnTo>
                  <a:lnTo>
                    <a:pt x="2796692" y="157480"/>
                  </a:lnTo>
                  <a:lnTo>
                    <a:pt x="2808581" y="155262"/>
                  </a:lnTo>
                  <a:lnTo>
                    <a:pt x="2808249" y="154940"/>
                  </a:lnTo>
                  <a:close/>
                </a:path>
                <a:path w="2891790" h="309880">
                  <a:moveTo>
                    <a:pt x="2867406" y="143510"/>
                  </a:moveTo>
                  <a:lnTo>
                    <a:pt x="2863234" y="146915"/>
                  </a:lnTo>
                  <a:lnTo>
                    <a:pt x="2863126" y="147319"/>
                  </a:lnTo>
                  <a:lnTo>
                    <a:pt x="2862490" y="149311"/>
                  </a:lnTo>
                  <a:lnTo>
                    <a:pt x="2866948" y="152400"/>
                  </a:lnTo>
                  <a:lnTo>
                    <a:pt x="2867734" y="156658"/>
                  </a:lnTo>
                  <a:lnTo>
                    <a:pt x="2877146" y="158750"/>
                  </a:lnTo>
                  <a:lnTo>
                    <a:pt x="2881628" y="156818"/>
                  </a:lnTo>
                  <a:lnTo>
                    <a:pt x="2881655" y="152400"/>
                  </a:lnTo>
                  <a:lnTo>
                    <a:pt x="2873641" y="144780"/>
                  </a:lnTo>
                  <a:lnTo>
                    <a:pt x="2867406" y="143510"/>
                  </a:lnTo>
                  <a:close/>
                </a:path>
                <a:path w="2891790" h="309880">
                  <a:moveTo>
                    <a:pt x="2881628" y="156818"/>
                  </a:moveTo>
                  <a:lnTo>
                    <a:pt x="2877146" y="158750"/>
                  </a:lnTo>
                  <a:lnTo>
                    <a:pt x="2881604" y="158750"/>
                  </a:lnTo>
                  <a:lnTo>
                    <a:pt x="2881628" y="156818"/>
                  </a:lnTo>
                  <a:close/>
                </a:path>
                <a:path w="2891790" h="309880">
                  <a:moveTo>
                    <a:pt x="2882647" y="156378"/>
                  </a:moveTo>
                  <a:lnTo>
                    <a:pt x="2881628" y="156818"/>
                  </a:lnTo>
                  <a:lnTo>
                    <a:pt x="2881617" y="158720"/>
                  </a:lnTo>
                  <a:lnTo>
                    <a:pt x="2882647" y="156378"/>
                  </a:lnTo>
                  <a:close/>
                </a:path>
                <a:path w="2891790" h="309880">
                  <a:moveTo>
                    <a:pt x="2884438" y="141440"/>
                  </a:moveTo>
                  <a:lnTo>
                    <a:pt x="2881452" y="143510"/>
                  </a:lnTo>
                  <a:lnTo>
                    <a:pt x="2867406" y="143510"/>
                  </a:lnTo>
                  <a:lnTo>
                    <a:pt x="2873641" y="144780"/>
                  </a:lnTo>
                  <a:lnTo>
                    <a:pt x="2881655" y="152400"/>
                  </a:lnTo>
                  <a:lnTo>
                    <a:pt x="2881628" y="156818"/>
                  </a:lnTo>
                  <a:lnTo>
                    <a:pt x="2882647" y="156378"/>
                  </a:lnTo>
                  <a:lnTo>
                    <a:pt x="2883281" y="154940"/>
                  </a:lnTo>
                  <a:lnTo>
                    <a:pt x="2883817" y="153075"/>
                  </a:lnTo>
                  <a:lnTo>
                    <a:pt x="2884614" y="149860"/>
                  </a:lnTo>
                  <a:lnTo>
                    <a:pt x="2886075" y="144780"/>
                  </a:lnTo>
                  <a:lnTo>
                    <a:pt x="2886108" y="144602"/>
                  </a:lnTo>
                  <a:lnTo>
                    <a:pt x="2884438" y="141440"/>
                  </a:lnTo>
                  <a:close/>
                </a:path>
                <a:path w="2891790" h="309880">
                  <a:moveTo>
                    <a:pt x="2862490" y="149311"/>
                  </a:moveTo>
                  <a:lnTo>
                    <a:pt x="2862338" y="149860"/>
                  </a:lnTo>
                  <a:lnTo>
                    <a:pt x="2865716" y="156210"/>
                  </a:lnTo>
                  <a:lnTo>
                    <a:pt x="2867734" y="156658"/>
                  </a:lnTo>
                  <a:lnTo>
                    <a:pt x="2866948" y="152400"/>
                  </a:lnTo>
                  <a:lnTo>
                    <a:pt x="2862490" y="149311"/>
                  </a:lnTo>
                  <a:close/>
                </a:path>
                <a:path w="2891790" h="309880">
                  <a:moveTo>
                    <a:pt x="2883817" y="153075"/>
                  </a:moveTo>
                  <a:lnTo>
                    <a:pt x="2883281" y="154940"/>
                  </a:lnTo>
                  <a:lnTo>
                    <a:pt x="2882647" y="156378"/>
                  </a:lnTo>
                  <a:lnTo>
                    <a:pt x="2883039" y="156210"/>
                  </a:lnTo>
                  <a:lnTo>
                    <a:pt x="2883817" y="153075"/>
                  </a:lnTo>
                  <a:close/>
                </a:path>
                <a:path w="2891790" h="309880">
                  <a:moveTo>
                    <a:pt x="2886108" y="144602"/>
                  </a:moveTo>
                  <a:lnTo>
                    <a:pt x="2886075" y="144780"/>
                  </a:lnTo>
                  <a:lnTo>
                    <a:pt x="2884614" y="149860"/>
                  </a:lnTo>
                  <a:lnTo>
                    <a:pt x="2883817" y="153075"/>
                  </a:lnTo>
                  <a:lnTo>
                    <a:pt x="2886202" y="144780"/>
                  </a:lnTo>
                  <a:lnTo>
                    <a:pt x="2886108" y="144602"/>
                  </a:lnTo>
                  <a:close/>
                </a:path>
                <a:path w="2891790" h="309880">
                  <a:moveTo>
                    <a:pt x="2863006" y="147441"/>
                  </a:moveTo>
                  <a:lnTo>
                    <a:pt x="2861706" y="148768"/>
                  </a:lnTo>
                  <a:lnTo>
                    <a:pt x="2862490" y="149311"/>
                  </a:lnTo>
                  <a:lnTo>
                    <a:pt x="2863006" y="147441"/>
                  </a:lnTo>
                  <a:close/>
                </a:path>
                <a:path w="2891790" h="309880">
                  <a:moveTo>
                    <a:pt x="2861881" y="148590"/>
                  </a:moveTo>
                  <a:lnTo>
                    <a:pt x="2861449" y="148590"/>
                  </a:lnTo>
                  <a:lnTo>
                    <a:pt x="2861706" y="148768"/>
                  </a:lnTo>
                  <a:lnTo>
                    <a:pt x="2861881" y="148590"/>
                  </a:lnTo>
                  <a:close/>
                </a:path>
                <a:path w="2891790" h="309880">
                  <a:moveTo>
                    <a:pt x="2863128" y="147002"/>
                  </a:moveTo>
                  <a:lnTo>
                    <a:pt x="2861183" y="148590"/>
                  </a:lnTo>
                  <a:lnTo>
                    <a:pt x="2860947" y="148688"/>
                  </a:lnTo>
                  <a:lnTo>
                    <a:pt x="2861449" y="148590"/>
                  </a:lnTo>
                  <a:lnTo>
                    <a:pt x="2861881" y="148590"/>
                  </a:lnTo>
                  <a:lnTo>
                    <a:pt x="2863006" y="147441"/>
                  </a:lnTo>
                  <a:lnTo>
                    <a:pt x="2863128" y="147002"/>
                  </a:lnTo>
                  <a:close/>
                </a:path>
                <a:path w="2891790" h="309880">
                  <a:moveTo>
                    <a:pt x="2863234" y="146915"/>
                  </a:moveTo>
                  <a:lnTo>
                    <a:pt x="2863006" y="147441"/>
                  </a:lnTo>
                  <a:lnTo>
                    <a:pt x="2863234" y="146915"/>
                  </a:lnTo>
                  <a:close/>
                </a:path>
                <a:path w="2891790" h="309880">
                  <a:moveTo>
                    <a:pt x="2865840" y="136224"/>
                  </a:moveTo>
                  <a:lnTo>
                    <a:pt x="2865145" y="139700"/>
                  </a:lnTo>
                  <a:lnTo>
                    <a:pt x="2863128" y="147002"/>
                  </a:lnTo>
                  <a:lnTo>
                    <a:pt x="2865501" y="138430"/>
                  </a:lnTo>
                  <a:lnTo>
                    <a:pt x="2866403" y="138041"/>
                  </a:lnTo>
                  <a:lnTo>
                    <a:pt x="2865704" y="137160"/>
                  </a:lnTo>
                  <a:lnTo>
                    <a:pt x="2865840" y="136224"/>
                  </a:lnTo>
                  <a:close/>
                </a:path>
                <a:path w="2891790" h="309880">
                  <a:moveTo>
                    <a:pt x="2866403" y="138041"/>
                  </a:moveTo>
                  <a:lnTo>
                    <a:pt x="2865501" y="138430"/>
                  </a:lnTo>
                  <a:lnTo>
                    <a:pt x="2863234" y="146915"/>
                  </a:lnTo>
                  <a:lnTo>
                    <a:pt x="2867406" y="143510"/>
                  </a:lnTo>
                  <a:lnTo>
                    <a:pt x="2881452" y="143510"/>
                  </a:lnTo>
                  <a:lnTo>
                    <a:pt x="2869730" y="142240"/>
                  </a:lnTo>
                  <a:lnTo>
                    <a:pt x="2866403" y="138041"/>
                  </a:lnTo>
                  <a:close/>
                </a:path>
                <a:path w="2891790" h="309880">
                  <a:moveTo>
                    <a:pt x="2887489" y="136750"/>
                  </a:moveTo>
                  <a:lnTo>
                    <a:pt x="2886951" y="139700"/>
                  </a:lnTo>
                  <a:lnTo>
                    <a:pt x="2884438" y="141440"/>
                  </a:lnTo>
                  <a:lnTo>
                    <a:pt x="2886108" y="144602"/>
                  </a:lnTo>
                  <a:lnTo>
                    <a:pt x="2887027" y="139700"/>
                  </a:lnTo>
                  <a:lnTo>
                    <a:pt x="2887489" y="136750"/>
                  </a:lnTo>
                  <a:close/>
                </a:path>
                <a:path w="2891790" h="309880">
                  <a:moveTo>
                    <a:pt x="2871406" y="135890"/>
                  </a:moveTo>
                  <a:lnTo>
                    <a:pt x="2866403" y="138041"/>
                  </a:lnTo>
                  <a:lnTo>
                    <a:pt x="2869730" y="142240"/>
                  </a:lnTo>
                  <a:lnTo>
                    <a:pt x="2881452" y="143510"/>
                  </a:lnTo>
                  <a:lnTo>
                    <a:pt x="2884438" y="141440"/>
                  </a:lnTo>
                  <a:lnTo>
                    <a:pt x="2882849" y="138430"/>
                  </a:lnTo>
                  <a:lnTo>
                    <a:pt x="2871406" y="135890"/>
                  </a:lnTo>
                  <a:close/>
                </a:path>
                <a:path w="2891790" h="309880">
                  <a:moveTo>
                    <a:pt x="2887624" y="135890"/>
                  </a:moveTo>
                  <a:lnTo>
                    <a:pt x="2871406" y="135890"/>
                  </a:lnTo>
                  <a:lnTo>
                    <a:pt x="2882849" y="138430"/>
                  </a:lnTo>
                  <a:lnTo>
                    <a:pt x="2884438" y="141440"/>
                  </a:lnTo>
                  <a:lnTo>
                    <a:pt x="2886951" y="139700"/>
                  </a:lnTo>
                  <a:lnTo>
                    <a:pt x="2887624" y="135890"/>
                  </a:lnTo>
                  <a:close/>
                </a:path>
                <a:path w="2891790" h="309880">
                  <a:moveTo>
                    <a:pt x="2870755" y="122249"/>
                  </a:moveTo>
                  <a:lnTo>
                    <a:pt x="2867557" y="124463"/>
                  </a:lnTo>
                  <a:lnTo>
                    <a:pt x="2865907" y="135890"/>
                  </a:lnTo>
                  <a:lnTo>
                    <a:pt x="2865704" y="137160"/>
                  </a:lnTo>
                  <a:lnTo>
                    <a:pt x="2866403" y="138041"/>
                  </a:lnTo>
                  <a:lnTo>
                    <a:pt x="2871406" y="135890"/>
                  </a:lnTo>
                  <a:lnTo>
                    <a:pt x="2887624" y="135890"/>
                  </a:lnTo>
                  <a:lnTo>
                    <a:pt x="2888818" y="128269"/>
                  </a:lnTo>
                  <a:lnTo>
                    <a:pt x="2886817" y="125730"/>
                  </a:lnTo>
                  <a:lnTo>
                    <a:pt x="2884512" y="125730"/>
                  </a:lnTo>
                  <a:lnTo>
                    <a:pt x="2872651" y="124460"/>
                  </a:lnTo>
                  <a:lnTo>
                    <a:pt x="2870755" y="122249"/>
                  </a:lnTo>
                  <a:close/>
                </a:path>
                <a:path w="2891790" h="309880">
                  <a:moveTo>
                    <a:pt x="2890229" y="116724"/>
                  </a:moveTo>
                  <a:lnTo>
                    <a:pt x="2889758" y="120650"/>
                  </a:lnTo>
                  <a:lnTo>
                    <a:pt x="2885820" y="124463"/>
                  </a:lnTo>
                  <a:lnTo>
                    <a:pt x="2888818" y="128269"/>
                  </a:lnTo>
                  <a:lnTo>
                    <a:pt x="2887489" y="136750"/>
                  </a:lnTo>
                  <a:lnTo>
                    <a:pt x="2887878" y="134619"/>
                  </a:lnTo>
                  <a:lnTo>
                    <a:pt x="2888881" y="128269"/>
                  </a:lnTo>
                  <a:lnTo>
                    <a:pt x="2889719" y="121919"/>
                  </a:lnTo>
                  <a:lnTo>
                    <a:pt x="2890229" y="116724"/>
                  </a:lnTo>
                  <a:close/>
                </a:path>
                <a:path w="2891790" h="309880">
                  <a:moveTo>
                    <a:pt x="2868295" y="119380"/>
                  </a:moveTo>
                  <a:lnTo>
                    <a:pt x="2865840" y="136224"/>
                  </a:lnTo>
                  <a:lnTo>
                    <a:pt x="2865907" y="135890"/>
                  </a:lnTo>
                  <a:lnTo>
                    <a:pt x="2867558" y="124460"/>
                  </a:lnTo>
                  <a:lnTo>
                    <a:pt x="2870755" y="122249"/>
                  </a:lnTo>
                  <a:lnTo>
                    <a:pt x="2868295" y="119380"/>
                  </a:lnTo>
                  <a:close/>
                </a:path>
                <a:path w="2891790" h="309880">
                  <a:moveTo>
                    <a:pt x="2873070" y="120650"/>
                  </a:moveTo>
                  <a:lnTo>
                    <a:pt x="2870755" y="122249"/>
                  </a:lnTo>
                  <a:lnTo>
                    <a:pt x="2872651" y="124460"/>
                  </a:lnTo>
                  <a:lnTo>
                    <a:pt x="2884512" y="125730"/>
                  </a:lnTo>
                  <a:lnTo>
                    <a:pt x="2885817" y="124460"/>
                  </a:lnTo>
                  <a:lnTo>
                    <a:pt x="2884817" y="123190"/>
                  </a:lnTo>
                  <a:lnTo>
                    <a:pt x="2873070" y="120650"/>
                  </a:lnTo>
                  <a:close/>
                </a:path>
                <a:path w="2891790" h="309880">
                  <a:moveTo>
                    <a:pt x="2885820" y="124463"/>
                  </a:moveTo>
                  <a:lnTo>
                    <a:pt x="2884512" y="125730"/>
                  </a:lnTo>
                  <a:lnTo>
                    <a:pt x="2886817" y="125730"/>
                  </a:lnTo>
                  <a:lnTo>
                    <a:pt x="2885820" y="124463"/>
                  </a:lnTo>
                  <a:close/>
                </a:path>
                <a:path w="2891790" h="309880">
                  <a:moveTo>
                    <a:pt x="2889758" y="120650"/>
                  </a:moveTo>
                  <a:lnTo>
                    <a:pt x="2873070" y="120650"/>
                  </a:lnTo>
                  <a:lnTo>
                    <a:pt x="2884817" y="123190"/>
                  </a:lnTo>
                  <a:lnTo>
                    <a:pt x="2885820" y="124463"/>
                  </a:lnTo>
                  <a:lnTo>
                    <a:pt x="2889758" y="120650"/>
                  </a:lnTo>
                  <a:close/>
                </a:path>
                <a:path w="2891790" h="309880">
                  <a:moveTo>
                    <a:pt x="2871020" y="105559"/>
                  </a:moveTo>
                  <a:lnTo>
                    <a:pt x="2869463" y="106680"/>
                  </a:lnTo>
                  <a:lnTo>
                    <a:pt x="2868295" y="119380"/>
                  </a:lnTo>
                  <a:lnTo>
                    <a:pt x="2870755" y="122249"/>
                  </a:lnTo>
                  <a:lnTo>
                    <a:pt x="2873070" y="120650"/>
                  </a:lnTo>
                  <a:lnTo>
                    <a:pt x="2889758" y="120650"/>
                  </a:lnTo>
                  <a:lnTo>
                    <a:pt x="2890229" y="116724"/>
                  </a:lnTo>
                  <a:lnTo>
                    <a:pt x="2890653" y="112394"/>
                  </a:lnTo>
                  <a:lnTo>
                    <a:pt x="2890939" y="109219"/>
                  </a:lnTo>
                  <a:lnTo>
                    <a:pt x="2874543" y="109219"/>
                  </a:lnTo>
                  <a:lnTo>
                    <a:pt x="2871020" y="105559"/>
                  </a:lnTo>
                  <a:close/>
                </a:path>
                <a:path w="2891790" h="309880">
                  <a:moveTo>
                    <a:pt x="2890653" y="112394"/>
                  </a:moveTo>
                  <a:lnTo>
                    <a:pt x="2890229" y="116724"/>
                  </a:lnTo>
                  <a:lnTo>
                    <a:pt x="2890367" y="115569"/>
                  </a:lnTo>
                  <a:lnTo>
                    <a:pt x="2890653" y="112394"/>
                  </a:lnTo>
                  <a:close/>
                </a:path>
                <a:path w="2891790" h="309880">
                  <a:moveTo>
                    <a:pt x="2890941" y="109192"/>
                  </a:moveTo>
                  <a:lnTo>
                    <a:pt x="2890653" y="112394"/>
                  </a:lnTo>
                  <a:lnTo>
                    <a:pt x="2890964" y="109219"/>
                  </a:lnTo>
                  <a:close/>
                </a:path>
                <a:path w="2891790" h="309880">
                  <a:moveTo>
                    <a:pt x="2869649" y="102939"/>
                  </a:moveTo>
                  <a:lnTo>
                    <a:pt x="2869323" y="107950"/>
                  </a:lnTo>
                  <a:lnTo>
                    <a:pt x="2869056" y="110913"/>
                  </a:lnTo>
                  <a:lnTo>
                    <a:pt x="2869463" y="106680"/>
                  </a:lnTo>
                  <a:lnTo>
                    <a:pt x="2871020" y="105559"/>
                  </a:lnTo>
                  <a:lnTo>
                    <a:pt x="2869653" y="104140"/>
                  </a:lnTo>
                  <a:lnTo>
                    <a:pt x="2869649" y="102939"/>
                  </a:lnTo>
                  <a:close/>
                </a:path>
                <a:path w="2891790" h="309880">
                  <a:moveTo>
                    <a:pt x="2874759" y="102869"/>
                  </a:moveTo>
                  <a:lnTo>
                    <a:pt x="2871020" y="105559"/>
                  </a:lnTo>
                  <a:lnTo>
                    <a:pt x="2874543" y="109219"/>
                  </a:lnTo>
                  <a:lnTo>
                    <a:pt x="2886506" y="109219"/>
                  </a:lnTo>
                  <a:lnTo>
                    <a:pt x="2888859" y="106750"/>
                  </a:lnTo>
                  <a:lnTo>
                    <a:pt x="2886633" y="104140"/>
                  </a:lnTo>
                  <a:lnTo>
                    <a:pt x="2874759" y="102869"/>
                  </a:lnTo>
                  <a:close/>
                </a:path>
                <a:path w="2891790" h="309880">
                  <a:moveTo>
                    <a:pt x="2888859" y="106750"/>
                  </a:moveTo>
                  <a:lnTo>
                    <a:pt x="2886506" y="109219"/>
                  </a:lnTo>
                  <a:lnTo>
                    <a:pt x="2890939" y="109219"/>
                  </a:lnTo>
                  <a:lnTo>
                    <a:pt x="2888859" y="106750"/>
                  </a:lnTo>
                  <a:close/>
                </a:path>
                <a:path w="2891790" h="309880">
                  <a:moveTo>
                    <a:pt x="2891345" y="104140"/>
                  </a:moveTo>
                  <a:lnTo>
                    <a:pt x="2888859" y="106750"/>
                  </a:lnTo>
                  <a:lnTo>
                    <a:pt x="2890941" y="109192"/>
                  </a:lnTo>
                  <a:lnTo>
                    <a:pt x="2891345" y="104140"/>
                  </a:lnTo>
                  <a:close/>
                </a:path>
                <a:path w="2891790" h="309880">
                  <a:moveTo>
                    <a:pt x="2891356" y="102869"/>
                  </a:moveTo>
                  <a:lnTo>
                    <a:pt x="2874759" y="102869"/>
                  </a:lnTo>
                  <a:lnTo>
                    <a:pt x="2886633" y="104140"/>
                  </a:lnTo>
                  <a:lnTo>
                    <a:pt x="2888859" y="106750"/>
                  </a:lnTo>
                  <a:lnTo>
                    <a:pt x="2891345" y="104140"/>
                  </a:lnTo>
                  <a:lnTo>
                    <a:pt x="2891356" y="102869"/>
                  </a:lnTo>
                  <a:close/>
                </a:path>
                <a:path w="2891790" h="309880">
                  <a:moveTo>
                    <a:pt x="2869679" y="92681"/>
                  </a:moveTo>
                  <a:lnTo>
                    <a:pt x="2869653" y="104140"/>
                  </a:lnTo>
                  <a:lnTo>
                    <a:pt x="2871020" y="105559"/>
                  </a:lnTo>
                  <a:lnTo>
                    <a:pt x="2874759" y="102869"/>
                  </a:lnTo>
                  <a:lnTo>
                    <a:pt x="2891356" y="102869"/>
                  </a:lnTo>
                  <a:lnTo>
                    <a:pt x="2891425" y="95250"/>
                  </a:lnTo>
                  <a:lnTo>
                    <a:pt x="2876080" y="95250"/>
                  </a:lnTo>
                  <a:lnTo>
                    <a:pt x="2869692" y="92710"/>
                  </a:lnTo>
                  <a:close/>
                </a:path>
                <a:path w="2891790" h="309880">
                  <a:moveTo>
                    <a:pt x="2888968" y="82180"/>
                  </a:moveTo>
                  <a:lnTo>
                    <a:pt x="2890012" y="85090"/>
                  </a:lnTo>
                  <a:lnTo>
                    <a:pt x="2888585" y="88406"/>
                  </a:lnTo>
                  <a:lnTo>
                    <a:pt x="2891459" y="91440"/>
                  </a:lnTo>
                  <a:lnTo>
                    <a:pt x="2891345" y="104140"/>
                  </a:lnTo>
                  <a:lnTo>
                    <a:pt x="2891399" y="91093"/>
                  </a:lnTo>
                  <a:lnTo>
                    <a:pt x="2890139" y="85090"/>
                  </a:lnTo>
                  <a:lnTo>
                    <a:pt x="2888968" y="82180"/>
                  </a:lnTo>
                  <a:close/>
                </a:path>
                <a:path w="2891790" h="309880">
                  <a:moveTo>
                    <a:pt x="2868980" y="91093"/>
                  </a:moveTo>
                  <a:lnTo>
                    <a:pt x="2869615" y="93980"/>
                  </a:lnTo>
                  <a:lnTo>
                    <a:pt x="2869629" y="97674"/>
                  </a:lnTo>
                  <a:lnTo>
                    <a:pt x="2869679" y="92681"/>
                  </a:lnTo>
                  <a:lnTo>
                    <a:pt x="2868980" y="91093"/>
                  </a:lnTo>
                  <a:close/>
                </a:path>
                <a:path w="2891790" h="309880">
                  <a:moveTo>
                    <a:pt x="2886646" y="86360"/>
                  </a:moveTo>
                  <a:lnTo>
                    <a:pt x="2874619" y="86360"/>
                  </a:lnTo>
                  <a:lnTo>
                    <a:pt x="2869692" y="91440"/>
                  </a:lnTo>
                  <a:lnTo>
                    <a:pt x="2869692" y="92710"/>
                  </a:lnTo>
                  <a:lnTo>
                    <a:pt x="2876080" y="95250"/>
                  </a:lnTo>
                  <a:lnTo>
                    <a:pt x="2887281" y="91440"/>
                  </a:lnTo>
                  <a:lnTo>
                    <a:pt x="2888585" y="88406"/>
                  </a:lnTo>
                  <a:lnTo>
                    <a:pt x="2886646" y="86360"/>
                  </a:lnTo>
                  <a:close/>
                </a:path>
                <a:path w="2891790" h="309880">
                  <a:moveTo>
                    <a:pt x="2888585" y="88406"/>
                  </a:moveTo>
                  <a:lnTo>
                    <a:pt x="2887281" y="91440"/>
                  </a:lnTo>
                  <a:lnTo>
                    <a:pt x="2876080" y="95250"/>
                  </a:lnTo>
                  <a:lnTo>
                    <a:pt x="2891425" y="95250"/>
                  </a:lnTo>
                  <a:lnTo>
                    <a:pt x="2891459" y="91440"/>
                  </a:lnTo>
                  <a:lnTo>
                    <a:pt x="2888585" y="88406"/>
                  </a:lnTo>
                  <a:close/>
                </a:path>
                <a:path w="2891790" h="309880">
                  <a:moveTo>
                    <a:pt x="2879178" y="71119"/>
                  </a:moveTo>
                  <a:lnTo>
                    <a:pt x="2867939" y="74930"/>
                  </a:lnTo>
                  <a:lnTo>
                    <a:pt x="2865327" y="80947"/>
                  </a:lnTo>
                  <a:lnTo>
                    <a:pt x="2865536" y="82271"/>
                  </a:lnTo>
                  <a:lnTo>
                    <a:pt x="2867522" y="87779"/>
                  </a:lnTo>
                  <a:lnTo>
                    <a:pt x="2868777" y="90169"/>
                  </a:lnTo>
                  <a:lnTo>
                    <a:pt x="2868980" y="91093"/>
                  </a:lnTo>
                  <a:lnTo>
                    <a:pt x="2869679" y="92681"/>
                  </a:lnTo>
                  <a:lnTo>
                    <a:pt x="2869692" y="91440"/>
                  </a:lnTo>
                  <a:lnTo>
                    <a:pt x="2874619" y="86360"/>
                  </a:lnTo>
                  <a:lnTo>
                    <a:pt x="2889465" y="86360"/>
                  </a:lnTo>
                  <a:lnTo>
                    <a:pt x="2890012" y="85090"/>
                  </a:lnTo>
                  <a:lnTo>
                    <a:pt x="2888968" y="82180"/>
                  </a:lnTo>
                  <a:lnTo>
                    <a:pt x="2885541" y="73660"/>
                  </a:lnTo>
                  <a:lnTo>
                    <a:pt x="2879178" y="71119"/>
                  </a:lnTo>
                  <a:close/>
                </a:path>
                <a:path w="2891790" h="309880">
                  <a:moveTo>
                    <a:pt x="2867522" y="87779"/>
                  </a:moveTo>
                  <a:lnTo>
                    <a:pt x="2868980" y="91093"/>
                  </a:lnTo>
                  <a:lnTo>
                    <a:pt x="2868777" y="90169"/>
                  </a:lnTo>
                  <a:lnTo>
                    <a:pt x="2867522" y="87779"/>
                  </a:lnTo>
                  <a:close/>
                </a:path>
                <a:path w="2891790" h="309880">
                  <a:moveTo>
                    <a:pt x="2889465" y="86360"/>
                  </a:moveTo>
                  <a:lnTo>
                    <a:pt x="2886646" y="86360"/>
                  </a:lnTo>
                  <a:lnTo>
                    <a:pt x="2888585" y="88406"/>
                  </a:lnTo>
                  <a:lnTo>
                    <a:pt x="2889465" y="86360"/>
                  </a:lnTo>
                  <a:close/>
                </a:path>
                <a:path w="2891790" h="309880">
                  <a:moveTo>
                    <a:pt x="2865536" y="82271"/>
                  </a:moveTo>
                  <a:lnTo>
                    <a:pt x="2865780" y="83819"/>
                  </a:lnTo>
                  <a:lnTo>
                    <a:pt x="2867390" y="87478"/>
                  </a:lnTo>
                  <a:lnTo>
                    <a:pt x="2865536" y="82271"/>
                  </a:lnTo>
                  <a:close/>
                </a:path>
                <a:path w="2891790" h="309880">
                  <a:moveTo>
                    <a:pt x="2865327" y="80947"/>
                  </a:moveTo>
                  <a:lnTo>
                    <a:pt x="2865183" y="81280"/>
                  </a:lnTo>
                  <a:lnTo>
                    <a:pt x="2865536" y="82271"/>
                  </a:lnTo>
                  <a:lnTo>
                    <a:pt x="2865327" y="80947"/>
                  </a:lnTo>
                  <a:close/>
                </a:path>
                <a:path w="2891790" h="309880">
                  <a:moveTo>
                    <a:pt x="2886170" y="71119"/>
                  </a:moveTo>
                  <a:lnTo>
                    <a:pt x="2879178" y="71119"/>
                  </a:lnTo>
                  <a:lnTo>
                    <a:pt x="2885541" y="73660"/>
                  </a:lnTo>
                  <a:lnTo>
                    <a:pt x="2888968" y="82180"/>
                  </a:lnTo>
                  <a:lnTo>
                    <a:pt x="2886824" y="76200"/>
                  </a:lnTo>
                  <a:lnTo>
                    <a:pt x="2886170" y="71119"/>
                  </a:lnTo>
                  <a:close/>
                </a:path>
                <a:path w="2891790" h="309880">
                  <a:moveTo>
                    <a:pt x="2863450" y="63543"/>
                  </a:moveTo>
                  <a:lnTo>
                    <a:pt x="2863672" y="68580"/>
                  </a:lnTo>
                  <a:lnTo>
                    <a:pt x="2864980" y="78740"/>
                  </a:lnTo>
                  <a:lnTo>
                    <a:pt x="2865327" y="80947"/>
                  </a:lnTo>
                  <a:lnTo>
                    <a:pt x="2867939" y="74930"/>
                  </a:lnTo>
                  <a:lnTo>
                    <a:pt x="2879178" y="71119"/>
                  </a:lnTo>
                  <a:lnTo>
                    <a:pt x="2886170" y="71119"/>
                  </a:lnTo>
                  <a:lnTo>
                    <a:pt x="2885679" y="67310"/>
                  </a:lnTo>
                  <a:lnTo>
                    <a:pt x="2868409" y="67310"/>
                  </a:lnTo>
                  <a:lnTo>
                    <a:pt x="2863450" y="63543"/>
                  </a:lnTo>
                  <a:close/>
                </a:path>
                <a:path w="2891790" h="309880">
                  <a:moveTo>
                    <a:pt x="2879991" y="45719"/>
                  </a:moveTo>
                  <a:lnTo>
                    <a:pt x="2867901" y="45719"/>
                  </a:lnTo>
                  <a:lnTo>
                    <a:pt x="2863113" y="50800"/>
                  </a:lnTo>
                  <a:lnTo>
                    <a:pt x="2863253" y="57150"/>
                  </a:lnTo>
                  <a:lnTo>
                    <a:pt x="2863357" y="60960"/>
                  </a:lnTo>
                  <a:lnTo>
                    <a:pt x="2863450" y="63543"/>
                  </a:lnTo>
                  <a:lnTo>
                    <a:pt x="2868409" y="67310"/>
                  </a:lnTo>
                  <a:lnTo>
                    <a:pt x="2880512" y="67310"/>
                  </a:lnTo>
                  <a:lnTo>
                    <a:pt x="2885300" y="62230"/>
                  </a:lnTo>
                  <a:lnTo>
                    <a:pt x="2885014" y="50793"/>
                  </a:lnTo>
                  <a:lnTo>
                    <a:pt x="2879991" y="45719"/>
                  </a:lnTo>
                  <a:close/>
                </a:path>
                <a:path w="2891790" h="309880">
                  <a:moveTo>
                    <a:pt x="2885014" y="50793"/>
                  </a:moveTo>
                  <a:lnTo>
                    <a:pt x="2885300" y="62230"/>
                  </a:lnTo>
                  <a:lnTo>
                    <a:pt x="2880512" y="67310"/>
                  </a:lnTo>
                  <a:lnTo>
                    <a:pt x="2885679" y="67310"/>
                  </a:lnTo>
                  <a:lnTo>
                    <a:pt x="2885516" y="66040"/>
                  </a:lnTo>
                  <a:lnTo>
                    <a:pt x="2885287" y="60960"/>
                  </a:lnTo>
                  <a:lnTo>
                    <a:pt x="2885014" y="50793"/>
                  </a:lnTo>
                  <a:close/>
                </a:path>
                <a:path w="2891790" h="309880">
                  <a:moveTo>
                    <a:pt x="2861804" y="30531"/>
                  </a:moveTo>
                  <a:lnTo>
                    <a:pt x="2863333" y="60960"/>
                  </a:lnTo>
                  <a:lnTo>
                    <a:pt x="2863450" y="63543"/>
                  </a:lnTo>
                  <a:lnTo>
                    <a:pt x="2863357" y="60960"/>
                  </a:lnTo>
                  <a:lnTo>
                    <a:pt x="2863253" y="57150"/>
                  </a:lnTo>
                  <a:lnTo>
                    <a:pt x="2863119" y="50793"/>
                  </a:lnTo>
                  <a:lnTo>
                    <a:pt x="2867901" y="45719"/>
                  </a:lnTo>
                  <a:lnTo>
                    <a:pt x="2884844" y="45719"/>
                  </a:lnTo>
                  <a:lnTo>
                    <a:pt x="2884633" y="40640"/>
                  </a:lnTo>
                  <a:lnTo>
                    <a:pt x="2884550" y="39369"/>
                  </a:lnTo>
                  <a:lnTo>
                    <a:pt x="2867837" y="39369"/>
                  </a:lnTo>
                  <a:lnTo>
                    <a:pt x="2862326" y="34290"/>
                  </a:lnTo>
                  <a:lnTo>
                    <a:pt x="2861804" y="30531"/>
                  </a:lnTo>
                  <a:close/>
                </a:path>
                <a:path w="2891790" h="309880">
                  <a:moveTo>
                    <a:pt x="2884844" y="45719"/>
                  </a:moveTo>
                  <a:lnTo>
                    <a:pt x="2879991" y="45719"/>
                  </a:lnTo>
                  <a:lnTo>
                    <a:pt x="2885014" y="50793"/>
                  </a:lnTo>
                  <a:lnTo>
                    <a:pt x="2884950" y="48260"/>
                  </a:lnTo>
                  <a:lnTo>
                    <a:pt x="2884844" y="45719"/>
                  </a:lnTo>
                  <a:close/>
                </a:path>
                <a:path w="2891790" h="309880">
                  <a:moveTo>
                    <a:pt x="2861715" y="21534"/>
                  </a:moveTo>
                  <a:lnTo>
                    <a:pt x="2860814" y="22860"/>
                  </a:lnTo>
                  <a:lnTo>
                    <a:pt x="2861551" y="27940"/>
                  </a:lnTo>
                  <a:lnTo>
                    <a:pt x="2861804" y="30531"/>
                  </a:lnTo>
                  <a:lnTo>
                    <a:pt x="2862326" y="34290"/>
                  </a:lnTo>
                  <a:lnTo>
                    <a:pt x="2867837" y="39369"/>
                  </a:lnTo>
                  <a:lnTo>
                    <a:pt x="2879852" y="36830"/>
                  </a:lnTo>
                  <a:lnTo>
                    <a:pt x="2884018" y="31839"/>
                  </a:lnTo>
                  <a:lnTo>
                    <a:pt x="2883567" y="27267"/>
                  </a:lnTo>
                  <a:lnTo>
                    <a:pt x="2883198" y="24130"/>
                  </a:lnTo>
                  <a:lnTo>
                    <a:pt x="2865107" y="24130"/>
                  </a:lnTo>
                  <a:lnTo>
                    <a:pt x="2861715" y="21534"/>
                  </a:lnTo>
                  <a:close/>
                </a:path>
                <a:path w="2891790" h="309880">
                  <a:moveTo>
                    <a:pt x="2884018" y="31839"/>
                  </a:moveTo>
                  <a:lnTo>
                    <a:pt x="2879852" y="36830"/>
                  </a:lnTo>
                  <a:lnTo>
                    <a:pt x="2867837" y="39369"/>
                  </a:lnTo>
                  <a:lnTo>
                    <a:pt x="2884550" y="39369"/>
                  </a:lnTo>
                  <a:lnTo>
                    <a:pt x="2884135" y="33019"/>
                  </a:lnTo>
                  <a:lnTo>
                    <a:pt x="2884018" y="31839"/>
                  </a:lnTo>
                  <a:close/>
                </a:path>
                <a:path w="2891790" h="309880">
                  <a:moveTo>
                    <a:pt x="2883567" y="27267"/>
                  </a:moveTo>
                  <a:lnTo>
                    <a:pt x="2884018" y="31839"/>
                  </a:lnTo>
                  <a:lnTo>
                    <a:pt x="2883567" y="27267"/>
                  </a:lnTo>
                  <a:close/>
                </a:path>
                <a:path w="2891790" h="309880">
                  <a:moveTo>
                    <a:pt x="2860341" y="20483"/>
                  </a:moveTo>
                  <a:lnTo>
                    <a:pt x="2860916" y="24130"/>
                  </a:lnTo>
                  <a:lnTo>
                    <a:pt x="2861804" y="30531"/>
                  </a:lnTo>
                  <a:lnTo>
                    <a:pt x="2861551" y="27940"/>
                  </a:lnTo>
                  <a:lnTo>
                    <a:pt x="2860814" y="22860"/>
                  </a:lnTo>
                  <a:lnTo>
                    <a:pt x="2861715" y="21534"/>
                  </a:lnTo>
                  <a:lnTo>
                    <a:pt x="2860341" y="20483"/>
                  </a:lnTo>
                  <a:close/>
                </a:path>
                <a:path w="2891790" h="309880">
                  <a:moveTo>
                    <a:pt x="2883165" y="23847"/>
                  </a:moveTo>
                  <a:lnTo>
                    <a:pt x="2883567" y="27267"/>
                  </a:lnTo>
                  <a:lnTo>
                    <a:pt x="2883382" y="25400"/>
                  </a:lnTo>
                  <a:lnTo>
                    <a:pt x="2883165" y="23847"/>
                  </a:lnTo>
                  <a:close/>
                </a:path>
                <a:path w="2891790" h="309880">
                  <a:moveTo>
                    <a:pt x="2863394" y="19065"/>
                  </a:moveTo>
                  <a:lnTo>
                    <a:pt x="2861715" y="21534"/>
                  </a:lnTo>
                  <a:lnTo>
                    <a:pt x="2865107" y="24130"/>
                  </a:lnTo>
                  <a:lnTo>
                    <a:pt x="2877324" y="24130"/>
                  </a:lnTo>
                  <a:lnTo>
                    <a:pt x="2878553" y="22860"/>
                  </a:lnTo>
                  <a:lnTo>
                    <a:pt x="2868422" y="22860"/>
                  </a:lnTo>
                  <a:lnTo>
                    <a:pt x="2863394" y="19065"/>
                  </a:lnTo>
                  <a:close/>
                </a:path>
                <a:path w="2891790" h="309880">
                  <a:moveTo>
                    <a:pt x="2881796" y="19508"/>
                  </a:moveTo>
                  <a:lnTo>
                    <a:pt x="2877324" y="24130"/>
                  </a:lnTo>
                  <a:lnTo>
                    <a:pt x="2883198" y="24130"/>
                  </a:lnTo>
                  <a:lnTo>
                    <a:pt x="2882671" y="20319"/>
                  </a:lnTo>
                  <a:lnTo>
                    <a:pt x="2881796" y="19508"/>
                  </a:lnTo>
                  <a:close/>
                </a:path>
                <a:path w="2891790" h="309880">
                  <a:moveTo>
                    <a:pt x="2882229" y="17793"/>
                  </a:moveTo>
                  <a:lnTo>
                    <a:pt x="2882216" y="19074"/>
                  </a:lnTo>
                  <a:lnTo>
                    <a:pt x="2881796" y="19508"/>
                  </a:lnTo>
                  <a:lnTo>
                    <a:pt x="2882671" y="20319"/>
                  </a:lnTo>
                  <a:lnTo>
                    <a:pt x="2883165" y="23847"/>
                  </a:lnTo>
                  <a:lnTo>
                    <a:pt x="2882890" y="21534"/>
                  </a:lnTo>
                  <a:lnTo>
                    <a:pt x="2882229" y="17793"/>
                  </a:lnTo>
                  <a:close/>
                </a:path>
                <a:path w="2891790" h="309880">
                  <a:moveTo>
                    <a:pt x="2877197" y="15240"/>
                  </a:moveTo>
                  <a:lnTo>
                    <a:pt x="2865132" y="16510"/>
                  </a:lnTo>
                  <a:lnTo>
                    <a:pt x="2863405" y="19050"/>
                  </a:lnTo>
                  <a:lnTo>
                    <a:pt x="2868422" y="22860"/>
                  </a:lnTo>
                  <a:lnTo>
                    <a:pt x="2873984" y="22860"/>
                  </a:lnTo>
                  <a:lnTo>
                    <a:pt x="2880258" y="18080"/>
                  </a:lnTo>
                  <a:lnTo>
                    <a:pt x="2877197" y="15240"/>
                  </a:lnTo>
                  <a:close/>
                </a:path>
                <a:path w="2891790" h="309880">
                  <a:moveTo>
                    <a:pt x="2880258" y="18080"/>
                  </a:moveTo>
                  <a:lnTo>
                    <a:pt x="2873984" y="22860"/>
                  </a:lnTo>
                  <a:lnTo>
                    <a:pt x="2878553" y="22860"/>
                  </a:lnTo>
                  <a:lnTo>
                    <a:pt x="2881796" y="19508"/>
                  </a:lnTo>
                  <a:lnTo>
                    <a:pt x="2880258" y="18080"/>
                  </a:lnTo>
                  <a:close/>
                </a:path>
                <a:path w="2891790" h="309880">
                  <a:moveTo>
                    <a:pt x="2860090" y="13969"/>
                  </a:moveTo>
                  <a:lnTo>
                    <a:pt x="2860188" y="19508"/>
                  </a:lnTo>
                  <a:lnTo>
                    <a:pt x="2860341" y="20483"/>
                  </a:lnTo>
                  <a:lnTo>
                    <a:pt x="2861715" y="21534"/>
                  </a:lnTo>
                  <a:lnTo>
                    <a:pt x="2863389" y="19074"/>
                  </a:lnTo>
                  <a:lnTo>
                    <a:pt x="2861691" y="17780"/>
                  </a:lnTo>
                  <a:lnTo>
                    <a:pt x="2860090" y="13969"/>
                  </a:lnTo>
                  <a:close/>
                </a:path>
                <a:path w="2891790" h="309880">
                  <a:moveTo>
                    <a:pt x="2860120" y="19074"/>
                  </a:moveTo>
                  <a:lnTo>
                    <a:pt x="2860128" y="20319"/>
                  </a:lnTo>
                  <a:lnTo>
                    <a:pt x="2860341" y="20483"/>
                  </a:lnTo>
                  <a:lnTo>
                    <a:pt x="2860120" y="19074"/>
                  </a:lnTo>
                  <a:close/>
                </a:path>
                <a:path w="2891790" h="309880">
                  <a:moveTo>
                    <a:pt x="2882198" y="13978"/>
                  </a:moveTo>
                  <a:lnTo>
                    <a:pt x="2880634" y="17793"/>
                  </a:lnTo>
                  <a:lnTo>
                    <a:pt x="2880258" y="18080"/>
                  </a:lnTo>
                  <a:lnTo>
                    <a:pt x="2881796" y="19508"/>
                  </a:lnTo>
                  <a:lnTo>
                    <a:pt x="2882216" y="19074"/>
                  </a:lnTo>
                  <a:lnTo>
                    <a:pt x="2882198" y="13978"/>
                  </a:lnTo>
                  <a:close/>
                </a:path>
                <a:path w="2891790" h="309880">
                  <a:moveTo>
                    <a:pt x="2877172" y="2540"/>
                  </a:moveTo>
                  <a:lnTo>
                    <a:pt x="2864967" y="2540"/>
                  </a:lnTo>
                  <a:lnTo>
                    <a:pt x="2860069" y="7602"/>
                  </a:lnTo>
                  <a:lnTo>
                    <a:pt x="2860094" y="13978"/>
                  </a:lnTo>
                  <a:lnTo>
                    <a:pt x="2861709" y="17793"/>
                  </a:lnTo>
                  <a:lnTo>
                    <a:pt x="2863394" y="19065"/>
                  </a:lnTo>
                  <a:lnTo>
                    <a:pt x="2865132" y="16510"/>
                  </a:lnTo>
                  <a:lnTo>
                    <a:pt x="2877197" y="15240"/>
                  </a:lnTo>
                  <a:lnTo>
                    <a:pt x="2881685" y="15240"/>
                  </a:lnTo>
                  <a:lnTo>
                    <a:pt x="2882198" y="13978"/>
                  </a:lnTo>
                  <a:lnTo>
                    <a:pt x="2882145" y="7602"/>
                  </a:lnTo>
                  <a:lnTo>
                    <a:pt x="2877172" y="2540"/>
                  </a:lnTo>
                  <a:close/>
                </a:path>
                <a:path w="2891790" h="309880">
                  <a:moveTo>
                    <a:pt x="2881685" y="15240"/>
                  </a:moveTo>
                  <a:lnTo>
                    <a:pt x="2877197" y="15240"/>
                  </a:lnTo>
                  <a:lnTo>
                    <a:pt x="2880258" y="18080"/>
                  </a:lnTo>
                  <a:lnTo>
                    <a:pt x="2880652" y="17780"/>
                  </a:lnTo>
                  <a:lnTo>
                    <a:pt x="2881685" y="15240"/>
                  </a:lnTo>
                  <a:close/>
                </a:path>
                <a:path w="2891790" h="309880">
                  <a:moveTo>
                    <a:pt x="2864942" y="0"/>
                  </a:moveTo>
                  <a:lnTo>
                    <a:pt x="2860027" y="5080"/>
                  </a:lnTo>
                  <a:lnTo>
                    <a:pt x="2860065" y="11430"/>
                  </a:lnTo>
                  <a:lnTo>
                    <a:pt x="2860052" y="5080"/>
                  </a:lnTo>
                  <a:lnTo>
                    <a:pt x="2864942" y="0"/>
                  </a:lnTo>
                  <a:close/>
                </a:path>
                <a:path w="2891790" h="309880">
                  <a:moveTo>
                    <a:pt x="2877121" y="0"/>
                  </a:moveTo>
                  <a:lnTo>
                    <a:pt x="2864942" y="0"/>
                  </a:lnTo>
                  <a:lnTo>
                    <a:pt x="2860052" y="5080"/>
                  </a:lnTo>
                  <a:lnTo>
                    <a:pt x="2860057" y="7614"/>
                  </a:lnTo>
                  <a:lnTo>
                    <a:pt x="2864967" y="2540"/>
                  </a:lnTo>
                  <a:lnTo>
                    <a:pt x="2879623" y="2540"/>
                  </a:lnTo>
                  <a:lnTo>
                    <a:pt x="2877121" y="0"/>
                  </a:lnTo>
                  <a:close/>
                </a:path>
                <a:path w="2891790" h="309880">
                  <a:moveTo>
                    <a:pt x="2877159" y="0"/>
                  </a:moveTo>
                  <a:lnTo>
                    <a:pt x="2882125" y="5080"/>
                  </a:lnTo>
                  <a:lnTo>
                    <a:pt x="2882156" y="7612"/>
                  </a:lnTo>
                  <a:lnTo>
                    <a:pt x="2882138" y="5080"/>
                  </a:lnTo>
                  <a:lnTo>
                    <a:pt x="2877159" y="0"/>
                  </a:lnTo>
                  <a:close/>
                </a:path>
                <a:path w="2891790" h="309880">
                  <a:moveTo>
                    <a:pt x="2879623" y="2540"/>
                  </a:moveTo>
                  <a:lnTo>
                    <a:pt x="2877172" y="2540"/>
                  </a:lnTo>
                  <a:lnTo>
                    <a:pt x="2882145" y="7602"/>
                  </a:lnTo>
                  <a:lnTo>
                    <a:pt x="2882125" y="5080"/>
                  </a:lnTo>
                  <a:lnTo>
                    <a:pt x="2879623" y="2540"/>
                  </a:lnTo>
                  <a:close/>
                </a:path>
              </a:pathLst>
            </a:custGeom>
            <a:solidFill>
              <a:srgbClr val="007AFF"/>
            </a:solidFill>
          </p:spPr>
          <p:txBody>
            <a:bodyPr wrap="square" lIns="0" tIns="0" rIns="0" bIns="0" rtlCol="0"/>
            <a:lstStyle/>
            <a:p>
              <a:endParaRPr sz="2388"/>
            </a:p>
          </p:txBody>
        </p:sp>
        <p:grpSp>
          <p:nvGrpSpPr>
            <p:cNvPr id="49" name="object 17">
              <a:extLst>
                <a:ext uri="{FF2B5EF4-FFF2-40B4-BE49-F238E27FC236}">
                  <a16:creationId xmlns:a16="http://schemas.microsoft.com/office/drawing/2014/main" id="{1EB2D280-AD59-90E3-C871-81DAAFF39990}"/>
                </a:ext>
              </a:extLst>
            </p:cNvPr>
            <p:cNvGrpSpPr/>
            <p:nvPr/>
          </p:nvGrpSpPr>
          <p:grpSpPr>
            <a:xfrm>
              <a:off x="3476413" y="3532088"/>
              <a:ext cx="2479496" cy="732980"/>
              <a:chOff x="2159457" y="2662148"/>
              <a:chExt cx="1868805" cy="552450"/>
            </a:xfrm>
          </p:grpSpPr>
          <p:pic>
            <p:nvPicPr>
              <p:cNvPr id="50" name="object 18">
                <a:extLst>
                  <a:ext uri="{FF2B5EF4-FFF2-40B4-BE49-F238E27FC236}">
                    <a16:creationId xmlns:a16="http://schemas.microsoft.com/office/drawing/2014/main" id="{ABFDFA99-7717-1F33-BB86-72E234B13EF7}"/>
                  </a:ext>
                </a:extLst>
              </p:cNvPr>
              <p:cNvPicPr/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>
                <a:off x="2159457" y="2738437"/>
                <a:ext cx="709955" cy="375640"/>
              </a:xfrm>
              <a:prstGeom prst="rect">
                <a:avLst/>
              </a:prstGeom>
            </p:spPr>
          </p:pic>
          <p:pic>
            <p:nvPicPr>
              <p:cNvPr id="62" name="object 19">
                <a:extLst>
                  <a:ext uri="{FF2B5EF4-FFF2-40B4-BE49-F238E27FC236}">
                    <a16:creationId xmlns:a16="http://schemas.microsoft.com/office/drawing/2014/main" id="{BC056EA9-E301-E591-4895-0E610146126C}"/>
                  </a:ext>
                </a:extLst>
              </p:cNvPr>
              <p:cNvPicPr/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2171164" y="3026943"/>
                <a:ext cx="326341" cy="106425"/>
              </a:xfrm>
              <a:prstGeom prst="rect">
                <a:avLst/>
              </a:prstGeom>
            </p:spPr>
          </p:pic>
          <p:pic>
            <p:nvPicPr>
              <p:cNvPr id="63" name="object 20">
                <a:extLst>
                  <a:ext uri="{FF2B5EF4-FFF2-40B4-BE49-F238E27FC236}">
                    <a16:creationId xmlns:a16="http://schemas.microsoft.com/office/drawing/2014/main" id="{6C0EEE10-078C-D192-DB64-BFAEB1D4300F}"/>
                  </a:ext>
                </a:extLst>
              </p:cNvPr>
              <p:cNvPicPr/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>
                <a:off x="2875393" y="2662148"/>
                <a:ext cx="1152309" cy="552107"/>
              </a:xfrm>
              <a:prstGeom prst="rect">
                <a:avLst/>
              </a:prstGeom>
            </p:spPr>
          </p:pic>
          <p:pic>
            <p:nvPicPr>
              <p:cNvPr id="13312" name="object 21">
                <a:extLst>
                  <a:ext uri="{FF2B5EF4-FFF2-40B4-BE49-F238E27FC236}">
                    <a16:creationId xmlns:a16="http://schemas.microsoft.com/office/drawing/2014/main" id="{1BCE1793-E3A6-521C-D40B-D9A197E6A712}"/>
                  </a:ext>
                </a:extLst>
              </p:cNvPr>
              <p:cNvPicPr/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2985846" y="2935807"/>
                <a:ext cx="405041" cy="163830"/>
              </a:xfrm>
              <a:prstGeom prst="rect">
                <a:avLst/>
              </a:prstGeom>
            </p:spPr>
          </p:pic>
        </p:grpSp>
        <p:grpSp>
          <p:nvGrpSpPr>
            <p:cNvPr id="13313" name="object 22">
              <a:extLst>
                <a:ext uri="{FF2B5EF4-FFF2-40B4-BE49-F238E27FC236}">
                  <a16:creationId xmlns:a16="http://schemas.microsoft.com/office/drawing/2014/main" id="{6A2796D7-D7E3-D1F8-6063-7C089FBE8EE5}"/>
                </a:ext>
              </a:extLst>
            </p:cNvPr>
            <p:cNvGrpSpPr/>
            <p:nvPr/>
          </p:nvGrpSpPr>
          <p:grpSpPr>
            <a:xfrm>
              <a:off x="7019049" y="2974569"/>
              <a:ext cx="3970731" cy="1023645"/>
              <a:chOff x="4829555" y="2241943"/>
              <a:chExt cx="2992755" cy="771525"/>
            </a:xfrm>
          </p:grpSpPr>
          <p:sp>
            <p:nvSpPr>
              <p:cNvPr id="13315" name="object 23">
                <a:extLst>
                  <a:ext uri="{FF2B5EF4-FFF2-40B4-BE49-F238E27FC236}">
                    <a16:creationId xmlns:a16="http://schemas.microsoft.com/office/drawing/2014/main" id="{094919F6-7500-1E5E-99D7-5F934CC17218}"/>
                  </a:ext>
                </a:extLst>
              </p:cNvPr>
              <p:cNvSpPr/>
              <p:nvPr/>
            </p:nvSpPr>
            <p:spPr>
              <a:xfrm>
                <a:off x="4829555" y="2241943"/>
                <a:ext cx="2992755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2992754" h="304800">
                    <a:moveTo>
                      <a:pt x="43588" y="300755"/>
                    </a:moveTo>
                    <a:lnTo>
                      <a:pt x="47929" y="302260"/>
                    </a:lnTo>
                    <a:lnTo>
                      <a:pt x="55410" y="303530"/>
                    </a:lnTo>
                    <a:lnTo>
                      <a:pt x="67437" y="304800"/>
                    </a:lnTo>
                    <a:lnTo>
                      <a:pt x="67739" y="304512"/>
                    </a:lnTo>
                    <a:lnTo>
                      <a:pt x="62915" y="303530"/>
                    </a:lnTo>
                    <a:lnTo>
                      <a:pt x="58407" y="303530"/>
                    </a:lnTo>
                    <a:lnTo>
                      <a:pt x="56205" y="300989"/>
                    </a:lnTo>
                    <a:lnTo>
                      <a:pt x="44919" y="300989"/>
                    </a:lnTo>
                    <a:lnTo>
                      <a:pt x="43588" y="300755"/>
                    </a:lnTo>
                    <a:close/>
                  </a:path>
                  <a:path w="2992754" h="304800">
                    <a:moveTo>
                      <a:pt x="67985" y="288006"/>
                    </a:moveTo>
                    <a:lnTo>
                      <a:pt x="68999" y="288289"/>
                    </a:lnTo>
                    <a:lnTo>
                      <a:pt x="72313" y="292100"/>
                    </a:lnTo>
                    <a:lnTo>
                      <a:pt x="71450" y="300989"/>
                    </a:lnTo>
                    <a:lnTo>
                      <a:pt x="67739" y="304512"/>
                    </a:lnTo>
                    <a:lnTo>
                      <a:pt x="69151" y="304800"/>
                    </a:lnTo>
                    <a:lnTo>
                      <a:pt x="108851" y="304800"/>
                    </a:lnTo>
                    <a:lnTo>
                      <a:pt x="105156" y="302260"/>
                    </a:lnTo>
                    <a:lnTo>
                      <a:pt x="105219" y="292100"/>
                    </a:lnTo>
                    <a:lnTo>
                      <a:pt x="108966" y="288289"/>
                    </a:lnTo>
                    <a:lnTo>
                      <a:pt x="70307" y="288289"/>
                    </a:lnTo>
                    <a:lnTo>
                      <a:pt x="67985" y="288006"/>
                    </a:lnTo>
                    <a:close/>
                  </a:path>
                  <a:path w="2992754" h="304800">
                    <a:moveTo>
                      <a:pt x="118160" y="288289"/>
                    </a:moveTo>
                    <a:lnTo>
                      <a:pt x="108966" y="288289"/>
                    </a:lnTo>
                    <a:lnTo>
                      <a:pt x="105219" y="292100"/>
                    </a:lnTo>
                    <a:lnTo>
                      <a:pt x="105156" y="302260"/>
                    </a:lnTo>
                    <a:lnTo>
                      <a:pt x="108851" y="304800"/>
                    </a:lnTo>
                    <a:lnTo>
                      <a:pt x="118021" y="304800"/>
                    </a:lnTo>
                    <a:lnTo>
                      <a:pt x="121780" y="302260"/>
                    </a:lnTo>
                    <a:lnTo>
                      <a:pt x="121856" y="292100"/>
                    </a:lnTo>
                    <a:lnTo>
                      <a:pt x="118160" y="288289"/>
                    </a:lnTo>
                    <a:close/>
                  </a:path>
                  <a:path w="2992754" h="304800">
                    <a:moveTo>
                      <a:pt x="177819" y="286111"/>
                    </a:moveTo>
                    <a:lnTo>
                      <a:pt x="148196" y="288289"/>
                    </a:lnTo>
                    <a:lnTo>
                      <a:pt x="118160" y="288289"/>
                    </a:lnTo>
                    <a:lnTo>
                      <a:pt x="121856" y="292100"/>
                    </a:lnTo>
                    <a:lnTo>
                      <a:pt x="121780" y="302260"/>
                    </a:lnTo>
                    <a:lnTo>
                      <a:pt x="118021" y="304800"/>
                    </a:lnTo>
                    <a:lnTo>
                      <a:pt x="149148" y="304800"/>
                    </a:lnTo>
                    <a:lnTo>
                      <a:pt x="184746" y="302260"/>
                    </a:lnTo>
                    <a:lnTo>
                      <a:pt x="180149" y="302260"/>
                    </a:lnTo>
                    <a:lnTo>
                      <a:pt x="175983" y="298450"/>
                    </a:lnTo>
                    <a:lnTo>
                      <a:pt x="174853" y="289560"/>
                    </a:lnTo>
                    <a:lnTo>
                      <a:pt x="177819" y="286111"/>
                    </a:lnTo>
                    <a:close/>
                  </a:path>
                  <a:path w="2992754" h="304800">
                    <a:moveTo>
                      <a:pt x="59893" y="287019"/>
                    </a:moveTo>
                    <a:lnTo>
                      <a:pt x="55892" y="290830"/>
                    </a:lnTo>
                    <a:lnTo>
                      <a:pt x="55105" y="299719"/>
                    </a:lnTo>
                    <a:lnTo>
                      <a:pt x="58407" y="303530"/>
                    </a:lnTo>
                    <a:lnTo>
                      <a:pt x="62915" y="303530"/>
                    </a:lnTo>
                    <a:lnTo>
                      <a:pt x="67739" y="304512"/>
                    </a:lnTo>
                    <a:lnTo>
                      <a:pt x="71450" y="300989"/>
                    </a:lnTo>
                    <a:lnTo>
                      <a:pt x="72313" y="292100"/>
                    </a:lnTo>
                    <a:lnTo>
                      <a:pt x="68999" y="288289"/>
                    </a:lnTo>
                    <a:lnTo>
                      <a:pt x="67985" y="288006"/>
                    </a:lnTo>
                    <a:lnTo>
                      <a:pt x="59893" y="287019"/>
                    </a:lnTo>
                    <a:close/>
                  </a:path>
                  <a:path w="2992754" h="304800">
                    <a:moveTo>
                      <a:pt x="187325" y="284480"/>
                    </a:moveTo>
                    <a:lnTo>
                      <a:pt x="182727" y="285750"/>
                    </a:lnTo>
                    <a:lnTo>
                      <a:pt x="177819" y="286111"/>
                    </a:lnTo>
                    <a:lnTo>
                      <a:pt x="174853" y="289560"/>
                    </a:lnTo>
                    <a:lnTo>
                      <a:pt x="175983" y="298450"/>
                    </a:lnTo>
                    <a:lnTo>
                      <a:pt x="180149" y="302260"/>
                    </a:lnTo>
                    <a:lnTo>
                      <a:pt x="184746" y="302260"/>
                    </a:lnTo>
                    <a:lnTo>
                      <a:pt x="189331" y="300989"/>
                    </a:lnTo>
                    <a:lnTo>
                      <a:pt x="192608" y="297180"/>
                    </a:lnTo>
                    <a:lnTo>
                      <a:pt x="191503" y="288289"/>
                    </a:lnTo>
                    <a:lnTo>
                      <a:pt x="187325" y="284480"/>
                    </a:lnTo>
                    <a:close/>
                  </a:path>
                  <a:path w="2992754" h="304800">
                    <a:moveTo>
                      <a:pt x="229458" y="284480"/>
                    </a:moveTo>
                    <a:lnTo>
                      <a:pt x="187325" y="284480"/>
                    </a:lnTo>
                    <a:lnTo>
                      <a:pt x="191503" y="288289"/>
                    </a:lnTo>
                    <a:lnTo>
                      <a:pt x="192608" y="297180"/>
                    </a:lnTo>
                    <a:lnTo>
                      <a:pt x="189331" y="300989"/>
                    </a:lnTo>
                    <a:lnTo>
                      <a:pt x="184746" y="302260"/>
                    </a:lnTo>
                    <a:lnTo>
                      <a:pt x="212107" y="298450"/>
                    </a:lnTo>
                    <a:lnTo>
                      <a:pt x="225785" y="297180"/>
                    </a:lnTo>
                    <a:lnTo>
                      <a:pt x="234444" y="295571"/>
                    </a:lnTo>
                    <a:lnTo>
                      <a:pt x="230568" y="292100"/>
                    </a:lnTo>
                    <a:lnTo>
                      <a:pt x="229458" y="284480"/>
                    </a:lnTo>
                    <a:close/>
                  </a:path>
                  <a:path w="2992754" h="304800">
                    <a:moveTo>
                      <a:pt x="47097" y="299719"/>
                    </a:moveTo>
                    <a:lnTo>
                      <a:pt x="40601" y="299719"/>
                    </a:lnTo>
                    <a:lnTo>
                      <a:pt x="43588" y="300755"/>
                    </a:lnTo>
                    <a:lnTo>
                      <a:pt x="44919" y="300989"/>
                    </a:lnTo>
                    <a:lnTo>
                      <a:pt x="47097" y="299719"/>
                    </a:lnTo>
                    <a:close/>
                  </a:path>
                  <a:path w="2992754" h="304800">
                    <a:moveTo>
                      <a:pt x="39814" y="283210"/>
                    </a:moveTo>
                    <a:lnTo>
                      <a:pt x="39177" y="283778"/>
                    </a:lnTo>
                    <a:lnTo>
                      <a:pt x="40665" y="284480"/>
                    </a:lnTo>
                    <a:lnTo>
                      <a:pt x="44157" y="284480"/>
                    </a:lnTo>
                    <a:lnTo>
                      <a:pt x="48704" y="285750"/>
                    </a:lnTo>
                    <a:lnTo>
                      <a:pt x="51358" y="289560"/>
                    </a:lnTo>
                    <a:lnTo>
                      <a:pt x="49276" y="298450"/>
                    </a:lnTo>
                    <a:lnTo>
                      <a:pt x="44919" y="300989"/>
                    </a:lnTo>
                    <a:lnTo>
                      <a:pt x="56205" y="300989"/>
                    </a:lnTo>
                    <a:lnTo>
                      <a:pt x="55105" y="299719"/>
                    </a:lnTo>
                    <a:lnTo>
                      <a:pt x="55892" y="290830"/>
                    </a:lnTo>
                    <a:lnTo>
                      <a:pt x="59893" y="287019"/>
                    </a:lnTo>
                    <a:lnTo>
                      <a:pt x="57619" y="287019"/>
                    </a:lnTo>
                    <a:lnTo>
                      <a:pt x="50838" y="285750"/>
                    </a:lnTo>
                    <a:lnTo>
                      <a:pt x="39814" y="283210"/>
                    </a:lnTo>
                    <a:close/>
                  </a:path>
                  <a:path w="2992754" h="304800">
                    <a:moveTo>
                      <a:pt x="39177" y="283778"/>
                    </a:moveTo>
                    <a:lnTo>
                      <a:pt x="38441" y="284436"/>
                    </a:lnTo>
                    <a:lnTo>
                      <a:pt x="39636" y="285750"/>
                    </a:lnTo>
                    <a:lnTo>
                      <a:pt x="39535" y="290830"/>
                    </a:lnTo>
                    <a:lnTo>
                      <a:pt x="34636" y="296371"/>
                    </a:lnTo>
                    <a:lnTo>
                      <a:pt x="35986" y="298956"/>
                    </a:lnTo>
                    <a:lnTo>
                      <a:pt x="37719" y="299719"/>
                    </a:lnTo>
                    <a:lnTo>
                      <a:pt x="43588" y="300755"/>
                    </a:lnTo>
                    <a:lnTo>
                      <a:pt x="40601" y="299719"/>
                    </a:lnTo>
                    <a:lnTo>
                      <a:pt x="47097" y="299719"/>
                    </a:lnTo>
                    <a:lnTo>
                      <a:pt x="49276" y="298450"/>
                    </a:lnTo>
                    <a:lnTo>
                      <a:pt x="51358" y="289560"/>
                    </a:lnTo>
                    <a:lnTo>
                      <a:pt x="48704" y="285750"/>
                    </a:lnTo>
                    <a:lnTo>
                      <a:pt x="44157" y="284480"/>
                    </a:lnTo>
                    <a:lnTo>
                      <a:pt x="40665" y="284480"/>
                    </a:lnTo>
                    <a:lnTo>
                      <a:pt x="39177" y="283778"/>
                    </a:lnTo>
                    <a:close/>
                  </a:path>
                  <a:path w="2992754" h="304800">
                    <a:moveTo>
                      <a:pt x="35986" y="298956"/>
                    </a:moveTo>
                    <a:lnTo>
                      <a:pt x="36385" y="299719"/>
                    </a:lnTo>
                    <a:lnTo>
                      <a:pt x="37719" y="299719"/>
                    </a:lnTo>
                    <a:lnTo>
                      <a:pt x="35986" y="298956"/>
                    </a:lnTo>
                    <a:close/>
                  </a:path>
                  <a:path w="2992754" h="304800">
                    <a:moveTo>
                      <a:pt x="21975" y="289885"/>
                    </a:moveTo>
                    <a:lnTo>
                      <a:pt x="34836" y="298450"/>
                    </a:lnTo>
                    <a:lnTo>
                      <a:pt x="35986" y="298956"/>
                    </a:lnTo>
                    <a:lnTo>
                      <a:pt x="35058" y="297180"/>
                    </a:lnTo>
                    <a:lnTo>
                      <a:pt x="33921" y="297180"/>
                    </a:lnTo>
                    <a:lnTo>
                      <a:pt x="34636" y="296371"/>
                    </a:lnTo>
                    <a:lnTo>
                      <a:pt x="33731" y="294639"/>
                    </a:lnTo>
                    <a:lnTo>
                      <a:pt x="34336" y="292100"/>
                    </a:lnTo>
                    <a:lnTo>
                      <a:pt x="26416" y="292100"/>
                    </a:lnTo>
                    <a:lnTo>
                      <a:pt x="21975" y="289885"/>
                    </a:lnTo>
                    <a:close/>
                  </a:path>
                  <a:path w="2992754" h="304800">
                    <a:moveTo>
                      <a:pt x="27110" y="295780"/>
                    </a:moveTo>
                    <a:lnTo>
                      <a:pt x="28765" y="297180"/>
                    </a:lnTo>
                    <a:lnTo>
                      <a:pt x="29679" y="297180"/>
                    </a:lnTo>
                    <a:lnTo>
                      <a:pt x="27305" y="295910"/>
                    </a:lnTo>
                    <a:lnTo>
                      <a:pt x="27110" y="295780"/>
                    </a:lnTo>
                    <a:close/>
                  </a:path>
                  <a:path w="2992754" h="304800">
                    <a:moveTo>
                      <a:pt x="34636" y="296371"/>
                    </a:moveTo>
                    <a:lnTo>
                      <a:pt x="33921" y="297180"/>
                    </a:lnTo>
                    <a:lnTo>
                      <a:pt x="35058" y="297180"/>
                    </a:lnTo>
                    <a:lnTo>
                      <a:pt x="34636" y="296371"/>
                    </a:lnTo>
                    <a:close/>
                  </a:path>
                  <a:path w="2992754" h="304800">
                    <a:moveTo>
                      <a:pt x="38441" y="284436"/>
                    </a:moveTo>
                    <a:lnTo>
                      <a:pt x="35547" y="287019"/>
                    </a:lnTo>
                    <a:lnTo>
                      <a:pt x="33731" y="294639"/>
                    </a:lnTo>
                    <a:lnTo>
                      <a:pt x="34636" y="296371"/>
                    </a:lnTo>
                    <a:lnTo>
                      <a:pt x="39535" y="290830"/>
                    </a:lnTo>
                    <a:lnTo>
                      <a:pt x="39636" y="285750"/>
                    </a:lnTo>
                    <a:lnTo>
                      <a:pt x="38441" y="284436"/>
                    </a:lnTo>
                    <a:close/>
                  </a:path>
                  <a:path w="2992754" h="304800">
                    <a:moveTo>
                      <a:pt x="239458" y="294639"/>
                    </a:moveTo>
                    <a:lnTo>
                      <a:pt x="234444" y="295571"/>
                    </a:lnTo>
                    <a:lnTo>
                      <a:pt x="234823" y="295910"/>
                    </a:lnTo>
                    <a:lnTo>
                      <a:pt x="239458" y="294639"/>
                    </a:lnTo>
                    <a:close/>
                  </a:path>
                  <a:path w="2992754" h="304800">
                    <a:moveTo>
                      <a:pt x="24331" y="293430"/>
                    </a:moveTo>
                    <a:lnTo>
                      <a:pt x="25400" y="294639"/>
                    </a:lnTo>
                    <a:lnTo>
                      <a:pt x="27110" y="295780"/>
                    </a:lnTo>
                    <a:lnTo>
                      <a:pt x="24331" y="293430"/>
                    </a:lnTo>
                    <a:close/>
                  </a:path>
                  <a:path w="2992754" h="304800">
                    <a:moveTo>
                      <a:pt x="242579" y="277422"/>
                    </a:moveTo>
                    <a:lnTo>
                      <a:pt x="238854" y="277684"/>
                    </a:lnTo>
                    <a:lnTo>
                      <a:pt x="237185" y="278130"/>
                    </a:lnTo>
                    <a:lnTo>
                      <a:pt x="232228" y="278592"/>
                    </a:lnTo>
                    <a:lnTo>
                      <a:pt x="229273" y="283210"/>
                    </a:lnTo>
                    <a:lnTo>
                      <a:pt x="230568" y="292100"/>
                    </a:lnTo>
                    <a:lnTo>
                      <a:pt x="234444" y="295571"/>
                    </a:lnTo>
                    <a:lnTo>
                      <a:pt x="239458" y="294639"/>
                    </a:lnTo>
                    <a:lnTo>
                      <a:pt x="244427" y="294166"/>
                    </a:lnTo>
                    <a:lnTo>
                      <a:pt x="247421" y="289560"/>
                    </a:lnTo>
                    <a:lnTo>
                      <a:pt x="246227" y="280669"/>
                    </a:lnTo>
                    <a:lnTo>
                      <a:pt x="242579" y="277422"/>
                    </a:lnTo>
                    <a:close/>
                  </a:path>
                  <a:path w="2992754" h="304800">
                    <a:moveTo>
                      <a:pt x="244427" y="294166"/>
                    </a:moveTo>
                    <a:lnTo>
                      <a:pt x="239458" y="294639"/>
                    </a:lnTo>
                    <a:lnTo>
                      <a:pt x="244119" y="294639"/>
                    </a:lnTo>
                    <a:lnTo>
                      <a:pt x="244427" y="294166"/>
                    </a:lnTo>
                    <a:close/>
                  </a:path>
                  <a:path w="2992754" h="304800">
                    <a:moveTo>
                      <a:pt x="285726" y="272263"/>
                    </a:moveTo>
                    <a:lnTo>
                      <a:pt x="263994" y="274319"/>
                    </a:lnTo>
                    <a:lnTo>
                      <a:pt x="250584" y="276860"/>
                    </a:lnTo>
                    <a:lnTo>
                      <a:pt x="242579" y="277422"/>
                    </a:lnTo>
                    <a:lnTo>
                      <a:pt x="246227" y="280669"/>
                    </a:lnTo>
                    <a:lnTo>
                      <a:pt x="247250" y="288289"/>
                    </a:lnTo>
                    <a:lnTo>
                      <a:pt x="247364" y="289647"/>
                    </a:lnTo>
                    <a:lnTo>
                      <a:pt x="244427" y="294166"/>
                    </a:lnTo>
                    <a:lnTo>
                      <a:pt x="279443" y="290830"/>
                    </a:lnTo>
                    <a:lnTo>
                      <a:pt x="288508" y="289560"/>
                    </a:lnTo>
                    <a:lnTo>
                      <a:pt x="288010" y="289560"/>
                    </a:lnTo>
                    <a:lnTo>
                      <a:pt x="283718" y="285750"/>
                    </a:lnTo>
                    <a:lnTo>
                      <a:pt x="282613" y="276860"/>
                    </a:lnTo>
                    <a:lnTo>
                      <a:pt x="285726" y="272263"/>
                    </a:lnTo>
                    <a:close/>
                  </a:path>
                  <a:path w="2992754" h="304800">
                    <a:moveTo>
                      <a:pt x="22206" y="291024"/>
                    </a:moveTo>
                    <a:lnTo>
                      <a:pt x="22758" y="292100"/>
                    </a:lnTo>
                    <a:lnTo>
                      <a:pt x="24331" y="293430"/>
                    </a:lnTo>
                    <a:lnTo>
                      <a:pt x="22206" y="291024"/>
                    </a:lnTo>
                    <a:close/>
                  </a:path>
                  <a:path w="2992754" h="304800">
                    <a:moveTo>
                      <a:pt x="32829" y="279400"/>
                    </a:moveTo>
                    <a:lnTo>
                      <a:pt x="27673" y="279400"/>
                    </a:lnTo>
                    <a:lnTo>
                      <a:pt x="21717" y="285750"/>
                    </a:lnTo>
                    <a:lnTo>
                      <a:pt x="21975" y="289885"/>
                    </a:lnTo>
                    <a:lnTo>
                      <a:pt x="26416" y="292100"/>
                    </a:lnTo>
                    <a:lnTo>
                      <a:pt x="34734" y="288289"/>
                    </a:lnTo>
                    <a:lnTo>
                      <a:pt x="36614" y="283210"/>
                    </a:lnTo>
                    <a:lnTo>
                      <a:pt x="36443" y="282725"/>
                    </a:lnTo>
                    <a:lnTo>
                      <a:pt x="32829" y="279400"/>
                    </a:lnTo>
                    <a:close/>
                  </a:path>
                  <a:path w="2992754" h="304800">
                    <a:moveTo>
                      <a:pt x="36161" y="281923"/>
                    </a:moveTo>
                    <a:lnTo>
                      <a:pt x="36443" y="282725"/>
                    </a:lnTo>
                    <a:lnTo>
                      <a:pt x="36969" y="283210"/>
                    </a:lnTo>
                    <a:lnTo>
                      <a:pt x="36614" y="283210"/>
                    </a:lnTo>
                    <a:lnTo>
                      <a:pt x="34734" y="288289"/>
                    </a:lnTo>
                    <a:lnTo>
                      <a:pt x="26416" y="292100"/>
                    </a:lnTo>
                    <a:lnTo>
                      <a:pt x="34336" y="292100"/>
                    </a:lnTo>
                    <a:lnTo>
                      <a:pt x="35547" y="287019"/>
                    </a:lnTo>
                    <a:lnTo>
                      <a:pt x="38441" y="284436"/>
                    </a:lnTo>
                    <a:lnTo>
                      <a:pt x="37325" y="283210"/>
                    </a:lnTo>
                    <a:lnTo>
                      <a:pt x="36969" y="283210"/>
                    </a:lnTo>
                    <a:lnTo>
                      <a:pt x="36443" y="282725"/>
                    </a:lnTo>
                    <a:lnTo>
                      <a:pt x="36884" y="282725"/>
                    </a:lnTo>
                    <a:lnTo>
                      <a:pt x="36161" y="281923"/>
                    </a:lnTo>
                    <a:close/>
                  </a:path>
                  <a:path w="2992754" h="304800">
                    <a:moveTo>
                      <a:pt x="22024" y="290670"/>
                    </a:moveTo>
                    <a:lnTo>
                      <a:pt x="22034" y="290830"/>
                    </a:lnTo>
                    <a:lnTo>
                      <a:pt x="22206" y="291024"/>
                    </a:lnTo>
                    <a:lnTo>
                      <a:pt x="22024" y="290670"/>
                    </a:lnTo>
                    <a:close/>
                  </a:path>
                  <a:path w="2992754" h="304800">
                    <a:moveTo>
                      <a:pt x="21499" y="289647"/>
                    </a:moveTo>
                    <a:lnTo>
                      <a:pt x="22024" y="290670"/>
                    </a:lnTo>
                    <a:lnTo>
                      <a:pt x="21975" y="289885"/>
                    </a:lnTo>
                    <a:lnTo>
                      <a:pt x="21499" y="289647"/>
                    </a:lnTo>
                    <a:close/>
                  </a:path>
                  <a:path w="2992754" h="304800">
                    <a:moveTo>
                      <a:pt x="30454" y="272897"/>
                    </a:moveTo>
                    <a:lnTo>
                      <a:pt x="29565" y="274319"/>
                    </a:lnTo>
                    <a:lnTo>
                      <a:pt x="20066" y="275589"/>
                    </a:lnTo>
                    <a:lnTo>
                      <a:pt x="19494" y="275589"/>
                    </a:lnTo>
                    <a:lnTo>
                      <a:pt x="17335" y="280669"/>
                    </a:lnTo>
                    <a:lnTo>
                      <a:pt x="18881" y="284877"/>
                    </a:lnTo>
                    <a:lnTo>
                      <a:pt x="19658" y="286366"/>
                    </a:lnTo>
                    <a:lnTo>
                      <a:pt x="20802" y="288289"/>
                    </a:lnTo>
                    <a:lnTo>
                      <a:pt x="21499" y="289647"/>
                    </a:lnTo>
                    <a:lnTo>
                      <a:pt x="21975" y="289885"/>
                    </a:lnTo>
                    <a:lnTo>
                      <a:pt x="21717" y="285750"/>
                    </a:lnTo>
                    <a:lnTo>
                      <a:pt x="27673" y="279400"/>
                    </a:lnTo>
                    <a:lnTo>
                      <a:pt x="35064" y="279400"/>
                    </a:lnTo>
                    <a:lnTo>
                      <a:pt x="33693" y="275589"/>
                    </a:lnTo>
                    <a:lnTo>
                      <a:pt x="20066" y="275589"/>
                    </a:lnTo>
                    <a:lnTo>
                      <a:pt x="19816" y="275450"/>
                    </a:lnTo>
                    <a:lnTo>
                      <a:pt x="33642" y="275450"/>
                    </a:lnTo>
                    <a:lnTo>
                      <a:pt x="33235" y="274319"/>
                    </a:lnTo>
                    <a:lnTo>
                      <a:pt x="30454" y="272897"/>
                    </a:lnTo>
                    <a:close/>
                  </a:path>
                  <a:path w="2992754" h="304800">
                    <a:moveTo>
                      <a:pt x="19658" y="286366"/>
                    </a:moveTo>
                    <a:lnTo>
                      <a:pt x="21323" y="289560"/>
                    </a:lnTo>
                    <a:lnTo>
                      <a:pt x="21499" y="289647"/>
                    </a:lnTo>
                    <a:lnTo>
                      <a:pt x="20802" y="288289"/>
                    </a:lnTo>
                    <a:lnTo>
                      <a:pt x="19658" y="286366"/>
                    </a:lnTo>
                    <a:close/>
                  </a:path>
                  <a:path w="2992754" h="304800">
                    <a:moveTo>
                      <a:pt x="296028" y="270827"/>
                    </a:moveTo>
                    <a:lnTo>
                      <a:pt x="293572" y="271061"/>
                    </a:lnTo>
                    <a:lnTo>
                      <a:pt x="290842" y="271780"/>
                    </a:lnTo>
                    <a:lnTo>
                      <a:pt x="285726" y="272263"/>
                    </a:lnTo>
                    <a:lnTo>
                      <a:pt x="282613" y="276860"/>
                    </a:lnTo>
                    <a:lnTo>
                      <a:pt x="283718" y="285750"/>
                    </a:lnTo>
                    <a:lnTo>
                      <a:pt x="288010" y="289560"/>
                    </a:lnTo>
                    <a:lnTo>
                      <a:pt x="292785" y="288289"/>
                    </a:lnTo>
                    <a:lnTo>
                      <a:pt x="297841" y="287994"/>
                    </a:lnTo>
                    <a:lnTo>
                      <a:pt x="301028" y="284480"/>
                    </a:lnTo>
                    <a:lnTo>
                      <a:pt x="299986" y="274319"/>
                    </a:lnTo>
                    <a:lnTo>
                      <a:pt x="296028" y="270827"/>
                    </a:lnTo>
                    <a:close/>
                  </a:path>
                  <a:path w="2992754" h="304800">
                    <a:moveTo>
                      <a:pt x="297841" y="287994"/>
                    </a:moveTo>
                    <a:lnTo>
                      <a:pt x="292785" y="288289"/>
                    </a:lnTo>
                    <a:lnTo>
                      <a:pt x="288010" y="289560"/>
                    </a:lnTo>
                    <a:lnTo>
                      <a:pt x="288508" y="289560"/>
                    </a:lnTo>
                    <a:lnTo>
                      <a:pt x="297573" y="288289"/>
                    </a:lnTo>
                    <a:lnTo>
                      <a:pt x="297841" y="287994"/>
                    </a:lnTo>
                    <a:close/>
                  </a:path>
                  <a:path w="2992754" h="304800">
                    <a:moveTo>
                      <a:pt x="64452" y="287019"/>
                    </a:moveTo>
                    <a:lnTo>
                      <a:pt x="59893" y="287019"/>
                    </a:lnTo>
                    <a:lnTo>
                      <a:pt x="67985" y="288006"/>
                    </a:lnTo>
                    <a:lnTo>
                      <a:pt x="64452" y="287019"/>
                    </a:lnTo>
                    <a:close/>
                  </a:path>
                  <a:path w="2992754" h="304800">
                    <a:moveTo>
                      <a:pt x="382993" y="261619"/>
                    </a:moveTo>
                    <a:lnTo>
                      <a:pt x="356268" y="264160"/>
                    </a:lnTo>
                    <a:lnTo>
                      <a:pt x="312637" y="269239"/>
                    </a:lnTo>
                    <a:lnTo>
                      <a:pt x="296028" y="270827"/>
                    </a:lnTo>
                    <a:lnTo>
                      <a:pt x="299986" y="274319"/>
                    </a:lnTo>
                    <a:lnTo>
                      <a:pt x="301028" y="284480"/>
                    </a:lnTo>
                    <a:lnTo>
                      <a:pt x="297841" y="287994"/>
                    </a:lnTo>
                    <a:lnTo>
                      <a:pt x="314513" y="287019"/>
                    </a:lnTo>
                    <a:lnTo>
                      <a:pt x="358011" y="281939"/>
                    </a:lnTo>
                    <a:lnTo>
                      <a:pt x="374543" y="280363"/>
                    </a:lnTo>
                    <a:lnTo>
                      <a:pt x="370573" y="276860"/>
                    </a:lnTo>
                    <a:lnTo>
                      <a:pt x="369633" y="266700"/>
                    </a:lnTo>
                    <a:lnTo>
                      <a:pt x="373214" y="262889"/>
                    </a:lnTo>
                    <a:lnTo>
                      <a:pt x="383450" y="262022"/>
                    </a:lnTo>
                    <a:lnTo>
                      <a:pt x="382993" y="261619"/>
                    </a:lnTo>
                    <a:close/>
                  </a:path>
                  <a:path w="2992754" h="304800">
                    <a:moveTo>
                      <a:pt x="18881" y="284877"/>
                    </a:moveTo>
                    <a:lnTo>
                      <a:pt x="19202" y="285750"/>
                    </a:lnTo>
                    <a:lnTo>
                      <a:pt x="19658" y="286366"/>
                    </a:lnTo>
                    <a:lnTo>
                      <a:pt x="18881" y="284877"/>
                    </a:lnTo>
                    <a:close/>
                  </a:path>
                  <a:path w="2992754" h="304800">
                    <a:moveTo>
                      <a:pt x="232228" y="278592"/>
                    </a:moveTo>
                    <a:lnTo>
                      <a:pt x="223579" y="279400"/>
                    </a:lnTo>
                    <a:lnTo>
                      <a:pt x="209965" y="281939"/>
                    </a:lnTo>
                    <a:lnTo>
                      <a:pt x="196347" y="283210"/>
                    </a:lnTo>
                    <a:lnTo>
                      <a:pt x="178130" y="285750"/>
                    </a:lnTo>
                    <a:lnTo>
                      <a:pt x="177819" y="286111"/>
                    </a:lnTo>
                    <a:lnTo>
                      <a:pt x="182727" y="285750"/>
                    </a:lnTo>
                    <a:lnTo>
                      <a:pt x="187325" y="284480"/>
                    </a:lnTo>
                    <a:lnTo>
                      <a:pt x="229458" y="284480"/>
                    </a:lnTo>
                    <a:lnTo>
                      <a:pt x="229273" y="283210"/>
                    </a:lnTo>
                    <a:lnTo>
                      <a:pt x="232228" y="278592"/>
                    </a:lnTo>
                    <a:close/>
                  </a:path>
                  <a:path w="2992754" h="304800">
                    <a:moveTo>
                      <a:pt x="14681" y="267969"/>
                    </a:moveTo>
                    <a:lnTo>
                      <a:pt x="16687" y="280669"/>
                    </a:lnTo>
                    <a:lnTo>
                      <a:pt x="18881" y="284877"/>
                    </a:lnTo>
                    <a:lnTo>
                      <a:pt x="17335" y="280669"/>
                    </a:lnTo>
                    <a:lnTo>
                      <a:pt x="19494" y="275589"/>
                    </a:lnTo>
                    <a:lnTo>
                      <a:pt x="19816" y="275450"/>
                    </a:lnTo>
                    <a:lnTo>
                      <a:pt x="15519" y="273050"/>
                    </a:lnTo>
                    <a:lnTo>
                      <a:pt x="14681" y="267969"/>
                    </a:lnTo>
                    <a:close/>
                  </a:path>
                  <a:path w="2992754" h="304800">
                    <a:moveTo>
                      <a:pt x="37973" y="283210"/>
                    </a:moveTo>
                    <a:lnTo>
                      <a:pt x="37325" y="283210"/>
                    </a:lnTo>
                    <a:lnTo>
                      <a:pt x="38441" y="284436"/>
                    </a:lnTo>
                    <a:lnTo>
                      <a:pt x="39177" y="283778"/>
                    </a:lnTo>
                    <a:lnTo>
                      <a:pt x="37973" y="283210"/>
                    </a:lnTo>
                    <a:close/>
                  </a:path>
                  <a:path w="2992754" h="304800">
                    <a:moveTo>
                      <a:pt x="35064" y="279400"/>
                    </a:moveTo>
                    <a:lnTo>
                      <a:pt x="32829" y="279400"/>
                    </a:lnTo>
                    <a:lnTo>
                      <a:pt x="36443" y="282725"/>
                    </a:lnTo>
                    <a:lnTo>
                      <a:pt x="36161" y="281923"/>
                    </a:lnTo>
                    <a:lnTo>
                      <a:pt x="35521" y="280669"/>
                    </a:lnTo>
                    <a:lnTo>
                      <a:pt x="35064" y="279400"/>
                    </a:lnTo>
                    <a:close/>
                  </a:path>
                  <a:path w="2992754" h="304800">
                    <a:moveTo>
                      <a:pt x="32639" y="269401"/>
                    </a:moveTo>
                    <a:lnTo>
                      <a:pt x="30454" y="272897"/>
                    </a:lnTo>
                    <a:lnTo>
                      <a:pt x="33235" y="274319"/>
                    </a:lnTo>
                    <a:lnTo>
                      <a:pt x="35521" y="280669"/>
                    </a:lnTo>
                    <a:lnTo>
                      <a:pt x="36161" y="281923"/>
                    </a:lnTo>
                    <a:lnTo>
                      <a:pt x="34378" y="276860"/>
                    </a:lnTo>
                    <a:lnTo>
                      <a:pt x="33020" y="271780"/>
                    </a:lnTo>
                    <a:lnTo>
                      <a:pt x="32639" y="269401"/>
                    </a:lnTo>
                    <a:close/>
                  </a:path>
                  <a:path w="2992754" h="304800">
                    <a:moveTo>
                      <a:pt x="483450" y="252730"/>
                    </a:moveTo>
                    <a:lnTo>
                      <a:pt x="478472" y="252730"/>
                    </a:lnTo>
                    <a:lnTo>
                      <a:pt x="403171" y="260350"/>
                    </a:lnTo>
                    <a:lnTo>
                      <a:pt x="383450" y="262022"/>
                    </a:lnTo>
                    <a:lnTo>
                      <a:pt x="387324" y="265430"/>
                    </a:lnTo>
                    <a:lnTo>
                      <a:pt x="388239" y="275589"/>
                    </a:lnTo>
                    <a:lnTo>
                      <a:pt x="384644" y="279400"/>
                    </a:lnTo>
                    <a:lnTo>
                      <a:pt x="374543" y="280363"/>
                    </a:lnTo>
                    <a:lnTo>
                      <a:pt x="374891" y="280669"/>
                    </a:lnTo>
                    <a:lnTo>
                      <a:pt x="379768" y="280669"/>
                    </a:lnTo>
                    <a:lnTo>
                      <a:pt x="454884" y="273050"/>
                    </a:lnTo>
                    <a:lnTo>
                      <a:pt x="474530" y="271388"/>
                    </a:lnTo>
                    <a:lnTo>
                      <a:pt x="470611" y="267969"/>
                    </a:lnTo>
                    <a:lnTo>
                      <a:pt x="469773" y="257810"/>
                    </a:lnTo>
                    <a:lnTo>
                      <a:pt x="473456" y="254000"/>
                    </a:lnTo>
                    <a:lnTo>
                      <a:pt x="483810" y="253044"/>
                    </a:lnTo>
                    <a:lnTo>
                      <a:pt x="483450" y="252730"/>
                    </a:lnTo>
                    <a:close/>
                  </a:path>
                  <a:path w="2992754" h="304800">
                    <a:moveTo>
                      <a:pt x="383450" y="262022"/>
                    </a:moveTo>
                    <a:lnTo>
                      <a:pt x="373214" y="262889"/>
                    </a:lnTo>
                    <a:lnTo>
                      <a:pt x="369633" y="266700"/>
                    </a:lnTo>
                    <a:lnTo>
                      <a:pt x="370573" y="276860"/>
                    </a:lnTo>
                    <a:lnTo>
                      <a:pt x="374543" y="280363"/>
                    </a:lnTo>
                    <a:lnTo>
                      <a:pt x="384644" y="279400"/>
                    </a:lnTo>
                    <a:lnTo>
                      <a:pt x="388239" y="275589"/>
                    </a:lnTo>
                    <a:lnTo>
                      <a:pt x="387324" y="265430"/>
                    </a:lnTo>
                    <a:lnTo>
                      <a:pt x="383450" y="262022"/>
                    </a:lnTo>
                    <a:close/>
                  </a:path>
                  <a:path w="2992754" h="304800">
                    <a:moveTo>
                      <a:pt x="238854" y="277684"/>
                    </a:moveTo>
                    <a:lnTo>
                      <a:pt x="232524" y="278130"/>
                    </a:lnTo>
                    <a:lnTo>
                      <a:pt x="232228" y="278592"/>
                    </a:lnTo>
                    <a:lnTo>
                      <a:pt x="237185" y="278130"/>
                    </a:lnTo>
                    <a:lnTo>
                      <a:pt x="238854" y="277684"/>
                    </a:lnTo>
                    <a:close/>
                  </a:path>
                  <a:path w="2992754" h="304800">
                    <a:moveTo>
                      <a:pt x="241947" y="276860"/>
                    </a:moveTo>
                    <a:lnTo>
                      <a:pt x="238854" y="277684"/>
                    </a:lnTo>
                    <a:lnTo>
                      <a:pt x="242579" y="277422"/>
                    </a:lnTo>
                    <a:lnTo>
                      <a:pt x="241947" y="276860"/>
                    </a:lnTo>
                    <a:close/>
                  </a:path>
                  <a:path w="2992754" h="304800">
                    <a:moveTo>
                      <a:pt x="28270" y="271780"/>
                    </a:moveTo>
                    <a:lnTo>
                      <a:pt x="19816" y="275450"/>
                    </a:lnTo>
                    <a:lnTo>
                      <a:pt x="20066" y="275589"/>
                    </a:lnTo>
                    <a:lnTo>
                      <a:pt x="29565" y="274319"/>
                    </a:lnTo>
                    <a:lnTo>
                      <a:pt x="30454" y="272897"/>
                    </a:lnTo>
                    <a:lnTo>
                      <a:pt x="28270" y="271780"/>
                    </a:lnTo>
                    <a:close/>
                  </a:path>
                  <a:path w="2992754" h="304800">
                    <a:moveTo>
                      <a:pt x="26682" y="256539"/>
                    </a:moveTo>
                    <a:lnTo>
                      <a:pt x="17119" y="259080"/>
                    </a:lnTo>
                    <a:lnTo>
                      <a:pt x="13881" y="262889"/>
                    </a:lnTo>
                    <a:lnTo>
                      <a:pt x="15519" y="273050"/>
                    </a:lnTo>
                    <a:lnTo>
                      <a:pt x="19816" y="275450"/>
                    </a:lnTo>
                    <a:lnTo>
                      <a:pt x="28270" y="271780"/>
                    </a:lnTo>
                    <a:lnTo>
                      <a:pt x="31153" y="271780"/>
                    </a:lnTo>
                    <a:lnTo>
                      <a:pt x="32639" y="269401"/>
                    </a:lnTo>
                    <a:lnTo>
                      <a:pt x="32105" y="266064"/>
                    </a:lnTo>
                    <a:lnTo>
                      <a:pt x="31978" y="265430"/>
                    </a:lnTo>
                    <a:lnTo>
                      <a:pt x="31191" y="260350"/>
                    </a:lnTo>
                    <a:lnTo>
                      <a:pt x="26682" y="256539"/>
                    </a:lnTo>
                    <a:close/>
                  </a:path>
                  <a:path w="2992754" h="304800">
                    <a:moveTo>
                      <a:pt x="31153" y="271780"/>
                    </a:moveTo>
                    <a:lnTo>
                      <a:pt x="28270" y="271780"/>
                    </a:lnTo>
                    <a:lnTo>
                      <a:pt x="30454" y="272897"/>
                    </a:lnTo>
                    <a:lnTo>
                      <a:pt x="31153" y="271780"/>
                    </a:lnTo>
                    <a:close/>
                  </a:path>
                  <a:path w="2992754" h="304800">
                    <a:moveTo>
                      <a:pt x="293572" y="271061"/>
                    </a:moveTo>
                    <a:lnTo>
                      <a:pt x="286054" y="271780"/>
                    </a:lnTo>
                    <a:lnTo>
                      <a:pt x="285726" y="272263"/>
                    </a:lnTo>
                    <a:lnTo>
                      <a:pt x="290842" y="271780"/>
                    </a:lnTo>
                    <a:lnTo>
                      <a:pt x="293572" y="271061"/>
                    </a:lnTo>
                    <a:close/>
                  </a:path>
                  <a:path w="2992754" h="304800">
                    <a:moveTo>
                      <a:pt x="542239" y="247650"/>
                    </a:moveTo>
                    <a:lnTo>
                      <a:pt x="483810" y="253044"/>
                    </a:lnTo>
                    <a:lnTo>
                      <a:pt x="487807" y="256539"/>
                    </a:lnTo>
                    <a:lnTo>
                      <a:pt x="488619" y="266700"/>
                    </a:lnTo>
                    <a:lnTo>
                      <a:pt x="484911" y="270510"/>
                    </a:lnTo>
                    <a:lnTo>
                      <a:pt x="474530" y="271388"/>
                    </a:lnTo>
                    <a:lnTo>
                      <a:pt x="474980" y="271780"/>
                    </a:lnTo>
                    <a:lnTo>
                      <a:pt x="479933" y="271780"/>
                    </a:lnTo>
                    <a:lnTo>
                      <a:pt x="538759" y="266700"/>
                    </a:lnTo>
                    <a:lnTo>
                      <a:pt x="533730" y="266700"/>
                    </a:lnTo>
                    <a:lnTo>
                      <a:pt x="529310" y="262889"/>
                    </a:lnTo>
                    <a:lnTo>
                      <a:pt x="528408" y="252730"/>
                    </a:lnTo>
                    <a:lnTo>
                      <a:pt x="532130" y="248919"/>
                    </a:lnTo>
                    <a:lnTo>
                      <a:pt x="542494" y="247869"/>
                    </a:lnTo>
                    <a:lnTo>
                      <a:pt x="542239" y="247650"/>
                    </a:lnTo>
                    <a:close/>
                  </a:path>
                  <a:path w="2992754" h="304800">
                    <a:moveTo>
                      <a:pt x="483810" y="253044"/>
                    </a:moveTo>
                    <a:lnTo>
                      <a:pt x="473456" y="254000"/>
                    </a:lnTo>
                    <a:lnTo>
                      <a:pt x="469773" y="257810"/>
                    </a:lnTo>
                    <a:lnTo>
                      <a:pt x="470611" y="267969"/>
                    </a:lnTo>
                    <a:lnTo>
                      <a:pt x="474530" y="271388"/>
                    </a:lnTo>
                    <a:lnTo>
                      <a:pt x="484911" y="270510"/>
                    </a:lnTo>
                    <a:lnTo>
                      <a:pt x="488619" y="266700"/>
                    </a:lnTo>
                    <a:lnTo>
                      <a:pt x="487807" y="256539"/>
                    </a:lnTo>
                    <a:lnTo>
                      <a:pt x="483810" y="253044"/>
                    </a:lnTo>
                    <a:close/>
                  </a:path>
                  <a:path w="2992754" h="304800">
                    <a:moveTo>
                      <a:pt x="295668" y="270510"/>
                    </a:moveTo>
                    <a:lnTo>
                      <a:pt x="293572" y="271061"/>
                    </a:lnTo>
                    <a:lnTo>
                      <a:pt x="296028" y="270827"/>
                    </a:lnTo>
                    <a:lnTo>
                      <a:pt x="295668" y="270510"/>
                    </a:lnTo>
                    <a:close/>
                  </a:path>
                  <a:path w="2992754" h="304800">
                    <a:moveTo>
                      <a:pt x="32105" y="266064"/>
                    </a:moveTo>
                    <a:lnTo>
                      <a:pt x="32639" y="269401"/>
                    </a:lnTo>
                    <a:lnTo>
                      <a:pt x="32740" y="269239"/>
                    </a:lnTo>
                    <a:lnTo>
                      <a:pt x="32105" y="266064"/>
                    </a:lnTo>
                    <a:close/>
                  </a:path>
                  <a:path w="2992754" h="304800">
                    <a:moveTo>
                      <a:pt x="10512" y="233648"/>
                    </a:moveTo>
                    <a:lnTo>
                      <a:pt x="11162" y="241300"/>
                    </a:lnTo>
                    <a:lnTo>
                      <a:pt x="12178" y="250650"/>
                    </a:lnTo>
                    <a:lnTo>
                      <a:pt x="13260" y="259080"/>
                    </a:lnTo>
                    <a:lnTo>
                      <a:pt x="14681" y="267969"/>
                    </a:lnTo>
                    <a:lnTo>
                      <a:pt x="13881" y="262889"/>
                    </a:lnTo>
                    <a:lnTo>
                      <a:pt x="17119" y="259080"/>
                    </a:lnTo>
                    <a:lnTo>
                      <a:pt x="26682" y="256539"/>
                    </a:lnTo>
                    <a:lnTo>
                      <a:pt x="30705" y="256539"/>
                    </a:lnTo>
                    <a:lnTo>
                      <a:pt x="29671" y="247650"/>
                    </a:lnTo>
                    <a:lnTo>
                      <a:pt x="28922" y="240030"/>
                    </a:lnTo>
                    <a:lnTo>
                      <a:pt x="15087" y="240030"/>
                    </a:lnTo>
                    <a:lnTo>
                      <a:pt x="10756" y="236219"/>
                    </a:lnTo>
                    <a:lnTo>
                      <a:pt x="10512" y="233648"/>
                    </a:lnTo>
                    <a:close/>
                  </a:path>
                  <a:path w="2992754" h="304800">
                    <a:moveTo>
                      <a:pt x="542494" y="247869"/>
                    </a:moveTo>
                    <a:lnTo>
                      <a:pt x="532130" y="248919"/>
                    </a:lnTo>
                    <a:lnTo>
                      <a:pt x="528408" y="252730"/>
                    </a:lnTo>
                    <a:lnTo>
                      <a:pt x="529310" y="262889"/>
                    </a:lnTo>
                    <a:lnTo>
                      <a:pt x="533730" y="266700"/>
                    </a:lnTo>
                    <a:lnTo>
                      <a:pt x="538746" y="266700"/>
                    </a:lnTo>
                    <a:lnTo>
                      <a:pt x="543788" y="265430"/>
                    </a:lnTo>
                    <a:lnTo>
                      <a:pt x="547522" y="261619"/>
                    </a:lnTo>
                    <a:lnTo>
                      <a:pt x="546671" y="251460"/>
                    </a:lnTo>
                    <a:lnTo>
                      <a:pt x="542494" y="247869"/>
                    </a:lnTo>
                    <a:close/>
                  </a:path>
                  <a:path w="2992754" h="304800">
                    <a:moveTo>
                      <a:pt x="564756" y="245859"/>
                    </a:moveTo>
                    <a:lnTo>
                      <a:pt x="559615" y="246380"/>
                    </a:lnTo>
                    <a:lnTo>
                      <a:pt x="552137" y="246380"/>
                    </a:lnTo>
                    <a:lnTo>
                      <a:pt x="544656" y="247650"/>
                    </a:lnTo>
                    <a:lnTo>
                      <a:pt x="542494" y="247869"/>
                    </a:lnTo>
                    <a:lnTo>
                      <a:pt x="546671" y="251460"/>
                    </a:lnTo>
                    <a:lnTo>
                      <a:pt x="547522" y="261619"/>
                    </a:lnTo>
                    <a:lnTo>
                      <a:pt x="543788" y="265430"/>
                    </a:lnTo>
                    <a:lnTo>
                      <a:pt x="538746" y="266700"/>
                    </a:lnTo>
                    <a:lnTo>
                      <a:pt x="546357" y="265430"/>
                    </a:lnTo>
                    <a:lnTo>
                      <a:pt x="553951" y="265430"/>
                    </a:lnTo>
                    <a:lnTo>
                      <a:pt x="561540" y="264160"/>
                    </a:lnTo>
                    <a:lnTo>
                      <a:pt x="563811" y="263931"/>
                    </a:lnTo>
                    <a:lnTo>
                      <a:pt x="559549" y="260350"/>
                    </a:lnTo>
                    <a:lnTo>
                      <a:pt x="558406" y="250189"/>
                    </a:lnTo>
                    <a:lnTo>
                      <a:pt x="562038" y="246380"/>
                    </a:lnTo>
                    <a:lnTo>
                      <a:pt x="564756" y="245859"/>
                    </a:lnTo>
                    <a:close/>
                  </a:path>
                  <a:path w="2992754" h="304800">
                    <a:moveTo>
                      <a:pt x="31762" y="263918"/>
                    </a:moveTo>
                    <a:lnTo>
                      <a:pt x="31978" y="265430"/>
                    </a:lnTo>
                    <a:lnTo>
                      <a:pt x="32105" y="266064"/>
                    </a:lnTo>
                    <a:lnTo>
                      <a:pt x="31762" y="263918"/>
                    </a:lnTo>
                    <a:close/>
                  </a:path>
                  <a:path w="2992754" h="304800">
                    <a:moveTo>
                      <a:pt x="565773" y="263734"/>
                    </a:moveTo>
                    <a:lnTo>
                      <a:pt x="563811" y="263931"/>
                    </a:lnTo>
                    <a:lnTo>
                      <a:pt x="564083" y="264160"/>
                    </a:lnTo>
                    <a:lnTo>
                      <a:pt x="565773" y="263734"/>
                    </a:lnTo>
                    <a:close/>
                  </a:path>
                  <a:path w="2992754" h="304800">
                    <a:moveTo>
                      <a:pt x="572160" y="245110"/>
                    </a:moveTo>
                    <a:lnTo>
                      <a:pt x="564756" y="245859"/>
                    </a:lnTo>
                    <a:lnTo>
                      <a:pt x="562038" y="246380"/>
                    </a:lnTo>
                    <a:lnTo>
                      <a:pt x="558406" y="250189"/>
                    </a:lnTo>
                    <a:lnTo>
                      <a:pt x="559549" y="260350"/>
                    </a:lnTo>
                    <a:lnTo>
                      <a:pt x="563811" y="263931"/>
                    </a:lnTo>
                    <a:lnTo>
                      <a:pt x="565773" y="263734"/>
                    </a:lnTo>
                    <a:lnTo>
                      <a:pt x="569125" y="262889"/>
                    </a:lnTo>
                    <a:lnTo>
                      <a:pt x="574167" y="262889"/>
                    </a:lnTo>
                    <a:lnTo>
                      <a:pt x="577811" y="257810"/>
                    </a:lnTo>
                    <a:lnTo>
                      <a:pt x="576707" y="247650"/>
                    </a:lnTo>
                    <a:lnTo>
                      <a:pt x="572160" y="245110"/>
                    </a:lnTo>
                    <a:close/>
                  </a:path>
                  <a:path w="2992754" h="304800">
                    <a:moveTo>
                      <a:pt x="30705" y="256539"/>
                    </a:moveTo>
                    <a:lnTo>
                      <a:pt x="26682" y="256539"/>
                    </a:lnTo>
                    <a:lnTo>
                      <a:pt x="31191" y="260350"/>
                    </a:lnTo>
                    <a:lnTo>
                      <a:pt x="31762" y="263918"/>
                    </a:lnTo>
                    <a:lnTo>
                      <a:pt x="30705" y="256539"/>
                    </a:lnTo>
                    <a:close/>
                  </a:path>
                  <a:path w="2992754" h="304800">
                    <a:moveTo>
                      <a:pt x="574167" y="262889"/>
                    </a:moveTo>
                    <a:lnTo>
                      <a:pt x="569125" y="262889"/>
                    </a:lnTo>
                    <a:lnTo>
                      <a:pt x="565773" y="263734"/>
                    </a:lnTo>
                    <a:lnTo>
                      <a:pt x="574167" y="262889"/>
                    </a:lnTo>
                    <a:close/>
                  </a:path>
                  <a:path w="2992754" h="304800">
                    <a:moveTo>
                      <a:pt x="592178" y="245110"/>
                    </a:moveTo>
                    <a:lnTo>
                      <a:pt x="572160" y="245110"/>
                    </a:lnTo>
                    <a:lnTo>
                      <a:pt x="576707" y="247650"/>
                    </a:lnTo>
                    <a:lnTo>
                      <a:pt x="577811" y="257810"/>
                    </a:lnTo>
                    <a:lnTo>
                      <a:pt x="574167" y="262889"/>
                    </a:lnTo>
                    <a:lnTo>
                      <a:pt x="577426" y="262889"/>
                    </a:lnTo>
                    <a:lnTo>
                      <a:pt x="594010" y="260350"/>
                    </a:lnTo>
                    <a:lnTo>
                      <a:pt x="596919" y="260073"/>
                    </a:lnTo>
                    <a:lnTo>
                      <a:pt x="592620" y="256539"/>
                    </a:lnTo>
                    <a:lnTo>
                      <a:pt x="591286" y="246380"/>
                    </a:lnTo>
                    <a:lnTo>
                      <a:pt x="592178" y="245110"/>
                    </a:lnTo>
                    <a:close/>
                  </a:path>
                  <a:path w="2992754" h="304800">
                    <a:moveTo>
                      <a:pt x="599223" y="259854"/>
                    </a:moveTo>
                    <a:lnTo>
                      <a:pt x="596919" y="260073"/>
                    </a:lnTo>
                    <a:lnTo>
                      <a:pt x="597255" y="260350"/>
                    </a:lnTo>
                    <a:lnTo>
                      <a:pt x="599223" y="259854"/>
                    </a:lnTo>
                    <a:close/>
                  </a:path>
                  <a:path w="2992754" h="304800">
                    <a:moveTo>
                      <a:pt x="605002" y="240030"/>
                    </a:moveTo>
                    <a:lnTo>
                      <a:pt x="594311" y="242073"/>
                    </a:lnTo>
                    <a:lnTo>
                      <a:pt x="591286" y="246380"/>
                    </a:lnTo>
                    <a:lnTo>
                      <a:pt x="592620" y="256539"/>
                    </a:lnTo>
                    <a:lnTo>
                      <a:pt x="596919" y="260073"/>
                    </a:lnTo>
                    <a:lnTo>
                      <a:pt x="599223" y="259854"/>
                    </a:lnTo>
                    <a:lnTo>
                      <a:pt x="602297" y="259080"/>
                    </a:lnTo>
                    <a:lnTo>
                      <a:pt x="607741" y="258545"/>
                    </a:lnTo>
                    <a:lnTo>
                      <a:pt x="610946" y="254000"/>
                    </a:lnTo>
                    <a:lnTo>
                      <a:pt x="609638" y="243839"/>
                    </a:lnTo>
                    <a:lnTo>
                      <a:pt x="606547" y="241300"/>
                    </a:lnTo>
                    <a:lnTo>
                      <a:pt x="599909" y="241300"/>
                    </a:lnTo>
                    <a:lnTo>
                      <a:pt x="605833" y="240713"/>
                    </a:lnTo>
                    <a:lnTo>
                      <a:pt x="605002" y="240030"/>
                    </a:lnTo>
                    <a:close/>
                  </a:path>
                  <a:path w="2992754" h="304800">
                    <a:moveTo>
                      <a:pt x="607741" y="258545"/>
                    </a:moveTo>
                    <a:lnTo>
                      <a:pt x="602297" y="259080"/>
                    </a:lnTo>
                    <a:lnTo>
                      <a:pt x="599223" y="259854"/>
                    </a:lnTo>
                    <a:lnTo>
                      <a:pt x="607364" y="259080"/>
                    </a:lnTo>
                    <a:lnTo>
                      <a:pt x="607741" y="258545"/>
                    </a:lnTo>
                    <a:close/>
                  </a:path>
                  <a:path w="2992754" h="304800">
                    <a:moveTo>
                      <a:pt x="656183" y="232410"/>
                    </a:moveTo>
                    <a:lnTo>
                      <a:pt x="638330" y="234950"/>
                    </a:lnTo>
                    <a:lnTo>
                      <a:pt x="612731" y="240030"/>
                    </a:lnTo>
                    <a:lnTo>
                      <a:pt x="605833" y="240713"/>
                    </a:lnTo>
                    <a:lnTo>
                      <a:pt x="609638" y="243839"/>
                    </a:lnTo>
                    <a:lnTo>
                      <a:pt x="610946" y="254000"/>
                    </a:lnTo>
                    <a:lnTo>
                      <a:pt x="607741" y="258545"/>
                    </a:lnTo>
                    <a:lnTo>
                      <a:pt x="615240" y="257810"/>
                    </a:lnTo>
                    <a:lnTo>
                      <a:pt x="628165" y="255269"/>
                    </a:lnTo>
                    <a:lnTo>
                      <a:pt x="641079" y="254000"/>
                    </a:lnTo>
                    <a:lnTo>
                      <a:pt x="650066" y="252730"/>
                    </a:lnTo>
                    <a:lnTo>
                      <a:pt x="648919" y="252730"/>
                    </a:lnTo>
                    <a:lnTo>
                      <a:pt x="644169" y="248919"/>
                    </a:lnTo>
                    <a:lnTo>
                      <a:pt x="642581" y="238760"/>
                    </a:lnTo>
                    <a:lnTo>
                      <a:pt x="646049" y="234950"/>
                    </a:lnTo>
                    <a:lnTo>
                      <a:pt x="657118" y="233159"/>
                    </a:lnTo>
                    <a:lnTo>
                      <a:pt x="656183" y="232410"/>
                    </a:lnTo>
                    <a:close/>
                  </a:path>
                  <a:path w="2992754" h="304800">
                    <a:moveTo>
                      <a:pt x="657118" y="233159"/>
                    </a:moveTo>
                    <a:lnTo>
                      <a:pt x="646049" y="234950"/>
                    </a:lnTo>
                    <a:lnTo>
                      <a:pt x="642581" y="238760"/>
                    </a:lnTo>
                    <a:lnTo>
                      <a:pt x="644169" y="248919"/>
                    </a:lnTo>
                    <a:lnTo>
                      <a:pt x="648919" y="252730"/>
                    </a:lnTo>
                    <a:lnTo>
                      <a:pt x="653986" y="251460"/>
                    </a:lnTo>
                    <a:lnTo>
                      <a:pt x="659606" y="250650"/>
                    </a:lnTo>
                    <a:lnTo>
                      <a:pt x="662520" y="246380"/>
                    </a:lnTo>
                    <a:lnTo>
                      <a:pt x="660933" y="236219"/>
                    </a:lnTo>
                    <a:lnTo>
                      <a:pt x="657118" y="233159"/>
                    </a:lnTo>
                    <a:close/>
                  </a:path>
                  <a:path w="2992754" h="304800">
                    <a:moveTo>
                      <a:pt x="659606" y="250650"/>
                    </a:moveTo>
                    <a:lnTo>
                      <a:pt x="653986" y="251460"/>
                    </a:lnTo>
                    <a:lnTo>
                      <a:pt x="648919" y="252730"/>
                    </a:lnTo>
                    <a:lnTo>
                      <a:pt x="650066" y="252730"/>
                    </a:lnTo>
                    <a:lnTo>
                      <a:pt x="659053" y="251460"/>
                    </a:lnTo>
                    <a:lnTo>
                      <a:pt x="659606" y="250650"/>
                    </a:lnTo>
                    <a:close/>
                  </a:path>
                  <a:path w="2992754" h="304800">
                    <a:moveTo>
                      <a:pt x="698597" y="226217"/>
                    </a:moveTo>
                    <a:lnTo>
                      <a:pt x="690619" y="227330"/>
                    </a:lnTo>
                    <a:lnTo>
                      <a:pt x="677457" y="229869"/>
                    </a:lnTo>
                    <a:lnTo>
                      <a:pt x="657118" y="233159"/>
                    </a:lnTo>
                    <a:lnTo>
                      <a:pt x="660933" y="236219"/>
                    </a:lnTo>
                    <a:lnTo>
                      <a:pt x="662520" y="246380"/>
                    </a:lnTo>
                    <a:lnTo>
                      <a:pt x="659606" y="250650"/>
                    </a:lnTo>
                    <a:lnTo>
                      <a:pt x="680435" y="247650"/>
                    </a:lnTo>
                    <a:lnTo>
                      <a:pt x="693650" y="245110"/>
                    </a:lnTo>
                    <a:lnTo>
                      <a:pt x="702787" y="243839"/>
                    </a:lnTo>
                    <a:lnTo>
                      <a:pt x="701789" y="243839"/>
                    </a:lnTo>
                    <a:lnTo>
                      <a:pt x="697001" y="241300"/>
                    </a:lnTo>
                    <a:lnTo>
                      <a:pt x="695286" y="231139"/>
                    </a:lnTo>
                    <a:lnTo>
                      <a:pt x="698597" y="226217"/>
                    </a:lnTo>
                    <a:close/>
                  </a:path>
                  <a:path w="2992754" h="304800">
                    <a:moveTo>
                      <a:pt x="594311" y="242073"/>
                    </a:moveTo>
                    <a:lnTo>
                      <a:pt x="591714" y="242569"/>
                    </a:lnTo>
                    <a:lnTo>
                      <a:pt x="583511" y="243839"/>
                    </a:lnTo>
                    <a:lnTo>
                      <a:pt x="575303" y="243839"/>
                    </a:lnTo>
                    <a:lnTo>
                      <a:pt x="564756" y="245859"/>
                    </a:lnTo>
                    <a:lnTo>
                      <a:pt x="572160" y="245110"/>
                    </a:lnTo>
                    <a:lnTo>
                      <a:pt x="592178" y="245110"/>
                    </a:lnTo>
                    <a:lnTo>
                      <a:pt x="594311" y="242073"/>
                    </a:lnTo>
                    <a:close/>
                  </a:path>
                  <a:path w="2992754" h="304800">
                    <a:moveTo>
                      <a:pt x="708837" y="224789"/>
                    </a:moveTo>
                    <a:lnTo>
                      <a:pt x="698597" y="226217"/>
                    </a:lnTo>
                    <a:lnTo>
                      <a:pt x="695286" y="231139"/>
                    </a:lnTo>
                    <a:lnTo>
                      <a:pt x="697001" y="241300"/>
                    </a:lnTo>
                    <a:lnTo>
                      <a:pt x="701789" y="243839"/>
                    </a:lnTo>
                    <a:lnTo>
                      <a:pt x="702787" y="243839"/>
                    </a:lnTo>
                    <a:lnTo>
                      <a:pt x="711923" y="242569"/>
                    </a:lnTo>
                    <a:lnTo>
                      <a:pt x="715340" y="237489"/>
                    </a:lnTo>
                    <a:lnTo>
                      <a:pt x="713638" y="227330"/>
                    </a:lnTo>
                    <a:lnTo>
                      <a:pt x="708837" y="224789"/>
                    </a:lnTo>
                    <a:close/>
                  </a:path>
                  <a:path w="2992754" h="304800">
                    <a:moveTo>
                      <a:pt x="749239" y="224789"/>
                    </a:moveTo>
                    <a:lnTo>
                      <a:pt x="708837" y="224789"/>
                    </a:lnTo>
                    <a:lnTo>
                      <a:pt x="713638" y="227330"/>
                    </a:lnTo>
                    <a:lnTo>
                      <a:pt x="715340" y="237489"/>
                    </a:lnTo>
                    <a:lnTo>
                      <a:pt x="711923" y="242569"/>
                    </a:lnTo>
                    <a:lnTo>
                      <a:pt x="702787" y="243839"/>
                    </a:lnTo>
                    <a:lnTo>
                      <a:pt x="706856" y="243839"/>
                    </a:lnTo>
                    <a:lnTo>
                      <a:pt x="733518" y="238760"/>
                    </a:lnTo>
                    <a:lnTo>
                      <a:pt x="746863" y="237489"/>
                    </a:lnTo>
                    <a:lnTo>
                      <a:pt x="756082" y="236219"/>
                    </a:lnTo>
                    <a:lnTo>
                      <a:pt x="755129" y="236219"/>
                    </a:lnTo>
                    <a:lnTo>
                      <a:pt x="750392" y="232410"/>
                    </a:lnTo>
                    <a:lnTo>
                      <a:pt x="749239" y="224789"/>
                    </a:lnTo>
                    <a:close/>
                  </a:path>
                  <a:path w="2992754" h="304800">
                    <a:moveTo>
                      <a:pt x="598358" y="241300"/>
                    </a:moveTo>
                    <a:lnTo>
                      <a:pt x="594855" y="241300"/>
                    </a:lnTo>
                    <a:lnTo>
                      <a:pt x="594311" y="242073"/>
                    </a:lnTo>
                    <a:lnTo>
                      <a:pt x="598358" y="241300"/>
                    </a:lnTo>
                    <a:close/>
                  </a:path>
                  <a:path w="2992754" h="304800">
                    <a:moveTo>
                      <a:pt x="605833" y="240713"/>
                    </a:moveTo>
                    <a:lnTo>
                      <a:pt x="599909" y="241300"/>
                    </a:lnTo>
                    <a:lnTo>
                      <a:pt x="606547" y="241300"/>
                    </a:lnTo>
                    <a:lnTo>
                      <a:pt x="605833" y="240713"/>
                    </a:lnTo>
                    <a:close/>
                  </a:path>
                  <a:path w="2992754" h="304800">
                    <a:moveTo>
                      <a:pt x="23241" y="220980"/>
                    </a:moveTo>
                    <a:lnTo>
                      <a:pt x="13462" y="222250"/>
                    </a:lnTo>
                    <a:lnTo>
                      <a:pt x="9906" y="227258"/>
                    </a:lnTo>
                    <a:lnTo>
                      <a:pt x="10165" y="229992"/>
                    </a:lnTo>
                    <a:lnTo>
                      <a:pt x="10299" y="231139"/>
                    </a:lnTo>
                    <a:lnTo>
                      <a:pt x="10756" y="236219"/>
                    </a:lnTo>
                    <a:lnTo>
                      <a:pt x="15087" y="240030"/>
                    </a:lnTo>
                    <a:lnTo>
                      <a:pt x="24841" y="238760"/>
                    </a:lnTo>
                    <a:lnTo>
                      <a:pt x="28435" y="234950"/>
                    </a:lnTo>
                    <a:lnTo>
                      <a:pt x="27495" y="224733"/>
                    </a:lnTo>
                    <a:lnTo>
                      <a:pt x="23241" y="220980"/>
                    </a:lnTo>
                    <a:close/>
                  </a:path>
                  <a:path w="2992754" h="304800">
                    <a:moveTo>
                      <a:pt x="27495" y="224733"/>
                    </a:moveTo>
                    <a:lnTo>
                      <a:pt x="28435" y="234950"/>
                    </a:lnTo>
                    <a:lnTo>
                      <a:pt x="24841" y="238760"/>
                    </a:lnTo>
                    <a:lnTo>
                      <a:pt x="15087" y="240030"/>
                    </a:lnTo>
                    <a:lnTo>
                      <a:pt x="28922" y="240030"/>
                    </a:lnTo>
                    <a:lnTo>
                      <a:pt x="27559" y="224789"/>
                    </a:lnTo>
                    <a:close/>
                  </a:path>
                  <a:path w="2992754" h="304800">
                    <a:moveTo>
                      <a:pt x="762533" y="215900"/>
                    </a:moveTo>
                    <a:lnTo>
                      <a:pt x="752251" y="217309"/>
                    </a:lnTo>
                    <a:lnTo>
                      <a:pt x="748855" y="222250"/>
                    </a:lnTo>
                    <a:lnTo>
                      <a:pt x="750392" y="232410"/>
                    </a:lnTo>
                    <a:lnTo>
                      <a:pt x="755129" y="236219"/>
                    </a:lnTo>
                    <a:lnTo>
                      <a:pt x="760209" y="234950"/>
                    </a:lnTo>
                    <a:lnTo>
                      <a:pt x="765877" y="234115"/>
                    </a:lnTo>
                    <a:lnTo>
                      <a:pt x="768807" y="229869"/>
                    </a:lnTo>
                    <a:lnTo>
                      <a:pt x="767283" y="219710"/>
                    </a:lnTo>
                    <a:lnTo>
                      <a:pt x="764116" y="217169"/>
                    </a:lnTo>
                    <a:lnTo>
                      <a:pt x="757440" y="217169"/>
                    </a:lnTo>
                    <a:lnTo>
                      <a:pt x="763088" y="216344"/>
                    </a:lnTo>
                    <a:lnTo>
                      <a:pt x="762533" y="215900"/>
                    </a:lnTo>
                    <a:close/>
                  </a:path>
                  <a:path w="2992754" h="304800">
                    <a:moveTo>
                      <a:pt x="765877" y="234115"/>
                    </a:moveTo>
                    <a:lnTo>
                      <a:pt x="760209" y="234950"/>
                    </a:lnTo>
                    <a:lnTo>
                      <a:pt x="755129" y="236219"/>
                    </a:lnTo>
                    <a:lnTo>
                      <a:pt x="756082" y="236219"/>
                    </a:lnTo>
                    <a:lnTo>
                      <a:pt x="765302" y="234950"/>
                    </a:lnTo>
                    <a:lnTo>
                      <a:pt x="765877" y="234115"/>
                    </a:lnTo>
                    <a:close/>
                  </a:path>
                  <a:path w="2992754" h="304800">
                    <a:moveTo>
                      <a:pt x="830938" y="207010"/>
                    </a:moveTo>
                    <a:lnTo>
                      <a:pt x="826985" y="207010"/>
                    </a:lnTo>
                    <a:lnTo>
                      <a:pt x="763088" y="216344"/>
                    </a:lnTo>
                    <a:lnTo>
                      <a:pt x="767283" y="219710"/>
                    </a:lnTo>
                    <a:lnTo>
                      <a:pt x="768807" y="229869"/>
                    </a:lnTo>
                    <a:lnTo>
                      <a:pt x="765877" y="234115"/>
                    </a:lnTo>
                    <a:lnTo>
                      <a:pt x="811994" y="227330"/>
                    </a:lnTo>
                    <a:lnTo>
                      <a:pt x="829284" y="226060"/>
                    </a:lnTo>
                    <a:lnTo>
                      <a:pt x="824153" y="226060"/>
                    </a:lnTo>
                    <a:lnTo>
                      <a:pt x="819467" y="222250"/>
                    </a:lnTo>
                    <a:lnTo>
                      <a:pt x="818184" y="212089"/>
                    </a:lnTo>
                    <a:lnTo>
                      <a:pt x="821817" y="208280"/>
                    </a:lnTo>
                    <a:lnTo>
                      <a:pt x="830938" y="207010"/>
                    </a:lnTo>
                    <a:close/>
                  </a:path>
                  <a:path w="2992754" h="304800">
                    <a:moveTo>
                      <a:pt x="10165" y="229992"/>
                    </a:moveTo>
                    <a:lnTo>
                      <a:pt x="10512" y="233648"/>
                    </a:lnTo>
                    <a:lnTo>
                      <a:pt x="10299" y="231139"/>
                    </a:lnTo>
                    <a:lnTo>
                      <a:pt x="10165" y="229992"/>
                    </a:lnTo>
                    <a:close/>
                  </a:path>
                  <a:path w="2992754" h="304800">
                    <a:moveTo>
                      <a:pt x="9906" y="227258"/>
                    </a:moveTo>
                    <a:lnTo>
                      <a:pt x="10165" y="229992"/>
                    </a:lnTo>
                    <a:lnTo>
                      <a:pt x="9906" y="227258"/>
                    </a:lnTo>
                    <a:close/>
                  </a:path>
                  <a:path w="2992754" h="304800">
                    <a:moveTo>
                      <a:pt x="6556" y="196028"/>
                    </a:moveTo>
                    <a:lnTo>
                      <a:pt x="9168" y="219710"/>
                    </a:lnTo>
                    <a:lnTo>
                      <a:pt x="9906" y="227258"/>
                    </a:lnTo>
                    <a:lnTo>
                      <a:pt x="13462" y="222250"/>
                    </a:lnTo>
                    <a:lnTo>
                      <a:pt x="23241" y="220980"/>
                    </a:lnTo>
                    <a:lnTo>
                      <a:pt x="27149" y="220980"/>
                    </a:lnTo>
                    <a:lnTo>
                      <a:pt x="26239" y="210819"/>
                    </a:lnTo>
                    <a:lnTo>
                      <a:pt x="25380" y="203200"/>
                    </a:lnTo>
                    <a:lnTo>
                      <a:pt x="11518" y="203200"/>
                    </a:lnTo>
                    <a:lnTo>
                      <a:pt x="7010" y="199389"/>
                    </a:lnTo>
                    <a:lnTo>
                      <a:pt x="6556" y="196028"/>
                    </a:lnTo>
                    <a:close/>
                  </a:path>
                  <a:path w="2992754" h="304800">
                    <a:moveTo>
                      <a:pt x="752251" y="217309"/>
                    </a:moveTo>
                    <a:lnTo>
                      <a:pt x="744011" y="218439"/>
                    </a:lnTo>
                    <a:lnTo>
                      <a:pt x="730586" y="220980"/>
                    </a:lnTo>
                    <a:lnTo>
                      <a:pt x="717171" y="222250"/>
                    </a:lnTo>
                    <a:lnTo>
                      <a:pt x="698703" y="226060"/>
                    </a:lnTo>
                    <a:lnTo>
                      <a:pt x="698597" y="226217"/>
                    </a:lnTo>
                    <a:lnTo>
                      <a:pt x="708837" y="224789"/>
                    </a:lnTo>
                    <a:lnTo>
                      <a:pt x="749239" y="224789"/>
                    </a:lnTo>
                    <a:lnTo>
                      <a:pt x="748855" y="222250"/>
                    </a:lnTo>
                    <a:lnTo>
                      <a:pt x="752251" y="217309"/>
                    </a:lnTo>
                    <a:close/>
                  </a:path>
                  <a:path w="2992754" h="304800">
                    <a:moveTo>
                      <a:pt x="879373" y="200666"/>
                    </a:moveTo>
                    <a:lnTo>
                      <a:pt x="853165" y="203200"/>
                    </a:lnTo>
                    <a:lnTo>
                      <a:pt x="840059" y="205739"/>
                    </a:lnTo>
                    <a:lnTo>
                      <a:pt x="821817" y="208280"/>
                    </a:lnTo>
                    <a:lnTo>
                      <a:pt x="818184" y="212089"/>
                    </a:lnTo>
                    <a:lnTo>
                      <a:pt x="819467" y="222250"/>
                    </a:lnTo>
                    <a:lnTo>
                      <a:pt x="824153" y="226060"/>
                    </a:lnTo>
                    <a:lnTo>
                      <a:pt x="829284" y="226060"/>
                    </a:lnTo>
                    <a:lnTo>
                      <a:pt x="834428" y="224789"/>
                    </a:lnTo>
                    <a:lnTo>
                      <a:pt x="838073" y="219710"/>
                    </a:lnTo>
                    <a:lnTo>
                      <a:pt x="836815" y="209550"/>
                    </a:lnTo>
                    <a:lnTo>
                      <a:pt x="832129" y="207010"/>
                    </a:lnTo>
                    <a:lnTo>
                      <a:pt x="870554" y="207010"/>
                    </a:lnTo>
                    <a:lnTo>
                      <a:pt x="870419" y="205739"/>
                    </a:lnTo>
                    <a:lnTo>
                      <a:pt x="874204" y="201930"/>
                    </a:lnTo>
                    <a:lnTo>
                      <a:pt x="879373" y="200666"/>
                    </a:lnTo>
                    <a:close/>
                  </a:path>
                  <a:path w="2992754" h="304800">
                    <a:moveTo>
                      <a:pt x="870554" y="207010"/>
                    </a:moveTo>
                    <a:lnTo>
                      <a:pt x="832129" y="207010"/>
                    </a:lnTo>
                    <a:lnTo>
                      <a:pt x="836815" y="209550"/>
                    </a:lnTo>
                    <a:lnTo>
                      <a:pt x="838073" y="219710"/>
                    </a:lnTo>
                    <a:lnTo>
                      <a:pt x="834428" y="224789"/>
                    </a:lnTo>
                    <a:lnTo>
                      <a:pt x="829284" y="226060"/>
                    </a:lnTo>
                    <a:lnTo>
                      <a:pt x="842279" y="223519"/>
                    </a:lnTo>
                    <a:lnTo>
                      <a:pt x="881316" y="219710"/>
                    </a:lnTo>
                    <a:lnTo>
                      <a:pt x="876122" y="219710"/>
                    </a:lnTo>
                    <a:lnTo>
                      <a:pt x="871499" y="215900"/>
                    </a:lnTo>
                    <a:lnTo>
                      <a:pt x="870554" y="207010"/>
                    </a:lnTo>
                    <a:close/>
                  </a:path>
                  <a:path w="2992754" h="304800">
                    <a:moveTo>
                      <a:pt x="27149" y="220980"/>
                    </a:moveTo>
                    <a:lnTo>
                      <a:pt x="23241" y="220980"/>
                    </a:lnTo>
                    <a:lnTo>
                      <a:pt x="27495" y="224733"/>
                    </a:lnTo>
                    <a:lnTo>
                      <a:pt x="27149" y="220980"/>
                    </a:lnTo>
                    <a:close/>
                  </a:path>
                  <a:path w="2992754" h="304800">
                    <a:moveTo>
                      <a:pt x="884643" y="200660"/>
                    </a:moveTo>
                    <a:lnTo>
                      <a:pt x="879373" y="200666"/>
                    </a:lnTo>
                    <a:lnTo>
                      <a:pt x="874204" y="201930"/>
                    </a:lnTo>
                    <a:lnTo>
                      <a:pt x="870419" y="205739"/>
                    </a:lnTo>
                    <a:lnTo>
                      <a:pt x="871499" y="215900"/>
                    </a:lnTo>
                    <a:lnTo>
                      <a:pt x="876122" y="219710"/>
                    </a:lnTo>
                    <a:lnTo>
                      <a:pt x="881316" y="219710"/>
                    </a:lnTo>
                    <a:lnTo>
                      <a:pt x="886911" y="219190"/>
                    </a:lnTo>
                    <a:lnTo>
                      <a:pt x="890320" y="214630"/>
                    </a:lnTo>
                    <a:lnTo>
                      <a:pt x="889279" y="204469"/>
                    </a:lnTo>
                    <a:lnTo>
                      <a:pt x="884643" y="200660"/>
                    </a:lnTo>
                    <a:close/>
                  </a:path>
                  <a:path w="2992754" h="304800">
                    <a:moveTo>
                      <a:pt x="886911" y="219190"/>
                    </a:moveTo>
                    <a:lnTo>
                      <a:pt x="881316" y="219710"/>
                    </a:lnTo>
                    <a:lnTo>
                      <a:pt x="886523" y="219710"/>
                    </a:lnTo>
                    <a:lnTo>
                      <a:pt x="886911" y="219190"/>
                    </a:lnTo>
                    <a:close/>
                  </a:path>
                  <a:path w="2992754" h="304800">
                    <a:moveTo>
                      <a:pt x="925296" y="200660"/>
                    </a:moveTo>
                    <a:lnTo>
                      <a:pt x="884643" y="200660"/>
                    </a:lnTo>
                    <a:lnTo>
                      <a:pt x="889279" y="204469"/>
                    </a:lnTo>
                    <a:lnTo>
                      <a:pt x="890320" y="214630"/>
                    </a:lnTo>
                    <a:lnTo>
                      <a:pt x="886911" y="219190"/>
                    </a:lnTo>
                    <a:lnTo>
                      <a:pt x="936066" y="214630"/>
                    </a:lnTo>
                    <a:lnTo>
                      <a:pt x="930833" y="214630"/>
                    </a:lnTo>
                    <a:lnTo>
                      <a:pt x="926211" y="210819"/>
                    </a:lnTo>
                    <a:lnTo>
                      <a:pt x="925296" y="200660"/>
                    </a:lnTo>
                    <a:close/>
                  </a:path>
                  <a:path w="2992754" h="304800">
                    <a:moveTo>
                      <a:pt x="753272" y="217169"/>
                    </a:moveTo>
                    <a:lnTo>
                      <a:pt x="752348" y="217169"/>
                    </a:lnTo>
                    <a:lnTo>
                      <a:pt x="752251" y="217309"/>
                    </a:lnTo>
                    <a:lnTo>
                      <a:pt x="753272" y="217169"/>
                    </a:lnTo>
                    <a:close/>
                  </a:path>
                  <a:path w="2992754" h="304800">
                    <a:moveTo>
                      <a:pt x="763088" y="216344"/>
                    </a:moveTo>
                    <a:lnTo>
                      <a:pt x="757440" y="217169"/>
                    </a:lnTo>
                    <a:lnTo>
                      <a:pt x="764116" y="217169"/>
                    </a:lnTo>
                    <a:lnTo>
                      <a:pt x="763088" y="216344"/>
                    </a:lnTo>
                    <a:close/>
                  </a:path>
                  <a:path w="2992754" h="304800">
                    <a:moveTo>
                      <a:pt x="939647" y="195580"/>
                    </a:moveTo>
                    <a:lnTo>
                      <a:pt x="928607" y="196317"/>
                    </a:lnTo>
                    <a:lnTo>
                      <a:pt x="925296" y="200660"/>
                    </a:lnTo>
                    <a:lnTo>
                      <a:pt x="926211" y="210819"/>
                    </a:lnTo>
                    <a:lnTo>
                      <a:pt x="930833" y="214630"/>
                    </a:lnTo>
                    <a:lnTo>
                      <a:pt x="936066" y="214630"/>
                    </a:lnTo>
                    <a:lnTo>
                      <a:pt x="941688" y="214118"/>
                    </a:lnTo>
                    <a:lnTo>
                      <a:pt x="945172" y="209550"/>
                    </a:lnTo>
                    <a:lnTo>
                      <a:pt x="944257" y="199389"/>
                    </a:lnTo>
                    <a:lnTo>
                      <a:pt x="939647" y="195580"/>
                    </a:lnTo>
                    <a:close/>
                  </a:path>
                  <a:path w="2992754" h="304800">
                    <a:moveTo>
                      <a:pt x="941688" y="214118"/>
                    </a:moveTo>
                    <a:lnTo>
                      <a:pt x="936066" y="214630"/>
                    </a:lnTo>
                    <a:lnTo>
                      <a:pt x="941298" y="214630"/>
                    </a:lnTo>
                    <a:lnTo>
                      <a:pt x="941688" y="214118"/>
                    </a:lnTo>
                    <a:close/>
                  </a:path>
                  <a:path w="2992754" h="304800">
                    <a:moveTo>
                      <a:pt x="981087" y="195580"/>
                    </a:moveTo>
                    <a:lnTo>
                      <a:pt x="939647" y="195580"/>
                    </a:lnTo>
                    <a:lnTo>
                      <a:pt x="944257" y="199389"/>
                    </a:lnTo>
                    <a:lnTo>
                      <a:pt x="945172" y="209550"/>
                    </a:lnTo>
                    <a:lnTo>
                      <a:pt x="941688" y="214118"/>
                    </a:lnTo>
                    <a:lnTo>
                      <a:pt x="963980" y="212089"/>
                    </a:lnTo>
                    <a:lnTo>
                      <a:pt x="986253" y="210383"/>
                    </a:lnTo>
                    <a:lnTo>
                      <a:pt x="982027" y="205739"/>
                    </a:lnTo>
                    <a:lnTo>
                      <a:pt x="981087" y="195580"/>
                    </a:lnTo>
                    <a:close/>
                  </a:path>
                  <a:path w="2992754" h="304800">
                    <a:moveTo>
                      <a:pt x="989468" y="210137"/>
                    </a:moveTo>
                    <a:lnTo>
                      <a:pt x="986253" y="210383"/>
                    </a:lnTo>
                    <a:lnTo>
                      <a:pt x="986650" y="210819"/>
                    </a:lnTo>
                    <a:lnTo>
                      <a:pt x="989468" y="210137"/>
                    </a:lnTo>
                    <a:close/>
                  </a:path>
                  <a:path w="2992754" h="304800">
                    <a:moveTo>
                      <a:pt x="995830" y="190843"/>
                    </a:moveTo>
                    <a:lnTo>
                      <a:pt x="984935" y="191769"/>
                    </a:lnTo>
                    <a:lnTo>
                      <a:pt x="981087" y="195580"/>
                    </a:lnTo>
                    <a:lnTo>
                      <a:pt x="982027" y="205739"/>
                    </a:lnTo>
                    <a:lnTo>
                      <a:pt x="986253" y="210383"/>
                    </a:lnTo>
                    <a:lnTo>
                      <a:pt x="989468" y="210137"/>
                    </a:lnTo>
                    <a:lnTo>
                      <a:pt x="991895" y="209550"/>
                    </a:lnTo>
                    <a:lnTo>
                      <a:pt x="997723" y="208780"/>
                    </a:lnTo>
                    <a:lnTo>
                      <a:pt x="1000988" y="204469"/>
                    </a:lnTo>
                    <a:lnTo>
                      <a:pt x="1000036" y="194310"/>
                    </a:lnTo>
                    <a:lnTo>
                      <a:pt x="995830" y="190843"/>
                    </a:lnTo>
                    <a:close/>
                  </a:path>
                  <a:path w="2992754" h="304800">
                    <a:moveTo>
                      <a:pt x="997723" y="208780"/>
                    </a:moveTo>
                    <a:lnTo>
                      <a:pt x="991895" y="209550"/>
                    </a:lnTo>
                    <a:lnTo>
                      <a:pt x="989468" y="210137"/>
                    </a:lnTo>
                    <a:lnTo>
                      <a:pt x="997140" y="209550"/>
                    </a:lnTo>
                    <a:lnTo>
                      <a:pt x="997723" y="208780"/>
                    </a:lnTo>
                    <a:close/>
                  </a:path>
                  <a:path w="2992754" h="304800">
                    <a:moveTo>
                      <a:pt x="1034211" y="186689"/>
                    </a:moveTo>
                    <a:lnTo>
                      <a:pt x="1019268" y="187960"/>
                    </a:lnTo>
                    <a:lnTo>
                      <a:pt x="999871" y="190500"/>
                    </a:lnTo>
                    <a:lnTo>
                      <a:pt x="995830" y="190843"/>
                    </a:lnTo>
                    <a:lnTo>
                      <a:pt x="1000036" y="194310"/>
                    </a:lnTo>
                    <a:lnTo>
                      <a:pt x="1000988" y="204469"/>
                    </a:lnTo>
                    <a:lnTo>
                      <a:pt x="997723" y="208780"/>
                    </a:lnTo>
                    <a:lnTo>
                      <a:pt x="1001515" y="208280"/>
                    </a:lnTo>
                    <a:lnTo>
                      <a:pt x="1011137" y="208280"/>
                    </a:lnTo>
                    <a:lnTo>
                      <a:pt x="1020761" y="207010"/>
                    </a:lnTo>
                    <a:lnTo>
                      <a:pt x="1024737" y="206670"/>
                    </a:lnTo>
                    <a:lnTo>
                      <a:pt x="1020584" y="203200"/>
                    </a:lnTo>
                    <a:lnTo>
                      <a:pt x="1019810" y="193039"/>
                    </a:lnTo>
                    <a:lnTo>
                      <a:pt x="1023734" y="187960"/>
                    </a:lnTo>
                    <a:lnTo>
                      <a:pt x="1034615" y="187027"/>
                    </a:lnTo>
                    <a:lnTo>
                      <a:pt x="1034211" y="186689"/>
                    </a:lnTo>
                    <a:close/>
                  </a:path>
                  <a:path w="2992754" h="304800">
                    <a:moveTo>
                      <a:pt x="1064404" y="184845"/>
                    </a:moveTo>
                    <a:lnTo>
                      <a:pt x="1057704" y="185419"/>
                    </a:lnTo>
                    <a:lnTo>
                      <a:pt x="1048132" y="186689"/>
                    </a:lnTo>
                    <a:lnTo>
                      <a:pt x="1038553" y="186689"/>
                    </a:lnTo>
                    <a:lnTo>
                      <a:pt x="1034615" y="187027"/>
                    </a:lnTo>
                    <a:lnTo>
                      <a:pt x="1038771" y="190500"/>
                    </a:lnTo>
                    <a:lnTo>
                      <a:pt x="1039545" y="201930"/>
                    </a:lnTo>
                    <a:lnTo>
                      <a:pt x="1035621" y="205739"/>
                    </a:lnTo>
                    <a:lnTo>
                      <a:pt x="1024737" y="206670"/>
                    </a:lnTo>
                    <a:lnTo>
                      <a:pt x="1025144" y="207010"/>
                    </a:lnTo>
                    <a:lnTo>
                      <a:pt x="1030389" y="207010"/>
                    </a:lnTo>
                    <a:lnTo>
                      <a:pt x="1049735" y="204469"/>
                    </a:lnTo>
                    <a:lnTo>
                      <a:pt x="1059405" y="204469"/>
                    </a:lnTo>
                    <a:lnTo>
                      <a:pt x="1074305" y="203200"/>
                    </a:lnTo>
                    <a:lnTo>
                      <a:pt x="1063840" y="203200"/>
                    </a:lnTo>
                    <a:lnTo>
                      <a:pt x="1059205" y="199389"/>
                    </a:lnTo>
                    <a:lnTo>
                      <a:pt x="1058202" y="189230"/>
                    </a:lnTo>
                    <a:lnTo>
                      <a:pt x="1062037" y="185419"/>
                    </a:lnTo>
                    <a:lnTo>
                      <a:pt x="1064404" y="184845"/>
                    </a:lnTo>
                    <a:close/>
                  </a:path>
                  <a:path w="2992754" h="304800">
                    <a:moveTo>
                      <a:pt x="1034615" y="187027"/>
                    </a:moveTo>
                    <a:lnTo>
                      <a:pt x="1023734" y="187960"/>
                    </a:lnTo>
                    <a:lnTo>
                      <a:pt x="1019810" y="193039"/>
                    </a:lnTo>
                    <a:lnTo>
                      <a:pt x="1020584" y="203200"/>
                    </a:lnTo>
                    <a:lnTo>
                      <a:pt x="1024737" y="206670"/>
                    </a:lnTo>
                    <a:lnTo>
                      <a:pt x="1035621" y="205739"/>
                    </a:lnTo>
                    <a:lnTo>
                      <a:pt x="1039545" y="201930"/>
                    </a:lnTo>
                    <a:lnTo>
                      <a:pt x="1038771" y="190500"/>
                    </a:lnTo>
                    <a:lnTo>
                      <a:pt x="1034615" y="187027"/>
                    </a:lnTo>
                    <a:close/>
                  </a:path>
                  <a:path w="2992754" h="304800">
                    <a:moveTo>
                      <a:pt x="18973" y="184150"/>
                    </a:moveTo>
                    <a:lnTo>
                      <a:pt x="9169" y="185419"/>
                    </a:lnTo>
                    <a:lnTo>
                      <a:pt x="5796" y="190398"/>
                    </a:lnTo>
                    <a:lnTo>
                      <a:pt x="6153" y="193039"/>
                    </a:lnTo>
                    <a:lnTo>
                      <a:pt x="6362" y="194310"/>
                    </a:lnTo>
                    <a:lnTo>
                      <a:pt x="7010" y="199389"/>
                    </a:lnTo>
                    <a:lnTo>
                      <a:pt x="11518" y="203200"/>
                    </a:lnTo>
                    <a:lnTo>
                      <a:pt x="21297" y="201930"/>
                    </a:lnTo>
                    <a:lnTo>
                      <a:pt x="24613" y="197036"/>
                    </a:lnTo>
                    <a:lnTo>
                      <a:pt x="23456" y="187960"/>
                    </a:lnTo>
                    <a:lnTo>
                      <a:pt x="18973" y="184150"/>
                    </a:lnTo>
                    <a:close/>
                  </a:path>
                  <a:path w="2992754" h="304800">
                    <a:moveTo>
                      <a:pt x="24613" y="197036"/>
                    </a:moveTo>
                    <a:lnTo>
                      <a:pt x="21297" y="201930"/>
                    </a:lnTo>
                    <a:lnTo>
                      <a:pt x="11518" y="203200"/>
                    </a:lnTo>
                    <a:lnTo>
                      <a:pt x="25380" y="203200"/>
                    </a:lnTo>
                    <a:lnTo>
                      <a:pt x="24613" y="197036"/>
                    </a:lnTo>
                    <a:close/>
                  </a:path>
                  <a:path w="2992754" h="304800">
                    <a:moveTo>
                      <a:pt x="1072515" y="184150"/>
                    </a:moveTo>
                    <a:lnTo>
                      <a:pt x="1064404" y="184845"/>
                    </a:lnTo>
                    <a:lnTo>
                      <a:pt x="1062037" y="185419"/>
                    </a:lnTo>
                    <a:lnTo>
                      <a:pt x="1058202" y="189230"/>
                    </a:lnTo>
                    <a:lnTo>
                      <a:pt x="1059205" y="199389"/>
                    </a:lnTo>
                    <a:lnTo>
                      <a:pt x="1063840" y="203200"/>
                    </a:lnTo>
                    <a:lnTo>
                      <a:pt x="1069073" y="203200"/>
                    </a:lnTo>
                    <a:lnTo>
                      <a:pt x="1074688" y="202692"/>
                    </a:lnTo>
                    <a:lnTo>
                      <a:pt x="1078141" y="198119"/>
                    </a:lnTo>
                    <a:lnTo>
                      <a:pt x="1077163" y="187960"/>
                    </a:lnTo>
                    <a:lnTo>
                      <a:pt x="1072515" y="184150"/>
                    </a:lnTo>
                    <a:close/>
                  </a:path>
                  <a:path w="2992754" h="304800">
                    <a:moveTo>
                      <a:pt x="1074688" y="202692"/>
                    </a:moveTo>
                    <a:lnTo>
                      <a:pt x="1069073" y="203200"/>
                    </a:lnTo>
                    <a:lnTo>
                      <a:pt x="1074305" y="203200"/>
                    </a:lnTo>
                    <a:lnTo>
                      <a:pt x="1074688" y="202692"/>
                    </a:lnTo>
                    <a:close/>
                  </a:path>
                  <a:path w="2992754" h="304800">
                    <a:moveTo>
                      <a:pt x="1114666" y="184150"/>
                    </a:moveTo>
                    <a:lnTo>
                      <a:pt x="1072515" y="184150"/>
                    </a:lnTo>
                    <a:lnTo>
                      <a:pt x="1077163" y="187960"/>
                    </a:lnTo>
                    <a:lnTo>
                      <a:pt x="1078141" y="198119"/>
                    </a:lnTo>
                    <a:lnTo>
                      <a:pt x="1074688" y="202692"/>
                    </a:lnTo>
                    <a:lnTo>
                      <a:pt x="1097194" y="200660"/>
                    </a:lnTo>
                    <a:lnTo>
                      <a:pt x="1119568" y="198958"/>
                    </a:lnTo>
                    <a:lnTo>
                      <a:pt x="1115491" y="195580"/>
                    </a:lnTo>
                    <a:lnTo>
                      <a:pt x="1114666" y="184150"/>
                    </a:lnTo>
                    <a:close/>
                  </a:path>
                  <a:path w="2992754" h="304800">
                    <a:moveTo>
                      <a:pt x="928607" y="196317"/>
                    </a:moveTo>
                    <a:lnTo>
                      <a:pt x="920648" y="196850"/>
                    </a:lnTo>
                    <a:lnTo>
                      <a:pt x="879373" y="200666"/>
                    </a:lnTo>
                    <a:lnTo>
                      <a:pt x="925296" y="200660"/>
                    </a:lnTo>
                    <a:lnTo>
                      <a:pt x="928607" y="196317"/>
                    </a:lnTo>
                    <a:close/>
                  </a:path>
                  <a:path w="2992754" h="304800">
                    <a:moveTo>
                      <a:pt x="1122926" y="198702"/>
                    </a:moveTo>
                    <a:lnTo>
                      <a:pt x="1119568" y="198958"/>
                    </a:lnTo>
                    <a:lnTo>
                      <a:pt x="1120089" y="199389"/>
                    </a:lnTo>
                    <a:lnTo>
                      <a:pt x="1122926" y="198702"/>
                    </a:lnTo>
                    <a:close/>
                  </a:path>
                  <a:path w="2992754" h="304800">
                    <a:moveTo>
                      <a:pt x="1129753" y="179606"/>
                    </a:moveTo>
                    <a:lnTo>
                      <a:pt x="1118590" y="180339"/>
                    </a:lnTo>
                    <a:lnTo>
                      <a:pt x="1114666" y="184150"/>
                    </a:lnTo>
                    <a:lnTo>
                      <a:pt x="1115491" y="195580"/>
                    </a:lnTo>
                    <a:lnTo>
                      <a:pt x="1119568" y="198958"/>
                    </a:lnTo>
                    <a:lnTo>
                      <a:pt x="1122926" y="198702"/>
                    </a:lnTo>
                    <a:lnTo>
                      <a:pt x="1125334" y="198119"/>
                    </a:lnTo>
                    <a:lnTo>
                      <a:pt x="1130592" y="198119"/>
                    </a:lnTo>
                    <a:lnTo>
                      <a:pt x="1134464" y="193106"/>
                    </a:lnTo>
                    <a:lnTo>
                      <a:pt x="1134340" y="190843"/>
                    </a:lnTo>
                    <a:lnTo>
                      <a:pt x="1133703" y="182880"/>
                    </a:lnTo>
                    <a:lnTo>
                      <a:pt x="1129753" y="179606"/>
                    </a:lnTo>
                    <a:close/>
                  </a:path>
                  <a:path w="2992754" h="304800">
                    <a:moveTo>
                      <a:pt x="1130592" y="198119"/>
                    </a:moveTo>
                    <a:lnTo>
                      <a:pt x="1125334" y="198119"/>
                    </a:lnTo>
                    <a:lnTo>
                      <a:pt x="1122926" y="198702"/>
                    </a:lnTo>
                    <a:lnTo>
                      <a:pt x="1130592" y="198119"/>
                    </a:lnTo>
                    <a:close/>
                  </a:path>
                  <a:path w="2992754" h="304800">
                    <a:moveTo>
                      <a:pt x="1174431" y="175775"/>
                    </a:moveTo>
                    <a:lnTo>
                      <a:pt x="1137909" y="179069"/>
                    </a:lnTo>
                    <a:lnTo>
                      <a:pt x="1129753" y="179606"/>
                    </a:lnTo>
                    <a:lnTo>
                      <a:pt x="1133703" y="182880"/>
                    </a:lnTo>
                    <a:lnTo>
                      <a:pt x="1134340" y="190843"/>
                    </a:lnTo>
                    <a:lnTo>
                      <a:pt x="1134464" y="193106"/>
                    </a:lnTo>
                    <a:lnTo>
                      <a:pt x="1130592" y="198119"/>
                    </a:lnTo>
                    <a:lnTo>
                      <a:pt x="1139324" y="198119"/>
                    </a:lnTo>
                    <a:lnTo>
                      <a:pt x="1181303" y="194310"/>
                    </a:lnTo>
                    <a:lnTo>
                      <a:pt x="1176032" y="194310"/>
                    </a:lnTo>
                    <a:lnTo>
                      <a:pt x="1171498" y="190500"/>
                    </a:lnTo>
                    <a:lnTo>
                      <a:pt x="1170825" y="180339"/>
                    </a:lnTo>
                    <a:lnTo>
                      <a:pt x="1174431" y="175775"/>
                    </a:lnTo>
                    <a:close/>
                  </a:path>
                  <a:path w="2992754" h="304800">
                    <a:moveTo>
                      <a:pt x="23037" y="184150"/>
                    </a:moveTo>
                    <a:lnTo>
                      <a:pt x="18973" y="184150"/>
                    </a:lnTo>
                    <a:lnTo>
                      <a:pt x="23456" y="187960"/>
                    </a:lnTo>
                    <a:lnTo>
                      <a:pt x="24613" y="197036"/>
                    </a:lnTo>
                    <a:lnTo>
                      <a:pt x="24569" y="195580"/>
                    </a:lnTo>
                    <a:lnTo>
                      <a:pt x="23037" y="184150"/>
                    </a:lnTo>
                    <a:close/>
                  </a:path>
                  <a:path w="2992754" h="304800">
                    <a:moveTo>
                      <a:pt x="995413" y="190500"/>
                    </a:moveTo>
                    <a:lnTo>
                      <a:pt x="976236" y="191769"/>
                    </a:lnTo>
                    <a:lnTo>
                      <a:pt x="929170" y="195580"/>
                    </a:lnTo>
                    <a:lnTo>
                      <a:pt x="928607" y="196317"/>
                    </a:lnTo>
                    <a:lnTo>
                      <a:pt x="939647" y="195580"/>
                    </a:lnTo>
                    <a:lnTo>
                      <a:pt x="981087" y="195580"/>
                    </a:lnTo>
                    <a:lnTo>
                      <a:pt x="984935" y="191769"/>
                    </a:lnTo>
                    <a:lnTo>
                      <a:pt x="995830" y="190843"/>
                    </a:lnTo>
                    <a:lnTo>
                      <a:pt x="995413" y="190500"/>
                    </a:lnTo>
                    <a:close/>
                  </a:path>
                  <a:path w="2992754" h="304800">
                    <a:moveTo>
                      <a:pt x="6162" y="193106"/>
                    </a:moveTo>
                    <a:lnTo>
                      <a:pt x="6556" y="196028"/>
                    </a:lnTo>
                    <a:lnTo>
                      <a:pt x="6362" y="194310"/>
                    </a:lnTo>
                    <a:lnTo>
                      <a:pt x="6162" y="193106"/>
                    </a:lnTo>
                    <a:close/>
                  </a:path>
                  <a:path w="2992754" h="304800">
                    <a:moveTo>
                      <a:pt x="1185430" y="175260"/>
                    </a:moveTo>
                    <a:lnTo>
                      <a:pt x="1180147" y="175260"/>
                    </a:lnTo>
                    <a:lnTo>
                      <a:pt x="1174431" y="175775"/>
                    </a:lnTo>
                    <a:lnTo>
                      <a:pt x="1170825" y="180339"/>
                    </a:lnTo>
                    <a:lnTo>
                      <a:pt x="1171498" y="190500"/>
                    </a:lnTo>
                    <a:lnTo>
                      <a:pt x="1176032" y="194310"/>
                    </a:lnTo>
                    <a:lnTo>
                      <a:pt x="1181303" y="194310"/>
                    </a:lnTo>
                    <a:lnTo>
                      <a:pt x="1186999" y="193805"/>
                    </a:lnTo>
                    <a:lnTo>
                      <a:pt x="1190625" y="189230"/>
                    </a:lnTo>
                    <a:lnTo>
                      <a:pt x="1189977" y="179069"/>
                    </a:lnTo>
                    <a:lnTo>
                      <a:pt x="1185430" y="175260"/>
                    </a:lnTo>
                    <a:close/>
                  </a:path>
                  <a:path w="2992754" h="304800">
                    <a:moveTo>
                      <a:pt x="1186999" y="193805"/>
                    </a:moveTo>
                    <a:lnTo>
                      <a:pt x="1181303" y="194310"/>
                    </a:lnTo>
                    <a:lnTo>
                      <a:pt x="1186599" y="194310"/>
                    </a:lnTo>
                    <a:lnTo>
                      <a:pt x="1186999" y="193805"/>
                    </a:lnTo>
                    <a:close/>
                  </a:path>
                  <a:path w="2992754" h="304800">
                    <a:moveTo>
                      <a:pt x="1228823" y="175260"/>
                    </a:moveTo>
                    <a:lnTo>
                      <a:pt x="1185430" y="175260"/>
                    </a:lnTo>
                    <a:lnTo>
                      <a:pt x="1189977" y="179069"/>
                    </a:lnTo>
                    <a:lnTo>
                      <a:pt x="1190625" y="189230"/>
                    </a:lnTo>
                    <a:lnTo>
                      <a:pt x="1186999" y="193805"/>
                    </a:lnTo>
                    <a:lnTo>
                      <a:pt x="1195633" y="193039"/>
                    </a:lnTo>
                    <a:lnTo>
                      <a:pt x="1209957" y="193039"/>
                    </a:lnTo>
                    <a:lnTo>
                      <a:pt x="1243914" y="190500"/>
                    </a:lnTo>
                    <a:lnTo>
                      <a:pt x="1233271" y="190500"/>
                    </a:lnTo>
                    <a:lnTo>
                      <a:pt x="1228636" y="186689"/>
                    </a:lnTo>
                    <a:lnTo>
                      <a:pt x="1227823" y="176530"/>
                    </a:lnTo>
                    <a:lnTo>
                      <a:pt x="1228823" y="175260"/>
                    </a:lnTo>
                    <a:close/>
                  </a:path>
                  <a:path w="2992754" h="304800">
                    <a:moveTo>
                      <a:pt x="5796" y="190398"/>
                    </a:moveTo>
                    <a:lnTo>
                      <a:pt x="5784" y="190843"/>
                    </a:lnTo>
                    <a:lnTo>
                      <a:pt x="6162" y="193106"/>
                    </a:lnTo>
                    <a:lnTo>
                      <a:pt x="5796" y="190398"/>
                    </a:lnTo>
                    <a:close/>
                  </a:path>
                  <a:path w="2992754" h="304800">
                    <a:moveTo>
                      <a:pt x="1242491" y="171450"/>
                    </a:moveTo>
                    <a:lnTo>
                      <a:pt x="1231153" y="172300"/>
                    </a:lnTo>
                    <a:lnTo>
                      <a:pt x="1227823" y="176530"/>
                    </a:lnTo>
                    <a:lnTo>
                      <a:pt x="1228636" y="186689"/>
                    </a:lnTo>
                    <a:lnTo>
                      <a:pt x="1233271" y="190500"/>
                    </a:lnTo>
                    <a:lnTo>
                      <a:pt x="1238592" y="190500"/>
                    </a:lnTo>
                    <a:lnTo>
                      <a:pt x="1244304" y="190004"/>
                    </a:lnTo>
                    <a:lnTo>
                      <a:pt x="1247914" y="185419"/>
                    </a:lnTo>
                    <a:lnTo>
                      <a:pt x="1247127" y="175260"/>
                    </a:lnTo>
                    <a:lnTo>
                      <a:pt x="1242491" y="171450"/>
                    </a:lnTo>
                    <a:close/>
                  </a:path>
                  <a:path w="2992754" h="304800">
                    <a:moveTo>
                      <a:pt x="1244304" y="190004"/>
                    </a:moveTo>
                    <a:lnTo>
                      <a:pt x="1238592" y="190500"/>
                    </a:lnTo>
                    <a:lnTo>
                      <a:pt x="1243914" y="190500"/>
                    </a:lnTo>
                    <a:lnTo>
                      <a:pt x="1244304" y="190004"/>
                    </a:lnTo>
                    <a:close/>
                  </a:path>
                  <a:path w="2992754" h="304800">
                    <a:moveTo>
                      <a:pt x="3634" y="176565"/>
                    </a:moveTo>
                    <a:lnTo>
                      <a:pt x="4102" y="179069"/>
                    </a:lnTo>
                    <a:lnTo>
                      <a:pt x="5341" y="187027"/>
                    </a:lnTo>
                    <a:lnTo>
                      <a:pt x="5796" y="190398"/>
                    </a:lnTo>
                    <a:lnTo>
                      <a:pt x="9169" y="185419"/>
                    </a:lnTo>
                    <a:lnTo>
                      <a:pt x="18973" y="184150"/>
                    </a:lnTo>
                    <a:lnTo>
                      <a:pt x="23037" y="184150"/>
                    </a:lnTo>
                    <a:lnTo>
                      <a:pt x="22284" y="179069"/>
                    </a:lnTo>
                    <a:lnTo>
                      <a:pt x="8305" y="179069"/>
                    </a:lnTo>
                    <a:lnTo>
                      <a:pt x="3634" y="176565"/>
                    </a:lnTo>
                    <a:close/>
                  </a:path>
                  <a:path w="2992754" h="304800">
                    <a:moveTo>
                      <a:pt x="1286027" y="171450"/>
                    </a:moveTo>
                    <a:lnTo>
                      <a:pt x="1242491" y="171450"/>
                    </a:lnTo>
                    <a:lnTo>
                      <a:pt x="1247127" y="175260"/>
                    </a:lnTo>
                    <a:lnTo>
                      <a:pt x="1247914" y="185419"/>
                    </a:lnTo>
                    <a:lnTo>
                      <a:pt x="1244304" y="190004"/>
                    </a:lnTo>
                    <a:lnTo>
                      <a:pt x="1282473" y="186689"/>
                    </a:lnTo>
                    <a:lnTo>
                      <a:pt x="1291053" y="186144"/>
                    </a:lnTo>
                    <a:lnTo>
                      <a:pt x="1287005" y="182880"/>
                    </a:lnTo>
                    <a:lnTo>
                      <a:pt x="1286027" y="171450"/>
                    </a:lnTo>
                    <a:close/>
                  </a:path>
                  <a:path w="2992754" h="304800">
                    <a:moveTo>
                      <a:pt x="1295123" y="185885"/>
                    </a:moveTo>
                    <a:lnTo>
                      <a:pt x="1291053" y="186144"/>
                    </a:lnTo>
                    <a:lnTo>
                      <a:pt x="1291729" y="186689"/>
                    </a:lnTo>
                    <a:lnTo>
                      <a:pt x="1295123" y="185885"/>
                    </a:lnTo>
                    <a:close/>
                  </a:path>
                  <a:path w="2992754" h="304800">
                    <a:moveTo>
                      <a:pt x="1300734" y="166369"/>
                    </a:moveTo>
                    <a:lnTo>
                      <a:pt x="1293352" y="166840"/>
                    </a:lnTo>
                    <a:lnTo>
                      <a:pt x="1289977" y="167639"/>
                    </a:lnTo>
                    <a:lnTo>
                      <a:pt x="1286027" y="171450"/>
                    </a:lnTo>
                    <a:lnTo>
                      <a:pt x="1287005" y="182880"/>
                    </a:lnTo>
                    <a:lnTo>
                      <a:pt x="1291053" y="186144"/>
                    </a:lnTo>
                    <a:lnTo>
                      <a:pt x="1295123" y="185885"/>
                    </a:lnTo>
                    <a:lnTo>
                      <a:pt x="1297089" y="185419"/>
                    </a:lnTo>
                    <a:lnTo>
                      <a:pt x="1302729" y="185060"/>
                    </a:lnTo>
                    <a:lnTo>
                      <a:pt x="1306410" y="180339"/>
                    </a:lnTo>
                    <a:lnTo>
                      <a:pt x="1305471" y="170180"/>
                    </a:lnTo>
                    <a:lnTo>
                      <a:pt x="1300734" y="166369"/>
                    </a:lnTo>
                    <a:close/>
                  </a:path>
                  <a:path w="2992754" h="304800">
                    <a:moveTo>
                      <a:pt x="1302729" y="185060"/>
                    </a:moveTo>
                    <a:lnTo>
                      <a:pt x="1297089" y="185419"/>
                    </a:lnTo>
                    <a:lnTo>
                      <a:pt x="1295123" y="185885"/>
                    </a:lnTo>
                    <a:lnTo>
                      <a:pt x="1302448" y="185419"/>
                    </a:lnTo>
                    <a:lnTo>
                      <a:pt x="1302729" y="185060"/>
                    </a:lnTo>
                    <a:close/>
                  </a:path>
                  <a:path w="2992754" h="304800">
                    <a:moveTo>
                      <a:pt x="1327281" y="166369"/>
                    </a:moveTo>
                    <a:lnTo>
                      <a:pt x="1300734" y="166369"/>
                    </a:lnTo>
                    <a:lnTo>
                      <a:pt x="1305471" y="170180"/>
                    </a:lnTo>
                    <a:lnTo>
                      <a:pt x="1306410" y="180339"/>
                    </a:lnTo>
                    <a:lnTo>
                      <a:pt x="1302729" y="185060"/>
                    </a:lnTo>
                    <a:lnTo>
                      <a:pt x="1317004" y="184150"/>
                    </a:lnTo>
                    <a:lnTo>
                      <a:pt x="1331336" y="182711"/>
                    </a:lnTo>
                    <a:lnTo>
                      <a:pt x="1326832" y="179069"/>
                    </a:lnTo>
                    <a:lnTo>
                      <a:pt x="1325943" y="167639"/>
                    </a:lnTo>
                    <a:lnTo>
                      <a:pt x="1327281" y="166369"/>
                    </a:lnTo>
                    <a:close/>
                  </a:path>
                  <a:path w="2992754" h="304800">
                    <a:moveTo>
                      <a:pt x="1129106" y="179069"/>
                    </a:moveTo>
                    <a:lnTo>
                      <a:pt x="1109696" y="180339"/>
                    </a:lnTo>
                    <a:lnTo>
                      <a:pt x="1067269" y="184150"/>
                    </a:lnTo>
                    <a:lnTo>
                      <a:pt x="1064404" y="184845"/>
                    </a:lnTo>
                    <a:lnTo>
                      <a:pt x="1072515" y="184150"/>
                    </a:lnTo>
                    <a:lnTo>
                      <a:pt x="1114666" y="184150"/>
                    </a:lnTo>
                    <a:lnTo>
                      <a:pt x="1118590" y="180339"/>
                    </a:lnTo>
                    <a:lnTo>
                      <a:pt x="1129753" y="179606"/>
                    </a:lnTo>
                    <a:lnTo>
                      <a:pt x="1129106" y="179069"/>
                    </a:lnTo>
                    <a:close/>
                  </a:path>
                  <a:path w="2992754" h="304800">
                    <a:moveTo>
                      <a:pt x="23265" y="149797"/>
                    </a:moveTo>
                    <a:lnTo>
                      <a:pt x="27673" y="157480"/>
                    </a:lnTo>
                    <a:lnTo>
                      <a:pt x="26822" y="161289"/>
                    </a:lnTo>
                    <a:lnTo>
                      <a:pt x="20431" y="166187"/>
                    </a:lnTo>
                    <a:lnTo>
                      <a:pt x="21367" y="172426"/>
                    </a:lnTo>
                    <a:lnTo>
                      <a:pt x="21544" y="173989"/>
                    </a:lnTo>
                    <a:lnTo>
                      <a:pt x="21669" y="174865"/>
                    </a:lnTo>
                    <a:lnTo>
                      <a:pt x="22783" y="176565"/>
                    </a:lnTo>
                    <a:lnTo>
                      <a:pt x="24485" y="181610"/>
                    </a:lnTo>
                    <a:lnTo>
                      <a:pt x="27368" y="182880"/>
                    </a:lnTo>
                    <a:lnTo>
                      <a:pt x="31610" y="181610"/>
                    </a:lnTo>
                    <a:lnTo>
                      <a:pt x="32816" y="180339"/>
                    </a:lnTo>
                    <a:lnTo>
                      <a:pt x="33946" y="175775"/>
                    </a:lnTo>
                    <a:lnTo>
                      <a:pt x="33986" y="174865"/>
                    </a:lnTo>
                    <a:lnTo>
                      <a:pt x="33223" y="171450"/>
                    </a:lnTo>
                    <a:lnTo>
                      <a:pt x="30530" y="162560"/>
                    </a:lnTo>
                    <a:lnTo>
                      <a:pt x="28219" y="157480"/>
                    </a:lnTo>
                    <a:lnTo>
                      <a:pt x="23507" y="149860"/>
                    </a:lnTo>
                    <a:lnTo>
                      <a:pt x="23265" y="149797"/>
                    </a:lnTo>
                    <a:close/>
                  </a:path>
                  <a:path w="2992754" h="304800">
                    <a:moveTo>
                      <a:pt x="1373378" y="160019"/>
                    </a:moveTo>
                    <a:lnTo>
                      <a:pt x="1367891" y="160019"/>
                    </a:lnTo>
                    <a:lnTo>
                      <a:pt x="1346185" y="162560"/>
                    </a:lnTo>
                    <a:lnTo>
                      <a:pt x="1341207" y="162949"/>
                    </a:lnTo>
                    <a:lnTo>
                      <a:pt x="1345438" y="166369"/>
                    </a:lnTo>
                    <a:lnTo>
                      <a:pt x="1346327" y="177800"/>
                    </a:lnTo>
                    <a:lnTo>
                      <a:pt x="1342313" y="181610"/>
                    </a:lnTo>
                    <a:lnTo>
                      <a:pt x="1331336" y="182711"/>
                    </a:lnTo>
                    <a:lnTo>
                      <a:pt x="1331544" y="182880"/>
                    </a:lnTo>
                    <a:lnTo>
                      <a:pt x="1336929" y="182880"/>
                    </a:lnTo>
                    <a:lnTo>
                      <a:pt x="1358512" y="180339"/>
                    </a:lnTo>
                    <a:lnTo>
                      <a:pt x="1369304" y="180339"/>
                    </a:lnTo>
                    <a:lnTo>
                      <a:pt x="1385468" y="179069"/>
                    </a:lnTo>
                    <a:lnTo>
                      <a:pt x="1374698" y="179069"/>
                    </a:lnTo>
                    <a:lnTo>
                      <a:pt x="1370050" y="175260"/>
                    </a:lnTo>
                    <a:lnTo>
                      <a:pt x="1369326" y="165100"/>
                    </a:lnTo>
                    <a:lnTo>
                      <a:pt x="1373378" y="160019"/>
                    </a:lnTo>
                    <a:close/>
                  </a:path>
                  <a:path w="2992754" h="304800">
                    <a:moveTo>
                      <a:pt x="1341207" y="162949"/>
                    </a:moveTo>
                    <a:lnTo>
                      <a:pt x="1329956" y="163830"/>
                    </a:lnTo>
                    <a:lnTo>
                      <a:pt x="1325943" y="167639"/>
                    </a:lnTo>
                    <a:lnTo>
                      <a:pt x="1326832" y="179069"/>
                    </a:lnTo>
                    <a:lnTo>
                      <a:pt x="1331336" y="182711"/>
                    </a:lnTo>
                    <a:lnTo>
                      <a:pt x="1342313" y="181610"/>
                    </a:lnTo>
                    <a:lnTo>
                      <a:pt x="1346327" y="177800"/>
                    </a:lnTo>
                    <a:lnTo>
                      <a:pt x="1345438" y="166369"/>
                    </a:lnTo>
                    <a:lnTo>
                      <a:pt x="1341207" y="162949"/>
                    </a:lnTo>
                    <a:close/>
                  </a:path>
                  <a:path w="2992754" h="304800">
                    <a:moveTo>
                      <a:pt x="4630" y="162313"/>
                    </a:moveTo>
                    <a:lnTo>
                      <a:pt x="2015" y="166187"/>
                    </a:lnTo>
                    <a:lnTo>
                      <a:pt x="1965" y="166840"/>
                    </a:lnTo>
                    <a:lnTo>
                      <a:pt x="2928" y="172781"/>
                    </a:lnTo>
                    <a:lnTo>
                      <a:pt x="3634" y="176565"/>
                    </a:lnTo>
                    <a:lnTo>
                      <a:pt x="8305" y="179069"/>
                    </a:lnTo>
                    <a:lnTo>
                      <a:pt x="18122" y="177800"/>
                    </a:lnTo>
                    <a:lnTo>
                      <a:pt x="20837" y="173607"/>
                    </a:lnTo>
                    <a:lnTo>
                      <a:pt x="17729" y="168910"/>
                    </a:lnTo>
                    <a:lnTo>
                      <a:pt x="15062" y="166369"/>
                    </a:lnTo>
                    <a:lnTo>
                      <a:pt x="14305" y="165309"/>
                    </a:lnTo>
                    <a:lnTo>
                      <a:pt x="12212" y="162560"/>
                    </a:lnTo>
                    <a:lnTo>
                      <a:pt x="4838" y="162560"/>
                    </a:lnTo>
                    <a:lnTo>
                      <a:pt x="4630" y="162313"/>
                    </a:lnTo>
                    <a:close/>
                  </a:path>
                  <a:path w="2992754" h="304800">
                    <a:moveTo>
                      <a:pt x="20837" y="173607"/>
                    </a:moveTo>
                    <a:lnTo>
                      <a:pt x="18122" y="177800"/>
                    </a:lnTo>
                    <a:lnTo>
                      <a:pt x="8305" y="179069"/>
                    </a:lnTo>
                    <a:lnTo>
                      <a:pt x="22284" y="179069"/>
                    </a:lnTo>
                    <a:lnTo>
                      <a:pt x="21669" y="174865"/>
                    </a:lnTo>
                    <a:lnTo>
                      <a:pt x="20837" y="173607"/>
                    </a:lnTo>
                    <a:close/>
                  </a:path>
                  <a:path w="2992754" h="304800">
                    <a:moveTo>
                      <a:pt x="1427200" y="156210"/>
                    </a:moveTo>
                    <a:lnTo>
                      <a:pt x="1411104" y="157480"/>
                    </a:lnTo>
                    <a:lnTo>
                      <a:pt x="1400324" y="158750"/>
                    </a:lnTo>
                    <a:lnTo>
                      <a:pt x="1389539" y="158750"/>
                    </a:lnTo>
                    <a:lnTo>
                      <a:pt x="1373378" y="160019"/>
                    </a:lnTo>
                    <a:lnTo>
                      <a:pt x="1369326" y="165100"/>
                    </a:lnTo>
                    <a:lnTo>
                      <a:pt x="1370050" y="175260"/>
                    </a:lnTo>
                    <a:lnTo>
                      <a:pt x="1374698" y="179069"/>
                    </a:lnTo>
                    <a:lnTo>
                      <a:pt x="1385468" y="179069"/>
                    </a:lnTo>
                    <a:lnTo>
                      <a:pt x="1389507" y="173989"/>
                    </a:lnTo>
                    <a:lnTo>
                      <a:pt x="1388745" y="163830"/>
                    </a:lnTo>
                    <a:lnTo>
                      <a:pt x="1384109" y="160019"/>
                    </a:lnTo>
                    <a:lnTo>
                      <a:pt x="1413907" y="160019"/>
                    </a:lnTo>
                    <a:lnTo>
                      <a:pt x="1416558" y="157480"/>
                    </a:lnTo>
                    <a:lnTo>
                      <a:pt x="1427669" y="156593"/>
                    </a:lnTo>
                    <a:lnTo>
                      <a:pt x="1427200" y="156210"/>
                    </a:lnTo>
                    <a:close/>
                  </a:path>
                  <a:path w="2992754" h="304800">
                    <a:moveTo>
                      <a:pt x="1413907" y="160019"/>
                    </a:moveTo>
                    <a:lnTo>
                      <a:pt x="1384109" y="160019"/>
                    </a:lnTo>
                    <a:lnTo>
                      <a:pt x="1388745" y="163830"/>
                    </a:lnTo>
                    <a:lnTo>
                      <a:pt x="1389507" y="173989"/>
                    </a:lnTo>
                    <a:lnTo>
                      <a:pt x="1385468" y="179069"/>
                    </a:lnTo>
                    <a:lnTo>
                      <a:pt x="1390941" y="179069"/>
                    </a:lnTo>
                    <a:lnTo>
                      <a:pt x="1412616" y="176530"/>
                    </a:lnTo>
                    <a:lnTo>
                      <a:pt x="1417614" y="176137"/>
                    </a:lnTo>
                    <a:lnTo>
                      <a:pt x="1413508" y="172781"/>
                    </a:lnTo>
                    <a:lnTo>
                      <a:pt x="1413383" y="172050"/>
                    </a:lnTo>
                    <a:lnTo>
                      <a:pt x="1412582" y="161289"/>
                    </a:lnTo>
                    <a:lnTo>
                      <a:pt x="1413907" y="160019"/>
                    </a:lnTo>
                    <a:close/>
                  </a:path>
                  <a:path w="2992754" h="304800">
                    <a:moveTo>
                      <a:pt x="2862" y="172426"/>
                    </a:moveTo>
                    <a:lnTo>
                      <a:pt x="3568" y="176530"/>
                    </a:lnTo>
                    <a:lnTo>
                      <a:pt x="2862" y="172426"/>
                    </a:lnTo>
                    <a:close/>
                  </a:path>
                  <a:path w="2992754" h="304800">
                    <a:moveTo>
                      <a:pt x="1458950" y="153669"/>
                    </a:moveTo>
                    <a:lnTo>
                      <a:pt x="1453670" y="153669"/>
                    </a:lnTo>
                    <a:lnTo>
                      <a:pt x="1432473" y="156210"/>
                    </a:lnTo>
                    <a:lnTo>
                      <a:pt x="1427669" y="156593"/>
                    </a:lnTo>
                    <a:lnTo>
                      <a:pt x="1431861" y="160019"/>
                    </a:lnTo>
                    <a:lnTo>
                      <a:pt x="1432737" y="171450"/>
                    </a:lnTo>
                    <a:lnTo>
                      <a:pt x="1428775" y="175260"/>
                    </a:lnTo>
                    <a:lnTo>
                      <a:pt x="1417614" y="176137"/>
                    </a:lnTo>
                    <a:lnTo>
                      <a:pt x="1418094" y="176530"/>
                    </a:lnTo>
                    <a:lnTo>
                      <a:pt x="1423454" y="176530"/>
                    </a:lnTo>
                    <a:lnTo>
                      <a:pt x="1444524" y="173989"/>
                    </a:lnTo>
                    <a:lnTo>
                      <a:pt x="1455063" y="173989"/>
                    </a:lnTo>
                    <a:lnTo>
                      <a:pt x="1470926" y="172719"/>
                    </a:lnTo>
                    <a:lnTo>
                      <a:pt x="1460296" y="172719"/>
                    </a:lnTo>
                    <a:lnTo>
                      <a:pt x="1455686" y="168910"/>
                    </a:lnTo>
                    <a:lnTo>
                      <a:pt x="1454950" y="158750"/>
                    </a:lnTo>
                    <a:lnTo>
                      <a:pt x="1458950" y="153669"/>
                    </a:lnTo>
                    <a:close/>
                  </a:path>
                  <a:path w="2992754" h="304800">
                    <a:moveTo>
                      <a:pt x="1427669" y="156593"/>
                    </a:moveTo>
                    <a:lnTo>
                      <a:pt x="1416558" y="157480"/>
                    </a:lnTo>
                    <a:lnTo>
                      <a:pt x="1412582" y="161289"/>
                    </a:lnTo>
                    <a:lnTo>
                      <a:pt x="1413383" y="172050"/>
                    </a:lnTo>
                    <a:lnTo>
                      <a:pt x="1413508" y="172781"/>
                    </a:lnTo>
                    <a:lnTo>
                      <a:pt x="1417614" y="176137"/>
                    </a:lnTo>
                    <a:lnTo>
                      <a:pt x="1428775" y="175260"/>
                    </a:lnTo>
                    <a:lnTo>
                      <a:pt x="1432737" y="171450"/>
                    </a:lnTo>
                    <a:lnTo>
                      <a:pt x="1431861" y="160019"/>
                    </a:lnTo>
                    <a:lnTo>
                      <a:pt x="1427669" y="156593"/>
                    </a:lnTo>
                    <a:close/>
                  </a:path>
                  <a:path w="2992754" h="304800">
                    <a:moveTo>
                      <a:pt x="1231153" y="172300"/>
                    </a:moveTo>
                    <a:lnTo>
                      <a:pt x="1208638" y="173989"/>
                    </a:lnTo>
                    <a:lnTo>
                      <a:pt x="1194380" y="173989"/>
                    </a:lnTo>
                    <a:lnTo>
                      <a:pt x="1174838" y="175260"/>
                    </a:lnTo>
                    <a:lnTo>
                      <a:pt x="1174431" y="175775"/>
                    </a:lnTo>
                    <a:lnTo>
                      <a:pt x="1180147" y="175260"/>
                    </a:lnTo>
                    <a:lnTo>
                      <a:pt x="1228823" y="175260"/>
                    </a:lnTo>
                    <a:lnTo>
                      <a:pt x="1231153" y="172300"/>
                    </a:lnTo>
                    <a:close/>
                  </a:path>
                  <a:path w="2992754" h="304800">
                    <a:moveTo>
                      <a:pt x="21372" y="172781"/>
                    </a:moveTo>
                    <a:lnTo>
                      <a:pt x="20837" y="173607"/>
                    </a:lnTo>
                    <a:lnTo>
                      <a:pt x="21669" y="174865"/>
                    </a:lnTo>
                    <a:lnTo>
                      <a:pt x="21372" y="172781"/>
                    </a:lnTo>
                    <a:close/>
                  </a:path>
                  <a:path w="2992754" h="304800">
                    <a:moveTo>
                      <a:pt x="20412" y="166201"/>
                    </a:moveTo>
                    <a:lnTo>
                      <a:pt x="20193" y="166369"/>
                    </a:lnTo>
                    <a:lnTo>
                      <a:pt x="15062" y="166369"/>
                    </a:lnTo>
                    <a:lnTo>
                      <a:pt x="17729" y="168910"/>
                    </a:lnTo>
                    <a:lnTo>
                      <a:pt x="20837" y="173607"/>
                    </a:lnTo>
                    <a:lnTo>
                      <a:pt x="21372" y="172781"/>
                    </a:lnTo>
                    <a:lnTo>
                      <a:pt x="20412" y="166201"/>
                    </a:lnTo>
                    <a:close/>
                  </a:path>
                  <a:path w="2992754" h="304800">
                    <a:moveTo>
                      <a:pt x="20711" y="168148"/>
                    </a:moveTo>
                    <a:lnTo>
                      <a:pt x="21372" y="172781"/>
                    </a:lnTo>
                    <a:lnTo>
                      <a:pt x="21309" y="172050"/>
                    </a:lnTo>
                    <a:lnTo>
                      <a:pt x="20711" y="168148"/>
                    </a:lnTo>
                    <a:close/>
                  </a:path>
                  <a:path w="2992754" h="304800">
                    <a:moveTo>
                      <a:pt x="1514157" y="149860"/>
                    </a:moveTo>
                    <a:lnTo>
                      <a:pt x="1497726" y="151130"/>
                    </a:lnTo>
                    <a:lnTo>
                      <a:pt x="1486569" y="152400"/>
                    </a:lnTo>
                    <a:lnTo>
                      <a:pt x="1475418" y="152400"/>
                    </a:lnTo>
                    <a:lnTo>
                      <a:pt x="1458950" y="153669"/>
                    </a:lnTo>
                    <a:lnTo>
                      <a:pt x="1454950" y="158750"/>
                    </a:lnTo>
                    <a:lnTo>
                      <a:pt x="1455686" y="168910"/>
                    </a:lnTo>
                    <a:lnTo>
                      <a:pt x="1460296" y="172719"/>
                    </a:lnTo>
                    <a:lnTo>
                      <a:pt x="1465605" y="172719"/>
                    </a:lnTo>
                    <a:lnTo>
                      <a:pt x="1471455" y="172050"/>
                    </a:lnTo>
                    <a:lnTo>
                      <a:pt x="1474939" y="167639"/>
                    </a:lnTo>
                    <a:lnTo>
                      <a:pt x="1474190" y="157480"/>
                    </a:lnTo>
                    <a:lnTo>
                      <a:pt x="1469580" y="153669"/>
                    </a:lnTo>
                    <a:lnTo>
                      <a:pt x="1501565" y="153669"/>
                    </a:lnTo>
                    <a:lnTo>
                      <a:pt x="1503591" y="151130"/>
                    </a:lnTo>
                    <a:lnTo>
                      <a:pt x="1508887" y="151130"/>
                    </a:lnTo>
                    <a:lnTo>
                      <a:pt x="1514863" y="150653"/>
                    </a:lnTo>
                    <a:lnTo>
                      <a:pt x="1514157" y="149860"/>
                    </a:lnTo>
                    <a:close/>
                  </a:path>
                  <a:path w="2992754" h="304800">
                    <a:moveTo>
                      <a:pt x="1471455" y="172050"/>
                    </a:moveTo>
                    <a:lnTo>
                      <a:pt x="1465605" y="172719"/>
                    </a:lnTo>
                    <a:lnTo>
                      <a:pt x="1470926" y="172719"/>
                    </a:lnTo>
                    <a:lnTo>
                      <a:pt x="1471455" y="172050"/>
                    </a:lnTo>
                    <a:close/>
                  </a:path>
                  <a:path w="2992754" h="304800">
                    <a:moveTo>
                      <a:pt x="1293352" y="166840"/>
                    </a:moveTo>
                    <a:lnTo>
                      <a:pt x="1280796" y="167639"/>
                    </a:lnTo>
                    <a:lnTo>
                      <a:pt x="1251698" y="170180"/>
                    </a:lnTo>
                    <a:lnTo>
                      <a:pt x="1231823" y="171450"/>
                    </a:lnTo>
                    <a:lnTo>
                      <a:pt x="1231153" y="172300"/>
                    </a:lnTo>
                    <a:lnTo>
                      <a:pt x="1242491" y="171450"/>
                    </a:lnTo>
                    <a:lnTo>
                      <a:pt x="1286027" y="171450"/>
                    </a:lnTo>
                    <a:lnTo>
                      <a:pt x="1289977" y="167639"/>
                    </a:lnTo>
                    <a:lnTo>
                      <a:pt x="1293352" y="166840"/>
                    </a:lnTo>
                    <a:close/>
                  </a:path>
                  <a:path w="2992754" h="304800">
                    <a:moveTo>
                      <a:pt x="1501565" y="153669"/>
                    </a:moveTo>
                    <a:lnTo>
                      <a:pt x="1469580" y="153669"/>
                    </a:lnTo>
                    <a:lnTo>
                      <a:pt x="1474190" y="157480"/>
                    </a:lnTo>
                    <a:lnTo>
                      <a:pt x="1474939" y="167639"/>
                    </a:lnTo>
                    <a:lnTo>
                      <a:pt x="1471455" y="172050"/>
                    </a:lnTo>
                    <a:lnTo>
                      <a:pt x="1476700" y="171450"/>
                    </a:lnTo>
                    <a:lnTo>
                      <a:pt x="1487792" y="171450"/>
                    </a:lnTo>
                    <a:lnTo>
                      <a:pt x="1509979" y="170180"/>
                    </a:lnTo>
                    <a:lnTo>
                      <a:pt x="1504645" y="170180"/>
                    </a:lnTo>
                    <a:lnTo>
                      <a:pt x="1500111" y="166369"/>
                    </a:lnTo>
                    <a:lnTo>
                      <a:pt x="1499539" y="156210"/>
                    </a:lnTo>
                    <a:lnTo>
                      <a:pt x="1501565" y="153669"/>
                    </a:lnTo>
                    <a:close/>
                  </a:path>
                  <a:path w="2992754" h="304800">
                    <a:moveTo>
                      <a:pt x="413" y="154214"/>
                    </a:moveTo>
                    <a:lnTo>
                      <a:pt x="558" y="158750"/>
                    </a:lnTo>
                    <a:lnTo>
                      <a:pt x="2552" y="170630"/>
                    </a:lnTo>
                    <a:lnTo>
                      <a:pt x="1965" y="166840"/>
                    </a:lnTo>
                    <a:lnTo>
                      <a:pt x="2015" y="166187"/>
                    </a:lnTo>
                    <a:lnTo>
                      <a:pt x="4630" y="162313"/>
                    </a:lnTo>
                    <a:lnTo>
                      <a:pt x="533" y="157480"/>
                    </a:lnTo>
                    <a:lnTo>
                      <a:pt x="413" y="154214"/>
                    </a:lnTo>
                    <a:close/>
                  </a:path>
                  <a:path w="2992754" h="304800">
                    <a:moveTo>
                      <a:pt x="1514863" y="150653"/>
                    </a:moveTo>
                    <a:lnTo>
                      <a:pt x="1508887" y="151130"/>
                    </a:lnTo>
                    <a:lnTo>
                      <a:pt x="1503591" y="151130"/>
                    </a:lnTo>
                    <a:lnTo>
                      <a:pt x="1499539" y="156210"/>
                    </a:lnTo>
                    <a:lnTo>
                      <a:pt x="1500111" y="166369"/>
                    </a:lnTo>
                    <a:lnTo>
                      <a:pt x="1504645" y="170180"/>
                    </a:lnTo>
                    <a:lnTo>
                      <a:pt x="1509979" y="170180"/>
                    </a:lnTo>
                    <a:lnTo>
                      <a:pt x="1515617" y="169732"/>
                    </a:lnTo>
                    <a:lnTo>
                      <a:pt x="1519301" y="165100"/>
                    </a:lnTo>
                    <a:lnTo>
                      <a:pt x="1518678" y="154939"/>
                    </a:lnTo>
                    <a:lnTo>
                      <a:pt x="1514863" y="150653"/>
                    </a:lnTo>
                    <a:close/>
                  </a:path>
                  <a:path w="2992754" h="304800">
                    <a:moveTo>
                      <a:pt x="1515617" y="169732"/>
                    </a:moveTo>
                    <a:lnTo>
                      <a:pt x="1509979" y="170180"/>
                    </a:lnTo>
                    <a:lnTo>
                      <a:pt x="1515262" y="170180"/>
                    </a:lnTo>
                    <a:lnTo>
                      <a:pt x="1515617" y="169732"/>
                    </a:lnTo>
                    <a:close/>
                  </a:path>
                  <a:path w="2992754" h="304800">
                    <a:moveTo>
                      <a:pt x="1577898" y="146050"/>
                    </a:moveTo>
                    <a:lnTo>
                      <a:pt x="1556700" y="147319"/>
                    </a:lnTo>
                    <a:lnTo>
                      <a:pt x="1514863" y="150653"/>
                    </a:lnTo>
                    <a:lnTo>
                      <a:pt x="1518678" y="154939"/>
                    </a:lnTo>
                    <a:lnTo>
                      <a:pt x="1519301" y="165100"/>
                    </a:lnTo>
                    <a:lnTo>
                      <a:pt x="1515617" y="169732"/>
                    </a:lnTo>
                    <a:lnTo>
                      <a:pt x="1558020" y="166369"/>
                    </a:lnTo>
                    <a:lnTo>
                      <a:pt x="1568047" y="165771"/>
                    </a:lnTo>
                    <a:lnTo>
                      <a:pt x="1564182" y="162560"/>
                    </a:lnTo>
                    <a:lnTo>
                      <a:pt x="1563408" y="151130"/>
                    </a:lnTo>
                    <a:lnTo>
                      <a:pt x="1567374" y="147318"/>
                    </a:lnTo>
                    <a:lnTo>
                      <a:pt x="1578152" y="146261"/>
                    </a:lnTo>
                    <a:lnTo>
                      <a:pt x="1577898" y="146050"/>
                    </a:lnTo>
                    <a:close/>
                  </a:path>
                  <a:path w="2992754" h="304800">
                    <a:moveTo>
                      <a:pt x="1340726" y="162560"/>
                    </a:moveTo>
                    <a:lnTo>
                      <a:pt x="1325340" y="163830"/>
                    </a:lnTo>
                    <a:lnTo>
                      <a:pt x="1315339" y="165100"/>
                    </a:lnTo>
                    <a:lnTo>
                      <a:pt x="1295336" y="166369"/>
                    </a:lnTo>
                    <a:lnTo>
                      <a:pt x="1293352" y="166840"/>
                    </a:lnTo>
                    <a:lnTo>
                      <a:pt x="1300734" y="166369"/>
                    </a:lnTo>
                    <a:lnTo>
                      <a:pt x="1327281" y="166369"/>
                    </a:lnTo>
                    <a:lnTo>
                      <a:pt x="1329956" y="163830"/>
                    </a:lnTo>
                    <a:lnTo>
                      <a:pt x="1341207" y="162949"/>
                    </a:lnTo>
                    <a:lnTo>
                      <a:pt x="1340726" y="162560"/>
                    </a:lnTo>
                    <a:close/>
                  </a:path>
                  <a:path w="2992754" h="304800">
                    <a:moveTo>
                      <a:pt x="14305" y="165309"/>
                    </a:moveTo>
                    <a:lnTo>
                      <a:pt x="15062" y="166369"/>
                    </a:lnTo>
                    <a:lnTo>
                      <a:pt x="14305" y="165309"/>
                    </a:lnTo>
                    <a:close/>
                  </a:path>
                  <a:path w="2992754" h="304800">
                    <a:moveTo>
                      <a:pt x="19854" y="162560"/>
                    </a:moveTo>
                    <a:lnTo>
                      <a:pt x="12344" y="162560"/>
                    </a:lnTo>
                    <a:lnTo>
                      <a:pt x="14305" y="165309"/>
                    </a:lnTo>
                    <a:lnTo>
                      <a:pt x="15113" y="166369"/>
                    </a:lnTo>
                    <a:lnTo>
                      <a:pt x="20193" y="166369"/>
                    </a:lnTo>
                    <a:lnTo>
                      <a:pt x="20412" y="166201"/>
                    </a:lnTo>
                    <a:lnTo>
                      <a:pt x="19854" y="162560"/>
                    </a:lnTo>
                    <a:close/>
                  </a:path>
                  <a:path w="2992754" h="304800">
                    <a:moveTo>
                      <a:pt x="1572295" y="165517"/>
                    </a:moveTo>
                    <a:lnTo>
                      <a:pt x="1568047" y="165771"/>
                    </a:lnTo>
                    <a:lnTo>
                      <a:pt x="1568767" y="166369"/>
                    </a:lnTo>
                    <a:lnTo>
                      <a:pt x="1572295" y="165517"/>
                    </a:lnTo>
                    <a:close/>
                  </a:path>
                  <a:path w="2992754" h="304800">
                    <a:moveTo>
                      <a:pt x="19848" y="162524"/>
                    </a:moveTo>
                    <a:lnTo>
                      <a:pt x="20412" y="166201"/>
                    </a:lnTo>
                    <a:lnTo>
                      <a:pt x="19969" y="162949"/>
                    </a:lnTo>
                    <a:lnTo>
                      <a:pt x="19848" y="162524"/>
                    </a:lnTo>
                    <a:close/>
                  </a:path>
                  <a:path w="2992754" h="304800">
                    <a:moveTo>
                      <a:pt x="18888" y="148669"/>
                    </a:moveTo>
                    <a:lnTo>
                      <a:pt x="19075" y="157480"/>
                    </a:lnTo>
                    <a:lnTo>
                      <a:pt x="19848" y="162524"/>
                    </a:lnTo>
                    <a:lnTo>
                      <a:pt x="19969" y="162949"/>
                    </a:lnTo>
                    <a:lnTo>
                      <a:pt x="20431" y="166187"/>
                    </a:lnTo>
                    <a:lnTo>
                      <a:pt x="26822" y="161289"/>
                    </a:lnTo>
                    <a:lnTo>
                      <a:pt x="27673" y="157480"/>
                    </a:lnTo>
                    <a:lnTo>
                      <a:pt x="23265" y="149797"/>
                    </a:lnTo>
                    <a:lnTo>
                      <a:pt x="18888" y="148669"/>
                    </a:lnTo>
                    <a:close/>
                  </a:path>
                  <a:path w="2992754" h="304800">
                    <a:moveTo>
                      <a:pt x="1578152" y="146261"/>
                    </a:moveTo>
                    <a:lnTo>
                      <a:pt x="1567357" y="147319"/>
                    </a:lnTo>
                    <a:lnTo>
                      <a:pt x="1563408" y="151130"/>
                    </a:lnTo>
                    <a:lnTo>
                      <a:pt x="1564182" y="162560"/>
                    </a:lnTo>
                    <a:lnTo>
                      <a:pt x="1568047" y="165771"/>
                    </a:lnTo>
                    <a:lnTo>
                      <a:pt x="1572295" y="165517"/>
                    </a:lnTo>
                    <a:lnTo>
                      <a:pt x="1574025" y="165100"/>
                    </a:lnTo>
                    <a:lnTo>
                      <a:pt x="1579562" y="164758"/>
                    </a:lnTo>
                    <a:lnTo>
                      <a:pt x="1583258" y="160019"/>
                    </a:lnTo>
                    <a:lnTo>
                      <a:pt x="1582483" y="149860"/>
                    </a:lnTo>
                    <a:lnTo>
                      <a:pt x="1578152" y="146261"/>
                    </a:lnTo>
                    <a:close/>
                  </a:path>
                  <a:path w="2992754" h="304800">
                    <a:moveTo>
                      <a:pt x="1579562" y="164758"/>
                    </a:moveTo>
                    <a:lnTo>
                      <a:pt x="1574025" y="165100"/>
                    </a:lnTo>
                    <a:lnTo>
                      <a:pt x="1572295" y="165517"/>
                    </a:lnTo>
                    <a:lnTo>
                      <a:pt x="1579295" y="165100"/>
                    </a:lnTo>
                    <a:lnTo>
                      <a:pt x="1579562" y="164758"/>
                    </a:lnTo>
                    <a:close/>
                  </a:path>
                  <a:path w="2992754" h="304800">
                    <a:moveTo>
                      <a:pt x="15989" y="160409"/>
                    </a:moveTo>
                    <a:lnTo>
                      <a:pt x="15062" y="161289"/>
                    </a:lnTo>
                    <a:lnTo>
                      <a:pt x="11919" y="161680"/>
                    </a:lnTo>
                    <a:lnTo>
                      <a:pt x="12035" y="162327"/>
                    </a:lnTo>
                    <a:lnTo>
                      <a:pt x="14305" y="165309"/>
                    </a:lnTo>
                    <a:lnTo>
                      <a:pt x="12344" y="162560"/>
                    </a:lnTo>
                    <a:lnTo>
                      <a:pt x="19854" y="162560"/>
                    </a:lnTo>
                    <a:lnTo>
                      <a:pt x="15989" y="160409"/>
                    </a:lnTo>
                    <a:close/>
                  </a:path>
                  <a:path w="2992754" h="304800">
                    <a:moveTo>
                      <a:pt x="1660436" y="139700"/>
                    </a:moveTo>
                    <a:lnTo>
                      <a:pt x="1634509" y="142239"/>
                    </a:lnTo>
                    <a:lnTo>
                      <a:pt x="1593252" y="144780"/>
                    </a:lnTo>
                    <a:lnTo>
                      <a:pt x="1578152" y="146261"/>
                    </a:lnTo>
                    <a:lnTo>
                      <a:pt x="1582483" y="149860"/>
                    </a:lnTo>
                    <a:lnTo>
                      <a:pt x="1583258" y="160019"/>
                    </a:lnTo>
                    <a:lnTo>
                      <a:pt x="1579562" y="164758"/>
                    </a:lnTo>
                    <a:lnTo>
                      <a:pt x="1635827" y="161289"/>
                    </a:lnTo>
                    <a:lnTo>
                      <a:pt x="1661718" y="160019"/>
                    </a:lnTo>
                    <a:lnTo>
                      <a:pt x="1651152" y="160019"/>
                    </a:lnTo>
                    <a:lnTo>
                      <a:pt x="1646567" y="156210"/>
                    </a:lnTo>
                    <a:lnTo>
                      <a:pt x="1645856" y="146050"/>
                    </a:lnTo>
                    <a:lnTo>
                      <a:pt x="1649844" y="140969"/>
                    </a:lnTo>
                    <a:lnTo>
                      <a:pt x="1660895" y="140210"/>
                    </a:lnTo>
                    <a:lnTo>
                      <a:pt x="1660436" y="139700"/>
                    </a:lnTo>
                    <a:close/>
                  </a:path>
                  <a:path w="2992754" h="304800">
                    <a:moveTo>
                      <a:pt x="10721" y="160601"/>
                    </a:moveTo>
                    <a:lnTo>
                      <a:pt x="5321" y="161289"/>
                    </a:lnTo>
                    <a:lnTo>
                      <a:pt x="4630" y="162313"/>
                    </a:lnTo>
                    <a:lnTo>
                      <a:pt x="4838" y="162560"/>
                    </a:lnTo>
                    <a:lnTo>
                      <a:pt x="11575" y="161723"/>
                    </a:lnTo>
                    <a:lnTo>
                      <a:pt x="10721" y="160601"/>
                    </a:lnTo>
                    <a:close/>
                  </a:path>
                  <a:path w="2992754" h="304800">
                    <a:moveTo>
                      <a:pt x="11575" y="161723"/>
                    </a:moveTo>
                    <a:lnTo>
                      <a:pt x="4838" y="162560"/>
                    </a:lnTo>
                    <a:lnTo>
                      <a:pt x="12077" y="162560"/>
                    </a:lnTo>
                    <a:lnTo>
                      <a:pt x="12025" y="162313"/>
                    </a:lnTo>
                    <a:lnTo>
                      <a:pt x="11575" y="161723"/>
                    </a:lnTo>
                    <a:close/>
                  </a:path>
                  <a:path w="2992754" h="304800">
                    <a:moveTo>
                      <a:pt x="12035" y="162327"/>
                    </a:moveTo>
                    <a:lnTo>
                      <a:pt x="12077" y="162560"/>
                    </a:lnTo>
                    <a:lnTo>
                      <a:pt x="12212" y="162560"/>
                    </a:lnTo>
                    <a:lnTo>
                      <a:pt x="12035" y="162327"/>
                    </a:lnTo>
                    <a:close/>
                  </a:path>
                  <a:path w="2992754" h="304800">
                    <a:moveTo>
                      <a:pt x="19075" y="157480"/>
                    </a:moveTo>
                    <a:lnTo>
                      <a:pt x="15989" y="160409"/>
                    </a:lnTo>
                    <a:lnTo>
                      <a:pt x="19848" y="162524"/>
                    </a:lnTo>
                    <a:lnTo>
                      <a:pt x="19075" y="157480"/>
                    </a:lnTo>
                    <a:close/>
                  </a:path>
                  <a:path w="2992754" h="304800">
                    <a:moveTo>
                      <a:pt x="11919" y="161680"/>
                    </a:moveTo>
                    <a:lnTo>
                      <a:pt x="11575" y="161723"/>
                    </a:lnTo>
                    <a:lnTo>
                      <a:pt x="12035" y="162327"/>
                    </a:lnTo>
                    <a:lnTo>
                      <a:pt x="11919" y="161680"/>
                    </a:lnTo>
                    <a:close/>
                  </a:path>
                  <a:path w="2992754" h="304800">
                    <a:moveTo>
                      <a:pt x="271" y="148671"/>
                    </a:moveTo>
                    <a:lnTo>
                      <a:pt x="413" y="154214"/>
                    </a:lnTo>
                    <a:lnTo>
                      <a:pt x="533" y="157480"/>
                    </a:lnTo>
                    <a:lnTo>
                      <a:pt x="4630" y="162313"/>
                    </a:lnTo>
                    <a:lnTo>
                      <a:pt x="5321" y="161289"/>
                    </a:lnTo>
                    <a:lnTo>
                      <a:pt x="10721" y="160601"/>
                    </a:lnTo>
                    <a:lnTo>
                      <a:pt x="7378" y="156210"/>
                    </a:lnTo>
                    <a:lnTo>
                      <a:pt x="4711" y="153669"/>
                    </a:lnTo>
                    <a:lnTo>
                      <a:pt x="1955" y="151130"/>
                    </a:lnTo>
                    <a:lnTo>
                      <a:pt x="271" y="148671"/>
                    </a:lnTo>
                    <a:close/>
                  </a:path>
                  <a:path w="2992754" h="304800">
                    <a:moveTo>
                      <a:pt x="11363" y="160519"/>
                    </a:moveTo>
                    <a:lnTo>
                      <a:pt x="10721" y="160601"/>
                    </a:lnTo>
                    <a:lnTo>
                      <a:pt x="11575" y="161723"/>
                    </a:lnTo>
                    <a:lnTo>
                      <a:pt x="11919" y="161680"/>
                    </a:lnTo>
                    <a:lnTo>
                      <a:pt x="11849" y="161289"/>
                    </a:lnTo>
                    <a:lnTo>
                      <a:pt x="11363" y="160519"/>
                    </a:lnTo>
                    <a:close/>
                  </a:path>
                  <a:path w="2992754" h="304800">
                    <a:moveTo>
                      <a:pt x="15278" y="160019"/>
                    </a:moveTo>
                    <a:lnTo>
                      <a:pt x="11363" y="160519"/>
                    </a:lnTo>
                    <a:lnTo>
                      <a:pt x="11849" y="161289"/>
                    </a:lnTo>
                    <a:lnTo>
                      <a:pt x="11919" y="161680"/>
                    </a:lnTo>
                    <a:lnTo>
                      <a:pt x="15062" y="161289"/>
                    </a:lnTo>
                    <a:lnTo>
                      <a:pt x="15989" y="160409"/>
                    </a:lnTo>
                    <a:lnTo>
                      <a:pt x="15278" y="160019"/>
                    </a:lnTo>
                    <a:close/>
                  </a:path>
                  <a:path w="2992754" h="304800">
                    <a:moveTo>
                      <a:pt x="14605" y="143510"/>
                    </a:moveTo>
                    <a:lnTo>
                      <a:pt x="4318" y="143510"/>
                    </a:lnTo>
                    <a:lnTo>
                      <a:pt x="243" y="147318"/>
                    </a:lnTo>
                    <a:lnTo>
                      <a:pt x="271" y="148671"/>
                    </a:lnTo>
                    <a:lnTo>
                      <a:pt x="1955" y="151130"/>
                    </a:lnTo>
                    <a:lnTo>
                      <a:pt x="5298" y="154229"/>
                    </a:lnTo>
                    <a:lnTo>
                      <a:pt x="7378" y="156210"/>
                    </a:lnTo>
                    <a:lnTo>
                      <a:pt x="10721" y="160601"/>
                    </a:lnTo>
                    <a:lnTo>
                      <a:pt x="11363" y="160519"/>
                    </a:lnTo>
                    <a:lnTo>
                      <a:pt x="9448" y="157480"/>
                    </a:lnTo>
                    <a:lnTo>
                      <a:pt x="10807" y="152400"/>
                    </a:lnTo>
                    <a:lnTo>
                      <a:pt x="18580" y="148589"/>
                    </a:lnTo>
                    <a:lnTo>
                      <a:pt x="18884" y="148589"/>
                    </a:lnTo>
                    <a:lnTo>
                      <a:pt x="18857" y="147318"/>
                    </a:lnTo>
                    <a:lnTo>
                      <a:pt x="14605" y="143510"/>
                    </a:lnTo>
                    <a:close/>
                  </a:path>
                  <a:path w="2992754" h="304800">
                    <a:moveTo>
                      <a:pt x="18580" y="148589"/>
                    </a:moveTo>
                    <a:lnTo>
                      <a:pt x="10807" y="152400"/>
                    </a:lnTo>
                    <a:lnTo>
                      <a:pt x="9448" y="157480"/>
                    </a:lnTo>
                    <a:lnTo>
                      <a:pt x="11363" y="160519"/>
                    </a:lnTo>
                    <a:lnTo>
                      <a:pt x="15278" y="160019"/>
                    </a:lnTo>
                    <a:lnTo>
                      <a:pt x="16399" y="160019"/>
                    </a:lnTo>
                    <a:lnTo>
                      <a:pt x="19075" y="157480"/>
                    </a:lnTo>
                    <a:lnTo>
                      <a:pt x="18886" y="148668"/>
                    </a:lnTo>
                    <a:lnTo>
                      <a:pt x="18580" y="148589"/>
                    </a:lnTo>
                    <a:close/>
                  </a:path>
                  <a:path w="2992754" h="304800">
                    <a:moveTo>
                      <a:pt x="16399" y="160019"/>
                    </a:moveTo>
                    <a:lnTo>
                      <a:pt x="15278" y="160019"/>
                    </a:lnTo>
                    <a:lnTo>
                      <a:pt x="15989" y="160409"/>
                    </a:lnTo>
                    <a:lnTo>
                      <a:pt x="16399" y="160019"/>
                    </a:lnTo>
                    <a:close/>
                  </a:path>
                  <a:path w="2992754" h="304800">
                    <a:moveTo>
                      <a:pt x="1660895" y="140210"/>
                    </a:moveTo>
                    <a:lnTo>
                      <a:pt x="1649844" y="140969"/>
                    </a:lnTo>
                    <a:lnTo>
                      <a:pt x="1645856" y="146050"/>
                    </a:lnTo>
                    <a:lnTo>
                      <a:pt x="1646567" y="156210"/>
                    </a:lnTo>
                    <a:lnTo>
                      <a:pt x="1651152" y="160019"/>
                    </a:lnTo>
                    <a:lnTo>
                      <a:pt x="1656435" y="160019"/>
                    </a:lnTo>
                    <a:lnTo>
                      <a:pt x="1662040" y="159611"/>
                    </a:lnTo>
                    <a:lnTo>
                      <a:pt x="1665719" y="154939"/>
                    </a:lnTo>
                    <a:lnTo>
                      <a:pt x="1665008" y="144780"/>
                    </a:lnTo>
                    <a:lnTo>
                      <a:pt x="1660895" y="140210"/>
                    </a:lnTo>
                    <a:close/>
                  </a:path>
                  <a:path w="2992754" h="304800">
                    <a:moveTo>
                      <a:pt x="1662040" y="159611"/>
                    </a:moveTo>
                    <a:lnTo>
                      <a:pt x="1656435" y="160019"/>
                    </a:lnTo>
                    <a:lnTo>
                      <a:pt x="1661718" y="160019"/>
                    </a:lnTo>
                    <a:lnTo>
                      <a:pt x="1662040" y="159611"/>
                    </a:lnTo>
                    <a:close/>
                  </a:path>
                  <a:path w="2992754" h="304800">
                    <a:moveTo>
                      <a:pt x="1742262" y="134619"/>
                    </a:moveTo>
                    <a:lnTo>
                      <a:pt x="1660895" y="140210"/>
                    </a:lnTo>
                    <a:lnTo>
                      <a:pt x="1665008" y="144780"/>
                    </a:lnTo>
                    <a:lnTo>
                      <a:pt x="1665719" y="154939"/>
                    </a:lnTo>
                    <a:lnTo>
                      <a:pt x="1662040" y="159611"/>
                    </a:lnTo>
                    <a:lnTo>
                      <a:pt x="1732379" y="154485"/>
                    </a:lnTo>
                    <a:lnTo>
                      <a:pt x="1728330" y="151130"/>
                    </a:lnTo>
                    <a:lnTo>
                      <a:pt x="1727580" y="139700"/>
                    </a:lnTo>
                    <a:lnTo>
                      <a:pt x="1731594" y="135889"/>
                    </a:lnTo>
                    <a:lnTo>
                      <a:pt x="1742459" y="134783"/>
                    </a:lnTo>
                    <a:lnTo>
                      <a:pt x="1742262" y="134619"/>
                    </a:lnTo>
                    <a:close/>
                  </a:path>
                  <a:path w="2992754" h="304800">
                    <a:moveTo>
                      <a:pt x="1735899" y="154229"/>
                    </a:moveTo>
                    <a:lnTo>
                      <a:pt x="1732379" y="154485"/>
                    </a:lnTo>
                    <a:lnTo>
                      <a:pt x="1732927" y="154939"/>
                    </a:lnTo>
                    <a:lnTo>
                      <a:pt x="1735899" y="154229"/>
                    </a:lnTo>
                    <a:close/>
                  </a:path>
                  <a:path w="2992754" h="304800">
                    <a:moveTo>
                      <a:pt x="1742459" y="134783"/>
                    </a:moveTo>
                    <a:lnTo>
                      <a:pt x="1731594" y="135889"/>
                    </a:lnTo>
                    <a:lnTo>
                      <a:pt x="1727580" y="139700"/>
                    </a:lnTo>
                    <a:lnTo>
                      <a:pt x="1728330" y="151130"/>
                    </a:lnTo>
                    <a:lnTo>
                      <a:pt x="1732379" y="154485"/>
                    </a:lnTo>
                    <a:lnTo>
                      <a:pt x="1735961" y="154214"/>
                    </a:lnTo>
                    <a:lnTo>
                      <a:pt x="1738236" y="153669"/>
                    </a:lnTo>
                    <a:lnTo>
                      <a:pt x="1743961" y="153298"/>
                    </a:lnTo>
                    <a:lnTo>
                      <a:pt x="1747583" y="149860"/>
                    </a:lnTo>
                    <a:lnTo>
                      <a:pt x="1746872" y="138430"/>
                    </a:lnTo>
                    <a:lnTo>
                      <a:pt x="1742459" y="134783"/>
                    </a:lnTo>
                    <a:close/>
                  </a:path>
                  <a:path w="2992754" h="304800">
                    <a:moveTo>
                      <a:pt x="1743961" y="153298"/>
                    </a:moveTo>
                    <a:lnTo>
                      <a:pt x="1738236" y="153669"/>
                    </a:lnTo>
                    <a:lnTo>
                      <a:pt x="1735899" y="154229"/>
                    </a:lnTo>
                    <a:lnTo>
                      <a:pt x="1743570" y="153669"/>
                    </a:lnTo>
                    <a:lnTo>
                      <a:pt x="1743961" y="153298"/>
                    </a:lnTo>
                    <a:close/>
                  </a:path>
                  <a:path w="2992754" h="304800">
                    <a:moveTo>
                      <a:pt x="76" y="143933"/>
                    </a:moveTo>
                    <a:lnTo>
                      <a:pt x="207" y="148589"/>
                    </a:lnTo>
                    <a:lnTo>
                      <a:pt x="413" y="154214"/>
                    </a:lnTo>
                    <a:lnTo>
                      <a:pt x="297" y="149797"/>
                    </a:lnTo>
                    <a:lnTo>
                      <a:pt x="177" y="147318"/>
                    </a:lnTo>
                    <a:lnTo>
                      <a:pt x="76" y="143933"/>
                    </a:lnTo>
                    <a:close/>
                  </a:path>
                  <a:path w="2992754" h="304800">
                    <a:moveTo>
                      <a:pt x="1820786" y="129539"/>
                    </a:moveTo>
                    <a:lnTo>
                      <a:pt x="1815401" y="129539"/>
                    </a:lnTo>
                    <a:lnTo>
                      <a:pt x="1756527" y="133350"/>
                    </a:lnTo>
                    <a:lnTo>
                      <a:pt x="1742459" y="134783"/>
                    </a:lnTo>
                    <a:lnTo>
                      <a:pt x="1746872" y="138430"/>
                    </a:lnTo>
                    <a:lnTo>
                      <a:pt x="1747583" y="149860"/>
                    </a:lnTo>
                    <a:lnTo>
                      <a:pt x="1743961" y="153298"/>
                    </a:lnTo>
                    <a:lnTo>
                      <a:pt x="1777360" y="151130"/>
                    </a:lnTo>
                    <a:lnTo>
                      <a:pt x="1796923" y="151130"/>
                    </a:lnTo>
                    <a:lnTo>
                      <a:pt x="1816493" y="149860"/>
                    </a:lnTo>
                    <a:lnTo>
                      <a:pt x="1811121" y="149860"/>
                    </a:lnTo>
                    <a:lnTo>
                      <a:pt x="1806511" y="146050"/>
                    </a:lnTo>
                    <a:lnTo>
                      <a:pt x="1805876" y="134619"/>
                    </a:lnTo>
                    <a:lnTo>
                      <a:pt x="1809978" y="130810"/>
                    </a:lnTo>
                    <a:lnTo>
                      <a:pt x="1820955" y="129679"/>
                    </a:lnTo>
                    <a:lnTo>
                      <a:pt x="1820786" y="129539"/>
                    </a:lnTo>
                    <a:close/>
                  </a:path>
                  <a:path w="2992754" h="304800">
                    <a:moveTo>
                      <a:pt x="1820955" y="129679"/>
                    </a:moveTo>
                    <a:lnTo>
                      <a:pt x="1809978" y="130810"/>
                    </a:lnTo>
                    <a:lnTo>
                      <a:pt x="1805876" y="134619"/>
                    </a:lnTo>
                    <a:lnTo>
                      <a:pt x="1806511" y="146050"/>
                    </a:lnTo>
                    <a:lnTo>
                      <a:pt x="1811121" y="149860"/>
                    </a:lnTo>
                    <a:lnTo>
                      <a:pt x="1816493" y="149860"/>
                    </a:lnTo>
                    <a:lnTo>
                      <a:pt x="1821878" y="148589"/>
                    </a:lnTo>
                    <a:lnTo>
                      <a:pt x="1826005" y="144780"/>
                    </a:lnTo>
                    <a:lnTo>
                      <a:pt x="1825409" y="133350"/>
                    </a:lnTo>
                    <a:lnTo>
                      <a:pt x="1820955" y="129679"/>
                    </a:lnTo>
                    <a:close/>
                  </a:path>
                  <a:path w="2992754" h="304800">
                    <a:moveTo>
                      <a:pt x="1886762" y="125979"/>
                    </a:moveTo>
                    <a:lnTo>
                      <a:pt x="1834630" y="128269"/>
                    </a:lnTo>
                    <a:lnTo>
                      <a:pt x="1820955" y="129679"/>
                    </a:lnTo>
                    <a:lnTo>
                      <a:pt x="1825409" y="133350"/>
                    </a:lnTo>
                    <a:lnTo>
                      <a:pt x="1826005" y="144780"/>
                    </a:lnTo>
                    <a:lnTo>
                      <a:pt x="1821878" y="148589"/>
                    </a:lnTo>
                    <a:lnTo>
                      <a:pt x="1816493" y="149860"/>
                    </a:lnTo>
                    <a:lnTo>
                      <a:pt x="1855079" y="147318"/>
                    </a:lnTo>
                    <a:lnTo>
                      <a:pt x="1899056" y="144780"/>
                    </a:lnTo>
                    <a:lnTo>
                      <a:pt x="1888172" y="144780"/>
                    </a:lnTo>
                    <a:lnTo>
                      <a:pt x="1883498" y="140969"/>
                    </a:lnTo>
                    <a:lnTo>
                      <a:pt x="1882825" y="130810"/>
                    </a:lnTo>
                    <a:lnTo>
                      <a:pt x="1886762" y="125979"/>
                    </a:lnTo>
                    <a:close/>
                  </a:path>
                  <a:path w="2992754" h="304800">
                    <a:moveTo>
                      <a:pt x="18732" y="141471"/>
                    </a:moveTo>
                    <a:lnTo>
                      <a:pt x="18896" y="148671"/>
                    </a:lnTo>
                    <a:lnTo>
                      <a:pt x="23265" y="149797"/>
                    </a:lnTo>
                    <a:lnTo>
                      <a:pt x="21843" y="147318"/>
                    </a:lnTo>
                    <a:lnTo>
                      <a:pt x="18732" y="141471"/>
                    </a:lnTo>
                    <a:close/>
                  </a:path>
                  <a:path w="2992754" h="304800">
                    <a:moveTo>
                      <a:pt x="11823" y="134619"/>
                    </a:moveTo>
                    <a:lnTo>
                      <a:pt x="6108" y="135889"/>
                    </a:lnTo>
                    <a:lnTo>
                      <a:pt x="4622" y="137160"/>
                    </a:lnTo>
                    <a:lnTo>
                      <a:pt x="3378" y="138430"/>
                    </a:lnTo>
                    <a:lnTo>
                      <a:pt x="2336" y="138430"/>
                    </a:lnTo>
                    <a:lnTo>
                      <a:pt x="1511" y="139700"/>
                    </a:lnTo>
                    <a:lnTo>
                      <a:pt x="342" y="142239"/>
                    </a:lnTo>
                    <a:lnTo>
                      <a:pt x="68" y="143488"/>
                    </a:lnTo>
                    <a:lnTo>
                      <a:pt x="146" y="146261"/>
                    </a:lnTo>
                    <a:lnTo>
                      <a:pt x="271" y="148671"/>
                    </a:lnTo>
                    <a:lnTo>
                      <a:pt x="243" y="147318"/>
                    </a:lnTo>
                    <a:lnTo>
                      <a:pt x="4318" y="143510"/>
                    </a:lnTo>
                    <a:lnTo>
                      <a:pt x="18776" y="143510"/>
                    </a:lnTo>
                    <a:lnTo>
                      <a:pt x="18718" y="141445"/>
                    </a:lnTo>
                    <a:lnTo>
                      <a:pt x="18465" y="140969"/>
                    </a:lnTo>
                    <a:lnTo>
                      <a:pt x="15417" y="137160"/>
                    </a:lnTo>
                    <a:lnTo>
                      <a:pt x="11823" y="134619"/>
                    </a:lnTo>
                    <a:close/>
                  </a:path>
                  <a:path w="2992754" h="304800">
                    <a:moveTo>
                      <a:pt x="18884" y="148589"/>
                    </a:moveTo>
                    <a:lnTo>
                      <a:pt x="18580" y="148589"/>
                    </a:lnTo>
                    <a:lnTo>
                      <a:pt x="18886" y="148668"/>
                    </a:lnTo>
                    <a:close/>
                  </a:path>
                  <a:path w="2992754" h="304800">
                    <a:moveTo>
                      <a:pt x="18776" y="143510"/>
                    </a:moveTo>
                    <a:lnTo>
                      <a:pt x="14605" y="143510"/>
                    </a:lnTo>
                    <a:lnTo>
                      <a:pt x="18857" y="147318"/>
                    </a:lnTo>
                    <a:lnTo>
                      <a:pt x="18776" y="143510"/>
                    </a:lnTo>
                    <a:close/>
                  </a:path>
                  <a:path w="2992754" h="304800">
                    <a:moveTo>
                      <a:pt x="1898265" y="124856"/>
                    </a:moveTo>
                    <a:lnTo>
                      <a:pt x="1895165" y="125096"/>
                    </a:lnTo>
                    <a:lnTo>
                      <a:pt x="1892439" y="125730"/>
                    </a:lnTo>
                    <a:lnTo>
                      <a:pt x="1886762" y="125979"/>
                    </a:lnTo>
                    <a:lnTo>
                      <a:pt x="1882825" y="130810"/>
                    </a:lnTo>
                    <a:lnTo>
                      <a:pt x="1883498" y="140969"/>
                    </a:lnTo>
                    <a:lnTo>
                      <a:pt x="1888172" y="144780"/>
                    </a:lnTo>
                    <a:lnTo>
                      <a:pt x="1893608" y="144780"/>
                    </a:lnTo>
                    <a:lnTo>
                      <a:pt x="1899257" y="144534"/>
                    </a:lnTo>
                    <a:lnTo>
                      <a:pt x="1903222" y="139700"/>
                    </a:lnTo>
                    <a:lnTo>
                      <a:pt x="1902574" y="129539"/>
                    </a:lnTo>
                    <a:lnTo>
                      <a:pt x="1898265" y="124856"/>
                    </a:lnTo>
                    <a:close/>
                  </a:path>
                  <a:path w="2992754" h="304800">
                    <a:moveTo>
                      <a:pt x="1899257" y="144534"/>
                    </a:moveTo>
                    <a:lnTo>
                      <a:pt x="1893608" y="144780"/>
                    </a:lnTo>
                    <a:lnTo>
                      <a:pt x="1899056" y="144780"/>
                    </a:lnTo>
                    <a:lnTo>
                      <a:pt x="1899257" y="144534"/>
                    </a:lnTo>
                    <a:close/>
                  </a:path>
                  <a:path w="2992754" h="304800">
                    <a:moveTo>
                      <a:pt x="1956333" y="120650"/>
                    </a:moveTo>
                    <a:lnTo>
                      <a:pt x="1936248" y="121919"/>
                    </a:lnTo>
                    <a:lnTo>
                      <a:pt x="1898265" y="124856"/>
                    </a:lnTo>
                    <a:lnTo>
                      <a:pt x="1902574" y="129539"/>
                    </a:lnTo>
                    <a:lnTo>
                      <a:pt x="1903222" y="139700"/>
                    </a:lnTo>
                    <a:lnTo>
                      <a:pt x="1899257" y="144534"/>
                    </a:lnTo>
                    <a:lnTo>
                      <a:pt x="1922886" y="143510"/>
                    </a:lnTo>
                    <a:lnTo>
                      <a:pt x="1937522" y="142239"/>
                    </a:lnTo>
                    <a:lnTo>
                      <a:pt x="1946171" y="141693"/>
                    </a:lnTo>
                    <a:lnTo>
                      <a:pt x="1941944" y="137160"/>
                    </a:lnTo>
                    <a:lnTo>
                      <a:pt x="1941233" y="127000"/>
                    </a:lnTo>
                    <a:lnTo>
                      <a:pt x="1945373" y="121919"/>
                    </a:lnTo>
                    <a:lnTo>
                      <a:pt x="1950859" y="121919"/>
                    </a:lnTo>
                    <a:lnTo>
                      <a:pt x="1957013" y="121378"/>
                    </a:lnTo>
                    <a:lnTo>
                      <a:pt x="1956333" y="120650"/>
                    </a:lnTo>
                    <a:close/>
                  </a:path>
                  <a:path w="2992754" h="304800">
                    <a:moveTo>
                      <a:pt x="6108" y="135889"/>
                    </a:moveTo>
                    <a:lnTo>
                      <a:pt x="4089" y="135889"/>
                    </a:lnTo>
                    <a:lnTo>
                      <a:pt x="0" y="139700"/>
                    </a:lnTo>
                    <a:lnTo>
                      <a:pt x="68" y="143488"/>
                    </a:lnTo>
                    <a:lnTo>
                      <a:pt x="342" y="142239"/>
                    </a:lnTo>
                    <a:lnTo>
                      <a:pt x="1511" y="139700"/>
                    </a:lnTo>
                    <a:lnTo>
                      <a:pt x="2336" y="138430"/>
                    </a:lnTo>
                    <a:lnTo>
                      <a:pt x="3378" y="138430"/>
                    </a:lnTo>
                    <a:lnTo>
                      <a:pt x="4622" y="137160"/>
                    </a:lnTo>
                    <a:lnTo>
                      <a:pt x="6108" y="135889"/>
                    </a:lnTo>
                    <a:close/>
                  </a:path>
                  <a:path w="2992754" h="304800">
                    <a:moveTo>
                      <a:pt x="1950107" y="141445"/>
                    </a:moveTo>
                    <a:lnTo>
                      <a:pt x="1946171" y="141693"/>
                    </a:lnTo>
                    <a:lnTo>
                      <a:pt x="1946681" y="142239"/>
                    </a:lnTo>
                    <a:lnTo>
                      <a:pt x="1950107" y="141445"/>
                    </a:lnTo>
                    <a:close/>
                  </a:path>
                  <a:path w="2992754" h="304800">
                    <a:moveTo>
                      <a:pt x="1957013" y="121378"/>
                    </a:moveTo>
                    <a:lnTo>
                      <a:pt x="1950859" y="121919"/>
                    </a:lnTo>
                    <a:lnTo>
                      <a:pt x="1945373" y="121919"/>
                    </a:lnTo>
                    <a:lnTo>
                      <a:pt x="1941233" y="127000"/>
                    </a:lnTo>
                    <a:lnTo>
                      <a:pt x="1941944" y="137160"/>
                    </a:lnTo>
                    <a:lnTo>
                      <a:pt x="1946171" y="141693"/>
                    </a:lnTo>
                    <a:lnTo>
                      <a:pt x="1950107" y="141445"/>
                    </a:lnTo>
                    <a:lnTo>
                      <a:pt x="1952155" y="140969"/>
                    </a:lnTo>
                    <a:lnTo>
                      <a:pt x="1957628" y="140969"/>
                    </a:lnTo>
                    <a:lnTo>
                      <a:pt x="1961781" y="135889"/>
                    </a:lnTo>
                    <a:lnTo>
                      <a:pt x="1961070" y="125730"/>
                    </a:lnTo>
                    <a:lnTo>
                      <a:pt x="1957013" y="121378"/>
                    </a:lnTo>
                    <a:close/>
                  </a:path>
                  <a:path w="2992754" h="304800">
                    <a:moveTo>
                      <a:pt x="14427" y="135889"/>
                    </a:moveTo>
                    <a:lnTo>
                      <a:pt x="13620" y="135889"/>
                    </a:lnTo>
                    <a:lnTo>
                      <a:pt x="15417" y="137160"/>
                    </a:lnTo>
                    <a:lnTo>
                      <a:pt x="18465" y="140969"/>
                    </a:lnTo>
                    <a:lnTo>
                      <a:pt x="18732" y="141471"/>
                    </a:lnTo>
                    <a:lnTo>
                      <a:pt x="18694" y="139700"/>
                    </a:lnTo>
                    <a:lnTo>
                      <a:pt x="14427" y="135889"/>
                    </a:lnTo>
                    <a:close/>
                  </a:path>
                  <a:path w="2992754" h="304800">
                    <a:moveTo>
                      <a:pt x="1957628" y="140969"/>
                    </a:moveTo>
                    <a:lnTo>
                      <a:pt x="1952155" y="140969"/>
                    </a:lnTo>
                    <a:lnTo>
                      <a:pt x="1950107" y="141445"/>
                    </a:lnTo>
                    <a:lnTo>
                      <a:pt x="1957628" y="140969"/>
                    </a:lnTo>
                    <a:close/>
                  </a:path>
                  <a:path w="2992754" h="304800">
                    <a:moveTo>
                      <a:pt x="2002826" y="118527"/>
                    </a:moveTo>
                    <a:lnTo>
                      <a:pt x="1979749" y="119380"/>
                    </a:lnTo>
                    <a:lnTo>
                      <a:pt x="1957013" y="121378"/>
                    </a:lnTo>
                    <a:lnTo>
                      <a:pt x="1961070" y="125730"/>
                    </a:lnTo>
                    <a:lnTo>
                      <a:pt x="1961781" y="135889"/>
                    </a:lnTo>
                    <a:lnTo>
                      <a:pt x="1957628" y="140969"/>
                    </a:lnTo>
                    <a:lnTo>
                      <a:pt x="1966558" y="140969"/>
                    </a:lnTo>
                    <a:lnTo>
                      <a:pt x="1980965" y="139700"/>
                    </a:lnTo>
                    <a:lnTo>
                      <a:pt x="2003783" y="138010"/>
                    </a:lnTo>
                    <a:lnTo>
                      <a:pt x="1999602" y="134619"/>
                    </a:lnTo>
                    <a:lnTo>
                      <a:pt x="1998979" y="123189"/>
                    </a:lnTo>
                    <a:lnTo>
                      <a:pt x="2002826" y="118527"/>
                    </a:lnTo>
                    <a:close/>
                  </a:path>
                  <a:path w="2992754" h="304800">
                    <a:moveTo>
                      <a:pt x="2074506" y="118110"/>
                    </a:moveTo>
                    <a:lnTo>
                      <a:pt x="2014131" y="118110"/>
                    </a:lnTo>
                    <a:lnTo>
                      <a:pt x="2018830" y="121919"/>
                    </a:lnTo>
                    <a:lnTo>
                      <a:pt x="2019452" y="133350"/>
                    </a:lnTo>
                    <a:lnTo>
                      <a:pt x="2015261" y="137160"/>
                    </a:lnTo>
                    <a:lnTo>
                      <a:pt x="2003783" y="138010"/>
                    </a:lnTo>
                    <a:lnTo>
                      <a:pt x="2004301" y="138430"/>
                    </a:lnTo>
                    <a:lnTo>
                      <a:pt x="2009775" y="138430"/>
                    </a:lnTo>
                    <a:lnTo>
                      <a:pt x="2046633" y="135889"/>
                    </a:lnTo>
                    <a:lnTo>
                      <a:pt x="2065071" y="135889"/>
                    </a:lnTo>
                    <a:lnTo>
                      <a:pt x="2088997" y="134619"/>
                    </a:lnTo>
                    <a:lnTo>
                      <a:pt x="2078024" y="134619"/>
                    </a:lnTo>
                    <a:lnTo>
                      <a:pt x="2073427" y="130810"/>
                    </a:lnTo>
                    <a:lnTo>
                      <a:pt x="2073214" y="123189"/>
                    </a:lnTo>
                    <a:lnTo>
                      <a:pt x="2073071" y="119380"/>
                    </a:lnTo>
                    <a:lnTo>
                      <a:pt x="2074506" y="118110"/>
                    </a:lnTo>
                    <a:close/>
                  </a:path>
                  <a:path w="2992754" h="304800">
                    <a:moveTo>
                      <a:pt x="2014131" y="118110"/>
                    </a:moveTo>
                    <a:lnTo>
                      <a:pt x="2002826" y="118527"/>
                    </a:lnTo>
                    <a:lnTo>
                      <a:pt x="1998979" y="123189"/>
                    </a:lnTo>
                    <a:lnTo>
                      <a:pt x="1999602" y="134619"/>
                    </a:lnTo>
                    <a:lnTo>
                      <a:pt x="2003783" y="138010"/>
                    </a:lnTo>
                    <a:lnTo>
                      <a:pt x="2015261" y="137160"/>
                    </a:lnTo>
                    <a:lnTo>
                      <a:pt x="2019452" y="133350"/>
                    </a:lnTo>
                    <a:lnTo>
                      <a:pt x="2018830" y="121919"/>
                    </a:lnTo>
                    <a:lnTo>
                      <a:pt x="2014131" y="118110"/>
                    </a:lnTo>
                    <a:close/>
                  </a:path>
                  <a:path w="2992754" h="304800">
                    <a:moveTo>
                      <a:pt x="2088925" y="114922"/>
                    </a:moveTo>
                    <a:lnTo>
                      <a:pt x="2077377" y="115569"/>
                    </a:lnTo>
                    <a:lnTo>
                      <a:pt x="2073071" y="119380"/>
                    </a:lnTo>
                    <a:lnTo>
                      <a:pt x="2073301" y="125979"/>
                    </a:lnTo>
                    <a:lnTo>
                      <a:pt x="2073427" y="130810"/>
                    </a:lnTo>
                    <a:lnTo>
                      <a:pt x="2078024" y="134619"/>
                    </a:lnTo>
                    <a:lnTo>
                      <a:pt x="2088997" y="134619"/>
                    </a:lnTo>
                    <a:lnTo>
                      <a:pt x="2093197" y="129679"/>
                    </a:lnTo>
                    <a:lnTo>
                      <a:pt x="2093093" y="123189"/>
                    </a:lnTo>
                    <a:lnTo>
                      <a:pt x="2092960" y="119380"/>
                    </a:lnTo>
                    <a:lnTo>
                      <a:pt x="2088925" y="114922"/>
                    </a:lnTo>
                    <a:close/>
                  </a:path>
                  <a:path w="2992754" h="304800">
                    <a:moveTo>
                      <a:pt x="2145957" y="113030"/>
                    </a:moveTo>
                    <a:lnTo>
                      <a:pt x="2134298" y="113030"/>
                    </a:lnTo>
                    <a:lnTo>
                      <a:pt x="2117155" y="114300"/>
                    </a:lnTo>
                    <a:lnTo>
                      <a:pt x="2100013" y="114300"/>
                    </a:lnTo>
                    <a:lnTo>
                      <a:pt x="2088925" y="114922"/>
                    </a:lnTo>
                    <a:lnTo>
                      <a:pt x="2092960" y="119380"/>
                    </a:lnTo>
                    <a:lnTo>
                      <a:pt x="2093093" y="123189"/>
                    </a:lnTo>
                    <a:lnTo>
                      <a:pt x="2093197" y="129679"/>
                    </a:lnTo>
                    <a:lnTo>
                      <a:pt x="2088997" y="134619"/>
                    </a:lnTo>
                    <a:lnTo>
                      <a:pt x="2100560" y="134619"/>
                    </a:lnTo>
                    <a:lnTo>
                      <a:pt x="2117610" y="133350"/>
                    </a:lnTo>
                    <a:lnTo>
                      <a:pt x="2146223" y="133350"/>
                    </a:lnTo>
                    <a:lnTo>
                      <a:pt x="2141702" y="128269"/>
                    </a:lnTo>
                    <a:lnTo>
                      <a:pt x="2141562" y="118110"/>
                    </a:lnTo>
                    <a:lnTo>
                      <a:pt x="2145957" y="113030"/>
                    </a:lnTo>
                    <a:close/>
                  </a:path>
                  <a:path w="2992754" h="304800">
                    <a:moveTo>
                      <a:pt x="2156942" y="113030"/>
                    </a:moveTo>
                    <a:lnTo>
                      <a:pt x="2145957" y="113030"/>
                    </a:lnTo>
                    <a:lnTo>
                      <a:pt x="2141562" y="118110"/>
                    </a:lnTo>
                    <a:lnTo>
                      <a:pt x="2141702" y="128269"/>
                    </a:lnTo>
                    <a:lnTo>
                      <a:pt x="2146223" y="133350"/>
                    </a:lnTo>
                    <a:lnTo>
                      <a:pt x="2157209" y="133350"/>
                    </a:lnTo>
                    <a:lnTo>
                      <a:pt x="2161603" y="128269"/>
                    </a:lnTo>
                    <a:lnTo>
                      <a:pt x="2161463" y="118110"/>
                    </a:lnTo>
                    <a:lnTo>
                      <a:pt x="2156942" y="113030"/>
                    </a:lnTo>
                    <a:close/>
                  </a:path>
                  <a:path w="2992754" h="304800">
                    <a:moveTo>
                      <a:pt x="2241651" y="113030"/>
                    </a:moveTo>
                    <a:lnTo>
                      <a:pt x="2156942" y="113030"/>
                    </a:lnTo>
                    <a:lnTo>
                      <a:pt x="2161463" y="118110"/>
                    </a:lnTo>
                    <a:lnTo>
                      <a:pt x="2161603" y="128269"/>
                    </a:lnTo>
                    <a:lnTo>
                      <a:pt x="2157209" y="133350"/>
                    </a:lnTo>
                    <a:lnTo>
                      <a:pt x="2199449" y="133350"/>
                    </a:lnTo>
                    <a:lnTo>
                      <a:pt x="2223319" y="132080"/>
                    </a:lnTo>
                    <a:lnTo>
                      <a:pt x="2240546" y="132080"/>
                    </a:lnTo>
                    <a:lnTo>
                      <a:pt x="2237193" y="128269"/>
                    </a:lnTo>
                    <a:lnTo>
                      <a:pt x="2237181" y="116839"/>
                    </a:lnTo>
                    <a:lnTo>
                      <a:pt x="2241651" y="113030"/>
                    </a:lnTo>
                    <a:close/>
                  </a:path>
                  <a:path w="2992754" h="304800">
                    <a:moveTo>
                      <a:pt x="2241392" y="133041"/>
                    </a:moveTo>
                    <a:lnTo>
                      <a:pt x="2241664" y="133350"/>
                    </a:lnTo>
                    <a:lnTo>
                      <a:pt x="2247188" y="133350"/>
                    </a:lnTo>
                    <a:lnTo>
                      <a:pt x="2241392" y="133041"/>
                    </a:lnTo>
                    <a:close/>
                  </a:path>
                  <a:path w="2992754" h="304800">
                    <a:moveTo>
                      <a:pt x="2252726" y="113030"/>
                    </a:moveTo>
                    <a:lnTo>
                      <a:pt x="2241651" y="113030"/>
                    </a:lnTo>
                    <a:lnTo>
                      <a:pt x="2237181" y="116839"/>
                    </a:lnTo>
                    <a:lnTo>
                      <a:pt x="2237193" y="128269"/>
                    </a:lnTo>
                    <a:lnTo>
                      <a:pt x="2241392" y="133041"/>
                    </a:lnTo>
                    <a:lnTo>
                      <a:pt x="2247188" y="133350"/>
                    </a:lnTo>
                    <a:lnTo>
                      <a:pt x="2252713" y="133350"/>
                    </a:lnTo>
                    <a:lnTo>
                      <a:pt x="2257196" y="128269"/>
                    </a:lnTo>
                    <a:lnTo>
                      <a:pt x="2257196" y="116839"/>
                    </a:lnTo>
                    <a:lnTo>
                      <a:pt x="2252726" y="113030"/>
                    </a:lnTo>
                    <a:close/>
                  </a:path>
                  <a:path w="2992754" h="304800">
                    <a:moveTo>
                      <a:pt x="2345004" y="111760"/>
                    </a:moveTo>
                    <a:lnTo>
                      <a:pt x="2316316" y="113030"/>
                    </a:lnTo>
                    <a:lnTo>
                      <a:pt x="2252726" y="113030"/>
                    </a:lnTo>
                    <a:lnTo>
                      <a:pt x="2257196" y="116839"/>
                    </a:lnTo>
                    <a:lnTo>
                      <a:pt x="2257196" y="128269"/>
                    </a:lnTo>
                    <a:lnTo>
                      <a:pt x="2252713" y="133350"/>
                    </a:lnTo>
                    <a:lnTo>
                      <a:pt x="2293345" y="133350"/>
                    </a:lnTo>
                    <a:lnTo>
                      <a:pt x="2316420" y="132080"/>
                    </a:lnTo>
                    <a:lnTo>
                      <a:pt x="2333917" y="132080"/>
                    </a:lnTo>
                    <a:lnTo>
                      <a:pt x="2329370" y="128269"/>
                    </a:lnTo>
                    <a:lnTo>
                      <a:pt x="2329268" y="116839"/>
                    </a:lnTo>
                    <a:lnTo>
                      <a:pt x="2333764" y="113030"/>
                    </a:lnTo>
                    <a:lnTo>
                      <a:pt x="2345531" y="112347"/>
                    </a:lnTo>
                    <a:lnTo>
                      <a:pt x="2345004" y="111760"/>
                    </a:lnTo>
                    <a:close/>
                  </a:path>
                  <a:path w="2992754" h="304800">
                    <a:moveTo>
                      <a:pt x="2240546" y="132080"/>
                    </a:moveTo>
                    <a:lnTo>
                      <a:pt x="2223319" y="132080"/>
                    </a:lnTo>
                    <a:lnTo>
                      <a:pt x="2241392" y="133041"/>
                    </a:lnTo>
                    <a:lnTo>
                      <a:pt x="2240546" y="132080"/>
                    </a:lnTo>
                    <a:close/>
                  </a:path>
                  <a:path w="2992754" h="304800">
                    <a:moveTo>
                      <a:pt x="2345531" y="112347"/>
                    </a:moveTo>
                    <a:lnTo>
                      <a:pt x="2333764" y="113030"/>
                    </a:lnTo>
                    <a:lnTo>
                      <a:pt x="2329268" y="116839"/>
                    </a:lnTo>
                    <a:lnTo>
                      <a:pt x="2329370" y="128269"/>
                    </a:lnTo>
                    <a:lnTo>
                      <a:pt x="2333917" y="132080"/>
                    </a:lnTo>
                    <a:lnTo>
                      <a:pt x="2345093" y="132080"/>
                    </a:lnTo>
                    <a:lnTo>
                      <a:pt x="2349614" y="128269"/>
                    </a:lnTo>
                    <a:lnTo>
                      <a:pt x="2349563" y="116839"/>
                    </a:lnTo>
                    <a:lnTo>
                      <a:pt x="2345531" y="112347"/>
                    </a:lnTo>
                    <a:close/>
                  </a:path>
                  <a:path w="2992754" h="304800">
                    <a:moveTo>
                      <a:pt x="2398966" y="111760"/>
                    </a:moveTo>
                    <a:lnTo>
                      <a:pt x="2355672" y="111760"/>
                    </a:lnTo>
                    <a:lnTo>
                      <a:pt x="2345531" y="112347"/>
                    </a:lnTo>
                    <a:lnTo>
                      <a:pt x="2349563" y="116839"/>
                    </a:lnTo>
                    <a:lnTo>
                      <a:pt x="2349614" y="128269"/>
                    </a:lnTo>
                    <a:lnTo>
                      <a:pt x="2345093" y="132080"/>
                    </a:lnTo>
                    <a:lnTo>
                      <a:pt x="2398966" y="132080"/>
                    </a:lnTo>
                    <a:lnTo>
                      <a:pt x="2394394" y="128269"/>
                    </a:lnTo>
                    <a:lnTo>
                      <a:pt x="2394394" y="116839"/>
                    </a:lnTo>
                    <a:lnTo>
                      <a:pt x="2398966" y="111760"/>
                    </a:lnTo>
                    <a:close/>
                  </a:path>
                  <a:path w="2992754" h="304800">
                    <a:moveTo>
                      <a:pt x="2410244" y="111760"/>
                    </a:moveTo>
                    <a:lnTo>
                      <a:pt x="2398966" y="111760"/>
                    </a:lnTo>
                    <a:lnTo>
                      <a:pt x="2394394" y="116839"/>
                    </a:lnTo>
                    <a:lnTo>
                      <a:pt x="2394394" y="128269"/>
                    </a:lnTo>
                    <a:lnTo>
                      <a:pt x="2398966" y="132080"/>
                    </a:lnTo>
                    <a:lnTo>
                      <a:pt x="2410244" y="132080"/>
                    </a:lnTo>
                    <a:lnTo>
                      <a:pt x="2414803" y="128269"/>
                    </a:lnTo>
                    <a:lnTo>
                      <a:pt x="2414803" y="116839"/>
                    </a:lnTo>
                    <a:lnTo>
                      <a:pt x="2410244" y="111760"/>
                    </a:lnTo>
                    <a:close/>
                  </a:path>
                  <a:path w="2992754" h="304800">
                    <a:moveTo>
                      <a:pt x="2454376" y="111760"/>
                    </a:moveTo>
                    <a:lnTo>
                      <a:pt x="2410244" y="111760"/>
                    </a:lnTo>
                    <a:lnTo>
                      <a:pt x="2414803" y="116839"/>
                    </a:lnTo>
                    <a:lnTo>
                      <a:pt x="2414803" y="128269"/>
                    </a:lnTo>
                    <a:lnTo>
                      <a:pt x="2410244" y="132080"/>
                    </a:lnTo>
                    <a:lnTo>
                      <a:pt x="2454516" y="132080"/>
                    </a:lnTo>
                    <a:lnTo>
                      <a:pt x="2449957" y="128269"/>
                    </a:lnTo>
                    <a:lnTo>
                      <a:pt x="2449868" y="116839"/>
                    </a:lnTo>
                    <a:lnTo>
                      <a:pt x="2454376" y="111760"/>
                    </a:lnTo>
                    <a:close/>
                  </a:path>
                  <a:path w="2992754" h="304800">
                    <a:moveTo>
                      <a:pt x="2465552" y="111760"/>
                    </a:moveTo>
                    <a:lnTo>
                      <a:pt x="2454376" y="111760"/>
                    </a:lnTo>
                    <a:lnTo>
                      <a:pt x="2449868" y="116839"/>
                    </a:lnTo>
                    <a:lnTo>
                      <a:pt x="2449957" y="128269"/>
                    </a:lnTo>
                    <a:lnTo>
                      <a:pt x="2454516" y="132080"/>
                    </a:lnTo>
                    <a:lnTo>
                      <a:pt x="2465793" y="132080"/>
                    </a:lnTo>
                    <a:lnTo>
                      <a:pt x="2470264" y="127000"/>
                    </a:lnTo>
                    <a:lnTo>
                      <a:pt x="2470111" y="116839"/>
                    </a:lnTo>
                    <a:lnTo>
                      <a:pt x="2465552" y="111760"/>
                    </a:lnTo>
                    <a:close/>
                  </a:path>
                  <a:path w="2992754" h="304800">
                    <a:moveTo>
                      <a:pt x="2480360" y="111760"/>
                    </a:moveTo>
                    <a:lnTo>
                      <a:pt x="2465552" y="111760"/>
                    </a:lnTo>
                    <a:lnTo>
                      <a:pt x="2470111" y="116839"/>
                    </a:lnTo>
                    <a:lnTo>
                      <a:pt x="2470264" y="127000"/>
                    </a:lnTo>
                    <a:lnTo>
                      <a:pt x="2465793" y="132080"/>
                    </a:lnTo>
                    <a:lnTo>
                      <a:pt x="2480483" y="132080"/>
                    </a:lnTo>
                    <a:lnTo>
                      <a:pt x="2481372" y="131912"/>
                    </a:lnTo>
                    <a:lnTo>
                      <a:pt x="2476779" y="127000"/>
                    </a:lnTo>
                    <a:lnTo>
                      <a:pt x="2476144" y="116839"/>
                    </a:lnTo>
                    <a:lnTo>
                      <a:pt x="2480360" y="111760"/>
                    </a:lnTo>
                    <a:close/>
                  </a:path>
                  <a:path w="2992754" h="304800">
                    <a:moveTo>
                      <a:pt x="2487231" y="130810"/>
                    </a:moveTo>
                    <a:lnTo>
                      <a:pt x="2481372" y="131912"/>
                    </a:lnTo>
                    <a:lnTo>
                      <a:pt x="2481529" y="132080"/>
                    </a:lnTo>
                    <a:lnTo>
                      <a:pt x="2487231" y="130810"/>
                    </a:lnTo>
                    <a:close/>
                  </a:path>
                  <a:path w="2992754" h="304800">
                    <a:moveTo>
                      <a:pt x="2491525" y="110697"/>
                    </a:moveTo>
                    <a:lnTo>
                      <a:pt x="2489695" y="110871"/>
                    </a:lnTo>
                    <a:lnTo>
                      <a:pt x="2485885" y="111760"/>
                    </a:lnTo>
                    <a:lnTo>
                      <a:pt x="2480360" y="111760"/>
                    </a:lnTo>
                    <a:lnTo>
                      <a:pt x="2476144" y="116839"/>
                    </a:lnTo>
                    <a:lnTo>
                      <a:pt x="2476779" y="127000"/>
                    </a:lnTo>
                    <a:lnTo>
                      <a:pt x="2481372" y="131912"/>
                    </a:lnTo>
                    <a:lnTo>
                      <a:pt x="2487231" y="130810"/>
                    </a:lnTo>
                    <a:lnTo>
                      <a:pt x="2492743" y="130810"/>
                    </a:lnTo>
                    <a:lnTo>
                      <a:pt x="2496870" y="125730"/>
                    </a:lnTo>
                    <a:lnTo>
                      <a:pt x="2496032" y="115569"/>
                    </a:lnTo>
                    <a:lnTo>
                      <a:pt x="2492508" y="111760"/>
                    </a:lnTo>
                    <a:lnTo>
                      <a:pt x="2485885" y="111760"/>
                    </a:lnTo>
                    <a:lnTo>
                      <a:pt x="2489695" y="110871"/>
                    </a:lnTo>
                    <a:lnTo>
                      <a:pt x="2491686" y="110871"/>
                    </a:lnTo>
                    <a:lnTo>
                      <a:pt x="2491525" y="110697"/>
                    </a:lnTo>
                    <a:close/>
                  </a:path>
                  <a:path w="2992754" h="304800">
                    <a:moveTo>
                      <a:pt x="2509231" y="107963"/>
                    </a:moveTo>
                    <a:lnTo>
                      <a:pt x="2493708" y="110489"/>
                    </a:lnTo>
                    <a:lnTo>
                      <a:pt x="2491525" y="110697"/>
                    </a:lnTo>
                    <a:lnTo>
                      <a:pt x="2496032" y="115569"/>
                    </a:lnTo>
                    <a:lnTo>
                      <a:pt x="2496870" y="125730"/>
                    </a:lnTo>
                    <a:lnTo>
                      <a:pt x="2492743" y="130810"/>
                    </a:lnTo>
                    <a:lnTo>
                      <a:pt x="2495562" y="130810"/>
                    </a:lnTo>
                    <a:lnTo>
                      <a:pt x="2503855" y="129539"/>
                    </a:lnTo>
                    <a:lnTo>
                      <a:pt x="2506121" y="129121"/>
                    </a:lnTo>
                    <a:lnTo>
                      <a:pt x="2501633" y="125730"/>
                    </a:lnTo>
                    <a:lnTo>
                      <a:pt x="2500020" y="114300"/>
                    </a:lnTo>
                    <a:lnTo>
                      <a:pt x="2503804" y="109219"/>
                    </a:lnTo>
                    <a:lnTo>
                      <a:pt x="2509231" y="107963"/>
                    </a:lnTo>
                    <a:close/>
                  </a:path>
                  <a:path w="2992754" h="304800">
                    <a:moveTo>
                      <a:pt x="2546320" y="107950"/>
                    </a:moveTo>
                    <a:lnTo>
                      <a:pt x="2514866" y="107950"/>
                    </a:lnTo>
                    <a:lnTo>
                      <a:pt x="2519934" y="111760"/>
                    </a:lnTo>
                    <a:lnTo>
                      <a:pt x="2521445" y="123189"/>
                    </a:lnTo>
                    <a:lnTo>
                      <a:pt x="2517622" y="127000"/>
                    </a:lnTo>
                    <a:lnTo>
                      <a:pt x="2506121" y="129121"/>
                    </a:lnTo>
                    <a:lnTo>
                      <a:pt x="2506675" y="129539"/>
                    </a:lnTo>
                    <a:lnTo>
                      <a:pt x="2512123" y="128269"/>
                    </a:lnTo>
                    <a:lnTo>
                      <a:pt x="2533897" y="125730"/>
                    </a:lnTo>
                    <a:lnTo>
                      <a:pt x="2544820" y="125730"/>
                    </a:lnTo>
                    <a:lnTo>
                      <a:pt x="2555748" y="124460"/>
                    </a:lnTo>
                    <a:lnTo>
                      <a:pt x="2550172" y="124460"/>
                    </a:lnTo>
                    <a:lnTo>
                      <a:pt x="2545435" y="120650"/>
                    </a:lnTo>
                    <a:lnTo>
                      <a:pt x="2544889" y="109219"/>
                    </a:lnTo>
                    <a:lnTo>
                      <a:pt x="2546320" y="107950"/>
                    </a:lnTo>
                    <a:close/>
                  </a:path>
                  <a:path w="2992754" h="304800">
                    <a:moveTo>
                      <a:pt x="2514866" y="107950"/>
                    </a:moveTo>
                    <a:lnTo>
                      <a:pt x="2509316" y="107950"/>
                    </a:lnTo>
                    <a:lnTo>
                      <a:pt x="2503804" y="109219"/>
                    </a:lnTo>
                    <a:lnTo>
                      <a:pt x="2500020" y="114300"/>
                    </a:lnTo>
                    <a:lnTo>
                      <a:pt x="2501633" y="125730"/>
                    </a:lnTo>
                    <a:lnTo>
                      <a:pt x="2506121" y="129121"/>
                    </a:lnTo>
                    <a:lnTo>
                      <a:pt x="2517622" y="127000"/>
                    </a:lnTo>
                    <a:lnTo>
                      <a:pt x="2521445" y="123189"/>
                    </a:lnTo>
                    <a:lnTo>
                      <a:pt x="2519934" y="111760"/>
                    </a:lnTo>
                    <a:lnTo>
                      <a:pt x="2514866" y="107950"/>
                    </a:lnTo>
                    <a:close/>
                  </a:path>
                  <a:path w="2992754" h="304800">
                    <a:moveTo>
                      <a:pt x="1895165" y="125096"/>
                    </a:moveTo>
                    <a:lnTo>
                      <a:pt x="1886966" y="125730"/>
                    </a:lnTo>
                    <a:lnTo>
                      <a:pt x="1886762" y="125979"/>
                    </a:lnTo>
                    <a:lnTo>
                      <a:pt x="1892439" y="125730"/>
                    </a:lnTo>
                    <a:lnTo>
                      <a:pt x="1895165" y="125096"/>
                    </a:lnTo>
                    <a:close/>
                  </a:path>
                  <a:path w="2992754" h="304800">
                    <a:moveTo>
                      <a:pt x="1897900" y="124460"/>
                    </a:moveTo>
                    <a:lnTo>
                      <a:pt x="1895165" y="125096"/>
                    </a:lnTo>
                    <a:lnTo>
                      <a:pt x="1898265" y="124856"/>
                    </a:lnTo>
                    <a:lnTo>
                      <a:pt x="1897900" y="124460"/>
                    </a:lnTo>
                    <a:close/>
                  </a:path>
                  <a:path w="2992754" h="304800">
                    <a:moveTo>
                      <a:pt x="2560846" y="104542"/>
                    </a:moveTo>
                    <a:lnTo>
                      <a:pt x="2549182" y="105410"/>
                    </a:lnTo>
                    <a:lnTo>
                      <a:pt x="2544889" y="109219"/>
                    </a:lnTo>
                    <a:lnTo>
                      <a:pt x="2545435" y="120650"/>
                    </a:lnTo>
                    <a:lnTo>
                      <a:pt x="2550172" y="124460"/>
                    </a:lnTo>
                    <a:lnTo>
                      <a:pt x="2561323" y="124460"/>
                    </a:lnTo>
                    <a:lnTo>
                      <a:pt x="2565628" y="119380"/>
                    </a:lnTo>
                    <a:lnTo>
                      <a:pt x="2565082" y="107950"/>
                    </a:lnTo>
                    <a:lnTo>
                      <a:pt x="2560846" y="104542"/>
                    </a:lnTo>
                    <a:close/>
                  </a:path>
                  <a:path w="2992754" h="304800">
                    <a:moveTo>
                      <a:pt x="2594417" y="102484"/>
                    </a:moveTo>
                    <a:lnTo>
                      <a:pt x="2589238" y="102869"/>
                    </a:lnTo>
                    <a:lnTo>
                      <a:pt x="2577753" y="102869"/>
                    </a:lnTo>
                    <a:lnTo>
                      <a:pt x="2566264" y="104139"/>
                    </a:lnTo>
                    <a:lnTo>
                      <a:pt x="2560846" y="104542"/>
                    </a:lnTo>
                    <a:lnTo>
                      <a:pt x="2565082" y="107950"/>
                    </a:lnTo>
                    <a:lnTo>
                      <a:pt x="2565628" y="119380"/>
                    </a:lnTo>
                    <a:lnTo>
                      <a:pt x="2561323" y="124460"/>
                    </a:lnTo>
                    <a:lnTo>
                      <a:pt x="2567385" y="124460"/>
                    </a:lnTo>
                    <a:lnTo>
                      <a:pt x="2579017" y="123189"/>
                    </a:lnTo>
                    <a:lnTo>
                      <a:pt x="2590645" y="123189"/>
                    </a:lnTo>
                    <a:lnTo>
                      <a:pt x="2602268" y="121919"/>
                    </a:lnTo>
                    <a:lnTo>
                      <a:pt x="2596705" y="121919"/>
                    </a:lnTo>
                    <a:lnTo>
                      <a:pt x="2591841" y="118110"/>
                    </a:lnTo>
                    <a:lnTo>
                      <a:pt x="2590977" y="106680"/>
                    </a:lnTo>
                    <a:lnTo>
                      <a:pt x="2594417" y="102484"/>
                    </a:lnTo>
                    <a:close/>
                  </a:path>
                  <a:path w="2992754" h="304800">
                    <a:moveTo>
                      <a:pt x="2606319" y="101600"/>
                    </a:moveTo>
                    <a:lnTo>
                      <a:pt x="2594417" y="102484"/>
                    </a:lnTo>
                    <a:lnTo>
                      <a:pt x="2590977" y="106680"/>
                    </a:lnTo>
                    <a:lnTo>
                      <a:pt x="2591841" y="118110"/>
                    </a:lnTo>
                    <a:lnTo>
                      <a:pt x="2596705" y="121919"/>
                    </a:lnTo>
                    <a:lnTo>
                      <a:pt x="2602268" y="121919"/>
                    </a:lnTo>
                    <a:lnTo>
                      <a:pt x="2608484" y="121155"/>
                    </a:lnTo>
                    <a:lnTo>
                      <a:pt x="2612034" y="116839"/>
                    </a:lnTo>
                    <a:lnTo>
                      <a:pt x="2611183" y="105410"/>
                    </a:lnTo>
                    <a:lnTo>
                      <a:pt x="2606319" y="101600"/>
                    </a:lnTo>
                    <a:close/>
                  </a:path>
                  <a:path w="2992754" h="304800">
                    <a:moveTo>
                      <a:pt x="2608484" y="121155"/>
                    </a:moveTo>
                    <a:lnTo>
                      <a:pt x="2602268" y="121919"/>
                    </a:lnTo>
                    <a:lnTo>
                      <a:pt x="2607856" y="121919"/>
                    </a:lnTo>
                    <a:lnTo>
                      <a:pt x="2608484" y="121155"/>
                    </a:lnTo>
                    <a:close/>
                  </a:path>
                  <a:path w="2992754" h="304800">
                    <a:moveTo>
                      <a:pt x="2648851" y="99060"/>
                    </a:moveTo>
                    <a:lnTo>
                      <a:pt x="2643200" y="99060"/>
                    </a:lnTo>
                    <a:lnTo>
                      <a:pt x="2632536" y="100330"/>
                    </a:lnTo>
                    <a:lnTo>
                      <a:pt x="2621924" y="100330"/>
                    </a:lnTo>
                    <a:lnTo>
                      <a:pt x="2611316" y="101600"/>
                    </a:lnTo>
                    <a:lnTo>
                      <a:pt x="2606319" y="101600"/>
                    </a:lnTo>
                    <a:lnTo>
                      <a:pt x="2611183" y="105410"/>
                    </a:lnTo>
                    <a:lnTo>
                      <a:pt x="2612034" y="116839"/>
                    </a:lnTo>
                    <a:lnTo>
                      <a:pt x="2608484" y="121155"/>
                    </a:lnTo>
                    <a:lnTo>
                      <a:pt x="2612597" y="120650"/>
                    </a:lnTo>
                    <a:lnTo>
                      <a:pt x="2637993" y="120650"/>
                    </a:lnTo>
                    <a:lnTo>
                      <a:pt x="2633345" y="115569"/>
                    </a:lnTo>
                    <a:lnTo>
                      <a:pt x="2633052" y="104139"/>
                    </a:lnTo>
                    <a:lnTo>
                      <a:pt x="2637510" y="100330"/>
                    </a:lnTo>
                    <a:lnTo>
                      <a:pt x="2649147" y="99382"/>
                    </a:lnTo>
                    <a:lnTo>
                      <a:pt x="2648851" y="99060"/>
                    </a:lnTo>
                    <a:close/>
                  </a:path>
                  <a:path w="2992754" h="304800">
                    <a:moveTo>
                      <a:pt x="2649147" y="99382"/>
                    </a:moveTo>
                    <a:lnTo>
                      <a:pt x="2637510" y="100330"/>
                    </a:lnTo>
                    <a:lnTo>
                      <a:pt x="2633052" y="104139"/>
                    </a:lnTo>
                    <a:lnTo>
                      <a:pt x="2633345" y="115569"/>
                    </a:lnTo>
                    <a:lnTo>
                      <a:pt x="2637993" y="120650"/>
                    </a:lnTo>
                    <a:lnTo>
                      <a:pt x="2643619" y="120650"/>
                    </a:lnTo>
                    <a:lnTo>
                      <a:pt x="2649258" y="119380"/>
                    </a:lnTo>
                    <a:lnTo>
                      <a:pt x="2653741" y="115569"/>
                    </a:lnTo>
                    <a:lnTo>
                      <a:pt x="2653512" y="104139"/>
                    </a:lnTo>
                    <a:lnTo>
                      <a:pt x="2649147" y="99382"/>
                    </a:lnTo>
                    <a:close/>
                  </a:path>
                  <a:path w="2992754" h="304800">
                    <a:moveTo>
                      <a:pt x="2677261" y="99060"/>
                    </a:moveTo>
                    <a:lnTo>
                      <a:pt x="2653102" y="99060"/>
                    </a:lnTo>
                    <a:lnTo>
                      <a:pt x="2649147" y="99382"/>
                    </a:lnTo>
                    <a:lnTo>
                      <a:pt x="2653512" y="104139"/>
                    </a:lnTo>
                    <a:lnTo>
                      <a:pt x="2653741" y="115569"/>
                    </a:lnTo>
                    <a:lnTo>
                      <a:pt x="2649258" y="119380"/>
                    </a:lnTo>
                    <a:lnTo>
                      <a:pt x="2643619" y="120650"/>
                    </a:lnTo>
                    <a:lnTo>
                      <a:pt x="2663634" y="119380"/>
                    </a:lnTo>
                    <a:lnTo>
                      <a:pt x="2677972" y="119380"/>
                    </a:lnTo>
                    <a:lnTo>
                      <a:pt x="2673210" y="114300"/>
                    </a:lnTo>
                    <a:lnTo>
                      <a:pt x="2672803" y="102869"/>
                    </a:lnTo>
                    <a:lnTo>
                      <a:pt x="2677261" y="99060"/>
                    </a:lnTo>
                    <a:close/>
                  </a:path>
                  <a:path w="2992754" h="304800">
                    <a:moveTo>
                      <a:pt x="2689093" y="98218"/>
                    </a:moveTo>
                    <a:lnTo>
                      <a:pt x="2682951" y="99060"/>
                    </a:lnTo>
                    <a:lnTo>
                      <a:pt x="2677261" y="99060"/>
                    </a:lnTo>
                    <a:lnTo>
                      <a:pt x="2672803" y="102869"/>
                    </a:lnTo>
                    <a:lnTo>
                      <a:pt x="2673210" y="114300"/>
                    </a:lnTo>
                    <a:lnTo>
                      <a:pt x="2677972" y="119380"/>
                    </a:lnTo>
                    <a:lnTo>
                      <a:pt x="2689339" y="119380"/>
                    </a:lnTo>
                    <a:lnTo>
                      <a:pt x="2693809" y="114300"/>
                    </a:lnTo>
                    <a:lnTo>
                      <a:pt x="2693454" y="102869"/>
                    </a:lnTo>
                    <a:lnTo>
                      <a:pt x="2689093" y="98218"/>
                    </a:lnTo>
                    <a:close/>
                  </a:path>
                  <a:path w="2992754" h="304800">
                    <a:moveTo>
                      <a:pt x="2790063" y="97789"/>
                    </a:moveTo>
                    <a:lnTo>
                      <a:pt x="2692223" y="97789"/>
                    </a:lnTo>
                    <a:lnTo>
                      <a:pt x="2689093" y="98218"/>
                    </a:lnTo>
                    <a:lnTo>
                      <a:pt x="2693454" y="102869"/>
                    </a:lnTo>
                    <a:lnTo>
                      <a:pt x="2693809" y="114300"/>
                    </a:lnTo>
                    <a:lnTo>
                      <a:pt x="2689339" y="119380"/>
                    </a:lnTo>
                    <a:lnTo>
                      <a:pt x="2692778" y="119380"/>
                    </a:lnTo>
                    <a:lnTo>
                      <a:pt x="2701912" y="118110"/>
                    </a:lnTo>
                    <a:lnTo>
                      <a:pt x="2790063" y="118110"/>
                    </a:lnTo>
                    <a:lnTo>
                      <a:pt x="2785414" y="114300"/>
                    </a:lnTo>
                    <a:lnTo>
                      <a:pt x="2785414" y="102869"/>
                    </a:lnTo>
                    <a:lnTo>
                      <a:pt x="2790063" y="97789"/>
                    </a:lnTo>
                    <a:close/>
                  </a:path>
                  <a:path w="2992754" h="304800">
                    <a:moveTo>
                      <a:pt x="2088362" y="114300"/>
                    </a:moveTo>
                    <a:lnTo>
                      <a:pt x="2082876" y="114300"/>
                    </a:lnTo>
                    <a:lnTo>
                      <a:pt x="2045752" y="116839"/>
                    </a:lnTo>
                    <a:lnTo>
                      <a:pt x="2027199" y="116839"/>
                    </a:lnTo>
                    <a:lnTo>
                      <a:pt x="2003171" y="118110"/>
                    </a:lnTo>
                    <a:lnTo>
                      <a:pt x="2002826" y="118527"/>
                    </a:lnTo>
                    <a:lnTo>
                      <a:pt x="2014131" y="118110"/>
                    </a:lnTo>
                    <a:lnTo>
                      <a:pt x="2074506" y="118110"/>
                    </a:lnTo>
                    <a:lnTo>
                      <a:pt x="2077377" y="115569"/>
                    </a:lnTo>
                    <a:lnTo>
                      <a:pt x="2088925" y="114922"/>
                    </a:lnTo>
                    <a:lnTo>
                      <a:pt x="2088362" y="114300"/>
                    </a:lnTo>
                    <a:close/>
                  </a:path>
                  <a:path w="2992754" h="304800">
                    <a:moveTo>
                      <a:pt x="2801531" y="97789"/>
                    </a:moveTo>
                    <a:lnTo>
                      <a:pt x="2790063" y="97789"/>
                    </a:lnTo>
                    <a:lnTo>
                      <a:pt x="2785414" y="102869"/>
                    </a:lnTo>
                    <a:lnTo>
                      <a:pt x="2785414" y="114300"/>
                    </a:lnTo>
                    <a:lnTo>
                      <a:pt x="2790063" y="118110"/>
                    </a:lnTo>
                    <a:lnTo>
                      <a:pt x="2801531" y="118110"/>
                    </a:lnTo>
                    <a:lnTo>
                      <a:pt x="2806179" y="114300"/>
                    </a:lnTo>
                    <a:lnTo>
                      <a:pt x="2806179" y="102869"/>
                    </a:lnTo>
                    <a:lnTo>
                      <a:pt x="2801531" y="97789"/>
                    </a:lnTo>
                    <a:close/>
                  </a:path>
                  <a:path w="2992754" h="304800">
                    <a:moveTo>
                      <a:pt x="2910852" y="93980"/>
                    </a:moveTo>
                    <a:lnTo>
                      <a:pt x="2900984" y="95250"/>
                    </a:lnTo>
                    <a:lnTo>
                      <a:pt x="2896768" y="96519"/>
                    </a:lnTo>
                    <a:lnTo>
                      <a:pt x="2870847" y="96519"/>
                    </a:lnTo>
                    <a:lnTo>
                      <a:pt x="2852088" y="97789"/>
                    </a:lnTo>
                    <a:lnTo>
                      <a:pt x="2801531" y="97789"/>
                    </a:lnTo>
                    <a:lnTo>
                      <a:pt x="2806179" y="102869"/>
                    </a:lnTo>
                    <a:lnTo>
                      <a:pt x="2806179" y="114300"/>
                    </a:lnTo>
                    <a:lnTo>
                      <a:pt x="2801531" y="118110"/>
                    </a:lnTo>
                    <a:lnTo>
                      <a:pt x="2879331" y="118110"/>
                    </a:lnTo>
                    <a:lnTo>
                      <a:pt x="2887294" y="116839"/>
                    </a:lnTo>
                    <a:lnTo>
                      <a:pt x="2902915" y="116839"/>
                    </a:lnTo>
                    <a:lnTo>
                      <a:pt x="2897543" y="113030"/>
                    </a:lnTo>
                    <a:lnTo>
                      <a:pt x="2895561" y="101600"/>
                    </a:lnTo>
                    <a:lnTo>
                      <a:pt x="2899371" y="96519"/>
                    </a:lnTo>
                    <a:lnTo>
                      <a:pt x="2905074" y="95250"/>
                    </a:lnTo>
                    <a:lnTo>
                      <a:pt x="2911450" y="94402"/>
                    </a:lnTo>
                    <a:lnTo>
                      <a:pt x="2910852" y="93980"/>
                    </a:lnTo>
                    <a:close/>
                  </a:path>
                  <a:path w="2992754" h="304800">
                    <a:moveTo>
                      <a:pt x="2911450" y="94402"/>
                    </a:moveTo>
                    <a:lnTo>
                      <a:pt x="2905074" y="95250"/>
                    </a:lnTo>
                    <a:lnTo>
                      <a:pt x="2899371" y="96519"/>
                    </a:lnTo>
                    <a:lnTo>
                      <a:pt x="2895561" y="101600"/>
                    </a:lnTo>
                    <a:lnTo>
                      <a:pt x="2897543" y="113030"/>
                    </a:lnTo>
                    <a:lnTo>
                      <a:pt x="2902915" y="116839"/>
                    </a:lnTo>
                    <a:lnTo>
                      <a:pt x="2908592" y="115569"/>
                    </a:lnTo>
                    <a:lnTo>
                      <a:pt x="2910123" y="115347"/>
                    </a:lnTo>
                    <a:lnTo>
                      <a:pt x="2914294" y="114300"/>
                    </a:lnTo>
                    <a:lnTo>
                      <a:pt x="2918142" y="109219"/>
                    </a:lnTo>
                    <a:lnTo>
                      <a:pt x="2916250" y="97789"/>
                    </a:lnTo>
                    <a:lnTo>
                      <a:pt x="2911450" y="94402"/>
                    </a:lnTo>
                    <a:close/>
                  </a:path>
                  <a:path w="2992754" h="304800">
                    <a:moveTo>
                      <a:pt x="2910123" y="115347"/>
                    </a:moveTo>
                    <a:lnTo>
                      <a:pt x="2908592" y="115569"/>
                    </a:lnTo>
                    <a:lnTo>
                      <a:pt x="2902915" y="116839"/>
                    </a:lnTo>
                    <a:lnTo>
                      <a:pt x="2904185" y="116839"/>
                    </a:lnTo>
                    <a:lnTo>
                      <a:pt x="2910123" y="115347"/>
                    </a:lnTo>
                    <a:close/>
                  </a:path>
                  <a:path w="2992754" h="304800">
                    <a:moveTo>
                      <a:pt x="2936814" y="92311"/>
                    </a:moveTo>
                    <a:lnTo>
                      <a:pt x="2933792" y="92710"/>
                    </a:lnTo>
                    <a:lnTo>
                      <a:pt x="2924178" y="92710"/>
                    </a:lnTo>
                    <a:lnTo>
                      <a:pt x="2911450" y="94402"/>
                    </a:lnTo>
                    <a:lnTo>
                      <a:pt x="2916250" y="97789"/>
                    </a:lnTo>
                    <a:lnTo>
                      <a:pt x="2918142" y="109219"/>
                    </a:lnTo>
                    <a:lnTo>
                      <a:pt x="2914294" y="114300"/>
                    </a:lnTo>
                    <a:lnTo>
                      <a:pt x="2910123" y="115347"/>
                    </a:lnTo>
                    <a:lnTo>
                      <a:pt x="2926110" y="113030"/>
                    </a:lnTo>
                    <a:lnTo>
                      <a:pt x="2937916" y="113030"/>
                    </a:lnTo>
                    <a:lnTo>
                      <a:pt x="2933154" y="107963"/>
                    </a:lnTo>
                    <a:lnTo>
                      <a:pt x="2932963" y="96519"/>
                    </a:lnTo>
                    <a:lnTo>
                      <a:pt x="2936814" y="92311"/>
                    </a:lnTo>
                    <a:close/>
                  </a:path>
                  <a:path w="2992754" h="304800">
                    <a:moveTo>
                      <a:pt x="2949219" y="91439"/>
                    </a:moveTo>
                    <a:lnTo>
                      <a:pt x="2943415" y="91439"/>
                    </a:lnTo>
                    <a:lnTo>
                      <a:pt x="2936814" y="92311"/>
                    </a:lnTo>
                    <a:lnTo>
                      <a:pt x="2932963" y="96519"/>
                    </a:lnTo>
                    <a:lnTo>
                      <a:pt x="2933154" y="107963"/>
                    </a:lnTo>
                    <a:lnTo>
                      <a:pt x="2937916" y="113030"/>
                    </a:lnTo>
                    <a:lnTo>
                      <a:pt x="2949549" y="113030"/>
                    </a:lnTo>
                    <a:lnTo>
                      <a:pt x="2954172" y="107963"/>
                    </a:lnTo>
                    <a:lnTo>
                      <a:pt x="2954007" y="96519"/>
                    </a:lnTo>
                    <a:lnTo>
                      <a:pt x="2949219" y="91439"/>
                    </a:lnTo>
                    <a:close/>
                  </a:path>
                  <a:path w="2992754" h="304800">
                    <a:moveTo>
                      <a:pt x="2964319" y="90169"/>
                    </a:moveTo>
                    <a:lnTo>
                      <a:pt x="2963926" y="90169"/>
                    </a:lnTo>
                    <a:lnTo>
                      <a:pt x="2961906" y="91439"/>
                    </a:lnTo>
                    <a:lnTo>
                      <a:pt x="2949219" y="91439"/>
                    </a:lnTo>
                    <a:lnTo>
                      <a:pt x="2954007" y="96519"/>
                    </a:lnTo>
                    <a:lnTo>
                      <a:pt x="2954172" y="107963"/>
                    </a:lnTo>
                    <a:lnTo>
                      <a:pt x="2949549" y="113030"/>
                    </a:lnTo>
                    <a:lnTo>
                      <a:pt x="2955061" y="113030"/>
                    </a:lnTo>
                    <a:lnTo>
                      <a:pt x="2963532" y="111872"/>
                    </a:lnTo>
                    <a:lnTo>
                      <a:pt x="2960179" y="110489"/>
                    </a:lnTo>
                    <a:lnTo>
                      <a:pt x="2955683" y="99060"/>
                    </a:lnTo>
                    <a:lnTo>
                      <a:pt x="2958185" y="92710"/>
                    </a:lnTo>
                    <a:lnTo>
                      <a:pt x="2963302" y="91544"/>
                    </a:lnTo>
                    <a:lnTo>
                      <a:pt x="2964319" y="90169"/>
                    </a:lnTo>
                    <a:close/>
                  </a:path>
                  <a:path w="2992754" h="304800">
                    <a:moveTo>
                      <a:pt x="2973258" y="109590"/>
                    </a:moveTo>
                    <a:lnTo>
                      <a:pt x="2968269" y="111760"/>
                    </a:lnTo>
                    <a:lnTo>
                      <a:pt x="2964357" y="111760"/>
                    </a:lnTo>
                    <a:lnTo>
                      <a:pt x="2963532" y="111872"/>
                    </a:lnTo>
                    <a:lnTo>
                      <a:pt x="2966339" y="113030"/>
                    </a:lnTo>
                    <a:lnTo>
                      <a:pt x="2971685" y="110489"/>
                    </a:lnTo>
                    <a:lnTo>
                      <a:pt x="2973258" y="109590"/>
                    </a:lnTo>
                    <a:close/>
                  </a:path>
                  <a:path w="2992754" h="304800">
                    <a:moveTo>
                      <a:pt x="2963302" y="91544"/>
                    </a:moveTo>
                    <a:lnTo>
                      <a:pt x="2958185" y="92710"/>
                    </a:lnTo>
                    <a:lnTo>
                      <a:pt x="2955683" y="99060"/>
                    </a:lnTo>
                    <a:lnTo>
                      <a:pt x="2960179" y="110489"/>
                    </a:lnTo>
                    <a:lnTo>
                      <a:pt x="2963532" y="111872"/>
                    </a:lnTo>
                    <a:lnTo>
                      <a:pt x="2964357" y="111760"/>
                    </a:lnTo>
                    <a:lnTo>
                      <a:pt x="2968269" y="111760"/>
                    </a:lnTo>
                    <a:lnTo>
                      <a:pt x="2973258" y="109590"/>
                    </a:lnTo>
                    <a:lnTo>
                      <a:pt x="2976105" y="107950"/>
                    </a:lnTo>
                    <a:lnTo>
                      <a:pt x="2977398" y="107026"/>
                    </a:lnTo>
                    <a:lnTo>
                      <a:pt x="2977535" y="106680"/>
                    </a:lnTo>
                    <a:lnTo>
                      <a:pt x="2972638" y="106680"/>
                    </a:lnTo>
                    <a:lnTo>
                      <a:pt x="2962910" y="101600"/>
                    </a:lnTo>
                    <a:lnTo>
                      <a:pt x="2961500" y="93980"/>
                    </a:lnTo>
                    <a:lnTo>
                      <a:pt x="2963302" y="91544"/>
                    </a:lnTo>
                    <a:close/>
                  </a:path>
                  <a:path w="2992754" h="304800">
                    <a:moveTo>
                      <a:pt x="2491333" y="110489"/>
                    </a:moveTo>
                    <a:lnTo>
                      <a:pt x="2489695" y="110871"/>
                    </a:lnTo>
                    <a:lnTo>
                      <a:pt x="2491525" y="110697"/>
                    </a:lnTo>
                    <a:lnTo>
                      <a:pt x="2491333" y="110489"/>
                    </a:lnTo>
                    <a:close/>
                  </a:path>
                  <a:path w="2992754" h="304800">
                    <a:moveTo>
                      <a:pt x="2977398" y="107026"/>
                    </a:moveTo>
                    <a:lnTo>
                      <a:pt x="2976081" y="107963"/>
                    </a:lnTo>
                    <a:lnTo>
                      <a:pt x="2973258" y="109590"/>
                    </a:lnTo>
                    <a:lnTo>
                      <a:pt x="2977032" y="107950"/>
                    </a:lnTo>
                    <a:lnTo>
                      <a:pt x="2977398" y="107026"/>
                    </a:lnTo>
                    <a:close/>
                  </a:path>
                  <a:path w="2992754" h="304800">
                    <a:moveTo>
                      <a:pt x="2560345" y="104139"/>
                    </a:moveTo>
                    <a:lnTo>
                      <a:pt x="2554770" y="104139"/>
                    </a:lnTo>
                    <a:lnTo>
                      <a:pt x="2543367" y="105410"/>
                    </a:lnTo>
                    <a:lnTo>
                      <a:pt x="2531973" y="105410"/>
                    </a:lnTo>
                    <a:lnTo>
                      <a:pt x="2509231" y="107963"/>
                    </a:lnTo>
                    <a:lnTo>
                      <a:pt x="2546320" y="107950"/>
                    </a:lnTo>
                    <a:lnTo>
                      <a:pt x="2549182" y="105410"/>
                    </a:lnTo>
                    <a:lnTo>
                      <a:pt x="2560846" y="104542"/>
                    </a:lnTo>
                    <a:lnTo>
                      <a:pt x="2560345" y="104139"/>
                    </a:lnTo>
                    <a:close/>
                  </a:path>
                  <a:path w="2992754" h="304800">
                    <a:moveTo>
                      <a:pt x="2981735" y="102259"/>
                    </a:moveTo>
                    <a:lnTo>
                      <a:pt x="2979089" y="105410"/>
                    </a:lnTo>
                    <a:lnTo>
                      <a:pt x="2977949" y="105634"/>
                    </a:lnTo>
                    <a:lnTo>
                      <a:pt x="2977398" y="107026"/>
                    </a:lnTo>
                    <a:lnTo>
                      <a:pt x="2979661" y="105410"/>
                    </a:lnTo>
                    <a:lnTo>
                      <a:pt x="2981735" y="102259"/>
                    </a:lnTo>
                    <a:close/>
                  </a:path>
                  <a:path w="2992754" h="304800">
                    <a:moveTo>
                      <a:pt x="2968891" y="88900"/>
                    </a:moveTo>
                    <a:lnTo>
                      <a:pt x="2963833" y="91302"/>
                    </a:lnTo>
                    <a:lnTo>
                      <a:pt x="2963760" y="91439"/>
                    </a:lnTo>
                    <a:lnTo>
                      <a:pt x="2963302" y="91544"/>
                    </a:lnTo>
                    <a:lnTo>
                      <a:pt x="2961500" y="93980"/>
                    </a:lnTo>
                    <a:lnTo>
                      <a:pt x="2962910" y="101600"/>
                    </a:lnTo>
                    <a:lnTo>
                      <a:pt x="2972638" y="106680"/>
                    </a:lnTo>
                    <a:lnTo>
                      <a:pt x="2977949" y="105634"/>
                    </a:lnTo>
                    <a:lnTo>
                      <a:pt x="2979547" y="101600"/>
                    </a:lnTo>
                    <a:lnTo>
                      <a:pt x="2975051" y="91439"/>
                    </a:lnTo>
                    <a:lnTo>
                      <a:pt x="2973791" y="90920"/>
                    </a:lnTo>
                    <a:lnTo>
                      <a:pt x="2970403" y="90169"/>
                    </a:lnTo>
                    <a:lnTo>
                      <a:pt x="2969727" y="89244"/>
                    </a:lnTo>
                    <a:lnTo>
                      <a:pt x="2968891" y="88900"/>
                    </a:lnTo>
                    <a:close/>
                  </a:path>
                  <a:path w="2992754" h="304800">
                    <a:moveTo>
                      <a:pt x="2977949" y="105634"/>
                    </a:moveTo>
                    <a:lnTo>
                      <a:pt x="2972638" y="106680"/>
                    </a:lnTo>
                    <a:lnTo>
                      <a:pt x="2977535" y="106680"/>
                    </a:lnTo>
                    <a:lnTo>
                      <a:pt x="2977949" y="105634"/>
                    </a:lnTo>
                    <a:close/>
                  </a:path>
                  <a:path w="2992754" h="304800">
                    <a:moveTo>
                      <a:pt x="2973791" y="90920"/>
                    </a:moveTo>
                    <a:lnTo>
                      <a:pt x="2975051" y="91439"/>
                    </a:lnTo>
                    <a:lnTo>
                      <a:pt x="2979547" y="101600"/>
                    </a:lnTo>
                    <a:lnTo>
                      <a:pt x="2977949" y="105634"/>
                    </a:lnTo>
                    <a:lnTo>
                      <a:pt x="2979089" y="105410"/>
                    </a:lnTo>
                    <a:lnTo>
                      <a:pt x="2981735" y="102259"/>
                    </a:lnTo>
                    <a:lnTo>
                      <a:pt x="2982996" y="100330"/>
                    </a:lnTo>
                    <a:lnTo>
                      <a:pt x="2985407" y="95993"/>
                    </a:lnTo>
                    <a:lnTo>
                      <a:pt x="2984731" y="92710"/>
                    </a:lnTo>
                    <a:lnTo>
                      <a:pt x="2981871" y="92710"/>
                    </a:lnTo>
                    <a:lnTo>
                      <a:pt x="2973791" y="90920"/>
                    </a:lnTo>
                    <a:close/>
                  </a:path>
                  <a:path w="2992754" h="304800">
                    <a:moveTo>
                      <a:pt x="2606319" y="101600"/>
                    </a:moveTo>
                    <a:lnTo>
                      <a:pt x="2595143" y="101600"/>
                    </a:lnTo>
                    <a:lnTo>
                      <a:pt x="2594417" y="102484"/>
                    </a:lnTo>
                    <a:lnTo>
                      <a:pt x="2606319" y="101600"/>
                    </a:lnTo>
                    <a:close/>
                  </a:path>
                  <a:path w="2992754" h="304800">
                    <a:moveTo>
                      <a:pt x="2982939" y="100432"/>
                    </a:moveTo>
                    <a:lnTo>
                      <a:pt x="2981735" y="102259"/>
                    </a:lnTo>
                    <a:lnTo>
                      <a:pt x="2982290" y="101600"/>
                    </a:lnTo>
                    <a:lnTo>
                      <a:pt x="2982939" y="100432"/>
                    </a:lnTo>
                    <a:close/>
                  </a:path>
                  <a:path w="2992754" h="304800">
                    <a:moveTo>
                      <a:pt x="2985407" y="95993"/>
                    </a:moveTo>
                    <a:lnTo>
                      <a:pt x="2982939" y="100432"/>
                    </a:lnTo>
                    <a:lnTo>
                      <a:pt x="2985516" y="96519"/>
                    </a:lnTo>
                    <a:lnTo>
                      <a:pt x="2985407" y="95993"/>
                    </a:lnTo>
                    <a:close/>
                  </a:path>
                  <a:path w="2992754" h="304800">
                    <a:moveTo>
                      <a:pt x="2688691" y="97789"/>
                    </a:moveTo>
                    <a:lnTo>
                      <a:pt x="2673004" y="99060"/>
                    </a:lnTo>
                    <a:lnTo>
                      <a:pt x="2682951" y="99060"/>
                    </a:lnTo>
                    <a:lnTo>
                      <a:pt x="2689093" y="98218"/>
                    </a:lnTo>
                    <a:lnTo>
                      <a:pt x="2688691" y="97789"/>
                    </a:lnTo>
                    <a:close/>
                  </a:path>
                  <a:path w="2992754" h="304800">
                    <a:moveTo>
                      <a:pt x="2987339" y="88972"/>
                    </a:moveTo>
                    <a:lnTo>
                      <a:pt x="2984489" y="90920"/>
                    </a:lnTo>
                    <a:lnTo>
                      <a:pt x="2984491" y="91544"/>
                    </a:lnTo>
                    <a:lnTo>
                      <a:pt x="2985407" y="95993"/>
                    </a:lnTo>
                    <a:lnTo>
                      <a:pt x="2985820" y="95250"/>
                    </a:lnTo>
                    <a:lnTo>
                      <a:pt x="2987339" y="88972"/>
                    </a:lnTo>
                    <a:close/>
                  </a:path>
                  <a:path w="2992754" h="304800">
                    <a:moveTo>
                      <a:pt x="2974517" y="83819"/>
                    </a:moveTo>
                    <a:lnTo>
                      <a:pt x="2967977" y="85089"/>
                    </a:lnTo>
                    <a:lnTo>
                      <a:pt x="2967371" y="86017"/>
                    </a:lnTo>
                    <a:lnTo>
                      <a:pt x="2969727" y="89244"/>
                    </a:lnTo>
                    <a:lnTo>
                      <a:pt x="2973791" y="90920"/>
                    </a:lnTo>
                    <a:lnTo>
                      <a:pt x="2981871" y="92710"/>
                    </a:lnTo>
                    <a:lnTo>
                      <a:pt x="2984378" y="90996"/>
                    </a:lnTo>
                    <a:lnTo>
                      <a:pt x="2984207" y="90169"/>
                    </a:lnTo>
                    <a:lnTo>
                      <a:pt x="2974517" y="83819"/>
                    </a:lnTo>
                    <a:close/>
                  </a:path>
                  <a:path w="2992754" h="304800">
                    <a:moveTo>
                      <a:pt x="2984378" y="90996"/>
                    </a:moveTo>
                    <a:lnTo>
                      <a:pt x="2981871" y="92710"/>
                    </a:lnTo>
                    <a:lnTo>
                      <a:pt x="2984731" y="92710"/>
                    </a:lnTo>
                    <a:lnTo>
                      <a:pt x="2984378" y="90996"/>
                    </a:lnTo>
                    <a:close/>
                  </a:path>
                  <a:path w="2992754" h="304800">
                    <a:moveTo>
                      <a:pt x="2943415" y="91439"/>
                    </a:moveTo>
                    <a:lnTo>
                      <a:pt x="2937611" y="91439"/>
                    </a:lnTo>
                    <a:lnTo>
                      <a:pt x="2936814" y="92311"/>
                    </a:lnTo>
                    <a:lnTo>
                      <a:pt x="2943415" y="91439"/>
                    </a:lnTo>
                    <a:close/>
                  </a:path>
                  <a:path w="2992754" h="304800">
                    <a:moveTo>
                      <a:pt x="2969150" y="72353"/>
                    </a:moveTo>
                    <a:lnTo>
                      <a:pt x="2967748" y="79234"/>
                    </a:lnTo>
                    <a:lnTo>
                      <a:pt x="2967329" y="81280"/>
                    </a:lnTo>
                    <a:lnTo>
                      <a:pt x="2966745" y="83819"/>
                    </a:lnTo>
                    <a:lnTo>
                      <a:pt x="2965602" y="87630"/>
                    </a:lnTo>
                    <a:lnTo>
                      <a:pt x="2965259" y="88900"/>
                    </a:lnTo>
                    <a:lnTo>
                      <a:pt x="2963302" y="91544"/>
                    </a:lnTo>
                    <a:lnTo>
                      <a:pt x="2963760" y="91439"/>
                    </a:lnTo>
                    <a:lnTo>
                      <a:pt x="2963545" y="91439"/>
                    </a:lnTo>
                    <a:lnTo>
                      <a:pt x="2964169" y="90668"/>
                    </a:lnTo>
                    <a:lnTo>
                      <a:pt x="2964434" y="90169"/>
                    </a:lnTo>
                    <a:lnTo>
                      <a:pt x="2964662" y="90169"/>
                    </a:lnTo>
                    <a:lnTo>
                      <a:pt x="2967371" y="86017"/>
                    </a:lnTo>
                    <a:lnTo>
                      <a:pt x="2966694" y="85089"/>
                    </a:lnTo>
                    <a:lnTo>
                      <a:pt x="2969150" y="72353"/>
                    </a:lnTo>
                    <a:close/>
                  </a:path>
                  <a:path w="2992754" h="304800">
                    <a:moveTo>
                      <a:pt x="2964169" y="90668"/>
                    </a:moveTo>
                    <a:lnTo>
                      <a:pt x="2963545" y="91439"/>
                    </a:lnTo>
                    <a:lnTo>
                      <a:pt x="2963833" y="91302"/>
                    </a:lnTo>
                    <a:lnTo>
                      <a:pt x="2964169" y="90668"/>
                    </a:lnTo>
                    <a:close/>
                  </a:path>
                  <a:path w="2992754" h="304800">
                    <a:moveTo>
                      <a:pt x="2963833" y="91302"/>
                    </a:moveTo>
                    <a:lnTo>
                      <a:pt x="2963545" y="91439"/>
                    </a:lnTo>
                    <a:lnTo>
                      <a:pt x="2963760" y="91439"/>
                    </a:lnTo>
                    <a:lnTo>
                      <a:pt x="2963833" y="91302"/>
                    </a:lnTo>
                    <a:close/>
                  </a:path>
                  <a:path w="2992754" h="304800">
                    <a:moveTo>
                      <a:pt x="2967371" y="86017"/>
                    </a:moveTo>
                    <a:lnTo>
                      <a:pt x="2964662" y="90169"/>
                    </a:lnTo>
                    <a:lnTo>
                      <a:pt x="2964169" y="90668"/>
                    </a:lnTo>
                    <a:lnTo>
                      <a:pt x="2963833" y="91302"/>
                    </a:lnTo>
                    <a:lnTo>
                      <a:pt x="2968891" y="88900"/>
                    </a:lnTo>
                    <a:lnTo>
                      <a:pt x="2969475" y="88900"/>
                    </a:lnTo>
                    <a:lnTo>
                      <a:pt x="2967371" y="86017"/>
                    </a:lnTo>
                    <a:close/>
                  </a:path>
                  <a:path w="2992754" h="304800">
                    <a:moveTo>
                      <a:pt x="2988401" y="83819"/>
                    </a:moveTo>
                    <a:lnTo>
                      <a:pt x="2974517" y="83819"/>
                    </a:lnTo>
                    <a:lnTo>
                      <a:pt x="2984207" y="90169"/>
                    </a:lnTo>
                    <a:lnTo>
                      <a:pt x="2984378" y="90996"/>
                    </a:lnTo>
                    <a:lnTo>
                      <a:pt x="2987339" y="88972"/>
                    </a:lnTo>
                    <a:lnTo>
                      <a:pt x="2988007" y="85914"/>
                    </a:lnTo>
                    <a:lnTo>
                      <a:pt x="2988401" y="83819"/>
                    </a:lnTo>
                    <a:close/>
                  </a:path>
                  <a:path w="2992754" h="304800">
                    <a:moveTo>
                      <a:pt x="2969727" y="89244"/>
                    </a:moveTo>
                    <a:lnTo>
                      <a:pt x="2970403" y="90169"/>
                    </a:lnTo>
                    <a:lnTo>
                      <a:pt x="2973791" y="90920"/>
                    </a:lnTo>
                    <a:lnTo>
                      <a:pt x="2969727" y="89244"/>
                    </a:lnTo>
                    <a:close/>
                  </a:path>
                  <a:path w="2992754" h="304800">
                    <a:moveTo>
                      <a:pt x="2964573" y="90169"/>
                    </a:moveTo>
                    <a:lnTo>
                      <a:pt x="2964434" y="90169"/>
                    </a:lnTo>
                    <a:lnTo>
                      <a:pt x="2964169" y="90668"/>
                    </a:lnTo>
                    <a:lnTo>
                      <a:pt x="2964573" y="90169"/>
                    </a:lnTo>
                    <a:close/>
                  </a:path>
                  <a:path w="2992754" h="304800">
                    <a:moveTo>
                      <a:pt x="2969475" y="88900"/>
                    </a:moveTo>
                    <a:lnTo>
                      <a:pt x="2968891" y="88900"/>
                    </a:lnTo>
                    <a:lnTo>
                      <a:pt x="2969727" y="89244"/>
                    </a:lnTo>
                    <a:lnTo>
                      <a:pt x="2969475" y="88900"/>
                    </a:lnTo>
                    <a:close/>
                  </a:path>
                  <a:path w="2992754" h="304800">
                    <a:moveTo>
                      <a:pt x="2988007" y="85914"/>
                    </a:moveTo>
                    <a:lnTo>
                      <a:pt x="2987339" y="88972"/>
                    </a:lnTo>
                    <a:lnTo>
                      <a:pt x="2988007" y="85914"/>
                    </a:lnTo>
                    <a:close/>
                  </a:path>
                  <a:path w="2992754" h="304800">
                    <a:moveTo>
                      <a:pt x="2974663" y="69864"/>
                    </a:moveTo>
                    <a:lnTo>
                      <a:pt x="2969150" y="72353"/>
                    </a:lnTo>
                    <a:lnTo>
                      <a:pt x="2966694" y="85089"/>
                    </a:lnTo>
                    <a:lnTo>
                      <a:pt x="2967371" y="86017"/>
                    </a:lnTo>
                    <a:lnTo>
                      <a:pt x="2967977" y="85089"/>
                    </a:lnTo>
                    <a:lnTo>
                      <a:pt x="2974517" y="83819"/>
                    </a:lnTo>
                    <a:lnTo>
                      <a:pt x="2988401" y="83819"/>
                    </a:lnTo>
                    <a:lnTo>
                      <a:pt x="2988640" y="82550"/>
                    </a:lnTo>
                    <a:lnTo>
                      <a:pt x="2989570" y="78739"/>
                    </a:lnTo>
                    <a:lnTo>
                      <a:pt x="2989846" y="77469"/>
                    </a:lnTo>
                    <a:lnTo>
                      <a:pt x="2986163" y="71119"/>
                    </a:lnTo>
                    <a:lnTo>
                      <a:pt x="2974663" y="69864"/>
                    </a:lnTo>
                    <a:close/>
                  </a:path>
                  <a:path w="2992754" h="304800">
                    <a:moveTo>
                      <a:pt x="2989462" y="79234"/>
                    </a:moveTo>
                    <a:lnTo>
                      <a:pt x="2988640" y="82550"/>
                    </a:lnTo>
                    <a:lnTo>
                      <a:pt x="2988007" y="85914"/>
                    </a:lnTo>
                    <a:lnTo>
                      <a:pt x="2989462" y="79234"/>
                    </a:lnTo>
                    <a:close/>
                  </a:path>
                  <a:path w="2992754" h="304800">
                    <a:moveTo>
                      <a:pt x="2991526" y="61783"/>
                    </a:moveTo>
                    <a:lnTo>
                      <a:pt x="2991281" y="66039"/>
                    </a:lnTo>
                    <a:lnTo>
                      <a:pt x="2986290" y="71119"/>
                    </a:lnTo>
                    <a:lnTo>
                      <a:pt x="2986163" y="71119"/>
                    </a:lnTo>
                    <a:lnTo>
                      <a:pt x="2989846" y="77469"/>
                    </a:lnTo>
                    <a:lnTo>
                      <a:pt x="2989462" y="79234"/>
                    </a:lnTo>
                    <a:lnTo>
                      <a:pt x="2990215" y="76200"/>
                    </a:lnTo>
                    <a:lnTo>
                      <a:pt x="2990866" y="71119"/>
                    </a:lnTo>
                    <a:lnTo>
                      <a:pt x="2986290" y="71119"/>
                    </a:lnTo>
                    <a:lnTo>
                      <a:pt x="2981177" y="70567"/>
                    </a:lnTo>
                    <a:lnTo>
                      <a:pt x="2990937" y="70567"/>
                    </a:lnTo>
                    <a:lnTo>
                      <a:pt x="2991192" y="68580"/>
                    </a:lnTo>
                    <a:lnTo>
                      <a:pt x="2991526" y="61783"/>
                    </a:lnTo>
                    <a:close/>
                  </a:path>
                  <a:path w="2992754" h="304800">
                    <a:moveTo>
                      <a:pt x="2970019" y="64795"/>
                    </a:moveTo>
                    <a:lnTo>
                      <a:pt x="2969958" y="66039"/>
                    </a:lnTo>
                    <a:lnTo>
                      <a:pt x="2969150" y="72353"/>
                    </a:lnTo>
                    <a:lnTo>
                      <a:pt x="2974663" y="69864"/>
                    </a:lnTo>
                    <a:lnTo>
                      <a:pt x="2974530" y="69850"/>
                    </a:lnTo>
                    <a:lnTo>
                      <a:pt x="2970019" y="64795"/>
                    </a:lnTo>
                    <a:close/>
                  </a:path>
                  <a:path w="2992754" h="304800">
                    <a:moveTo>
                      <a:pt x="2987538" y="69850"/>
                    </a:moveTo>
                    <a:lnTo>
                      <a:pt x="2974695" y="69850"/>
                    </a:lnTo>
                    <a:lnTo>
                      <a:pt x="2986290" y="71119"/>
                    </a:lnTo>
                    <a:lnTo>
                      <a:pt x="2987538" y="69850"/>
                    </a:lnTo>
                    <a:close/>
                  </a:path>
                  <a:path w="2992754" h="304800">
                    <a:moveTo>
                      <a:pt x="2974695" y="69850"/>
                    </a:moveTo>
                    <a:lnTo>
                      <a:pt x="2981177" y="70567"/>
                    </a:lnTo>
                    <a:lnTo>
                      <a:pt x="2974695" y="69850"/>
                    </a:lnTo>
                    <a:close/>
                  </a:path>
                  <a:path w="2992754" h="304800">
                    <a:moveTo>
                      <a:pt x="2975584" y="48260"/>
                    </a:moveTo>
                    <a:lnTo>
                      <a:pt x="2970580" y="53339"/>
                    </a:lnTo>
                    <a:lnTo>
                      <a:pt x="2970019" y="64795"/>
                    </a:lnTo>
                    <a:lnTo>
                      <a:pt x="2974530" y="69850"/>
                    </a:lnTo>
                    <a:lnTo>
                      <a:pt x="2974663" y="69864"/>
                    </a:lnTo>
                    <a:lnTo>
                      <a:pt x="2987538" y="69850"/>
                    </a:lnTo>
                    <a:lnTo>
                      <a:pt x="2991281" y="66039"/>
                    </a:lnTo>
                    <a:lnTo>
                      <a:pt x="2991566" y="60960"/>
                    </a:lnTo>
                    <a:lnTo>
                      <a:pt x="2991873" y="54604"/>
                    </a:lnTo>
                    <a:lnTo>
                      <a:pt x="2987344" y="49530"/>
                    </a:lnTo>
                    <a:lnTo>
                      <a:pt x="2975584" y="48260"/>
                    </a:lnTo>
                    <a:close/>
                  </a:path>
                  <a:path w="2992754" h="304800">
                    <a:moveTo>
                      <a:pt x="2970698" y="34982"/>
                    </a:moveTo>
                    <a:lnTo>
                      <a:pt x="2970720" y="44450"/>
                    </a:lnTo>
                    <a:lnTo>
                      <a:pt x="2970596" y="52069"/>
                    </a:lnTo>
                    <a:lnTo>
                      <a:pt x="2970137" y="61783"/>
                    </a:lnTo>
                    <a:lnTo>
                      <a:pt x="2970019" y="64795"/>
                    </a:lnTo>
                    <a:lnTo>
                      <a:pt x="2970580" y="53339"/>
                    </a:lnTo>
                    <a:lnTo>
                      <a:pt x="2975584" y="48260"/>
                    </a:lnTo>
                    <a:lnTo>
                      <a:pt x="2992075" y="48260"/>
                    </a:lnTo>
                    <a:lnTo>
                      <a:pt x="2992130" y="45719"/>
                    </a:lnTo>
                    <a:lnTo>
                      <a:pt x="2975571" y="45719"/>
                    </a:lnTo>
                    <a:lnTo>
                      <a:pt x="2970733" y="41910"/>
                    </a:lnTo>
                    <a:lnTo>
                      <a:pt x="2970698" y="34982"/>
                    </a:lnTo>
                    <a:close/>
                  </a:path>
                  <a:path w="2992754" h="304800">
                    <a:moveTo>
                      <a:pt x="2992075" y="48260"/>
                    </a:moveTo>
                    <a:lnTo>
                      <a:pt x="2975584" y="48260"/>
                    </a:lnTo>
                    <a:lnTo>
                      <a:pt x="2987344" y="49530"/>
                    </a:lnTo>
                    <a:lnTo>
                      <a:pt x="2991873" y="54604"/>
                    </a:lnTo>
                    <a:lnTo>
                      <a:pt x="2991993" y="52069"/>
                    </a:lnTo>
                    <a:lnTo>
                      <a:pt x="2992075" y="48260"/>
                    </a:lnTo>
                    <a:close/>
                  </a:path>
                  <a:path w="2992754" h="304800">
                    <a:moveTo>
                      <a:pt x="2970710" y="33017"/>
                    </a:moveTo>
                    <a:lnTo>
                      <a:pt x="2970733" y="41910"/>
                    </a:lnTo>
                    <a:lnTo>
                      <a:pt x="2975571" y="45719"/>
                    </a:lnTo>
                    <a:lnTo>
                      <a:pt x="2987408" y="45719"/>
                    </a:lnTo>
                    <a:lnTo>
                      <a:pt x="2992170" y="41910"/>
                    </a:lnTo>
                    <a:lnTo>
                      <a:pt x="2992217" y="34289"/>
                    </a:lnTo>
                    <a:lnTo>
                      <a:pt x="2972523" y="34289"/>
                    </a:lnTo>
                    <a:lnTo>
                      <a:pt x="2970710" y="33017"/>
                    </a:lnTo>
                    <a:close/>
                  </a:path>
                  <a:path w="2992754" h="304800">
                    <a:moveTo>
                      <a:pt x="2992192" y="38588"/>
                    </a:moveTo>
                    <a:lnTo>
                      <a:pt x="2992170" y="41910"/>
                    </a:lnTo>
                    <a:lnTo>
                      <a:pt x="2987408" y="45719"/>
                    </a:lnTo>
                    <a:lnTo>
                      <a:pt x="2992130" y="45719"/>
                    </a:lnTo>
                    <a:lnTo>
                      <a:pt x="2992192" y="38588"/>
                    </a:lnTo>
                    <a:close/>
                  </a:path>
                  <a:path w="2992754" h="304800">
                    <a:moveTo>
                      <a:pt x="2990759" y="15547"/>
                    </a:moveTo>
                    <a:lnTo>
                      <a:pt x="2991579" y="18269"/>
                    </a:lnTo>
                    <a:lnTo>
                      <a:pt x="2991697" y="19252"/>
                    </a:lnTo>
                    <a:lnTo>
                      <a:pt x="2988856" y="24130"/>
                    </a:lnTo>
                    <a:lnTo>
                      <a:pt x="2986843" y="25041"/>
                    </a:lnTo>
                    <a:lnTo>
                      <a:pt x="2986797" y="25329"/>
                    </a:lnTo>
                    <a:lnTo>
                      <a:pt x="2987459" y="25400"/>
                    </a:lnTo>
                    <a:lnTo>
                      <a:pt x="2992247" y="29210"/>
                    </a:lnTo>
                    <a:lnTo>
                      <a:pt x="2992192" y="38588"/>
                    </a:lnTo>
                    <a:lnTo>
                      <a:pt x="2992277" y="20217"/>
                    </a:lnTo>
                    <a:lnTo>
                      <a:pt x="2990759" y="15547"/>
                    </a:lnTo>
                    <a:close/>
                  </a:path>
                  <a:path w="2992754" h="304800">
                    <a:moveTo>
                      <a:pt x="2972506" y="27352"/>
                    </a:moveTo>
                    <a:lnTo>
                      <a:pt x="2970733" y="29210"/>
                    </a:lnTo>
                    <a:lnTo>
                      <a:pt x="2970714" y="33019"/>
                    </a:lnTo>
                    <a:lnTo>
                      <a:pt x="2972523" y="34289"/>
                    </a:lnTo>
                    <a:lnTo>
                      <a:pt x="2978928" y="33002"/>
                    </a:lnTo>
                    <a:lnTo>
                      <a:pt x="2980994" y="31750"/>
                    </a:lnTo>
                    <a:lnTo>
                      <a:pt x="2982298" y="29210"/>
                    </a:lnTo>
                    <a:lnTo>
                      <a:pt x="2977642" y="29210"/>
                    </a:lnTo>
                    <a:lnTo>
                      <a:pt x="2975684" y="28021"/>
                    </a:lnTo>
                    <a:lnTo>
                      <a:pt x="2972506" y="27352"/>
                    </a:lnTo>
                    <a:close/>
                  </a:path>
                  <a:path w="2992754" h="304800">
                    <a:moveTo>
                      <a:pt x="2986797" y="25329"/>
                    </a:moveTo>
                    <a:lnTo>
                      <a:pt x="2986582" y="26669"/>
                    </a:lnTo>
                    <a:lnTo>
                      <a:pt x="2981731" y="30480"/>
                    </a:lnTo>
                    <a:lnTo>
                      <a:pt x="2980994" y="31750"/>
                    </a:lnTo>
                    <a:lnTo>
                      <a:pt x="2978899" y="33019"/>
                    </a:lnTo>
                    <a:lnTo>
                      <a:pt x="2972523" y="34289"/>
                    </a:lnTo>
                    <a:lnTo>
                      <a:pt x="2992217" y="34289"/>
                    </a:lnTo>
                    <a:lnTo>
                      <a:pt x="2992247" y="29210"/>
                    </a:lnTo>
                    <a:lnTo>
                      <a:pt x="2987459" y="25400"/>
                    </a:lnTo>
                    <a:lnTo>
                      <a:pt x="2986797" y="25329"/>
                    </a:lnTo>
                    <a:close/>
                  </a:path>
                  <a:path w="2992754" h="304800">
                    <a:moveTo>
                      <a:pt x="2970469" y="26924"/>
                    </a:moveTo>
                    <a:lnTo>
                      <a:pt x="2970516" y="27352"/>
                    </a:lnTo>
                    <a:lnTo>
                      <a:pt x="2970600" y="28679"/>
                    </a:lnTo>
                    <a:lnTo>
                      <a:pt x="2970710" y="33017"/>
                    </a:lnTo>
                    <a:lnTo>
                      <a:pt x="2970733" y="29210"/>
                    </a:lnTo>
                    <a:lnTo>
                      <a:pt x="2972506" y="27352"/>
                    </a:lnTo>
                    <a:lnTo>
                      <a:pt x="2970469" y="26924"/>
                    </a:lnTo>
                    <a:close/>
                  </a:path>
                  <a:path w="2992754" h="304800">
                    <a:moveTo>
                      <a:pt x="2968479" y="28784"/>
                    </a:moveTo>
                    <a:lnTo>
                      <a:pt x="2968904" y="31750"/>
                    </a:lnTo>
                    <a:lnTo>
                      <a:pt x="2970688" y="33002"/>
                    </a:lnTo>
                    <a:lnTo>
                      <a:pt x="2970648" y="30480"/>
                    </a:lnTo>
                    <a:lnTo>
                      <a:pt x="2970072" y="30480"/>
                    </a:lnTo>
                    <a:lnTo>
                      <a:pt x="2968479" y="28784"/>
                    </a:lnTo>
                    <a:close/>
                  </a:path>
                  <a:path w="2992754" h="304800">
                    <a:moveTo>
                      <a:pt x="2967993" y="25135"/>
                    </a:moveTo>
                    <a:lnTo>
                      <a:pt x="2968479" y="28784"/>
                    </a:lnTo>
                    <a:lnTo>
                      <a:pt x="2970072" y="30480"/>
                    </a:lnTo>
                    <a:lnTo>
                      <a:pt x="2970648" y="30480"/>
                    </a:lnTo>
                    <a:lnTo>
                      <a:pt x="2970548" y="27645"/>
                    </a:lnTo>
                    <a:lnTo>
                      <a:pt x="2970469" y="26924"/>
                    </a:lnTo>
                    <a:lnTo>
                      <a:pt x="2969260" y="26669"/>
                    </a:lnTo>
                    <a:lnTo>
                      <a:pt x="2967993" y="25135"/>
                    </a:lnTo>
                    <a:close/>
                  </a:path>
                  <a:path w="2992754" h="304800">
                    <a:moveTo>
                      <a:pt x="2986321" y="25278"/>
                    </a:moveTo>
                    <a:lnTo>
                      <a:pt x="2985025" y="25865"/>
                    </a:lnTo>
                    <a:lnTo>
                      <a:pt x="2983062" y="27645"/>
                    </a:lnTo>
                    <a:lnTo>
                      <a:pt x="2982909" y="28021"/>
                    </a:lnTo>
                    <a:lnTo>
                      <a:pt x="2981646" y="30480"/>
                    </a:lnTo>
                    <a:lnTo>
                      <a:pt x="2986582" y="26669"/>
                    </a:lnTo>
                    <a:lnTo>
                      <a:pt x="2986797" y="25329"/>
                    </a:lnTo>
                    <a:lnTo>
                      <a:pt x="2986321" y="25278"/>
                    </a:lnTo>
                    <a:close/>
                  </a:path>
                  <a:path w="2992754" h="304800">
                    <a:moveTo>
                      <a:pt x="2975684" y="28021"/>
                    </a:moveTo>
                    <a:lnTo>
                      <a:pt x="2977642" y="29210"/>
                    </a:lnTo>
                    <a:lnTo>
                      <a:pt x="2978813" y="28679"/>
                    </a:lnTo>
                    <a:lnTo>
                      <a:pt x="2975684" y="28021"/>
                    </a:lnTo>
                    <a:close/>
                  </a:path>
                  <a:path w="2992754" h="304800">
                    <a:moveTo>
                      <a:pt x="2978813" y="28679"/>
                    </a:moveTo>
                    <a:lnTo>
                      <a:pt x="2977642" y="29210"/>
                    </a:lnTo>
                    <a:lnTo>
                      <a:pt x="2981337" y="29210"/>
                    </a:lnTo>
                    <a:lnTo>
                      <a:pt x="2978813" y="28679"/>
                    </a:lnTo>
                    <a:close/>
                  </a:path>
                  <a:path w="2992754" h="304800">
                    <a:moveTo>
                      <a:pt x="2983566" y="26526"/>
                    </a:moveTo>
                    <a:lnTo>
                      <a:pt x="2978813" y="28679"/>
                    </a:lnTo>
                    <a:lnTo>
                      <a:pt x="2981337" y="29210"/>
                    </a:lnTo>
                    <a:lnTo>
                      <a:pt x="2983062" y="27645"/>
                    </a:lnTo>
                    <a:lnTo>
                      <a:pt x="2983433" y="26669"/>
                    </a:lnTo>
                    <a:lnTo>
                      <a:pt x="2983566" y="26526"/>
                    </a:lnTo>
                    <a:close/>
                  </a:path>
                  <a:path w="2992754" h="304800">
                    <a:moveTo>
                      <a:pt x="2983062" y="27645"/>
                    </a:moveTo>
                    <a:lnTo>
                      <a:pt x="2981337" y="29210"/>
                    </a:lnTo>
                    <a:lnTo>
                      <a:pt x="2982298" y="29210"/>
                    </a:lnTo>
                    <a:lnTo>
                      <a:pt x="2982950" y="27939"/>
                    </a:lnTo>
                    <a:lnTo>
                      <a:pt x="2983062" y="27645"/>
                    </a:lnTo>
                    <a:close/>
                  </a:path>
                  <a:path w="2992754" h="304800">
                    <a:moveTo>
                      <a:pt x="2965412" y="22006"/>
                    </a:moveTo>
                    <a:lnTo>
                      <a:pt x="2965297" y="25400"/>
                    </a:lnTo>
                    <a:lnTo>
                      <a:pt x="2968479" y="28784"/>
                    </a:lnTo>
                    <a:lnTo>
                      <a:pt x="2967983" y="25122"/>
                    </a:lnTo>
                    <a:lnTo>
                      <a:pt x="2965412" y="22006"/>
                    </a:lnTo>
                    <a:close/>
                  </a:path>
                  <a:path w="2992754" h="304800">
                    <a:moveTo>
                      <a:pt x="2975584" y="24130"/>
                    </a:moveTo>
                    <a:lnTo>
                      <a:pt x="2973269" y="26554"/>
                    </a:lnTo>
                    <a:lnTo>
                      <a:pt x="2975684" y="28021"/>
                    </a:lnTo>
                    <a:lnTo>
                      <a:pt x="2978813" y="28679"/>
                    </a:lnTo>
                    <a:lnTo>
                      <a:pt x="2983566" y="26526"/>
                    </a:lnTo>
                    <a:lnTo>
                      <a:pt x="2984864" y="25122"/>
                    </a:lnTo>
                    <a:lnTo>
                      <a:pt x="2975584" y="24130"/>
                    </a:lnTo>
                    <a:close/>
                  </a:path>
                  <a:path w="2992754" h="304800">
                    <a:moveTo>
                      <a:pt x="2973269" y="26554"/>
                    </a:moveTo>
                    <a:lnTo>
                      <a:pt x="2972506" y="27352"/>
                    </a:lnTo>
                    <a:lnTo>
                      <a:pt x="2975684" y="28021"/>
                    </a:lnTo>
                    <a:lnTo>
                      <a:pt x="2973269" y="26554"/>
                    </a:lnTo>
                    <a:close/>
                  </a:path>
                  <a:path w="2992754" h="304800">
                    <a:moveTo>
                      <a:pt x="2985025" y="25865"/>
                    </a:moveTo>
                    <a:lnTo>
                      <a:pt x="2983566" y="26526"/>
                    </a:lnTo>
                    <a:lnTo>
                      <a:pt x="2983433" y="26669"/>
                    </a:lnTo>
                    <a:lnTo>
                      <a:pt x="2983062" y="27645"/>
                    </a:lnTo>
                    <a:lnTo>
                      <a:pt x="2985025" y="25865"/>
                    </a:lnTo>
                    <a:close/>
                  </a:path>
                  <a:path w="2992754" h="304800">
                    <a:moveTo>
                      <a:pt x="2969920" y="21936"/>
                    </a:moveTo>
                    <a:lnTo>
                      <a:pt x="2970469" y="26924"/>
                    </a:lnTo>
                    <a:lnTo>
                      <a:pt x="2972506" y="27352"/>
                    </a:lnTo>
                    <a:lnTo>
                      <a:pt x="2973158" y="26669"/>
                    </a:lnTo>
                    <a:lnTo>
                      <a:pt x="2973223" y="26526"/>
                    </a:lnTo>
                    <a:lnTo>
                      <a:pt x="2971368" y="25400"/>
                    </a:lnTo>
                    <a:lnTo>
                      <a:pt x="2969920" y="21936"/>
                    </a:lnTo>
                    <a:close/>
                  </a:path>
                  <a:path w="2992754" h="304800">
                    <a:moveTo>
                      <a:pt x="2966279" y="12853"/>
                    </a:moveTo>
                    <a:lnTo>
                      <a:pt x="2965617" y="17780"/>
                    </a:lnTo>
                    <a:lnTo>
                      <a:pt x="2965506" y="19252"/>
                    </a:lnTo>
                    <a:lnTo>
                      <a:pt x="2966161" y="21589"/>
                    </a:lnTo>
                    <a:lnTo>
                      <a:pt x="2967850" y="24130"/>
                    </a:lnTo>
                    <a:lnTo>
                      <a:pt x="2967992" y="25122"/>
                    </a:lnTo>
                    <a:lnTo>
                      <a:pt x="2969260" y="26669"/>
                    </a:lnTo>
                    <a:lnTo>
                      <a:pt x="2970469" y="26924"/>
                    </a:lnTo>
                    <a:lnTo>
                      <a:pt x="2969920" y="21936"/>
                    </a:lnTo>
                    <a:lnTo>
                      <a:pt x="2968701" y="19050"/>
                    </a:lnTo>
                    <a:lnTo>
                      <a:pt x="2966986" y="16510"/>
                    </a:lnTo>
                    <a:lnTo>
                      <a:pt x="2966279" y="12853"/>
                    </a:lnTo>
                    <a:close/>
                  </a:path>
                  <a:path w="2992754" h="304800">
                    <a:moveTo>
                      <a:pt x="2976793" y="5541"/>
                    </a:moveTo>
                    <a:lnTo>
                      <a:pt x="2970517" y="7619"/>
                    </a:lnTo>
                    <a:lnTo>
                      <a:pt x="2967342" y="13969"/>
                    </a:lnTo>
                    <a:lnTo>
                      <a:pt x="2969310" y="20319"/>
                    </a:lnTo>
                    <a:lnTo>
                      <a:pt x="2969882" y="21589"/>
                    </a:lnTo>
                    <a:lnTo>
                      <a:pt x="2969949" y="22006"/>
                    </a:lnTo>
                    <a:lnTo>
                      <a:pt x="2971368" y="25400"/>
                    </a:lnTo>
                    <a:lnTo>
                      <a:pt x="2973269" y="26554"/>
                    </a:lnTo>
                    <a:lnTo>
                      <a:pt x="2975584" y="24130"/>
                    </a:lnTo>
                    <a:lnTo>
                      <a:pt x="2985782" y="24130"/>
                    </a:lnTo>
                    <a:lnTo>
                      <a:pt x="2987332" y="21589"/>
                    </a:lnTo>
                    <a:lnTo>
                      <a:pt x="2988043" y="16510"/>
                    </a:lnTo>
                    <a:lnTo>
                      <a:pt x="2987979" y="15239"/>
                    </a:lnTo>
                    <a:lnTo>
                      <a:pt x="2986913" y="11430"/>
                    </a:lnTo>
                    <a:lnTo>
                      <a:pt x="2986455" y="11430"/>
                    </a:lnTo>
                    <a:lnTo>
                      <a:pt x="2985884" y="10160"/>
                    </a:lnTo>
                    <a:lnTo>
                      <a:pt x="2983191" y="6213"/>
                    </a:lnTo>
                    <a:lnTo>
                      <a:pt x="2976793" y="5541"/>
                    </a:lnTo>
                    <a:close/>
                  </a:path>
                  <a:path w="2992754" h="304800">
                    <a:moveTo>
                      <a:pt x="2984864" y="25122"/>
                    </a:moveTo>
                    <a:lnTo>
                      <a:pt x="2983566" y="26526"/>
                    </a:lnTo>
                    <a:lnTo>
                      <a:pt x="2985025" y="25865"/>
                    </a:lnTo>
                    <a:lnTo>
                      <a:pt x="2985740" y="25216"/>
                    </a:lnTo>
                    <a:lnTo>
                      <a:pt x="2984864" y="25122"/>
                    </a:lnTo>
                    <a:close/>
                  </a:path>
                  <a:path w="2992754" h="304800">
                    <a:moveTo>
                      <a:pt x="2985740" y="25216"/>
                    </a:moveTo>
                    <a:lnTo>
                      <a:pt x="2985025" y="25865"/>
                    </a:lnTo>
                    <a:lnTo>
                      <a:pt x="2986321" y="25278"/>
                    </a:lnTo>
                    <a:lnTo>
                      <a:pt x="2985740" y="25216"/>
                    </a:lnTo>
                    <a:close/>
                  </a:path>
                  <a:path w="2992754" h="304800">
                    <a:moveTo>
                      <a:pt x="2986843" y="25041"/>
                    </a:moveTo>
                    <a:lnTo>
                      <a:pt x="2986321" y="25278"/>
                    </a:lnTo>
                    <a:lnTo>
                      <a:pt x="2986797" y="25329"/>
                    </a:lnTo>
                    <a:lnTo>
                      <a:pt x="2986843" y="25041"/>
                    </a:lnTo>
                    <a:close/>
                  </a:path>
                  <a:path w="2992754" h="304800">
                    <a:moveTo>
                      <a:pt x="2987613" y="20217"/>
                    </a:moveTo>
                    <a:lnTo>
                      <a:pt x="2986938" y="24130"/>
                    </a:lnTo>
                    <a:lnTo>
                      <a:pt x="2985740" y="25216"/>
                    </a:lnTo>
                    <a:lnTo>
                      <a:pt x="2986321" y="25278"/>
                    </a:lnTo>
                    <a:lnTo>
                      <a:pt x="2986843" y="25041"/>
                    </a:lnTo>
                    <a:lnTo>
                      <a:pt x="2987613" y="20217"/>
                    </a:lnTo>
                    <a:close/>
                  </a:path>
                  <a:path w="2992754" h="304800">
                    <a:moveTo>
                      <a:pt x="2983191" y="6213"/>
                    </a:moveTo>
                    <a:lnTo>
                      <a:pt x="2985884" y="10160"/>
                    </a:lnTo>
                    <a:lnTo>
                      <a:pt x="2986455" y="11430"/>
                    </a:lnTo>
                    <a:lnTo>
                      <a:pt x="2986913" y="11430"/>
                    </a:lnTo>
                    <a:lnTo>
                      <a:pt x="2987979" y="15239"/>
                    </a:lnTo>
                    <a:lnTo>
                      <a:pt x="2988043" y="16510"/>
                    </a:lnTo>
                    <a:lnTo>
                      <a:pt x="2987332" y="21589"/>
                    </a:lnTo>
                    <a:lnTo>
                      <a:pt x="2985782" y="24130"/>
                    </a:lnTo>
                    <a:lnTo>
                      <a:pt x="2984939" y="25041"/>
                    </a:lnTo>
                    <a:lnTo>
                      <a:pt x="2985740" y="25216"/>
                    </a:lnTo>
                    <a:lnTo>
                      <a:pt x="2986938" y="24130"/>
                    </a:lnTo>
                    <a:lnTo>
                      <a:pt x="2987613" y="20217"/>
                    </a:lnTo>
                    <a:lnTo>
                      <a:pt x="2988656" y="12853"/>
                    </a:lnTo>
                    <a:lnTo>
                      <a:pt x="2988654" y="12663"/>
                    </a:lnTo>
                    <a:lnTo>
                      <a:pt x="2984487" y="6350"/>
                    </a:lnTo>
                    <a:lnTo>
                      <a:pt x="2983191" y="6213"/>
                    </a:lnTo>
                    <a:close/>
                  </a:path>
                  <a:path w="2992754" h="304800">
                    <a:moveTo>
                      <a:pt x="2965506" y="19252"/>
                    </a:moveTo>
                    <a:lnTo>
                      <a:pt x="2965412" y="22006"/>
                    </a:lnTo>
                    <a:lnTo>
                      <a:pt x="2967993" y="25135"/>
                    </a:lnTo>
                    <a:lnTo>
                      <a:pt x="2967863" y="24130"/>
                    </a:lnTo>
                    <a:lnTo>
                      <a:pt x="2966161" y="21589"/>
                    </a:lnTo>
                    <a:lnTo>
                      <a:pt x="2965506" y="19252"/>
                    </a:lnTo>
                    <a:close/>
                  </a:path>
                  <a:path w="2992754" h="304800">
                    <a:moveTo>
                      <a:pt x="2985782" y="24130"/>
                    </a:moveTo>
                    <a:lnTo>
                      <a:pt x="2975584" y="24130"/>
                    </a:lnTo>
                    <a:lnTo>
                      <a:pt x="2984864" y="25122"/>
                    </a:lnTo>
                    <a:lnTo>
                      <a:pt x="2985782" y="24130"/>
                    </a:lnTo>
                    <a:close/>
                  </a:path>
                  <a:path w="2992754" h="304800">
                    <a:moveTo>
                      <a:pt x="2989037" y="10248"/>
                    </a:moveTo>
                    <a:lnTo>
                      <a:pt x="2987779" y="19252"/>
                    </a:lnTo>
                    <a:lnTo>
                      <a:pt x="2986843" y="25041"/>
                    </a:lnTo>
                    <a:lnTo>
                      <a:pt x="2988856" y="24130"/>
                    </a:lnTo>
                    <a:lnTo>
                      <a:pt x="2991815" y="19050"/>
                    </a:lnTo>
                    <a:lnTo>
                      <a:pt x="2990659" y="15239"/>
                    </a:lnTo>
                    <a:lnTo>
                      <a:pt x="2989037" y="10248"/>
                    </a:lnTo>
                    <a:close/>
                  </a:path>
                  <a:path w="2992754" h="304800">
                    <a:moveTo>
                      <a:pt x="2965529" y="18269"/>
                    </a:moveTo>
                    <a:lnTo>
                      <a:pt x="2965069" y="21589"/>
                    </a:lnTo>
                    <a:lnTo>
                      <a:pt x="2965412" y="22006"/>
                    </a:lnTo>
                    <a:lnTo>
                      <a:pt x="2965529" y="18269"/>
                    </a:lnTo>
                    <a:close/>
                  </a:path>
                  <a:path w="2992754" h="304800">
                    <a:moveTo>
                      <a:pt x="2973712" y="5218"/>
                    </a:moveTo>
                    <a:lnTo>
                      <a:pt x="2970453" y="7619"/>
                    </a:lnTo>
                    <a:lnTo>
                      <a:pt x="2967520" y="10160"/>
                    </a:lnTo>
                    <a:lnTo>
                      <a:pt x="2966305" y="12663"/>
                    </a:lnTo>
                    <a:lnTo>
                      <a:pt x="2966279" y="12853"/>
                    </a:lnTo>
                    <a:lnTo>
                      <a:pt x="2966986" y="16510"/>
                    </a:lnTo>
                    <a:lnTo>
                      <a:pt x="2968701" y="19050"/>
                    </a:lnTo>
                    <a:lnTo>
                      <a:pt x="2969920" y="21936"/>
                    </a:lnTo>
                    <a:lnTo>
                      <a:pt x="2969882" y="21589"/>
                    </a:lnTo>
                    <a:lnTo>
                      <a:pt x="2969278" y="20217"/>
                    </a:lnTo>
                    <a:lnTo>
                      <a:pt x="2967342" y="13969"/>
                    </a:lnTo>
                    <a:lnTo>
                      <a:pt x="2970517" y="7619"/>
                    </a:lnTo>
                    <a:lnTo>
                      <a:pt x="2976793" y="5541"/>
                    </a:lnTo>
                    <a:lnTo>
                      <a:pt x="2973712" y="5218"/>
                    </a:lnTo>
                    <a:close/>
                  </a:path>
                  <a:path w="2992754" h="304800">
                    <a:moveTo>
                      <a:pt x="2982023" y="3810"/>
                    </a:moveTo>
                    <a:lnTo>
                      <a:pt x="2979714" y="4574"/>
                    </a:lnTo>
                    <a:lnTo>
                      <a:pt x="2982417" y="5080"/>
                    </a:lnTo>
                    <a:lnTo>
                      <a:pt x="2983191" y="6213"/>
                    </a:lnTo>
                    <a:lnTo>
                      <a:pt x="2984487" y="6350"/>
                    </a:lnTo>
                    <a:lnTo>
                      <a:pt x="2988654" y="12663"/>
                    </a:lnTo>
                    <a:lnTo>
                      <a:pt x="2988656" y="12853"/>
                    </a:lnTo>
                    <a:lnTo>
                      <a:pt x="2987613" y="20217"/>
                    </a:lnTo>
                    <a:lnTo>
                      <a:pt x="2987991" y="17780"/>
                    </a:lnTo>
                    <a:lnTo>
                      <a:pt x="2988904" y="11202"/>
                    </a:lnTo>
                    <a:lnTo>
                      <a:pt x="2988959" y="10010"/>
                    </a:lnTo>
                    <a:lnTo>
                      <a:pt x="2988633" y="9005"/>
                    </a:lnTo>
                    <a:lnTo>
                      <a:pt x="2987974" y="7491"/>
                    </a:lnTo>
                    <a:lnTo>
                      <a:pt x="2982023" y="3810"/>
                    </a:lnTo>
                    <a:close/>
                  </a:path>
                  <a:path w="2992754" h="304800">
                    <a:moveTo>
                      <a:pt x="2966033" y="14632"/>
                    </a:moveTo>
                    <a:lnTo>
                      <a:pt x="2965596" y="17780"/>
                    </a:lnTo>
                    <a:lnTo>
                      <a:pt x="2965524" y="18483"/>
                    </a:lnTo>
                    <a:lnTo>
                      <a:pt x="2966033" y="14632"/>
                    </a:lnTo>
                    <a:close/>
                  </a:path>
                  <a:path w="2992754" h="304800">
                    <a:moveTo>
                      <a:pt x="2966258" y="12743"/>
                    </a:moveTo>
                    <a:lnTo>
                      <a:pt x="2965538" y="17780"/>
                    </a:lnTo>
                    <a:lnTo>
                      <a:pt x="2965529" y="18269"/>
                    </a:lnTo>
                    <a:lnTo>
                      <a:pt x="2966267" y="12853"/>
                    </a:lnTo>
                    <a:close/>
                  </a:path>
                  <a:path w="2992754" h="304800">
                    <a:moveTo>
                      <a:pt x="2989070" y="10010"/>
                    </a:moveTo>
                    <a:lnTo>
                      <a:pt x="2989037" y="10248"/>
                    </a:lnTo>
                    <a:lnTo>
                      <a:pt x="2990759" y="15547"/>
                    </a:lnTo>
                    <a:lnTo>
                      <a:pt x="2989162" y="10248"/>
                    </a:lnTo>
                    <a:lnTo>
                      <a:pt x="2989070" y="10010"/>
                    </a:lnTo>
                    <a:close/>
                  </a:path>
                  <a:path w="2992754" h="304800">
                    <a:moveTo>
                      <a:pt x="2966508" y="11202"/>
                    </a:moveTo>
                    <a:lnTo>
                      <a:pt x="2966334" y="12210"/>
                    </a:lnTo>
                    <a:lnTo>
                      <a:pt x="2966272" y="12817"/>
                    </a:lnTo>
                    <a:lnTo>
                      <a:pt x="2966508" y="11202"/>
                    </a:lnTo>
                    <a:close/>
                  </a:path>
                  <a:path w="2992754" h="304800">
                    <a:moveTo>
                      <a:pt x="2972396" y="5080"/>
                    </a:moveTo>
                    <a:lnTo>
                      <a:pt x="2966920" y="8813"/>
                    </a:lnTo>
                    <a:lnTo>
                      <a:pt x="2966476" y="11430"/>
                    </a:lnTo>
                    <a:lnTo>
                      <a:pt x="2966305" y="12663"/>
                    </a:lnTo>
                    <a:lnTo>
                      <a:pt x="2967520" y="10160"/>
                    </a:lnTo>
                    <a:lnTo>
                      <a:pt x="2970453" y="7619"/>
                    </a:lnTo>
                    <a:lnTo>
                      <a:pt x="2973712" y="5218"/>
                    </a:lnTo>
                    <a:lnTo>
                      <a:pt x="2972396" y="5080"/>
                    </a:lnTo>
                    <a:close/>
                  </a:path>
                  <a:path w="2992754" h="304800">
                    <a:moveTo>
                      <a:pt x="2966830" y="8874"/>
                    </a:moveTo>
                    <a:lnTo>
                      <a:pt x="2966792" y="9005"/>
                    </a:lnTo>
                    <a:lnTo>
                      <a:pt x="2966334" y="12210"/>
                    </a:lnTo>
                    <a:lnTo>
                      <a:pt x="2966508" y="11202"/>
                    </a:lnTo>
                    <a:lnTo>
                      <a:pt x="2966830" y="8874"/>
                    </a:lnTo>
                    <a:close/>
                  </a:path>
                  <a:path w="2992754" h="304800">
                    <a:moveTo>
                      <a:pt x="2966920" y="8813"/>
                    </a:moveTo>
                    <a:lnTo>
                      <a:pt x="2966812" y="9005"/>
                    </a:lnTo>
                    <a:lnTo>
                      <a:pt x="2966508" y="11202"/>
                    </a:lnTo>
                    <a:lnTo>
                      <a:pt x="2966920" y="8813"/>
                    </a:lnTo>
                    <a:close/>
                  </a:path>
                  <a:path w="2992754" h="304800">
                    <a:moveTo>
                      <a:pt x="2988633" y="9005"/>
                    </a:moveTo>
                    <a:lnTo>
                      <a:pt x="2989037" y="10248"/>
                    </a:lnTo>
                    <a:lnTo>
                      <a:pt x="2989070" y="10010"/>
                    </a:lnTo>
                    <a:lnTo>
                      <a:pt x="2988633" y="9005"/>
                    </a:lnTo>
                    <a:close/>
                  </a:path>
                  <a:path w="2992754" h="304800">
                    <a:moveTo>
                      <a:pt x="2985211" y="1269"/>
                    </a:moveTo>
                    <a:lnTo>
                      <a:pt x="2983623" y="1269"/>
                    </a:lnTo>
                    <a:lnTo>
                      <a:pt x="2986925" y="5080"/>
                    </a:lnTo>
                    <a:lnTo>
                      <a:pt x="2987974" y="7491"/>
                    </a:lnTo>
                    <a:lnTo>
                      <a:pt x="2988183" y="7619"/>
                    </a:lnTo>
                    <a:lnTo>
                      <a:pt x="2988633" y="9005"/>
                    </a:lnTo>
                    <a:lnTo>
                      <a:pt x="2989070" y="10010"/>
                    </a:lnTo>
                    <a:lnTo>
                      <a:pt x="2989236" y="8813"/>
                    </a:lnTo>
                    <a:lnTo>
                      <a:pt x="2989317" y="7491"/>
                    </a:lnTo>
                    <a:lnTo>
                      <a:pt x="2985211" y="1269"/>
                    </a:lnTo>
                    <a:close/>
                  </a:path>
                  <a:path w="2992754" h="304800">
                    <a:moveTo>
                      <a:pt x="2987974" y="7491"/>
                    </a:moveTo>
                    <a:lnTo>
                      <a:pt x="2988633" y="9005"/>
                    </a:lnTo>
                    <a:lnTo>
                      <a:pt x="2988183" y="7619"/>
                    </a:lnTo>
                    <a:lnTo>
                      <a:pt x="2987974" y="7491"/>
                    </a:lnTo>
                    <a:close/>
                  </a:path>
                  <a:path w="2992754" h="304800">
                    <a:moveTo>
                      <a:pt x="2973133" y="0"/>
                    </a:moveTo>
                    <a:lnTo>
                      <a:pt x="2967532" y="3810"/>
                    </a:lnTo>
                    <a:lnTo>
                      <a:pt x="2966830" y="8874"/>
                    </a:lnTo>
                    <a:lnTo>
                      <a:pt x="2967126" y="7619"/>
                    </a:lnTo>
                    <a:lnTo>
                      <a:pt x="2968993" y="3810"/>
                    </a:lnTo>
                    <a:lnTo>
                      <a:pt x="2972803" y="1269"/>
                    </a:lnTo>
                    <a:lnTo>
                      <a:pt x="2985211" y="1269"/>
                    </a:lnTo>
                    <a:lnTo>
                      <a:pt x="2973133" y="0"/>
                    </a:lnTo>
                    <a:close/>
                  </a:path>
                  <a:path w="2992754" h="304800">
                    <a:moveTo>
                      <a:pt x="2983623" y="1269"/>
                    </a:moveTo>
                    <a:lnTo>
                      <a:pt x="2972803" y="1269"/>
                    </a:lnTo>
                    <a:lnTo>
                      <a:pt x="2968993" y="3810"/>
                    </a:lnTo>
                    <a:lnTo>
                      <a:pt x="2967126" y="7619"/>
                    </a:lnTo>
                    <a:lnTo>
                      <a:pt x="2966920" y="8813"/>
                    </a:lnTo>
                    <a:lnTo>
                      <a:pt x="2972396" y="5080"/>
                    </a:lnTo>
                    <a:lnTo>
                      <a:pt x="2973899" y="5080"/>
                    </a:lnTo>
                    <a:lnTo>
                      <a:pt x="2975622" y="3810"/>
                    </a:lnTo>
                    <a:lnTo>
                      <a:pt x="2985825" y="3810"/>
                    </a:lnTo>
                    <a:lnTo>
                      <a:pt x="2983623" y="1269"/>
                    </a:lnTo>
                    <a:close/>
                  </a:path>
                  <a:path w="2992754" h="304800">
                    <a:moveTo>
                      <a:pt x="2985825" y="3810"/>
                    </a:moveTo>
                    <a:lnTo>
                      <a:pt x="2982023" y="3810"/>
                    </a:lnTo>
                    <a:lnTo>
                      <a:pt x="2987974" y="7491"/>
                    </a:lnTo>
                    <a:lnTo>
                      <a:pt x="2986925" y="5080"/>
                    </a:lnTo>
                    <a:lnTo>
                      <a:pt x="2985825" y="3810"/>
                    </a:lnTo>
                    <a:close/>
                  </a:path>
                  <a:path w="2992754" h="304800">
                    <a:moveTo>
                      <a:pt x="2979714" y="4574"/>
                    </a:moveTo>
                    <a:lnTo>
                      <a:pt x="2976793" y="5541"/>
                    </a:lnTo>
                    <a:lnTo>
                      <a:pt x="2983191" y="6213"/>
                    </a:lnTo>
                    <a:lnTo>
                      <a:pt x="2982417" y="5080"/>
                    </a:lnTo>
                    <a:lnTo>
                      <a:pt x="2979714" y="4574"/>
                    </a:lnTo>
                    <a:close/>
                  </a:path>
                  <a:path w="2992754" h="304800">
                    <a:moveTo>
                      <a:pt x="2975622" y="3810"/>
                    </a:moveTo>
                    <a:lnTo>
                      <a:pt x="2973712" y="5218"/>
                    </a:lnTo>
                    <a:lnTo>
                      <a:pt x="2976793" y="5541"/>
                    </a:lnTo>
                    <a:lnTo>
                      <a:pt x="2979714" y="4574"/>
                    </a:lnTo>
                    <a:lnTo>
                      <a:pt x="2975622" y="3810"/>
                    </a:lnTo>
                    <a:close/>
                  </a:path>
                  <a:path w="2992754" h="304800">
                    <a:moveTo>
                      <a:pt x="2973899" y="5080"/>
                    </a:moveTo>
                    <a:lnTo>
                      <a:pt x="2972396" y="5080"/>
                    </a:lnTo>
                    <a:lnTo>
                      <a:pt x="2973712" y="5218"/>
                    </a:lnTo>
                    <a:lnTo>
                      <a:pt x="2973899" y="5080"/>
                    </a:lnTo>
                    <a:close/>
                  </a:path>
                  <a:path w="2992754" h="304800">
                    <a:moveTo>
                      <a:pt x="2982023" y="3810"/>
                    </a:moveTo>
                    <a:lnTo>
                      <a:pt x="2975622" y="3810"/>
                    </a:lnTo>
                    <a:lnTo>
                      <a:pt x="2979714" y="4574"/>
                    </a:lnTo>
                    <a:lnTo>
                      <a:pt x="2982023" y="3810"/>
                    </a:lnTo>
                    <a:close/>
                  </a:path>
                </a:pathLst>
              </a:custGeom>
              <a:solidFill>
                <a:srgbClr val="007AFF"/>
              </a:solidFill>
            </p:spPr>
            <p:txBody>
              <a:bodyPr wrap="square" lIns="0" tIns="0" rIns="0" bIns="0" rtlCol="0"/>
              <a:lstStyle/>
              <a:p>
                <a:endParaRPr sz="2388"/>
              </a:p>
            </p:txBody>
          </p:sp>
          <p:pic>
            <p:nvPicPr>
              <p:cNvPr id="13316" name="object 24">
                <a:extLst>
                  <a:ext uri="{FF2B5EF4-FFF2-40B4-BE49-F238E27FC236}">
                    <a16:creationId xmlns:a16="http://schemas.microsoft.com/office/drawing/2014/main" id="{D278FF9C-CEFE-F275-A761-94AA30D5336F}"/>
                  </a:ext>
                </a:extLst>
              </p:cNvPr>
              <p:cNvPicPr/>
              <p:nvPr/>
            </p:nvPicPr>
            <p:blipFill>
              <a:blip r:embed="rId15" cstate="print"/>
              <a:stretch>
                <a:fillRect/>
              </a:stretch>
            </p:blipFill>
            <p:spPr>
              <a:xfrm>
                <a:off x="5481650" y="2590533"/>
                <a:ext cx="451497" cy="422909"/>
              </a:xfrm>
              <a:prstGeom prst="rect">
                <a:avLst/>
              </a:prstGeom>
            </p:spPr>
          </p:pic>
          <p:pic>
            <p:nvPicPr>
              <p:cNvPr id="13317" name="object 25">
                <a:extLst>
                  <a:ext uri="{FF2B5EF4-FFF2-40B4-BE49-F238E27FC236}">
                    <a16:creationId xmlns:a16="http://schemas.microsoft.com/office/drawing/2014/main" id="{6260500D-DD5A-8E6C-DA25-D20DC6F330EA}"/>
                  </a:ext>
                </a:extLst>
              </p:cNvPr>
              <p:cNvPicPr/>
              <p:nvPr/>
            </p:nvPicPr>
            <p:blipFill>
              <a:blip r:embed="rId16" cstate="print"/>
              <a:stretch>
                <a:fillRect/>
              </a:stretch>
            </p:blipFill>
            <p:spPr>
              <a:xfrm>
                <a:off x="5998667" y="2621203"/>
                <a:ext cx="548628" cy="389775"/>
              </a:xfrm>
              <a:prstGeom prst="rect">
                <a:avLst/>
              </a:prstGeom>
            </p:spPr>
          </p:pic>
          <p:pic>
            <p:nvPicPr>
              <p:cNvPr id="13318" name="object 26">
                <a:extLst>
                  <a:ext uri="{FF2B5EF4-FFF2-40B4-BE49-F238E27FC236}">
                    <a16:creationId xmlns:a16="http://schemas.microsoft.com/office/drawing/2014/main" id="{29A48B46-DBA9-DE3A-5511-EBD0F7E8C7BC}"/>
                  </a:ext>
                </a:extLst>
              </p:cNvPr>
              <p:cNvPicPr/>
              <p:nvPr/>
            </p:nvPicPr>
            <p:blipFill>
              <a:blip r:embed="rId17" cstate="print"/>
              <a:stretch>
                <a:fillRect/>
              </a:stretch>
            </p:blipFill>
            <p:spPr>
              <a:xfrm>
                <a:off x="6697230" y="2595625"/>
                <a:ext cx="87084" cy="290347"/>
              </a:xfrm>
              <a:prstGeom prst="rect">
                <a:avLst/>
              </a:prstGeom>
            </p:spPr>
          </p:pic>
          <p:pic>
            <p:nvPicPr>
              <p:cNvPr id="13319" name="object 27">
                <a:extLst>
                  <a:ext uri="{FF2B5EF4-FFF2-40B4-BE49-F238E27FC236}">
                    <a16:creationId xmlns:a16="http://schemas.microsoft.com/office/drawing/2014/main" id="{F689AE05-37DE-FFE9-DBDB-A288A744653E}"/>
                  </a:ext>
                </a:extLst>
              </p:cNvPr>
              <p:cNvPicPr/>
              <p:nvPr/>
            </p:nvPicPr>
            <p:blipFill>
              <a:blip r:embed="rId18" cstate="print"/>
              <a:stretch>
                <a:fillRect/>
              </a:stretch>
            </p:blipFill>
            <p:spPr>
              <a:xfrm>
                <a:off x="6922617" y="2549232"/>
                <a:ext cx="595299" cy="442087"/>
              </a:xfrm>
              <a:prstGeom prst="rect">
                <a:avLst/>
              </a:prstGeom>
            </p:spPr>
          </p:pic>
        </p:grpSp>
      </p:grpSp>
      <p:sp>
        <p:nvSpPr>
          <p:cNvPr id="5" name="Parallelogram 4">
            <a:extLst>
              <a:ext uri="{FF2B5EF4-FFF2-40B4-BE49-F238E27FC236}">
                <a16:creationId xmlns:a16="http://schemas.microsoft.com/office/drawing/2014/main" id="{E6423253-0205-3196-06F1-98C71A78BF87}"/>
              </a:ext>
            </a:extLst>
          </p:cNvPr>
          <p:cNvSpPr/>
          <p:nvPr/>
        </p:nvSpPr>
        <p:spPr>
          <a:xfrm>
            <a:off x="8119215" y="3640035"/>
            <a:ext cx="2387531" cy="875187"/>
          </a:xfrm>
          <a:prstGeom prst="parallelogram">
            <a:avLst>
              <a:gd name="adj" fmla="val 5718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0B11CE3-4E17-649D-D5A9-4108B91EDD00}"/>
              </a:ext>
            </a:extLst>
          </p:cNvPr>
          <p:cNvGrpSpPr/>
          <p:nvPr/>
        </p:nvGrpSpPr>
        <p:grpSpPr>
          <a:xfrm>
            <a:off x="10259079" y="2717682"/>
            <a:ext cx="1674176" cy="1494379"/>
            <a:chOff x="9739269" y="1314490"/>
            <a:chExt cx="1674176" cy="1494379"/>
          </a:xfrm>
        </p:grpSpPr>
        <p:sp>
          <p:nvSpPr>
            <p:cNvPr id="24" name="Trapezoid 23">
              <a:extLst>
                <a:ext uri="{FF2B5EF4-FFF2-40B4-BE49-F238E27FC236}">
                  <a16:creationId xmlns:a16="http://schemas.microsoft.com/office/drawing/2014/main" id="{61232D49-6842-6F69-07B1-46E38AE1C89D}"/>
                </a:ext>
              </a:extLst>
            </p:cNvPr>
            <p:cNvSpPr/>
            <p:nvPr/>
          </p:nvSpPr>
          <p:spPr>
            <a:xfrm rot="16200000">
              <a:off x="10377972" y="1773396"/>
              <a:ext cx="1494379" cy="576567"/>
            </a:xfrm>
            <a:prstGeom prst="trapezoid">
              <a:avLst>
                <a:gd name="adj" fmla="val 46698"/>
              </a:avLst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BAE1540-0D95-4117-7EC9-FBCBAC7AC70C}"/>
                </a:ext>
              </a:extLst>
            </p:cNvPr>
            <p:cNvSpPr txBox="1"/>
            <p:nvPr/>
          </p:nvSpPr>
          <p:spPr>
            <a:xfrm rot="16200000">
              <a:off x="10564355" y="1877013"/>
              <a:ext cx="11544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Decoder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5566FC71-04C8-9009-88C4-20D177FCF94D}"/>
                </a:ext>
              </a:extLst>
            </p:cNvPr>
            <p:cNvCxnSpPr>
              <a:cxnSpLocks/>
            </p:cNvCxnSpPr>
            <p:nvPr/>
          </p:nvCxnSpPr>
          <p:spPr>
            <a:xfrm>
              <a:off x="9739269" y="2053102"/>
              <a:ext cx="1025148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02CEA757-F0F5-7ADE-2450-CEEC80ADAA77}"/>
              </a:ext>
            </a:extLst>
          </p:cNvPr>
          <p:cNvSpPr txBox="1"/>
          <p:nvPr/>
        </p:nvSpPr>
        <p:spPr>
          <a:xfrm>
            <a:off x="9139275" y="4505534"/>
            <a:ext cx="8771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 Rounded MT Bold" panose="020F0704030504030204" pitchFamily="34" charset="77"/>
              </a:rPr>
              <a:t>Z space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423D08E-31F2-DCBB-BDE6-0290011BE14F}"/>
              </a:ext>
            </a:extLst>
          </p:cNvPr>
          <p:cNvGrpSpPr/>
          <p:nvPr/>
        </p:nvGrpSpPr>
        <p:grpSpPr>
          <a:xfrm>
            <a:off x="8011133" y="3042962"/>
            <a:ext cx="2571064" cy="1370702"/>
            <a:chOff x="1133247" y="4882932"/>
            <a:chExt cx="3443895" cy="1370702"/>
          </a:xfrm>
        </p:grpSpPr>
        <p:pic>
          <p:nvPicPr>
            <p:cNvPr id="35" name="Picture 34" descr="Gaussian filter, or Gaussian blur — Librow — Digital LCD dashboards for  cars and boats">
              <a:extLst>
                <a:ext uri="{FF2B5EF4-FFF2-40B4-BE49-F238E27FC236}">
                  <a16:creationId xmlns:a16="http://schemas.microsoft.com/office/drawing/2014/main" id="{436945F3-03FE-AF1B-F064-BEABDD040F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3247" y="5063200"/>
              <a:ext cx="1561429" cy="11355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Picture 35" descr="Gaussian filter, or Gaussian blur — Librow — Digital LCD dashboards for  cars and boats">
              <a:extLst>
                <a:ext uri="{FF2B5EF4-FFF2-40B4-BE49-F238E27FC236}">
                  <a16:creationId xmlns:a16="http://schemas.microsoft.com/office/drawing/2014/main" id="{EA37228E-FAD8-6607-970C-E7185D2A10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67215" y="4882932"/>
              <a:ext cx="1229691" cy="11355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" name="Picture 37" descr="Gaussian filter, or Gaussian blur — Librow — Digital LCD dashboards for  cars and boats">
              <a:extLst>
                <a:ext uri="{FF2B5EF4-FFF2-40B4-BE49-F238E27FC236}">
                  <a16:creationId xmlns:a16="http://schemas.microsoft.com/office/drawing/2014/main" id="{99D995C7-B7D9-8307-FF9B-08C51BBC63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01782" y="5041998"/>
              <a:ext cx="1975360" cy="8173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321" name="Picture 13320" descr="Gaussian filter, or Gaussian blur — Librow — Digital LCD dashboards for  cars and boats">
              <a:extLst>
                <a:ext uri="{FF2B5EF4-FFF2-40B4-BE49-F238E27FC236}">
                  <a16:creationId xmlns:a16="http://schemas.microsoft.com/office/drawing/2014/main" id="{B5F39B7E-85BA-472D-EAFC-656FA251EF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89668" y="5696015"/>
              <a:ext cx="2160855" cy="5576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3332" name="Group 13331">
            <a:extLst>
              <a:ext uri="{FF2B5EF4-FFF2-40B4-BE49-F238E27FC236}">
                <a16:creationId xmlns:a16="http://schemas.microsoft.com/office/drawing/2014/main" id="{40259CA8-9A1D-31E7-5B96-5A51CD899CE5}"/>
              </a:ext>
            </a:extLst>
          </p:cNvPr>
          <p:cNvGrpSpPr/>
          <p:nvPr/>
        </p:nvGrpSpPr>
        <p:grpSpPr>
          <a:xfrm>
            <a:off x="132119" y="1253056"/>
            <a:ext cx="5259057" cy="1284649"/>
            <a:chOff x="274081" y="4108302"/>
            <a:chExt cx="5259057" cy="1284649"/>
          </a:xfrm>
        </p:grpSpPr>
        <p:pic>
          <p:nvPicPr>
            <p:cNvPr id="13333" name="object 3">
              <a:extLst>
                <a:ext uri="{FF2B5EF4-FFF2-40B4-BE49-F238E27FC236}">
                  <a16:creationId xmlns:a16="http://schemas.microsoft.com/office/drawing/2014/main" id="{CC3CC309-C75E-9D8C-A578-364C7B7AB12C}"/>
                </a:ext>
              </a:extLst>
            </p:cNvPr>
            <p:cNvPicPr/>
            <p:nvPr/>
          </p:nvPicPr>
          <p:blipFill rotWithShape="1">
            <a:blip r:embed="rId20" cstate="print"/>
            <a:srcRect l="26650" t="1954"/>
            <a:stretch/>
          </p:blipFill>
          <p:spPr>
            <a:xfrm>
              <a:off x="1555825" y="4784712"/>
              <a:ext cx="3870643" cy="608239"/>
            </a:xfrm>
            <a:prstGeom prst="rect">
              <a:avLst/>
            </a:prstGeom>
          </p:spPr>
        </p:pic>
        <p:sp>
          <p:nvSpPr>
            <p:cNvPr id="13334" name="TextBox 13333">
              <a:extLst>
                <a:ext uri="{FF2B5EF4-FFF2-40B4-BE49-F238E27FC236}">
                  <a16:creationId xmlns:a16="http://schemas.microsoft.com/office/drawing/2014/main" id="{07779A6A-843F-526B-2192-4D16F52D8A67}"/>
                </a:ext>
              </a:extLst>
            </p:cNvPr>
            <p:cNvSpPr txBox="1"/>
            <p:nvPr/>
          </p:nvSpPr>
          <p:spPr>
            <a:xfrm>
              <a:off x="274081" y="4108302"/>
              <a:ext cx="52590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 Rounded MT Bold" panose="020F0704030504030204" pitchFamily="34" charset="77"/>
                  <a:sym typeface="Wingdings" pitchFamily="2" charset="2"/>
                </a:rPr>
                <a:t>Maximize Expected ELBO over all data points</a:t>
              </a:r>
              <a:endParaRPr lang="en-US" dirty="0">
                <a:solidFill>
                  <a:srgbClr val="C00000"/>
                </a:solidFill>
                <a:latin typeface="Arial Rounded MT Bold" panose="020F0704030504030204" pitchFamily="34" charset="77"/>
              </a:endParaRPr>
            </a:p>
          </p:txBody>
        </p:sp>
        <p:cxnSp>
          <p:nvCxnSpPr>
            <p:cNvPr id="13335" name="Straight Arrow Connector 13334">
              <a:extLst>
                <a:ext uri="{FF2B5EF4-FFF2-40B4-BE49-F238E27FC236}">
                  <a16:creationId xmlns:a16="http://schemas.microsoft.com/office/drawing/2014/main" id="{0BFF7CCC-9EAF-BB28-E2AF-B90B654210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03857" y="4466774"/>
              <a:ext cx="308257" cy="377793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342" name="TextBox 13341">
            <a:extLst>
              <a:ext uri="{FF2B5EF4-FFF2-40B4-BE49-F238E27FC236}">
                <a16:creationId xmlns:a16="http://schemas.microsoft.com/office/drawing/2014/main" id="{EC80A36F-1826-EDFF-9E2F-93B736087365}"/>
              </a:ext>
            </a:extLst>
          </p:cNvPr>
          <p:cNvSpPr txBox="1"/>
          <p:nvPr/>
        </p:nvSpPr>
        <p:spPr>
          <a:xfrm>
            <a:off x="4185673" y="4741765"/>
            <a:ext cx="3747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KL = Cross entropy   –    entropy </a:t>
            </a:r>
          </a:p>
        </p:txBody>
      </p:sp>
      <p:cxnSp>
        <p:nvCxnSpPr>
          <p:cNvPr id="13343" name="Straight Arrow Connector 13342">
            <a:extLst>
              <a:ext uri="{FF2B5EF4-FFF2-40B4-BE49-F238E27FC236}">
                <a16:creationId xmlns:a16="http://schemas.microsoft.com/office/drawing/2014/main" id="{490EF3E0-EAB3-1FDC-FB64-91F28BD405D2}"/>
              </a:ext>
            </a:extLst>
          </p:cNvPr>
          <p:cNvCxnSpPr>
            <a:cxnSpLocks/>
          </p:cNvCxnSpPr>
          <p:nvPr/>
        </p:nvCxnSpPr>
        <p:spPr>
          <a:xfrm flipH="1">
            <a:off x="4411224" y="4220311"/>
            <a:ext cx="7318" cy="450543"/>
          </a:xfrm>
          <a:prstGeom prst="straightConnector1">
            <a:avLst/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6" descr="Gaussian filter, or Gaussian blur — Librow — Digital LCD dashboards for  cars and boats">
            <a:extLst>
              <a:ext uri="{FF2B5EF4-FFF2-40B4-BE49-F238E27FC236}">
                <a16:creationId xmlns:a16="http://schemas.microsoft.com/office/drawing/2014/main" id="{E470DB3F-B12C-A647-19AF-E28E7792B2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35000"/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5689" y="2038318"/>
            <a:ext cx="2387532" cy="2533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344" name="Group 13343">
            <a:extLst>
              <a:ext uri="{FF2B5EF4-FFF2-40B4-BE49-F238E27FC236}">
                <a16:creationId xmlns:a16="http://schemas.microsoft.com/office/drawing/2014/main" id="{FBAD9B80-61CB-A0D6-42FC-0A00C7AD9696}"/>
              </a:ext>
            </a:extLst>
          </p:cNvPr>
          <p:cNvGrpSpPr/>
          <p:nvPr/>
        </p:nvGrpSpPr>
        <p:grpSpPr>
          <a:xfrm>
            <a:off x="6991125" y="2717682"/>
            <a:ext cx="1291942" cy="1494379"/>
            <a:chOff x="6991125" y="2717682"/>
            <a:chExt cx="1291942" cy="1494379"/>
          </a:xfrm>
        </p:grpSpPr>
        <p:grpSp>
          <p:nvGrpSpPr>
            <p:cNvPr id="13345" name="Group 13344">
              <a:extLst>
                <a:ext uri="{FF2B5EF4-FFF2-40B4-BE49-F238E27FC236}">
                  <a16:creationId xmlns:a16="http://schemas.microsoft.com/office/drawing/2014/main" id="{9157154C-FCEA-BF51-F8AC-04C3D33A1A3A}"/>
                </a:ext>
              </a:extLst>
            </p:cNvPr>
            <p:cNvGrpSpPr/>
            <p:nvPr/>
          </p:nvGrpSpPr>
          <p:grpSpPr>
            <a:xfrm>
              <a:off x="6991125" y="2717682"/>
              <a:ext cx="576567" cy="1494379"/>
              <a:chOff x="7199047" y="4033850"/>
              <a:chExt cx="576567" cy="1494379"/>
            </a:xfrm>
          </p:grpSpPr>
          <p:sp>
            <p:nvSpPr>
              <p:cNvPr id="13347" name="Trapezoid 13346">
                <a:extLst>
                  <a:ext uri="{FF2B5EF4-FFF2-40B4-BE49-F238E27FC236}">
                    <a16:creationId xmlns:a16="http://schemas.microsoft.com/office/drawing/2014/main" id="{13830A6E-C97B-2AF8-DFDD-ED62A2130DF2}"/>
                  </a:ext>
                </a:extLst>
              </p:cNvPr>
              <p:cNvSpPr/>
              <p:nvPr/>
            </p:nvSpPr>
            <p:spPr>
              <a:xfrm rot="5400000">
                <a:off x="6740141" y="4492756"/>
                <a:ext cx="1494379" cy="576567"/>
              </a:xfrm>
              <a:prstGeom prst="trapezoid">
                <a:avLst>
                  <a:gd name="adj" fmla="val 46698"/>
                </a:avLst>
              </a:prstGeom>
              <a:solidFill>
                <a:schemeClr val="bg1">
                  <a:lumMod val="6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348" name="TextBox 13347">
                <a:extLst>
                  <a:ext uri="{FF2B5EF4-FFF2-40B4-BE49-F238E27FC236}">
                    <a16:creationId xmlns:a16="http://schemas.microsoft.com/office/drawing/2014/main" id="{0B169528-EF31-D67B-B075-BF3CEBA48E0A}"/>
                  </a:ext>
                </a:extLst>
              </p:cNvPr>
              <p:cNvSpPr txBox="1"/>
              <p:nvPr/>
            </p:nvSpPr>
            <p:spPr>
              <a:xfrm rot="5400000">
                <a:off x="6934539" y="4596373"/>
                <a:ext cx="11384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 Rounded MT Bold" panose="020F0704030504030204" pitchFamily="34" charset="77"/>
                  </a:rPr>
                  <a:t>Encoder</a:t>
                </a:r>
              </a:p>
            </p:txBody>
          </p:sp>
        </p:grpSp>
        <p:cxnSp>
          <p:nvCxnSpPr>
            <p:cNvPr id="13346" name="Straight Arrow Connector 13345">
              <a:extLst>
                <a:ext uri="{FF2B5EF4-FFF2-40B4-BE49-F238E27FC236}">
                  <a16:creationId xmlns:a16="http://schemas.microsoft.com/office/drawing/2014/main" id="{75F301B0-8755-EBA8-33B0-963E63D916C1}"/>
                </a:ext>
              </a:extLst>
            </p:cNvPr>
            <p:cNvCxnSpPr>
              <a:cxnSpLocks/>
            </p:cNvCxnSpPr>
            <p:nvPr/>
          </p:nvCxnSpPr>
          <p:spPr>
            <a:xfrm>
              <a:off x="7567692" y="3414610"/>
              <a:ext cx="715375" cy="450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202824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95E9F7A-7FA3-60B8-CAF1-C902E1FC5A86}"/>
              </a:ext>
            </a:extLst>
          </p:cNvPr>
          <p:cNvSpPr/>
          <p:nvPr/>
        </p:nvSpPr>
        <p:spPr>
          <a:xfrm>
            <a:off x="9107478" y="5551359"/>
            <a:ext cx="2577213" cy="114571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0BC90D3-EDE2-D297-C0B1-8425F4F1E6FA}"/>
              </a:ext>
            </a:extLst>
          </p:cNvPr>
          <p:cNvSpPr/>
          <p:nvPr/>
        </p:nvSpPr>
        <p:spPr>
          <a:xfrm>
            <a:off x="5304194" y="5551359"/>
            <a:ext cx="3176619" cy="112812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53206D0-882F-6CCD-69B0-F158CC32C995}"/>
              </a:ext>
            </a:extLst>
          </p:cNvPr>
          <p:cNvSpPr/>
          <p:nvPr/>
        </p:nvSpPr>
        <p:spPr>
          <a:xfrm>
            <a:off x="507309" y="5551361"/>
            <a:ext cx="4373610" cy="110909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object 2">
            <a:extLst>
              <a:ext uri="{FF2B5EF4-FFF2-40B4-BE49-F238E27FC236}">
                <a16:creationId xmlns:a16="http://schemas.microsoft.com/office/drawing/2014/main" id="{340163AF-8498-94E6-B1B3-CB88D9D612B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7444" y="169694"/>
            <a:ext cx="2335325" cy="44712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9356C35-25E9-EF17-694F-722A5843C2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575" y="670162"/>
            <a:ext cx="5642077" cy="552924"/>
          </a:xfrm>
          <a:prstGeom prst="rect">
            <a:avLst/>
          </a:prstGeom>
        </p:spPr>
      </p:pic>
      <p:grpSp>
        <p:nvGrpSpPr>
          <p:cNvPr id="13320" name="Group 13319">
            <a:extLst>
              <a:ext uri="{FF2B5EF4-FFF2-40B4-BE49-F238E27FC236}">
                <a16:creationId xmlns:a16="http://schemas.microsoft.com/office/drawing/2014/main" id="{66FA0791-8D3B-FA8A-C3FD-AD88B261A045}"/>
              </a:ext>
            </a:extLst>
          </p:cNvPr>
          <p:cNvGrpSpPr/>
          <p:nvPr/>
        </p:nvGrpSpPr>
        <p:grpSpPr>
          <a:xfrm rot="183999">
            <a:off x="239121" y="2519930"/>
            <a:ext cx="6403626" cy="1873278"/>
            <a:chOff x="2765151" y="2055714"/>
            <a:chExt cx="8224629" cy="2209354"/>
          </a:xfrm>
        </p:grpSpPr>
        <p:pic>
          <p:nvPicPr>
            <p:cNvPr id="39" name="object 8">
              <a:extLst>
                <a:ext uri="{FF2B5EF4-FFF2-40B4-BE49-F238E27FC236}">
                  <a16:creationId xmlns:a16="http://schemas.microsoft.com/office/drawing/2014/main" id="{35696728-CBA5-9AAA-C6C9-9EA2F4AE1EB7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91133" y="2673776"/>
              <a:ext cx="1009472" cy="485114"/>
            </a:xfrm>
            <a:prstGeom prst="rect">
              <a:avLst/>
            </a:prstGeom>
          </p:spPr>
        </p:pic>
        <p:pic>
          <p:nvPicPr>
            <p:cNvPr id="40" name="object 9">
              <a:extLst>
                <a:ext uri="{FF2B5EF4-FFF2-40B4-BE49-F238E27FC236}">
                  <a16:creationId xmlns:a16="http://schemas.microsoft.com/office/drawing/2014/main" id="{D8A96817-6FB5-7F28-E6F5-EA66627E94F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22576" y="2568885"/>
              <a:ext cx="1563252" cy="566147"/>
            </a:xfrm>
            <a:prstGeom prst="rect">
              <a:avLst/>
            </a:prstGeom>
          </p:spPr>
        </p:pic>
        <p:pic>
          <p:nvPicPr>
            <p:cNvPr id="41" name="object 10">
              <a:extLst>
                <a:ext uri="{FF2B5EF4-FFF2-40B4-BE49-F238E27FC236}">
                  <a16:creationId xmlns:a16="http://schemas.microsoft.com/office/drawing/2014/main" id="{9B440848-D7CA-7314-DED2-E35D056A8D4D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25195" y="2554630"/>
              <a:ext cx="688239" cy="449831"/>
            </a:xfrm>
            <a:prstGeom prst="rect">
              <a:avLst/>
            </a:prstGeom>
          </p:spPr>
        </p:pic>
        <p:pic>
          <p:nvPicPr>
            <p:cNvPr id="42" name="object 11">
              <a:extLst>
                <a:ext uri="{FF2B5EF4-FFF2-40B4-BE49-F238E27FC236}">
                  <a16:creationId xmlns:a16="http://schemas.microsoft.com/office/drawing/2014/main" id="{D23D6053-BCDA-C7DC-0D73-25597A1217F2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92690" y="2623075"/>
              <a:ext cx="166226" cy="36817"/>
            </a:xfrm>
            <a:prstGeom prst="rect">
              <a:avLst/>
            </a:prstGeom>
          </p:spPr>
        </p:pic>
        <p:pic>
          <p:nvPicPr>
            <p:cNvPr id="43" name="object 12">
              <a:extLst>
                <a:ext uri="{FF2B5EF4-FFF2-40B4-BE49-F238E27FC236}">
                  <a16:creationId xmlns:a16="http://schemas.microsoft.com/office/drawing/2014/main" id="{7600A0CD-B7B9-36D1-F391-14DFD0C4F658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930867" y="2545801"/>
              <a:ext cx="997714" cy="527256"/>
            </a:xfrm>
            <a:prstGeom prst="rect">
              <a:avLst/>
            </a:prstGeom>
          </p:spPr>
        </p:pic>
        <p:grpSp>
          <p:nvGrpSpPr>
            <p:cNvPr id="44" name="object 13">
              <a:extLst>
                <a:ext uri="{FF2B5EF4-FFF2-40B4-BE49-F238E27FC236}">
                  <a16:creationId xmlns:a16="http://schemas.microsoft.com/office/drawing/2014/main" id="{579603E2-E0B5-43EA-6F73-349BF1F26D80}"/>
                </a:ext>
              </a:extLst>
            </p:cNvPr>
            <p:cNvGrpSpPr/>
            <p:nvPr/>
          </p:nvGrpSpPr>
          <p:grpSpPr>
            <a:xfrm>
              <a:off x="8113136" y="2055714"/>
              <a:ext cx="2686751" cy="927599"/>
              <a:chOff x="5654173" y="1549399"/>
              <a:chExt cx="2025014" cy="699135"/>
            </a:xfrm>
          </p:grpSpPr>
          <p:pic>
            <p:nvPicPr>
              <p:cNvPr id="45" name="object 14">
                <a:extLst>
                  <a:ext uri="{FF2B5EF4-FFF2-40B4-BE49-F238E27FC236}">
                    <a16:creationId xmlns:a16="http://schemas.microsoft.com/office/drawing/2014/main" id="{907B7E3D-2872-6C60-1256-70F4CBF05D21}"/>
                  </a:ext>
                </a:extLst>
              </p:cNvPr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5654173" y="1751113"/>
                <a:ext cx="1239631" cy="471601"/>
              </a:xfrm>
              <a:prstGeom prst="rect">
                <a:avLst/>
              </a:prstGeom>
            </p:spPr>
          </p:pic>
          <p:pic>
            <p:nvPicPr>
              <p:cNvPr id="46" name="object 15">
                <a:extLst>
                  <a:ext uri="{FF2B5EF4-FFF2-40B4-BE49-F238E27FC236}">
                    <a16:creationId xmlns:a16="http://schemas.microsoft.com/office/drawing/2014/main" id="{0C81E527-5DFD-B9C1-0E64-F3A95A266704}"/>
                  </a:ext>
                </a:extLst>
              </p:cNvPr>
              <p:cNvPicPr/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6926935" y="1549399"/>
                <a:ext cx="752055" cy="699008"/>
              </a:xfrm>
              <a:prstGeom prst="rect">
                <a:avLst/>
              </a:prstGeom>
            </p:spPr>
          </p:pic>
        </p:grpSp>
        <p:sp>
          <p:nvSpPr>
            <p:cNvPr id="47" name="object 16">
              <a:extLst>
                <a:ext uri="{FF2B5EF4-FFF2-40B4-BE49-F238E27FC236}">
                  <a16:creationId xmlns:a16="http://schemas.microsoft.com/office/drawing/2014/main" id="{2B3D722B-1465-BB42-E979-4548DF9BD369}"/>
                </a:ext>
              </a:extLst>
            </p:cNvPr>
            <p:cNvSpPr/>
            <p:nvPr/>
          </p:nvSpPr>
          <p:spPr>
            <a:xfrm>
              <a:off x="2765151" y="3124630"/>
              <a:ext cx="3836773" cy="411143"/>
            </a:xfrm>
            <a:custGeom>
              <a:avLst/>
              <a:gdLst/>
              <a:ahLst/>
              <a:cxnLst/>
              <a:rect l="l" t="t" r="r" b="b"/>
              <a:pathLst>
                <a:path w="2891790" h="309880">
                  <a:moveTo>
                    <a:pt x="35433" y="292100"/>
                  </a:moveTo>
                  <a:lnTo>
                    <a:pt x="32996" y="294428"/>
                  </a:lnTo>
                  <a:lnTo>
                    <a:pt x="33528" y="297180"/>
                  </a:lnTo>
                  <a:lnTo>
                    <a:pt x="30375" y="302808"/>
                  </a:lnTo>
                  <a:lnTo>
                    <a:pt x="30264" y="303530"/>
                  </a:lnTo>
                  <a:lnTo>
                    <a:pt x="32636" y="307568"/>
                  </a:lnTo>
                  <a:lnTo>
                    <a:pt x="41846" y="309880"/>
                  </a:lnTo>
                  <a:lnTo>
                    <a:pt x="41991" y="309742"/>
                  </a:lnTo>
                  <a:lnTo>
                    <a:pt x="37528" y="308610"/>
                  </a:lnTo>
                  <a:lnTo>
                    <a:pt x="43184" y="308610"/>
                  </a:lnTo>
                  <a:lnTo>
                    <a:pt x="45859" y="306069"/>
                  </a:lnTo>
                  <a:lnTo>
                    <a:pt x="47129" y="297180"/>
                  </a:lnTo>
                  <a:lnTo>
                    <a:pt x="44145" y="293369"/>
                  </a:lnTo>
                  <a:lnTo>
                    <a:pt x="39801" y="293369"/>
                  </a:lnTo>
                  <a:lnTo>
                    <a:pt x="36667" y="292277"/>
                  </a:lnTo>
                  <a:lnTo>
                    <a:pt x="35433" y="292100"/>
                  </a:lnTo>
                  <a:close/>
                </a:path>
                <a:path w="2891790" h="309880">
                  <a:moveTo>
                    <a:pt x="48806" y="293369"/>
                  </a:moveTo>
                  <a:lnTo>
                    <a:pt x="44145" y="293369"/>
                  </a:lnTo>
                  <a:lnTo>
                    <a:pt x="47129" y="297180"/>
                  </a:lnTo>
                  <a:lnTo>
                    <a:pt x="45859" y="306069"/>
                  </a:lnTo>
                  <a:lnTo>
                    <a:pt x="41991" y="309742"/>
                  </a:lnTo>
                  <a:lnTo>
                    <a:pt x="42532" y="309880"/>
                  </a:lnTo>
                  <a:lnTo>
                    <a:pt x="73190" y="309880"/>
                  </a:lnTo>
                  <a:lnTo>
                    <a:pt x="69646" y="307340"/>
                  </a:lnTo>
                  <a:lnTo>
                    <a:pt x="69722" y="298450"/>
                  </a:lnTo>
                  <a:lnTo>
                    <a:pt x="73342" y="294640"/>
                  </a:lnTo>
                  <a:lnTo>
                    <a:pt x="61467" y="294640"/>
                  </a:lnTo>
                  <a:lnTo>
                    <a:pt x="48806" y="293369"/>
                  </a:lnTo>
                  <a:close/>
                </a:path>
                <a:path w="2891790" h="309880">
                  <a:moveTo>
                    <a:pt x="82219" y="294640"/>
                  </a:moveTo>
                  <a:lnTo>
                    <a:pt x="73342" y="294640"/>
                  </a:lnTo>
                  <a:lnTo>
                    <a:pt x="69722" y="298450"/>
                  </a:lnTo>
                  <a:lnTo>
                    <a:pt x="69646" y="307340"/>
                  </a:lnTo>
                  <a:lnTo>
                    <a:pt x="73190" y="309880"/>
                  </a:lnTo>
                  <a:lnTo>
                    <a:pt x="82016" y="309880"/>
                  </a:lnTo>
                  <a:lnTo>
                    <a:pt x="85648" y="307340"/>
                  </a:lnTo>
                  <a:lnTo>
                    <a:pt x="85763" y="298450"/>
                  </a:lnTo>
                  <a:lnTo>
                    <a:pt x="82219" y="294640"/>
                  </a:lnTo>
                  <a:close/>
                </a:path>
                <a:path w="2891790" h="309880">
                  <a:moveTo>
                    <a:pt x="121094" y="293369"/>
                  </a:moveTo>
                  <a:lnTo>
                    <a:pt x="113620" y="293369"/>
                  </a:lnTo>
                  <a:lnTo>
                    <a:pt x="101669" y="294640"/>
                  </a:lnTo>
                  <a:lnTo>
                    <a:pt x="82219" y="294640"/>
                  </a:lnTo>
                  <a:lnTo>
                    <a:pt x="85763" y="298450"/>
                  </a:lnTo>
                  <a:lnTo>
                    <a:pt x="85648" y="307340"/>
                  </a:lnTo>
                  <a:lnTo>
                    <a:pt x="82016" y="309880"/>
                  </a:lnTo>
                  <a:lnTo>
                    <a:pt x="114673" y="309880"/>
                  </a:lnTo>
                  <a:lnTo>
                    <a:pt x="121798" y="309145"/>
                  </a:lnTo>
                  <a:lnTo>
                    <a:pt x="118630" y="306069"/>
                  </a:lnTo>
                  <a:lnTo>
                    <a:pt x="117817" y="297180"/>
                  </a:lnTo>
                  <a:lnTo>
                    <a:pt x="121094" y="293369"/>
                  </a:lnTo>
                  <a:close/>
                </a:path>
                <a:path w="2891790" h="309880">
                  <a:moveTo>
                    <a:pt x="126999" y="308610"/>
                  </a:moveTo>
                  <a:lnTo>
                    <a:pt x="121798" y="309145"/>
                  </a:lnTo>
                  <a:lnTo>
                    <a:pt x="122554" y="309880"/>
                  </a:lnTo>
                  <a:lnTo>
                    <a:pt x="126999" y="308610"/>
                  </a:lnTo>
                  <a:close/>
                </a:path>
                <a:path w="2891790" h="309880">
                  <a:moveTo>
                    <a:pt x="43184" y="308610"/>
                  </a:moveTo>
                  <a:lnTo>
                    <a:pt x="37528" y="308610"/>
                  </a:lnTo>
                  <a:lnTo>
                    <a:pt x="41991" y="309742"/>
                  </a:lnTo>
                  <a:lnTo>
                    <a:pt x="43184" y="308610"/>
                  </a:lnTo>
                  <a:close/>
                </a:path>
                <a:path w="2891790" h="309880">
                  <a:moveTo>
                    <a:pt x="130379" y="292469"/>
                  </a:moveTo>
                  <a:lnTo>
                    <a:pt x="127842" y="292715"/>
                  </a:lnTo>
                  <a:lnTo>
                    <a:pt x="125552" y="293369"/>
                  </a:lnTo>
                  <a:lnTo>
                    <a:pt x="121094" y="293369"/>
                  </a:lnTo>
                  <a:lnTo>
                    <a:pt x="117817" y="297180"/>
                  </a:lnTo>
                  <a:lnTo>
                    <a:pt x="118630" y="306069"/>
                  </a:lnTo>
                  <a:lnTo>
                    <a:pt x="121798" y="309145"/>
                  </a:lnTo>
                  <a:lnTo>
                    <a:pt x="126999" y="308610"/>
                  </a:lnTo>
                  <a:lnTo>
                    <a:pt x="131445" y="308610"/>
                  </a:lnTo>
                  <a:lnTo>
                    <a:pt x="134734" y="304800"/>
                  </a:lnTo>
                  <a:lnTo>
                    <a:pt x="133934" y="295910"/>
                  </a:lnTo>
                  <a:lnTo>
                    <a:pt x="131309" y="293369"/>
                  </a:lnTo>
                  <a:lnTo>
                    <a:pt x="125552" y="293369"/>
                  </a:lnTo>
                  <a:lnTo>
                    <a:pt x="127842" y="292715"/>
                  </a:lnTo>
                  <a:lnTo>
                    <a:pt x="130633" y="292715"/>
                  </a:lnTo>
                  <a:lnTo>
                    <a:pt x="130379" y="292469"/>
                  </a:lnTo>
                  <a:close/>
                </a:path>
                <a:path w="2891790" h="309880">
                  <a:moveTo>
                    <a:pt x="32636" y="307568"/>
                  </a:moveTo>
                  <a:lnTo>
                    <a:pt x="33248" y="308610"/>
                  </a:lnTo>
                  <a:lnTo>
                    <a:pt x="36785" y="308610"/>
                  </a:lnTo>
                  <a:lnTo>
                    <a:pt x="32636" y="307568"/>
                  </a:lnTo>
                  <a:close/>
                </a:path>
                <a:path w="2891790" h="309880">
                  <a:moveTo>
                    <a:pt x="155714" y="290830"/>
                  </a:moveTo>
                  <a:lnTo>
                    <a:pt x="151512" y="290830"/>
                  </a:lnTo>
                  <a:lnTo>
                    <a:pt x="142848" y="292100"/>
                  </a:lnTo>
                  <a:lnTo>
                    <a:pt x="134190" y="292100"/>
                  </a:lnTo>
                  <a:lnTo>
                    <a:pt x="130379" y="292469"/>
                  </a:lnTo>
                  <a:lnTo>
                    <a:pt x="133934" y="295910"/>
                  </a:lnTo>
                  <a:lnTo>
                    <a:pt x="134734" y="304800"/>
                  </a:lnTo>
                  <a:lnTo>
                    <a:pt x="131445" y="308610"/>
                  </a:lnTo>
                  <a:lnTo>
                    <a:pt x="135508" y="308610"/>
                  </a:lnTo>
                  <a:lnTo>
                    <a:pt x="144021" y="307340"/>
                  </a:lnTo>
                  <a:lnTo>
                    <a:pt x="152538" y="307340"/>
                  </a:lnTo>
                  <a:lnTo>
                    <a:pt x="156063" y="306814"/>
                  </a:lnTo>
                  <a:lnTo>
                    <a:pt x="152768" y="303530"/>
                  </a:lnTo>
                  <a:lnTo>
                    <a:pt x="152285" y="294640"/>
                  </a:lnTo>
                  <a:lnTo>
                    <a:pt x="155714" y="290830"/>
                  </a:lnTo>
                  <a:close/>
                </a:path>
                <a:path w="2891790" h="309880">
                  <a:moveTo>
                    <a:pt x="30375" y="302808"/>
                  </a:moveTo>
                  <a:lnTo>
                    <a:pt x="29260" y="304800"/>
                  </a:lnTo>
                  <a:lnTo>
                    <a:pt x="25272" y="305841"/>
                  </a:lnTo>
                  <a:lnTo>
                    <a:pt x="25730" y="306069"/>
                  </a:lnTo>
                  <a:lnTo>
                    <a:pt x="31724" y="307340"/>
                  </a:lnTo>
                  <a:lnTo>
                    <a:pt x="32636" y="307568"/>
                  </a:lnTo>
                  <a:lnTo>
                    <a:pt x="30264" y="303530"/>
                  </a:lnTo>
                  <a:lnTo>
                    <a:pt x="30375" y="302808"/>
                  </a:lnTo>
                  <a:close/>
                </a:path>
                <a:path w="2891790" h="309880">
                  <a:moveTo>
                    <a:pt x="161061" y="306069"/>
                  </a:moveTo>
                  <a:lnTo>
                    <a:pt x="156063" y="306814"/>
                  </a:lnTo>
                  <a:lnTo>
                    <a:pt x="156590" y="307340"/>
                  </a:lnTo>
                  <a:lnTo>
                    <a:pt x="161061" y="306069"/>
                  </a:lnTo>
                  <a:close/>
                </a:path>
                <a:path w="2891790" h="309880">
                  <a:moveTo>
                    <a:pt x="165149" y="290052"/>
                  </a:moveTo>
                  <a:lnTo>
                    <a:pt x="160185" y="290830"/>
                  </a:lnTo>
                  <a:lnTo>
                    <a:pt x="155714" y="290830"/>
                  </a:lnTo>
                  <a:lnTo>
                    <a:pt x="152476" y="294428"/>
                  </a:lnTo>
                  <a:lnTo>
                    <a:pt x="152354" y="295910"/>
                  </a:lnTo>
                  <a:lnTo>
                    <a:pt x="152768" y="303530"/>
                  </a:lnTo>
                  <a:lnTo>
                    <a:pt x="156063" y="306814"/>
                  </a:lnTo>
                  <a:lnTo>
                    <a:pt x="161061" y="306069"/>
                  </a:lnTo>
                  <a:lnTo>
                    <a:pt x="165531" y="306069"/>
                  </a:lnTo>
                  <a:lnTo>
                    <a:pt x="168960" y="302260"/>
                  </a:lnTo>
                  <a:lnTo>
                    <a:pt x="168478" y="293369"/>
                  </a:lnTo>
                  <a:lnTo>
                    <a:pt x="165149" y="290052"/>
                  </a:lnTo>
                  <a:close/>
                </a:path>
                <a:path w="2891790" h="309880">
                  <a:moveTo>
                    <a:pt x="11557" y="283219"/>
                  </a:moveTo>
                  <a:lnTo>
                    <a:pt x="11976" y="288290"/>
                  </a:lnTo>
                  <a:lnTo>
                    <a:pt x="14566" y="297180"/>
                  </a:lnTo>
                  <a:lnTo>
                    <a:pt x="16764" y="300990"/>
                  </a:lnTo>
                  <a:lnTo>
                    <a:pt x="24396" y="306069"/>
                  </a:lnTo>
                  <a:lnTo>
                    <a:pt x="25272" y="305841"/>
                  </a:lnTo>
                  <a:lnTo>
                    <a:pt x="20650" y="303530"/>
                  </a:lnTo>
                  <a:lnTo>
                    <a:pt x="16776" y="300990"/>
                  </a:lnTo>
                  <a:lnTo>
                    <a:pt x="15684" y="295910"/>
                  </a:lnTo>
                  <a:lnTo>
                    <a:pt x="20383" y="288290"/>
                  </a:lnTo>
                  <a:lnTo>
                    <a:pt x="25272" y="287019"/>
                  </a:lnTo>
                  <a:lnTo>
                    <a:pt x="28435" y="287019"/>
                  </a:lnTo>
                  <a:lnTo>
                    <a:pt x="28124" y="285750"/>
                  </a:lnTo>
                  <a:lnTo>
                    <a:pt x="15290" y="285750"/>
                  </a:lnTo>
                  <a:lnTo>
                    <a:pt x="11557" y="283219"/>
                  </a:lnTo>
                  <a:close/>
                </a:path>
                <a:path w="2891790" h="309880">
                  <a:moveTo>
                    <a:pt x="197116" y="287019"/>
                  </a:moveTo>
                  <a:lnTo>
                    <a:pt x="184504" y="288290"/>
                  </a:lnTo>
                  <a:lnTo>
                    <a:pt x="176404" y="289560"/>
                  </a:lnTo>
                  <a:lnTo>
                    <a:pt x="168297" y="289560"/>
                  </a:lnTo>
                  <a:lnTo>
                    <a:pt x="165149" y="290052"/>
                  </a:lnTo>
                  <a:lnTo>
                    <a:pt x="168478" y="293369"/>
                  </a:lnTo>
                  <a:lnTo>
                    <a:pt x="168960" y="302260"/>
                  </a:lnTo>
                  <a:lnTo>
                    <a:pt x="165531" y="306069"/>
                  </a:lnTo>
                  <a:lnTo>
                    <a:pt x="177730" y="306069"/>
                  </a:lnTo>
                  <a:lnTo>
                    <a:pt x="186050" y="304800"/>
                  </a:lnTo>
                  <a:lnTo>
                    <a:pt x="189539" y="304453"/>
                  </a:lnTo>
                  <a:lnTo>
                    <a:pt x="185902" y="300990"/>
                  </a:lnTo>
                  <a:lnTo>
                    <a:pt x="184899" y="292100"/>
                  </a:lnTo>
                  <a:lnTo>
                    <a:pt x="188112" y="288290"/>
                  </a:lnTo>
                  <a:lnTo>
                    <a:pt x="192595" y="288290"/>
                  </a:lnTo>
                  <a:lnTo>
                    <a:pt x="197385" y="287275"/>
                  </a:lnTo>
                  <a:lnTo>
                    <a:pt x="197116" y="287019"/>
                  </a:lnTo>
                  <a:close/>
                </a:path>
                <a:path w="2891790" h="309880">
                  <a:moveTo>
                    <a:pt x="25272" y="287019"/>
                  </a:moveTo>
                  <a:lnTo>
                    <a:pt x="20383" y="288290"/>
                  </a:lnTo>
                  <a:lnTo>
                    <a:pt x="15684" y="295910"/>
                  </a:lnTo>
                  <a:lnTo>
                    <a:pt x="16776" y="300990"/>
                  </a:lnTo>
                  <a:lnTo>
                    <a:pt x="20650" y="303530"/>
                  </a:lnTo>
                  <a:lnTo>
                    <a:pt x="25272" y="305841"/>
                  </a:lnTo>
                  <a:lnTo>
                    <a:pt x="29260" y="304800"/>
                  </a:lnTo>
                  <a:lnTo>
                    <a:pt x="30375" y="302808"/>
                  </a:lnTo>
                  <a:lnTo>
                    <a:pt x="31445" y="295910"/>
                  </a:lnTo>
                  <a:lnTo>
                    <a:pt x="32996" y="294428"/>
                  </a:lnTo>
                  <a:lnTo>
                    <a:pt x="32791" y="293369"/>
                  </a:lnTo>
                  <a:lnTo>
                    <a:pt x="29971" y="290830"/>
                  </a:lnTo>
                  <a:lnTo>
                    <a:pt x="29717" y="290830"/>
                  </a:lnTo>
                  <a:lnTo>
                    <a:pt x="28562" y="289560"/>
                  </a:lnTo>
                  <a:lnTo>
                    <a:pt x="25272" y="287019"/>
                  </a:lnTo>
                  <a:close/>
                </a:path>
                <a:path w="2891790" h="309880">
                  <a:moveTo>
                    <a:pt x="191963" y="304213"/>
                  </a:moveTo>
                  <a:lnTo>
                    <a:pt x="189539" y="304453"/>
                  </a:lnTo>
                  <a:lnTo>
                    <a:pt x="189903" y="304800"/>
                  </a:lnTo>
                  <a:lnTo>
                    <a:pt x="191963" y="304213"/>
                  </a:lnTo>
                  <a:close/>
                </a:path>
                <a:path w="2891790" h="309880">
                  <a:moveTo>
                    <a:pt x="197385" y="287275"/>
                  </a:moveTo>
                  <a:lnTo>
                    <a:pt x="192595" y="288290"/>
                  </a:lnTo>
                  <a:lnTo>
                    <a:pt x="188112" y="288290"/>
                  </a:lnTo>
                  <a:lnTo>
                    <a:pt x="184899" y="292100"/>
                  </a:lnTo>
                  <a:lnTo>
                    <a:pt x="185902" y="300990"/>
                  </a:lnTo>
                  <a:lnTo>
                    <a:pt x="189539" y="304453"/>
                  </a:lnTo>
                  <a:lnTo>
                    <a:pt x="191963" y="304213"/>
                  </a:lnTo>
                  <a:lnTo>
                    <a:pt x="194360" y="303530"/>
                  </a:lnTo>
                  <a:lnTo>
                    <a:pt x="199279" y="303017"/>
                  </a:lnTo>
                  <a:lnTo>
                    <a:pt x="202082" y="299719"/>
                  </a:lnTo>
                  <a:lnTo>
                    <a:pt x="201129" y="290830"/>
                  </a:lnTo>
                  <a:lnTo>
                    <a:pt x="197385" y="287275"/>
                  </a:lnTo>
                  <a:close/>
                </a:path>
                <a:path w="2891790" h="309880">
                  <a:moveTo>
                    <a:pt x="199279" y="303017"/>
                  </a:moveTo>
                  <a:lnTo>
                    <a:pt x="194360" y="303530"/>
                  </a:lnTo>
                  <a:lnTo>
                    <a:pt x="191963" y="304213"/>
                  </a:lnTo>
                  <a:lnTo>
                    <a:pt x="198843" y="303530"/>
                  </a:lnTo>
                  <a:lnTo>
                    <a:pt x="199279" y="303017"/>
                  </a:lnTo>
                  <a:close/>
                </a:path>
                <a:path w="2891790" h="309880">
                  <a:moveTo>
                    <a:pt x="235799" y="282083"/>
                  </a:moveTo>
                  <a:lnTo>
                    <a:pt x="228406" y="283219"/>
                  </a:lnTo>
                  <a:lnTo>
                    <a:pt x="204583" y="285750"/>
                  </a:lnTo>
                  <a:lnTo>
                    <a:pt x="197385" y="287275"/>
                  </a:lnTo>
                  <a:lnTo>
                    <a:pt x="201129" y="290830"/>
                  </a:lnTo>
                  <a:lnTo>
                    <a:pt x="202082" y="299719"/>
                  </a:lnTo>
                  <a:lnTo>
                    <a:pt x="199279" y="303017"/>
                  </a:lnTo>
                  <a:lnTo>
                    <a:pt x="218719" y="300990"/>
                  </a:lnTo>
                  <a:lnTo>
                    <a:pt x="230868" y="298450"/>
                  </a:lnTo>
                  <a:lnTo>
                    <a:pt x="237713" y="297733"/>
                  </a:lnTo>
                  <a:lnTo>
                    <a:pt x="234289" y="294640"/>
                  </a:lnTo>
                  <a:lnTo>
                    <a:pt x="232841" y="285750"/>
                  </a:lnTo>
                  <a:lnTo>
                    <a:pt x="235799" y="282083"/>
                  </a:lnTo>
                  <a:close/>
                </a:path>
                <a:path w="2891790" h="309880">
                  <a:moveTo>
                    <a:pt x="32996" y="294428"/>
                  </a:moveTo>
                  <a:lnTo>
                    <a:pt x="31445" y="295910"/>
                  </a:lnTo>
                  <a:lnTo>
                    <a:pt x="30375" y="302808"/>
                  </a:lnTo>
                  <a:lnTo>
                    <a:pt x="33528" y="297180"/>
                  </a:lnTo>
                  <a:lnTo>
                    <a:pt x="32996" y="294428"/>
                  </a:lnTo>
                  <a:close/>
                </a:path>
                <a:path w="2891790" h="309880">
                  <a:moveTo>
                    <a:pt x="243001" y="297180"/>
                  </a:moveTo>
                  <a:lnTo>
                    <a:pt x="237713" y="297733"/>
                  </a:lnTo>
                  <a:lnTo>
                    <a:pt x="238505" y="298450"/>
                  </a:lnTo>
                  <a:lnTo>
                    <a:pt x="243001" y="297180"/>
                  </a:lnTo>
                  <a:close/>
                </a:path>
                <a:path w="2891790" h="309880">
                  <a:moveTo>
                    <a:pt x="244970" y="280669"/>
                  </a:moveTo>
                  <a:lnTo>
                    <a:pt x="235799" y="282083"/>
                  </a:lnTo>
                  <a:lnTo>
                    <a:pt x="232841" y="285750"/>
                  </a:lnTo>
                  <a:lnTo>
                    <a:pt x="234289" y="294640"/>
                  </a:lnTo>
                  <a:lnTo>
                    <a:pt x="237713" y="297733"/>
                  </a:lnTo>
                  <a:lnTo>
                    <a:pt x="243001" y="297180"/>
                  </a:lnTo>
                  <a:lnTo>
                    <a:pt x="247510" y="295910"/>
                  </a:lnTo>
                  <a:lnTo>
                    <a:pt x="250609" y="292100"/>
                  </a:lnTo>
                  <a:lnTo>
                    <a:pt x="249199" y="283210"/>
                  </a:lnTo>
                  <a:lnTo>
                    <a:pt x="244970" y="280669"/>
                  </a:lnTo>
                  <a:close/>
                </a:path>
                <a:path w="2891790" h="309880">
                  <a:moveTo>
                    <a:pt x="281873" y="280669"/>
                  </a:moveTo>
                  <a:lnTo>
                    <a:pt x="244970" y="280669"/>
                  </a:lnTo>
                  <a:lnTo>
                    <a:pt x="249200" y="283219"/>
                  </a:lnTo>
                  <a:lnTo>
                    <a:pt x="250609" y="292100"/>
                  </a:lnTo>
                  <a:lnTo>
                    <a:pt x="247510" y="295910"/>
                  </a:lnTo>
                  <a:lnTo>
                    <a:pt x="243001" y="297180"/>
                  </a:lnTo>
                  <a:lnTo>
                    <a:pt x="255075" y="295910"/>
                  </a:lnTo>
                  <a:lnTo>
                    <a:pt x="267161" y="293369"/>
                  </a:lnTo>
                  <a:lnTo>
                    <a:pt x="291388" y="290830"/>
                  </a:lnTo>
                  <a:lnTo>
                    <a:pt x="286804" y="290830"/>
                  </a:lnTo>
                  <a:lnTo>
                    <a:pt x="282663" y="288290"/>
                  </a:lnTo>
                  <a:lnTo>
                    <a:pt x="281873" y="280669"/>
                  </a:lnTo>
                  <a:close/>
                </a:path>
                <a:path w="2891790" h="309880">
                  <a:moveTo>
                    <a:pt x="29294" y="290015"/>
                  </a:moveTo>
                  <a:lnTo>
                    <a:pt x="29494" y="290399"/>
                  </a:lnTo>
                  <a:lnTo>
                    <a:pt x="32791" y="293369"/>
                  </a:lnTo>
                  <a:lnTo>
                    <a:pt x="32996" y="294428"/>
                  </a:lnTo>
                  <a:lnTo>
                    <a:pt x="35433" y="292100"/>
                  </a:lnTo>
                  <a:lnTo>
                    <a:pt x="32092" y="292100"/>
                  </a:lnTo>
                  <a:lnTo>
                    <a:pt x="29294" y="290015"/>
                  </a:lnTo>
                  <a:close/>
                </a:path>
                <a:path w="2891790" h="309880">
                  <a:moveTo>
                    <a:pt x="36667" y="292277"/>
                  </a:moveTo>
                  <a:lnTo>
                    <a:pt x="39801" y="293369"/>
                  </a:lnTo>
                  <a:lnTo>
                    <a:pt x="44246" y="293369"/>
                  </a:lnTo>
                  <a:lnTo>
                    <a:pt x="36667" y="292277"/>
                  </a:lnTo>
                  <a:close/>
                </a:path>
                <a:path w="2891790" h="309880">
                  <a:moveTo>
                    <a:pt x="129997" y="292100"/>
                  </a:moveTo>
                  <a:lnTo>
                    <a:pt x="127842" y="292715"/>
                  </a:lnTo>
                  <a:lnTo>
                    <a:pt x="130379" y="292469"/>
                  </a:lnTo>
                  <a:lnTo>
                    <a:pt x="129997" y="292100"/>
                  </a:lnTo>
                  <a:close/>
                </a:path>
                <a:path w="2891790" h="309880">
                  <a:moveTo>
                    <a:pt x="36156" y="292100"/>
                  </a:moveTo>
                  <a:lnTo>
                    <a:pt x="35433" y="292100"/>
                  </a:lnTo>
                  <a:lnTo>
                    <a:pt x="36667" y="292277"/>
                  </a:lnTo>
                  <a:lnTo>
                    <a:pt x="36156" y="292100"/>
                  </a:lnTo>
                  <a:close/>
                </a:path>
                <a:path w="2891790" h="309880">
                  <a:moveTo>
                    <a:pt x="28562" y="289560"/>
                  </a:moveTo>
                  <a:lnTo>
                    <a:pt x="29717" y="290830"/>
                  </a:lnTo>
                  <a:lnTo>
                    <a:pt x="29494" y="290399"/>
                  </a:lnTo>
                  <a:lnTo>
                    <a:pt x="28562" y="289560"/>
                  </a:lnTo>
                  <a:close/>
                </a:path>
                <a:path w="2891790" h="309880">
                  <a:moveTo>
                    <a:pt x="29494" y="290399"/>
                  </a:moveTo>
                  <a:lnTo>
                    <a:pt x="29717" y="290830"/>
                  </a:lnTo>
                  <a:lnTo>
                    <a:pt x="29971" y="290830"/>
                  </a:lnTo>
                  <a:lnTo>
                    <a:pt x="29494" y="290399"/>
                  </a:lnTo>
                  <a:close/>
                </a:path>
                <a:path w="2891790" h="309880">
                  <a:moveTo>
                    <a:pt x="164655" y="289560"/>
                  </a:moveTo>
                  <a:lnTo>
                    <a:pt x="160185" y="290830"/>
                  </a:lnTo>
                  <a:lnTo>
                    <a:pt x="165149" y="290052"/>
                  </a:lnTo>
                  <a:lnTo>
                    <a:pt x="164655" y="289560"/>
                  </a:lnTo>
                  <a:close/>
                </a:path>
                <a:path w="2891790" h="309880">
                  <a:moveTo>
                    <a:pt x="294764" y="273597"/>
                  </a:moveTo>
                  <a:lnTo>
                    <a:pt x="289559" y="274319"/>
                  </a:lnTo>
                  <a:lnTo>
                    <a:pt x="284455" y="274846"/>
                  </a:lnTo>
                  <a:lnTo>
                    <a:pt x="281609" y="278130"/>
                  </a:lnTo>
                  <a:lnTo>
                    <a:pt x="282663" y="288290"/>
                  </a:lnTo>
                  <a:lnTo>
                    <a:pt x="286804" y="290830"/>
                  </a:lnTo>
                  <a:lnTo>
                    <a:pt x="291388" y="290830"/>
                  </a:lnTo>
                  <a:lnTo>
                    <a:pt x="295998" y="289560"/>
                  </a:lnTo>
                  <a:lnTo>
                    <a:pt x="299326" y="285750"/>
                  </a:lnTo>
                  <a:lnTo>
                    <a:pt x="298310" y="276860"/>
                  </a:lnTo>
                  <a:lnTo>
                    <a:pt x="294764" y="273597"/>
                  </a:lnTo>
                  <a:close/>
                </a:path>
                <a:path w="2891790" h="309880">
                  <a:moveTo>
                    <a:pt x="321792" y="270510"/>
                  </a:moveTo>
                  <a:lnTo>
                    <a:pt x="317212" y="270510"/>
                  </a:lnTo>
                  <a:lnTo>
                    <a:pt x="294764" y="273597"/>
                  </a:lnTo>
                  <a:lnTo>
                    <a:pt x="298310" y="276860"/>
                  </a:lnTo>
                  <a:lnTo>
                    <a:pt x="299326" y="285750"/>
                  </a:lnTo>
                  <a:lnTo>
                    <a:pt x="295998" y="289560"/>
                  </a:lnTo>
                  <a:lnTo>
                    <a:pt x="291388" y="290830"/>
                  </a:lnTo>
                  <a:lnTo>
                    <a:pt x="309503" y="288290"/>
                  </a:lnTo>
                  <a:lnTo>
                    <a:pt x="318572" y="288290"/>
                  </a:lnTo>
                  <a:lnTo>
                    <a:pt x="327647" y="287019"/>
                  </a:lnTo>
                  <a:lnTo>
                    <a:pt x="322986" y="287019"/>
                  </a:lnTo>
                  <a:lnTo>
                    <a:pt x="318947" y="284480"/>
                  </a:lnTo>
                  <a:lnTo>
                    <a:pt x="318287" y="274306"/>
                  </a:lnTo>
                  <a:lnTo>
                    <a:pt x="321792" y="270510"/>
                  </a:lnTo>
                  <a:close/>
                </a:path>
                <a:path w="2891790" h="309880">
                  <a:moveTo>
                    <a:pt x="28682" y="289560"/>
                  </a:moveTo>
                  <a:lnTo>
                    <a:pt x="29494" y="290399"/>
                  </a:lnTo>
                  <a:lnTo>
                    <a:pt x="29294" y="290015"/>
                  </a:lnTo>
                  <a:lnTo>
                    <a:pt x="28682" y="289560"/>
                  </a:lnTo>
                  <a:close/>
                </a:path>
                <a:path w="2891790" h="309880">
                  <a:moveTo>
                    <a:pt x="28435" y="287019"/>
                  </a:moveTo>
                  <a:lnTo>
                    <a:pt x="25272" y="287019"/>
                  </a:lnTo>
                  <a:lnTo>
                    <a:pt x="29294" y="290015"/>
                  </a:lnTo>
                  <a:lnTo>
                    <a:pt x="29057" y="289560"/>
                  </a:lnTo>
                  <a:lnTo>
                    <a:pt x="28435" y="287019"/>
                  </a:lnTo>
                  <a:close/>
                </a:path>
                <a:path w="2891790" h="309880">
                  <a:moveTo>
                    <a:pt x="331177" y="270510"/>
                  </a:moveTo>
                  <a:lnTo>
                    <a:pt x="321792" y="270510"/>
                  </a:lnTo>
                  <a:lnTo>
                    <a:pt x="318287" y="274306"/>
                  </a:lnTo>
                  <a:lnTo>
                    <a:pt x="318947" y="284480"/>
                  </a:lnTo>
                  <a:lnTo>
                    <a:pt x="322986" y="287019"/>
                  </a:lnTo>
                  <a:lnTo>
                    <a:pt x="332320" y="287019"/>
                  </a:lnTo>
                  <a:lnTo>
                    <a:pt x="335843" y="283219"/>
                  </a:lnTo>
                  <a:lnTo>
                    <a:pt x="335229" y="273050"/>
                  </a:lnTo>
                  <a:lnTo>
                    <a:pt x="331177" y="270510"/>
                  </a:lnTo>
                  <a:close/>
                </a:path>
                <a:path w="2891790" h="309880">
                  <a:moveTo>
                    <a:pt x="369190" y="268515"/>
                  </a:moveTo>
                  <a:lnTo>
                    <a:pt x="362352" y="269240"/>
                  </a:lnTo>
                  <a:lnTo>
                    <a:pt x="338418" y="269240"/>
                  </a:lnTo>
                  <a:lnTo>
                    <a:pt x="326466" y="270510"/>
                  </a:lnTo>
                  <a:lnTo>
                    <a:pt x="331177" y="270510"/>
                  </a:lnTo>
                  <a:lnTo>
                    <a:pt x="335229" y="273050"/>
                  </a:lnTo>
                  <a:lnTo>
                    <a:pt x="335843" y="283219"/>
                  </a:lnTo>
                  <a:lnTo>
                    <a:pt x="332320" y="287019"/>
                  </a:lnTo>
                  <a:lnTo>
                    <a:pt x="339371" y="287019"/>
                  </a:lnTo>
                  <a:lnTo>
                    <a:pt x="351108" y="285750"/>
                  </a:lnTo>
                  <a:lnTo>
                    <a:pt x="369874" y="285750"/>
                  </a:lnTo>
                  <a:lnTo>
                    <a:pt x="365988" y="281940"/>
                  </a:lnTo>
                  <a:lnTo>
                    <a:pt x="365870" y="275590"/>
                  </a:lnTo>
                  <a:lnTo>
                    <a:pt x="365865" y="272994"/>
                  </a:lnTo>
                  <a:lnTo>
                    <a:pt x="369190" y="268515"/>
                  </a:lnTo>
                  <a:close/>
                </a:path>
                <a:path w="2891790" h="309880">
                  <a:moveTo>
                    <a:pt x="23736" y="269240"/>
                  </a:moveTo>
                  <a:lnTo>
                    <a:pt x="14808" y="270510"/>
                  </a:lnTo>
                  <a:lnTo>
                    <a:pt x="11342" y="272994"/>
                  </a:lnTo>
                  <a:lnTo>
                    <a:pt x="11350" y="276860"/>
                  </a:lnTo>
                  <a:lnTo>
                    <a:pt x="11557" y="283219"/>
                  </a:lnTo>
                  <a:lnTo>
                    <a:pt x="15290" y="285750"/>
                  </a:lnTo>
                  <a:lnTo>
                    <a:pt x="24193" y="285750"/>
                  </a:lnTo>
                  <a:lnTo>
                    <a:pt x="27660" y="281940"/>
                  </a:lnTo>
                  <a:lnTo>
                    <a:pt x="27390" y="272994"/>
                  </a:lnTo>
                  <a:lnTo>
                    <a:pt x="23736" y="269240"/>
                  </a:lnTo>
                  <a:close/>
                </a:path>
                <a:path w="2891790" h="309880">
                  <a:moveTo>
                    <a:pt x="27390" y="272994"/>
                  </a:moveTo>
                  <a:lnTo>
                    <a:pt x="27660" y="281940"/>
                  </a:lnTo>
                  <a:lnTo>
                    <a:pt x="24193" y="285750"/>
                  </a:lnTo>
                  <a:lnTo>
                    <a:pt x="28124" y="285750"/>
                  </a:lnTo>
                  <a:lnTo>
                    <a:pt x="27812" y="284480"/>
                  </a:lnTo>
                  <a:lnTo>
                    <a:pt x="27694" y="281940"/>
                  </a:lnTo>
                  <a:lnTo>
                    <a:pt x="27571" y="278130"/>
                  </a:lnTo>
                  <a:lnTo>
                    <a:pt x="27458" y="273597"/>
                  </a:lnTo>
                  <a:lnTo>
                    <a:pt x="27390" y="272994"/>
                  </a:lnTo>
                  <a:close/>
                </a:path>
                <a:path w="2891790" h="309880">
                  <a:moveTo>
                    <a:pt x="379069" y="267969"/>
                  </a:moveTo>
                  <a:lnTo>
                    <a:pt x="374345" y="267969"/>
                  </a:lnTo>
                  <a:lnTo>
                    <a:pt x="369190" y="268515"/>
                  </a:lnTo>
                  <a:lnTo>
                    <a:pt x="365865" y="272994"/>
                  </a:lnTo>
                  <a:lnTo>
                    <a:pt x="365870" y="275590"/>
                  </a:lnTo>
                  <a:lnTo>
                    <a:pt x="365988" y="281940"/>
                  </a:lnTo>
                  <a:lnTo>
                    <a:pt x="369874" y="285750"/>
                  </a:lnTo>
                  <a:lnTo>
                    <a:pt x="379323" y="285750"/>
                  </a:lnTo>
                  <a:lnTo>
                    <a:pt x="383095" y="281940"/>
                  </a:lnTo>
                  <a:lnTo>
                    <a:pt x="382955" y="271780"/>
                  </a:lnTo>
                  <a:lnTo>
                    <a:pt x="379069" y="267969"/>
                  </a:lnTo>
                  <a:close/>
                </a:path>
                <a:path w="2891790" h="309880">
                  <a:moveTo>
                    <a:pt x="426872" y="267969"/>
                  </a:moveTo>
                  <a:lnTo>
                    <a:pt x="379069" y="267969"/>
                  </a:lnTo>
                  <a:lnTo>
                    <a:pt x="382955" y="271780"/>
                  </a:lnTo>
                  <a:lnTo>
                    <a:pt x="383095" y="281940"/>
                  </a:lnTo>
                  <a:lnTo>
                    <a:pt x="379323" y="285750"/>
                  </a:lnTo>
                  <a:lnTo>
                    <a:pt x="426885" y="285750"/>
                  </a:lnTo>
                  <a:lnTo>
                    <a:pt x="423036" y="281940"/>
                  </a:lnTo>
                  <a:lnTo>
                    <a:pt x="423024" y="271780"/>
                  </a:lnTo>
                  <a:lnTo>
                    <a:pt x="426872" y="267969"/>
                  </a:lnTo>
                  <a:close/>
                </a:path>
                <a:path w="2891790" h="309880">
                  <a:moveTo>
                    <a:pt x="436397" y="267969"/>
                  </a:moveTo>
                  <a:lnTo>
                    <a:pt x="426872" y="267969"/>
                  </a:lnTo>
                  <a:lnTo>
                    <a:pt x="423024" y="271780"/>
                  </a:lnTo>
                  <a:lnTo>
                    <a:pt x="423036" y="281940"/>
                  </a:lnTo>
                  <a:lnTo>
                    <a:pt x="426885" y="285750"/>
                  </a:lnTo>
                  <a:lnTo>
                    <a:pt x="436397" y="285750"/>
                  </a:lnTo>
                  <a:lnTo>
                    <a:pt x="440245" y="281940"/>
                  </a:lnTo>
                  <a:lnTo>
                    <a:pt x="440245" y="271780"/>
                  </a:lnTo>
                  <a:lnTo>
                    <a:pt x="436397" y="267969"/>
                  </a:lnTo>
                  <a:close/>
                </a:path>
                <a:path w="2891790" h="309880">
                  <a:moveTo>
                    <a:pt x="465010" y="267969"/>
                  </a:moveTo>
                  <a:lnTo>
                    <a:pt x="436397" y="267969"/>
                  </a:lnTo>
                  <a:lnTo>
                    <a:pt x="440245" y="271780"/>
                  </a:lnTo>
                  <a:lnTo>
                    <a:pt x="440245" y="281940"/>
                  </a:lnTo>
                  <a:lnTo>
                    <a:pt x="436397" y="285750"/>
                  </a:lnTo>
                  <a:lnTo>
                    <a:pt x="451032" y="285750"/>
                  </a:lnTo>
                  <a:lnTo>
                    <a:pt x="460729" y="284480"/>
                  </a:lnTo>
                  <a:lnTo>
                    <a:pt x="465670" y="284480"/>
                  </a:lnTo>
                  <a:lnTo>
                    <a:pt x="461670" y="280669"/>
                  </a:lnTo>
                  <a:lnTo>
                    <a:pt x="461276" y="271780"/>
                  </a:lnTo>
                  <a:lnTo>
                    <a:pt x="465010" y="267969"/>
                  </a:lnTo>
                  <a:close/>
                </a:path>
                <a:path w="2891790" h="309880">
                  <a:moveTo>
                    <a:pt x="474637" y="267969"/>
                  </a:moveTo>
                  <a:lnTo>
                    <a:pt x="465010" y="267969"/>
                  </a:lnTo>
                  <a:lnTo>
                    <a:pt x="461276" y="271780"/>
                  </a:lnTo>
                  <a:lnTo>
                    <a:pt x="461670" y="280669"/>
                  </a:lnTo>
                  <a:lnTo>
                    <a:pt x="465670" y="284480"/>
                  </a:lnTo>
                  <a:lnTo>
                    <a:pt x="475208" y="284480"/>
                  </a:lnTo>
                  <a:lnTo>
                    <a:pt x="478955" y="280669"/>
                  </a:lnTo>
                  <a:lnTo>
                    <a:pt x="478637" y="270510"/>
                  </a:lnTo>
                  <a:lnTo>
                    <a:pt x="474637" y="267969"/>
                  </a:lnTo>
                  <a:close/>
                </a:path>
                <a:path w="2891790" h="309880">
                  <a:moveTo>
                    <a:pt x="496519" y="265430"/>
                  </a:moveTo>
                  <a:lnTo>
                    <a:pt x="493442" y="265430"/>
                  </a:lnTo>
                  <a:lnTo>
                    <a:pt x="485562" y="266700"/>
                  </a:lnTo>
                  <a:lnTo>
                    <a:pt x="477677" y="266700"/>
                  </a:lnTo>
                  <a:lnTo>
                    <a:pt x="469785" y="267969"/>
                  </a:lnTo>
                  <a:lnTo>
                    <a:pt x="474637" y="267969"/>
                  </a:lnTo>
                  <a:lnTo>
                    <a:pt x="478637" y="270510"/>
                  </a:lnTo>
                  <a:lnTo>
                    <a:pt x="478955" y="280669"/>
                  </a:lnTo>
                  <a:lnTo>
                    <a:pt x="475208" y="284480"/>
                  </a:lnTo>
                  <a:lnTo>
                    <a:pt x="486552" y="284480"/>
                  </a:lnTo>
                  <a:lnTo>
                    <a:pt x="494613" y="283210"/>
                  </a:lnTo>
                  <a:lnTo>
                    <a:pt x="497546" y="282920"/>
                  </a:lnTo>
                  <a:lnTo>
                    <a:pt x="493674" y="279400"/>
                  </a:lnTo>
                  <a:lnTo>
                    <a:pt x="492925" y="270510"/>
                  </a:lnTo>
                  <a:lnTo>
                    <a:pt x="496519" y="265430"/>
                  </a:lnTo>
                  <a:close/>
                </a:path>
                <a:path w="2891790" h="309880">
                  <a:moveTo>
                    <a:pt x="540491" y="262586"/>
                  </a:moveTo>
                  <a:lnTo>
                    <a:pt x="523659" y="264160"/>
                  </a:lnTo>
                  <a:lnTo>
                    <a:pt x="501319" y="265430"/>
                  </a:lnTo>
                  <a:lnTo>
                    <a:pt x="506133" y="265430"/>
                  </a:lnTo>
                  <a:lnTo>
                    <a:pt x="510324" y="269240"/>
                  </a:lnTo>
                  <a:lnTo>
                    <a:pt x="511060" y="278130"/>
                  </a:lnTo>
                  <a:lnTo>
                    <a:pt x="507466" y="281940"/>
                  </a:lnTo>
                  <a:lnTo>
                    <a:pt x="497546" y="282920"/>
                  </a:lnTo>
                  <a:lnTo>
                    <a:pt x="497865" y="283210"/>
                  </a:lnTo>
                  <a:lnTo>
                    <a:pt x="502666" y="283210"/>
                  </a:lnTo>
                  <a:lnTo>
                    <a:pt x="525056" y="280669"/>
                  </a:lnTo>
                  <a:lnTo>
                    <a:pt x="552272" y="279400"/>
                  </a:lnTo>
                  <a:lnTo>
                    <a:pt x="542632" y="279400"/>
                  </a:lnTo>
                  <a:lnTo>
                    <a:pt x="538403" y="275590"/>
                  </a:lnTo>
                  <a:lnTo>
                    <a:pt x="537591" y="266700"/>
                  </a:lnTo>
                  <a:lnTo>
                    <a:pt x="540491" y="262586"/>
                  </a:lnTo>
                  <a:close/>
                </a:path>
                <a:path w="2891790" h="309880">
                  <a:moveTo>
                    <a:pt x="506133" y="265430"/>
                  </a:moveTo>
                  <a:lnTo>
                    <a:pt x="496519" y="265430"/>
                  </a:lnTo>
                  <a:lnTo>
                    <a:pt x="492925" y="270510"/>
                  </a:lnTo>
                  <a:lnTo>
                    <a:pt x="493674" y="279400"/>
                  </a:lnTo>
                  <a:lnTo>
                    <a:pt x="497546" y="282920"/>
                  </a:lnTo>
                  <a:lnTo>
                    <a:pt x="507466" y="281940"/>
                  </a:lnTo>
                  <a:lnTo>
                    <a:pt x="511060" y="278130"/>
                  </a:lnTo>
                  <a:lnTo>
                    <a:pt x="510324" y="269240"/>
                  </a:lnTo>
                  <a:lnTo>
                    <a:pt x="506133" y="265430"/>
                  </a:lnTo>
                  <a:close/>
                </a:path>
                <a:path w="2891790" h="309880">
                  <a:moveTo>
                    <a:pt x="284455" y="274846"/>
                  </a:moveTo>
                  <a:lnTo>
                    <a:pt x="264928" y="276860"/>
                  </a:lnTo>
                  <a:lnTo>
                    <a:pt x="252668" y="279400"/>
                  </a:lnTo>
                  <a:lnTo>
                    <a:pt x="235915" y="281940"/>
                  </a:lnTo>
                  <a:lnTo>
                    <a:pt x="235799" y="282083"/>
                  </a:lnTo>
                  <a:lnTo>
                    <a:pt x="244970" y="280669"/>
                  </a:lnTo>
                  <a:lnTo>
                    <a:pt x="281873" y="280669"/>
                  </a:lnTo>
                  <a:lnTo>
                    <a:pt x="281609" y="278130"/>
                  </a:lnTo>
                  <a:lnTo>
                    <a:pt x="284455" y="274846"/>
                  </a:lnTo>
                  <a:close/>
                </a:path>
                <a:path w="2891790" h="309880">
                  <a:moveTo>
                    <a:pt x="550824" y="261619"/>
                  </a:moveTo>
                  <a:lnTo>
                    <a:pt x="540491" y="262586"/>
                  </a:lnTo>
                  <a:lnTo>
                    <a:pt x="537591" y="266700"/>
                  </a:lnTo>
                  <a:lnTo>
                    <a:pt x="538403" y="275590"/>
                  </a:lnTo>
                  <a:lnTo>
                    <a:pt x="542632" y="279400"/>
                  </a:lnTo>
                  <a:lnTo>
                    <a:pt x="547446" y="279400"/>
                  </a:lnTo>
                  <a:lnTo>
                    <a:pt x="552669" y="278836"/>
                  </a:lnTo>
                  <a:lnTo>
                    <a:pt x="555853" y="274319"/>
                  </a:lnTo>
                  <a:lnTo>
                    <a:pt x="555066" y="265430"/>
                  </a:lnTo>
                  <a:lnTo>
                    <a:pt x="550824" y="261619"/>
                  </a:lnTo>
                  <a:close/>
                </a:path>
                <a:path w="2891790" h="309880">
                  <a:moveTo>
                    <a:pt x="552669" y="278836"/>
                  </a:moveTo>
                  <a:lnTo>
                    <a:pt x="547446" y="279400"/>
                  </a:lnTo>
                  <a:lnTo>
                    <a:pt x="552272" y="279400"/>
                  </a:lnTo>
                  <a:lnTo>
                    <a:pt x="552669" y="278836"/>
                  </a:lnTo>
                  <a:close/>
                </a:path>
                <a:path w="2891790" h="309880">
                  <a:moveTo>
                    <a:pt x="586160" y="261619"/>
                  </a:moveTo>
                  <a:lnTo>
                    <a:pt x="550824" y="261619"/>
                  </a:lnTo>
                  <a:lnTo>
                    <a:pt x="555066" y="265430"/>
                  </a:lnTo>
                  <a:lnTo>
                    <a:pt x="555853" y="274319"/>
                  </a:lnTo>
                  <a:lnTo>
                    <a:pt x="552669" y="278836"/>
                  </a:lnTo>
                  <a:lnTo>
                    <a:pt x="570999" y="276860"/>
                  </a:lnTo>
                  <a:lnTo>
                    <a:pt x="582780" y="276860"/>
                  </a:lnTo>
                  <a:lnTo>
                    <a:pt x="599401" y="275590"/>
                  </a:lnTo>
                  <a:lnTo>
                    <a:pt x="589724" y="275590"/>
                  </a:lnTo>
                  <a:lnTo>
                    <a:pt x="585546" y="273050"/>
                  </a:lnTo>
                  <a:lnTo>
                    <a:pt x="584936" y="262890"/>
                  </a:lnTo>
                  <a:lnTo>
                    <a:pt x="586160" y="261619"/>
                  </a:lnTo>
                  <a:close/>
                </a:path>
                <a:path w="2891790" h="309880">
                  <a:moveTo>
                    <a:pt x="9194" y="240002"/>
                  </a:moveTo>
                  <a:lnTo>
                    <a:pt x="9251" y="241300"/>
                  </a:lnTo>
                  <a:lnTo>
                    <a:pt x="10079" y="252730"/>
                  </a:lnTo>
                  <a:lnTo>
                    <a:pt x="10955" y="267969"/>
                  </a:lnTo>
                  <a:lnTo>
                    <a:pt x="11379" y="278130"/>
                  </a:lnTo>
                  <a:lnTo>
                    <a:pt x="11342" y="272994"/>
                  </a:lnTo>
                  <a:lnTo>
                    <a:pt x="14808" y="270510"/>
                  </a:lnTo>
                  <a:lnTo>
                    <a:pt x="23736" y="269240"/>
                  </a:lnTo>
                  <a:lnTo>
                    <a:pt x="27276" y="269240"/>
                  </a:lnTo>
                  <a:lnTo>
                    <a:pt x="26757" y="257810"/>
                  </a:lnTo>
                  <a:lnTo>
                    <a:pt x="26482" y="252730"/>
                  </a:lnTo>
                  <a:lnTo>
                    <a:pt x="13754" y="252730"/>
                  </a:lnTo>
                  <a:lnTo>
                    <a:pt x="9829" y="248919"/>
                  </a:lnTo>
                  <a:lnTo>
                    <a:pt x="9194" y="240002"/>
                  </a:lnTo>
                  <a:close/>
                </a:path>
                <a:path w="2891790" h="309880">
                  <a:moveTo>
                    <a:pt x="598284" y="257810"/>
                  </a:moveTo>
                  <a:lnTo>
                    <a:pt x="591472" y="258327"/>
                  </a:lnTo>
                  <a:lnTo>
                    <a:pt x="588606" y="259080"/>
                  </a:lnTo>
                  <a:lnTo>
                    <a:pt x="584936" y="262890"/>
                  </a:lnTo>
                  <a:lnTo>
                    <a:pt x="585546" y="273050"/>
                  </a:lnTo>
                  <a:lnTo>
                    <a:pt x="589724" y="275590"/>
                  </a:lnTo>
                  <a:lnTo>
                    <a:pt x="599401" y="275590"/>
                  </a:lnTo>
                  <a:lnTo>
                    <a:pt x="603084" y="271780"/>
                  </a:lnTo>
                  <a:lnTo>
                    <a:pt x="602462" y="261619"/>
                  </a:lnTo>
                  <a:lnTo>
                    <a:pt x="598284" y="257810"/>
                  </a:lnTo>
                  <a:close/>
                </a:path>
                <a:path w="2891790" h="309880">
                  <a:moveTo>
                    <a:pt x="639787" y="255784"/>
                  </a:moveTo>
                  <a:lnTo>
                    <a:pt x="632111" y="256540"/>
                  </a:lnTo>
                  <a:lnTo>
                    <a:pt x="619217" y="256540"/>
                  </a:lnTo>
                  <a:lnTo>
                    <a:pt x="606327" y="257810"/>
                  </a:lnTo>
                  <a:lnTo>
                    <a:pt x="598284" y="257810"/>
                  </a:lnTo>
                  <a:lnTo>
                    <a:pt x="602462" y="261619"/>
                  </a:lnTo>
                  <a:lnTo>
                    <a:pt x="603084" y="271780"/>
                  </a:lnTo>
                  <a:lnTo>
                    <a:pt x="599401" y="275590"/>
                  </a:lnTo>
                  <a:lnTo>
                    <a:pt x="607349" y="275590"/>
                  </a:lnTo>
                  <a:lnTo>
                    <a:pt x="620142" y="274319"/>
                  </a:lnTo>
                  <a:lnTo>
                    <a:pt x="632937" y="274319"/>
                  </a:lnTo>
                  <a:lnTo>
                    <a:pt x="650582" y="273050"/>
                  </a:lnTo>
                  <a:lnTo>
                    <a:pt x="640892" y="273050"/>
                  </a:lnTo>
                  <a:lnTo>
                    <a:pt x="636803" y="269240"/>
                  </a:lnTo>
                  <a:lnTo>
                    <a:pt x="636397" y="260350"/>
                  </a:lnTo>
                  <a:lnTo>
                    <a:pt x="639787" y="255784"/>
                  </a:lnTo>
                  <a:close/>
                </a:path>
                <a:path w="2891790" h="309880">
                  <a:moveTo>
                    <a:pt x="289559" y="274319"/>
                  </a:moveTo>
                  <a:lnTo>
                    <a:pt x="284911" y="274319"/>
                  </a:lnTo>
                  <a:lnTo>
                    <a:pt x="284455" y="274846"/>
                  </a:lnTo>
                  <a:lnTo>
                    <a:pt x="289559" y="274319"/>
                  </a:lnTo>
                  <a:close/>
                </a:path>
                <a:path w="2891790" h="309880">
                  <a:moveTo>
                    <a:pt x="294170" y="273050"/>
                  </a:moveTo>
                  <a:lnTo>
                    <a:pt x="289610" y="274306"/>
                  </a:lnTo>
                  <a:lnTo>
                    <a:pt x="294764" y="273597"/>
                  </a:lnTo>
                  <a:lnTo>
                    <a:pt x="294170" y="273050"/>
                  </a:lnTo>
                  <a:close/>
                </a:path>
                <a:path w="2891790" h="309880">
                  <a:moveTo>
                    <a:pt x="649859" y="255269"/>
                  </a:moveTo>
                  <a:lnTo>
                    <a:pt x="645007" y="255269"/>
                  </a:lnTo>
                  <a:lnTo>
                    <a:pt x="639787" y="255784"/>
                  </a:lnTo>
                  <a:lnTo>
                    <a:pt x="636397" y="260350"/>
                  </a:lnTo>
                  <a:lnTo>
                    <a:pt x="636803" y="269240"/>
                  </a:lnTo>
                  <a:lnTo>
                    <a:pt x="640892" y="273050"/>
                  </a:lnTo>
                  <a:lnTo>
                    <a:pt x="650582" y="273050"/>
                  </a:lnTo>
                  <a:lnTo>
                    <a:pt x="654342" y="269240"/>
                  </a:lnTo>
                  <a:lnTo>
                    <a:pt x="653948" y="259080"/>
                  </a:lnTo>
                  <a:lnTo>
                    <a:pt x="649859" y="255269"/>
                  </a:lnTo>
                  <a:close/>
                </a:path>
                <a:path w="2891790" h="309880">
                  <a:moveTo>
                    <a:pt x="693648" y="254000"/>
                  </a:moveTo>
                  <a:lnTo>
                    <a:pt x="671747" y="254000"/>
                  </a:lnTo>
                  <a:lnTo>
                    <a:pt x="658378" y="255269"/>
                  </a:lnTo>
                  <a:lnTo>
                    <a:pt x="649859" y="255269"/>
                  </a:lnTo>
                  <a:lnTo>
                    <a:pt x="653948" y="259080"/>
                  </a:lnTo>
                  <a:lnTo>
                    <a:pt x="654342" y="269240"/>
                  </a:lnTo>
                  <a:lnTo>
                    <a:pt x="650582" y="273050"/>
                  </a:lnTo>
                  <a:lnTo>
                    <a:pt x="659056" y="273050"/>
                  </a:lnTo>
                  <a:lnTo>
                    <a:pt x="672382" y="271780"/>
                  </a:lnTo>
                  <a:lnTo>
                    <a:pt x="685707" y="271780"/>
                  </a:lnTo>
                  <a:lnTo>
                    <a:pt x="693595" y="271228"/>
                  </a:lnTo>
                  <a:lnTo>
                    <a:pt x="690130" y="267969"/>
                  </a:lnTo>
                  <a:lnTo>
                    <a:pt x="689838" y="257810"/>
                  </a:lnTo>
                  <a:lnTo>
                    <a:pt x="693648" y="254000"/>
                  </a:lnTo>
                  <a:close/>
                </a:path>
                <a:path w="2891790" h="309880">
                  <a:moveTo>
                    <a:pt x="27276" y="269240"/>
                  </a:moveTo>
                  <a:lnTo>
                    <a:pt x="23736" y="269240"/>
                  </a:lnTo>
                  <a:lnTo>
                    <a:pt x="27390" y="272994"/>
                  </a:lnTo>
                  <a:lnTo>
                    <a:pt x="27276" y="269240"/>
                  </a:lnTo>
                  <a:close/>
                </a:path>
                <a:path w="2891790" h="309880">
                  <a:moveTo>
                    <a:pt x="744533" y="254000"/>
                  </a:moveTo>
                  <a:lnTo>
                    <a:pt x="703326" y="254000"/>
                  </a:lnTo>
                  <a:lnTo>
                    <a:pt x="707377" y="257810"/>
                  </a:lnTo>
                  <a:lnTo>
                    <a:pt x="707682" y="266700"/>
                  </a:lnTo>
                  <a:lnTo>
                    <a:pt x="703872" y="270510"/>
                  </a:lnTo>
                  <a:lnTo>
                    <a:pt x="693595" y="271228"/>
                  </a:lnTo>
                  <a:lnTo>
                    <a:pt x="694182" y="271780"/>
                  </a:lnTo>
                  <a:lnTo>
                    <a:pt x="699033" y="271780"/>
                  </a:lnTo>
                  <a:lnTo>
                    <a:pt x="712492" y="270510"/>
                  </a:lnTo>
                  <a:lnTo>
                    <a:pt x="725949" y="270510"/>
                  </a:lnTo>
                  <a:lnTo>
                    <a:pt x="739404" y="269240"/>
                  </a:lnTo>
                  <a:lnTo>
                    <a:pt x="748004" y="269240"/>
                  </a:lnTo>
                  <a:lnTo>
                    <a:pt x="743851" y="265430"/>
                  </a:lnTo>
                  <a:lnTo>
                    <a:pt x="743292" y="255269"/>
                  </a:lnTo>
                  <a:lnTo>
                    <a:pt x="744533" y="254000"/>
                  </a:lnTo>
                  <a:close/>
                </a:path>
                <a:path w="2891790" h="309880">
                  <a:moveTo>
                    <a:pt x="747014" y="251460"/>
                  </a:moveTo>
                  <a:lnTo>
                    <a:pt x="738533" y="251460"/>
                  </a:lnTo>
                  <a:lnTo>
                    <a:pt x="725187" y="252730"/>
                  </a:lnTo>
                  <a:lnTo>
                    <a:pt x="711839" y="252730"/>
                  </a:lnTo>
                  <a:lnTo>
                    <a:pt x="693648" y="254000"/>
                  </a:lnTo>
                  <a:lnTo>
                    <a:pt x="689838" y="257810"/>
                  </a:lnTo>
                  <a:lnTo>
                    <a:pt x="690130" y="267969"/>
                  </a:lnTo>
                  <a:lnTo>
                    <a:pt x="693595" y="271228"/>
                  </a:lnTo>
                  <a:lnTo>
                    <a:pt x="703872" y="270510"/>
                  </a:lnTo>
                  <a:lnTo>
                    <a:pt x="707682" y="266700"/>
                  </a:lnTo>
                  <a:lnTo>
                    <a:pt x="707377" y="257810"/>
                  </a:lnTo>
                  <a:lnTo>
                    <a:pt x="703326" y="254000"/>
                  </a:lnTo>
                  <a:lnTo>
                    <a:pt x="744533" y="254000"/>
                  </a:lnTo>
                  <a:lnTo>
                    <a:pt x="747014" y="251460"/>
                  </a:lnTo>
                  <a:close/>
                </a:path>
                <a:path w="2891790" h="309880">
                  <a:moveTo>
                    <a:pt x="787793" y="249789"/>
                  </a:moveTo>
                  <a:lnTo>
                    <a:pt x="782973" y="250190"/>
                  </a:lnTo>
                  <a:lnTo>
                    <a:pt x="772606" y="250190"/>
                  </a:lnTo>
                  <a:lnTo>
                    <a:pt x="747014" y="251460"/>
                  </a:lnTo>
                  <a:lnTo>
                    <a:pt x="743292" y="255269"/>
                  </a:lnTo>
                  <a:lnTo>
                    <a:pt x="743851" y="265430"/>
                  </a:lnTo>
                  <a:lnTo>
                    <a:pt x="748004" y="269240"/>
                  </a:lnTo>
                  <a:lnTo>
                    <a:pt x="752855" y="269240"/>
                  </a:lnTo>
                  <a:lnTo>
                    <a:pt x="757949" y="268926"/>
                  </a:lnTo>
                  <a:lnTo>
                    <a:pt x="761441" y="264160"/>
                  </a:lnTo>
                  <a:lnTo>
                    <a:pt x="760920" y="255269"/>
                  </a:lnTo>
                  <a:lnTo>
                    <a:pt x="756767" y="251460"/>
                  </a:lnTo>
                  <a:lnTo>
                    <a:pt x="786549" y="251460"/>
                  </a:lnTo>
                  <a:lnTo>
                    <a:pt x="787793" y="249789"/>
                  </a:lnTo>
                  <a:close/>
                </a:path>
                <a:path w="2891790" h="309880">
                  <a:moveTo>
                    <a:pt x="757949" y="268926"/>
                  </a:moveTo>
                  <a:lnTo>
                    <a:pt x="752855" y="269240"/>
                  </a:lnTo>
                  <a:lnTo>
                    <a:pt x="757720" y="269240"/>
                  </a:lnTo>
                  <a:lnTo>
                    <a:pt x="757949" y="268926"/>
                  </a:lnTo>
                  <a:close/>
                </a:path>
                <a:path w="2891790" h="309880">
                  <a:moveTo>
                    <a:pt x="786549" y="251460"/>
                  </a:moveTo>
                  <a:lnTo>
                    <a:pt x="756767" y="251460"/>
                  </a:lnTo>
                  <a:lnTo>
                    <a:pt x="760920" y="255269"/>
                  </a:lnTo>
                  <a:lnTo>
                    <a:pt x="761441" y="264160"/>
                  </a:lnTo>
                  <a:lnTo>
                    <a:pt x="757949" y="268926"/>
                  </a:lnTo>
                  <a:lnTo>
                    <a:pt x="773488" y="267969"/>
                  </a:lnTo>
                  <a:lnTo>
                    <a:pt x="783808" y="266700"/>
                  </a:lnTo>
                  <a:lnTo>
                    <a:pt x="789241" y="266700"/>
                  </a:lnTo>
                  <a:lnTo>
                    <a:pt x="785101" y="262890"/>
                  </a:lnTo>
                  <a:lnTo>
                    <a:pt x="784656" y="254000"/>
                  </a:lnTo>
                  <a:lnTo>
                    <a:pt x="786549" y="251460"/>
                  </a:lnTo>
                  <a:close/>
                </a:path>
                <a:path w="2891790" h="309880">
                  <a:moveTo>
                    <a:pt x="374345" y="267969"/>
                  </a:moveTo>
                  <a:lnTo>
                    <a:pt x="369595" y="267969"/>
                  </a:lnTo>
                  <a:lnTo>
                    <a:pt x="369190" y="268515"/>
                  </a:lnTo>
                  <a:lnTo>
                    <a:pt x="374345" y="267969"/>
                  </a:lnTo>
                  <a:close/>
                </a:path>
                <a:path w="2891790" h="309880">
                  <a:moveTo>
                    <a:pt x="798245" y="248919"/>
                  </a:moveTo>
                  <a:lnTo>
                    <a:pt x="787793" y="249789"/>
                  </a:lnTo>
                  <a:lnTo>
                    <a:pt x="784656" y="254000"/>
                  </a:lnTo>
                  <a:lnTo>
                    <a:pt x="785101" y="262890"/>
                  </a:lnTo>
                  <a:lnTo>
                    <a:pt x="789241" y="266700"/>
                  </a:lnTo>
                  <a:lnTo>
                    <a:pt x="799020" y="266700"/>
                  </a:lnTo>
                  <a:lnTo>
                    <a:pt x="802817" y="262890"/>
                  </a:lnTo>
                  <a:lnTo>
                    <a:pt x="802398" y="252730"/>
                  </a:lnTo>
                  <a:lnTo>
                    <a:pt x="798245" y="248919"/>
                  </a:lnTo>
                  <a:close/>
                </a:path>
                <a:path w="2891790" h="309880">
                  <a:moveTo>
                    <a:pt x="838212" y="246380"/>
                  </a:moveTo>
                  <a:lnTo>
                    <a:pt x="813300" y="247650"/>
                  </a:lnTo>
                  <a:lnTo>
                    <a:pt x="803323" y="248919"/>
                  </a:lnTo>
                  <a:lnTo>
                    <a:pt x="798245" y="248919"/>
                  </a:lnTo>
                  <a:lnTo>
                    <a:pt x="802398" y="252730"/>
                  </a:lnTo>
                  <a:lnTo>
                    <a:pt x="802817" y="262890"/>
                  </a:lnTo>
                  <a:lnTo>
                    <a:pt x="799020" y="266700"/>
                  </a:lnTo>
                  <a:lnTo>
                    <a:pt x="804168" y="266700"/>
                  </a:lnTo>
                  <a:lnTo>
                    <a:pt x="814203" y="265430"/>
                  </a:lnTo>
                  <a:lnTo>
                    <a:pt x="828554" y="264700"/>
                  </a:lnTo>
                  <a:lnTo>
                    <a:pt x="825144" y="261619"/>
                  </a:lnTo>
                  <a:lnTo>
                    <a:pt x="824560" y="251460"/>
                  </a:lnTo>
                  <a:lnTo>
                    <a:pt x="828306" y="247650"/>
                  </a:lnTo>
                  <a:lnTo>
                    <a:pt x="838800" y="246911"/>
                  </a:lnTo>
                  <a:lnTo>
                    <a:pt x="838212" y="246380"/>
                  </a:lnTo>
                  <a:close/>
                </a:path>
                <a:path w="2891790" h="309880">
                  <a:moveTo>
                    <a:pt x="885633" y="243849"/>
                  </a:moveTo>
                  <a:lnTo>
                    <a:pt x="872564" y="245110"/>
                  </a:lnTo>
                  <a:lnTo>
                    <a:pt x="859455" y="245110"/>
                  </a:lnTo>
                  <a:lnTo>
                    <a:pt x="846348" y="246380"/>
                  </a:lnTo>
                  <a:lnTo>
                    <a:pt x="838800" y="246911"/>
                  </a:lnTo>
                  <a:lnTo>
                    <a:pt x="842429" y="250190"/>
                  </a:lnTo>
                  <a:lnTo>
                    <a:pt x="842975" y="260350"/>
                  </a:lnTo>
                  <a:lnTo>
                    <a:pt x="839203" y="264160"/>
                  </a:lnTo>
                  <a:lnTo>
                    <a:pt x="828554" y="264700"/>
                  </a:lnTo>
                  <a:lnTo>
                    <a:pt x="829360" y="265430"/>
                  </a:lnTo>
                  <a:lnTo>
                    <a:pt x="834275" y="265430"/>
                  </a:lnTo>
                  <a:lnTo>
                    <a:pt x="860275" y="262890"/>
                  </a:lnTo>
                  <a:lnTo>
                    <a:pt x="881303" y="262890"/>
                  </a:lnTo>
                  <a:lnTo>
                    <a:pt x="877125" y="259080"/>
                  </a:lnTo>
                  <a:lnTo>
                    <a:pt x="876757" y="248919"/>
                  </a:lnTo>
                  <a:lnTo>
                    <a:pt x="880668" y="245110"/>
                  </a:lnTo>
                  <a:lnTo>
                    <a:pt x="885633" y="243849"/>
                  </a:lnTo>
                  <a:close/>
                </a:path>
                <a:path w="2891790" h="309880">
                  <a:moveTo>
                    <a:pt x="838800" y="246911"/>
                  </a:moveTo>
                  <a:lnTo>
                    <a:pt x="828306" y="247650"/>
                  </a:lnTo>
                  <a:lnTo>
                    <a:pt x="824560" y="251460"/>
                  </a:lnTo>
                  <a:lnTo>
                    <a:pt x="825144" y="261619"/>
                  </a:lnTo>
                  <a:lnTo>
                    <a:pt x="828554" y="264700"/>
                  </a:lnTo>
                  <a:lnTo>
                    <a:pt x="839203" y="264160"/>
                  </a:lnTo>
                  <a:lnTo>
                    <a:pt x="842975" y="260350"/>
                  </a:lnTo>
                  <a:lnTo>
                    <a:pt x="842429" y="250190"/>
                  </a:lnTo>
                  <a:lnTo>
                    <a:pt x="838800" y="246911"/>
                  </a:lnTo>
                  <a:close/>
                </a:path>
                <a:path w="2891790" h="309880">
                  <a:moveTo>
                    <a:pt x="890739" y="243840"/>
                  </a:moveTo>
                  <a:lnTo>
                    <a:pt x="885633" y="243849"/>
                  </a:lnTo>
                  <a:lnTo>
                    <a:pt x="880668" y="245110"/>
                  </a:lnTo>
                  <a:lnTo>
                    <a:pt x="876757" y="248919"/>
                  </a:lnTo>
                  <a:lnTo>
                    <a:pt x="877125" y="259080"/>
                  </a:lnTo>
                  <a:lnTo>
                    <a:pt x="881303" y="262890"/>
                  </a:lnTo>
                  <a:lnTo>
                    <a:pt x="886294" y="262890"/>
                  </a:lnTo>
                  <a:lnTo>
                    <a:pt x="891528" y="262609"/>
                  </a:lnTo>
                  <a:lnTo>
                    <a:pt x="895248" y="257810"/>
                  </a:lnTo>
                  <a:lnTo>
                    <a:pt x="894930" y="247650"/>
                  </a:lnTo>
                  <a:lnTo>
                    <a:pt x="890739" y="243840"/>
                  </a:lnTo>
                  <a:close/>
                </a:path>
                <a:path w="2891790" h="309880">
                  <a:moveTo>
                    <a:pt x="891528" y="262609"/>
                  </a:moveTo>
                  <a:lnTo>
                    <a:pt x="886294" y="262890"/>
                  </a:lnTo>
                  <a:lnTo>
                    <a:pt x="891311" y="262890"/>
                  </a:lnTo>
                  <a:lnTo>
                    <a:pt x="891528" y="262609"/>
                  </a:lnTo>
                  <a:close/>
                </a:path>
                <a:path w="2891790" h="309880">
                  <a:moveTo>
                    <a:pt x="976134" y="243840"/>
                  </a:moveTo>
                  <a:lnTo>
                    <a:pt x="890739" y="243840"/>
                  </a:lnTo>
                  <a:lnTo>
                    <a:pt x="894930" y="247650"/>
                  </a:lnTo>
                  <a:lnTo>
                    <a:pt x="895248" y="257810"/>
                  </a:lnTo>
                  <a:lnTo>
                    <a:pt x="891528" y="262609"/>
                  </a:lnTo>
                  <a:lnTo>
                    <a:pt x="910020" y="261619"/>
                  </a:lnTo>
                  <a:lnTo>
                    <a:pt x="976147" y="261619"/>
                  </a:lnTo>
                  <a:lnTo>
                    <a:pt x="972032" y="257810"/>
                  </a:lnTo>
                  <a:lnTo>
                    <a:pt x="972019" y="247650"/>
                  </a:lnTo>
                  <a:lnTo>
                    <a:pt x="976134" y="243840"/>
                  </a:lnTo>
                  <a:close/>
                </a:path>
                <a:path w="2891790" h="309880">
                  <a:moveTo>
                    <a:pt x="591472" y="258327"/>
                  </a:moveTo>
                  <a:lnTo>
                    <a:pt x="581577" y="259080"/>
                  </a:lnTo>
                  <a:lnTo>
                    <a:pt x="569712" y="260350"/>
                  </a:lnTo>
                  <a:lnTo>
                    <a:pt x="557851" y="260350"/>
                  </a:lnTo>
                  <a:lnTo>
                    <a:pt x="541172" y="261619"/>
                  </a:lnTo>
                  <a:lnTo>
                    <a:pt x="540491" y="262586"/>
                  </a:lnTo>
                  <a:lnTo>
                    <a:pt x="550824" y="261619"/>
                  </a:lnTo>
                  <a:lnTo>
                    <a:pt x="586160" y="261619"/>
                  </a:lnTo>
                  <a:lnTo>
                    <a:pt x="588606" y="259080"/>
                  </a:lnTo>
                  <a:lnTo>
                    <a:pt x="591472" y="258327"/>
                  </a:lnTo>
                  <a:close/>
                </a:path>
                <a:path w="2891790" h="309880">
                  <a:moveTo>
                    <a:pt x="986294" y="243840"/>
                  </a:moveTo>
                  <a:lnTo>
                    <a:pt x="976124" y="243849"/>
                  </a:lnTo>
                  <a:lnTo>
                    <a:pt x="972019" y="247650"/>
                  </a:lnTo>
                  <a:lnTo>
                    <a:pt x="972032" y="257810"/>
                  </a:lnTo>
                  <a:lnTo>
                    <a:pt x="976147" y="261619"/>
                  </a:lnTo>
                  <a:lnTo>
                    <a:pt x="986307" y="261619"/>
                  </a:lnTo>
                  <a:lnTo>
                    <a:pt x="990422" y="257810"/>
                  </a:lnTo>
                  <a:lnTo>
                    <a:pt x="990422" y="247650"/>
                  </a:lnTo>
                  <a:lnTo>
                    <a:pt x="986294" y="243840"/>
                  </a:lnTo>
                  <a:close/>
                </a:path>
                <a:path w="2891790" h="309880">
                  <a:moveTo>
                    <a:pt x="1058697" y="242569"/>
                  </a:moveTo>
                  <a:lnTo>
                    <a:pt x="1050029" y="242569"/>
                  </a:lnTo>
                  <a:lnTo>
                    <a:pt x="1022493" y="243840"/>
                  </a:lnTo>
                  <a:lnTo>
                    <a:pt x="986294" y="243840"/>
                  </a:lnTo>
                  <a:lnTo>
                    <a:pt x="990422" y="247650"/>
                  </a:lnTo>
                  <a:lnTo>
                    <a:pt x="990422" y="257810"/>
                  </a:lnTo>
                  <a:lnTo>
                    <a:pt x="986307" y="261619"/>
                  </a:lnTo>
                  <a:lnTo>
                    <a:pt x="1059180" y="261619"/>
                  </a:lnTo>
                  <a:lnTo>
                    <a:pt x="1054950" y="257810"/>
                  </a:lnTo>
                  <a:lnTo>
                    <a:pt x="1054671" y="247650"/>
                  </a:lnTo>
                  <a:lnTo>
                    <a:pt x="1058697" y="242569"/>
                  </a:lnTo>
                  <a:close/>
                </a:path>
                <a:path w="2891790" h="309880">
                  <a:moveTo>
                    <a:pt x="1068920" y="242569"/>
                  </a:moveTo>
                  <a:lnTo>
                    <a:pt x="1058697" y="242569"/>
                  </a:lnTo>
                  <a:lnTo>
                    <a:pt x="1054671" y="247650"/>
                  </a:lnTo>
                  <a:lnTo>
                    <a:pt x="1054950" y="257810"/>
                  </a:lnTo>
                  <a:lnTo>
                    <a:pt x="1059180" y="261619"/>
                  </a:lnTo>
                  <a:lnTo>
                    <a:pt x="1069378" y="261619"/>
                  </a:lnTo>
                  <a:lnTo>
                    <a:pt x="1073416" y="256540"/>
                  </a:lnTo>
                  <a:lnTo>
                    <a:pt x="1073162" y="246380"/>
                  </a:lnTo>
                  <a:lnTo>
                    <a:pt x="1068920" y="242569"/>
                  </a:lnTo>
                  <a:close/>
                </a:path>
                <a:path w="2891790" h="309880">
                  <a:moveTo>
                    <a:pt x="1141882" y="237490"/>
                  </a:moveTo>
                  <a:lnTo>
                    <a:pt x="1112785" y="240030"/>
                  </a:lnTo>
                  <a:lnTo>
                    <a:pt x="1100804" y="241300"/>
                  </a:lnTo>
                  <a:lnTo>
                    <a:pt x="1080490" y="242569"/>
                  </a:lnTo>
                  <a:lnTo>
                    <a:pt x="1068920" y="242569"/>
                  </a:lnTo>
                  <a:lnTo>
                    <a:pt x="1073162" y="246380"/>
                  </a:lnTo>
                  <a:lnTo>
                    <a:pt x="1073416" y="256540"/>
                  </a:lnTo>
                  <a:lnTo>
                    <a:pt x="1069378" y="261619"/>
                  </a:lnTo>
                  <a:lnTo>
                    <a:pt x="1070726" y="261619"/>
                  </a:lnTo>
                  <a:lnTo>
                    <a:pt x="1077167" y="260350"/>
                  </a:lnTo>
                  <a:lnTo>
                    <a:pt x="1090041" y="260350"/>
                  </a:lnTo>
                  <a:lnTo>
                    <a:pt x="1114093" y="257810"/>
                  </a:lnTo>
                  <a:lnTo>
                    <a:pt x="1143254" y="256540"/>
                  </a:lnTo>
                  <a:lnTo>
                    <a:pt x="1133017" y="256540"/>
                  </a:lnTo>
                  <a:lnTo>
                    <a:pt x="1128560" y="252730"/>
                  </a:lnTo>
                  <a:lnTo>
                    <a:pt x="1127772" y="242569"/>
                  </a:lnTo>
                  <a:lnTo>
                    <a:pt x="1131620" y="238760"/>
                  </a:lnTo>
                  <a:lnTo>
                    <a:pt x="1142251" y="237805"/>
                  </a:lnTo>
                  <a:lnTo>
                    <a:pt x="1141882" y="237490"/>
                  </a:lnTo>
                  <a:close/>
                </a:path>
                <a:path w="2891790" h="309880">
                  <a:moveTo>
                    <a:pt x="598284" y="257810"/>
                  </a:moveTo>
                  <a:lnTo>
                    <a:pt x="593445" y="257810"/>
                  </a:lnTo>
                  <a:lnTo>
                    <a:pt x="591472" y="258327"/>
                  </a:lnTo>
                  <a:lnTo>
                    <a:pt x="598284" y="257810"/>
                  </a:lnTo>
                  <a:close/>
                </a:path>
                <a:path w="2891790" h="309880">
                  <a:moveTo>
                    <a:pt x="1142251" y="237805"/>
                  </a:moveTo>
                  <a:lnTo>
                    <a:pt x="1131620" y="238760"/>
                  </a:lnTo>
                  <a:lnTo>
                    <a:pt x="1127772" y="242569"/>
                  </a:lnTo>
                  <a:lnTo>
                    <a:pt x="1128560" y="252730"/>
                  </a:lnTo>
                  <a:lnTo>
                    <a:pt x="1133017" y="256540"/>
                  </a:lnTo>
                  <a:lnTo>
                    <a:pt x="1138135" y="256540"/>
                  </a:lnTo>
                  <a:lnTo>
                    <a:pt x="1143533" y="256171"/>
                  </a:lnTo>
                  <a:lnTo>
                    <a:pt x="1147102" y="251460"/>
                  </a:lnTo>
                  <a:lnTo>
                    <a:pt x="1146340" y="241300"/>
                  </a:lnTo>
                  <a:lnTo>
                    <a:pt x="1142251" y="237805"/>
                  </a:lnTo>
                  <a:close/>
                </a:path>
                <a:path w="2891790" h="309880">
                  <a:moveTo>
                    <a:pt x="1143533" y="256171"/>
                  </a:moveTo>
                  <a:lnTo>
                    <a:pt x="1138135" y="256540"/>
                  </a:lnTo>
                  <a:lnTo>
                    <a:pt x="1143254" y="256540"/>
                  </a:lnTo>
                  <a:lnTo>
                    <a:pt x="1143533" y="256171"/>
                  </a:lnTo>
                  <a:close/>
                </a:path>
                <a:path w="2891790" h="309880">
                  <a:moveTo>
                    <a:pt x="1205945" y="232781"/>
                  </a:moveTo>
                  <a:lnTo>
                    <a:pt x="1174061" y="234950"/>
                  </a:lnTo>
                  <a:lnTo>
                    <a:pt x="1142251" y="237805"/>
                  </a:lnTo>
                  <a:lnTo>
                    <a:pt x="1146340" y="241300"/>
                  </a:lnTo>
                  <a:lnTo>
                    <a:pt x="1147102" y="251460"/>
                  </a:lnTo>
                  <a:lnTo>
                    <a:pt x="1143533" y="256171"/>
                  </a:lnTo>
                  <a:lnTo>
                    <a:pt x="1212507" y="251460"/>
                  </a:lnTo>
                  <a:lnTo>
                    <a:pt x="1207350" y="251460"/>
                  </a:lnTo>
                  <a:lnTo>
                    <a:pt x="1202950" y="247677"/>
                  </a:lnTo>
                  <a:lnTo>
                    <a:pt x="1202826" y="246153"/>
                  </a:lnTo>
                  <a:lnTo>
                    <a:pt x="1202296" y="237490"/>
                  </a:lnTo>
                  <a:lnTo>
                    <a:pt x="1205945" y="232781"/>
                  </a:lnTo>
                  <a:close/>
                </a:path>
                <a:path w="2891790" h="309880">
                  <a:moveTo>
                    <a:pt x="645007" y="255269"/>
                  </a:moveTo>
                  <a:lnTo>
                    <a:pt x="640168" y="255269"/>
                  </a:lnTo>
                  <a:lnTo>
                    <a:pt x="639787" y="255784"/>
                  </a:lnTo>
                  <a:lnTo>
                    <a:pt x="645007" y="255269"/>
                  </a:lnTo>
                  <a:close/>
                </a:path>
                <a:path w="2891790" h="309880">
                  <a:moveTo>
                    <a:pt x="21602" y="234950"/>
                  </a:moveTo>
                  <a:lnTo>
                    <a:pt x="15228" y="235846"/>
                  </a:lnTo>
                  <a:lnTo>
                    <a:pt x="14998" y="236219"/>
                  </a:lnTo>
                  <a:lnTo>
                    <a:pt x="12572" y="236219"/>
                  </a:lnTo>
                  <a:lnTo>
                    <a:pt x="9194" y="240002"/>
                  </a:lnTo>
                  <a:lnTo>
                    <a:pt x="9829" y="248919"/>
                  </a:lnTo>
                  <a:lnTo>
                    <a:pt x="13754" y="252730"/>
                  </a:lnTo>
                  <a:lnTo>
                    <a:pt x="22771" y="251460"/>
                  </a:lnTo>
                  <a:lnTo>
                    <a:pt x="26149" y="247677"/>
                  </a:lnTo>
                  <a:lnTo>
                    <a:pt x="25527" y="238760"/>
                  </a:lnTo>
                  <a:lnTo>
                    <a:pt x="22910" y="236219"/>
                  </a:lnTo>
                  <a:lnTo>
                    <a:pt x="14998" y="236219"/>
                  </a:lnTo>
                  <a:lnTo>
                    <a:pt x="15228" y="235846"/>
                  </a:lnTo>
                  <a:lnTo>
                    <a:pt x="22526" y="235846"/>
                  </a:lnTo>
                  <a:lnTo>
                    <a:pt x="21602" y="234950"/>
                  </a:lnTo>
                  <a:close/>
                </a:path>
                <a:path w="2891790" h="309880">
                  <a:moveTo>
                    <a:pt x="26149" y="247677"/>
                  </a:moveTo>
                  <a:lnTo>
                    <a:pt x="22771" y="251460"/>
                  </a:lnTo>
                  <a:lnTo>
                    <a:pt x="13754" y="252730"/>
                  </a:lnTo>
                  <a:lnTo>
                    <a:pt x="26482" y="252730"/>
                  </a:lnTo>
                  <a:lnTo>
                    <a:pt x="26149" y="247677"/>
                  </a:lnTo>
                  <a:close/>
                </a:path>
                <a:path w="2891790" h="309880">
                  <a:moveTo>
                    <a:pt x="1216571" y="232410"/>
                  </a:moveTo>
                  <a:lnTo>
                    <a:pt x="1211414" y="232410"/>
                  </a:lnTo>
                  <a:lnTo>
                    <a:pt x="1205945" y="232781"/>
                  </a:lnTo>
                  <a:lnTo>
                    <a:pt x="1202296" y="237490"/>
                  </a:lnTo>
                  <a:lnTo>
                    <a:pt x="1202826" y="246153"/>
                  </a:lnTo>
                  <a:lnTo>
                    <a:pt x="1202950" y="247677"/>
                  </a:lnTo>
                  <a:lnTo>
                    <a:pt x="1207350" y="251460"/>
                  </a:lnTo>
                  <a:lnTo>
                    <a:pt x="1212507" y="251460"/>
                  </a:lnTo>
                  <a:lnTo>
                    <a:pt x="1218216" y="250746"/>
                  </a:lnTo>
                  <a:lnTo>
                    <a:pt x="1221600" y="246380"/>
                  </a:lnTo>
                  <a:lnTo>
                    <a:pt x="1221003" y="236219"/>
                  </a:lnTo>
                  <a:lnTo>
                    <a:pt x="1216571" y="232410"/>
                  </a:lnTo>
                  <a:close/>
                </a:path>
                <a:path w="2891790" h="309880">
                  <a:moveTo>
                    <a:pt x="1218216" y="250746"/>
                  </a:moveTo>
                  <a:lnTo>
                    <a:pt x="1212507" y="251460"/>
                  </a:lnTo>
                  <a:lnTo>
                    <a:pt x="1217663" y="251460"/>
                  </a:lnTo>
                  <a:lnTo>
                    <a:pt x="1218216" y="250746"/>
                  </a:lnTo>
                  <a:close/>
                </a:path>
                <a:path w="2891790" h="309880">
                  <a:moveTo>
                    <a:pt x="1247609" y="231140"/>
                  </a:moveTo>
                  <a:lnTo>
                    <a:pt x="1232095" y="231140"/>
                  </a:lnTo>
                  <a:lnTo>
                    <a:pt x="1221743" y="232410"/>
                  </a:lnTo>
                  <a:lnTo>
                    <a:pt x="1216571" y="232410"/>
                  </a:lnTo>
                  <a:lnTo>
                    <a:pt x="1221003" y="236219"/>
                  </a:lnTo>
                  <a:lnTo>
                    <a:pt x="1221600" y="246380"/>
                  </a:lnTo>
                  <a:lnTo>
                    <a:pt x="1218216" y="250746"/>
                  </a:lnTo>
                  <a:lnTo>
                    <a:pt x="1222664" y="250190"/>
                  </a:lnTo>
                  <a:lnTo>
                    <a:pt x="1247978" y="250190"/>
                  </a:lnTo>
                  <a:lnTo>
                    <a:pt x="1243698" y="246380"/>
                  </a:lnTo>
                  <a:lnTo>
                    <a:pt x="1243482" y="234950"/>
                  </a:lnTo>
                  <a:lnTo>
                    <a:pt x="1247609" y="231140"/>
                  </a:lnTo>
                  <a:close/>
                </a:path>
                <a:path w="2891790" h="309880">
                  <a:moveTo>
                    <a:pt x="1258049" y="231140"/>
                  </a:moveTo>
                  <a:lnTo>
                    <a:pt x="1247609" y="231140"/>
                  </a:lnTo>
                  <a:lnTo>
                    <a:pt x="1243482" y="234950"/>
                  </a:lnTo>
                  <a:lnTo>
                    <a:pt x="1243698" y="246380"/>
                  </a:lnTo>
                  <a:lnTo>
                    <a:pt x="1247978" y="250190"/>
                  </a:lnTo>
                  <a:lnTo>
                    <a:pt x="1258366" y="250190"/>
                  </a:lnTo>
                  <a:lnTo>
                    <a:pt x="1262507" y="245110"/>
                  </a:lnTo>
                  <a:lnTo>
                    <a:pt x="1262329" y="234950"/>
                  </a:lnTo>
                  <a:lnTo>
                    <a:pt x="1258049" y="231140"/>
                  </a:lnTo>
                  <a:close/>
                </a:path>
                <a:path w="2891790" h="309880">
                  <a:moveTo>
                    <a:pt x="1336903" y="231140"/>
                  </a:moveTo>
                  <a:lnTo>
                    <a:pt x="1258049" y="231140"/>
                  </a:lnTo>
                  <a:lnTo>
                    <a:pt x="1262329" y="234950"/>
                  </a:lnTo>
                  <a:lnTo>
                    <a:pt x="1262507" y="245110"/>
                  </a:lnTo>
                  <a:lnTo>
                    <a:pt x="1258366" y="250190"/>
                  </a:lnTo>
                  <a:lnTo>
                    <a:pt x="1336916" y="250190"/>
                  </a:lnTo>
                  <a:lnTo>
                    <a:pt x="1332661" y="245110"/>
                  </a:lnTo>
                  <a:lnTo>
                    <a:pt x="1332649" y="234950"/>
                  </a:lnTo>
                  <a:lnTo>
                    <a:pt x="1336903" y="231140"/>
                  </a:lnTo>
                  <a:close/>
                </a:path>
                <a:path w="2891790" h="309880">
                  <a:moveTo>
                    <a:pt x="1347406" y="231140"/>
                  </a:moveTo>
                  <a:lnTo>
                    <a:pt x="1336903" y="231140"/>
                  </a:lnTo>
                  <a:lnTo>
                    <a:pt x="1332649" y="234950"/>
                  </a:lnTo>
                  <a:lnTo>
                    <a:pt x="1332661" y="245110"/>
                  </a:lnTo>
                  <a:lnTo>
                    <a:pt x="1336916" y="250190"/>
                  </a:lnTo>
                  <a:lnTo>
                    <a:pt x="1347393" y="250190"/>
                  </a:lnTo>
                  <a:lnTo>
                    <a:pt x="1351648" y="245110"/>
                  </a:lnTo>
                  <a:lnTo>
                    <a:pt x="1351648" y="234950"/>
                  </a:lnTo>
                  <a:lnTo>
                    <a:pt x="1347406" y="231140"/>
                  </a:lnTo>
                  <a:close/>
                </a:path>
                <a:path w="2891790" h="309880">
                  <a:moveTo>
                    <a:pt x="1426146" y="231140"/>
                  </a:moveTo>
                  <a:lnTo>
                    <a:pt x="1347406" y="231140"/>
                  </a:lnTo>
                  <a:lnTo>
                    <a:pt x="1351648" y="234950"/>
                  </a:lnTo>
                  <a:lnTo>
                    <a:pt x="1351648" y="245110"/>
                  </a:lnTo>
                  <a:lnTo>
                    <a:pt x="1347393" y="250190"/>
                  </a:lnTo>
                  <a:lnTo>
                    <a:pt x="1425867" y="250190"/>
                  </a:lnTo>
                  <a:lnTo>
                    <a:pt x="1421663" y="245110"/>
                  </a:lnTo>
                  <a:lnTo>
                    <a:pt x="1421815" y="234950"/>
                  </a:lnTo>
                  <a:lnTo>
                    <a:pt x="1426146" y="231140"/>
                  </a:lnTo>
                  <a:close/>
                </a:path>
                <a:path w="2891790" h="309880">
                  <a:moveTo>
                    <a:pt x="1436687" y="231140"/>
                  </a:moveTo>
                  <a:lnTo>
                    <a:pt x="1426146" y="231140"/>
                  </a:lnTo>
                  <a:lnTo>
                    <a:pt x="1421815" y="234950"/>
                  </a:lnTo>
                  <a:lnTo>
                    <a:pt x="1421663" y="245110"/>
                  </a:lnTo>
                  <a:lnTo>
                    <a:pt x="1425867" y="250190"/>
                  </a:lnTo>
                  <a:lnTo>
                    <a:pt x="1436408" y="250190"/>
                  </a:lnTo>
                  <a:lnTo>
                    <a:pt x="1440738" y="246380"/>
                  </a:lnTo>
                  <a:lnTo>
                    <a:pt x="1440891" y="234950"/>
                  </a:lnTo>
                  <a:lnTo>
                    <a:pt x="1436687" y="231140"/>
                  </a:lnTo>
                  <a:close/>
                </a:path>
                <a:path w="2891790" h="309880">
                  <a:moveTo>
                    <a:pt x="1507045" y="231140"/>
                  </a:moveTo>
                  <a:lnTo>
                    <a:pt x="1436687" y="231140"/>
                  </a:lnTo>
                  <a:lnTo>
                    <a:pt x="1440891" y="234950"/>
                  </a:lnTo>
                  <a:lnTo>
                    <a:pt x="1440738" y="246380"/>
                  </a:lnTo>
                  <a:lnTo>
                    <a:pt x="1436408" y="250190"/>
                  </a:lnTo>
                  <a:lnTo>
                    <a:pt x="1507045" y="250190"/>
                  </a:lnTo>
                  <a:lnTo>
                    <a:pt x="1502740" y="246380"/>
                  </a:lnTo>
                  <a:lnTo>
                    <a:pt x="1502727" y="234950"/>
                  </a:lnTo>
                  <a:lnTo>
                    <a:pt x="1507045" y="231140"/>
                  </a:lnTo>
                  <a:close/>
                </a:path>
                <a:path w="2891790" h="309880">
                  <a:moveTo>
                    <a:pt x="1517713" y="231140"/>
                  </a:moveTo>
                  <a:lnTo>
                    <a:pt x="1507045" y="231140"/>
                  </a:lnTo>
                  <a:lnTo>
                    <a:pt x="1502727" y="234950"/>
                  </a:lnTo>
                  <a:lnTo>
                    <a:pt x="1502740" y="246380"/>
                  </a:lnTo>
                  <a:lnTo>
                    <a:pt x="1507045" y="250190"/>
                  </a:lnTo>
                  <a:lnTo>
                    <a:pt x="1517675" y="250190"/>
                  </a:lnTo>
                  <a:lnTo>
                    <a:pt x="1522006" y="246380"/>
                  </a:lnTo>
                  <a:lnTo>
                    <a:pt x="1522031" y="234950"/>
                  </a:lnTo>
                  <a:lnTo>
                    <a:pt x="1517713" y="231140"/>
                  </a:lnTo>
                  <a:close/>
                </a:path>
                <a:path w="2891790" h="309880">
                  <a:moveTo>
                    <a:pt x="1592936" y="230204"/>
                  </a:moveTo>
                  <a:lnTo>
                    <a:pt x="1577048" y="231140"/>
                  </a:lnTo>
                  <a:lnTo>
                    <a:pt x="1517713" y="231140"/>
                  </a:lnTo>
                  <a:lnTo>
                    <a:pt x="1522031" y="234950"/>
                  </a:lnTo>
                  <a:lnTo>
                    <a:pt x="1522006" y="246380"/>
                  </a:lnTo>
                  <a:lnTo>
                    <a:pt x="1517675" y="250190"/>
                  </a:lnTo>
                  <a:lnTo>
                    <a:pt x="1593862" y="250190"/>
                  </a:lnTo>
                  <a:lnTo>
                    <a:pt x="1589354" y="245110"/>
                  </a:lnTo>
                  <a:lnTo>
                    <a:pt x="1588985" y="234950"/>
                  </a:lnTo>
                  <a:lnTo>
                    <a:pt x="1592936" y="230204"/>
                  </a:lnTo>
                  <a:close/>
                </a:path>
                <a:path w="2891790" h="309880">
                  <a:moveTo>
                    <a:pt x="1604022" y="229869"/>
                  </a:moveTo>
                  <a:lnTo>
                    <a:pt x="1598625" y="229869"/>
                  </a:lnTo>
                  <a:lnTo>
                    <a:pt x="1592936" y="230204"/>
                  </a:lnTo>
                  <a:lnTo>
                    <a:pt x="1588985" y="234950"/>
                  </a:lnTo>
                  <a:lnTo>
                    <a:pt x="1589354" y="245110"/>
                  </a:lnTo>
                  <a:lnTo>
                    <a:pt x="1593862" y="250190"/>
                  </a:lnTo>
                  <a:lnTo>
                    <a:pt x="1599247" y="250190"/>
                  </a:lnTo>
                  <a:lnTo>
                    <a:pt x="1604632" y="248919"/>
                  </a:lnTo>
                  <a:lnTo>
                    <a:pt x="1608874" y="245110"/>
                  </a:lnTo>
                  <a:lnTo>
                    <a:pt x="1608531" y="233680"/>
                  </a:lnTo>
                  <a:lnTo>
                    <a:pt x="1604022" y="229869"/>
                  </a:lnTo>
                  <a:close/>
                </a:path>
                <a:path w="2891790" h="309880">
                  <a:moveTo>
                    <a:pt x="1655102" y="228600"/>
                  </a:moveTo>
                  <a:lnTo>
                    <a:pt x="1629557" y="228600"/>
                  </a:lnTo>
                  <a:lnTo>
                    <a:pt x="1614078" y="229869"/>
                  </a:lnTo>
                  <a:lnTo>
                    <a:pt x="1604022" y="229869"/>
                  </a:lnTo>
                  <a:lnTo>
                    <a:pt x="1608531" y="233680"/>
                  </a:lnTo>
                  <a:lnTo>
                    <a:pt x="1608874" y="245110"/>
                  </a:lnTo>
                  <a:lnTo>
                    <a:pt x="1604632" y="248919"/>
                  </a:lnTo>
                  <a:lnTo>
                    <a:pt x="1599247" y="250190"/>
                  </a:lnTo>
                  <a:lnTo>
                    <a:pt x="1614632" y="248919"/>
                  </a:lnTo>
                  <a:lnTo>
                    <a:pt x="1645412" y="248919"/>
                  </a:lnTo>
                  <a:lnTo>
                    <a:pt x="1666227" y="247650"/>
                  </a:lnTo>
                  <a:lnTo>
                    <a:pt x="1655394" y="247650"/>
                  </a:lnTo>
                  <a:lnTo>
                    <a:pt x="1650948" y="243849"/>
                  </a:lnTo>
                  <a:lnTo>
                    <a:pt x="1650771" y="233680"/>
                  </a:lnTo>
                  <a:lnTo>
                    <a:pt x="1655102" y="228600"/>
                  </a:lnTo>
                  <a:close/>
                </a:path>
                <a:path w="2891790" h="309880">
                  <a:moveTo>
                    <a:pt x="798245" y="248919"/>
                  </a:moveTo>
                  <a:lnTo>
                    <a:pt x="788441" y="248919"/>
                  </a:lnTo>
                  <a:lnTo>
                    <a:pt x="787793" y="249789"/>
                  </a:lnTo>
                  <a:lnTo>
                    <a:pt x="798245" y="248919"/>
                  </a:lnTo>
                  <a:close/>
                </a:path>
                <a:path w="2891790" h="309880">
                  <a:moveTo>
                    <a:pt x="25243" y="234950"/>
                  </a:moveTo>
                  <a:lnTo>
                    <a:pt x="21602" y="234950"/>
                  </a:lnTo>
                  <a:lnTo>
                    <a:pt x="25527" y="238760"/>
                  </a:lnTo>
                  <a:lnTo>
                    <a:pt x="26149" y="247677"/>
                  </a:lnTo>
                  <a:lnTo>
                    <a:pt x="26066" y="246153"/>
                  </a:lnTo>
                  <a:lnTo>
                    <a:pt x="25243" y="234950"/>
                  </a:lnTo>
                  <a:close/>
                </a:path>
                <a:path w="2891790" h="309880">
                  <a:moveTo>
                    <a:pt x="1665960" y="228600"/>
                  </a:moveTo>
                  <a:lnTo>
                    <a:pt x="1655102" y="228600"/>
                  </a:lnTo>
                  <a:lnTo>
                    <a:pt x="1650771" y="233680"/>
                  </a:lnTo>
                  <a:lnTo>
                    <a:pt x="1650948" y="243849"/>
                  </a:lnTo>
                  <a:lnTo>
                    <a:pt x="1655394" y="247650"/>
                  </a:lnTo>
                  <a:lnTo>
                    <a:pt x="1666227" y="247650"/>
                  </a:lnTo>
                  <a:lnTo>
                    <a:pt x="1670546" y="243849"/>
                  </a:lnTo>
                  <a:lnTo>
                    <a:pt x="1670418" y="232410"/>
                  </a:lnTo>
                  <a:lnTo>
                    <a:pt x="1665960" y="228600"/>
                  </a:lnTo>
                  <a:close/>
                </a:path>
                <a:path w="2891790" h="309880">
                  <a:moveTo>
                    <a:pt x="1717408" y="227330"/>
                  </a:moveTo>
                  <a:lnTo>
                    <a:pt x="1691682" y="227330"/>
                  </a:lnTo>
                  <a:lnTo>
                    <a:pt x="1676105" y="228600"/>
                  </a:lnTo>
                  <a:lnTo>
                    <a:pt x="1665960" y="228600"/>
                  </a:lnTo>
                  <a:lnTo>
                    <a:pt x="1670418" y="232410"/>
                  </a:lnTo>
                  <a:lnTo>
                    <a:pt x="1670546" y="243849"/>
                  </a:lnTo>
                  <a:lnTo>
                    <a:pt x="1666227" y="247650"/>
                  </a:lnTo>
                  <a:lnTo>
                    <a:pt x="1707812" y="247650"/>
                  </a:lnTo>
                  <a:lnTo>
                    <a:pt x="1728901" y="246380"/>
                  </a:lnTo>
                  <a:lnTo>
                    <a:pt x="1718043" y="246380"/>
                  </a:lnTo>
                  <a:lnTo>
                    <a:pt x="1713509" y="242569"/>
                  </a:lnTo>
                  <a:lnTo>
                    <a:pt x="1713141" y="232410"/>
                  </a:lnTo>
                  <a:lnTo>
                    <a:pt x="1717408" y="227330"/>
                  </a:lnTo>
                  <a:close/>
                </a:path>
                <a:path w="2891790" h="309880">
                  <a:moveTo>
                    <a:pt x="1780474" y="225470"/>
                  </a:moveTo>
                  <a:lnTo>
                    <a:pt x="1770562" y="226060"/>
                  </a:lnTo>
                  <a:lnTo>
                    <a:pt x="1738739" y="226060"/>
                  </a:lnTo>
                  <a:lnTo>
                    <a:pt x="1717408" y="227330"/>
                  </a:lnTo>
                  <a:lnTo>
                    <a:pt x="1713141" y="232410"/>
                  </a:lnTo>
                  <a:lnTo>
                    <a:pt x="1713509" y="242569"/>
                  </a:lnTo>
                  <a:lnTo>
                    <a:pt x="1718043" y="246380"/>
                  </a:lnTo>
                  <a:lnTo>
                    <a:pt x="1723478" y="246380"/>
                  </a:lnTo>
                  <a:lnTo>
                    <a:pt x="1729155" y="246153"/>
                  </a:lnTo>
                  <a:lnTo>
                    <a:pt x="1733156" y="242569"/>
                  </a:lnTo>
                  <a:lnTo>
                    <a:pt x="1732800" y="231140"/>
                  </a:lnTo>
                  <a:lnTo>
                    <a:pt x="1728254" y="227330"/>
                  </a:lnTo>
                  <a:lnTo>
                    <a:pt x="1778908" y="227330"/>
                  </a:lnTo>
                  <a:lnTo>
                    <a:pt x="1780474" y="225470"/>
                  </a:lnTo>
                  <a:close/>
                </a:path>
                <a:path w="2891790" h="309880">
                  <a:moveTo>
                    <a:pt x="1729155" y="246153"/>
                  </a:moveTo>
                  <a:lnTo>
                    <a:pt x="1723478" y="246380"/>
                  </a:lnTo>
                  <a:lnTo>
                    <a:pt x="1728901" y="246380"/>
                  </a:lnTo>
                  <a:lnTo>
                    <a:pt x="1729155" y="246153"/>
                  </a:lnTo>
                  <a:close/>
                </a:path>
                <a:path w="2891790" h="309880">
                  <a:moveTo>
                    <a:pt x="1778908" y="227330"/>
                  </a:moveTo>
                  <a:lnTo>
                    <a:pt x="1728254" y="227330"/>
                  </a:lnTo>
                  <a:lnTo>
                    <a:pt x="1732800" y="231140"/>
                  </a:lnTo>
                  <a:lnTo>
                    <a:pt x="1733156" y="242569"/>
                  </a:lnTo>
                  <a:lnTo>
                    <a:pt x="1729155" y="246153"/>
                  </a:lnTo>
                  <a:lnTo>
                    <a:pt x="1755247" y="245110"/>
                  </a:lnTo>
                  <a:lnTo>
                    <a:pt x="1781594" y="245110"/>
                  </a:lnTo>
                  <a:lnTo>
                    <a:pt x="1777072" y="240030"/>
                  </a:lnTo>
                  <a:lnTo>
                    <a:pt x="1776768" y="229869"/>
                  </a:lnTo>
                  <a:lnTo>
                    <a:pt x="1778908" y="227330"/>
                  </a:lnTo>
                  <a:close/>
                </a:path>
                <a:path w="2891790" h="309880">
                  <a:moveTo>
                    <a:pt x="1791906" y="224790"/>
                  </a:moveTo>
                  <a:lnTo>
                    <a:pt x="1780474" y="225470"/>
                  </a:lnTo>
                  <a:lnTo>
                    <a:pt x="1776768" y="229869"/>
                  </a:lnTo>
                  <a:lnTo>
                    <a:pt x="1777072" y="240030"/>
                  </a:lnTo>
                  <a:lnTo>
                    <a:pt x="1781594" y="245110"/>
                  </a:lnTo>
                  <a:lnTo>
                    <a:pt x="1787017" y="245110"/>
                  </a:lnTo>
                  <a:lnTo>
                    <a:pt x="1792867" y="244615"/>
                  </a:lnTo>
                  <a:lnTo>
                    <a:pt x="1796719" y="240030"/>
                  </a:lnTo>
                  <a:lnTo>
                    <a:pt x="1796427" y="229869"/>
                  </a:lnTo>
                  <a:lnTo>
                    <a:pt x="1791906" y="224790"/>
                  </a:lnTo>
                  <a:close/>
                </a:path>
                <a:path w="2891790" h="309880">
                  <a:moveTo>
                    <a:pt x="1792867" y="244615"/>
                  </a:moveTo>
                  <a:lnTo>
                    <a:pt x="1787017" y="245110"/>
                  </a:lnTo>
                  <a:lnTo>
                    <a:pt x="1792452" y="245110"/>
                  </a:lnTo>
                  <a:lnTo>
                    <a:pt x="1792867" y="244615"/>
                  </a:lnTo>
                  <a:close/>
                </a:path>
                <a:path w="2891790" h="309880">
                  <a:moveTo>
                    <a:pt x="1841141" y="224010"/>
                  </a:moveTo>
                  <a:lnTo>
                    <a:pt x="1831858" y="224790"/>
                  </a:lnTo>
                  <a:lnTo>
                    <a:pt x="1791906" y="224790"/>
                  </a:lnTo>
                  <a:lnTo>
                    <a:pt x="1796427" y="229869"/>
                  </a:lnTo>
                  <a:lnTo>
                    <a:pt x="1796719" y="240030"/>
                  </a:lnTo>
                  <a:lnTo>
                    <a:pt x="1792867" y="244615"/>
                  </a:lnTo>
                  <a:lnTo>
                    <a:pt x="1802047" y="243840"/>
                  </a:lnTo>
                  <a:lnTo>
                    <a:pt x="1841715" y="243840"/>
                  </a:lnTo>
                  <a:lnTo>
                    <a:pt x="1837283" y="238760"/>
                  </a:lnTo>
                  <a:lnTo>
                    <a:pt x="1837194" y="228600"/>
                  </a:lnTo>
                  <a:lnTo>
                    <a:pt x="1841141" y="224010"/>
                  </a:lnTo>
                  <a:close/>
                </a:path>
                <a:path w="2891790" h="309880">
                  <a:moveTo>
                    <a:pt x="1852409" y="223519"/>
                  </a:moveTo>
                  <a:lnTo>
                    <a:pt x="1846986" y="223519"/>
                  </a:lnTo>
                  <a:lnTo>
                    <a:pt x="1841141" y="224010"/>
                  </a:lnTo>
                  <a:lnTo>
                    <a:pt x="1837194" y="228600"/>
                  </a:lnTo>
                  <a:lnTo>
                    <a:pt x="1837283" y="238760"/>
                  </a:lnTo>
                  <a:lnTo>
                    <a:pt x="1841715" y="243840"/>
                  </a:lnTo>
                  <a:lnTo>
                    <a:pt x="1852574" y="243840"/>
                  </a:lnTo>
                  <a:lnTo>
                    <a:pt x="1856930" y="238760"/>
                  </a:lnTo>
                  <a:lnTo>
                    <a:pt x="1856841" y="228600"/>
                  </a:lnTo>
                  <a:lnTo>
                    <a:pt x="1852409" y="223519"/>
                  </a:lnTo>
                  <a:close/>
                </a:path>
                <a:path w="2891790" h="309880">
                  <a:moveTo>
                    <a:pt x="1911616" y="223519"/>
                  </a:moveTo>
                  <a:lnTo>
                    <a:pt x="1852409" y="223519"/>
                  </a:lnTo>
                  <a:lnTo>
                    <a:pt x="1856841" y="228600"/>
                  </a:lnTo>
                  <a:lnTo>
                    <a:pt x="1856930" y="238760"/>
                  </a:lnTo>
                  <a:lnTo>
                    <a:pt x="1852574" y="243840"/>
                  </a:lnTo>
                  <a:lnTo>
                    <a:pt x="1882247" y="243840"/>
                  </a:lnTo>
                  <a:lnTo>
                    <a:pt x="1922780" y="242569"/>
                  </a:lnTo>
                  <a:lnTo>
                    <a:pt x="1911921" y="242569"/>
                  </a:lnTo>
                  <a:lnTo>
                    <a:pt x="1907451" y="238760"/>
                  </a:lnTo>
                  <a:lnTo>
                    <a:pt x="1907286" y="227330"/>
                  </a:lnTo>
                  <a:lnTo>
                    <a:pt x="1911616" y="223519"/>
                  </a:lnTo>
                  <a:close/>
                </a:path>
                <a:path w="2891790" h="309880">
                  <a:moveTo>
                    <a:pt x="1922500" y="223519"/>
                  </a:moveTo>
                  <a:lnTo>
                    <a:pt x="1911616" y="223519"/>
                  </a:lnTo>
                  <a:lnTo>
                    <a:pt x="1907286" y="227330"/>
                  </a:lnTo>
                  <a:lnTo>
                    <a:pt x="1907451" y="238760"/>
                  </a:lnTo>
                  <a:lnTo>
                    <a:pt x="1911921" y="242569"/>
                  </a:lnTo>
                  <a:lnTo>
                    <a:pt x="1922780" y="242569"/>
                  </a:lnTo>
                  <a:lnTo>
                    <a:pt x="1927123" y="238760"/>
                  </a:lnTo>
                  <a:lnTo>
                    <a:pt x="1926971" y="227330"/>
                  </a:lnTo>
                  <a:lnTo>
                    <a:pt x="1922500" y="223519"/>
                  </a:lnTo>
                  <a:close/>
                </a:path>
                <a:path w="2891790" h="309880">
                  <a:moveTo>
                    <a:pt x="1990686" y="220980"/>
                  </a:moveTo>
                  <a:lnTo>
                    <a:pt x="1968167" y="222250"/>
                  </a:lnTo>
                  <a:lnTo>
                    <a:pt x="1951131" y="222250"/>
                  </a:lnTo>
                  <a:lnTo>
                    <a:pt x="1934092" y="223519"/>
                  </a:lnTo>
                  <a:lnTo>
                    <a:pt x="1922500" y="223519"/>
                  </a:lnTo>
                  <a:lnTo>
                    <a:pt x="1926971" y="227330"/>
                  </a:lnTo>
                  <a:lnTo>
                    <a:pt x="1927123" y="238760"/>
                  </a:lnTo>
                  <a:lnTo>
                    <a:pt x="1922780" y="242569"/>
                  </a:lnTo>
                  <a:lnTo>
                    <a:pt x="1951594" y="242569"/>
                  </a:lnTo>
                  <a:lnTo>
                    <a:pt x="1968716" y="241300"/>
                  </a:lnTo>
                  <a:lnTo>
                    <a:pt x="1980374" y="241300"/>
                  </a:lnTo>
                  <a:lnTo>
                    <a:pt x="1975815" y="237490"/>
                  </a:lnTo>
                  <a:lnTo>
                    <a:pt x="1975578" y="229869"/>
                  </a:lnTo>
                  <a:lnTo>
                    <a:pt x="1975498" y="226025"/>
                  </a:lnTo>
                  <a:lnTo>
                    <a:pt x="1979739" y="222250"/>
                  </a:lnTo>
                  <a:lnTo>
                    <a:pt x="1991247" y="221604"/>
                  </a:lnTo>
                  <a:lnTo>
                    <a:pt x="1990686" y="220980"/>
                  </a:lnTo>
                  <a:close/>
                </a:path>
                <a:path w="2891790" h="309880">
                  <a:moveTo>
                    <a:pt x="1991247" y="221604"/>
                  </a:moveTo>
                  <a:lnTo>
                    <a:pt x="1979739" y="222250"/>
                  </a:lnTo>
                  <a:lnTo>
                    <a:pt x="1975498" y="226025"/>
                  </a:lnTo>
                  <a:lnTo>
                    <a:pt x="1975578" y="229869"/>
                  </a:lnTo>
                  <a:lnTo>
                    <a:pt x="1975815" y="237490"/>
                  </a:lnTo>
                  <a:lnTo>
                    <a:pt x="1980374" y="241300"/>
                  </a:lnTo>
                  <a:lnTo>
                    <a:pt x="1991296" y="241300"/>
                  </a:lnTo>
                  <a:lnTo>
                    <a:pt x="1995576" y="236219"/>
                  </a:lnTo>
                  <a:lnTo>
                    <a:pt x="1995328" y="228600"/>
                  </a:lnTo>
                  <a:lnTo>
                    <a:pt x="1995215" y="226025"/>
                  </a:lnTo>
                  <a:lnTo>
                    <a:pt x="1991247" y="221604"/>
                  </a:lnTo>
                  <a:close/>
                </a:path>
                <a:path w="2891790" h="309880">
                  <a:moveTo>
                    <a:pt x="2047842" y="219086"/>
                  </a:moveTo>
                  <a:lnTo>
                    <a:pt x="2036715" y="219710"/>
                  </a:lnTo>
                  <a:lnTo>
                    <a:pt x="2019546" y="220980"/>
                  </a:lnTo>
                  <a:lnTo>
                    <a:pt x="2002373" y="220980"/>
                  </a:lnTo>
                  <a:lnTo>
                    <a:pt x="1991247" y="221604"/>
                  </a:lnTo>
                  <a:lnTo>
                    <a:pt x="1995215" y="226025"/>
                  </a:lnTo>
                  <a:lnTo>
                    <a:pt x="1995328" y="228600"/>
                  </a:lnTo>
                  <a:lnTo>
                    <a:pt x="1995576" y="236219"/>
                  </a:lnTo>
                  <a:lnTo>
                    <a:pt x="1991296" y="241300"/>
                  </a:lnTo>
                  <a:lnTo>
                    <a:pt x="2003075" y="241300"/>
                  </a:lnTo>
                  <a:lnTo>
                    <a:pt x="2020316" y="240030"/>
                  </a:lnTo>
                  <a:lnTo>
                    <a:pt x="2037556" y="240030"/>
                  </a:lnTo>
                  <a:lnTo>
                    <a:pt x="2060295" y="238760"/>
                  </a:lnTo>
                  <a:lnTo>
                    <a:pt x="2049310" y="238760"/>
                  </a:lnTo>
                  <a:lnTo>
                    <a:pt x="2044649" y="234950"/>
                  </a:lnTo>
                  <a:lnTo>
                    <a:pt x="2044141" y="223519"/>
                  </a:lnTo>
                  <a:lnTo>
                    <a:pt x="2047842" y="219086"/>
                  </a:lnTo>
                  <a:close/>
                </a:path>
                <a:path w="2891790" h="309880">
                  <a:moveTo>
                    <a:pt x="7514" y="223107"/>
                  </a:moveTo>
                  <a:lnTo>
                    <a:pt x="7815" y="225293"/>
                  </a:lnTo>
                  <a:lnTo>
                    <a:pt x="8461" y="231140"/>
                  </a:lnTo>
                  <a:lnTo>
                    <a:pt x="9015" y="237490"/>
                  </a:lnTo>
                  <a:lnTo>
                    <a:pt x="9194" y="240002"/>
                  </a:lnTo>
                  <a:lnTo>
                    <a:pt x="11438" y="237490"/>
                  </a:lnTo>
                  <a:lnTo>
                    <a:pt x="11010" y="237490"/>
                  </a:lnTo>
                  <a:lnTo>
                    <a:pt x="9982" y="236219"/>
                  </a:lnTo>
                  <a:lnTo>
                    <a:pt x="9156" y="234950"/>
                  </a:lnTo>
                  <a:lnTo>
                    <a:pt x="9639" y="233680"/>
                  </a:lnTo>
                  <a:lnTo>
                    <a:pt x="11023" y="232410"/>
                  </a:lnTo>
                  <a:lnTo>
                    <a:pt x="11810" y="232410"/>
                  </a:lnTo>
                  <a:lnTo>
                    <a:pt x="11709" y="231486"/>
                  </a:lnTo>
                  <a:lnTo>
                    <a:pt x="10795" y="227330"/>
                  </a:lnTo>
                  <a:lnTo>
                    <a:pt x="9286" y="224887"/>
                  </a:lnTo>
                  <a:lnTo>
                    <a:pt x="9055" y="224790"/>
                  </a:lnTo>
                  <a:lnTo>
                    <a:pt x="8654" y="224153"/>
                  </a:lnTo>
                  <a:lnTo>
                    <a:pt x="7581" y="223519"/>
                  </a:lnTo>
                  <a:lnTo>
                    <a:pt x="7514" y="223107"/>
                  </a:lnTo>
                  <a:close/>
                </a:path>
                <a:path w="2891790" h="309880">
                  <a:moveTo>
                    <a:pt x="2059393" y="218440"/>
                  </a:moveTo>
                  <a:lnTo>
                    <a:pt x="2047842" y="219086"/>
                  </a:lnTo>
                  <a:lnTo>
                    <a:pt x="2044141" y="223519"/>
                  </a:lnTo>
                  <a:lnTo>
                    <a:pt x="2044649" y="234950"/>
                  </a:lnTo>
                  <a:lnTo>
                    <a:pt x="2049310" y="238760"/>
                  </a:lnTo>
                  <a:lnTo>
                    <a:pt x="2054796" y="238760"/>
                  </a:lnTo>
                  <a:lnTo>
                    <a:pt x="2060515" y="238497"/>
                  </a:lnTo>
                  <a:lnTo>
                    <a:pt x="2064550" y="233680"/>
                  </a:lnTo>
                  <a:lnTo>
                    <a:pt x="2064054" y="222250"/>
                  </a:lnTo>
                  <a:lnTo>
                    <a:pt x="2059393" y="218440"/>
                  </a:lnTo>
                  <a:close/>
                </a:path>
                <a:path w="2891790" h="309880">
                  <a:moveTo>
                    <a:pt x="2060515" y="238497"/>
                  </a:moveTo>
                  <a:lnTo>
                    <a:pt x="2054796" y="238760"/>
                  </a:lnTo>
                  <a:lnTo>
                    <a:pt x="2060295" y="238760"/>
                  </a:lnTo>
                  <a:lnTo>
                    <a:pt x="2060515" y="238497"/>
                  </a:lnTo>
                  <a:close/>
                </a:path>
                <a:path w="2891790" h="309880">
                  <a:moveTo>
                    <a:pt x="2102446" y="218440"/>
                  </a:moveTo>
                  <a:lnTo>
                    <a:pt x="2059393" y="218440"/>
                  </a:lnTo>
                  <a:lnTo>
                    <a:pt x="2064054" y="222250"/>
                  </a:lnTo>
                  <a:lnTo>
                    <a:pt x="2064550" y="233680"/>
                  </a:lnTo>
                  <a:lnTo>
                    <a:pt x="2060515" y="238497"/>
                  </a:lnTo>
                  <a:lnTo>
                    <a:pt x="2082426" y="237490"/>
                  </a:lnTo>
                  <a:lnTo>
                    <a:pt x="2096246" y="237490"/>
                  </a:lnTo>
                  <a:lnTo>
                    <a:pt x="2110066" y="236219"/>
                  </a:lnTo>
                  <a:lnTo>
                    <a:pt x="2104542" y="236219"/>
                  </a:lnTo>
                  <a:lnTo>
                    <a:pt x="2099919" y="232410"/>
                  </a:lnTo>
                  <a:lnTo>
                    <a:pt x="2099551" y="220980"/>
                  </a:lnTo>
                  <a:lnTo>
                    <a:pt x="2102446" y="218440"/>
                  </a:lnTo>
                  <a:close/>
                </a:path>
                <a:path w="2891790" h="309880">
                  <a:moveTo>
                    <a:pt x="11912" y="232410"/>
                  </a:moveTo>
                  <a:lnTo>
                    <a:pt x="11023" y="232410"/>
                  </a:lnTo>
                  <a:lnTo>
                    <a:pt x="9639" y="233680"/>
                  </a:lnTo>
                  <a:lnTo>
                    <a:pt x="9156" y="234950"/>
                  </a:lnTo>
                  <a:lnTo>
                    <a:pt x="9982" y="236219"/>
                  </a:lnTo>
                  <a:lnTo>
                    <a:pt x="11010" y="237490"/>
                  </a:lnTo>
                  <a:lnTo>
                    <a:pt x="11988" y="236219"/>
                  </a:lnTo>
                  <a:lnTo>
                    <a:pt x="12572" y="236219"/>
                  </a:lnTo>
                  <a:lnTo>
                    <a:pt x="15228" y="235846"/>
                  </a:lnTo>
                  <a:lnTo>
                    <a:pt x="16560" y="233680"/>
                  </a:lnTo>
                  <a:lnTo>
                    <a:pt x="13423" y="233680"/>
                  </a:lnTo>
                  <a:lnTo>
                    <a:pt x="11912" y="232410"/>
                  </a:lnTo>
                  <a:close/>
                </a:path>
                <a:path w="2891790" h="309880">
                  <a:moveTo>
                    <a:pt x="12572" y="236219"/>
                  </a:moveTo>
                  <a:lnTo>
                    <a:pt x="11988" y="236219"/>
                  </a:lnTo>
                  <a:lnTo>
                    <a:pt x="11010" y="237490"/>
                  </a:lnTo>
                  <a:lnTo>
                    <a:pt x="11438" y="237490"/>
                  </a:lnTo>
                  <a:lnTo>
                    <a:pt x="12572" y="236219"/>
                  </a:lnTo>
                  <a:close/>
                </a:path>
                <a:path w="2891790" h="309880">
                  <a:moveTo>
                    <a:pt x="2114981" y="215900"/>
                  </a:moveTo>
                  <a:lnTo>
                    <a:pt x="2109423" y="215901"/>
                  </a:lnTo>
                  <a:lnTo>
                    <a:pt x="2103894" y="217169"/>
                  </a:lnTo>
                  <a:lnTo>
                    <a:pt x="2099551" y="220980"/>
                  </a:lnTo>
                  <a:lnTo>
                    <a:pt x="2099919" y="232410"/>
                  </a:lnTo>
                  <a:lnTo>
                    <a:pt x="2104542" y="236219"/>
                  </a:lnTo>
                  <a:lnTo>
                    <a:pt x="2115604" y="236219"/>
                  </a:lnTo>
                  <a:lnTo>
                    <a:pt x="2119947" y="231140"/>
                  </a:lnTo>
                  <a:lnTo>
                    <a:pt x="2119604" y="220980"/>
                  </a:lnTo>
                  <a:lnTo>
                    <a:pt x="2114981" y="215900"/>
                  </a:lnTo>
                  <a:close/>
                </a:path>
                <a:path w="2891790" h="309880">
                  <a:moveTo>
                    <a:pt x="2158621" y="213800"/>
                  </a:moveTo>
                  <a:lnTo>
                    <a:pt x="2136994" y="214630"/>
                  </a:lnTo>
                  <a:lnTo>
                    <a:pt x="2123214" y="215900"/>
                  </a:lnTo>
                  <a:lnTo>
                    <a:pt x="2114981" y="215900"/>
                  </a:lnTo>
                  <a:lnTo>
                    <a:pt x="2119604" y="220980"/>
                  </a:lnTo>
                  <a:lnTo>
                    <a:pt x="2119947" y="231140"/>
                  </a:lnTo>
                  <a:lnTo>
                    <a:pt x="2115604" y="236219"/>
                  </a:lnTo>
                  <a:lnTo>
                    <a:pt x="2123992" y="236219"/>
                  </a:lnTo>
                  <a:lnTo>
                    <a:pt x="2137914" y="234950"/>
                  </a:lnTo>
                  <a:lnTo>
                    <a:pt x="2171293" y="233680"/>
                  </a:lnTo>
                  <a:lnTo>
                    <a:pt x="2160206" y="233680"/>
                  </a:lnTo>
                  <a:lnTo>
                    <a:pt x="2155444" y="229869"/>
                  </a:lnTo>
                  <a:lnTo>
                    <a:pt x="2154770" y="218440"/>
                  </a:lnTo>
                  <a:lnTo>
                    <a:pt x="2158621" y="213800"/>
                  </a:lnTo>
                  <a:close/>
                </a:path>
                <a:path w="2891790" h="309880">
                  <a:moveTo>
                    <a:pt x="22777" y="210800"/>
                  </a:moveTo>
                  <a:lnTo>
                    <a:pt x="23799" y="219563"/>
                  </a:lnTo>
                  <a:lnTo>
                    <a:pt x="23883" y="221080"/>
                  </a:lnTo>
                  <a:lnTo>
                    <a:pt x="20891" y="224790"/>
                  </a:lnTo>
                  <a:lnTo>
                    <a:pt x="17318" y="225293"/>
                  </a:lnTo>
                  <a:lnTo>
                    <a:pt x="17487" y="227330"/>
                  </a:lnTo>
                  <a:lnTo>
                    <a:pt x="16989" y="230204"/>
                  </a:lnTo>
                  <a:lnTo>
                    <a:pt x="16560" y="233680"/>
                  </a:lnTo>
                  <a:lnTo>
                    <a:pt x="15228" y="235846"/>
                  </a:lnTo>
                  <a:lnTo>
                    <a:pt x="21602" y="234950"/>
                  </a:lnTo>
                  <a:lnTo>
                    <a:pt x="25243" y="234950"/>
                  </a:lnTo>
                  <a:lnTo>
                    <a:pt x="24155" y="222104"/>
                  </a:lnTo>
                  <a:lnTo>
                    <a:pt x="22809" y="210819"/>
                  </a:lnTo>
                  <a:close/>
                </a:path>
                <a:path w="2891790" h="309880">
                  <a:moveTo>
                    <a:pt x="16128" y="227330"/>
                  </a:moveTo>
                  <a:lnTo>
                    <a:pt x="13093" y="227330"/>
                  </a:lnTo>
                  <a:lnTo>
                    <a:pt x="11696" y="228600"/>
                  </a:lnTo>
                  <a:lnTo>
                    <a:pt x="11429" y="229869"/>
                  </a:lnTo>
                  <a:lnTo>
                    <a:pt x="11522" y="230265"/>
                  </a:lnTo>
                  <a:lnTo>
                    <a:pt x="11671" y="231140"/>
                  </a:lnTo>
                  <a:lnTo>
                    <a:pt x="11709" y="231486"/>
                  </a:lnTo>
                  <a:lnTo>
                    <a:pt x="11912" y="232410"/>
                  </a:lnTo>
                  <a:lnTo>
                    <a:pt x="13423" y="233680"/>
                  </a:lnTo>
                  <a:lnTo>
                    <a:pt x="16002" y="232410"/>
                  </a:lnTo>
                  <a:lnTo>
                    <a:pt x="16827" y="231140"/>
                  </a:lnTo>
                  <a:lnTo>
                    <a:pt x="16979" y="230265"/>
                  </a:lnTo>
                  <a:lnTo>
                    <a:pt x="17183" y="228600"/>
                  </a:lnTo>
                  <a:lnTo>
                    <a:pt x="16128" y="227330"/>
                  </a:lnTo>
                  <a:close/>
                </a:path>
                <a:path w="2891790" h="309880">
                  <a:moveTo>
                    <a:pt x="16979" y="230265"/>
                  </a:moveTo>
                  <a:lnTo>
                    <a:pt x="16827" y="231140"/>
                  </a:lnTo>
                  <a:lnTo>
                    <a:pt x="16002" y="232410"/>
                  </a:lnTo>
                  <a:lnTo>
                    <a:pt x="13423" y="233680"/>
                  </a:lnTo>
                  <a:lnTo>
                    <a:pt x="16560" y="233680"/>
                  </a:lnTo>
                  <a:lnTo>
                    <a:pt x="16979" y="230265"/>
                  </a:lnTo>
                  <a:close/>
                </a:path>
                <a:path w="2891790" h="309880">
                  <a:moveTo>
                    <a:pt x="2170099" y="213360"/>
                  </a:moveTo>
                  <a:lnTo>
                    <a:pt x="2158621" y="213800"/>
                  </a:lnTo>
                  <a:lnTo>
                    <a:pt x="2154770" y="218440"/>
                  </a:lnTo>
                  <a:lnTo>
                    <a:pt x="2155444" y="229869"/>
                  </a:lnTo>
                  <a:lnTo>
                    <a:pt x="2160206" y="233680"/>
                  </a:lnTo>
                  <a:lnTo>
                    <a:pt x="2165743" y="233680"/>
                  </a:lnTo>
                  <a:lnTo>
                    <a:pt x="2171589" y="233324"/>
                  </a:lnTo>
                  <a:lnTo>
                    <a:pt x="2175522" y="228600"/>
                  </a:lnTo>
                  <a:lnTo>
                    <a:pt x="2174862" y="217169"/>
                  </a:lnTo>
                  <a:lnTo>
                    <a:pt x="2170099" y="213360"/>
                  </a:lnTo>
                  <a:close/>
                </a:path>
                <a:path w="2891790" h="309880">
                  <a:moveTo>
                    <a:pt x="2171589" y="233324"/>
                  </a:moveTo>
                  <a:lnTo>
                    <a:pt x="2165743" y="233680"/>
                  </a:lnTo>
                  <a:lnTo>
                    <a:pt x="2171293" y="233680"/>
                  </a:lnTo>
                  <a:lnTo>
                    <a:pt x="2171589" y="233324"/>
                  </a:lnTo>
                  <a:close/>
                </a:path>
                <a:path w="2891790" h="309880">
                  <a:moveTo>
                    <a:pt x="2237917" y="213360"/>
                  </a:moveTo>
                  <a:lnTo>
                    <a:pt x="2170099" y="213360"/>
                  </a:lnTo>
                  <a:lnTo>
                    <a:pt x="2174862" y="217169"/>
                  </a:lnTo>
                  <a:lnTo>
                    <a:pt x="2175522" y="228600"/>
                  </a:lnTo>
                  <a:lnTo>
                    <a:pt x="2171589" y="233324"/>
                  </a:lnTo>
                  <a:lnTo>
                    <a:pt x="2207555" y="231140"/>
                  </a:lnTo>
                  <a:lnTo>
                    <a:pt x="2228440" y="228600"/>
                  </a:lnTo>
                  <a:lnTo>
                    <a:pt x="2249309" y="227330"/>
                  </a:lnTo>
                  <a:lnTo>
                    <a:pt x="2243759" y="227330"/>
                  </a:lnTo>
                  <a:lnTo>
                    <a:pt x="2238832" y="223519"/>
                  </a:lnTo>
                  <a:lnTo>
                    <a:pt x="2237917" y="213360"/>
                  </a:lnTo>
                  <a:close/>
                </a:path>
                <a:path w="2891790" h="309880">
                  <a:moveTo>
                    <a:pt x="1211414" y="232410"/>
                  </a:moveTo>
                  <a:lnTo>
                    <a:pt x="1206233" y="232410"/>
                  </a:lnTo>
                  <a:lnTo>
                    <a:pt x="1205945" y="232781"/>
                  </a:lnTo>
                  <a:lnTo>
                    <a:pt x="1211414" y="232410"/>
                  </a:lnTo>
                  <a:close/>
                </a:path>
                <a:path w="2891790" h="309880">
                  <a:moveTo>
                    <a:pt x="11709" y="231486"/>
                  </a:moveTo>
                  <a:lnTo>
                    <a:pt x="11810" y="232410"/>
                  </a:lnTo>
                  <a:lnTo>
                    <a:pt x="11709" y="231486"/>
                  </a:lnTo>
                  <a:close/>
                </a:path>
                <a:path w="2891790" h="309880">
                  <a:moveTo>
                    <a:pt x="11455" y="229869"/>
                  </a:moveTo>
                  <a:lnTo>
                    <a:pt x="11709" y="231486"/>
                  </a:lnTo>
                  <a:lnTo>
                    <a:pt x="11671" y="231140"/>
                  </a:lnTo>
                  <a:lnTo>
                    <a:pt x="11455" y="229869"/>
                  </a:lnTo>
                  <a:close/>
                </a:path>
                <a:path w="2891790" h="309880">
                  <a:moveTo>
                    <a:pt x="17487" y="227330"/>
                  </a:moveTo>
                  <a:lnTo>
                    <a:pt x="16128" y="227330"/>
                  </a:lnTo>
                  <a:lnTo>
                    <a:pt x="17183" y="228600"/>
                  </a:lnTo>
                  <a:lnTo>
                    <a:pt x="16979" y="230265"/>
                  </a:lnTo>
                  <a:lnTo>
                    <a:pt x="17487" y="227330"/>
                  </a:lnTo>
                  <a:close/>
                </a:path>
                <a:path w="2891790" h="309880">
                  <a:moveTo>
                    <a:pt x="1598625" y="229869"/>
                  </a:moveTo>
                  <a:lnTo>
                    <a:pt x="1593215" y="229869"/>
                  </a:lnTo>
                  <a:lnTo>
                    <a:pt x="1592936" y="230204"/>
                  </a:lnTo>
                  <a:lnTo>
                    <a:pt x="1598625" y="229869"/>
                  </a:lnTo>
                  <a:close/>
                </a:path>
                <a:path w="2891790" h="309880">
                  <a:moveTo>
                    <a:pt x="9286" y="224887"/>
                  </a:moveTo>
                  <a:lnTo>
                    <a:pt x="10795" y="227330"/>
                  </a:lnTo>
                  <a:lnTo>
                    <a:pt x="11353" y="229869"/>
                  </a:lnTo>
                  <a:lnTo>
                    <a:pt x="11696" y="228600"/>
                  </a:lnTo>
                  <a:lnTo>
                    <a:pt x="13093" y="227330"/>
                  </a:lnTo>
                  <a:lnTo>
                    <a:pt x="17487" y="227330"/>
                  </a:lnTo>
                  <a:lnTo>
                    <a:pt x="17382" y="226060"/>
                  </a:lnTo>
                  <a:lnTo>
                    <a:pt x="11887" y="226060"/>
                  </a:lnTo>
                  <a:lnTo>
                    <a:pt x="11415" y="225781"/>
                  </a:lnTo>
                  <a:lnTo>
                    <a:pt x="9286" y="224887"/>
                  </a:lnTo>
                  <a:close/>
                </a:path>
                <a:path w="2891790" h="309880">
                  <a:moveTo>
                    <a:pt x="2253030" y="207010"/>
                  </a:moveTo>
                  <a:lnTo>
                    <a:pt x="2241453" y="207569"/>
                  </a:lnTo>
                  <a:lnTo>
                    <a:pt x="2237803" y="212090"/>
                  </a:lnTo>
                  <a:lnTo>
                    <a:pt x="2238832" y="223519"/>
                  </a:lnTo>
                  <a:lnTo>
                    <a:pt x="2243759" y="227330"/>
                  </a:lnTo>
                  <a:lnTo>
                    <a:pt x="2249309" y="227330"/>
                  </a:lnTo>
                  <a:lnTo>
                    <a:pt x="2254872" y="226060"/>
                  </a:lnTo>
                  <a:lnTo>
                    <a:pt x="2258974" y="222250"/>
                  </a:lnTo>
                  <a:lnTo>
                    <a:pt x="2257958" y="210819"/>
                  </a:lnTo>
                  <a:lnTo>
                    <a:pt x="2253030" y="207010"/>
                  </a:lnTo>
                  <a:close/>
                </a:path>
                <a:path w="2891790" h="309880">
                  <a:moveTo>
                    <a:pt x="2318307" y="207010"/>
                  </a:moveTo>
                  <a:lnTo>
                    <a:pt x="2253030" y="207010"/>
                  </a:lnTo>
                  <a:lnTo>
                    <a:pt x="2257958" y="210819"/>
                  </a:lnTo>
                  <a:lnTo>
                    <a:pt x="2258974" y="222250"/>
                  </a:lnTo>
                  <a:lnTo>
                    <a:pt x="2254872" y="226060"/>
                  </a:lnTo>
                  <a:lnTo>
                    <a:pt x="2249309" y="227330"/>
                  </a:lnTo>
                  <a:lnTo>
                    <a:pt x="2269452" y="224790"/>
                  </a:lnTo>
                  <a:lnTo>
                    <a:pt x="2289589" y="223519"/>
                  </a:lnTo>
                  <a:lnTo>
                    <a:pt x="2309719" y="220980"/>
                  </a:lnTo>
                  <a:lnTo>
                    <a:pt x="2324059" y="219563"/>
                  </a:lnTo>
                  <a:lnTo>
                    <a:pt x="2319238" y="215901"/>
                  </a:lnTo>
                  <a:lnTo>
                    <a:pt x="2318307" y="207010"/>
                  </a:lnTo>
                  <a:close/>
                </a:path>
                <a:path w="2891790" h="309880">
                  <a:moveTo>
                    <a:pt x="11415" y="225781"/>
                  </a:moveTo>
                  <a:lnTo>
                    <a:pt x="11887" y="226060"/>
                  </a:lnTo>
                  <a:lnTo>
                    <a:pt x="11415" y="225781"/>
                  </a:lnTo>
                  <a:close/>
                </a:path>
                <a:path w="2891790" h="309880">
                  <a:moveTo>
                    <a:pt x="12029" y="226039"/>
                  </a:moveTo>
                  <a:lnTo>
                    <a:pt x="11887" y="226060"/>
                  </a:lnTo>
                  <a:lnTo>
                    <a:pt x="12077" y="226060"/>
                  </a:lnTo>
                  <a:close/>
                </a:path>
                <a:path w="2891790" h="309880">
                  <a:moveTo>
                    <a:pt x="17318" y="225293"/>
                  </a:moveTo>
                  <a:lnTo>
                    <a:pt x="12131" y="226025"/>
                  </a:lnTo>
                  <a:lnTo>
                    <a:pt x="17382" y="226060"/>
                  </a:lnTo>
                  <a:lnTo>
                    <a:pt x="17318" y="225293"/>
                  </a:lnTo>
                  <a:close/>
                </a:path>
                <a:path w="2891790" h="309880">
                  <a:moveTo>
                    <a:pt x="16490" y="222250"/>
                  </a:moveTo>
                  <a:lnTo>
                    <a:pt x="7658" y="222250"/>
                  </a:lnTo>
                  <a:lnTo>
                    <a:pt x="8935" y="224318"/>
                  </a:lnTo>
                  <a:lnTo>
                    <a:pt x="11415" y="225781"/>
                  </a:lnTo>
                  <a:lnTo>
                    <a:pt x="12029" y="226039"/>
                  </a:lnTo>
                  <a:lnTo>
                    <a:pt x="16040" y="223519"/>
                  </a:lnTo>
                  <a:lnTo>
                    <a:pt x="16490" y="222250"/>
                  </a:lnTo>
                  <a:close/>
                </a:path>
                <a:path w="2891790" h="309880">
                  <a:moveTo>
                    <a:pt x="16906" y="221080"/>
                  </a:moveTo>
                  <a:lnTo>
                    <a:pt x="16040" y="223519"/>
                  </a:lnTo>
                  <a:lnTo>
                    <a:pt x="12131" y="226025"/>
                  </a:lnTo>
                  <a:lnTo>
                    <a:pt x="17318" y="225293"/>
                  </a:lnTo>
                  <a:lnTo>
                    <a:pt x="17125" y="223107"/>
                  </a:lnTo>
                  <a:lnTo>
                    <a:pt x="16906" y="221080"/>
                  </a:lnTo>
                  <a:close/>
                </a:path>
                <a:path w="2891790" h="309880">
                  <a:moveTo>
                    <a:pt x="8935" y="224318"/>
                  </a:moveTo>
                  <a:lnTo>
                    <a:pt x="9286" y="224887"/>
                  </a:lnTo>
                  <a:lnTo>
                    <a:pt x="11415" y="225781"/>
                  </a:lnTo>
                  <a:lnTo>
                    <a:pt x="8935" y="224318"/>
                  </a:lnTo>
                  <a:close/>
                </a:path>
                <a:path w="2891790" h="309880">
                  <a:moveTo>
                    <a:pt x="1791906" y="224790"/>
                  </a:moveTo>
                  <a:lnTo>
                    <a:pt x="1781048" y="224790"/>
                  </a:lnTo>
                  <a:lnTo>
                    <a:pt x="1780474" y="225470"/>
                  </a:lnTo>
                  <a:lnTo>
                    <a:pt x="1791906" y="224790"/>
                  </a:lnTo>
                  <a:close/>
                </a:path>
                <a:path w="2891790" h="309880">
                  <a:moveTo>
                    <a:pt x="18618" y="208280"/>
                  </a:moveTo>
                  <a:lnTo>
                    <a:pt x="16316" y="208598"/>
                  </a:lnTo>
                  <a:lnTo>
                    <a:pt x="16014" y="214630"/>
                  </a:lnTo>
                  <a:lnTo>
                    <a:pt x="16188" y="215818"/>
                  </a:lnTo>
                  <a:lnTo>
                    <a:pt x="16345" y="215901"/>
                  </a:lnTo>
                  <a:lnTo>
                    <a:pt x="16761" y="219743"/>
                  </a:lnTo>
                  <a:lnTo>
                    <a:pt x="16941" y="220980"/>
                  </a:lnTo>
                  <a:lnTo>
                    <a:pt x="17012" y="222066"/>
                  </a:lnTo>
                  <a:lnTo>
                    <a:pt x="17211" y="224010"/>
                  </a:lnTo>
                  <a:lnTo>
                    <a:pt x="17318" y="225293"/>
                  </a:lnTo>
                  <a:lnTo>
                    <a:pt x="20891" y="224790"/>
                  </a:lnTo>
                  <a:lnTo>
                    <a:pt x="23964" y="220980"/>
                  </a:lnTo>
                  <a:lnTo>
                    <a:pt x="22777" y="210800"/>
                  </a:lnTo>
                  <a:lnTo>
                    <a:pt x="18618" y="208280"/>
                  </a:lnTo>
                  <a:close/>
                </a:path>
                <a:path w="2891790" h="309880">
                  <a:moveTo>
                    <a:pt x="8654" y="224153"/>
                  </a:moveTo>
                  <a:lnTo>
                    <a:pt x="9055" y="224790"/>
                  </a:lnTo>
                  <a:lnTo>
                    <a:pt x="9286" y="224887"/>
                  </a:lnTo>
                  <a:lnTo>
                    <a:pt x="8935" y="224318"/>
                  </a:lnTo>
                  <a:lnTo>
                    <a:pt x="8654" y="224153"/>
                  </a:lnTo>
                  <a:close/>
                </a:path>
                <a:path w="2891790" h="309880">
                  <a:moveTo>
                    <a:pt x="13893" y="214630"/>
                  </a:moveTo>
                  <a:lnTo>
                    <a:pt x="8518" y="215901"/>
                  </a:lnTo>
                  <a:lnTo>
                    <a:pt x="6670" y="217142"/>
                  </a:lnTo>
                  <a:lnTo>
                    <a:pt x="7338" y="221900"/>
                  </a:lnTo>
                  <a:lnTo>
                    <a:pt x="7459" y="222250"/>
                  </a:lnTo>
                  <a:lnTo>
                    <a:pt x="8654" y="224153"/>
                  </a:lnTo>
                  <a:lnTo>
                    <a:pt x="8935" y="224318"/>
                  </a:lnTo>
                  <a:lnTo>
                    <a:pt x="7658" y="222250"/>
                  </a:lnTo>
                  <a:lnTo>
                    <a:pt x="16490" y="222250"/>
                  </a:lnTo>
                  <a:lnTo>
                    <a:pt x="16906" y="221080"/>
                  </a:lnTo>
                  <a:lnTo>
                    <a:pt x="16761" y="219743"/>
                  </a:lnTo>
                  <a:lnTo>
                    <a:pt x="16188" y="215818"/>
                  </a:lnTo>
                  <a:lnTo>
                    <a:pt x="13893" y="214630"/>
                  </a:lnTo>
                  <a:close/>
                </a:path>
                <a:path w="2891790" h="309880">
                  <a:moveTo>
                    <a:pt x="7367" y="222104"/>
                  </a:moveTo>
                  <a:lnTo>
                    <a:pt x="7581" y="223519"/>
                  </a:lnTo>
                  <a:lnTo>
                    <a:pt x="8654" y="224153"/>
                  </a:lnTo>
                  <a:lnTo>
                    <a:pt x="7367" y="222104"/>
                  </a:lnTo>
                  <a:close/>
                </a:path>
                <a:path w="2891790" h="309880">
                  <a:moveTo>
                    <a:pt x="1846986" y="223519"/>
                  </a:moveTo>
                  <a:lnTo>
                    <a:pt x="1841563" y="223519"/>
                  </a:lnTo>
                  <a:lnTo>
                    <a:pt x="1841141" y="224010"/>
                  </a:lnTo>
                  <a:lnTo>
                    <a:pt x="1846986" y="223519"/>
                  </a:lnTo>
                  <a:close/>
                </a:path>
                <a:path w="2891790" h="309880">
                  <a:moveTo>
                    <a:pt x="7343" y="222066"/>
                  </a:moveTo>
                  <a:lnTo>
                    <a:pt x="7514" y="223107"/>
                  </a:lnTo>
                  <a:lnTo>
                    <a:pt x="7389" y="222250"/>
                  </a:lnTo>
                  <a:lnTo>
                    <a:pt x="7343" y="222066"/>
                  </a:lnTo>
                  <a:close/>
                </a:path>
                <a:path w="2891790" h="309880">
                  <a:moveTo>
                    <a:pt x="7239" y="221900"/>
                  </a:moveTo>
                  <a:lnTo>
                    <a:pt x="7302" y="222250"/>
                  </a:lnTo>
                  <a:lnTo>
                    <a:pt x="7343" y="222066"/>
                  </a:lnTo>
                  <a:lnTo>
                    <a:pt x="7239" y="221900"/>
                  </a:lnTo>
                  <a:close/>
                </a:path>
                <a:path w="2891790" h="309880">
                  <a:moveTo>
                    <a:pt x="6670" y="217142"/>
                  </a:moveTo>
                  <a:lnTo>
                    <a:pt x="6845" y="219024"/>
                  </a:lnTo>
                  <a:lnTo>
                    <a:pt x="7268" y="221604"/>
                  </a:lnTo>
                  <a:lnTo>
                    <a:pt x="7367" y="222104"/>
                  </a:lnTo>
                  <a:lnTo>
                    <a:pt x="6832" y="218440"/>
                  </a:lnTo>
                  <a:lnTo>
                    <a:pt x="6670" y="217142"/>
                  </a:lnTo>
                  <a:close/>
                </a:path>
                <a:path w="2891790" h="309880">
                  <a:moveTo>
                    <a:pt x="6845" y="219024"/>
                  </a:moveTo>
                  <a:lnTo>
                    <a:pt x="7073" y="220980"/>
                  </a:lnTo>
                  <a:lnTo>
                    <a:pt x="7239" y="221900"/>
                  </a:lnTo>
                  <a:lnTo>
                    <a:pt x="7343" y="222066"/>
                  </a:lnTo>
                  <a:lnTo>
                    <a:pt x="6845" y="219024"/>
                  </a:lnTo>
                  <a:close/>
                </a:path>
                <a:path w="2891790" h="309880">
                  <a:moveTo>
                    <a:pt x="2809" y="208371"/>
                  </a:moveTo>
                  <a:lnTo>
                    <a:pt x="2946" y="209550"/>
                  </a:lnTo>
                  <a:lnTo>
                    <a:pt x="4267" y="217169"/>
                  </a:lnTo>
                  <a:lnTo>
                    <a:pt x="7239" y="221900"/>
                  </a:lnTo>
                  <a:lnTo>
                    <a:pt x="7073" y="220980"/>
                  </a:lnTo>
                  <a:lnTo>
                    <a:pt x="6845" y="219024"/>
                  </a:lnTo>
                  <a:lnTo>
                    <a:pt x="5918" y="213360"/>
                  </a:lnTo>
                  <a:lnTo>
                    <a:pt x="5354" y="210157"/>
                  </a:lnTo>
                  <a:lnTo>
                    <a:pt x="2809" y="208371"/>
                  </a:lnTo>
                  <a:close/>
                </a:path>
                <a:path w="2891790" h="309880">
                  <a:moveTo>
                    <a:pt x="16761" y="219743"/>
                  </a:moveTo>
                  <a:lnTo>
                    <a:pt x="16906" y="221080"/>
                  </a:lnTo>
                  <a:lnTo>
                    <a:pt x="16761" y="219743"/>
                  </a:lnTo>
                  <a:close/>
                </a:path>
                <a:path w="2891790" h="309880">
                  <a:moveTo>
                    <a:pt x="16188" y="215818"/>
                  </a:moveTo>
                  <a:lnTo>
                    <a:pt x="16761" y="219743"/>
                  </a:lnTo>
                  <a:lnTo>
                    <a:pt x="16344" y="215900"/>
                  </a:lnTo>
                  <a:lnTo>
                    <a:pt x="16188" y="215818"/>
                  </a:lnTo>
                  <a:close/>
                </a:path>
                <a:path w="2891790" h="309880">
                  <a:moveTo>
                    <a:pt x="2381250" y="198119"/>
                  </a:moveTo>
                  <a:lnTo>
                    <a:pt x="2333320" y="198119"/>
                  </a:lnTo>
                  <a:lnTo>
                    <a:pt x="2338336" y="201930"/>
                  </a:lnTo>
                  <a:lnTo>
                    <a:pt x="2339505" y="213360"/>
                  </a:lnTo>
                  <a:lnTo>
                    <a:pt x="2335441" y="218440"/>
                  </a:lnTo>
                  <a:lnTo>
                    <a:pt x="2324059" y="219563"/>
                  </a:lnTo>
                  <a:lnTo>
                    <a:pt x="2324252" y="219710"/>
                  </a:lnTo>
                  <a:lnTo>
                    <a:pt x="2329840" y="219710"/>
                  </a:lnTo>
                  <a:lnTo>
                    <a:pt x="2345588" y="217169"/>
                  </a:lnTo>
                  <a:lnTo>
                    <a:pt x="2377107" y="214630"/>
                  </a:lnTo>
                  <a:lnTo>
                    <a:pt x="2387820" y="213360"/>
                  </a:lnTo>
                  <a:lnTo>
                    <a:pt x="2387231" y="213360"/>
                  </a:lnTo>
                  <a:lnTo>
                    <a:pt x="2382253" y="209550"/>
                  </a:lnTo>
                  <a:lnTo>
                    <a:pt x="2381250" y="198119"/>
                  </a:lnTo>
                  <a:close/>
                </a:path>
                <a:path w="2891790" h="309880">
                  <a:moveTo>
                    <a:pt x="2333320" y="198119"/>
                  </a:moveTo>
                  <a:lnTo>
                    <a:pt x="2330248" y="198423"/>
                  </a:lnTo>
                  <a:lnTo>
                    <a:pt x="2322093" y="199390"/>
                  </a:lnTo>
                  <a:lnTo>
                    <a:pt x="2318042" y="204469"/>
                  </a:lnTo>
                  <a:lnTo>
                    <a:pt x="2319238" y="215901"/>
                  </a:lnTo>
                  <a:lnTo>
                    <a:pt x="2324059" y="219563"/>
                  </a:lnTo>
                  <a:lnTo>
                    <a:pt x="2335441" y="218440"/>
                  </a:lnTo>
                  <a:lnTo>
                    <a:pt x="2339505" y="213360"/>
                  </a:lnTo>
                  <a:lnTo>
                    <a:pt x="2338336" y="201930"/>
                  </a:lnTo>
                  <a:lnTo>
                    <a:pt x="2333320" y="198119"/>
                  </a:lnTo>
                  <a:close/>
                </a:path>
                <a:path w="2891790" h="309880">
                  <a:moveTo>
                    <a:pt x="2109423" y="215901"/>
                  </a:moveTo>
                  <a:lnTo>
                    <a:pt x="2095537" y="217169"/>
                  </a:lnTo>
                  <a:lnTo>
                    <a:pt x="2081647" y="217169"/>
                  </a:lnTo>
                  <a:lnTo>
                    <a:pt x="2048383" y="218440"/>
                  </a:lnTo>
                  <a:lnTo>
                    <a:pt x="2047842" y="219086"/>
                  </a:lnTo>
                  <a:lnTo>
                    <a:pt x="2059393" y="218440"/>
                  </a:lnTo>
                  <a:lnTo>
                    <a:pt x="2102446" y="218440"/>
                  </a:lnTo>
                  <a:lnTo>
                    <a:pt x="2103894" y="217169"/>
                  </a:lnTo>
                  <a:lnTo>
                    <a:pt x="2109423" y="215901"/>
                  </a:lnTo>
                  <a:close/>
                </a:path>
                <a:path w="2891790" h="309880">
                  <a:moveTo>
                    <a:pt x="5354" y="210157"/>
                  </a:moveTo>
                  <a:lnTo>
                    <a:pt x="5990" y="213800"/>
                  </a:lnTo>
                  <a:lnTo>
                    <a:pt x="6845" y="219024"/>
                  </a:lnTo>
                  <a:lnTo>
                    <a:pt x="6777" y="218440"/>
                  </a:lnTo>
                  <a:lnTo>
                    <a:pt x="6670" y="217142"/>
                  </a:lnTo>
                  <a:lnTo>
                    <a:pt x="6197" y="213360"/>
                  </a:lnTo>
                  <a:lnTo>
                    <a:pt x="8365" y="210819"/>
                  </a:lnTo>
                  <a:lnTo>
                    <a:pt x="6299" y="210819"/>
                  </a:lnTo>
                  <a:lnTo>
                    <a:pt x="5354" y="210157"/>
                  </a:lnTo>
                  <a:close/>
                </a:path>
                <a:path w="2891790" h="309880">
                  <a:moveTo>
                    <a:pt x="16316" y="208598"/>
                  </a:moveTo>
                  <a:lnTo>
                    <a:pt x="14496" y="208861"/>
                  </a:lnTo>
                  <a:lnTo>
                    <a:pt x="13766" y="209550"/>
                  </a:lnTo>
                  <a:lnTo>
                    <a:pt x="8715" y="210409"/>
                  </a:lnTo>
                  <a:lnTo>
                    <a:pt x="6197" y="213360"/>
                  </a:lnTo>
                  <a:lnTo>
                    <a:pt x="6670" y="217142"/>
                  </a:lnTo>
                  <a:lnTo>
                    <a:pt x="8521" y="215900"/>
                  </a:lnTo>
                  <a:lnTo>
                    <a:pt x="13893" y="214630"/>
                  </a:lnTo>
                  <a:lnTo>
                    <a:pt x="16014" y="214630"/>
                  </a:lnTo>
                  <a:lnTo>
                    <a:pt x="16316" y="208598"/>
                  </a:lnTo>
                  <a:close/>
                </a:path>
                <a:path w="2891790" h="309880">
                  <a:moveTo>
                    <a:pt x="16014" y="214630"/>
                  </a:moveTo>
                  <a:lnTo>
                    <a:pt x="13893" y="214630"/>
                  </a:lnTo>
                  <a:lnTo>
                    <a:pt x="16188" y="215818"/>
                  </a:lnTo>
                  <a:lnTo>
                    <a:pt x="16014" y="214630"/>
                  </a:lnTo>
                  <a:close/>
                </a:path>
                <a:path w="2891790" h="309880">
                  <a:moveTo>
                    <a:pt x="2241453" y="207569"/>
                  </a:moveTo>
                  <a:lnTo>
                    <a:pt x="2226748" y="208280"/>
                  </a:lnTo>
                  <a:lnTo>
                    <a:pt x="2206024" y="210819"/>
                  </a:lnTo>
                  <a:lnTo>
                    <a:pt x="2185287" y="212090"/>
                  </a:lnTo>
                  <a:lnTo>
                    <a:pt x="2158987" y="213360"/>
                  </a:lnTo>
                  <a:lnTo>
                    <a:pt x="2158621" y="213800"/>
                  </a:lnTo>
                  <a:lnTo>
                    <a:pt x="2170099" y="213360"/>
                  </a:lnTo>
                  <a:lnTo>
                    <a:pt x="2237917" y="213360"/>
                  </a:lnTo>
                  <a:lnTo>
                    <a:pt x="2237803" y="212090"/>
                  </a:lnTo>
                  <a:lnTo>
                    <a:pt x="2241453" y="207569"/>
                  </a:lnTo>
                  <a:close/>
                </a:path>
                <a:path w="2891790" h="309880">
                  <a:moveTo>
                    <a:pt x="2397187" y="192195"/>
                  </a:moveTo>
                  <a:lnTo>
                    <a:pt x="2393778" y="192440"/>
                  </a:lnTo>
                  <a:lnTo>
                    <a:pt x="2391105" y="193040"/>
                  </a:lnTo>
                  <a:lnTo>
                    <a:pt x="2385027" y="193526"/>
                  </a:lnTo>
                  <a:lnTo>
                    <a:pt x="2381310" y="198046"/>
                  </a:lnTo>
                  <a:lnTo>
                    <a:pt x="2381361" y="199388"/>
                  </a:lnTo>
                  <a:lnTo>
                    <a:pt x="2382253" y="209550"/>
                  </a:lnTo>
                  <a:lnTo>
                    <a:pt x="2387231" y="213360"/>
                  </a:lnTo>
                  <a:lnTo>
                    <a:pt x="2387820" y="213360"/>
                  </a:lnTo>
                  <a:lnTo>
                    <a:pt x="2398534" y="212090"/>
                  </a:lnTo>
                  <a:lnTo>
                    <a:pt x="2402637" y="208371"/>
                  </a:lnTo>
                  <a:lnTo>
                    <a:pt x="2402521" y="205740"/>
                  </a:lnTo>
                  <a:lnTo>
                    <a:pt x="2401760" y="196850"/>
                  </a:lnTo>
                  <a:lnTo>
                    <a:pt x="2397187" y="192195"/>
                  </a:lnTo>
                  <a:close/>
                </a:path>
                <a:path w="2891790" h="309880">
                  <a:moveTo>
                    <a:pt x="2433574" y="189230"/>
                  </a:moveTo>
                  <a:lnTo>
                    <a:pt x="2427225" y="189230"/>
                  </a:lnTo>
                  <a:lnTo>
                    <a:pt x="2403121" y="191769"/>
                  </a:lnTo>
                  <a:lnTo>
                    <a:pt x="2397187" y="192195"/>
                  </a:lnTo>
                  <a:lnTo>
                    <a:pt x="2401760" y="196850"/>
                  </a:lnTo>
                  <a:lnTo>
                    <a:pt x="2402521" y="205740"/>
                  </a:lnTo>
                  <a:lnTo>
                    <a:pt x="2402637" y="208371"/>
                  </a:lnTo>
                  <a:lnTo>
                    <a:pt x="2398534" y="212090"/>
                  </a:lnTo>
                  <a:lnTo>
                    <a:pt x="2387820" y="213360"/>
                  </a:lnTo>
                  <a:lnTo>
                    <a:pt x="2392883" y="213360"/>
                  </a:lnTo>
                  <a:lnTo>
                    <a:pt x="2416751" y="210819"/>
                  </a:lnTo>
                  <a:lnTo>
                    <a:pt x="2428696" y="210819"/>
                  </a:lnTo>
                  <a:lnTo>
                    <a:pt x="2446350" y="209550"/>
                  </a:lnTo>
                  <a:lnTo>
                    <a:pt x="2434958" y="209550"/>
                  </a:lnTo>
                  <a:lnTo>
                    <a:pt x="2430030" y="205740"/>
                  </a:lnTo>
                  <a:lnTo>
                    <a:pt x="2429353" y="195580"/>
                  </a:lnTo>
                  <a:lnTo>
                    <a:pt x="2429362" y="194199"/>
                  </a:lnTo>
                  <a:lnTo>
                    <a:pt x="2433574" y="189230"/>
                  </a:lnTo>
                  <a:close/>
                </a:path>
                <a:path w="2891790" h="309880">
                  <a:moveTo>
                    <a:pt x="4822" y="207132"/>
                  </a:moveTo>
                  <a:lnTo>
                    <a:pt x="5354" y="210157"/>
                  </a:lnTo>
                  <a:lnTo>
                    <a:pt x="6299" y="210819"/>
                  </a:lnTo>
                  <a:lnTo>
                    <a:pt x="8715" y="210409"/>
                  </a:lnTo>
                  <a:lnTo>
                    <a:pt x="9448" y="209550"/>
                  </a:lnTo>
                  <a:lnTo>
                    <a:pt x="9245" y="209550"/>
                  </a:lnTo>
                  <a:lnTo>
                    <a:pt x="4822" y="207132"/>
                  </a:lnTo>
                  <a:close/>
                </a:path>
                <a:path w="2891790" h="309880">
                  <a:moveTo>
                    <a:pt x="8715" y="210409"/>
                  </a:moveTo>
                  <a:lnTo>
                    <a:pt x="6299" y="210819"/>
                  </a:lnTo>
                  <a:lnTo>
                    <a:pt x="8365" y="210819"/>
                  </a:lnTo>
                  <a:lnTo>
                    <a:pt x="8715" y="210409"/>
                  </a:lnTo>
                  <a:close/>
                </a:path>
                <a:path w="2891790" h="309880">
                  <a:moveTo>
                    <a:pt x="22352" y="208280"/>
                  </a:moveTo>
                  <a:lnTo>
                    <a:pt x="18618" y="208280"/>
                  </a:lnTo>
                  <a:lnTo>
                    <a:pt x="22777" y="210800"/>
                  </a:lnTo>
                  <a:lnTo>
                    <a:pt x="22631" y="209550"/>
                  </a:lnTo>
                  <a:lnTo>
                    <a:pt x="22352" y="208280"/>
                  </a:lnTo>
                  <a:close/>
                </a:path>
                <a:path w="2891790" h="309880">
                  <a:moveTo>
                    <a:pt x="14509" y="208849"/>
                  </a:moveTo>
                  <a:lnTo>
                    <a:pt x="9448" y="209550"/>
                  </a:lnTo>
                  <a:lnTo>
                    <a:pt x="8715" y="210409"/>
                  </a:lnTo>
                  <a:lnTo>
                    <a:pt x="13766" y="209550"/>
                  </a:lnTo>
                  <a:lnTo>
                    <a:pt x="14509" y="208849"/>
                  </a:lnTo>
                  <a:close/>
                </a:path>
                <a:path w="2891790" h="309880">
                  <a:moveTo>
                    <a:pt x="2477" y="198468"/>
                  </a:moveTo>
                  <a:lnTo>
                    <a:pt x="2146" y="203200"/>
                  </a:lnTo>
                  <a:lnTo>
                    <a:pt x="2809" y="208371"/>
                  </a:lnTo>
                  <a:lnTo>
                    <a:pt x="5354" y="210157"/>
                  </a:lnTo>
                  <a:lnTo>
                    <a:pt x="4822" y="207132"/>
                  </a:lnTo>
                  <a:lnTo>
                    <a:pt x="4597" y="207010"/>
                  </a:lnTo>
                  <a:lnTo>
                    <a:pt x="2477" y="198468"/>
                  </a:lnTo>
                  <a:close/>
                </a:path>
                <a:path w="2891790" h="309880">
                  <a:moveTo>
                    <a:pt x="2937" y="197804"/>
                  </a:moveTo>
                  <a:lnTo>
                    <a:pt x="2603" y="198046"/>
                  </a:lnTo>
                  <a:lnTo>
                    <a:pt x="3553" y="202258"/>
                  </a:lnTo>
                  <a:lnTo>
                    <a:pt x="4822" y="207132"/>
                  </a:lnTo>
                  <a:lnTo>
                    <a:pt x="9245" y="209550"/>
                  </a:lnTo>
                  <a:lnTo>
                    <a:pt x="15649" y="207773"/>
                  </a:lnTo>
                  <a:lnTo>
                    <a:pt x="16328" y="207132"/>
                  </a:lnTo>
                  <a:lnTo>
                    <a:pt x="17054" y="199390"/>
                  </a:lnTo>
                  <a:lnTo>
                    <a:pt x="5559" y="199388"/>
                  </a:lnTo>
                  <a:lnTo>
                    <a:pt x="2937" y="197804"/>
                  </a:lnTo>
                  <a:close/>
                </a:path>
                <a:path w="2891790" h="309880">
                  <a:moveTo>
                    <a:pt x="15649" y="207773"/>
                  </a:moveTo>
                  <a:lnTo>
                    <a:pt x="9245" y="209550"/>
                  </a:lnTo>
                  <a:lnTo>
                    <a:pt x="9448" y="209550"/>
                  </a:lnTo>
                  <a:lnTo>
                    <a:pt x="14509" y="208849"/>
                  </a:lnTo>
                  <a:lnTo>
                    <a:pt x="15649" y="207773"/>
                  </a:lnTo>
                  <a:close/>
                </a:path>
                <a:path w="2891790" h="309880">
                  <a:moveTo>
                    <a:pt x="2442171" y="188593"/>
                  </a:moveTo>
                  <a:lnTo>
                    <a:pt x="2433574" y="189230"/>
                  </a:lnTo>
                  <a:lnTo>
                    <a:pt x="2429362" y="194199"/>
                  </a:lnTo>
                  <a:lnTo>
                    <a:pt x="2429353" y="195580"/>
                  </a:lnTo>
                  <a:lnTo>
                    <a:pt x="2430030" y="205740"/>
                  </a:lnTo>
                  <a:lnTo>
                    <a:pt x="2434958" y="209550"/>
                  </a:lnTo>
                  <a:lnTo>
                    <a:pt x="2440647" y="209550"/>
                  </a:lnTo>
                  <a:lnTo>
                    <a:pt x="2446947" y="208849"/>
                  </a:lnTo>
                  <a:lnTo>
                    <a:pt x="2450680" y="204469"/>
                  </a:lnTo>
                  <a:lnTo>
                    <a:pt x="2450019" y="194199"/>
                  </a:lnTo>
                  <a:lnTo>
                    <a:pt x="2449920" y="193015"/>
                  </a:lnTo>
                  <a:lnTo>
                    <a:pt x="2446248" y="189230"/>
                  </a:lnTo>
                  <a:lnTo>
                    <a:pt x="2439314" y="189230"/>
                  </a:lnTo>
                  <a:lnTo>
                    <a:pt x="2442171" y="188593"/>
                  </a:lnTo>
                  <a:close/>
                </a:path>
                <a:path w="2891790" h="309880">
                  <a:moveTo>
                    <a:pt x="2446937" y="208861"/>
                  </a:moveTo>
                  <a:lnTo>
                    <a:pt x="2440647" y="209550"/>
                  </a:lnTo>
                  <a:lnTo>
                    <a:pt x="2446350" y="209550"/>
                  </a:lnTo>
                  <a:lnTo>
                    <a:pt x="2446937" y="208861"/>
                  </a:lnTo>
                  <a:close/>
                </a:path>
                <a:path w="2891790" h="309880">
                  <a:moveTo>
                    <a:pt x="2478944" y="185903"/>
                  </a:moveTo>
                  <a:lnTo>
                    <a:pt x="2473625" y="186690"/>
                  </a:lnTo>
                  <a:lnTo>
                    <a:pt x="2462182" y="186690"/>
                  </a:lnTo>
                  <a:lnTo>
                    <a:pt x="2450732" y="187960"/>
                  </a:lnTo>
                  <a:lnTo>
                    <a:pt x="2445399" y="188354"/>
                  </a:lnTo>
                  <a:lnTo>
                    <a:pt x="2449920" y="193015"/>
                  </a:lnTo>
                  <a:lnTo>
                    <a:pt x="2450680" y="204469"/>
                  </a:lnTo>
                  <a:lnTo>
                    <a:pt x="2446937" y="208861"/>
                  </a:lnTo>
                  <a:lnTo>
                    <a:pt x="2452244" y="208280"/>
                  </a:lnTo>
                  <a:lnTo>
                    <a:pt x="2463834" y="208280"/>
                  </a:lnTo>
                  <a:lnTo>
                    <a:pt x="2475420" y="207010"/>
                  </a:lnTo>
                  <a:lnTo>
                    <a:pt x="2480887" y="206608"/>
                  </a:lnTo>
                  <a:lnTo>
                    <a:pt x="2476220" y="201930"/>
                  </a:lnTo>
                  <a:lnTo>
                    <a:pt x="2475141" y="190500"/>
                  </a:lnTo>
                  <a:lnTo>
                    <a:pt x="2478944" y="185903"/>
                  </a:lnTo>
                  <a:close/>
                </a:path>
                <a:path w="2891790" h="309880">
                  <a:moveTo>
                    <a:pt x="16390" y="207568"/>
                  </a:moveTo>
                  <a:lnTo>
                    <a:pt x="15649" y="207773"/>
                  </a:lnTo>
                  <a:lnTo>
                    <a:pt x="14509" y="208849"/>
                  </a:lnTo>
                  <a:lnTo>
                    <a:pt x="16316" y="208598"/>
                  </a:lnTo>
                  <a:lnTo>
                    <a:pt x="16390" y="207568"/>
                  </a:lnTo>
                  <a:close/>
                </a:path>
                <a:path w="2891790" h="309880">
                  <a:moveTo>
                    <a:pt x="21027" y="202258"/>
                  </a:moveTo>
                  <a:lnTo>
                    <a:pt x="18402" y="207010"/>
                  </a:lnTo>
                  <a:lnTo>
                    <a:pt x="16390" y="207568"/>
                  </a:lnTo>
                  <a:lnTo>
                    <a:pt x="16316" y="208598"/>
                  </a:lnTo>
                  <a:lnTo>
                    <a:pt x="18618" y="208280"/>
                  </a:lnTo>
                  <a:lnTo>
                    <a:pt x="22352" y="208280"/>
                  </a:lnTo>
                  <a:lnTo>
                    <a:pt x="21027" y="202258"/>
                  </a:lnTo>
                  <a:close/>
                </a:path>
                <a:path w="2891790" h="309880">
                  <a:moveTo>
                    <a:pt x="2209" y="203200"/>
                  </a:moveTo>
                  <a:lnTo>
                    <a:pt x="2679" y="208280"/>
                  </a:lnTo>
                  <a:lnTo>
                    <a:pt x="2809" y="208371"/>
                  </a:lnTo>
                  <a:lnTo>
                    <a:pt x="2209" y="203200"/>
                  </a:lnTo>
                  <a:close/>
                </a:path>
                <a:path w="2891790" h="309880">
                  <a:moveTo>
                    <a:pt x="16433" y="207034"/>
                  </a:moveTo>
                  <a:lnTo>
                    <a:pt x="15649" y="207773"/>
                  </a:lnTo>
                  <a:lnTo>
                    <a:pt x="16385" y="207569"/>
                  </a:lnTo>
                  <a:lnTo>
                    <a:pt x="16433" y="207034"/>
                  </a:lnTo>
                  <a:close/>
                </a:path>
                <a:path w="2891790" h="309880">
                  <a:moveTo>
                    <a:pt x="2330248" y="198423"/>
                  </a:moveTo>
                  <a:lnTo>
                    <a:pt x="2307648" y="200660"/>
                  </a:lnTo>
                  <a:lnTo>
                    <a:pt x="2267529" y="205740"/>
                  </a:lnTo>
                  <a:lnTo>
                    <a:pt x="2241905" y="207010"/>
                  </a:lnTo>
                  <a:lnTo>
                    <a:pt x="2241453" y="207569"/>
                  </a:lnTo>
                  <a:lnTo>
                    <a:pt x="2253030" y="207010"/>
                  </a:lnTo>
                  <a:lnTo>
                    <a:pt x="2318307" y="207010"/>
                  </a:lnTo>
                  <a:lnTo>
                    <a:pt x="2318042" y="204469"/>
                  </a:lnTo>
                  <a:lnTo>
                    <a:pt x="2322108" y="199388"/>
                  </a:lnTo>
                  <a:lnTo>
                    <a:pt x="2330248" y="198423"/>
                  </a:lnTo>
                  <a:close/>
                </a:path>
                <a:path w="2891790" h="309880">
                  <a:moveTo>
                    <a:pt x="18331" y="192673"/>
                  </a:moveTo>
                  <a:lnTo>
                    <a:pt x="17412" y="194810"/>
                  </a:lnTo>
                  <a:lnTo>
                    <a:pt x="16509" y="206366"/>
                  </a:lnTo>
                  <a:lnTo>
                    <a:pt x="16390" y="207568"/>
                  </a:lnTo>
                  <a:lnTo>
                    <a:pt x="18402" y="207010"/>
                  </a:lnTo>
                  <a:lnTo>
                    <a:pt x="21027" y="202258"/>
                  </a:lnTo>
                  <a:lnTo>
                    <a:pt x="19254" y="194199"/>
                  </a:lnTo>
                  <a:lnTo>
                    <a:pt x="18954" y="193015"/>
                  </a:lnTo>
                  <a:lnTo>
                    <a:pt x="18331" y="192673"/>
                  </a:lnTo>
                  <a:close/>
                </a:path>
                <a:path w="2891790" h="309880">
                  <a:moveTo>
                    <a:pt x="2603" y="198046"/>
                  </a:moveTo>
                  <a:lnTo>
                    <a:pt x="2477" y="198468"/>
                  </a:lnTo>
                  <a:lnTo>
                    <a:pt x="4597" y="207010"/>
                  </a:lnTo>
                  <a:lnTo>
                    <a:pt x="4822" y="207132"/>
                  </a:lnTo>
                  <a:lnTo>
                    <a:pt x="3467" y="201930"/>
                  </a:lnTo>
                  <a:lnTo>
                    <a:pt x="2603" y="198046"/>
                  </a:lnTo>
                  <a:close/>
                </a:path>
                <a:path w="2891790" h="309880">
                  <a:moveTo>
                    <a:pt x="2484183" y="206366"/>
                  </a:moveTo>
                  <a:lnTo>
                    <a:pt x="2480887" y="206608"/>
                  </a:lnTo>
                  <a:lnTo>
                    <a:pt x="2481287" y="207010"/>
                  </a:lnTo>
                  <a:lnTo>
                    <a:pt x="2484183" y="206366"/>
                  </a:lnTo>
                  <a:close/>
                </a:path>
                <a:path w="2891790" h="309880">
                  <a:moveTo>
                    <a:pt x="2491314" y="184652"/>
                  </a:moveTo>
                  <a:lnTo>
                    <a:pt x="2484422" y="185094"/>
                  </a:lnTo>
                  <a:lnTo>
                    <a:pt x="2478944" y="185903"/>
                  </a:lnTo>
                  <a:lnTo>
                    <a:pt x="2475141" y="190500"/>
                  </a:lnTo>
                  <a:lnTo>
                    <a:pt x="2476220" y="201930"/>
                  </a:lnTo>
                  <a:lnTo>
                    <a:pt x="2480887" y="206608"/>
                  </a:lnTo>
                  <a:lnTo>
                    <a:pt x="2484183" y="206366"/>
                  </a:lnTo>
                  <a:lnTo>
                    <a:pt x="2487002" y="205740"/>
                  </a:lnTo>
                  <a:lnTo>
                    <a:pt x="2493178" y="205185"/>
                  </a:lnTo>
                  <a:lnTo>
                    <a:pt x="2496934" y="200660"/>
                  </a:lnTo>
                  <a:lnTo>
                    <a:pt x="2495880" y="189230"/>
                  </a:lnTo>
                  <a:lnTo>
                    <a:pt x="2491314" y="184652"/>
                  </a:lnTo>
                  <a:close/>
                </a:path>
                <a:path w="2891790" h="309880">
                  <a:moveTo>
                    <a:pt x="2493178" y="205185"/>
                  </a:moveTo>
                  <a:lnTo>
                    <a:pt x="2487002" y="205740"/>
                  </a:lnTo>
                  <a:lnTo>
                    <a:pt x="2484183" y="206366"/>
                  </a:lnTo>
                  <a:lnTo>
                    <a:pt x="2492717" y="205740"/>
                  </a:lnTo>
                  <a:lnTo>
                    <a:pt x="2493178" y="205185"/>
                  </a:lnTo>
                  <a:close/>
                </a:path>
                <a:path w="2891790" h="309880">
                  <a:moveTo>
                    <a:pt x="2535417" y="180569"/>
                  </a:moveTo>
                  <a:lnTo>
                    <a:pt x="2527290" y="181610"/>
                  </a:lnTo>
                  <a:lnTo>
                    <a:pt x="2499129" y="184151"/>
                  </a:lnTo>
                  <a:lnTo>
                    <a:pt x="2491314" y="184652"/>
                  </a:lnTo>
                  <a:lnTo>
                    <a:pt x="2495880" y="189230"/>
                  </a:lnTo>
                  <a:lnTo>
                    <a:pt x="2496934" y="200660"/>
                  </a:lnTo>
                  <a:lnTo>
                    <a:pt x="2493178" y="205185"/>
                  </a:lnTo>
                  <a:lnTo>
                    <a:pt x="2529431" y="201930"/>
                  </a:lnTo>
                  <a:lnTo>
                    <a:pt x="2539376" y="200660"/>
                  </a:lnTo>
                  <a:lnTo>
                    <a:pt x="2537828" y="200660"/>
                  </a:lnTo>
                  <a:lnTo>
                    <a:pt x="2532672" y="196850"/>
                  </a:lnTo>
                  <a:lnTo>
                    <a:pt x="2531440" y="185419"/>
                  </a:lnTo>
                  <a:lnTo>
                    <a:pt x="2535417" y="180569"/>
                  </a:lnTo>
                  <a:close/>
                </a:path>
                <a:path w="2891790" h="309880">
                  <a:moveTo>
                    <a:pt x="1398" y="196874"/>
                  </a:moveTo>
                  <a:lnTo>
                    <a:pt x="2109" y="203200"/>
                  </a:lnTo>
                  <a:lnTo>
                    <a:pt x="2413" y="199388"/>
                  </a:lnTo>
                  <a:lnTo>
                    <a:pt x="2312" y="197804"/>
                  </a:lnTo>
                  <a:lnTo>
                    <a:pt x="2202" y="197359"/>
                  </a:lnTo>
                  <a:lnTo>
                    <a:pt x="1398" y="196874"/>
                  </a:lnTo>
                  <a:close/>
                </a:path>
                <a:path w="2891790" h="309880">
                  <a:moveTo>
                    <a:pt x="19254" y="194199"/>
                  </a:moveTo>
                  <a:lnTo>
                    <a:pt x="21027" y="202258"/>
                  </a:lnTo>
                  <a:lnTo>
                    <a:pt x="21209" y="201930"/>
                  </a:lnTo>
                  <a:lnTo>
                    <a:pt x="19254" y="194199"/>
                  </a:lnTo>
                  <a:close/>
                </a:path>
                <a:path w="2891790" h="309880">
                  <a:moveTo>
                    <a:pt x="2547374" y="179245"/>
                  </a:moveTo>
                  <a:lnTo>
                    <a:pt x="2541488" y="179792"/>
                  </a:lnTo>
                  <a:lnTo>
                    <a:pt x="2535417" y="180569"/>
                  </a:lnTo>
                  <a:lnTo>
                    <a:pt x="2531440" y="185419"/>
                  </a:lnTo>
                  <a:lnTo>
                    <a:pt x="2532672" y="196850"/>
                  </a:lnTo>
                  <a:lnTo>
                    <a:pt x="2537828" y="200660"/>
                  </a:lnTo>
                  <a:lnTo>
                    <a:pt x="2539376" y="200660"/>
                  </a:lnTo>
                  <a:lnTo>
                    <a:pt x="2549323" y="199388"/>
                  </a:lnTo>
                  <a:lnTo>
                    <a:pt x="2553500" y="194310"/>
                  </a:lnTo>
                  <a:lnTo>
                    <a:pt x="2552362" y="183534"/>
                  </a:lnTo>
                  <a:lnTo>
                    <a:pt x="2552253" y="182850"/>
                  </a:lnTo>
                  <a:lnTo>
                    <a:pt x="2547374" y="179245"/>
                  </a:lnTo>
                  <a:close/>
                </a:path>
                <a:path w="2891790" h="309880">
                  <a:moveTo>
                    <a:pt x="2633408" y="170180"/>
                  </a:moveTo>
                  <a:lnTo>
                    <a:pt x="2606050" y="172719"/>
                  </a:lnTo>
                  <a:lnTo>
                    <a:pt x="2562918" y="177800"/>
                  </a:lnTo>
                  <a:lnTo>
                    <a:pt x="2547374" y="179245"/>
                  </a:lnTo>
                  <a:lnTo>
                    <a:pt x="2552253" y="182850"/>
                  </a:lnTo>
                  <a:lnTo>
                    <a:pt x="2552362" y="183534"/>
                  </a:lnTo>
                  <a:lnTo>
                    <a:pt x="2553500" y="194310"/>
                  </a:lnTo>
                  <a:lnTo>
                    <a:pt x="2549321" y="199390"/>
                  </a:lnTo>
                  <a:lnTo>
                    <a:pt x="2539376" y="200660"/>
                  </a:lnTo>
                  <a:lnTo>
                    <a:pt x="2543568" y="200660"/>
                  </a:lnTo>
                  <a:lnTo>
                    <a:pt x="2565106" y="198119"/>
                  </a:lnTo>
                  <a:lnTo>
                    <a:pt x="2608192" y="194310"/>
                  </a:lnTo>
                  <a:lnTo>
                    <a:pt x="2626408" y="191769"/>
                  </a:lnTo>
                  <a:lnTo>
                    <a:pt x="2623947" y="191769"/>
                  </a:lnTo>
                  <a:lnTo>
                    <a:pt x="2618790" y="187960"/>
                  </a:lnTo>
                  <a:lnTo>
                    <a:pt x="2617622" y="176530"/>
                  </a:lnTo>
                  <a:lnTo>
                    <a:pt x="2621838" y="171450"/>
                  </a:lnTo>
                  <a:lnTo>
                    <a:pt x="2633539" y="170276"/>
                  </a:lnTo>
                  <a:lnTo>
                    <a:pt x="2633408" y="170180"/>
                  </a:lnTo>
                  <a:close/>
                </a:path>
                <a:path w="2891790" h="309880">
                  <a:moveTo>
                    <a:pt x="14046" y="195580"/>
                  </a:moveTo>
                  <a:lnTo>
                    <a:pt x="6007" y="195580"/>
                  </a:lnTo>
                  <a:lnTo>
                    <a:pt x="2937" y="197804"/>
                  </a:lnTo>
                  <a:lnTo>
                    <a:pt x="5562" y="199390"/>
                  </a:lnTo>
                  <a:lnTo>
                    <a:pt x="11495" y="199388"/>
                  </a:lnTo>
                  <a:lnTo>
                    <a:pt x="12712" y="198119"/>
                  </a:lnTo>
                  <a:lnTo>
                    <a:pt x="13792" y="198119"/>
                  </a:lnTo>
                  <a:lnTo>
                    <a:pt x="15196" y="197035"/>
                  </a:lnTo>
                  <a:lnTo>
                    <a:pt x="14046" y="195580"/>
                  </a:lnTo>
                  <a:close/>
                </a:path>
                <a:path w="2891790" h="309880">
                  <a:moveTo>
                    <a:pt x="15196" y="197035"/>
                  </a:moveTo>
                  <a:lnTo>
                    <a:pt x="13792" y="198119"/>
                  </a:lnTo>
                  <a:lnTo>
                    <a:pt x="12712" y="198119"/>
                  </a:lnTo>
                  <a:lnTo>
                    <a:pt x="11493" y="199390"/>
                  </a:lnTo>
                  <a:lnTo>
                    <a:pt x="17054" y="199388"/>
                  </a:lnTo>
                  <a:lnTo>
                    <a:pt x="15196" y="197035"/>
                  </a:lnTo>
                  <a:close/>
                </a:path>
                <a:path w="2891790" h="309880">
                  <a:moveTo>
                    <a:pt x="17412" y="194810"/>
                  </a:moveTo>
                  <a:lnTo>
                    <a:pt x="17081" y="195580"/>
                  </a:lnTo>
                  <a:lnTo>
                    <a:pt x="15196" y="197035"/>
                  </a:lnTo>
                  <a:lnTo>
                    <a:pt x="17054" y="199388"/>
                  </a:lnTo>
                  <a:lnTo>
                    <a:pt x="17412" y="194810"/>
                  </a:lnTo>
                  <a:close/>
                </a:path>
                <a:path w="2891790" h="309880">
                  <a:moveTo>
                    <a:pt x="2202" y="197359"/>
                  </a:moveTo>
                  <a:lnTo>
                    <a:pt x="2477" y="198468"/>
                  </a:lnTo>
                  <a:lnTo>
                    <a:pt x="2488" y="197532"/>
                  </a:lnTo>
                  <a:lnTo>
                    <a:pt x="2202" y="197359"/>
                  </a:lnTo>
                  <a:close/>
                </a:path>
                <a:path w="2891790" h="309880">
                  <a:moveTo>
                    <a:pt x="2385027" y="193526"/>
                  </a:moveTo>
                  <a:lnTo>
                    <a:pt x="2343534" y="196850"/>
                  </a:lnTo>
                  <a:lnTo>
                    <a:pt x="2330248" y="198423"/>
                  </a:lnTo>
                  <a:lnTo>
                    <a:pt x="2333320" y="198119"/>
                  </a:lnTo>
                  <a:lnTo>
                    <a:pt x="2381250" y="198119"/>
                  </a:lnTo>
                  <a:lnTo>
                    <a:pt x="2385027" y="193526"/>
                  </a:lnTo>
                  <a:close/>
                </a:path>
                <a:path w="2891790" h="309880">
                  <a:moveTo>
                    <a:pt x="2488" y="197532"/>
                  </a:moveTo>
                  <a:lnTo>
                    <a:pt x="2603" y="198046"/>
                  </a:lnTo>
                  <a:lnTo>
                    <a:pt x="2937" y="197804"/>
                  </a:lnTo>
                  <a:lnTo>
                    <a:pt x="2488" y="197532"/>
                  </a:lnTo>
                  <a:close/>
                </a:path>
                <a:path w="2891790" h="309880">
                  <a:moveTo>
                    <a:pt x="14363" y="190500"/>
                  </a:moveTo>
                  <a:lnTo>
                    <a:pt x="5168" y="193040"/>
                  </a:lnTo>
                  <a:lnTo>
                    <a:pt x="2336" y="196850"/>
                  </a:lnTo>
                  <a:lnTo>
                    <a:pt x="2488" y="197532"/>
                  </a:lnTo>
                  <a:lnTo>
                    <a:pt x="2937" y="197804"/>
                  </a:lnTo>
                  <a:lnTo>
                    <a:pt x="6007" y="195580"/>
                  </a:lnTo>
                  <a:lnTo>
                    <a:pt x="17081" y="195580"/>
                  </a:lnTo>
                  <a:lnTo>
                    <a:pt x="17412" y="194810"/>
                  </a:lnTo>
                  <a:lnTo>
                    <a:pt x="17610" y="192278"/>
                  </a:lnTo>
                  <a:lnTo>
                    <a:pt x="14363" y="190500"/>
                  </a:lnTo>
                  <a:close/>
                </a:path>
                <a:path w="2891790" h="309880">
                  <a:moveTo>
                    <a:pt x="5004" y="182582"/>
                  </a:moveTo>
                  <a:lnTo>
                    <a:pt x="847" y="191769"/>
                  </a:lnTo>
                  <a:lnTo>
                    <a:pt x="1569" y="194810"/>
                  </a:lnTo>
                  <a:lnTo>
                    <a:pt x="2202" y="197359"/>
                  </a:lnTo>
                  <a:lnTo>
                    <a:pt x="2488" y="197532"/>
                  </a:lnTo>
                  <a:lnTo>
                    <a:pt x="2336" y="196850"/>
                  </a:lnTo>
                  <a:lnTo>
                    <a:pt x="5168" y="193040"/>
                  </a:lnTo>
                  <a:lnTo>
                    <a:pt x="14363" y="190500"/>
                  </a:lnTo>
                  <a:lnTo>
                    <a:pt x="17749" y="190500"/>
                  </a:lnTo>
                  <a:lnTo>
                    <a:pt x="17848" y="189230"/>
                  </a:lnTo>
                  <a:lnTo>
                    <a:pt x="17776" y="188354"/>
                  </a:lnTo>
                  <a:lnTo>
                    <a:pt x="17092" y="185648"/>
                  </a:lnTo>
                  <a:lnTo>
                    <a:pt x="14719" y="183060"/>
                  </a:lnTo>
                  <a:lnTo>
                    <a:pt x="14389" y="182880"/>
                  </a:lnTo>
                  <a:lnTo>
                    <a:pt x="4546" y="182880"/>
                  </a:lnTo>
                  <a:lnTo>
                    <a:pt x="5004" y="182582"/>
                  </a:lnTo>
                  <a:close/>
                </a:path>
                <a:path w="2891790" h="309880">
                  <a:moveTo>
                    <a:pt x="797" y="191542"/>
                  </a:moveTo>
                  <a:lnTo>
                    <a:pt x="1398" y="196874"/>
                  </a:lnTo>
                  <a:lnTo>
                    <a:pt x="2202" y="197359"/>
                  </a:lnTo>
                  <a:lnTo>
                    <a:pt x="797" y="191542"/>
                  </a:lnTo>
                  <a:close/>
                </a:path>
                <a:path w="2891790" h="309880">
                  <a:moveTo>
                    <a:pt x="17081" y="195580"/>
                  </a:moveTo>
                  <a:lnTo>
                    <a:pt x="14046" y="195580"/>
                  </a:lnTo>
                  <a:lnTo>
                    <a:pt x="15196" y="197035"/>
                  </a:lnTo>
                  <a:lnTo>
                    <a:pt x="17081" y="195580"/>
                  </a:lnTo>
                  <a:close/>
                </a:path>
                <a:path w="2891790" h="309880">
                  <a:moveTo>
                    <a:pt x="825" y="191769"/>
                  </a:moveTo>
                  <a:lnTo>
                    <a:pt x="1358" y="196850"/>
                  </a:lnTo>
                  <a:lnTo>
                    <a:pt x="825" y="191769"/>
                  </a:lnTo>
                  <a:close/>
                </a:path>
                <a:path w="2891790" h="309880">
                  <a:moveTo>
                    <a:pt x="17610" y="192278"/>
                  </a:moveTo>
                  <a:lnTo>
                    <a:pt x="17412" y="194810"/>
                  </a:lnTo>
                  <a:lnTo>
                    <a:pt x="18331" y="192673"/>
                  </a:lnTo>
                  <a:lnTo>
                    <a:pt x="17610" y="192278"/>
                  </a:lnTo>
                  <a:close/>
                </a:path>
                <a:path w="2891790" h="309880">
                  <a:moveTo>
                    <a:pt x="18954" y="193015"/>
                  </a:moveTo>
                  <a:lnTo>
                    <a:pt x="19254" y="194199"/>
                  </a:lnTo>
                  <a:lnTo>
                    <a:pt x="18999" y="193040"/>
                  </a:lnTo>
                  <a:close/>
                </a:path>
                <a:path w="2891790" h="309880">
                  <a:moveTo>
                    <a:pt x="2393778" y="192440"/>
                  </a:moveTo>
                  <a:lnTo>
                    <a:pt x="2385428" y="193040"/>
                  </a:lnTo>
                  <a:lnTo>
                    <a:pt x="2385027" y="193526"/>
                  </a:lnTo>
                  <a:lnTo>
                    <a:pt x="2391105" y="193040"/>
                  </a:lnTo>
                  <a:lnTo>
                    <a:pt x="2393778" y="192440"/>
                  </a:lnTo>
                  <a:close/>
                </a:path>
                <a:path w="2891790" h="309880">
                  <a:moveTo>
                    <a:pt x="18669" y="191886"/>
                  </a:moveTo>
                  <a:lnTo>
                    <a:pt x="18331" y="192673"/>
                  </a:lnTo>
                  <a:lnTo>
                    <a:pt x="18954" y="193015"/>
                  </a:lnTo>
                  <a:lnTo>
                    <a:pt x="18669" y="191886"/>
                  </a:lnTo>
                  <a:close/>
                </a:path>
                <a:path w="2891790" h="309880">
                  <a:moveTo>
                    <a:pt x="17883" y="188778"/>
                  </a:moveTo>
                  <a:lnTo>
                    <a:pt x="17610" y="192278"/>
                  </a:lnTo>
                  <a:lnTo>
                    <a:pt x="18331" y="192673"/>
                  </a:lnTo>
                  <a:lnTo>
                    <a:pt x="18536" y="192195"/>
                  </a:lnTo>
                  <a:lnTo>
                    <a:pt x="18500" y="191217"/>
                  </a:lnTo>
                  <a:lnTo>
                    <a:pt x="17883" y="188778"/>
                  </a:lnTo>
                  <a:close/>
                </a:path>
                <a:path w="2891790" h="309880">
                  <a:moveTo>
                    <a:pt x="2396769" y="191769"/>
                  </a:moveTo>
                  <a:lnTo>
                    <a:pt x="2393778" y="192440"/>
                  </a:lnTo>
                  <a:lnTo>
                    <a:pt x="2397187" y="192195"/>
                  </a:lnTo>
                  <a:lnTo>
                    <a:pt x="2396769" y="191769"/>
                  </a:lnTo>
                  <a:close/>
                </a:path>
                <a:path w="2891790" h="309880">
                  <a:moveTo>
                    <a:pt x="17749" y="190500"/>
                  </a:moveTo>
                  <a:lnTo>
                    <a:pt x="14363" y="190500"/>
                  </a:lnTo>
                  <a:lnTo>
                    <a:pt x="17610" y="192278"/>
                  </a:lnTo>
                  <a:lnTo>
                    <a:pt x="17749" y="190500"/>
                  </a:lnTo>
                  <a:close/>
                </a:path>
                <a:path w="2891790" h="309880">
                  <a:moveTo>
                    <a:pt x="17905" y="188492"/>
                  </a:moveTo>
                  <a:lnTo>
                    <a:pt x="17997" y="189230"/>
                  </a:lnTo>
                  <a:lnTo>
                    <a:pt x="18669" y="191886"/>
                  </a:lnTo>
                  <a:lnTo>
                    <a:pt x="18582" y="191217"/>
                  </a:lnTo>
                  <a:lnTo>
                    <a:pt x="17905" y="188492"/>
                  </a:lnTo>
                  <a:close/>
                </a:path>
                <a:path w="2891790" h="309880">
                  <a:moveTo>
                    <a:pt x="757" y="191366"/>
                  </a:moveTo>
                  <a:lnTo>
                    <a:pt x="762" y="191769"/>
                  </a:lnTo>
                  <a:lnTo>
                    <a:pt x="757" y="191366"/>
                  </a:lnTo>
                  <a:close/>
                </a:path>
                <a:path w="2891790" h="309880">
                  <a:moveTo>
                    <a:pt x="2633539" y="170276"/>
                  </a:moveTo>
                  <a:lnTo>
                    <a:pt x="2621838" y="171450"/>
                  </a:lnTo>
                  <a:lnTo>
                    <a:pt x="2617622" y="176530"/>
                  </a:lnTo>
                  <a:lnTo>
                    <a:pt x="2618790" y="187960"/>
                  </a:lnTo>
                  <a:lnTo>
                    <a:pt x="2623947" y="191769"/>
                  </a:lnTo>
                  <a:lnTo>
                    <a:pt x="2626408" y="191769"/>
                  </a:lnTo>
                  <a:lnTo>
                    <a:pt x="2635516" y="190500"/>
                  </a:lnTo>
                  <a:lnTo>
                    <a:pt x="2639733" y="185419"/>
                  </a:lnTo>
                  <a:lnTo>
                    <a:pt x="2638577" y="173990"/>
                  </a:lnTo>
                  <a:lnTo>
                    <a:pt x="2633539" y="170276"/>
                  </a:lnTo>
                  <a:close/>
                </a:path>
                <a:path w="2891790" h="309880">
                  <a:moveTo>
                    <a:pt x="2699728" y="164228"/>
                  </a:moveTo>
                  <a:lnTo>
                    <a:pt x="2666722" y="166369"/>
                  </a:lnTo>
                  <a:lnTo>
                    <a:pt x="2647165" y="168910"/>
                  </a:lnTo>
                  <a:lnTo>
                    <a:pt x="2633539" y="170276"/>
                  </a:lnTo>
                  <a:lnTo>
                    <a:pt x="2638577" y="173990"/>
                  </a:lnTo>
                  <a:lnTo>
                    <a:pt x="2639733" y="185419"/>
                  </a:lnTo>
                  <a:lnTo>
                    <a:pt x="2635516" y="190500"/>
                  </a:lnTo>
                  <a:lnTo>
                    <a:pt x="2626408" y="191769"/>
                  </a:lnTo>
                  <a:lnTo>
                    <a:pt x="2629738" y="191769"/>
                  </a:lnTo>
                  <a:lnTo>
                    <a:pt x="2649145" y="189230"/>
                  </a:lnTo>
                  <a:lnTo>
                    <a:pt x="2668563" y="187960"/>
                  </a:lnTo>
                  <a:lnTo>
                    <a:pt x="2687993" y="185419"/>
                  </a:lnTo>
                  <a:lnTo>
                    <a:pt x="2700790" y="184584"/>
                  </a:lnTo>
                  <a:lnTo>
                    <a:pt x="2696578" y="180340"/>
                  </a:lnTo>
                  <a:lnTo>
                    <a:pt x="2695810" y="170180"/>
                  </a:lnTo>
                  <a:lnTo>
                    <a:pt x="2695756" y="168861"/>
                  </a:lnTo>
                  <a:lnTo>
                    <a:pt x="2699728" y="164228"/>
                  </a:lnTo>
                  <a:close/>
                </a:path>
                <a:path w="2891790" h="309880">
                  <a:moveTo>
                    <a:pt x="1111" y="185975"/>
                  </a:moveTo>
                  <a:lnTo>
                    <a:pt x="0" y="187960"/>
                  </a:lnTo>
                  <a:lnTo>
                    <a:pt x="757" y="191366"/>
                  </a:lnTo>
                  <a:lnTo>
                    <a:pt x="666" y="190500"/>
                  </a:lnTo>
                  <a:lnTo>
                    <a:pt x="761" y="187960"/>
                  </a:lnTo>
                  <a:lnTo>
                    <a:pt x="1015" y="186690"/>
                  </a:lnTo>
                  <a:lnTo>
                    <a:pt x="1111" y="185975"/>
                  </a:lnTo>
                  <a:close/>
                </a:path>
                <a:path w="2891790" h="309880">
                  <a:moveTo>
                    <a:pt x="1058" y="186629"/>
                  </a:moveTo>
                  <a:lnTo>
                    <a:pt x="507" y="189230"/>
                  </a:lnTo>
                  <a:lnTo>
                    <a:pt x="756" y="191217"/>
                  </a:lnTo>
                  <a:lnTo>
                    <a:pt x="850" y="189230"/>
                  </a:lnTo>
                  <a:lnTo>
                    <a:pt x="1058" y="186629"/>
                  </a:lnTo>
                  <a:close/>
                </a:path>
                <a:path w="2891790" h="309880">
                  <a:moveTo>
                    <a:pt x="2445399" y="188354"/>
                  </a:moveTo>
                  <a:lnTo>
                    <a:pt x="2442171" y="188593"/>
                  </a:lnTo>
                  <a:lnTo>
                    <a:pt x="2439314" y="189230"/>
                  </a:lnTo>
                  <a:lnTo>
                    <a:pt x="2446248" y="189230"/>
                  </a:lnTo>
                  <a:lnTo>
                    <a:pt x="2445399" y="188354"/>
                  </a:lnTo>
                  <a:close/>
                </a:path>
                <a:path w="2891790" h="309880">
                  <a:moveTo>
                    <a:pt x="17092" y="185648"/>
                  </a:moveTo>
                  <a:lnTo>
                    <a:pt x="17883" y="188778"/>
                  </a:lnTo>
                  <a:lnTo>
                    <a:pt x="17773" y="187960"/>
                  </a:lnTo>
                  <a:lnTo>
                    <a:pt x="17239" y="185809"/>
                  </a:lnTo>
                  <a:lnTo>
                    <a:pt x="17092" y="185648"/>
                  </a:lnTo>
                  <a:close/>
                </a:path>
                <a:path w="2891790" h="309880">
                  <a:moveTo>
                    <a:pt x="2445016" y="187960"/>
                  </a:moveTo>
                  <a:lnTo>
                    <a:pt x="2442171" y="188593"/>
                  </a:lnTo>
                  <a:lnTo>
                    <a:pt x="2445399" y="188354"/>
                  </a:lnTo>
                  <a:lnTo>
                    <a:pt x="2445016" y="187960"/>
                  </a:lnTo>
                  <a:close/>
                </a:path>
                <a:path w="2891790" h="309880">
                  <a:moveTo>
                    <a:pt x="17239" y="185809"/>
                  </a:moveTo>
                  <a:lnTo>
                    <a:pt x="17905" y="188492"/>
                  </a:lnTo>
                  <a:lnTo>
                    <a:pt x="17947" y="187960"/>
                  </a:lnTo>
                  <a:lnTo>
                    <a:pt x="17990" y="186629"/>
                  </a:lnTo>
                  <a:lnTo>
                    <a:pt x="17239" y="185809"/>
                  </a:lnTo>
                  <a:close/>
                </a:path>
                <a:path w="2891790" h="309880">
                  <a:moveTo>
                    <a:pt x="3387" y="183334"/>
                  </a:moveTo>
                  <a:lnTo>
                    <a:pt x="1715" y="184897"/>
                  </a:lnTo>
                  <a:lnTo>
                    <a:pt x="1151" y="185903"/>
                  </a:lnTo>
                  <a:lnTo>
                    <a:pt x="1058" y="186629"/>
                  </a:lnTo>
                  <a:lnTo>
                    <a:pt x="3387" y="183334"/>
                  </a:lnTo>
                  <a:close/>
                </a:path>
                <a:path w="2891790" h="309880">
                  <a:moveTo>
                    <a:pt x="1715" y="184897"/>
                  </a:moveTo>
                  <a:lnTo>
                    <a:pt x="1155" y="185419"/>
                  </a:lnTo>
                  <a:lnTo>
                    <a:pt x="1111" y="185975"/>
                  </a:lnTo>
                  <a:lnTo>
                    <a:pt x="1715" y="184897"/>
                  </a:lnTo>
                  <a:close/>
                </a:path>
                <a:path w="2891790" h="309880">
                  <a:moveTo>
                    <a:pt x="2484422" y="185094"/>
                  </a:moveTo>
                  <a:lnTo>
                    <a:pt x="2479344" y="185419"/>
                  </a:lnTo>
                  <a:lnTo>
                    <a:pt x="2478944" y="185903"/>
                  </a:lnTo>
                  <a:lnTo>
                    <a:pt x="2484422" y="185094"/>
                  </a:lnTo>
                  <a:close/>
                </a:path>
                <a:path w="2891790" h="309880">
                  <a:moveTo>
                    <a:pt x="13233" y="181610"/>
                  </a:moveTo>
                  <a:lnTo>
                    <a:pt x="12065" y="181610"/>
                  </a:lnTo>
                  <a:lnTo>
                    <a:pt x="14334" y="182850"/>
                  </a:lnTo>
                  <a:lnTo>
                    <a:pt x="14554" y="182880"/>
                  </a:lnTo>
                  <a:lnTo>
                    <a:pt x="14719" y="183060"/>
                  </a:lnTo>
                  <a:lnTo>
                    <a:pt x="16713" y="184151"/>
                  </a:lnTo>
                  <a:lnTo>
                    <a:pt x="17092" y="185648"/>
                  </a:lnTo>
                  <a:lnTo>
                    <a:pt x="17239" y="185809"/>
                  </a:lnTo>
                  <a:lnTo>
                    <a:pt x="16827" y="184150"/>
                  </a:lnTo>
                  <a:lnTo>
                    <a:pt x="13233" y="181610"/>
                  </a:lnTo>
                  <a:close/>
                </a:path>
                <a:path w="2891790" h="309880">
                  <a:moveTo>
                    <a:pt x="14719" y="183060"/>
                  </a:moveTo>
                  <a:lnTo>
                    <a:pt x="17092" y="185648"/>
                  </a:lnTo>
                  <a:lnTo>
                    <a:pt x="16713" y="184150"/>
                  </a:lnTo>
                  <a:lnTo>
                    <a:pt x="14719" y="183060"/>
                  </a:lnTo>
                  <a:close/>
                </a:path>
                <a:path w="2891790" h="309880">
                  <a:moveTo>
                    <a:pt x="2707418" y="184151"/>
                  </a:moveTo>
                  <a:lnTo>
                    <a:pt x="2700790" y="184584"/>
                  </a:lnTo>
                  <a:lnTo>
                    <a:pt x="2701620" y="185419"/>
                  </a:lnTo>
                  <a:lnTo>
                    <a:pt x="2707418" y="184151"/>
                  </a:lnTo>
                  <a:close/>
                </a:path>
                <a:path w="2891790" h="309880">
                  <a:moveTo>
                    <a:pt x="2490812" y="184150"/>
                  </a:moveTo>
                  <a:lnTo>
                    <a:pt x="2484422" y="185094"/>
                  </a:lnTo>
                  <a:lnTo>
                    <a:pt x="2491314" y="184652"/>
                  </a:lnTo>
                  <a:lnTo>
                    <a:pt x="2490812" y="184150"/>
                  </a:lnTo>
                  <a:close/>
                </a:path>
                <a:path w="2891790" h="309880">
                  <a:moveTo>
                    <a:pt x="4051" y="182713"/>
                  </a:moveTo>
                  <a:lnTo>
                    <a:pt x="2844" y="182880"/>
                  </a:lnTo>
                  <a:lnTo>
                    <a:pt x="1715" y="184897"/>
                  </a:lnTo>
                  <a:lnTo>
                    <a:pt x="3387" y="183334"/>
                  </a:lnTo>
                  <a:lnTo>
                    <a:pt x="3708" y="182880"/>
                  </a:lnTo>
                  <a:lnTo>
                    <a:pt x="3873" y="182880"/>
                  </a:lnTo>
                  <a:lnTo>
                    <a:pt x="4051" y="182713"/>
                  </a:lnTo>
                  <a:close/>
                </a:path>
                <a:path w="2891790" h="309880">
                  <a:moveTo>
                    <a:pt x="2712137" y="163021"/>
                  </a:moveTo>
                  <a:lnTo>
                    <a:pt x="2708435" y="163269"/>
                  </a:lnTo>
                  <a:lnTo>
                    <a:pt x="2705874" y="163830"/>
                  </a:lnTo>
                  <a:lnTo>
                    <a:pt x="2699728" y="164228"/>
                  </a:lnTo>
                  <a:lnTo>
                    <a:pt x="2695756" y="168861"/>
                  </a:lnTo>
                  <a:lnTo>
                    <a:pt x="2695810" y="170180"/>
                  </a:lnTo>
                  <a:lnTo>
                    <a:pt x="2696578" y="180340"/>
                  </a:lnTo>
                  <a:lnTo>
                    <a:pt x="2700790" y="184584"/>
                  </a:lnTo>
                  <a:lnTo>
                    <a:pt x="2707436" y="184150"/>
                  </a:lnTo>
                  <a:lnTo>
                    <a:pt x="2713768" y="183534"/>
                  </a:lnTo>
                  <a:lnTo>
                    <a:pt x="2717596" y="179069"/>
                  </a:lnTo>
                  <a:lnTo>
                    <a:pt x="2716825" y="168861"/>
                  </a:lnTo>
                  <a:lnTo>
                    <a:pt x="2716705" y="167612"/>
                  </a:lnTo>
                  <a:lnTo>
                    <a:pt x="2712137" y="163021"/>
                  </a:lnTo>
                  <a:close/>
                </a:path>
                <a:path w="2891790" h="309880">
                  <a:moveTo>
                    <a:pt x="2713768" y="183534"/>
                  </a:moveTo>
                  <a:lnTo>
                    <a:pt x="2707436" y="184150"/>
                  </a:lnTo>
                  <a:lnTo>
                    <a:pt x="2713240" y="184150"/>
                  </a:lnTo>
                  <a:lnTo>
                    <a:pt x="2713768" y="183534"/>
                  </a:lnTo>
                  <a:close/>
                </a:path>
                <a:path w="2891790" h="309880">
                  <a:moveTo>
                    <a:pt x="2751968" y="160845"/>
                  </a:moveTo>
                  <a:lnTo>
                    <a:pt x="2745336" y="161290"/>
                  </a:lnTo>
                  <a:lnTo>
                    <a:pt x="2732182" y="161290"/>
                  </a:lnTo>
                  <a:lnTo>
                    <a:pt x="2719028" y="162560"/>
                  </a:lnTo>
                  <a:lnTo>
                    <a:pt x="2712137" y="163021"/>
                  </a:lnTo>
                  <a:lnTo>
                    <a:pt x="2716705" y="167612"/>
                  </a:lnTo>
                  <a:lnTo>
                    <a:pt x="2716825" y="168861"/>
                  </a:lnTo>
                  <a:lnTo>
                    <a:pt x="2717596" y="179069"/>
                  </a:lnTo>
                  <a:lnTo>
                    <a:pt x="2713768" y="183534"/>
                  </a:lnTo>
                  <a:lnTo>
                    <a:pt x="2720509" y="182880"/>
                  </a:lnTo>
                  <a:lnTo>
                    <a:pt x="2733587" y="182880"/>
                  </a:lnTo>
                  <a:lnTo>
                    <a:pt x="2746668" y="181610"/>
                  </a:lnTo>
                  <a:lnTo>
                    <a:pt x="2753494" y="181150"/>
                  </a:lnTo>
                  <a:lnTo>
                    <a:pt x="2748965" y="176530"/>
                  </a:lnTo>
                  <a:lnTo>
                    <a:pt x="2748267" y="165100"/>
                  </a:lnTo>
                  <a:lnTo>
                    <a:pt x="2751968" y="160845"/>
                  </a:lnTo>
                  <a:close/>
                </a:path>
                <a:path w="2891790" h="309880">
                  <a:moveTo>
                    <a:pt x="3873" y="182880"/>
                  </a:moveTo>
                  <a:lnTo>
                    <a:pt x="3708" y="182880"/>
                  </a:lnTo>
                  <a:lnTo>
                    <a:pt x="3387" y="183334"/>
                  </a:lnTo>
                  <a:lnTo>
                    <a:pt x="3873" y="182880"/>
                  </a:lnTo>
                  <a:close/>
                </a:path>
                <a:path w="2891790" h="309880">
                  <a:moveTo>
                    <a:pt x="14334" y="182850"/>
                  </a:moveTo>
                  <a:lnTo>
                    <a:pt x="14719" y="183060"/>
                  </a:lnTo>
                  <a:lnTo>
                    <a:pt x="14554" y="182880"/>
                  </a:lnTo>
                  <a:lnTo>
                    <a:pt x="14334" y="182850"/>
                  </a:lnTo>
                  <a:close/>
                </a:path>
                <a:path w="2891790" h="309880">
                  <a:moveTo>
                    <a:pt x="8667" y="182077"/>
                  </a:moveTo>
                  <a:lnTo>
                    <a:pt x="5004" y="182582"/>
                  </a:lnTo>
                  <a:lnTo>
                    <a:pt x="4546" y="182880"/>
                  </a:lnTo>
                  <a:lnTo>
                    <a:pt x="14389" y="182880"/>
                  </a:lnTo>
                  <a:lnTo>
                    <a:pt x="8667" y="182077"/>
                  </a:lnTo>
                  <a:close/>
                </a:path>
                <a:path w="2891790" h="309880">
                  <a:moveTo>
                    <a:pt x="12065" y="181610"/>
                  </a:moveTo>
                  <a:lnTo>
                    <a:pt x="8667" y="182077"/>
                  </a:lnTo>
                  <a:lnTo>
                    <a:pt x="14334" y="182850"/>
                  </a:lnTo>
                  <a:lnTo>
                    <a:pt x="12065" y="181610"/>
                  </a:lnTo>
                  <a:close/>
                </a:path>
                <a:path w="2891790" h="309880">
                  <a:moveTo>
                    <a:pt x="5232" y="181610"/>
                  </a:moveTo>
                  <a:lnTo>
                    <a:pt x="4051" y="182713"/>
                  </a:lnTo>
                  <a:lnTo>
                    <a:pt x="5004" y="182582"/>
                  </a:lnTo>
                  <a:lnTo>
                    <a:pt x="6282" y="181753"/>
                  </a:lnTo>
                  <a:lnTo>
                    <a:pt x="5232" y="181610"/>
                  </a:lnTo>
                  <a:close/>
                </a:path>
                <a:path w="2891790" h="309880">
                  <a:moveTo>
                    <a:pt x="6282" y="181753"/>
                  </a:moveTo>
                  <a:lnTo>
                    <a:pt x="5004" y="182582"/>
                  </a:lnTo>
                  <a:lnTo>
                    <a:pt x="8667" y="182077"/>
                  </a:lnTo>
                  <a:lnTo>
                    <a:pt x="6282" y="181753"/>
                  </a:lnTo>
                  <a:close/>
                </a:path>
                <a:path w="2891790" h="309880">
                  <a:moveTo>
                    <a:pt x="12065" y="181610"/>
                  </a:moveTo>
                  <a:lnTo>
                    <a:pt x="6502" y="181610"/>
                  </a:lnTo>
                  <a:lnTo>
                    <a:pt x="6282" y="181753"/>
                  </a:lnTo>
                  <a:lnTo>
                    <a:pt x="8667" y="182077"/>
                  </a:lnTo>
                  <a:lnTo>
                    <a:pt x="12065" y="181610"/>
                  </a:lnTo>
                  <a:close/>
                </a:path>
                <a:path w="2891790" h="309880">
                  <a:moveTo>
                    <a:pt x="2757172" y="180903"/>
                  </a:moveTo>
                  <a:lnTo>
                    <a:pt x="2753494" y="181150"/>
                  </a:lnTo>
                  <a:lnTo>
                    <a:pt x="2753944" y="181610"/>
                  </a:lnTo>
                  <a:lnTo>
                    <a:pt x="2757172" y="180903"/>
                  </a:lnTo>
                  <a:close/>
                </a:path>
                <a:path w="2891790" h="309880">
                  <a:moveTo>
                    <a:pt x="2764294" y="160019"/>
                  </a:moveTo>
                  <a:lnTo>
                    <a:pt x="2751968" y="160845"/>
                  </a:lnTo>
                  <a:lnTo>
                    <a:pt x="2748267" y="165100"/>
                  </a:lnTo>
                  <a:lnTo>
                    <a:pt x="2748965" y="176530"/>
                  </a:lnTo>
                  <a:lnTo>
                    <a:pt x="2753494" y="181150"/>
                  </a:lnTo>
                  <a:lnTo>
                    <a:pt x="2757172" y="180903"/>
                  </a:lnTo>
                  <a:lnTo>
                    <a:pt x="2759748" y="180340"/>
                  </a:lnTo>
                  <a:lnTo>
                    <a:pt x="2765552" y="180340"/>
                  </a:lnTo>
                  <a:lnTo>
                    <a:pt x="2769971" y="175260"/>
                  </a:lnTo>
                  <a:lnTo>
                    <a:pt x="2769273" y="163830"/>
                  </a:lnTo>
                  <a:lnTo>
                    <a:pt x="2764294" y="160019"/>
                  </a:lnTo>
                  <a:close/>
                </a:path>
                <a:path w="2891790" h="309880">
                  <a:moveTo>
                    <a:pt x="2765552" y="180340"/>
                  </a:moveTo>
                  <a:lnTo>
                    <a:pt x="2759748" y="180340"/>
                  </a:lnTo>
                  <a:lnTo>
                    <a:pt x="2757172" y="180903"/>
                  </a:lnTo>
                  <a:lnTo>
                    <a:pt x="2765552" y="180340"/>
                  </a:lnTo>
                  <a:close/>
                </a:path>
                <a:path w="2891790" h="309880">
                  <a:moveTo>
                    <a:pt x="2541488" y="179792"/>
                  </a:moveTo>
                  <a:lnTo>
                    <a:pt x="2535605" y="180340"/>
                  </a:lnTo>
                  <a:lnTo>
                    <a:pt x="2535417" y="180569"/>
                  </a:lnTo>
                  <a:lnTo>
                    <a:pt x="2541488" y="179792"/>
                  </a:lnTo>
                  <a:close/>
                </a:path>
                <a:path w="2891790" h="309880">
                  <a:moveTo>
                    <a:pt x="2794628" y="160019"/>
                  </a:moveTo>
                  <a:lnTo>
                    <a:pt x="2764294" y="160019"/>
                  </a:lnTo>
                  <a:lnTo>
                    <a:pt x="2769273" y="163830"/>
                  </a:lnTo>
                  <a:lnTo>
                    <a:pt x="2769971" y="175260"/>
                  </a:lnTo>
                  <a:lnTo>
                    <a:pt x="2765552" y="180340"/>
                  </a:lnTo>
                  <a:lnTo>
                    <a:pt x="2771053" y="180340"/>
                  </a:lnTo>
                  <a:lnTo>
                    <a:pt x="2798406" y="177261"/>
                  </a:lnTo>
                  <a:lnTo>
                    <a:pt x="2793923" y="173990"/>
                  </a:lnTo>
                  <a:lnTo>
                    <a:pt x="2792564" y="162560"/>
                  </a:lnTo>
                  <a:lnTo>
                    <a:pt x="2794628" y="160019"/>
                  </a:lnTo>
                  <a:close/>
                </a:path>
                <a:path w="2891790" h="309880">
                  <a:moveTo>
                    <a:pt x="2547137" y="179069"/>
                  </a:moveTo>
                  <a:lnTo>
                    <a:pt x="2541488" y="179792"/>
                  </a:lnTo>
                  <a:lnTo>
                    <a:pt x="2547374" y="179245"/>
                  </a:lnTo>
                  <a:lnTo>
                    <a:pt x="2547137" y="179069"/>
                  </a:lnTo>
                  <a:close/>
                </a:path>
                <a:path w="2891790" h="309880">
                  <a:moveTo>
                    <a:pt x="2804909" y="176530"/>
                  </a:moveTo>
                  <a:lnTo>
                    <a:pt x="2798406" y="177261"/>
                  </a:lnTo>
                  <a:lnTo>
                    <a:pt x="2799143" y="177800"/>
                  </a:lnTo>
                  <a:lnTo>
                    <a:pt x="2804909" y="176530"/>
                  </a:lnTo>
                  <a:close/>
                </a:path>
                <a:path w="2891790" h="309880">
                  <a:moveTo>
                    <a:pt x="2808581" y="155262"/>
                  </a:moveTo>
                  <a:lnTo>
                    <a:pt x="2796692" y="157480"/>
                  </a:lnTo>
                  <a:lnTo>
                    <a:pt x="2792564" y="162560"/>
                  </a:lnTo>
                  <a:lnTo>
                    <a:pt x="2793923" y="173990"/>
                  </a:lnTo>
                  <a:lnTo>
                    <a:pt x="2798406" y="177261"/>
                  </a:lnTo>
                  <a:lnTo>
                    <a:pt x="2804909" y="176530"/>
                  </a:lnTo>
                  <a:lnTo>
                    <a:pt x="2811087" y="176024"/>
                  </a:lnTo>
                  <a:lnTo>
                    <a:pt x="2814815" y="171450"/>
                  </a:lnTo>
                  <a:lnTo>
                    <a:pt x="2813469" y="160019"/>
                  </a:lnTo>
                  <a:lnTo>
                    <a:pt x="2808581" y="155262"/>
                  </a:lnTo>
                  <a:close/>
                </a:path>
                <a:path w="2891790" h="309880">
                  <a:moveTo>
                    <a:pt x="2811087" y="176024"/>
                  </a:moveTo>
                  <a:lnTo>
                    <a:pt x="2804909" y="176530"/>
                  </a:lnTo>
                  <a:lnTo>
                    <a:pt x="2810675" y="176530"/>
                  </a:lnTo>
                  <a:lnTo>
                    <a:pt x="2811087" y="176024"/>
                  </a:lnTo>
                  <a:close/>
                </a:path>
                <a:path w="2891790" h="309880">
                  <a:moveTo>
                    <a:pt x="2839681" y="152400"/>
                  </a:moveTo>
                  <a:lnTo>
                    <a:pt x="2833890" y="152400"/>
                  </a:lnTo>
                  <a:lnTo>
                    <a:pt x="2818158" y="154940"/>
                  </a:lnTo>
                  <a:lnTo>
                    <a:pt x="2810312" y="154940"/>
                  </a:lnTo>
                  <a:lnTo>
                    <a:pt x="2808581" y="155262"/>
                  </a:lnTo>
                  <a:lnTo>
                    <a:pt x="2813469" y="160019"/>
                  </a:lnTo>
                  <a:lnTo>
                    <a:pt x="2814815" y="171450"/>
                  </a:lnTo>
                  <a:lnTo>
                    <a:pt x="2811087" y="176024"/>
                  </a:lnTo>
                  <a:lnTo>
                    <a:pt x="2820417" y="175260"/>
                  </a:lnTo>
                  <a:lnTo>
                    <a:pt x="2828174" y="173990"/>
                  </a:lnTo>
                  <a:lnTo>
                    <a:pt x="2829923" y="173826"/>
                  </a:lnTo>
                  <a:lnTo>
                    <a:pt x="2825000" y="170180"/>
                  </a:lnTo>
                  <a:lnTo>
                    <a:pt x="2823847" y="158772"/>
                  </a:lnTo>
                  <a:lnTo>
                    <a:pt x="2828061" y="153669"/>
                  </a:lnTo>
                  <a:lnTo>
                    <a:pt x="2839854" y="152527"/>
                  </a:lnTo>
                  <a:lnTo>
                    <a:pt x="2839681" y="152400"/>
                  </a:lnTo>
                  <a:close/>
                </a:path>
                <a:path w="2891790" h="309880">
                  <a:moveTo>
                    <a:pt x="2860947" y="148688"/>
                  </a:moveTo>
                  <a:lnTo>
                    <a:pt x="2848457" y="151130"/>
                  </a:lnTo>
                  <a:lnTo>
                    <a:pt x="2841167" y="152400"/>
                  </a:lnTo>
                  <a:lnTo>
                    <a:pt x="2839854" y="152527"/>
                  </a:lnTo>
                  <a:lnTo>
                    <a:pt x="2844838" y="156210"/>
                  </a:lnTo>
                  <a:lnTo>
                    <a:pt x="2845968" y="167640"/>
                  </a:lnTo>
                  <a:lnTo>
                    <a:pt x="2841726" y="172719"/>
                  </a:lnTo>
                  <a:lnTo>
                    <a:pt x="2829923" y="173826"/>
                  </a:lnTo>
                  <a:lnTo>
                    <a:pt x="2830144" y="173990"/>
                  </a:lnTo>
                  <a:lnTo>
                    <a:pt x="2835935" y="173990"/>
                  </a:lnTo>
                  <a:lnTo>
                    <a:pt x="2851708" y="171450"/>
                  </a:lnTo>
                  <a:lnTo>
                    <a:pt x="2853532" y="171279"/>
                  </a:lnTo>
                  <a:lnTo>
                    <a:pt x="2848279" y="167640"/>
                  </a:lnTo>
                  <a:lnTo>
                    <a:pt x="2846146" y="156210"/>
                  </a:lnTo>
                  <a:lnTo>
                    <a:pt x="2849943" y="151130"/>
                  </a:lnTo>
                  <a:lnTo>
                    <a:pt x="2858135" y="149860"/>
                  </a:lnTo>
                  <a:lnTo>
                    <a:pt x="2860947" y="148688"/>
                  </a:lnTo>
                  <a:close/>
                </a:path>
                <a:path w="2891790" h="309880">
                  <a:moveTo>
                    <a:pt x="2839854" y="152527"/>
                  </a:moveTo>
                  <a:lnTo>
                    <a:pt x="2828061" y="153669"/>
                  </a:lnTo>
                  <a:lnTo>
                    <a:pt x="2823869" y="158720"/>
                  </a:lnTo>
                  <a:lnTo>
                    <a:pt x="2825000" y="170180"/>
                  </a:lnTo>
                  <a:lnTo>
                    <a:pt x="2829923" y="173826"/>
                  </a:lnTo>
                  <a:lnTo>
                    <a:pt x="2841726" y="172719"/>
                  </a:lnTo>
                  <a:lnTo>
                    <a:pt x="2845968" y="167640"/>
                  </a:lnTo>
                  <a:lnTo>
                    <a:pt x="2844838" y="156210"/>
                  </a:lnTo>
                  <a:lnTo>
                    <a:pt x="2839854" y="152527"/>
                  </a:lnTo>
                  <a:close/>
                </a:path>
                <a:path w="2891790" h="309880">
                  <a:moveTo>
                    <a:pt x="2855300" y="171113"/>
                  </a:moveTo>
                  <a:lnTo>
                    <a:pt x="2853532" y="171279"/>
                  </a:lnTo>
                  <a:lnTo>
                    <a:pt x="2853778" y="171450"/>
                  </a:lnTo>
                  <a:lnTo>
                    <a:pt x="2855300" y="171113"/>
                  </a:lnTo>
                  <a:close/>
                </a:path>
                <a:path w="2891790" h="309880">
                  <a:moveTo>
                    <a:pt x="2861449" y="148590"/>
                  </a:moveTo>
                  <a:lnTo>
                    <a:pt x="2860947" y="148688"/>
                  </a:lnTo>
                  <a:lnTo>
                    <a:pt x="2858135" y="149860"/>
                  </a:lnTo>
                  <a:lnTo>
                    <a:pt x="2849943" y="151130"/>
                  </a:lnTo>
                  <a:lnTo>
                    <a:pt x="2846146" y="156210"/>
                  </a:lnTo>
                  <a:lnTo>
                    <a:pt x="2848279" y="167640"/>
                  </a:lnTo>
                  <a:lnTo>
                    <a:pt x="2853532" y="171279"/>
                  </a:lnTo>
                  <a:lnTo>
                    <a:pt x="2855300" y="171113"/>
                  </a:lnTo>
                  <a:lnTo>
                    <a:pt x="2859519" y="170180"/>
                  </a:lnTo>
                  <a:lnTo>
                    <a:pt x="2866048" y="168861"/>
                  </a:lnTo>
                  <a:lnTo>
                    <a:pt x="2866795" y="167612"/>
                  </a:lnTo>
                  <a:lnTo>
                    <a:pt x="2858372" y="158772"/>
                  </a:lnTo>
                  <a:lnTo>
                    <a:pt x="2858147" y="152400"/>
                  </a:lnTo>
                  <a:lnTo>
                    <a:pt x="2861706" y="148768"/>
                  </a:lnTo>
                  <a:lnTo>
                    <a:pt x="2861449" y="148590"/>
                  </a:lnTo>
                  <a:close/>
                </a:path>
                <a:path w="2891790" h="309880">
                  <a:moveTo>
                    <a:pt x="2866048" y="168861"/>
                  </a:moveTo>
                  <a:lnTo>
                    <a:pt x="2859519" y="170180"/>
                  </a:lnTo>
                  <a:lnTo>
                    <a:pt x="2855300" y="171113"/>
                  </a:lnTo>
                  <a:lnTo>
                    <a:pt x="2865259" y="170180"/>
                  </a:lnTo>
                  <a:lnTo>
                    <a:pt x="2866048" y="168861"/>
                  </a:lnTo>
                  <a:close/>
                </a:path>
                <a:path w="2891790" h="309880">
                  <a:moveTo>
                    <a:pt x="2867734" y="156658"/>
                  </a:moveTo>
                  <a:lnTo>
                    <a:pt x="2869057" y="163830"/>
                  </a:lnTo>
                  <a:lnTo>
                    <a:pt x="2866795" y="167612"/>
                  </a:lnTo>
                  <a:lnTo>
                    <a:pt x="2866048" y="168861"/>
                  </a:lnTo>
                  <a:lnTo>
                    <a:pt x="2872740" y="167640"/>
                  </a:lnTo>
                  <a:lnTo>
                    <a:pt x="2875844" y="164530"/>
                  </a:lnTo>
                  <a:lnTo>
                    <a:pt x="2877426" y="162560"/>
                  </a:lnTo>
                  <a:lnTo>
                    <a:pt x="2878717" y="161653"/>
                  </a:lnTo>
                  <a:lnTo>
                    <a:pt x="2881604" y="158750"/>
                  </a:lnTo>
                  <a:lnTo>
                    <a:pt x="2877146" y="158750"/>
                  </a:lnTo>
                  <a:lnTo>
                    <a:pt x="2867734" y="156658"/>
                  </a:lnTo>
                  <a:close/>
                </a:path>
                <a:path w="2891790" h="309880">
                  <a:moveTo>
                    <a:pt x="2866795" y="167612"/>
                  </a:moveTo>
                  <a:close/>
                </a:path>
                <a:path w="2891790" h="309880">
                  <a:moveTo>
                    <a:pt x="2875844" y="164530"/>
                  </a:moveTo>
                  <a:lnTo>
                    <a:pt x="2872740" y="167640"/>
                  </a:lnTo>
                  <a:lnTo>
                    <a:pt x="2873349" y="167640"/>
                  </a:lnTo>
                  <a:lnTo>
                    <a:pt x="2875844" y="164530"/>
                  </a:lnTo>
                  <a:close/>
                </a:path>
                <a:path w="2891790" h="309880">
                  <a:moveTo>
                    <a:pt x="2861706" y="148768"/>
                  </a:moveTo>
                  <a:lnTo>
                    <a:pt x="2858147" y="152400"/>
                  </a:lnTo>
                  <a:lnTo>
                    <a:pt x="2858372" y="158772"/>
                  </a:lnTo>
                  <a:lnTo>
                    <a:pt x="2866795" y="167612"/>
                  </a:lnTo>
                  <a:lnTo>
                    <a:pt x="2869057" y="163830"/>
                  </a:lnTo>
                  <a:lnTo>
                    <a:pt x="2867734" y="156658"/>
                  </a:lnTo>
                  <a:lnTo>
                    <a:pt x="2865716" y="156210"/>
                  </a:lnTo>
                  <a:lnTo>
                    <a:pt x="2862338" y="149860"/>
                  </a:lnTo>
                  <a:lnTo>
                    <a:pt x="2862490" y="149311"/>
                  </a:lnTo>
                  <a:lnTo>
                    <a:pt x="2861706" y="148768"/>
                  </a:lnTo>
                  <a:close/>
                </a:path>
                <a:path w="2891790" h="309880">
                  <a:moveTo>
                    <a:pt x="2878717" y="161653"/>
                  </a:moveTo>
                  <a:lnTo>
                    <a:pt x="2877426" y="162560"/>
                  </a:lnTo>
                  <a:lnTo>
                    <a:pt x="2875844" y="164530"/>
                  </a:lnTo>
                  <a:lnTo>
                    <a:pt x="2878717" y="161653"/>
                  </a:lnTo>
                  <a:close/>
                </a:path>
                <a:path w="2891790" h="309880">
                  <a:moveTo>
                    <a:pt x="2708435" y="163269"/>
                  </a:moveTo>
                  <a:lnTo>
                    <a:pt x="2700070" y="163830"/>
                  </a:lnTo>
                  <a:lnTo>
                    <a:pt x="2699728" y="164228"/>
                  </a:lnTo>
                  <a:lnTo>
                    <a:pt x="2705874" y="163830"/>
                  </a:lnTo>
                  <a:lnTo>
                    <a:pt x="2708435" y="163269"/>
                  </a:lnTo>
                  <a:close/>
                </a:path>
                <a:path w="2891790" h="309880">
                  <a:moveTo>
                    <a:pt x="2711678" y="162560"/>
                  </a:moveTo>
                  <a:lnTo>
                    <a:pt x="2708435" y="163269"/>
                  </a:lnTo>
                  <a:lnTo>
                    <a:pt x="2712137" y="163021"/>
                  </a:lnTo>
                  <a:lnTo>
                    <a:pt x="2711678" y="162560"/>
                  </a:lnTo>
                  <a:close/>
                </a:path>
                <a:path w="2891790" h="309880">
                  <a:moveTo>
                    <a:pt x="2881594" y="158772"/>
                  </a:moveTo>
                  <a:lnTo>
                    <a:pt x="2878717" y="161653"/>
                  </a:lnTo>
                  <a:lnTo>
                    <a:pt x="2881045" y="160019"/>
                  </a:lnTo>
                  <a:lnTo>
                    <a:pt x="2881594" y="158772"/>
                  </a:lnTo>
                  <a:close/>
                </a:path>
                <a:path w="2891790" h="309880">
                  <a:moveTo>
                    <a:pt x="2808249" y="154940"/>
                  </a:moveTo>
                  <a:lnTo>
                    <a:pt x="2802483" y="156210"/>
                  </a:lnTo>
                  <a:lnTo>
                    <a:pt x="2780509" y="158750"/>
                  </a:lnTo>
                  <a:lnTo>
                    <a:pt x="2769502" y="158750"/>
                  </a:lnTo>
                  <a:lnTo>
                    <a:pt x="2752686" y="160019"/>
                  </a:lnTo>
                  <a:lnTo>
                    <a:pt x="2751968" y="160845"/>
                  </a:lnTo>
                  <a:lnTo>
                    <a:pt x="2764294" y="160019"/>
                  </a:lnTo>
                  <a:lnTo>
                    <a:pt x="2794628" y="160019"/>
                  </a:lnTo>
                  <a:lnTo>
                    <a:pt x="2796692" y="157480"/>
                  </a:lnTo>
                  <a:lnTo>
                    <a:pt x="2808581" y="155262"/>
                  </a:lnTo>
                  <a:lnTo>
                    <a:pt x="2808249" y="154940"/>
                  </a:lnTo>
                  <a:close/>
                </a:path>
                <a:path w="2891790" h="309880">
                  <a:moveTo>
                    <a:pt x="2867406" y="143510"/>
                  </a:moveTo>
                  <a:lnTo>
                    <a:pt x="2863234" y="146915"/>
                  </a:lnTo>
                  <a:lnTo>
                    <a:pt x="2863126" y="147319"/>
                  </a:lnTo>
                  <a:lnTo>
                    <a:pt x="2862490" y="149311"/>
                  </a:lnTo>
                  <a:lnTo>
                    <a:pt x="2866948" y="152400"/>
                  </a:lnTo>
                  <a:lnTo>
                    <a:pt x="2867734" y="156658"/>
                  </a:lnTo>
                  <a:lnTo>
                    <a:pt x="2877146" y="158750"/>
                  </a:lnTo>
                  <a:lnTo>
                    <a:pt x="2881628" y="156818"/>
                  </a:lnTo>
                  <a:lnTo>
                    <a:pt x="2881655" y="152400"/>
                  </a:lnTo>
                  <a:lnTo>
                    <a:pt x="2873641" y="144780"/>
                  </a:lnTo>
                  <a:lnTo>
                    <a:pt x="2867406" y="143510"/>
                  </a:lnTo>
                  <a:close/>
                </a:path>
                <a:path w="2891790" h="309880">
                  <a:moveTo>
                    <a:pt x="2881628" y="156818"/>
                  </a:moveTo>
                  <a:lnTo>
                    <a:pt x="2877146" y="158750"/>
                  </a:lnTo>
                  <a:lnTo>
                    <a:pt x="2881604" y="158750"/>
                  </a:lnTo>
                  <a:lnTo>
                    <a:pt x="2881628" y="156818"/>
                  </a:lnTo>
                  <a:close/>
                </a:path>
                <a:path w="2891790" h="309880">
                  <a:moveTo>
                    <a:pt x="2882647" y="156378"/>
                  </a:moveTo>
                  <a:lnTo>
                    <a:pt x="2881628" y="156818"/>
                  </a:lnTo>
                  <a:lnTo>
                    <a:pt x="2881617" y="158720"/>
                  </a:lnTo>
                  <a:lnTo>
                    <a:pt x="2882647" y="156378"/>
                  </a:lnTo>
                  <a:close/>
                </a:path>
                <a:path w="2891790" h="309880">
                  <a:moveTo>
                    <a:pt x="2884438" y="141440"/>
                  </a:moveTo>
                  <a:lnTo>
                    <a:pt x="2881452" y="143510"/>
                  </a:lnTo>
                  <a:lnTo>
                    <a:pt x="2867406" y="143510"/>
                  </a:lnTo>
                  <a:lnTo>
                    <a:pt x="2873641" y="144780"/>
                  </a:lnTo>
                  <a:lnTo>
                    <a:pt x="2881655" y="152400"/>
                  </a:lnTo>
                  <a:lnTo>
                    <a:pt x="2881628" y="156818"/>
                  </a:lnTo>
                  <a:lnTo>
                    <a:pt x="2882647" y="156378"/>
                  </a:lnTo>
                  <a:lnTo>
                    <a:pt x="2883281" y="154940"/>
                  </a:lnTo>
                  <a:lnTo>
                    <a:pt x="2883817" y="153075"/>
                  </a:lnTo>
                  <a:lnTo>
                    <a:pt x="2884614" y="149860"/>
                  </a:lnTo>
                  <a:lnTo>
                    <a:pt x="2886075" y="144780"/>
                  </a:lnTo>
                  <a:lnTo>
                    <a:pt x="2886108" y="144602"/>
                  </a:lnTo>
                  <a:lnTo>
                    <a:pt x="2884438" y="141440"/>
                  </a:lnTo>
                  <a:close/>
                </a:path>
                <a:path w="2891790" h="309880">
                  <a:moveTo>
                    <a:pt x="2862490" y="149311"/>
                  </a:moveTo>
                  <a:lnTo>
                    <a:pt x="2862338" y="149860"/>
                  </a:lnTo>
                  <a:lnTo>
                    <a:pt x="2865716" y="156210"/>
                  </a:lnTo>
                  <a:lnTo>
                    <a:pt x="2867734" y="156658"/>
                  </a:lnTo>
                  <a:lnTo>
                    <a:pt x="2866948" y="152400"/>
                  </a:lnTo>
                  <a:lnTo>
                    <a:pt x="2862490" y="149311"/>
                  </a:lnTo>
                  <a:close/>
                </a:path>
                <a:path w="2891790" h="309880">
                  <a:moveTo>
                    <a:pt x="2883817" y="153075"/>
                  </a:moveTo>
                  <a:lnTo>
                    <a:pt x="2883281" y="154940"/>
                  </a:lnTo>
                  <a:lnTo>
                    <a:pt x="2882647" y="156378"/>
                  </a:lnTo>
                  <a:lnTo>
                    <a:pt x="2883039" y="156210"/>
                  </a:lnTo>
                  <a:lnTo>
                    <a:pt x="2883817" y="153075"/>
                  </a:lnTo>
                  <a:close/>
                </a:path>
                <a:path w="2891790" h="309880">
                  <a:moveTo>
                    <a:pt x="2886108" y="144602"/>
                  </a:moveTo>
                  <a:lnTo>
                    <a:pt x="2886075" y="144780"/>
                  </a:lnTo>
                  <a:lnTo>
                    <a:pt x="2884614" y="149860"/>
                  </a:lnTo>
                  <a:lnTo>
                    <a:pt x="2883817" y="153075"/>
                  </a:lnTo>
                  <a:lnTo>
                    <a:pt x="2886202" y="144780"/>
                  </a:lnTo>
                  <a:lnTo>
                    <a:pt x="2886108" y="144602"/>
                  </a:lnTo>
                  <a:close/>
                </a:path>
                <a:path w="2891790" h="309880">
                  <a:moveTo>
                    <a:pt x="2863006" y="147441"/>
                  </a:moveTo>
                  <a:lnTo>
                    <a:pt x="2861706" y="148768"/>
                  </a:lnTo>
                  <a:lnTo>
                    <a:pt x="2862490" y="149311"/>
                  </a:lnTo>
                  <a:lnTo>
                    <a:pt x="2863006" y="147441"/>
                  </a:lnTo>
                  <a:close/>
                </a:path>
                <a:path w="2891790" h="309880">
                  <a:moveTo>
                    <a:pt x="2861881" y="148590"/>
                  </a:moveTo>
                  <a:lnTo>
                    <a:pt x="2861449" y="148590"/>
                  </a:lnTo>
                  <a:lnTo>
                    <a:pt x="2861706" y="148768"/>
                  </a:lnTo>
                  <a:lnTo>
                    <a:pt x="2861881" y="148590"/>
                  </a:lnTo>
                  <a:close/>
                </a:path>
                <a:path w="2891790" h="309880">
                  <a:moveTo>
                    <a:pt x="2863128" y="147002"/>
                  </a:moveTo>
                  <a:lnTo>
                    <a:pt x="2861183" y="148590"/>
                  </a:lnTo>
                  <a:lnTo>
                    <a:pt x="2860947" y="148688"/>
                  </a:lnTo>
                  <a:lnTo>
                    <a:pt x="2861449" y="148590"/>
                  </a:lnTo>
                  <a:lnTo>
                    <a:pt x="2861881" y="148590"/>
                  </a:lnTo>
                  <a:lnTo>
                    <a:pt x="2863006" y="147441"/>
                  </a:lnTo>
                  <a:lnTo>
                    <a:pt x="2863128" y="147002"/>
                  </a:lnTo>
                  <a:close/>
                </a:path>
                <a:path w="2891790" h="309880">
                  <a:moveTo>
                    <a:pt x="2863234" y="146915"/>
                  </a:moveTo>
                  <a:lnTo>
                    <a:pt x="2863006" y="147441"/>
                  </a:lnTo>
                  <a:lnTo>
                    <a:pt x="2863234" y="146915"/>
                  </a:lnTo>
                  <a:close/>
                </a:path>
                <a:path w="2891790" h="309880">
                  <a:moveTo>
                    <a:pt x="2865840" y="136224"/>
                  </a:moveTo>
                  <a:lnTo>
                    <a:pt x="2865145" y="139700"/>
                  </a:lnTo>
                  <a:lnTo>
                    <a:pt x="2863128" y="147002"/>
                  </a:lnTo>
                  <a:lnTo>
                    <a:pt x="2865501" y="138430"/>
                  </a:lnTo>
                  <a:lnTo>
                    <a:pt x="2866403" y="138041"/>
                  </a:lnTo>
                  <a:lnTo>
                    <a:pt x="2865704" y="137160"/>
                  </a:lnTo>
                  <a:lnTo>
                    <a:pt x="2865840" y="136224"/>
                  </a:lnTo>
                  <a:close/>
                </a:path>
                <a:path w="2891790" h="309880">
                  <a:moveTo>
                    <a:pt x="2866403" y="138041"/>
                  </a:moveTo>
                  <a:lnTo>
                    <a:pt x="2865501" y="138430"/>
                  </a:lnTo>
                  <a:lnTo>
                    <a:pt x="2863234" y="146915"/>
                  </a:lnTo>
                  <a:lnTo>
                    <a:pt x="2867406" y="143510"/>
                  </a:lnTo>
                  <a:lnTo>
                    <a:pt x="2881452" y="143510"/>
                  </a:lnTo>
                  <a:lnTo>
                    <a:pt x="2869730" y="142240"/>
                  </a:lnTo>
                  <a:lnTo>
                    <a:pt x="2866403" y="138041"/>
                  </a:lnTo>
                  <a:close/>
                </a:path>
                <a:path w="2891790" h="309880">
                  <a:moveTo>
                    <a:pt x="2887489" y="136750"/>
                  </a:moveTo>
                  <a:lnTo>
                    <a:pt x="2886951" y="139700"/>
                  </a:lnTo>
                  <a:lnTo>
                    <a:pt x="2884438" y="141440"/>
                  </a:lnTo>
                  <a:lnTo>
                    <a:pt x="2886108" y="144602"/>
                  </a:lnTo>
                  <a:lnTo>
                    <a:pt x="2887027" y="139700"/>
                  </a:lnTo>
                  <a:lnTo>
                    <a:pt x="2887489" y="136750"/>
                  </a:lnTo>
                  <a:close/>
                </a:path>
                <a:path w="2891790" h="309880">
                  <a:moveTo>
                    <a:pt x="2871406" y="135890"/>
                  </a:moveTo>
                  <a:lnTo>
                    <a:pt x="2866403" y="138041"/>
                  </a:lnTo>
                  <a:lnTo>
                    <a:pt x="2869730" y="142240"/>
                  </a:lnTo>
                  <a:lnTo>
                    <a:pt x="2881452" y="143510"/>
                  </a:lnTo>
                  <a:lnTo>
                    <a:pt x="2884438" y="141440"/>
                  </a:lnTo>
                  <a:lnTo>
                    <a:pt x="2882849" y="138430"/>
                  </a:lnTo>
                  <a:lnTo>
                    <a:pt x="2871406" y="135890"/>
                  </a:lnTo>
                  <a:close/>
                </a:path>
                <a:path w="2891790" h="309880">
                  <a:moveTo>
                    <a:pt x="2887624" y="135890"/>
                  </a:moveTo>
                  <a:lnTo>
                    <a:pt x="2871406" y="135890"/>
                  </a:lnTo>
                  <a:lnTo>
                    <a:pt x="2882849" y="138430"/>
                  </a:lnTo>
                  <a:lnTo>
                    <a:pt x="2884438" y="141440"/>
                  </a:lnTo>
                  <a:lnTo>
                    <a:pt x="2886951" y="139700"/>
                  </a:lnTo>
                  <a:lnTo>
                    <a:pt x="2887624" y="135890"/>
                  </a:lnTo>
                  <a:close/>
                </a:path>
                <a:path w="2891790" h="309880">
                  <a:moveTo>
                    <a:pt x="2870755" y="122249"/>
                  </a:moveTo>
                  <a:lnTo>
                    <a:pt x="2867557" y="124463"/>
                  </a:lnTo>
                  <a:lnTo>
                    <a:pt x="2865907" y="135890"/>
                  </a:lnTo>
                  <a:lnTo>
                    <a:pt x="2865704" y="137160"/>
                  </a:lnTo>
                  <a:lnTo>
                    <a:pt x="2866403" y="138041"/>
                  </a:lnTo>
                  <a:lnTo>
                    <a:pt x="2871406" y="135890"/>
                  </a:lnTo>
                  <a:lnTo>
                    <a:pt x="2887624" y="135890"/>
                  </a:lnTo>
                  <a:lnTo>
                    <a:pt x="2888818" y="128269"/>
                  </a:lnTo>
                  <a:lnTo>
                    <a:pt x="2886817" y="125730"/>
                  </a:lnTo>
                  <a:lnTo>
                    <a:pt x="2884512" y="125730"/>
                  </a:lnTo>
                  <a:lnTo>
                    <a:pt x="2872651" y="124460"/>
                  </a:lnTo>
                  <a:lnTo>
                    <a:pt x="2870755" y="122249"/>
                  </a:lnTo>
                  <a:close/>
                </a:path>
                <a:path w="2891790" h="309880">
                  <a:moveTo>
                    <a:pt x="2890229" y="116724"/>
                  </a:moveTo>
                  <a:lnTo>
                    <a:pt x="2889758" y="120650"/>
                  </a:lnTo>
                  <a:lnTo>
                    <a:pt x="2885820" y="124463"/>
                  </a:lnTo>
                  <a:lnTo>
                    <a:pt x="2888818" y="128269"/>
                  </a:lnTo>
                  <a:lnTo>
                    <a:pt x="2887489" y="136750"/>
                  </a:lnTo>
                  <a:lnTo>
                    <a:pt x="2887878" y="134619"/>
                  </a:lnTo>
                  <a:lnTo>
                    <a:pt x="2888881" y="128269"/>
                  </a:lnTo>
                  <a:lnTo>
                    <a:pt x="2889719" y="121919"/>
                  </a:lnTo>
                  <a:lnTo>
                    <a:pt x="2890229" y="116724"/>
                  </a:lnTo>
                  <a:close/>
                </a:path>
                <a:path w="2891790" h="309880">
                  <a:moveTo>
                    <a:pt x="2868295" y="119380"/>
                  </a:moveTo>
                  <a:lnTo>
                    <a:pt x="2865840" y="136224"/>
                  </a:lnTo>
                  <a:lnTo>
                    <a:pt x="2865907" y="135890"/>
                  </a:lnTo>
                  <a:lnTo>
                    <a:pt x="2867558" y="124460"/>
                  </a:lnTo>
                  <a:lnTo>
                    <a:pt x="2870755" y="122249"/>
                  </a:lnTo>
                  <a:lnTo>
                    <a:pt x="2868295" y="119380"/>
                  </a:lnTo>
                  <a:close/>
                </a:path>
                <a:path w="2891790" h="309880">
                  <a:moveTo>
                    <a:pt x="2873070" y="120650"/>
                  </a:moveTo>
                  <a:lnTo>
                    <a:pt x="2870755" y="122249"/>
                  </a:lnTo>
                  <a:lnTo>
                    <a:pt x="2872651" y="124460"/>
                  </a:lnTo>
                  <a:lnTo>
                    <a:pt x="2884512" y="125730"/>
                  </a:lnTo>
                  <a:lnTo>
                    <a:pt x="2885817" y="124460"/>
                  </a:lnTo>
                  <a:lnTo>
                    <a:pt x="2884817" y="123190"/>
                  </a:lnTo>
                  <a:lnTo>
                    <a:pt x="2873070" y="120650"/>
                  </a:lnTo>
                  <a:close/>
                </a:path>
                <a:path w="2891790" h="309880">
                  <a:moveTo>
                    <a:pt x="2885820" y="124463"/>
                  </a:moveTo>
                  <a:lnTo>
                    <a:pt x="2884512" y="125730"/>
                  </a:lnTo>
                  <a:lnTo>
                    <a:pt x="2886817" y="125730"/>
                  </a:lnTo>
                  <a:lnTo>
                    <a:pt x="2885820" y="124463"/>
                  </a:lnTo>
                  <a:close/>
                </a:path>
                <a:path w="2891790" h="309880">
                  <a:moveTo>
                    <a:pt x="2889758" y="120650"/>
                  </a:moveTo>
                  <a:lnTo>
                    <a:pt x="2873070" y="120650"/>
                  </a:lnTo>
                  <a:lnTo>
                    <a:pt x="2884817" y="123190"/>
                  </a:lnTo>
                  <a:lnTo>
                    <a:pt x="2885820" y="124463"/>
                  </a:lnTo>
                  <a:lnTo>
                    <a:pt x="2889758" y="120650"/>
                  </a:lnTo>
                  <a:close/>
                </a:path>
                <a:path w="2891790" h="309880">
                  <a:moveTo>
                    <a:pt x="2871020" y="105559"/>
                  </a:moveTo>
                  <a:lnTo>
                    <a:pt x="2869463" y="106680"/>
                  </a:lnTo>
                  <a:lnTo>
                    <a:pt x="2868295" y="119380"/>
                  </a:lnTo>
                  <a:lnTo>
                    <a:pt x="2870755" y="122249"/>
                  </a:lnTo>
                  <a:lnTo>
                    <a:pt x="2873070" y="120650"/>
                  </a:lnTo>
                  <a:lnTo>
                    <a:pt x="2889758" y="120650"/>
                  </a:lnTo>
                  <a:lnTo>
                    <a:pt x="2890229" y="116724"/>
                  </a:lnTo>
                  <a:lnTo>
                    <a:pt x="2890653" y="112394"/>
                  </a:lnTo>
                  <a:lnTo>
                    <a:pt x="2890939" y="109219"/>
                  </a:lnTo>
                  <a:lnTo>
                    <a:pt x="2874543" y="109219"/>
                  </a:lnTo>
                  <a:lnTo>
                    <a:pt x="2871020" y="105559"/>
                  </a:lnTo>
                  <a:close/>
                </a:path>
                <a:path w="2891790" h="309880">
                  <a:moveTo>
                    <a:pt x="2890653" y="112394"/>
                  </a:moveTo>
                  <a:lnTo>
                    <a:pt x="2890229" y="116724"/>
                  </a:lnTo>
                  <a:lnTo>
                    <a:pt x="2890367" y="115569"/>
                  </a:lnTo>
                  <a:lnTo>
                    <a:pt x="2890653" y="112394"/>
                  </a:lnTo>
                  <a:close/>
                </a:path>
                <a:path w="2891790" h="309880">
                  <a:moveTo>
                    <a:pt x="2890941" y="109192"/>
                  </a:moveTo>
                  <a:lnTo>
                    <a:pt x="2890653" y="112394"/>
                  </a:lnTo>
                  <a:lnTo>
                    <a:pt x="2890964" y="109219"/>
                  </a:lnTo>
                  <a:close/>
                </a:path>
                <a:path w="2891790" h="309880">
                  <a:moveTo>
                    <a:pt x="2869649" y="102939"/>
                  </a:moveTo>
                  <a:lnTo>
                    <a:pt x="2869323" y="107950"/>
                  </a:lnTo>
                  <a:lnTo>
                    <a:pt x="2869056" y="110913"/>
                  </a:lnTo>
                  <a:lnTo>
                    <a:pt x="2869463" y="106680"/>
                  </a:lnTo>
                  <a:lnTo>
                    <a:pt x="2871020" y="105559"/>
                  </a:lnTo>
                  <a:lnTo>
                    <a:pt x="2869653" y="104140"/>
                  </a:lnTo>
                  <a:lnTo>
                    <a:pt x="2869649" y="102939"/>
                  </a:lnTo>
                  <a:close/>
                </a:path>
                <a:path w="2891790" h="309880">
                  <a:moveTo>
                    <a:pt x="2874759" y="102869"/>
                  </a:moveTo>
                  <a:lnTo>
                    <a:pt x="2871020" y="105559"/>
                  </a:lnTo>
                  <a:lnTo>
                    <a:pt x="2874543" y="109219"/>
                  </a:lnTo>
                  <a:lnTo>
                    <a:pt x="2886506" y="109219"/>
                  </a:lnTo>
                  <a:lnTo>
                    <a:pt x="2888859" y="106750"/>
                  </a:lnTo>
                  <a:lnTo>
                    <a:pt x="2886633" y="104140"/>
                  </a:lnTo>
                  <a:lnTo>
                    <a:pt x="2874759" y="102869"/>
                  </a:lnTo>
                  <a:close/>
                </a:path>
                <a:path w="2891790" h="309880">
                  <a:moveTo>
                    <a:pt x="2888859" y="106750"/>
                  </a:moveTo>
                  <a:lnTo>
                    <a:pt x="2886506" y="109219"/>
                  </a:lnTo>
                  <a:lnTo>
                    <a:pt x="2890939" y="109219"/>
                  </a:lnTo>
                  <a:lnTo>
                    <a:pt x="2888859" y="106750"/>
                  </a:lnTo>
                  <a:close/>
                </a:path>
                <a:path w="2891790" h="309880">
                  <a:moveTo>
                    <a:pt x="2891345" y="104140"/>
                  </a:moveTo>
                  <a:lnTo>
                    <a:pt x="2888859" y="106750"/>
                  </a:lnTo>
                  <a:lnTo>
                    <a:pt x="2890941" y="109192"/>
                  </a:lnTo>
                  <a:lnTo>
                    <a:pt x="2891345" y="104140"/>
                  </a:lnTo>
                  <a:close/>
                </a:path>
                <a:path w="2891790" h="309880">
                  <a:moveTo>
                    <a:pt x="2891356" y="102869"/>
                  </a:moveTo>
                  <a:lnTo>
                    <a:pt x="2874759" y="102869"/>
                  </a:lnTo>
                  <a:lnTo>
                    <a:pt x="2886633" y="104140"/>
                  </a:lnTo>
                  <a:lnTo>
                    <a:pt x="2888859" y="106750"/>
                  </a:lnTo>
                  <a:lnTo>
                    <a:pt x="2891345" y="104140"/>
                  </a:lnTo>
                  <a:lnTo>
                    <a:pt x="2891356" y="102869"/>
                  </a:lnTo>
                  <a:close/>
                </a:path>
                <a:path w="2891790" h="309880">
                  <a:moveTo>
                    <a:pt x="2869679" y="92681"/>
                  </a:moveTo>
                  <a:lnTo>
                    <a:pt x="2869653" y="104140"/>
                  </a:lnTo>
                  <a:lnTo>
                    <a:pt x="2871020" y="105559"/>
                  </a:lnTo>
                  <a:lnTo>
                    <a:pt x="2874759" y="102869"/>
                  </a:lnTo>
                  <a:lnTo>
                    <a:pt x="2891356" y="102869"/>
                  </a:lnTo>
                  <a:lnTo>
                    <a:pt x="2891425" y="95250"/>
                  </a:lnTo>
                  <a:lnTo>
                    <a:pt x="2876080" y="95250"/>
                  </a:lnTo>
                  <a:lnTo>
                    <a:pt x="2869692" y="92710"/>
                  </a:lnTo>
                  <a:close/>
                </a:path>
                <a:path w="2891790" h="309880">
                  <a:moveTo>
                    <a:pt x="2888968" y="82180"/>
                  </a:moveTo>
                  <a:lnTo>
                    <a:pt x="2890012" y="85090"/>
                  </a:lnTo>
                  <a:lnTo>
                    <a:pt x="2888585" y="88406"/>
                  </a:lnTo>
                  <a:lnTo>
                    <a:pt x="2891459" y="91440"/>
                  </a:lnTo>
                  <a:lnTo>
                    <a:pt x="2891345" y="104140"/>
                  </a:lnTo>
                  <a:lnTo>
                    <a:pt x="2891399" y="91093"/>
                  </a:lnTo>
                  <a:lnTo>
                    <a:pt x="2890139" y="85090"/>
                  </a:lnTo>
                  <a:lnTo>
                    <a:pt x="2888968" y="82180"/>
                  </a:lnTo>
                  <a:close/>
                </a:path>
                <a:path w="2891790" h="309880">
                  <a:moveTo>
                    <a:pt x="2868980" y="91093"/>
                  </a:moveTo>
                  <a:lnTo>
                    <a:pt x="2869615" y="93980"/>
                  </a:lnTo>
                  <a:lnTo>
                    <a:pt x="2869629" y="97674"/>
                  </a:lnTo>
                  <a:lnTo>
                    <a:pt x="2869679" y="92681"/>
                  </a:lnTo>
                  <a:lnTo>
                    <a:pt x="2868980" y="91093"/>
                  </a:lnTo>
                  <a:close/>
                </a:path>
                <a:path w="2891790" h="309880">
                  <a:moveTo>
                    <a:pt x="2886646" y="86360"/>
                  </a:moveTo>
                  <a:lnTo>
                    <a:pt x="2874619" y="86360"/>
                  </a:lnTo>
                  <a:lnTo>
                    <a:pt x="2869692" y="91440"/>
                  </a:lnTo>
                  <a:lnTo>
                    <a:pt x="2869692" y="92710"/>
                  </a:lnTo>
                  <a:lnTo>
                    <a:pt x="2876080" y="95250"/>
                  </a:lnTo>
                  <a:lnTo>
                    <a:pt x="2887281" y="91440"/>
                  </a:lnTo>
                  <a:lnTo>
                    <a:pt x="2888585" y="88406"/>
                  </a:lnTo>
                  <a:lnTo>
                    <a:pt x="2886646" y="86360"/>
                  </a:lnTo>
                  <a:close/>
                </a:path>
                <a:path w="2891790" h="309880">
                  <a:moveTo>
                    <a:pt x="2888585" y="88406"/>
                  </a:moveTo>
                  <a:lnTo>
                    <a:pt x="2887281" y="91440"/>
                  </a:lnTo>
                  <a:lnTo>
                    <a:pt x="2876080" y="95250"/>
                  </a:lnTo>
                  <a:lnTo>
                    <a:pt x="2891425" y="95250"/>
                  </a:lnTo>
                  <a:lnTo>
                    <a:pt x="2891459" y="91440"/>
                  </a:lnTo>
                  <a:lnTo>
                    <a:pt x="2888585" y="88406"/>
                  </a:lnTo>
                  <a:close/>
                </a:path>
                <a:path w="2891790" h="309880">
                  <a:moveTo>
                    <a:pt x="2879178" y="71119"/>
                  </a:moveTo>
                  <a:lnTo>
                    <a:pt x="2867939" y="74930"/>
                  </a:lnTo>
                  <a:lnTo>
                    <a:pt x="2865327" y="80947"/>
                  </a:lnTo>
                  <a:lnTo>
                    <a:pt x="2865536" y="82271"/>
                  </a:lnTo>
                  <a:lnTo>
                    <a:pt x="2867522" y="87779"/>
                  </a:lnTo>
                  <a:lnTo>
                    <a:pt x="2868777" y="90169"/>
                  </a:lnTo>
                  <a:lnTo>
                    <a:pt x="2868980" y="91093"/>
                  </a:lnTo>
                  <a:lnTo>
                    <a:pt x="2869679" y="92681"/>
                  </a:lnTo>
                  <a:lnTo>
                    <a:pt x="2869692" y="91440"/>
                  </a:lnTo>
                  <a:lnTo>
                    <a:pt x="2874619" y="86360"/>
                  </a:lnTo>
                  <a:lnTo>
                    <a:pt x="2889465" y="86360"/>
                  </a:lnTo>
                  <a:lnTo>
                    <a:pt x="2890012" y="85090"/>
                  </a:lnTo>
                  <a:lnTo>
                    <a:pt x="2888968" y="82180"/>
                  </a:lnTo>
                  <a:lnTo>
                    <a:pt x="2885541" y="73660"/>
                  </a:lnTo>
                  <a:lnTo>
                    <a:pt x="2879178" y="71119"/>
                  </a:lnTo>
                  <a:close/>
                </a:path>
                <a:path w="2891790" h="309880">
                  <a:moveTo>
                    <a:pt x="2867522" y="87779"/>
                  </a:moveTo>
                  <a:lnTo>
                    <a:pt x="2868980" y="91093"/>
                  </a:lnTo>
                  <a:lnTo>
                    <a:pt x="2868777" y="90169"/>
                  </a:lnTo>
                  <a:lnTo>
                    <a:pt x="2867522" y="87779"/>
                  </a:lnTo>
                  <a:close/>
                </a:path>
                <a:path w="2891790" h="309880">
                  <a:moveTo>
                    <a:pt x="2889465" y="86360"/>
                  </a:moveTo>
                  <a:lnTo>
                    <a:pt x="2886646" y="86360"/>
                  </a:lnTo>
                  <a:lnTo>
                    <a:pt x="2888585" y="88406"/>
                  </a:lnTo>
                  <a:lnTo>
                    <a:pt x="2889465" y="86360"/>
                  </a:lnTo>
                  <a:close/>
                </a:path>
                <a:path w="2891790" h="309880">
                  <a:moveTo>
                    <a:pt x="2865536" y="82271"/>
                  </a:moveTo>
                  <a:lnTo>
                    <a:pt x="2865780" y="83819"/>
                  </a:lnTo>
                  <a:lnTo>
                    <a:pt x="2867390" y="87478"/>
                  </a:lnTo>
                  <a:lnTo>
                    <a:pt x="2865536" y="82271"/>
                  </a:lnTo>
                  <a:close/>
                </a:path>
                <a:path w="2891790" h="309880">
                  <a:moveTo>
                    <a:pt x="2865327" y="80947"/>
                  </a:moveTo>
                  <a:lnTo>
                    <a:pt x="2865183" y="81280"/>
                  </a:lnTo>
                  <a:lnTo>
                    <a:pt x="2865536" y="82271"/>
                  </a:lnTo>
                  <a:lnTo>
                    <a:pt x="2865327" y="80947"/>
                  </a:lnTo>
                  <a:close/>
                </a:path>
                <a:path w="2891790" h="309880">
                  <a:moveTo>
                    <a:pt x="2886170" y="71119"/>
                  </a:moveTo>
                  <a:lnTo>
                    <a:pt x="2879178" y="71119"/>
                  </a:lnTo>
                  <a:lnTo>
                    <a:pt x="2885541" y="73660"/>
                  </a:lnTo>
                  <a:lnTo>
                    <a:pt x="2888968" y="82180"/>
                  </a:lnTo>
                  <a:lnTo>
                    <a:pt x="2886824" y="76200"/>
                  </a:lnTo>
                  <a:lnTo>
                    <a:pt x="2886170" y="71119"/>
                  </a:lnTo>
                  <a:close/>
                </a:path>
                <a:path w="2891790" h="309880">
                  <a:moveTo>
                    <a:pt x="2863450" y="63543"/>
                  </a:moveTo>
                  <a:lnTo>
                    <a:pt x="2863672" y="68580"/>
                  </a:lnTo>
                  <a:lnTo>
                    <a:pt x="2864980" y="78740"/>
                  </a:lnTo>
                  <a:lnTo>
                    <a:pt x="2865327" y="80947"/>
                  </a:lnTo>
                  <a:lnTo>
                    <a:pt x="2867939" y="74930"/>
                  </a:lnTo>
                  <a:lnTo>
                    <a:pt x="2879178" y="71119"/>
                  </a:lnTo>
                  <a:lnTo>
                    <a:pt x="2886170" y="71119"/>
                  </a:lnTo>
                  <a:lnTo>
                    <a:pt x="2885679" y="67310"/>
                  </a:lnTo>
                  <a:lnTo>
                    <a:pt x="2868409" y="67310"/>
                  </a:lnTo>
                  <a:lnTo>
                    <a:pt x="2863450" y="63543"/>
                  </a:lnTo>
                  <a:close/>
                </a:path>
                <a:path w="2891790" h="309880">
                  <a:moveTo>
                    <a:pt x="2879991" y="45719"/>
                  </a:moveTo>
                  <a:lnTo>
                    <a:pt x="2867901" y="45719"/>
                  </a:lnTo>
                  <a:lnTo>
                    <a:pt x="2863113" y="50800"/>
                  </a:lnTo>
                  <a:lnTo>
                    <a:pt x="2863253" y="57150"/>
                  </a:lnTo>
                  <a:lnTo>
                    <a:pt x="2863357" y="60960"/>
                  </a:lnTo>
                  <a:lnTo>
                    <a:pt x="2863450" y="63543"/>
                  </a:lnTo>
                  <a:lnTo>
                    <a:pt x="2868409" y="67310"/>
                  </a:lnTo>
                  <a:lnTo>
                    <a:pt x="2880512" y="67310"/>
                  </a:lnTo>
                  <a:lnTo>
                    <a:pt x="2885300" y="62230"/>
                  </a:lnTo>
                  <a:lnTo>
                    <a:pt x="2885014" y="50793"/>
                  </a:lnTo>
                  <a:lnTo>
                    <a:pt x="2879991" y="45719"/>
                  </a:lnTo>
                  <a:close/>
                </a:path>
                <a:path w="2891790" h="309880">
                  <a:moveTo>
                    <a:pt x="2885014" y="50793"/>
                  </a:moveTo>
                  <a:lnTo>
                    <a:pt x="2885300" y="62230"/>
                  </a:lnTo>
                  <a:lnTo>
                    <a:pt x="2880512" y="67310"/>
                  </a:lnTo>
                  <a:lnTo>
                    <a:pt x="2885679" y="67310"/>
                  </a:lnTo>
                  <a:lnTo>
                    <a:pt x="2885516" y="66040"/>
                  </a:lnTo>
                  <a:lnTo>
                    <a:pt x="2885287" y="60960"/>
                  </a:lnTo>
                  <a:lnTo>
                    <a:pt x="2885014" y="50793"/>
                  </a:lnTo>
                  <a:close/>
                </a:path>
                <a:path w="2891790" h="309880">
                  <a:moveTo>
                    <a:pt x="2861804" y="30531"/>
                  </a:moveTo>
                  <a:lnTo>
                    <a:pt x="2863333" y="60960"/>
                  </a:lnTo>
                  <a:lnTo>
                    <a:pt x="2863450" y="63543"/>
                  </a:lnTo>
                  <a:lnTo>
                    <a:pt x="2863357" y="60960"/>
                  </a:lnTo>
                  <a:lnTo>
                    <a:pt x="2863253" y="57150"/>
                  </a:lnTo>
                  <a:lnTo>
                    <a:pt x="2863119" y="50793"/>
                  </a:lnTo>
                  <a:lnTo>
                    <a:pt x="2867901" y="45719"/>
                  </a:lnTo>
                  <a:lnTo>
                    <a:pt x="2884844" y="45719"/>
                  </a:lnTo>
                  <a:lnTo>
                    <a:pt x="2884633" y="40640"/>
                  </a:lnTo>
                  <a:lnTo>
                    <a:pt x="2884550" y="39369"/>
                  </a:lnTo>
                  <a:lnTo>
                    <a:pt x="2867837" y="39369"/>
                  </a:lnTo>
                  <a:lnTo>
                    <a:pt x="2862326" y="34290"/>
                  </a:lnTo>
                  <a:lnTo>
                    <a:pt x="2861804" y="30531"/>
                  </a:lnTo>
                  <a:close/>
                </a:path>
                <a:path w="2891790" h="309880">
                  <a:moveTo>
                    <a:pt x="2884844" y="45719"/>
                  </a:moveTo>
                  <a:lnTo>
                    <a:pt x="2879991" y="45719"/>
                  </a:lnTo>
                  <a:lnTo>
                    <a:pt x="2885014" y="50793"/>
                  </a:lnTo>
                  <a:lnTo>
                    <a:pt x="2884950" y="48260"/>
                  </a:lnTo>
                  <a:lnTo>
                    <a:pt x="2884844" y="45719"/>
                  </a:lnTo>
                  <a:close/>
                </a:path>
                <a:path w="2891790" h="309880">
                  <a:moveTo>
                    <a:pt x="2861715" y="21534"/>
                  </a:moveTo>
                  <a:lnTo>
                    <a:pt x="2860814" y="22860"/>
                  </a:lnTo>
                  <a:lnTo>
                    <a:pt x="2861551" y="27940"/>
                  </a:lnTo>
                  <a:lnTo>
                    <a:pt x="2861804" y="30531"/>
                  </a:lnTo>
                  <a:lnTo>
                    <a:pt x="2862326" y="34290"/>
                  </a:lnTo>
                  <a:lnTo>
                    <a:pt x="2867837" y="39369"/>
                  </a:lnTo>
                  <a:lnTo>
                    <a:pt x="2879852" y="36830"/>
                  </a:lnTo>
                  <a:lnTo>
                    <a:pt x="2884018" y="31839"/>
                  </a:lnTo>
                  <a:lnTo>
                    <a:pt x="2883567" y="27267"/>
                  </a:lnTo>
                  <a:lnTo>
                    <a:pt x="2883198" y="24130"/>
                  </a:lnTo>
                  <a:lnTo>
                    <a:pt x="2865107" y="24130"/>
                  </a:lnTo>
                  <a:lnTo>
                    <a:pt x="2861715" y="21534"/>
                  </a:lnTo>
                  <a:close/>
                </a:path>
                <a:path w="2891790" h="309880">
                  <a:moveTo>
                    <a:pt x="2884018" y="31839"/>
                  </a:moveTo>
                  <a:lnTo>
                    <a:pt x="2879852" y="36830"/>
                  </a:lnTo>
                  <a:lnTo>
                    <a:pt x="2867837" y="39369"/>
                  </a:lnTo>
                  <a:lnTo>
                    <a:pt x="2884550" y="39369"/>
                  </a:lnTo>
                  <a:lnTo>
                    <a:pt x="2884135" y="33019"/>
                  </a:lnTo>
                  <a:lnTo>
                    <a:pt x="2884018" y="31839"/>
                  </a:lnTo>
                  <a:close/>
                </a:path>
                <a:path w="2891790" h="309880">
                  <a:moveTo>
                    <a:pt x="2883567" y="27267"/>
                  </a:moveTo>
                  <a:lnTo>
                    <a:pt x="2884018" y="31839"/>
                  </a:lnTo>
                  <a:lnTo>
                    <a:pt x="2883567" y="27267"/>
                  </a:lnTo>
                  <a:close/>
                </a:path>
                <a:path w="2891790" h="309880">
                  <a:moveTo>
                    <a:pt x="2860341" y="20483"/>
                  </a:moveTo>
                  <a:lnTo>
                    <a:pt x="2860916" y="24130"/>
                  </a:lnTo>
                  <a:lnTo>
                    <a:pt x="2861804" y="30531"/>
                  </a:lnTo>
                  <a:lnTo>
                    <a:pt x="2861551" y="27940"/>
                  </a:lnTo>
                  <a:lnTo>
                    <a:pt x="2860814" y="22860"/>
                  </a:lnTo>
                  <a:lnTo>
                    <a:pt x="2861715" y="21534"/>
                  </a:lnTo>
                  <a:lnTo>
                    <a:pt x="2860341" y="20483"/>
                  </a:lnTo>
                  <a:close/>
                </a:path>
                <a:path w="2891790" h="309880">
                  <a:moveTo>
                    <a:pt x="2883165" y="23847"/>
                  </a:moveTo>
                  <a:lnTo>
                    <a:pt x="2883567" y="27267"/>
                  </a:lnTo>
                  <a:lnTo>
                    <a:pt x="2883382" y="25400"/>
                  </a:lnTo>
                  <a:lnTo>
                    <a:pt x="2883165" y="23847"/>
                  </a:lnTo>
                  <a:close/>
                </a:path>
                <a:path w="2891790" h="309880">
                  <a:moveTo>
                    <a:pt x="2863394" y="19065"/>
                  </a:moveTo>
                  <a:lnTo>
                    <a:pt x="2861715" y="21534"/>
                  </a:lnTo>
                  <a:lnTo>
                    <a:pt x="2865107" y="24130"/>
                  </a:lnTo>
                  <a:lnTo>
                    <a:pt x="2877324" y="24130"/>
                  </a:lnTo>
                  <a:lnTo>
                    <a:pt x="2878553" y="22860"/>
                  </a:lnTo>
                  <a:lnTo>
                    <a:pt x="2868422" y="22860"/>
                  </a:lnTo>
                  <a:lnTo>
                    <a:pt x="2863394" y="19065"/>
                  </a:lnTo>
                  <a:close/>
                </a:path>
                <a:path w="2891790" h="309880">
                  <a:moveTo>
                    <a:pt x="2881796" y="19508"/>
                  </a:moveTo>
                  <a:lnTo>
                    <a:pt x="2877324" y="24130"/>
                  </a:lnTo>
                  <a:lnTo>
                    <a:pt x="2883198" y="24130"/>
                  </a:lnTo>
                  <a:lnTo>
                    <a:pt x="2882671" y="20319"/>
                  </a:lnTo>
                  <a:lnTo>
                    <a:pt x="2881796" y="19508"/>
                  </a:lnTo>
                  <a:close/>
                </a:path>
                <a:path w="2891790" h="309880">
                  <a:moveTo>
                    <a:pt x="2882229" y="17793"/>
                  </a:moveTo>
                  <a:lnTo>
                    <a:pt x="2882216" y="19074"/>
                  </a:lnTo>
                  <a:lnTo>
                    <a:pt x="2881796" y="19508"/>
                  </a:lnTo>
                  <a:lnTo>
                    <a:pt x="2882671" y="20319"/>
                  </a:lnTo>
                  <a:lnTo>
                    <a:pt x="2883165" y="23847"/>
                  </a:lnTo>
                  <a:lnTo>
                    <a:pt x="2882890" y="21534"/>
                  </a:lnTo>
                  <a:lnTo>
                    <a:pt x="2882229" y="17793"/>
                  </a:lnTo>
                  <a:close/>
                </a:path>
                <a:path w="2891790" h="309880">
                  <a:moveTo>
                    <a:pt x="2877197" y="15240"/>
                  </a:moveTo>
                  <a:lnTo>
                    <a:pt x="2865132" y="16510"/>
                  </a:lnTo>
                  <a:lnTo>
                    <a:pt x="2863405" y="19050"/>
                  </a:lnTo>
                  <a:lnTo>
                    <a:pt x="2868422" y="22860"/>
                  </a:lnTo>
                  <a:lnTo>
                    <a:pt x="2873984" y="22860"/>
                  </a:lnTo>
                  <a:lnTo>
                    <a:pt x="2880258" y="18080"/>
                  </a:lnTo>
                  <a:lnTo>
                    <a:pt x="2877197" y="15240"/>
                  </a:lnTo>
                  <a:close/>
                </a:path>
                <a:path w="2891790" h="309880">
                  <a:moveTo>
                    <a:pt x="2880258" y="18080"/>
                  </a:moveTo>
                  <a:lnTo>
                    <a:pt x="2873984" y="22860"/>
                  </a:lnTo>
                  <a:lnTo>
                    <a:pt x="2878553" y="22860"/>
                  </a:lnTo>
                  <a:lnTo>
                    <a:pt x="2881796" y="19508"/>
                  </a:lnTo>
                  <a:lnTo>
                    <a:pt x="2880258" y="18080"/>
                  </a:lnTo>
                  <a:close/>
                </a:path>
                <a:path w="2891790" h="309880">
                  <a:moveTo>
                    <a:pt x="2860090" y="13969"/>
                  </a:moveTo>
                  <a:lnTo>
                    <a:pt x="2860188" y="19508"/>
                  </a:lnTo>
                  <a:lnTo>
                    <a:pt x="2860341" y="20483"/>
                  </a:lnTo>
                  <a:lnTo>
                    <a:pt x="2861715" y="21534"/>
                  </a:lnTo>
                  <a:lnTo>
                    <a:pt x="2863389" y="19074"/>
                  </a:lnTo>
                  <a:lnTo>
                    <a:pt x="2861691" y="17780"/>
                  </a:lnTo>
                  <a:lnTo>
                    <a:pt x="2860090" y="13969"/>
                  </a:lnTo>
                  <a:close/>
                </a:path>
                <a:path w="2891790" h="309880">
                  <a:moveTo>
                    <a:pt x="2860120" y="19074"/>
                  </a:moveTo>
                  <a:lnTo>
                    <a:pt x="2860128" y="20319"/>
                  </a:lnTo>
                  <a:lnTo>
                    <a:pt x="2860341" y="20483"/>
                  </a:lnTo>
                  <a:lnTo>
                    <a:pt x="2860120" y="19074"/>
                  </a:lnTo>
                  <a:close/>
                </a:path>
                <a:path w="2891790" h="309880">
                  <a:moveTo>
                    <a:pt x="2882198" y="13978"/>
                  </a:moveTo>
                  <a:lnTo>
                    <a:pt x="2880634" y="17793"/>
                  </a:lnTo>
                  <a:lnTo>
                    <a:pt x="2880258" y="18080"/>
                  </a:lnTo>
                  <a:lnTo>
                    <a:pt x="2881796" y="19508"/>
                  </a:lnTo>
                  <a:lnTo>
                    <a:pt x="2882216" y="19074"/>
                  </a:lnTo>
                  <a:lnTo>
                    <a:pt x="2882198" y="13978"/>
                  </a:lnTo>
                  <a:close/>
                </a:path>
                <a:path w="2891790" h="309880">
                  <a:moveTo>
                    <a:pt x="2877172" y="2540"/>
                  </a:moveTo>
                  <a:lnTo>
                    <a:pt x="2864967" y="2540"/>
                  </a:lnTo>
                  <a:lnTo>
                    <a:pt x="2860069" y="7602"/>
                  </a:lnTo>
                  <a:lnTo>
                    <a:pt x="2860094" y="13978"/>
                  </a:lnTo>
                  <a:lnTo>
                    <a:pt x="2861709" y="17793"/>
                  </a:lnTo>
                  <a:lnTo>
                    <a:pt x="2863394" y="19065"/>
                  </a:lnTo>
                  <a:lnTo>
                    <a:pt x="2865132" y="16510"/>
                  </a:lnTo>
                  <a:lnTo>
                    <a:pt x="2877197" y="15240"/>
                  </a:lnTo>
                  <a:lnTo>
                    <a:pt x="2881685" y="15240"/>
                  </a:lnTo>
                  <a:lnTo>
                    <a:pt x="2882198" y="13978"/>
                  </a:lnTo>
                  <a:lnTo>
                    <a:pt x="2882145" y="7602"/>
                  </a:lnTo>
                  <a:lnTo>
                    <a:pt x="2877172" y="2540"/>
                  </a:lnTo>
                  <a:close/>
                </a:path>
                <a:path w="2891790" h="309880">
                  <a:moveTo>
                    <a:pt x="2881685" y="15240"/>
                  </a:moveTo>
                  <a:lnTo>
                    <a:pt x="2877197" y="15240"/>
                  </a:lnTo>
                  <a:lnTo>
                    <a:pt x="2880258" y="18080"/>
                  </a:lnTo>
                  <a:lnTo>
                    <a:pt x="2880652" y="17780"/>
                  </a:lnTo>
                  <a:lnTo>
                    <a:pt x="2881685" y="15240"/>
                  </a:lnTo>
                  <a:close/>
                </a:path>
                <a:path w="2891790" h="309880">
                  <a:moveTo>
                    <a:pt x="2864942" y="0"/>
                  </a:moveTo>
                  <a:lnTo>
                    <a:pt x="2860027" y="5080"/>
                  </a:lnTo>
                  <a:lnTo>
                    <a:pt x="2860065" y="11430"/>
                  </a:lnTo>
                  <a:lnTo>
                    <a:pt x="2860052" y="5080"/>
                  </a:lnTo>
                  <a:lnTo>
                    <a:pt x="2864942" y="0"/>
                  </a:lnTo>
                  <a:close/>
                </a:path>
                <a:path w="2891790" h="309880">
                  <a:moveTo>
                    <a:pt x="2877121" y="0"/>
                  </a:moveTo>
                  <a:lnTo>
                    <a:pt x="2864942" y="0"/>
                  </a:lnTo>
                  <a:lnTo>
                    <a:pt x="2860052" y="5080"/>
                  </a:lnTo>
                  <a:lnTo>
                    <a:pt x="2860057" y="7614"/>
                  </a:lnTo>
                  <a:lnTo>
                    <a:pt x="2864967" y="2540"/>
                  </a:lnTo>
                  <a:lnTo>
                    <a:pt x="2879623" y="2540"/>
                  </a:lnTo>
                  <a:lnTo>
                    <a:pt x="2877121" y="0"/>
                  </a:lnTo>
                  <a:close/>
                </a:path>
                <a:path w="2891790" h="309880">
                  <a:moveTo>
                    <a:pt x="2877159" y="0"/>
                  </a:moveTo>
                  <a:lnTo>
                    <a:pt x="2882125" y="5080"/>
                  </a:lnTo>
                  <a:lnTo>
                    <a:pt x="2882156" y="7612"/>
                  </a:lnTo>
                  <a:lnTo>
                    <a:pt x="2882138" y="5080"/>
                  </a:lnTo>
                  <a:lnTo>
                    <a:pt x="2877159" y="0"/>
                  </a:lnTo>
                  <a:close/>
                </a:path>
                <a:path w="2891790" h="309880">
                  <a:moveTo>
                    <a:pt x="2879623" y="2540"/>
                  </a:moveTo>
                  <a:lnTo>
                    <a:pt x="2877172" y="2540"/>
                  </a:lnTo>
                  <a:lnTo>
                    <a:pt x="2882145" y="7602"/>
                  </a:lnTo>
                  <a:lnTo>
                    <a:pt x="2882125" y="5080"/>
                  </a:lnTo>
                  <a:lnTo>
                    <a:pt x="2879623" y="2540"/>
                  </a:lnTo>
                  <a:close/>
                </a:path>
              </a:pathLst>
            </a:custGeom>
            <a:solidFill>
              <a:srgbClr val="007AFF"/>
            </a:solidFill>
          </p:spPr>
          <p:txBody>
            <a:bodyPr wrap="square" lIns="0" tIns="0" rIns="0" bIns="0" rtlCol="0"/>
            <a:lstStyle/>
            <a:p>
              <a:endParaRPr sz="2388"/>
            </a:p>
          </p:txBody>
        </p:sp>
        <p:grpSp>
          <p:nvGrpSpPr>
            <p:cNvPr id="49" name="object 17">
              <a:extLst>
                <a:ext uri="{FF2B5EF4-FFF2-40B4-BE49-F238E27FC236}">
                  <a16:creationId xmlns:a16="http://schemas.microsoft.com/office/drawing/2014/main" id="{1EB2D280-AD59-90E3-C871-81DAAFF39990}"/>
                </a:ext>
              </a:extLst>
            </p:cNvPr>
            <p:cNvGrpSpPr/>
            <p:nvPr/>
          </p:nvGrpSpPr>
          <p:grpSpPr>
            <a:xfrm>
              <a:off x="3476413" y="3532088"/>
              <a:ext cx="2479496" cy="732980"/>
              <a:chOff x="2159457" y="2662148"/>
              <a:chExt cx="1868805" cy="552450"/>
            </a:xfrm>
          </p:grpSpPr>
          <p:pic>
            <p:nvPicPr>
              <p:cNvPr id="50" name="object 18">
                <a:extLst>
                  <a:ext uri="{FF2B5EF4-FFF2-40B4-BE49-F238E27FC236}">
                    <a16:creationId xmlns:a16="http://schemas.microsoft.com/office/drawing/2014/main" id="{ABFDFA99-7717-1F33-BB86-72E234B13EF7}"/>
                  </a:ext>
                </a:extLst>
              </p:cNvPr>
              <p:cNvPicPr/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>
                <a:off x="2159457" y="2738437"/>
                <a:ext cx="709955" cy="375640"/>
              </a:xfrm>
              <a:prstGeom prst="rect">
                <a:avLst/>
              </a:prstGeom>
            </p:spPr>
          </p:pic>
          <p:pic>
            <p:nvPicPr>
              <p:cNvPr id="62" name="object 19">
                <a:extLst>
                  <a:ext uri="{FF2B5EF4-FFF2-40B4-BE49-F238E27FC236}">
                    <a16:creationId xmlns:a16="http://schemas.microsoft.com/office/drawing/2014/main" id="{BC056EA9-E301-E591-4895-0E610146126C}"/>
                  </a:ext>
                </a:extLst>
              </p:cNvPr>
              <p:cNvPicPr/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2171164" y="3026943"/>
                <a:ext cx="326341" cy="106425"/>
              </a:xfrm>
              <a:prstGeom prst="rect">
                <a:avLst/>
              </a:prstGeom>
            </p:spPr>
          </p:pic>
          <p:pic>
            <p:nvPicPr>
              <p:cNvPr id="63" name="object 20">
                <a:extLst>
                  <a:ext uri="{FF2B5EF4-FFF2-40B4-BE49-F238E27FC236}">
                    <a16:creationId xmlns:a16="http://schemas.microsoft.com/office/drawing/2014/main" id="{6C0EEE10-078C-D192-DB64-BFAEB1D4300F}"/>
                  </a:ext>
                </a:extLst>
              </p:cNvPr>
              <p:cNvPicPr/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>
                <a:off x="2875393" y="2662148"/>
                <a:ext cx="1152309" cy="552107"/>
              </a:xfrm>
              <a:prstGeom prst="rect">
                <a:avLst/>
              </a:prstGeom>
            </p:spPr>
          </p:pic>
          <p:pic>
            <p:nvPicPr>
              <p:cNvPr id="13312" name="object 21">
                <a:extLst>
                  <a:ext uri="{FF2B5EF4-FFF2-40B4-BE49-F238E27FC236}">
                    <a16:creationId xmlns:a16="http://schemas.microsoft.com/office/drawing/2014/main" id="{1BCE1793-E3A6-521C-D40B-D9A197E6A712}"/>
                  </a:ext>
                </a:extLst>
              </p:cNvPr>
              <p:cNvPicPr/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2985846" y="2935807"/>
                <a:ext cx="405041" cy="163830"/>
              </a:xfrm>
              <a:prstGeom prst="rect">
                <a:avLst/>
              </a:prstGeom>
            </p:spPr>
          </p:pic>
        </p:grpSp>
        <p:grpSp>
          <p:nvGrpSpPr>
            <p:cNvPr id="13313" name="object 22">
              <a:extLst>
                <a:ext uri="{FF2B5EF4-FFF2-40B4-BE49-F238E27FC236}">
                  <a16:creationId xmlns:a16="http://schemas.microsoft.com/office/drawing/2014/main" id="{6A2796D7-D7E3-D1F8-6063-7C089FBE8EE5}"/>
                </a:ext>
              </a:extLst>
            </p:cNvPr>
            <p:cNvGrpSpPr/>
            <p:nvPr/>
          </p:nvGrpSpPr>
          <p:grpSpPr>
            <a:xfrm>
              <a:off x="7019049" y="2974569"/>
              <a:ext cx="3970731" cy="1023645"/>
              <a:chOff x="4829555" y="2241943"/>
              <a:chExt cx="2992755" cy="771525"/>
            </a:xfrm>
          </p:grpSpPr>
          <p:sp>
            <p:nvSpPr>
              <p:cNvPr id="13315" name="object 23">
                <a:extLst>
                  <a:ext uri="{FF2B5EF4-FFF2-40B4-BE49-F238E27FC236}">
                    <a16:creationId xmlns:a16="http://schemas.microsoft.com/office/drawing/2014/main" id="{094919F6-7500-1E5E-99D7-5F934CC17218}"/>
                  </a:ext>
                </a:extLst>
              </p:cNvPr>
              <p:cNvSpPr/>
              <p:nvPr/>
            </p:nvSpPr>
            <p:spPr>
              <a:xfrm>
                <a:off x="4829555" y="2241943"/>
                <a:ext cx="2992755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2992754" h="304800">
                    <a:moveTo>
                      <a:pt x="43588" y="300755"/>
                    </a:moveTo>
                    <a:lnTo>
                      <a:pt x="47929" y="302260"/>
                    </a:lnTo>
                    <a:lnTo>
                      <a:pt x="55410" y="303530"/>
                    </a:lnTo>
                    <a:lnTo>
                      <a:pt x="67437" y="304800"/>
                    </a:lnTo>
                    <a:lnTo>
                      <a:pt x="67739" y="304512"/>
                    </a:lnTo>
                    <a:lnTo>
                      <a:pt x="62915" y="303530"/>
                    </a:lnTo>
                    <a:lnTo>
                      <a:pt x="58407" y="303530"/>
                    </a:lnTo>
                    <a:lnTo>
                      <a:pt x="56205" y="300989"/>
                    </a:lnTo>
                    <a:lnTo>
                      <a:pt x="44919" y="300989"/>
                    </a:lnTo>
                    <a:lnTo>
                      <a:pt x="43588" y="300755"/>
                    </a:lnTo>
                    <a:close/>
                  </a:path>
                  <a:path w="2992754" h="304800">
                    <a:moveTo>
                      <a:pt x="67985" y="288006"/>
                    </a:moveTo>
                    <a:lnTo>
                      <a:pt x="68999" y="288289"/>
                    </a:lnTo>
                    <a:lnTo>
                      <a:pt x="72313" y="292100"/>
                    </a:lnTo>
                    <a:lnTo>
                      <a:pt x="71450" y="300989"/>
                    </a:lnTo>
                    <a:lnTo>
                      <a:pt x="67739" y="304512"/>
                    </a:lnTo>
                    <a:lnTo>
                      <a:pt x="69151" y="304800"/>
                    </a:lnTo>
                    <a:lnTo>
                      <a:pt x="108851" y="304800"/>
                    </a:lnTo>
                    <a:lnTo>
                      <a:pt x="105156" y="302260"/>
                    </a:lnTo>
                    <a:lnTo>
                      <a:pt x="105219" y="292100"/>
                    </a:lnTo>
                    <a:lnTo>
                      <a:pt x="108966" y="288289"/>
                    </a:lnTo>
                    <a:lnTo>
                      <a:pt x="70307" y="288289"/>
                    </a:lnTo>
                    <a:lnTo>
                      <a:pt x="67985" y="288006"/>
                    </a:lnTo>
                    <a:close/>
                  </a:path>
                  <a:path w="2992754" h="304800">
                    <a:moveTo>
                      <a:pt x="118160" y="288289"/>
                    </a:moveTo>
                    <a:lnTo>
                      <a:pt x="108966" y="288289"/>
                    </a:lnTo>
                    <a:lnTo>
                      <a:pt x="105219" y="292100"/>
                    </a:lnTo>
                    <a:lnTo>
                      <a:pt x="105156" y="302260"/>
                    </a:lnTo>
                    <a:lnTo>
                      <a:pt x="108851" y="304800"/>
                    </a:lnTo>
                    <a:lnTo>
                      <a:pt x="118021" y="304800"/>
                    </a:lnTo>
                    <a:lnTo>
                      <a:pt x="121780" y="302260"/>
                    </a:lnTo>
                    <a:lnTo>
                      <a:pt x="121856" y="292100"/>
                    </a:lnTo>
                    <a:lnTo>
                      <a:pt x="118160" y="288289"/>
                    </a:lnTo>
                    <a:close/>
                  </a:path>
                  <a:path w="2992754" h="304800">
                    <a:moveTo>
                      <a:pt x="177819" y="286111"/>
                    </a:moveTo>
                    <a:lnTo>
                      <a:pt x="148196" y="288289"/>
                    </a:lnTo>
                    <a:lnTo>
                      <a:pt x="118160" y="288289"/>
                    </a:lnTo>
                    <a:lnTo>
                      <a:pt x="121856" y="292100"/>
                    </a:lnTo>
                    <a:lnTo>
                      <a:pt x="121780" y="302260"/>
                    </a:lnTo>
                    <a:lnTo>
                      <a:pt x="118021" y="304800"/>
                    </a:lnTo>
                    <a:lnTo>
                      <a:pt x="149148" y="304800"/>
                    </a:lnTo>
                    <a:lnTo>
                      <a:pt x="184746" y="302260"/>
                    </a:lnTo>
                    <a:lnTo>
                      <a:pt x="180149" y="302260"/>
                    </a:lnTo>
                    <a:lnTo>
                      <a:pt x="175983" y="298450"/>
                    </a:lnTo>
                    <a:lnTo>
                      <a:pt x="174853" y="289560"/>
                    </a:lnTo>
                    <a:lnTo>
                      <a:pt x="177819" y="286111"/>
                    </a:lnTo>
                    <a:close/>
                  </a:path>
                  <a:path w="2992754" h="304800">
                    <a:moveTo>
                      <a:pt x="59893" y="287019"/>
                    </a:moveTo>
                    <a:lnTo>
                      <a:pt x="55892" y="290830"/>
                    </a:lnTo>
                    <a:lnTo>
                      <a:pt x="55105" y="299719"/>
                    </a:lnTo>
                    <a:lnTo>
                      <a:pt x="58407" y="303530"/>
                    </a:lnTo>
                    <a:lnTo>
                      <a:pt x="62915" y="303530"/>
                    </a:lnTo>
                    <a:lnTo>
                      <a:pt x="67739" y="304512"/>
                    </a:lnTo>
                    <a:lnTo>
                      <a:pt x="71450" y="300989"/>
                    </a:lnTo>
                    <a:lnTo>
                      <a:pt x="72313" y="292100"/>
                    </a:lnTo>
                    <a:lnTo>
                      <a:pt x="68999" y="288289"/>
                    </a:lnTo>
                    <a:lnTo>
                      <a:pt x="67985" y="288006"/>
                    </a:lnTo>
                    <a:lnTo>
                      <a:pt x="59893" y="287019"/>
                    </a:lnTo>
                    <a:close/>
                  </a:path>
                  <a:path w="2992754" h="304800">
                    <a:moveTo>
                      <a:pt x="187325" y="284480"/>
                    </a:moveTo>
                    <a:lnTo>
                      <a:pt x="182727" y="285750"/>
                    </a:lnTo>
                    <a:lnTo>
                      <a:pt x="177819" y="286111"/>
                    </a:lnTo>
                    <a:lnTo>
                      <a:pt x="174853" y="289560"/>
                    </a:lnTo>
                    <a:lnTo>
                      <a:pt x="175983" y="298450"/>
                    </a:lnTo>
                    <a:lnTo>
                      <a:pt x="180149" y="302260"/>
                    </a:lnTo>
                    <a:lnTo>
                      <a:pt x="184746" y="302260"/>
                    </a:lnTo>
                    <a:lnTo>
                      <a:pt x="189331" y="300989"/>
                    </a:lnTo>
                    <a:lnTo>
                      <a:pt x="192608" y="297180"/>
                    </a:lnTo>
                    <a:lnTo>
                      <a:pt x="191503" y="288289"/>
                    </a:lnTo>
                    <a:lnTo>
                      <a:pt x="187325" y="284480"/>
                    </a:lnTo>
                    <a:close/>
                  </a:path>
                  <a:path w="2992754" h="304800">
                    <a:moveTo>
                      <a:pt x="229458" y="284480"/>
                    </a:moveTo>
                    <a:lnTo>
                      <a:pt x="187325" y="284480"/>
                    </a:lnTo>
                    <a:lnTo>
                      <a:pt x="191503" y="288289"/>
                    </a:lnTo>
                    <a:lnTo>
                      <a:pt x="192608" y="297180"/>
                    </a:lnTo>
                    <a:lnTo>
                      <a:pt x="189331" y="300989"/>
                    </a:lnTo>
                    <a:lnTo>
                      <a:pt x="184746" y="302260"/>
                    </a:lnTo>
                    <a:lnTo>
                      <a:pt x="212107" y="298450"/>
                    </a:lnTo>
                    <a:lnTo>
                      <a:pt x="225785" y="297180"/>
                    </a:lnTo>
                    <a:lnTo>
                      <a:pt x="234444" y="295571"/>
                    </a:lnTo>
                    <a:lnTo>
                      <a:pt x="230568" y="292100"/>
                    </a:lnTo>
                    <a:lnTo>
                      <a:pt x="229458" y="284480"/>
                    </a:lnTo>
                    <a:close/>
                  </a:path>
                  <a:path w="2992754" h="304800">
                    <a:moveTo>
                      <a:pt x="47097" y="299719"/>
                    </a:moveTo>
                    <a:lnTo>
                      <a:pt x="40601" y="299719"/>
                    </a:lnTo>
                    <a:lnTo>
                      <a:pt x="43588" y="300755"/>
                    </a:lnTo>
                    <a:lnTo>
                      <a:pt x="44919" y="300989"/>
                    </a:lnTo>
                    <a:lnTo>
                      <a:pt x="47097" y="299719"/>
                    </a:lnTo>
                    <a:close/>
                  </a:path>
                  <a:path w="2992754" h="304800">
                    <a:moveTo>
                      <a:pt x="39814" y="283210"/>
                    </a:moveTo>
                    <a:lnTo>
                      <a:pt x="39177" y="283778"/>
                    </a:lnTo>
                    <a:lnTo>
                      <a:pt x="40665" y="284480"/>
                    </a:lnTo>
                    <a:lnTo>
                      <a:pt x="44157" y="284480"/>
                    </a:lnTo>
                    <a:lnTo>
                      <a:pt x="48704" y="285750"/>
                    </a:lnTo>
                    <a:lnTo>
                      <a:pt x="51358" y="289560"/>
                    </a:lnTo>
                    <a:lnTo>
                      <a:pt x="49276" y="298450"/>
                    </a:lnTo>
                    <a:lnTo>
                      <a:pt x="44919" y="300989"/>
                    </a:lnTo>
                    <a:lnTo>
                      <a:pt x="56205" y="300989"/>
                    </a:lnTo>
                    <a:lnTo>
                      <a:pt x="55105" y="299719"/>
                    </a:lnTo>
                    <a:lnTo>
                      <a:pt x="55892" y="290830"/>
                    </a:lnTo>
                    <a:lnTo>
                      <a:pt x="59893" y="287019"/>
                    </a:lnTo>
                    <a:lnTo>
                      <a:pt x="57619" y="287019"/>
                    </a:lnTo>
                    <a:lnTo>
                      <a:pt x="50838" y="285750"/>
                    </a:lnTo>
                    <a:lnTo>
                      <a:pt x="39814" y="283210"/>
                    </a:lnTo>
                    <a:close/>
                  </a:path>
                  <a:path w="2992754" h="304800">
                    <a:moveTo>
                      <a:pt x="39177" y="283778"/>
                    </a:moveTo>
                    <a:lnTo>
                      <a:pt x="38441" y="284436"/>
                    </a:lnTo>
                    <a:lnTo>
                      <a:pt x="39636" y="285750"/>
                    </a:lnTo>
                    <a:lnTo>
                      <a:pt x="39535" y="290830"/>
                    </a:lnTo>
                    <a:lnTo>
                      <a:pt x="34636" y="296371"/>
                    </a:lnTo>
                    <a:lnTo>
                      <a:pt x="35986" y="298956"/>
                    </a:lnTo>
                    <a:lnTo>
                      <a:pt x="37719" y="299719"/>
                    </a:lnTo>
                    <a:lnTo>
                      <a:pt x="43588" y="300755"/>
                    </a:lnTo>
                    <a:lnTo>
                      <a:pt x="40601" y="299719"/>
                    </a:lnTo>
                    <a:lnTo>
                      <a:pt x="47097" y="299719"/>
                    </a:lnTo>
                    <a:lnTo>
                      <a:pt x="49276" y="298450"/>
                    </a:lnTo>
                    <a:lnTo>
                      <a:pt x="51358" y="289560"/>
                    </a:lnTo>
                    <a:lnTo>
                      <a:pt x="48704" y="285750"/>
                    </a:lnTo>
                    <a:lnTo>
                      <a:pt x="44157" y="284480"/>
                    </a:lnTo>
                    <a:lnTo>
                      <a:pt x="40665" y="284480"/>
                    </a:lnTo>
                    <a:lnTo>
                      <a:pt x="39177" y="283778"/>
                    </a:lnTo>
                    <a:close/>
                  </a:path>
                  <a:path w="2992754" h="304800">
                    <a:moveTo>
                      <a:pt x="35986" y="298956"/>
                    </a:moveTo>
                    <a:lnTo>
                      <a:pt x="36385" y="299719"/>
                    </a:lnTo>
                    <a:lnTo>
                      <a:pt x="37719" y="299719"/>
                    </a:lnTo>
                    <a:lnTo>
                      <a:pt x="35986" y="298956"/>
                    </a:lnTo>
                    <a:close/>
                  </a:path>
                  <a:path w="2992754" h="304800">
                    <a:moveTo>
                      <a:pt x="21975" y="289885"/>
                    </a:moveTo>
                    <a:lnTo>
                      <a:pt x="34836" y="298450"/>
                    </a:lnTo>
                    <a:lnTo>
                      <a:pt x="35986" y="298956"/>
                    </a:lnTo>
                    <a:lnTo>
                      <a:pt x="35058" y="297180"/>
                    </a:lnTo>
                    <a:lnTo>
                      <a:pt x="33921" y="297180"/>
                    </a:lnTo>
                    <a:lnTo>
                      <a:pt x="34636" y="296371"/>
                    </a:lnTo>
                    <a:lnTo>
                      <a:pt x="33731" y="294639"/>
                    </a:lnTo>
                    <a:lnTo>
                      <a:pt x="34336" y="292100"/>
                    </a:lnTo>
                    <a:lnTo>
                      <a:pt x="26416" y="292100"/>
                    </a:lnTo>
                    <a:lnTo>
                      <a:pt x="21975" y="289885"/>
                    </a:lnTo>
                    <a:close/>
                  </a:path>
                  <a:path w="2992754" h="304800">
                    <a:moveTo>
                      <a:pt x="27110" y="295780"/>
                    </a:moveTo>
                    <a:lnTo>
                      <a:pt x="28765" y="297180"/>
                    </a:lnTo>
                    <a:lnTo>
                      <a:pt x="29679" y="297180"/>
                    </a:lnTo>
                    <a:lnTo>
                      <a:pt x="27305" y="295910"/>
                    </a:lnTo>
                    <a:lnTo>
                      <a:pt x="27110" y="295780"/>
                    </a:lnTo>
                    <a:close/>
                  </a:path>
                  <a:path w="2992754" h="304800">
                    <a:moveTo>
                      <a:pt x="34636" y="296371"/>
                    </a:moveTo>
                    <a:lnTo>
                      <a:pt x="33921" y="297180"/>
                    </a:lnTo>
                    <a:lnTo>
                      <a:pt x="35058" y="297180"/>
                    </a:lnTo>
                    <a:lnTo>
                      <a:pt x="34636" y="296371"/>
                    </a:lnTo>
                    <a:close/>
                  </a:path>
                  <a:path w="2992754" h="304800">
                    <a:moveTo>
                      <a:pt x="38441" y="284436"/>
                    </a:moveTo>
                    <a:lnTo>
                      <a:pt x="35547" y="287019"/>
                    </a:lnTo>
                    <a:lnTo>
                      <a:pt x="33731" y="294639"/>
                    </a:lnTo>
                    <a:lnTo>
                      <a:pt x="34636" y="296371"/>
                    </a:lnTo>
                    <a:lnTo>
                      <a:pt x="39535" y="290830"/>
                    </a:lnTo>
                    <a:lnTo>
                      <a:pt x="39636" y="285750"/>
                    </a:lnTo>
                    <a:lnTo>
                      <a:pt x="38441" y="284436"/>
                    </a:lnTo>
                    <a:close/>
                  </a:path>
                  <a:path w="2992754" h="304800">
                    <a:moveTo>
                      <a:pt x="239458" y="294639"/>
                    </a:moveTo>
                    <a:lnTo>
                      <a:pt x="234444" y="295571"/>
                    </a:lnTo>
                    <a:lnTo>
                      <a:pt x="234823" y="295910"/>
                    </a:lnTo>
                    <a:lnTo>
                      <a:pt x="239458" y="294639"/>
                    </a:lnTo>
                    <a:close/>
                  </a:path>
                  <a:path w="2992754" h="304800">
                    <a:moveTo>
                      <a:pt x="24331" y="293430"/>
                    </a:moveTo>
                    <a:lnTo>
                      <a:pt x="25400" y="294639"/>
                    </a:lnTo>
                    <a:lnTo>
                      <a:pt x="27110" y="295780"/>
                    </a:lnTo>
                    <a:lnTo>
                      <a:pt x="24331" y="293430"/>
                    </a:lnTo>
                    <a:close/>
                  </a:path>
                  <a:path w="2992754" h="304800">
                    <a:moveTo>
                      <a:pt x="242579" y="277422"/>
                    </a:moveTo>
                    <a:lnTo>
                      <a:pt x="238854" y="277684"/>
                    </a:lnTo>
                    <a:lnTo>
                      <a:pt x="237185" y="278130"/>
                    </a:lnTo>
                    <a:lnTo>
                      <a:pt x="232228" y="278592"/>
                    </a:lnTo>
                    <a:lnTo>
                      <a:pt x="229273" y="283210"/>
                    </a:lnTo>
                    <a:lnTo>
                      <a:pt x="230568" y="292100"/>
                    </a:lnTo>
                    <a:lnTo>
                      <a:pt x="234444" y="295571"/>
                    </a:lnTo>
                    <a:lnTo>
                      <a:pt x="239458" y="294639"/>
                    </a:lnTo>
                    <a:lnTo>
                      <a:pt x="244427" y="294166"/>
                    </a:lnTo>
                    <a:lnTo>
                      <a:pt x="247421" y="289560"/>
                    </a:lnTo>
                    <a:lnTo>
                      <a:pt x="246227" y="280669"/>
                    </a:lnTo>
                    <a:lnTo>
                      <a:pt x="242579" y="277422"/>
                    </a:lnTo>
                    <a:close/>
                  </a:path>
                  <a:path w="2992754" h="304800">
                    <a:moveTo>
                      <a:pt x="244427" y="294166"/>
                    </a:moveTo>
                    <a:lnTo>
                      <a:pt x="239458" y="294639"/>
                    </a:lnTo>
                    <a:lnTo>
                      <a:pt x="244119" y="294639"/>
                    </a:lnTo>
                    <a:lnTo>
                      <a:pt x="244427" y="294166"/>
                    </a:lnTo>
                    <a:close/>
                  </a:path>
                  <a:path w="2992754" h="304800">
                    <a:moveTo>
                      <a:pt x="285726" y="272263"/>
                    </a:moveTo>
                    <a:lnTo>
                      <a:pt x="263994" y="274319"/>
                    </a:lnTo>
                    <a:lnTo>
                      <a:pt x="250584" y="276860"/>
                    </a:lnTo>
                    <a:lnTo>
                      <a:pt x="242579" y="277422"/>
                    </a:lnTo>
                    <a:lnTo>
                      <a:pt x="246227" y="280669"/>
                    </a:lnTo>
                    <a:lnTo>
                      <a:pt x="247250" y="288289"/>
                    </a:lnTo>
                    <a:lnTo>
                      <a:pt x="247364" y="289647"/>
                    </a:lnTo>
                    <a:lnTo>
                      <a:pt x="244427" y="294166"/>
                    </a:lnTo>
                    <a:lnTo>
                      <a:pt x="279443" y="290830"/>
                    </a:lnTo>
                    <a:lnTo>
                      <a:pt x="288508" y="289560"/>
                    </a:lnTo>
                    <a:lnTo>
                      <a:pt x="288010" y="289560"/>
                    </a:lnTo>
                    <a:lnTo>
                      <a:pt x="283718" y="285750"/>
                    </a:lnTo>
                    <a:lnTo>
                      <a:pt x="282613" y="276860"/>
                    </a:lnTo>
                    <a:lnTo>
                      <a:pt x="285726" y="272263"/>
                    </a:lnTo>
                    <a:close/>
                  </a:path>
                  <a:path w="2992754" h="304800">
                    <a:moveTo>
                      <a:pt x="22206" y="291024"/>
                    </a:moveTo>
                    <a:lnTo>
                      <a:pt x="22758" y="292100"/>
                    </a:lnTo>
                    <a:lnTo>
                      <a:pt x="24331" y="293430"/>
                    </a:lnTo>
                    <a:lnTo>
                      <a:pt x="22206" y="291024"/>
                    </a:lnTo>
                    <a:close/>
                  </a:path>
                  <a:path w="2992754" h="304800">
                    <a:moveTo>
                      <a:pt x="32829" y="279400"/>
                    </a:moveTo>
                    <a:lnTo>
                      <a:pt x="27673" y="279400"/>
                    </a:lnTo>
                    <a:lnTo>
                      <a:pt x="21717" y="285750"/>
                    </a:lnTo>
                    <a:lnTo>
                      <a:pt x="21975" y="289885"/>
                    </a:lnTo>
                    <a:lnTo>
                      <a:pt x="26416" y="292100"/>
                    </a:lnTo>
                    <a:lnTo>
                      <a:pt x="34734" y="288289"/>
                    </a:lnTo>
                    <a:lnTo>
                      <a:pt x="36614" y="283210"/>
                    </a:lnTo>
                    <a:lnTo>
                      <a:pt x="36443" y="282725"/>
                    </a:lnTo>
                    <a:lnTo>
                      <a:pt x="32829" y="279400"/>
                    </a:lnTo>
                    <a:close/>
                  </a:path>
                  <a:path w="2992754" h="304800">
                    <a:moveTo>
                      <a:pt x="36161" y="281923"/>
                    </a:moveTo>
                    <a:lnTo>
                      <a:pt x="36443" y="282725"/>
                    </a:lnTo>
                    <a:lnTo>
                      <a:pt x="36969" y="283210"/>
                    </a:lnTo>
                    <a:lnTo>
                      <a:pt x="36614" y="283210"/>
                    </a:lnTo>
                    <a:lnTo>
                      <a:pt x="34734" y="288289"/>
                    </a:lnTo>
                    <a:lnTo>
                      <a:pt x="26416" y="292100"/>
                    </a:lnTo>
                    <a:lnTo>
                      <a:pt x="34336" y="292100"/>
                    </a:lnTo>
                    <a:lnTo>
                      <a:pt x="35547" y="287019"/>
                    </a:lnTo>
                    <a:lnTo>
                      <a:pt x="38441" y="284436"/>
                    </a:lnTo>
                    <a:lnTo>
                      <a:pt x="37325" y="283210"/>
                    </a:lnTo>
                    <a:lnTo>
                      <a:pt x="36969" y="283210"/>
                    </a:lnTo>
                    <a:lnTo>
                      <a:pt x="36443" y="282725"/>
                    </a:lnTo>
                    <a:lnTo>
                      <a:pt x="36884" y="282725"/>
                    </a:lnTo>
                    <a:lnTo>
                      <a:pt x="36161" y="281923"/>
                    </a:lnTo>
                    <a:close/>
                  </a:path>
                  <a:path w="2992754" h="304800">
                    <a:moveTo>
                      <a:pt x="22024" y="290670"/>
                    </a:moveTo>
                    <a:lnTo>
                      <a:pt x="22034" y="290830"/>
                    </a:lnTo>
                    <a:lnTo>
                      <a:pt x="22206" y="291024"/>
                    </a:lnTo>
                    <a:lnTo>
                      <a:pt x="22024" y="290670"/>
                    </a:lnTo>
                    <a:close/>
                  </a:path>
                  <a:path w="2992754" h="304800">
                    <a:moveTo>
                      <a:pt x="21499" y="289647"/>
                    </a:moveTo>
                    <a:lnTo>
                      <a:pt x="22024" y="290670"/>
                    </a:lnTo>
                    <a:lnTo>
                      <a:pt x="21975" y="289885"/>
                    </a:lnTo>
                    <a:lnTo>
                      <a:pt x="21499" y="289647"/>
                    </a:lnTo>
                    <a:close/>
                  </a:path>
                  <a:path w="2992754" h="304800">
                    <a:moveTo>
                      <a:pt x="30454" y="272897"/>
                    </a:moveTo>
                    <a:lnTo>
                      <a:pt x="29565" y="274319"/>
                    </a:lnTo>
                    <a:lnTo>
                      <a:pt x="20066" y="275589"/>
                    </a:lnTo>
                    <a:lnTo>
                      <a:pt x="19494" y="275589"/>
                    </a:lnTo>
                    <a:lnTo>
                      <a:pt x="17335" y="280669"/>
                    </a:lnTo>
                    <a:lnTo>
                      <a:pt x="18881" y="284877"/>
                    </a:lnTo>
                    <a:lnTo>
                      <a:pt x="19658" y="286366"/>
                    </a:lnTo>
                    <a:lnTo>
                      <a:pt x="20802" y="288289"/>
                    </a:lnTo>
                    <a:lnTo>
                      <a:pt x="21499" y="289647"/>
                    </a:lnTo>
                    <a:lnTo>
                      <a:pt x="21975" y="289885"/>
                    </a:lnTo>
                    <a:lnTo>
                      <a:pt x="21717" y="285750"/>
                    </a:lnTo>
                    <a:lnTo>
                      <a:pt x="27673" y="279400"/>
                    </a:lnTo>
                    <a:lnTo>
                      <a:pt x="35064" y="279400"/>
                    </a:lnTo>
                    <a:lnTo>
                      <a:pt x="33693" y="275589"/>
                    </a:lnTo>
                    <a:lnTo>
                      <a:pt x="20066" y="275589"/>
                    </a:lnTo>
                    <a:lnTo>
                      <a:pt x="19816" y="275450"/>
                    </a:lnTo>
                    <a:lnTo>
                      <a:pt x="33642" y="275450"/>
                    </a:lnTo>
                    <a:lnTo>
                      <a:pt x="33235" y="274319"/>
                    </a:lnTo>
                    <a:lnTo>
                      <a:pt x="30454" y="272897"/>
                    </a:lnTo>
                    <a:close/>
                  </a:path>
                  <a:path w="2992754" h="304800">
                    <a:moveTo>
                      <a:pt x="19658" y="286366"/>
                    </a:moveTo>
                    <a:lnTo>
                      <a:pt x="21323" y="289560"/>
                    </a:lnTo>
                    <a:lnTo>
                      <a:pt x="21499" y="289647"/>
                    </a:lnTo>
                    <a:lnTo>
                      <a:pt x="20802" y="288289"/>
                    </a:lnTo>
                    <a:lnTo>
                      <a:pt x="19658" y="286366"/>
                    </a:lnTo>
                    <a:close/>
                  </a:path>
                  <a:path w="2992754" h="304800">
                    <a:moveTo>
                      <a:pt x="296028" y="270827"/>
                    </a:moveTo>
                    <a:lnTo>
                      <a:pt x="293572" y="271061"/>
                    </a:lnTo>
                    <a:lnTo>
                      <a:pt x="290842" y="271780"/>
                    </a:lnTo>
                    <a:lnTo>
                      <a:pt x="285726" y="272263"/>
                    </a:lnTo>
                    <a:lnTo>
                      <a:pt x="282613" y="276860"/>
                    </a:lnTo>
                    <a:lnTo>
                      <a:pt x="283718" y="285750"/>
                    </a:lnTo>
                    <a:lnTo>
                      <a:pt x="288010" y="289560"/>
                    </a:lnTo>
                    <a:lnTo>
                      <a:pt x="292785" y="288289"/>
                    </a:lnTo>
                    <a:lnTo>
                      <a:pt x="297841" y="287994"/>
                    </a:lnTo>
                    <a:lnTo>
                      <a:pt x="301028" y="284480"/>
                    </a:lnTo>
                    <a:lnTo>
                      <a:pt x="299986" y="274319"/>
                    </a:lnTo>
                    <a:lnTo>
                      <a:pt x="296028" y="270827"/>
                    </a:lnTo>
                    <a:close/>
                  </a:path>
                  <a:path w="2992754" h="304800">
                    <a:moveTo>
                      <a:pt x="297841" y="287994"/>
                    </a:moveTo>
                    <a:lnTo>
                      <a:pt x="292785" y="288289"/>
                    </a:lnTo>
                    <a:lnTo>
                      <a:pt x="288010" y="289560"/>
                    </a:lnTo>
                    <a:lnTo>
                      <a:pt x="288508" y="289560"/>
                    </a:lnTo>
                    <a:lnTo>
                      <a:pt x="297573" y="288289"/>
                    </a:lnTo>
                    <a:lnTo>
                      <a:pt x="297841" y="287994"/>
                    </a:lnTo>
                    <a:close/>
                  </a:path>
                  <a:path w="2992754" h="304800">
                    <a:moveTo>
                      <a:pt x="64452" y="287019"/>
                    </a:moveTo>
                    <a:lnTo>
                      <a:pt x="59893" y="287019"/>
                    </a:lnTo>
                    <a:lnTo>
                      <a:pt x="67985" y="288006"/>
                    </a:lnTo>
                    <a:lnTo>
                      <a:pt x="64452" y="287019"/>
                    </a:lnTo>
                    <a:close/>
                  </a:path>
                  <a:path w="2992754" h="304800">
                    <a:moveTo>
                      <a:pt x="382993" y="261619"/>
                    </a:moveTo>
                    <a:lnTo>
                      <a:pt x="356268" y="264160"/>
                    </a:lnTo>
                    <a:lnTo>
                      <a:pt x="312637" y="269239"/>
                    </a:lnTo>
                    <a:lnTo>
                      <a:pt x="296028" y="270827"/>
                    </a:lnTo>
                    <a:lnTo>
                      <a:pt x="299986" y="274319"/>
                    </a:lnTo>
                    <a:lnTo>
                      <a:pt x="301028" y="284480"/>
                    </a:lnTo>
                    <a:lnTo>
                      <a:pt x="297841" y="287994"/>
                    </a:lnTo>
                    <a:lnTo>
                      <a:pt x="314513" y="287019"/>
                    </a:lnTo>
                    <a:lnTo>
                      <a:pt x="358011" y="281939"/>
                    </a:lnTo>
                    <a:lnTo>
                      <a:pt x="374543" y="280363"/>
                    </a:lnTo>
                    <a:lnTo>
                      <a:pt x="370573" y="276860"/>
                    </a:lnTo>
                    <a:lnTo>
                      <a:pt x="369633" y="266700"/>
                    </a:lnTo>
                    <a:lnTo>
                      <a:pt x="373214" y="262889"/>
                    </a:lnTo>
                    <a:lnTo>
                      <a:pt x="383450" y="262022"/>
                    </a:lnTo>
                    <a:lnTo>
                      <a:pt x="382993" y="261619"/>
                    </a:lnTo>
                    <a:close/>
                  </a:path>
                  <a:path w="2992754" h="304800">
                    <a:moveTo>
                      <a:pt x="18881" y="284877"/>
                    </a:moveTo>
                    <a:lnTo>
                      <a:pt x="19202" y="285750"/>
                    </a:lnTo>
                    <a:lnTo>
                      <a:pt x="19658" y="286366"/>
                    </a:lnTo>
                    <a:lnTo>
                      <a:pt x="18881" y="284877"/>
                    </a:lnTo>
                    <a:close/>
                  </a:path>
                  <a:path w="2992754" h="304800">
                    <a:moveTo>
                      <a:pt x="232228" y="278592"/>
                    </a:moveTo>
                    <a:lnTo>
                      <a:pt x="223579" y="279400"/>
                    </a:lnTo>
                    <a:lnTo>
                      <a:pt x="209965" y="281939"/>
                    </a:lnTo>
                    <a:lnTo>
                      <a:pt x="196347" y="283210"/>
                    </a:lnTo>
                    <a:lnTo>
                      <a:pt x="178130" y="285750"/>
                    </a:lnTo>
                    <a:lnTo>
                      <a:pt x="177819" y="286111"/>
                    </a:lnTo>
                    <a:lnTo>
                      <a:pt x="182727" y="285750"/>
                    </a:lnTo>
                    <a:lnTo>
                      <a:pt x="187325" y="284480"/>
                    </a:lnTo>
                    <a:lnTo>
                      <a:pt x="229458" y="284480"/>
                    </a:lnTo>
                    <a:lnTo>
                      <a:pt x="229273" y="283210"/>
                    </a:lnTo>
                    <a:lnTo>
                      <a:pt x="232228" y="278592"/>
                    </a:lnTo>
                    <a:close/>
                  </a:path>
                  <a:path w="2992754" h="304800">
                    <a:moveTo>
                      <a:pt x="14681" y="267969"/>
                    </a:moveTo>
                    <a:lnTo>
                      <a:pt x="16687" y="280669"/>
                    </a:lnTo>
                    <a:lnTo>
                      <a:pt x="18881" y="284877"/>
                    </a:lnTo>
                    <a:lnTo>
                      <a:pt x="17335" y="280669"/>
                    </a:lnTo>
                    <a:lnTo>
                      <a:pt x="19494" y="275589"/>
                    </a:lnTo>
                    <a:lnTo>
                      <a:pt x="19816" y="275450"/>
                    </a:lnTo>
                    <a:lnTo>
                      <a:pt x="15519" y="273050"/>
                    </a:lnTo>
                    <a:lnTo>
                      <a:pt x="14681" y="267969"/>
                    </a:lnTo>
                    <a:close/>
                  </a:path>
                  <a:path w="2992754" h="304800">
                    <a:moveTo>
                      <a:pt x="37973" y="283210"/>
                    </a:moveTo>
                    <a:lnTo>
                      <a:pt x="37325" y="283210"/>
                    </a:lnTo>
                    <a:lnTo>
                      <a:pt x="38441" y="284436"/>
                    </a:lnTo>
                    <a:lnTo>
                      <a:pt x="39177" y="283778"/>
                    </a:lnTo>
                    <a:lnTo>
                      <a:pt x="37973" y="283210"/>
                    </a:lnTo>
                    <a:close/>
                  </a:path>
                  <a:path w="2992754" h="304800">
                    <a:moveTo>
                      <a:pt x="35064" y="279400"/>
                    </a:moveTo>
                    <a:lnTo>
                      <a:pt x="32829" y="279400"/>
                    </a:lnTo>
                    <a:lnTo>
                      <a:pt x="36443" y="282725"/>
                    </a:lnTo>
                    <a:lnTo>
                      <a:pt x="36161" y="281923"/>
                    </a:lnTo>
                    <a:lnTo>
                      <a:pt x="35521" y="280669"/>
                    </a:lnTo>
                    <a:lnTo>
                      <a:pt x="35064" y="279400"/>
                    </a:lnTo>
                    <a:close/>
                  </a:path>
                  <a:path w="2992754" h="304800">
                    <a:moveTo>
                      <a:pt x="32639" y="269401"/>
                    </a:moveTo>
                    <a:lnTo>
                      <a:pt x="30454" y="272897"/>
                    </a:lnTo>
                    <a:lnTo>
                      <a:pt x="33235" y="274319"/>
                    </a:lnTo>
                    <a:lnTo>
                      <a:pt x="35521" y="280669"/>
                    </a:lnTo>
                    <a:lnTo>
                      <a:pt x="36161" y="281923"/>
                    </a:lnTo>
                    <a:lnTo>
                      <a:pt x="34378" y="276860"/>
                    </a:lnTo>
                    <a:lnTo>
                      <a:pt x="33020" y="271780"/>
                    </a:lnTo>
                    <a:lnTo>
                      <a:pt x="32639" y="269401"/>
                    </a:lnTo>
                    <a:close/>
                  </a:path>
                  <a:path w="2992754" h="304800">
                    <a:moveTo>
                      <a:pt x="483450" y="252730"/>
                    </a:moveTo>
                    <a:lnTo>
                      <a:pt x="478472" y="252730"/>
                    </a:lnTo>
                    <a:lnTo>
                      <a:pt x="403171" y="260350"/>
                    </a:lnTo>
                    <a:lnTo>
                      <a:pt x="383450" y="262022"/>
                    </a:lnTo>
                    <a:lnTo>
                      <a:pt x="387324" y="265430"/>
                    </a:lnTo>
                    <a:lnTo>
                      <a:pt x="388239" y="275589"/>
                    </a:lnTo>
                    <a:lnTo>
                      <a:pt x="384644" y="279400"/>
                    </a:lnTo>
                    <a:lnTo>
                      <a:pt x="374543" y="280363"/>
                    </a:lnTo>
                    <a:lnTo>
                      <a:pt x="374891" y="280669"/>
                    </a:lnTo>
                    <a:lnTo>
                      <a:pt x="379768" y="280669"/>
                    </a:lnTo>
                    <a:lnTo>
                      <a:pt x="454884" y="273050"/>
                    </a:lnTo>
                    <a:lnTo>
                      <a:pt x="474530" y="271388"/>
                    </a:lnTo>
                    <a:lnTo>
                      <a:pt x="470611" y="267969"/>
                    </a:lnTo>
                    <a:lnTo>
                      <a:pt x="469773" y="257810"/>
                    </a:lnTo>
                    <a:lnTo>
                      <a:pt x="473456" y="254000"/>
                    </a:lnTo>
                    <a:lnTo>
                      <a:pt x="483810" y="253044"/>
                    </a:lnTo>
                    <a:lnTo>
                      <a:pt x="483450" y="252730"/>
                    </a:lnTo>
                    <a:close/>
                  </a:path>
                  <a:path w="2992754" h="304800">
                    <a:moveTo>
                      <a:pt x="383450" y="262022"/>
                    </a:moveTo>
                    <a:lnTo>
                      <a:pt x="373214" y="262889"/>
                    </a:lnTo>
                    <a:lnTo>
                      <a:pt x="369633" y="266700"/>
                    </a:lnTo>
                    <a:lnTo>
                      <a:pt x="370573" y="276860"/>
                    </a:lnTo>
                    <a:lnTo>
                      <a:pt x="374543" y="280363"/>
                    </a:lnTo>
                    <a:lnTo>
                      <a:pt x="384644" y="279400"/>
                    </a:lnTo>
                    <a:lnTo>
                      <a:pt x="388239" y="275589"/>
                    </a:lnTo>
                    <a:lnTo>
                      <a:pt x="387324" y="265430"/>
                    </a:lnTo>
                    <a:lnTo>
                      <a:pt x="383450" y="262022"/>
                    </a:lnTo>
                    <a:close/>
                  </a:path>
                  <a:path w="2992754" h="304800">
                    <a:moveTo>
                      <a:pt x="238854" y="277684"/>
                    </a:moveTo>
                    <a:lnTo>
                      <a:pt x="232524" y="278130"/>
                    </a:lnTo>
                    <a:lnTo>
                      <a:pt x="232228" y="278592"/>
                    </a:lnTo>
                    <a:lnTo>
                      <a:pt x="237185" y="278130"/>
                    </a:lnTo>
                    <a:lnTo>
                      <a:pt x="238854" y="277684"/>
                    </a:lnTo>
                    <a:close/>
                  </a:path>
                  <a:path w="2992754" h="304800">
                    <a:moveTo>
                      <a:pt x="241947" y="276860"/>
                    </a:moveTo>
                    <a:lnTo>
                      <a:pt x="238854" y="277684"/>
                    </a:lnTo>
                    <a:lnTo>
                      <a:pt x="242579" y="277422"/>
                    </a:lnTo>
                    <a:lnTo>
                      <a:pt x="241947" y="276860"/>
                    </a:lnTo>
                    <a:close/>
                  </a:path>
                  <a:path w="2992754" h="304800">
                    <a:moveTo>
                      <a:pt x="28270" y="271780"/>
                    </a:moveTo>
                    <a:lnTo>
                      <a:pt x="19816" y="275450"/>
                    </a:lnTo>
                    <a:lnTo>
                      <a:pt x="20066" y="275589"/>
                    </a:lnTo>
                    <a:lnTo>
                      <a:pt x="29565" y="274319"/>
                    </a:lnTo>
                    <a:lnTo>
                      <a:pt x="30454" y="272897"/>
                    </a:lnTo>
                    <a:lnTo>
                      <a:pt x="28270" y="271780"/>
                    </a:lnTo>
                    <a:close/>
                  </a:path>
                  <a:path w="2992754" h="304800">
                    <a:moveTo>
                      <a:pt x="26682" y="256539"/>
                    </a:moveTo>
                    <a:lnTo>
                      <a:pt x="17119" y="259080"/>
                    </a:lnTo>
                    <a:lnTo>
                      <a:pt x="13881" y="262889"/>
                    </a:lnTo>
                    <a:lnTo>
                      <a:pt x="15519" y="273050"/>
                    </a:lnTo>
                    <a:lnTo>
                      <a:pt x="19816" y="275450"/>
                    </a:lnTo>
                    <a:lnTo>
                      <a:pt x="28270" y="271780"/>
                    </a:lnTo>
                    <a:lnTo>
                      <a:pt x="31153" y="271780"/>
                    </a:lnTo>
                    <a:lnTo>
                      <a:pt x="32639" y="269401"/>
                    </a:lnTo>
                    <a:lnTo>
                      <a:pt x="32105" y="266064"/>
                    </a:lnTo>
                    <a:lnTo>
                      <a:pt x="31978" y="265430"/>
                    </a:lnTo>
                    <a:lnTo>
                      <a:pt x="31191" y="260350"/>
                    </a:lnTo>
                    <a:lnTo>
                      <a:pt x="26682" y="256539"/>
                    </a:lnTo>
                    <a:close/>
                  </a:path>
                  <a:path w="2992754" h="304800">
                    <a:moveTo>
                      <a:pt x="31153" y="271780"/>
                    </a:moveTo>
                    <a:lnTo>
                      <a:pt x="28270" y="271780"/>
                    </a:lnTo>
                    <a:lnTo>
                      <a:pt x="30454" y="272897"/>
                    </a:lnTo>
                    <a:lnTo>
                      <a:pt x="31153" y="271780"/>
                    </a:lnTo>
                    <a:close/>
                  </a:path>
                  <a:path w="2992754" h="304800">
                    <a:moveTo>
                      <a:pt x="293572" y="271061"/>
                    </a:moveTo>
                    <a:lnTo>
                      <a:pt x="286054" y="271780"/>
                    </a:lnTo>
                    <a:lnTo>
                      <a:pt x="285726" y="272263"/>
                    </a:lnTo>
                    <a:lnTo>
                      <a:pt x="290842" y="271780"/>
                    </a:lnTo>
                    <a:lnTo>
                      <a:pt x="293572" y="271061"/>
                    </a:lnTo>
                    <a:close/>
                  </a:path>
                  <a:path w="2992754" h="304800">
                    <a:moveTo>
                      <a:pt x="542239" y="247650"/>
                    </a:moveTo>
                    <a:lnTo>
                      <a:pt x="483810" y="253044"/>
                    </a:lnTo>
                    <a:lnTo>
                      <a:pt x="487807" y="256539"/>
                    </a:lnTo>
                    <a:lnTo>
                      <a:pt x="488619" y="266700"/>
                    </a:lnTo>
                    <a:lnTo>
                      <a:pt x="484911" y="270510"/>
                    </a:lnTo>
                    <a:lnTo>
                      <a:pt x="474530" y="271388"/>
                    </a:lnTo>
                    <a:lnTo>
                      <a:pt x="474980" y="271780"/>
                    </a:lnTo>
                    <a:lnTo>
                      <a:pt x="479933" y="271780"/>
                    </a:lnTo>
                    <a:lnTo>
                      <a:pt x="538759" y="266700"/>
                    </a:lnTo>
                    <a:lnTo>
                      <a:pt x="533730" y="266700"/>
                    </a:lnTo>
                    <a:lnTo>
                      <a:pt x="529310" y="262889"/>
                    </a:lnTo>
                    <a:lnTo>
                      <a:pt x="528408" y="252730"/>
                    </a:lnTo>
                    <a:lnTo>
                      <a:pt x="532130" y="248919"/>
                    </a:lnTo>
                    <a:lnTo>
                      <a:pt x="542494" y="247869"/>
                    </a:lnTo>
                    <a:lnTo>
                      <a:pt x="542239" y="247650"/>
                    </a:lnTo>
                    <a:close/>
                  </a:path>
                  <a:path w="2992754" h="304800">
                    <a:moveTo>
                      <a:pt x="483810" y="253044"/>
                    </a:moveTo>
                    <a:lnTo>
                      <a:pt x="473456" y="254000"/>
                    </a:lnTo>
                    <a:lnTo>
                      <a:pt x="469773" y="257810"/>
                    </a:lnTo>
                    <a:lnTo>
                      <a:pt x="470611" y="267969"/>
                    </a:lnTo>
                    <a:lnTo>
                      <a:pt x="474530" y="271388"/>
                    </a:lnTo>
                    <a:lnTo>
                      <a:pt x="484911" y="270510"/>
                    </a:lnTo>
                    <a:lnTo>
                      <a:pt x="488619" y="266700"/>
                    </a:lnTo>
                    <a:lnTo>
                      <a:pt x="487807" y="256539"/>
                    </a:lnTo>
                    <a:lnTo>
                      <a:pt x="483810" y="253044"/>
                    </a:lnTo>
                    <a:close/>
                  </a:path>
                  <a:path w="2992754" h="304800">
                    <a:moveTo>
                      <a:pt x="295668" y="270510"/>
                    </a:moveTo>
                    <a:lnTo>
                      <a:pt x="293572" y="271061"/>
                    </a:lnTo>
                    <a:lnTo>
                      <a:pt x="296028" y="270827"/>
                    </a:lnTo>
                    <a:lnTo>
                      <a:pt x="295668" y="270510"/>
                    </a:lnTo>
                    <a:close/>
                  </a:path>
                  <a:path w="2992754" h="304800">
                    <a:moveTo>
                      <a:pt x="32105" y="266064"/>
                    </a:moveTo>
                    <a:lnTo>
                      <a:pt x="32639" y="269401"/>
                    </a:lnTo>
                    <a:lnTo>
                      <a:pt x="32740" y="269239"/>
                    </a:lnTo>
                    <a:lnTo>
                      <a:pt x="32105" y="266064"/>
                    </a:lnTo>
                    <a:close/>
                  </a:path>
                  <a:path w="2992754" h="304800">
                    <a:moveTo>
                      <a:pt x="10512" y="233648"/>
                    </a:moveTo>
                    <a:lnTo>
                      <a:pt x="11162" y="241300"/>
                    </a:lnTo>
                    <a:lnTo>
                      <a:pt x="12178" y="250650"/>
                    </a:lnTo>
                    <a:lnTo>
                      <a:pt x="13260" y="259080"/>
                    </a:lnTo>
                    <a:lnTo>
                      <a:pt x="14681" y="267969"/>
                    </a:lnTo>
                    <a:lnTo>
                      <a:pt x="13881" y="262889"/>
                    </a:lnTo>
                    <a:lnTo>
                      <a:pt x="17119" y="259080"/>
                    </a:lnTo>
                    <a:lnTo>
                      <a:pt x="26682" y="256539"/>
                    </a:lnTo>
                    <a:lnTo>
                      <a:pt x="30705" y="256539"/>
                    </a:lnTo>
                    <a:lnTo>
                      <a:pt x="29671" y="247650"/>
                    </a:lnTo>
                    <a:lnTo>
                      <a:pt x="28922" y="240030"/>
                    </a:lnTo>
                    <a:lnTo>
                      <a:pt x="15087" y="240030"/>
                    </a:lnTo>
                    <a:lnTo>
                      <a:pt x="10756" y="236219"/>
                    </a:lnTo>
                    <a:lnTo>
                      <a:pt x="10512" y="233648"/>
                    </a:lnTo>
                    <a:close/>
                  </a:path>
                  <a:path w="2992754" h="304800">
                    <a:moveTo>
                      <a:pt x="542494" y="247869"/>
                    </a:moveTo>
                    <a:lnTo>
                      <a:pt x="532130" y="248919"/>
                    </a:lnTo>
                    <a:lnTo>
                      <a:pt x="528408" y="252730"/>
                    </a:lnTo>
                    <a:lnTo>
                      <a:pt x="529310" y="262889"/>
                    </a:lnTo>
                    <a:lnTo>
                      <a:pt x="533730" y="266700"/>
                    </a:lnTo>
                    <a:lnTo>
                      <a:pt x="538746" y="266700"/>
                    </a:lnTo>
                    <a:lnTo>
                      <a:pt x="543788" y="265430"/>
                    </a:lnTo>
                    <a:lnTo>
                      <a:pt x="547522" y="261619"/>
                    </a:lnTo>
                    <a:lnTo>
                      <a:pt x="546671" y="251460"/>
                    </a:lnTo>
                    <a:lnTo>
                      <a:pt x="542494" y="247869"/>
                    </a:lnTo>
                    <a:close/>
                  </a:path>
                  <a:path w="2992754" h="304800">
                    <a:moveTo>
                      <a:pt x="564756" y="245859"/>
                    </a:moveTo>
                    <a:lnTo>
                      <a:pt x="559615" y="246380"/>
                    </a:lnTo>
                    <a:lnTo>
                      <a:pt x="552137" y="246380"/>
                    </a:lnTo>
                    <a:lnTo>
                      <a:pt x="544656" y="247650"/>
                    </a:lnTo>
                    <a:lnTo>
                      <a:pt x="542494" y="247869"/>
                    </a:lnTo>
                    <a:lnTo>
                      <a:pt x="546671" y="251460"/>
                    </a:lnTo>
                    <a:lnTo>
                      <a:pt x="547522" y="261619"/>
                    </a:lnTo>
                    <a:lnTo>
                      <a:pt x="543788" y="265430"/>
                    </a:lnTo>
                    <a:lnTo>
                      <a:pt x="538746" y="266700"/>
                    </a:lnTo>
                    <a:lnTo>
                      <a:pt x="546357" y="265430"/>
                    </a:lnTo>
                    <a:lnTo>
                      <a:pt x="553951" y="265430"/>
                    </a:lnTo>
                    <a:lnTo>
                      <a:pt x="561540" y="264160"/>
                    </a:lnTo>
                    <a:lnTo>
                      <a:pt x="563811" y="263931"/>
                    </a:lnTo>
                    <a:lnTo>
                      <a:pt x="559549" y="260350"/>
                    </a:lnTo>
                    <a:lnTo>
                      <a:pt x="558406" y="250189"/>
                    </a:lnTo>
                    <a:lnTo>
                      <a:pt x="562038" y="246380"/>
                    </a:lnTo>
                    <a:lnTo>
                      <a:pt x="564756" y="245859"/>
                    </a:lnTo>
                    <a:close/>
                  </a:path>
                  <a:path w="2992754" h="304800">
                    <a:moveTo>
                      <a:pt x="31762" y="263918"/>
                    </a:moveTo>
                    <a:lnTo>
                      <a:pt x="31978" y="265430"/>
                    </a:lnTo>
                    <a:lnTo>
                      <a:pt x="32105" y="266064"/>
                    </a:lnTo>
                    <a:lnTo>
                      <a:pt x="31762" y="263918"/>
                    </a:lnTo>
                    <a:close/>
                  </a:path>
                  <a:path w="2992754" h="304800">
                    <a:moveTo>
                      <a:pt x="565773" y="263734"/>
                    </a:moveTo>
                    <a:lnTo>
                      <a:pt x="563811" y="263931"/>
                    </a:lnTo>
                    <a:lnTo>
                      <a:pt x="564083" y="264160"/>
                    </a:lnTo>
                    <a:lnTo>
                      <a:pt x="565773" y="263734"/>
                    </a:lnTo>
                    <a:close/>
                  </a:path>
                  <a:path w="2992754" h="304800">
                    <a:moveTo>
                      <a:pt x="572160" y="245110"/>
                    </a:moveTo>
                    <a:lnTo>
                      <a:pt x="564756" y="245859"/>
                    </a:lnTo>
                    <a:lnTo>
                      <a:pt x="562038" y="246380"/>
                    </a:lnTo>
                    <a:lnTo>
                      <a:pt x="558406" y="250189"/>
                    </a:lnTo>
                    <a:lnTo>
                      <a:pt x="559549" y="260350"/>
                    </a:lnTo>
                    <a:lnTo>
                      <a:pt x="563811" y="263931"/>
                    </a:lnTo>
                    <a:lnTo>
                      <a:pt x="565773" y="263734"/>
                    </a:lnTo>
                    <a:lnTo>
                      <a:pt x="569125" y="262889"/>
                    </a:lnTo>
                    <a:lnTo>
                      <a:pt x="574167" y="262889"/>
                    </a:lnTo>
                    <a:lnTo>
                      <a:pt x="577811" y="257810"/>
                    </a:lnTo>
                    <a:lnTo>
                      <a:pt x="576707" y="247650"/>
                    </a:lnTo>
                    <a:lnTo>
                      <a:pt x="572160" y="245110"/>
                    </a:lnTo>
                    <a:close/>
                  </a:path>
                  <a:path w="2992754" h="304800">
                    <a:moveTo>
                      <a:pt x="30705" y="256539"/>
                    </a:moveTo>
                    <a:lnTo>
                      <a:pt x="26682" y="256539"/>
                    </a:lnTo>
                    <a:lnTo>
                      <a:pt x="31191" y="260350"/>
                    </a:lnTo>
                    <a:lnTo>
                      <a:pt x="31762" y="263918"/>
                    </a:lnTo>
                    <a:lnTo>
                      <a:pt x="30705" y="256539"/>
                    </a:lnTo>
                    <a:close/>
                  </a:path>
                  <a:path w="2992754" h="304800">
                    <a:moveTo>
                      <a:pt x="574167" y="262889"/>
                    </a:moveTo>
                    <a:lnTo>
                      <a:pt x="569125" y="262889"/>
                    </a:lnTo>
                    <a:lnTo>
                      <a:pt x="565773" y="263734"/>
                    </a:lnTo>
                    <a:lnTo>
                      <a:pt x="574167" y="262889"/>
                    </a:lnTo>
                    <a:close/>
                  </a:path>
                  <a:path w="2992754" h="304800">
                    <a:moveTo>
                      <a:pt x="592178" y="245110"/>
                    </a:moveTo>
                    <a:lnTo>
                      <a:pt x="572160" y="245110"/>
                    </a:lnTo>
                    <a:lnTo>
                      <a:pt x="576707" y="247650"/>
                    </a:lnTo>
                    <a:lnTo>
                      <a:pt x="577811" y="257810"/>
                    </a:lnTo>
                    <a:lnTo>
                      <a:pt x="574167" y="262889"/>
                    </a:lnTo>
                    <a:lnTo>
                      <a:pt x="577426" y="262889"/>
                    </a:lnTo>
                    <a:lnTo>
                      <a:pt x="594010" y="260350"/>
                    </a:lnTo>
                    <a:lnTo>
                      <a:pt x="596919" y="260073"/>
                    </a:lnTo>
                    <a:lnTo>
                      <a:pt x="592620" y="256539"/>
                    </a:lnTo>
                    <a:lnTo>
                      <a:pt x="591286" y="246380"/>
                    </a:lnTo>
                    <a:lnTo>
                      <a:pt x="592178" y="245110"/>
                    </a:lnTo>
                    <a:close/>
                  </a:path>
                  <a:path w="2992754" h="304800">
                    <a:moveTo>
                      <a:pt x="599223" y="259854"/>
                    </a:moveTo>
                    <a:lnTo>
                      <a:pt x="596919" y="260073"/>
                    </a:lnTo>
                    <a:lnTo>
                      <a:pt x="597255" y="260350"/>
                    </a:lnTo>
                    <a:lnTo>
                      <a:pt x="599223" y="259854"/>
                    </a:lnTo>
                    <a:close/>
                  </a:path>
                  <a:path w="2992754" h="304800">
                    <a:moveTo>
                      <a:pt x="605002" y="240030"/>
                    </a:moveTo>
                    <a:lnTo>
                      <a:pt x="594311" y="242073"/>
                    </a:lnTo>
                    <a:lnTo>
                      <a:pt x="591286" y="246380"/>
                    </a:lnTo>
                    <a:lnTo>
                      <a:pt x="592620" y="256539"/>
                    </a:lnTo>
                    <a:lnTo>
                      <a:pt x="596919" y="260073"/>
                    </a:lnTo>
                    <a:lnTo>
                      <a:pt x="599223" y="259854"/>
                    </a:lnTo>
                    <a:lnTo>
                      <a:pt x="602297" y="259080"/>
                    </a:lnTo>
                    <a:lnTo>
                      <a:pt x="607741" y="258545"/>
                    </a:lnTo>
                    <a:lnTo>
                      <a:pt x="610946" y="254000"/>
                    </a:lnTo>
                    <a:lnTo>
                      <a:pt x="609638" y="243839"/>
                    </a:lnTo>
                    <a:lnTo>
                      <a:pt x="606547" y="241300"/>
                    </a:lnTo>
                    <a:lnTo>
                      <a:pt x="599909" y="241300"/>
                    </a:lnTo>
                    <a:lnTo>
                      <a:pt x="605833" y="240713"/>
                    </a:lnTo>
                    <a:lnTo>
                      <a:pt x="605002" y="240030"/>
                    </a:lnTo>
                    <a:close/>
                  </a:path>
                  <a:path w="2992754" h="304800">
                    <a:moveTo>
                      <a:pt x="607741" y="258545"/>
                    </a:moveTo>
                    <a:lnTo>
                      <a:pt x="602297" y="259080"/>
                    </a:lnTo>
                    <a:lnTo>
                      <a:pt x="599223" y="259854"/>
                    </a:lnTo>
                    <a:lnTo>
                      <a:pt x="607364" y="259080"/>
                    </a:lnTo>
                    <a:lnTo>
                      <a:pt x="607741" y="258545"/>
                    </a:lnTo>
                    <a:close/>
                  </a:path>
                  <a:path w="2992754" h="304800">
                    <a:moveTo>
                      <a:pt x="656183" y="232410"/>
                    </a:moveTo>
                    <a:lnTo>
                      <a:pt x="638330" y="234950"/>
                    </a:lnTo>
                    <a:lnTo>
                      <a:pt x="612731" y="240030"/>
                    </a:lnTo>
                    <a:lnTo>
                      <a:pt x="605833" y="240713"/>
                    </a:lnTo>
                    <a:lnTo>
                      <a:pt x="609638" y="243839"/>
                    </a:lnTo>
                    <a:lnTo>
                      <a:pt x="610946" y="254000"/>
                    </a:lnTo>
                    <a:lnTo>
                      <a:pt x="607741" y="258545"/>
                    </a:lnTo>
                    <a:lnTo>
                      <a:pt x="615240" y="257810"/>
                    </a:lnTo>
                    <a:lnTo>
                      <a:pt x="628165" y="255269"/>
                    </a:lnTo>
                    <a:lnTo>
                      <a:pt x="641079" y="254000"/>
                    </a:lnTo>
                    <a:lnTo>
                      <a:pt x="650066" y="252730"/>
                    </a:lnTo>
                    <a:lnTo>
                      <a:pt x="648919" y="252730"/>
                    </a:lnTo>
                    <a:lnTo>
                      <a:pt x="644169" y="248919"/>
                    </a:lnTo>
                    <a:lnTo>
                      <a:pt x="642581" y="238760"/>
                    </a:lnTo>
                    <a:lnTo>
                      <a:pt x="646049" y="234950"/>
                    </a:lnTo>
                    <a:lnTo>
                      <a:pt x="657118" y="233159"/>
                    </a:lnTo>
                    <a:lnTo>
                      <a:pt x="656183" y="232410"/>
                    </a:lnTo>
                    <a:close/>
                  </a:path>
                  <a:path w="2992754" h="304800">
                    <a:moveTo>
                      <a:pt x="657118" y="233159"/>
                    </a:moveTo>
                    <a:lnTo>
                      <a:pt x="646049" y="234950"/>
                    </a:lnTo>
                    <a:lnTo>
                      <a:pt x="642581" y="238760"/>
                    </a:lnTo>
                    <a:lnTo>
                      <a:pt x="644169" y="248919"/>
                    </a:lnTo>
                    <a:lnTo>
                      <a:pt x="648919" y="252730"/>
                    </a:lnTo>
                    <a:lnTo>
                      <a:pt x="653986" y="251460"/>
                    </a:lnTo>
                    <a:lnTo>
                      <a:pt x="659606" y="250650"/>
                    </a:lnTo>
                    <a:lnTo>
                      <a:pt x="662520" y="246380"/>
                    </a:lnTo>
                    <a:lnTo>
                      <a:pt x="660933" y="236219"/>
                    </a:lnTo>
                    <a:lnTo>
                      <a:pt x="657118" y="233159"/>
                    </a:lnTo>
                    <a:close/>
                  </a:path>
                  <a:path w="2992754" h="304800">
                    <a:moveTo>
                      <a:pt x="659606" y="250650"/>
                    </a:moveTo>
                    <a:lnTo>
                      <a:pt x="653986" y="251460"/>
                    </a:lnTo>
                    <a:lnTo>
                      <a:pt x="648919" y="252730"/>
                    </a:lnTo>
                    <a:lnTo>
                      <a:pt x="650066" y="252730"/>
                    </a:lnTo>
                    <a:lnTo>
                      <a:pt x="659053" y="251460"/>
                    </a:lnTo>
                    <a:lnTo>
                      <a:pt x="659606" y="250650"/>
                    </a:lnTo>
                    <a:close/>
                  </a:path>
                  <a:path w="2992754" h="304800">
                    <a:moveTo>
                      <a:pt x="698597" y="226217"/>
                    </a:moveTo>
                    <a:lnTo>
                      <a:pt x="690619" y="227330"/>
                    </a:lnTo>
                    <a:lnTo>
                      <a:pt x="677457" y="229869"/>
                    </a:lnTo>
                    <a:lnTo>
                      <a:pt x="657118" y="233159"/>
                    </a:lnTo>
                    <a:lnTo>
                      <a:pt x="660933" y="236219"/>
                    </a:lnTo>
                    <a:lnTo>
                      <a:pt x="662520" y="246380"/>
                    </a:lnTo>
                    <a:lnTo>
                      <a:pt x="659606" y="250650"/>
                    </a:lnTo>
                    <a:lnTo>
                      <a:pt x="680435" y="247650"/>
                    </a:lnTo>
                    <a:lnTo>
                      <a:pt x="693650" y="245110"/>
                    </a:lnTo>
                    <a:lnTo>
                      <a:pt x="702787" y="243839"/>
                    </a:lnTo>
                    <a:lnTo>
                      <a:pt x="701789" y="243839"/>
                    </a:lnTo>
                    <a:lnTo>
                      <a:pt x="697001" y="241300"/>
                    </a:lnTo>
                    <a:lnTo>
                      <a:pt x="695286" y="231139"/>
                    </a:lnTo>
                    <a:lnTo>
                      <a:pt x="698597" y="226217"/>
                    </a:lnTo>
                    <a:close/>
                  </a:path>
                  <a:path w="2992754" h="304800">
                    <a:moveTo>
                      <a:pt x="594311" y="242073"/>
                    </a:moveTo>
                    <a:lnTo>
                      <a:pt x="591714" y="242569"/>
                    </a:lnTo>
                    <a:lnTo>
                      <a:pt x="583511" y="243839"/>
                    </a:lnTo>
                    <a:lnTo>
                      <a:pt x="575303" y="243839"/>
                    </a:lnTo>
                    <a:lnTo>
                      <a:pt x="564756" y="245859"/>
                    </a:lnTo>
                    <a:lnTo>
                      <a:pt x="572160" y="245110"/>
                    </a:lnTo>
                    <a:lnTo>
                      <a:pt x="592178" y="245110"/>
                    </a:lnTo>
                    <a:lnTo>
                      <a:pt x="594311" y="242073"/>
                    </a:lnTo>
                    <a:close/>
                  </a:path>
                  <a:path w="2992754" h="304800">
                    <a:moveTo>
                      <a:pt x="708837" y="224789"/>
                    </a:moveTo>
                    <a:lnTo>
                      <a:pt x="698597" y="226217"/>
                    </a:lnTo>
                    <a:lnTo>
                      <a:pt x="695286" y="231139"/>
                    </a:lnTo>
                    <a:lnTo>
                      <a:pt x="697001" y="241300"/>
                    </a:lnTo>
                    <a:lnTo>
                      <a:pt x="701789" y="243839"/>
                    </a:lnTo>
                    <a:lnTo>
                      <a:pt x="702787" y="243839"/>
                    </a:lnTo>
                    <a:lnTo>
                      <a:pt x="711923" y="242569"/>
                    </a:lnTo>
                    <a:lnTo>
                      <a:pt x="715340" y="237489"/>
                    </a:lnTo>
                    <a:lnTo>
                      <a:pt x="713638" y="227330"/>
                    </a:lnTo>
                    <a:lnTo>
                      <a:pt x="708837" y="224789"/>
                    </a:lnTo>
                    <a:close/>
                  </a:path>
                  <a:path w="2992754" h="304800">
                    <a:moveTo>
                      <a:pt x="749239" y="224789"/>
                    </a:moveTo>
                    <a:lnTo>
                      <a:pt x="708837" y="224789"/>
                    </a:lnTo>
                    <a:lnTo>
                      <a:pt x="713638" y="227330"/>
                    </a:lnTo>
                    <a:lnTo>
                      <a:pt x="715340" y="237489"/>
                    </a:lnTo>
                    <a:lnTo>
                      <a:pt x="711923" y="242569"/>
                    </a:lnTo>
                    <a:lnTo>
                      <a:pt x="702787" y="243839"/>
                    </a:lnTo>
                    <a:lnTo>
                      <a:pt x="706856" y="243839"/>
                    </a:lnTo>
                    <a:lnTo>
                      <a:pt x="733518" y="238760"/>
                    </a:lnTo>
                    <a:lnTo>
                      <a:pt x="746863" y="237489"/>
                    </a:lnTo>
                    <a:lnTo>
                      <a:pt x="756082" y="236219"/>
                    </a:lnTo>
                    <a:lnTo>
                      <a:pt x="755129" y="236219"/>
                    </a:lnTo>
                    <a:lnTo>
                      <a:pt x="750392" y="232410"/>
                    </a:lnTo>
                    <a:lnTo>
                      <a:pt x="749239" y="224789"/>
                    </a:lnTo>
                    <a:close/>
                  </a:path>
                  <a:path w="2992754" h="304800">
                    <a:moveTo>
                      <a:pt x="598358" y="241300"/>
                    </a:moveTo>
                    <a:lnTo>
                      <a:pt x="594855" y="241300"/>
                    </a:lnTo>
                    <a:lnTo>
                      <a:pt x="594311" y="242073"/>
                    </a:lnTo>
                    <a:lnTo>
                      <a:pt x="598358" y="241300"/>
                    </a:lnTo>
                    <a:close/>
                  </a:path>
                  <a:path w="2992754" h="304800">
                    <a:moveTo>
                      <a:pt x="605833" y="240713"/>
                    </a:moveTo>
                    <a:lnTo>
                      <a:pt x="599909" y="241300"/>
                    </a:lnTo>
                    <a:lnTo>
                      <a:pt x="606547" y="241300"/>
                    </a:lnTo>
                    <a:lnTo>
                      <a:pt x="605833" y="240713"/>
                    </a:lnTo>
                    <a:close/>
                  </a:path>
                  <a:path w="2992754" h="304800">
                    <a:moveTo>
                      <a:pt x="23241" y="220980"/>
                    </a:moveTo>
                    <a:lnTo>
                      <a:pt x="13462" y="222250"/>
                    </a:lnTo>
                    <a:lnTo>
                      <a:pt x="9906" y="227258"/>
                    </a:lnTo>
                    <a:lnTo>
                      <a:pt x="10165" y="229992"/>
                    </a:lnTo>
                    <a:lnTo>
                      <a:pt x="10299" y="231139"/>
                    </a:lnTo>
                    <a:lnTo>
                      <a:pt x="10756" y="236219"/>
                    </a:lnTo>
                    <a:lnTo>
                      <a:pt x="15087" y="240030"/>
                    </a:lnTo>
                    <a:lnTo>
                      <a:pt x="24841" y="238760"/>
                    </a:lnTo>
                    <a:lnTo>
                      <a:pt x="28435" y="234950"/>
                    </a:lnTo>
                    <a:lnTo>
                      <a:pt x="27495" y="224733"/>
                    </a:lnTo>
                    <a:lnTo>
                      <a:pt x="23241" y="220980"/>
                    </a:lnTo>
                    <a:close/>
                  </a:path>
                  <a:path w="2992754" h="304800">
                    <a:moveTo>
                      <a:pt x="27495" y="224733"/>
                    </a:moveTo>
                    <a:lnTo>
                      <a:pt x="28435" y="234950"/>
                    </a:lnTo>
                    <a:lnTo>
                      <a:pt x="24841" y="238760"/>
                    </a:lnTo>
                    <a:lnTo>
                      <a:pt x="15087" y="240030"/>
                    </a:lnTo>
                    <a:lnTo>
                      <a:pt x="28922" y="240030"/>
                    </a:lnTo>
                    <a:lnTo>
                      <a:pt x="27559" y="224789"/>
                    </a:lnTo>
                    <a:close/>
                  </a:path>
                  <a:path w="2992754" h="304800">
                    <a:moveTo>
                      <a:pt x="762533" y="215900"/>
                    </a:moveTo>
                    <a:lnTo>
                      <a:pt x="752251" y="217309"/>
                    </a:lnTo>
                    <a:lnTo>
                      <a:pt x="748855" y="222250"/>
                    </a:lnTo>
                    <a:lnTo>
                      <a:pt x="750392" y="232410"/>
                    </a:lnTo>
                    <a:lnTo>
                      <a:pt x="755129" y="236219"/>
                    </a:lnTo>
                    <a:lnTo>
                      <a:pt x="760209" y="234950"/>
                    </a:lnTo>
                    <a:lnTo>
                      <a:pt x="765877" y="234115"/>
                    </a:lnTo>
                    <a:lnTo>
                      <a:pt x="768807" y="229869"/>
                    </a:lnTo>
                    <a:lnTo>
                      <a:pt x="767283" y="219710"/>
                    </a:lnTo>
                    <a:lnTo>
                      <a:pt x="764116" y="217169"/>
                    </a:lnTo>
                    <a:lnTo>
                      <a:pt x="757440" y="217169"/>
                    </a:lnTo>
                    <a:lnTo>
                      <a:pt x="763088" y="216344"/>
                    </a:lnTo>
                    <a:lnTo>
                      <a:pt x="762533" y="215900"/>
                    </a:lnTo>
                    <a:close/>
                  </a:path>
                  <a:path w="2992754" h="304800">
                    <a:moveTo>
                      <a:pt x="765877" y="234115"/>
                    </a:moveTo>
                    <a:lnTo>
                      <a:pt x="760209" y="234950"/>
                    </a:lnTo>
                    <a:lnTo>
                      <a:pt x="755129" y="236219"/>
                    </a:lnTo>
                    <a:lnTo>
                      <a:pt x="756082" y="236219"/>
                    </a:lnTo>
                    <a:lnTo>
                      <a:pt x="765302" y="234950"/>
                    </a:lnTo>
                    <a:lnTo>
                      <a:pt x="765877" y="234115"/>
                    </a:lnTo>
                    <a:close/>
                  </a:path>
                  <a:path w="2992754" h="304800">
                    <a:moveTo>
                      <a:pt x="830938" y="207010"/>
                    </a:moveTo>
                    <a:lnTo>
                      <a:pt x="826985" y="207010"/>
                    </a:lnTo>
                    <a:lnTo>
                      <a:pt x="763088" y="216344"/>
                    </a:lnTo>
                    <a:lnTo>
                      <a:pt x="767283" y="219710"/>
                    </a:lnTo>
                    <a:lnTo>
                      <a:pt x="768807" y="229869"/>
                    </a:lnTo>
                    <a:lnTo>
                      <a:pt x="765877" y="234115"/>
                    </a:lnTo>
                    <a:lnTo>
                      <a:pt x="811994" y="227330"/>
                    </a:lnTo>
                    <a:lnTo>
                      <a:pt x="829284" y="226060"/>
                    </a:lnTo>
                    <a:lnTo>
                      <a:pt x="824153" y="226060"/>
                    </a:lnTo>
                    <a:lnTo>
                      <a:pt x="819467" y="222250"/>
                    </a:lnTo>
                    <a:lnTo>
                      <a:pt x="818184" y="212089"/>
                    </a:lnTo>
                    <a:lnTo>
                      <a:pt x="821817" y="208280"/>
                    </a:lnTo>
                    <a:lnTo>
                      <a:pt x="830938" y="207010"/>
                    </a:lnTo>
                    <a:close/>
                  </a:path>
                  <a:path w="2992754" h="304800">
                    <a:moveTo>
                      <a:pt x="10165" y="229992"/>
                    </a:moveTo>
                    <a:lnTo>
                      <a:pt x="10512" y="233648"/>
                    </a:lnTo>
                    <a:lnTo>
                      <a:pt x="10299" y="231139"/>
                    </a:lnTo>
                    <a:lnTo>
                      <a:pt x="10165" y="229992"/>
                    </a:lnTo>
                    <a:close/>
                  </a:path>
                  <a:path w="2992754" h="304800">
                    <a:moveTo>
                      <a:pt x="9906" y="227258"/>
                    </a:moveTo>
                    <a:lnTo>
                      <a:pt x="10165" y="229992"/>
                    </a:lnTo>
                    <a:lnTo>
                      <a:pt x="9906" y="227258"/>
                    </a:lnTo>
                    <a:close/>
                  </a:path>
                  <a:path w="2992754" h="304800">
                    <a:moveTo>
                      <a:pt x="6556" y="196028"/>
                    </a:moveTo>
                    <a:lnTo>
                      <a:pt x="9168" y="219710"/>
                    </a:lnTo>
                    <a:lnTo>
                      <a:pt x="9906" y="227258"/>
                    </a:lnTo>
                    <a:lnTo>
                      <a:pt x="13462" y="222250"/>
                    </a:lnTo>
                    <a:lnTo>
                      <a:pt x="23241" y="220980"/>
                    </a:lnTo>
                    <a:lnTo>
                      <a:pt x="27149" y="220980"/>
                    </a:lnTo>
                    <a:lnTo>
                      <a:pt x="26239" y="210819"/>
                    </a:lnTo>
                    <a:lnTo>
                      <a:pt x="25380" y="203200"/>
                    </a:lnTo>
                    <a:lnTo>
                      <a:pt x="11518" y="203200"/>
                    </a:lnTo>
                    <a:lnTo>
                      <a:pt x="7010" y="199389"/>
                    </a:lnTo>
                    <a:lnTo>
                      <a:pt x="6556" y="196028"/>
                    </a:lnTo>
                    <a:close/>
                  </a:path>
                  <a:path w="2992754" h="304800">
                    <a:moveTo>
                      <a:pt x="752251" y="217309"/>
                    </a:moveTo>
                    <a:lnTo>
                      <a:pt x="744011" y="218439"/>
                    </a:lnTo>
                    <a:lnTo>
                      <a:pt x="730586" y="220980"/>
                    </a:lnTo>
                    <a:lnTo>
                      <a:pt x="717171" y="222250"/>
                    </a:lnTo>
                    <a:lnTo>
                      <a:pt x="698703" y="226060"/>
                    </a:lnTo>
                    <a:lnTo>
                      <a:pt x="698597" y="226217"/>
                    </a:lnTo>
                    <a:lnTo>
                      <a:pt x="708837" y="224789"/>
                    </a:lnTo>
                    <a:lnTo>
                      <a:pt x="749239" y="224789"/>
                    </a:lnTo>
                    <a:lnTo>
                      <a:pt x="748855" y="222250"/>
                    </a:lnTo>
                    <a:lnTo>
                      <a:pt x="752251" y="217309"/>
                    </a:lnTo>
                    <a:close/>
                  </a:path>
                  <a:path w="2992754" h="304800">
                    <a:moveTo>
                      <a:pt x="879373" y="200666"/>
                    </a:moveTo>
                    <a:lnTo>
                      <a:pt x="853165" y="203200"/>
                    </a:lnTo>
                    <a:lnTo>
                      <a:pt x="840059" y="205739"/>
                    </a:lnTo>
                    <a:lnTo>
                      <a:pt x="821817" y="208280"/>
                    </a:lnTo>
                    <a:lnTo>
                      <a:pt x="818184" y="212089"/>
                    </a:lnTo>
                    <a:lnTo>
                      <a:pt x="819467" y="222250"/>
                    </a:lnTo>
                    <a:lnTo>
                      <a:pt x="824153" y="226060"/>
                    </a:lnTo>
                    <a:lnTo>
                      <a:pt x="829284" y="226060"/>
                    </a:lnTo>
                    <a:lnTo>
                      <a:pt x="834428" y="224789"/>
                    </a:lnTo>
                    <a:lnTo>
                      <a:pt x="838073" y="219710"/>
                    </a:lnTo>
                    <a:lnTo>
                      <a:pt x="836815" y="209550"/>
                    </a:lnTo>
                    <a:lnTo>
                      <a:pt x="832129" y="207010"/>
                    </a:lnTo>
                    <a:lnTo>
                      <a:pt x="870554" y="207010"/>
                    </a:lnTo>
                    <a:lnTo>
                      <a:pt x="870419" y="205739"/>
                    </a:lnTo>
                    <a:lnTo>
                      <a:pt x="874204" y="201930"/>
                    </a:lnTo>
                    <a:lnTo>
                      <a:pt x="879373" y="200666"/>
                    </a:lnTo>
                    <a:close/>
                  </a:path>
                  <a:path w="2992754" h="304800">
                    <a:moveTo>
                      <a:pt x="870554" y="207010"/>
                    </a:moveTo>
                    <a:lnTo>
                      <a:pt x="832129" y="207010"/>
                    </a:lnTo>
                    <a:lnTo>
                      <a:pt x="836815" y="209550"/>
                    </a:lnTo>
                    <a:lnTo>
                      <a:pt x="838073" y="219710"/>
                    </a:lnTo>
                    <a:lnTo>
                      <a:pt x="834428" y="224789"/>
                    </a:lnTo>
                    <a:lnTo>
                      <a:pt x="829284" y="226060"/>
                    </a:lnTo>
                    <a:lnTo>
                      <a:pt x="842279" y="223519"/>
                    </a:lnTo>
                    <a:lnTo>
                      <a:pt x="881316" y="219710"/>
                    </a:lnTo>
                    <a:lnTo>
                      <a:pt x="876122" y="219710"/>
                    </a:lnTo>
                    <a:lnTo>
                      <a:pt x="871499" y="215900"/>
                    </a:lnTo>
                    <a:lnTo>
                      <a:pt x="870554" y="207010"/>
                    </a:lnTo>
                    <a:close/>
                  </a:path>
                  <a:path w="2992754" h="304800">
                    <a:moveTo>
                      <a:pt x="27149" y="220980"/>
                    </a:moveTo>
                    <a:lnTo>
                      <a:pt x="23241" y="220980"/>
                    </a:lnTo>
                    <a:lnTo>
                      <a:pt x="27495" y="224733"/>
                    </a:lnTo>
                    <a:lnTo>
                      <a:pt x="27149" y="220980"/>
                    </a:lnTo>
                    <a:close/>
                  </a:path>
                  <a:path w="2992754" h="304800">
                    <a:moveTo>
                      <a:pt x="884643" y="200660"/>
                    </a:moveTo>
                    <a:lnTo>
                      <a:pt x="879373" y="200666"/>
                    </a:lnTo>
                    <a:lnTo>
                      <a:pt x="874204" y="201930"/>
                    </a:lnTo>
                    <a:lnTo>
                      <a:pt x="870419" y="205739"/>
                    </a:lnTo>
                    <a:lnTo>
                      <a:pt x="871499" y="215900"/>
                    </a:lnTo>
                    <a:lnTo>
                      <a:pt x="876122" y="219710"/>
                    </a:lnTo>
                    <a:lnTo>
                      <a:pt x="881316" y="219710"/>
                    </a:lnTo>
                    <a:lnTo>
                      <a:pt x="886911" y="219190"/>
                    </a:lnTo>
                    <a:lnTo>
                      <a:pt x="890320" y="214630"/>
                    </a:lnTo>
                    <a:lnTo>
                      <a:pt x="889279" y="204469"/>
                    </a:lnTo>
                    <a:lnTo>
                      <a:pt x="884643" y="200660"/>
                    </a:lnTo>
                    <a:close/>
                  </a:path>
                  <a:path w="2992754" h="304800">
                    <a:moveTo>
                      <a:pt x="886911" y="219190"/>
                    </a:moveTo>
                    <a:lnTo>
                      <a:pt x="881316" y="219710"/>
                    </a:lnTo>
                    <a:lnTo>
                      <a:pt x="886523" y="219710"/>
                    </a:lnTo>
                    <a:lnTo>
                      <a:pt x="886911" y="219190"/>
                    </a:lnTo>
                    <a:close/>
                  </a:path>
                  <a:path w="2992754" h="304800">
                    <a:moveTo>
                      <a:pt x="925296" y="200660"/>
                    </a:moveTo>
                    <a:lnTo>
                      <a:pt x="884643" y="200660"/>
                    </a:lnTo>
                    <a:lnTo>
                      <a:pt x="889279" y="204469"/>
                    </a:lnTo>
                    <a:lnTo>
                      <a:pt x="890320" y="214630"/>
                    </a:lnTo>
                    <a:lnTo>
                      <a:pt x="886911" y="219190"/>
                    </a:lnTo>
                    <a:lnTo>
                      <a:pt x="936066" y="214630"/>
                    </a:lnTo>
                    <a:lnTo>
                      <a:pt x="930833" y="214630"/>
                    </a:lnTo>
                    <a:lnTo>
                      <a:pt x="926211" y="210819"/>
                    </a:lnTo>
                    <a:lnTo>
                      <a:pt x="925296" y="200660"/>
                    </a:lnTo>
                    <a:close/>
                  </a:path>
                  <a:path w="2992754" h="304800">
                    <a:moveTo>
                      <a:pt x="753272" y="217169"/>
                    </a:moveTo>
                    <a:lnTo>
                      <a:pt x="752348" y="217169"/>
                    </a:lnTo>
                    <a:lnTo>
                      <a:pt x="752251" y="217309"/>
                    </a:lnTo>
                    <a:lnTo>
                      <a:pt x="753272" y="217169"/>
                    </a:lnTo>
                    <a:close/>
                  </a:path>
                  <a:path w="2992754" h="304800">
                    <a:moveTo>
                      <a:pt x="763088" y="216344"/>
                    </a:moveTo>
                    <a:lnTo>
                      <a:pt x="757440" y="217169"/>
                    </a:lnTo>
                    <a:lnTo>
                      <a:pt x="764116" y="217169"/>
                    </a:lnTo>
                    <a:lnTo>
                      <a:pt x="763088" y="216344"/>
                    </a:lnTo>
                    <a:close/>
                  </a:path>
                  <a:path w="2992754" h="304800">
                    <a:moveTo>
                      <a:pt x="939647" y="195580"/>
                    </a:moveTo>
                    <a:lnTo>
                      <a:pt x="928607" y="196317"/>
                    </a:lnTo>
                    <a:lnTo>
                      <a:pt x="925296" y="200660"/>
                    </a:lnTo>
                    <a:lnTo>
                      <a:pt x="926211" y="210819"/>
                    </a:lnTo>
                    <a:lnTo>
                      <a:pt x="930833" y="214630"/>
                    </a:lnTo>
                    <a:lnTo>
                      <a:pt x="936066" y="214630"/>
                    </a:lnTo>
                    <a:lnTo>
                      <a:pt x="941688" y="214118"/>
                    </a:lnTo>
                    <a:lnTo>
                      <a:pt x="945172" y="209550"/>
                    </a:lnTo>
                    <a:lnTo>
                      <a:pt x="944257" y="199389"/>
                    </a:lnTo>
                    <a:lnTo>
                      <a:pt x="939647" y="195580"/>
                    </a:lnTo>
                    <a:close/>
                  </a:path>
                  <a:path w="2992754" h="304800">
                    <a:moveTo>
                      <a:pt x="941688" y="214118"/>
                    </a:moveTo>
                    <a:lnTo>
                      <a:pt x="936066" y="214630"/>
                    </a:lnTo>
                    <a:lnTo>
                      <a:pt x="941298" y="214630"/>
                    </a:lnTo>
                    <a:lnTo>
                      <a:pt x="941688" y="214118"/>
                    </a:lnTo>
                    <a:close/>
                  </a:path>
                  <a:path w="2992754" h="304800">
                    <a:moveTo>
                      <a:pt x="981087" y="195580"/>
                    </a:moveTo>
                    <a:lnTo>
                      <a:pt x="939647" y="195580"/>
                    </a:lnTo>
                    <a:lnTo>
                      <a:pt x="944257" y="199389"/>
                    </a:lnTo>
                    <a:lnTo>
                      <a:pt x="945172" y="209550"/>
                    </a:lnTo>
                    <a:lnTo>
                      <a:pt x="941688" y="214118"/>
                    </a:lnTo>
                    <a:lnTo>
                      <a:pt x="963980" y="212089"/>
                    </a:lnTo>
                    <a:lnTo>
                      <a:pt x="986253" y="210383"/>
                    </a:lnTo>
                    <a:lnTo>
                      <a:pt x="982027" y="205739"/>
                    </a:lnTo>
                    <a:lnTo>
                      <a:pt x="981087" y="195580"/>
                    </a:lnTo>
                    <a:close/>
                  </a:path>
                  <a:path w="2992754" h="304800">
                    <a:moveTo>
                      <a:pt x="989468" y="210137"/>
                    </a:moveTo>
                    <a:lnTo>
                      <a:pt x="986253" y="210383"/>
                    </a:lnTo>
                    <a:lnTo>
                      <a:pt x="986650" y="210819"/>
                    </a:lnTo>
                    <a:lnTo>
                      <a:pt x="989468" y="210137"/>
                    </a:lnTo>
                    <a:close/>
                  </a:path>
                  <a:path w="2992754" h="304800">
                    <a:moveTo>
                      <a:pt x="995830" y="190843"/>
                    </a:moveTo>
                    <a:lnTo>
                      <a:pt x="984935" y="191769"/>
                    </a:lnTo>
                    <a:lnTo>
                      <a:pt x="981087" y="195580"/>
                    </a:lnTo>
                    <a:lnTo>
                      <a:pt x="982027" y="205739"/>
                    </a:lnTo>
                    <a:lnTo>
                      <a:pt x="986253" y="210383"/>
                    </a:lnTo>
                    <a:lnTo>
                      <a:pt x="989468" y="210137"/>
                    </a:lnTo>
                    <a:lnTo>
                      <a:pt x="991895" y="209550"/>
                    </a:lnTo>
                    <a:lnTo>
                      <a:pt x="997723" y="208780"/>
                    </a:lnTo>
                    <a:lnTo>
                      <a:pt x="1000988" y="204469"/>
                    </a:lnTo>
                    <a:lnTo>
                      <a:pt x="1000036" y="194310"/>
                    </a:lnTo>
                    <a:lnTo>
                      <a:pt x="995830" y="190843"/>
                    </a:lnTo>
                    <a:close/>
                  </a:path>
                  <a:path w="2992754" h="304800">
                    <a:moveTo>
                      <a:pt x="997723" y="208780"/>
                    </a:moveTo>
                    <a:lnTo>
                      <a:pt x="991895" y="209550"/>
                    </a:lnTo>
                    <a:lnTo>
                      <a:pt x="989468" y="210137"/>
                    </a:lnTo>
                    <a:lnTo>
                      <a:pt x="997140" y="209550"/>
                    </a:lnTo>
                    <a:lnTo>
                      <a:pt x="997723" y="208780"/>
                    </a:lnTo>
                    <a:close/>
                  </a:path>
                  <a:path w="2992754" h="304800">
                    <a:moveTo>
                      <a:pt x="1034211" y="186689"/>
                    </a:moveTo>
                    <a:lnTo>
                      <a:pt x="1019268" y="187960"/>
                    </a:lnTo>
                    <a:lnTo>
                      <a:pt x="999871" y="190500"/>
                    </a:lnTo>
                    <a:lnTo>
                      <a:pt x="995830" y="190843"/>
                    </a:lnTo>
                    <a:lnTo>
                      <a:pt x="1000036" y="194310"/>
                    </a:lnTo>
                    <a:lnTo>
                      <a:pt x="1000988" y="204469"/>
                    </a:lnTo>
                    <a:lnTo>
                      <a:pt x="997723" y="208780"/>
                    </a:lnTo>
                    <a:lnTo>
                      <a:pt x="1001515" y="208280"/>
                    </a:lnTo>
                    <a:lnTo>
                      <a:pt x="1011137" y="208280"/>
                    </a:lnTo>
                    <a:lnTo>
                      <a:pt x="1020761" y="207010"/>
                    </a:lnTo>
                    <a:lnTo>
                      <a:pt x="1024737" y="206670"/>
                    </a:lnTo>
                    <a:lnTo>
                      <a:pt x="1020584" y="203200"/>
                    </a:lnTo>
                    <a:lnTo>
                      <a:pt x="1019810" y="193039"/>
                    </a:lnTo>
                    <a:lnTo>
                      <a:pt x="1023734" y="187960"/>
                    </a:lnTo>
                    <a:lnTo>
                      <a:pt x="1034615" y="187027"/>
                    </a:lnTo>
                    <a:lnTo>
                      <a:pt x="1034211" y="186689"/>
                    </a:lnTo>
                    <a:close/>
                  </a:path>
                  <a:path w="2992754" h="304800">
                    <a:moveTo>
                      <a:pt x="1064404" y="184845"/>
                    </a:moveTo>
                    <a:lnTo>
                      <a:pt x="1057704" y="185419"/>
                    </a:lnTo>
                    <a:lnTo>
                      <a:pt x="1048132" y="186689"/>
                    </a:lnTo>
                    <a:lnTo>
                      <a:pt x="1038553" y="186689"/>
                    </a:lnTo>
                    <a:lnTo>
                      <a:pt x="1034615" y="187027"/>
                    </a:lnTo>
                    <a:lnTo>
                      <a:pt x="1038771" y="190500"/>
                    </a:lnTo>
                    <a:lnTo>
                      <a:pt x="1039545" y="201930"/>
                    </a:lnTo>
                    <a:lnTo>
                      <a:pt x="1035621" y="205739"/>
                    </a:lnTo>
                    <a:lnTo>
                      <a:pt x="1024737" y="206670"/>
                    </a:lnTo>
                    <a:lnTo>
                      <a:pt x="1025144" y="207010"/>
                    </a:lnTo>
                    <a:lnTo>
                      <a:pt x="1030389" y="207010"/>
                    </a:lnTo>
                    <a:lnTo>
                      <a:pt x="1049735" y="204469"/>
                    </a:lnTo>
                    <a:lnTo>
                      <a:pt x="1059405" y="204469"/>
                    </a:lnTo>
                    <a:lnTo>
                      <a:pt x="1074305" y="203200"/>
                    </a:lnTo>
                    <a:lnTo>
                      <a:pt x="1063840" y="203200"/>
                    </a:lnTo>
                    <a:lnTo>
                      <a:pt x="1059205" y="199389"/>
                    </a:lnTo>
                    <a:lnTo>
                      <a:pt x="1058202" y="189230"/>
                    </a:lnTo>
                    <a:lnTo>
                      <a:pt x="1062037" y="185419"/>
                    </a:lnTo>
                    <a:lnTo>
                      <a:pt x="1064404" y="184845"/>
                    </a:lnTo>
                    <a:close/>
                  </a:path>
                  <a:path w="2992754" h="304800">
                    <a:moveTo>
                      <a:pt x="1034615" y="187027"/>
                    </a:moveTo>
                    <a:lnTo>
                      <a:pt x="1023734" y="187960"/>
                    </a:lnTo>
                    <a:lnTo>
                      <a:pt x="1019810" y="193039"/>
                    </a:lnTo>
                    <a:lnTo>
                      <a:pt x="1020584" y="203200"/>
                    </a:lnTo>
                    <a:lnTo>
                      <a:pt x="1024737" y="206670"/>
                    </a:lnTo>
                    <a:lnTo>
                      <a:pt x="1035621" y="205739"/>
                    </a:lnTo>
                    <a:lnTo>
                      <a:pt x="1039545" y="201930"/>
                    </a:lnTo>
                    <a:lnTo>
                      <a:pt x="1038771" y="190500"/>
                    </a:lnTo>
                    <a:lnTo>
                      <a:pt x="1034615" y="187027"/>
                    </a:lnTo>
                    <a:close/>
                  </a:path>
                  <a:path w="2992754" h="304800">
                    <a:moveTo>
                      <a:pt x="18973" y="184150"/>
                    </a:moveTo>
                    <a:lnTo>
                      <a:pt x="9169" y="185419"/>
                    </a:lnTo>
                    <a:lnTo>
                      <a:pt x="5796" y="190398"/>
                    </a:lnTo>
                    <a:lnTo>
                      <a:pt x="6153" y="193039"/>
                    </a:lnTo>
                    <a:lnTo>
                      <a:pt x="6362" y="194310"/>
                    </a:lnTo>
                    <a:lnTo>
                      <a:pt x="7010" y="199389"/>
                    </a:lnTo>
                    <a:lnTo>
                      <a:pt x="11518" y="203200"/>
                    </a:lnTo>
                    <a:lnTo>
                      <a:pt x="21297" y="201930"/>
                    </a:lnTo>
                    <a:lnTo>
                      <a:pt x="24613" y="197036"/>
                    </a:lnTo>
                    <a:lnTo>
                      <a:pt x="23456" y="187960"/>
                    </a:lnTo>
                    <a:lnTo>
                      <a:pt x="18973" y="184150"/>
                    </a:lnTo>
                    <a:close/>
                  </a:path>
                  <a:path w="2992754" h="304800">
                    <a:moveTo>
                      <a:pt x="24613" y="197036"/>
                    </a:moveTo>
                    <a:lnTo>
                      <a:pt x="21297" y="201930"/>
                    </a:lnTo>
                    <a:lnTo>
                      <a:pt x="11518" y="203200"/>
                    </a:lnTo>
                    <a:lnTo>
                      <a:pt x="25380" y="203200"/>
                    </a:lnTo>
                    <a:lnTo>
                      <a:pt x="24613" y="197036"/>
                    </a:lnTo>
                    <a:close/>
                  </a:path>
                  <a:path w="2992754" h="304800">
                    <a:moveTo>
                      <a:pt x="1072515" y="184150"/>
                    </a:moveTo>
                    <a:lnTo>
                      <a:pt x="1064404" y="184845"/>
                    </a:lnTo>
                    <a:lnTo>
                      <a:pt x="1062037" y="185419"/>
                    </a:lnTo>
                    <a:lnTo>
                      <a:pt x="1058202" y="189230"/>
                    </a:lnTo>
                    <a:lnTo>
                      <a:pt x="1059205" y="199389"/>
                    </a:lnTo>
                    <a:lnTo>
                      <a:pt x="1063840" y="203200"/>
                    </a:lnTo>
                    <a:lnTo>
                      <a:pt x="1069073" y="203200"/>
                    </a:lnTo>
                    <a:lnTo>
                      <a:pt x="1074688" y="202692"/>
                    </a:lnTo>
                    <a:lnTo>
                      <a:pt x="1078141" y="198119"/>
                    </a:lnTo>
                    <a:lnTo>
                      <a:pt x="1077163" y="187960"/>
                    </a:lnTo>
                    <a:lnTo>
                      <a:pt x="1072515" y="184150"/>
                    </a:lnTo>
                    <a:close/>
                  </a:path>
                  <a:path w="2992754" h="304800">
                    <a:moveTo>
                      <a:pt x="1074688" y="202692"/>
                    </a:moveTo>
                    <a:lnTo>
                      <a:pt x="1069073" y="203200"/>
                    </a:lnTo>
                    <a:lnTo>
                      <a:pt x="1074305" y="203200"/>
                    </a:lnTo>
                    <a:lnTo>
                      <a:pt x="1074688" y="202692"/>
                    </a:lnTo>
                    <a:close/>
                  </a:path>
                  <a:path w="2992754" h="304800">
                    <a:moveTo>
                      <a:pt x="1114666" y="184150"/>
                    </a:moveTo>
                    <a:lnTo>
                      <a:pt x="1072515" y="184150"/>
                    </a:lnTo>
                    <a:lnTo>
                      <a:pt x="1077163" y="187960"/>
                    </a:lnTo>
                    <a:lnTo>
                      <a:pt x="1078141" y="198119"/>
                    </a:lnTo>
                    <a:lnTo>
                      <a:pt x="1074688" y="202692"/>
                    </a:lnTo>
                    <a:lnTo>
                      <a:pt x="1097194" y="200660"/>
                    </a:lnTo>
                    <a:lnTo>
                      <a:pt x="1119568" y="198958"/>
                    </a:lnTo>
                    <a:lnTo>
                      <a:pt x="1115491" y="195580"/>
                    </a:lnTo>
                    <a:lnTo>
                      <a:pt x="1114666" y="184150"/>
                    </a:lnTo>
                    <a:close/>
                  </a:path>
                  <a:path w="2992754" h="304800">
                    <a:moveTo>
                      <a:pt x="928607" y="196317"/>
                    </a:moveTo>
                    <a:lnTo>
                      <a:pt x="920648" y="196850"/>
                    </a:lnTo>
                    <a:lnTo>
                      <a:pt x="879373" y="200666"/>
                    </a:lnTo>
                    <a:lnTo>
                      <a:pt x="925296" y="200660"/>
                    </a:lnTo>
                    <a:lnTo>
                      <a:pt x="928607" y="196317"/>
                    </a:lnTo>
                    <a:close/>
                  </a:path>
                  <a:path w="2992754" h="304800">
                    <a:moveTo>
                      <a:pt x="1122926" y="198702"/>
                    </a:moveTo>
                    <a:lnTo>
                      <a:pt x="1119568" y="198958"/>
                    </a:lnTo>
                    <a:lnTo>
                      <a:pt x="1120089" y="199389"/>
                    </a:lnTo>
                    <a:lnTo>
                      <a:pt x="1122926" y="198702"/>
                    </a:lnTo>
                    <a:close/>
                  </a:path>
                  <a:path w="2992754" h="304800">
                    <a:moveTo>
                      <a:pt x="1129753" y="179606"/>
                    </a:moveTo>
                    <a:lnTo>
                      <a:pt x="1118590" y="180339"/>
                    </a:lnTo>
                    <a:lnTo>
                      <a:pt x="1114666" y="184150"/>
                    </a:lnTo>
                    <a:lnTo>
                      <a:pt x="1115491" y="195580"/>
                    </a:lnTo>
                    <a:lnTo>
                      <a:pt x="1119568" y="198958"/>
                    </a:lnTo>
                    <a:lnTo>
                      <a:pt x="1122926" y="198702"/>
                    </a:lnTo>
                    <a:lnTo>
                      <a:pt x="1125334" y="198119"/>
                    </a:lnTo>
                    <a:lnTo>
                      <a:pt x="1130592" y="198119"/>
                    </a:lnTo>
                    <a:lnTo>
                      <a:pt x="1134464" y="193106"/>
                    </a:lnTo>
                    <a:lnTo>
                      <a:pt x="1134340" y="190843"/>
                    </a:lnTo>
                    <a:lnTo>
                      <a:pt x="1133703" y="182880"/>
                    </a:lnTo>
                    <a:lnTo>
                      <a:pt x="1129753" y="179606"/>
                    </a:lnTo>
                    <a:close/>
                  </a:path>
                  <a:path w="2992754" h="304800">
                    <a:moveTo>
                      <a:pt x="1130592" y="198119"/>
                    </a:moveTo>
                    <a:lnTo>
                      <a:pt x="1125334" y="198119"/>
                    </a:lnTo>
                    <a:lnTo>
                      <a:pt x="1122926" y="198702"/>
                    </a:lnTo>
                    <a:lnTo>
                      <a:pt x="1130592" y="198119"/>
                    </a:lnTo>
                    <a:close/>
                  </a:path>
                  <a:path w="2992754" h="304800">
                    <a:moveTo>
                      <a:pt x="1174431" y="175775"/>
                    </a:moveTo>
                    <a:lnTo>
                      <a:pt x="1137909" y="179069"/>
                    </a:lnTo>
                    <a:lnTo>
                      <a:pt x="1129753" y="179606"/>
                    </a:lnTo>
                    <a:lnTo>
                      <a:pt x="1133703" y="182880"/>
                    </a:lnTo>
                    <a:lnTo>
                      <a:pt x="1134340" y="190843"/>
                    </a:lnTo>
                    <a:lnTo>
                      <a:pt x="1134464" y="193106"/>
                    </a:lnTo>
                    <a:lnTo>
                      <a:pt x="1130592" y="198119"/>
                    </a:lnTo>
                    <a:lnTo>
                      <a:pt x="1139324" y="198119"/>
                    </a:lnTo>
                    <a:lnTo>
                      <a:pt x="1181303" y="194310"/>
                    </a:lnTo>
                    <a:lnTo>
                      <a:pt x="1176032" y="194310"/>
                    </a:lnTo>
                    <a:lnTo>
                      <a:pt x="1171498" y="190500"/>
                    </a:lnTo>
                    <a:lnTo>
                      <a:pt x="1170825" y="180339"/>
                    </a:lnTo>
                    <a:lnTo>
                      <a:pt x="1174431" y="175775"/>
                    </a:lnTo>
                    <a:close/>
                  </a:path>
                  <a:path w="2992754" h="304800">
                    <a:moveTo>
                      <a:pt x="23037" y="184150"/>
                    </a:moveTo>
                    <a:lnTo>
                      <a:pt x="18973" y="184150"/>
                    </a:lnTo>
                    <a:lnTo>
                      <a:pt x="23456" y="187960"/>
                    </a:lnTo>
                    <a:lnTo>
                      <a:pt x="24613" y="197036"/>
                    </a:lnTo>
                    <a:lnTo>
                      <a:pt x="24569" y="195580"/>
                    </a:lnTo>
                    <a:lnTo>
                      <a:pt x="23037" y="184150"/>
                    </a:lnTo>
                    <a:close/>
                  </a:path>
                  <a:path w="2992754" h="304800">
                    <a:moveTo>
                      <a:pt x="995413" y="190500"/>
                    </a:moveTo>
                    <a:lnTo>
                      <a:pt x="976236" y="191769"/>
                    </a:lnTo>
                    <a:lnTo>
                      <a:pt x="929170" y="195580"/>
                    </a:lnTo>
                    <a:lnTo>
                      <a:pt x="928607" y="196317"/>
                    </a:lnTo>
                    <a:lnTo>
                      <a:pt x="939647" y="195580"/>
                    </a:lnTo>
                    <a:lnTo>
                      <a:pt x="981087" y="195580"/>
                    </a:lnTo>
                    <a:lnTo>
                      <a:pt x="984935" y="191769"/>
                    </a:lnTo>
                    <a:lnTo>
                      <a:pt x="995830" y="190843"/>
                    </a:lnTo>
                    <a:lnTo>
                      <a:pt x="995413" y="190500"/>
                    </a:lnTo>
                    <a:close/>
                  </a:path>
                  <a:path w="2992754" h="304800">
                    <a:moveTo>
                      <a:pt x="6162" y="193106"/>
                    </a:moveTo>
                    <a:lnTo>
                      <a:pt x="6556" y="196028"/>
                    </a:lnTo>
                    <a:lnTo>
                      <a:pt x="6362" y="194310"/>
                    </a:lnTo>
                    <a:lnTo>
                      <a:pt x="6162" y="193106"/>
                    </a:lnTo>
                    <a:close/>
                  </a:path>
                  <a:path w="2992754" h="304800">
                    <a:moveTo>
                      <a:pt x="1185430" y="175260"/>
                    </a:moveTo>
                    <a:lnTo>
                      <a:pt x="1180147" y="175260"/>
                    </a:lnTo>
                    <a:lnTo>
                      <a:pt x="1174431" y="175775"/>
                    </a:lnTo>
                    <a:lnTo>
                      <a:pt x="1170825" y="180339"/>
                    </a:lnTo>
                    <a:lnTo>
                      <a:pt x="1171498" y="190500"/>
                    </a:lnTo>
                    <a:lnTo>
                      <a:pt x="1176032" y="194310"/>
                    </a:lnTo>
                    <a:lnTo>
                      <a:pt x="1181303" y="194310"/>
                    </a:lnTo>
                    <a:lnTo>
                      <a:pt x="1186999" y="193805"/>
                    </a:lnTo>
                    <a:lnTo>
                      <a:pt x="1190625" y="189230"/>
                    </a:lnTo>
                    <a:lnTo>
                      <a:pt x="1189977" y="179069"/>
                    </a:lnTo>
                    <a:lnTo>
                      <a:pt x="1185430" y="175260"/>
                    </a:lnTo>
                    <a:close/>
                  </a:path>
                  <a:path w="2992754" h="304800">
                    <a:moveTo>
                      <a:pt x="1186999" y="193805"/>
                    </a:moveTo>
                    <a:lnTo>
                      <a:pt x="1181303" y="194310"/>
                    </a:lnTo>
                    <a:lnTo>
                      <a:pt x="1186599" y="194310"/>
                    </a:lnTo>
                    <a:lnTo>
                      <a:pt x="1186999" y="193805"/>
                    </a:lnTo>
                    <a:close/>
                  </a:path>
                  <a:path w="2992754" h="304800">
                    <a:moveTo>
                      <a:pt x="1228823" y="175260"/>
                    </a:moveTo>
                    <a:lnTo>
                      <a:pt x="1185430" y="175260"/>
                    </a:lnTo>
                    <a:lnTo>
                      <a:pt x="1189977" y="179069"/>
                    </a:lnTo>
                    <a:lnTo>
                      <a:pt x="1190625" y="189230"/>
                    </a:lnTo>
                    <a:lnTo>
                      <a:pt x="1186999" y="193805"/>
                    </a:lnTo>
                    <a:lnTo>
                      <a:pt x="1195633" y="193039"/>
                    </a:lnTo>
                    <a:lnTo>
                      <a:pt x="1209957" y="193039"/>
                    </a:lnTo>
                    <a:lnTo>
                      <a:pt x="1243914" y="190500"/>
                    </a:lnTo>
                    <a:lnTo>
                      <a:pt x="1233271" y="190500"/>
                    </a:lnTo>
                    <a:lnTo>
                      <a:pt x="1228636" y="186689"/>
                    </a:lnTo>
                    <a:lnTo>
                      <a:pt x="1227823" y="176530"/>
                    </a:lnTo>
                    <a:lnTo>
                      <a:pt x="1228823" y="175260"/>
                    </a:lnTo>
                    <a:close/>
                  </a:path>
                  <a:path w="2992754" h="304800">
                    <a:moveTo>
                      <a:pt x="5796" y="190398"/>
                    </a:moveTo>
                    <a:lnTo>
                      <a:pt x="5784" y="190843"/>
                    </a:lnTo>
                    <a:lnTo>
                      <a:pt x="6162" y="193106"/>
                    </a:lnTo>
                    <a:lnTo>
                      <a:pt x="5796" y="190398"/>
                    </a:lnTo>
                    <a:close/>
                  </a:path>
                  <a:path w="2992754" h="304800">
                    <a:moveTo>
                      <a:pt x="1242491" y="171450"/>
                    </a:moveTo>
                    <a:lnTo>
                      <a:pt x="1231153" y="172300"/>
                    </a:lnTo>
                    <a:lnTo>
                      <a:pt x="1227823" y="176530"/>
                    </a:lnTo>
                    <a:lnTo>
                      <a:pt x="1228636" y="186689"/>
                    </a:lnTo>
                    <a:lnTo>
                      <a:pt x="1233271" y="190500"/>
                    </a:lnTo>
                    <a:lnTo>
                      <a:pt x="1238592" y="190500"/>
                    </a:lnTo>
                    <a:lnTo>
                      <a:pt x="1244304" y="190004"/>
                    </a:lnTo>
                    <a:lnTo>
                      <a:pt x="1247914" y="185419"/>
                    </a:lnTo>
                    <a:lnTo>
                      <a:pt x="1247127" y="175260"/>
                    </a:lnTo>
                    <a:lnTo>
                      <a:pt x="1242491" y="171450"/>
                    </a:lnTo>
                    <a:close/>
                  </a:path>
                  <a:path w="2992754" h="304800">
                    <a:moveTo>
                      <a:pt x="1244304" y="190004"/>
                    </a:moveTo>
                    <a:lnTo>
                      <a:pt x="1238592" y="190500"/>
                    </a:lnTo>
                    <a:lnTo>
                      <a:pt x="1243914" y="190500"/>
                    </a:lnTo>
                    <a:lnTo>
                      <a:pt x="1244304" y="190004"/>
                    </a:lnTo>
                    <a:close/>
                  </a:path>
                  <a:path w="2992754" h="304800">
                    <a:moveTo>
                      <a:pt x="3634" y="176565"/>
                    </a:moveTo>
                    <a:lnTo>
                      <a:pt x="4102" y="179069"/>
                    </a:lnTo>
                    <a:lnTo>
                      <a:pt x="5341" y="187027"/>
                    </a:lnTo>
                    <a:lnTo>
                      <a:pt x="5796" y="190398"/>
                    </a:lnTo>
                    <a:lnTo>
                      <a:pt x="9169" y="185419"/>
                    </a:lnTo>
                    <a:lnTo>
                      <a:pt x="18973" y="184150"/>
                    </a:lnTo>
                    <a:lnTo>
                      <a:pt x="23037" y="184150"/>
                    </a:lnTo>
                    <a:lnTo>
                      <a:pt x="22284" y="179069"/>
                    </a:lnTo>
                    <a:lnTo>
                      <a:pt x="8305" y="179069"/>
                    </a:lnTo>
                    <a:lnTo>
                      <a:pt x="3634" y="176565"/>
                    </a:lnTo>
                    <a:close/>
                  </a:path>
                  <a:path w="2992754" h="304800">
                    <a:moveTo>
                      <a:pt x="1286027" y="171450"/>
                    </a:moveTo>
                    <a:lnTo>
                      <a:pt x="1242491" y="171450"/>
                    </a:lnTo>
                    <a:lnTo>
                      <a:pt x="1247127" y="175260"/>
                    </a:lnTo>
                    <a:lnTo>
                      <a:pt x="1247914" y="185419"/>
                    </a:lnTo>
                    <a:lnTo>
                      <a:pt x="1244304" y="190004"/>
                    </a:lnTo>
                    <a:lnTo>
                      <a:pt x="1282473" y="186689"/>
                    </a:lnTo>
                    <a:lnTo>
                      <a:pt x="1291053" y="186144"/>
                    </a:lnTo>
                    <a:lnTo>
                      <a:pt x="1287005" y="182880"/>
                    </a:lnTo>
                    <a:lnTo>
                      <a:pt x="1286027" y="171450"/>
                    </a:lnTo>
                    <a:close/>
                  </a:path>
                  <a:path w="2992754" h="304800">
                    <a:moveTo>
                      <a:pt x="1295123" y="185885"/>
                    </a:moveTo>
                    <a:lnTo>
                      <a:pt x="1291053" y="186144"/>
                    </a:lnTo>
                    <a:lnTo>
                      <a:pt x="1291729" y="186689"/>
                    </a:lnTo>
                    <a:lnTo>
                      <a:pt x="1295123" y="185885"/>
                    </a:lnTo>
                    <a:close/>
                  </a:path>
                  <a:path w="2992754" h="304800">
                    <a:moveTo>
                      <a:pt x="1300734" y="166369"/>
                    </a:moveTo>
                    <a:lnTo>
                      <a:pt x="1293352" y="166840"/>
                    </a:lnTo>
                    <a:lnTo>
                      <a:pt x="1289977" y="167639"/>
                    </a:lnTo>
                    <a:lnTo>
                      <a:pt x="1286027" y="171450"/>
                    </a:lnTo>
                    <a:lnTo>
                      <a:pt x="1287005" y="182880"/>
                    </a:lnTo>
                    <a:lnTo>
                      <a:pt x="1291053" y="186144"/>
                    </a:lnTo>
                    <a:lnTo>
                      <a:pt x="1295123" y="185885"/>
                    </a:lnTo>
                    <a:lnTo>
                      <a:pt x="1297089" y="185419"/>
                    </a:lnTo>
                    <a:lnTo>
                      <a:pt x="1302729" y="185060"/>
                    </a:lnTo>
                    <a:lnTo>
                      <a:pt x="1306410" y="180339"/>
                    </a:lnTo>
                    <a:lnTo>
                      <a:pt x="1305471" y="170180"/>
                    </a:lnTo>
                    <a:lnTo>
                      <a:pt x="1300734" y="166369"/>
                    </a:lnTo>
                    <a:close/>
                  </a:path>
                  <a:path w="2992754" h="304800">
                    <a:moveTo>
                      <a:pt x="1302729" y="185060"/>
                    </a:moveTo>
                    <a:lnTo>
                      <a:pt x="1297089" y="185419"/>
                    </a:lnTo>
                    <a:lnTo>
                      <a:pt x="1295123" y="185885"/>
                    </a:lnTo>
                    <a:lnTo>
                      <a:pt x="1302448" y="185419"/>
                    </a:lnTo>
                    <a:lnTo>
                      <a:pt x="1302729" y="185060"/>
                    </a:lnTo>
                    <a:close/>
                  </a:path>
                  <a:path w="2992754" h="304800">
                    <a:moveTo>
                      <a:pt x="1327281" y="166369"/>
                    </a:moveTo>
                    <a:lnTo>
                      <a:pt x="1300734" y="166369"/>
                    </a:lnTo>
                    <a:lnTo>
                      <a:pt x="1305471" y="170180"/>
                    </a:lnTo>
                    <a:lnTo>
                      <a:pt x="1306410" y="180339"/>
                    </a:lnTo>
                    <a:lnTo>
                      <a:pt x="1302729" y="185060"/>
                    </a:lnTo>
                    <a:lnTo>
                      <a:pt x="1317004" y="184150"/>
                    </a:lnTo>
                    <a:lnTo>
                      <a:pt x="1331336" y="182711"/>
                    </a:lnTo>
                    <a:lnTo>
                      <a:pt x="1326832" y="179069"/>
                    </a:lnTo>
                    <a:lnTo>
                      <a:pt x="1325943" y="167639"/>
                    </a:lnTo>
                    <a:lnTo>
                      <a:pt x="1327281" y="166369"/>
                    </a:lnTo>
                    <a:close/>
                  </a:path>
                  <a:path w="2992754" h="304800">
                    <a:moveTo>
                      <a:pt x="1129106" y="179069"/>
                    </a:moveTo>
                    <a:lnTo>
                      <a:pt x="1109696" y="180339"/>
                    </a:lnTo>
                    <a:lnTo>
                      <a:pt x="1067269" y="184150"/>
                    </a:lnTo>
                    <a:lnTo>
                      <a:pt x="1064404" y="184845"/>
                    </a:lnTo>
                    <a:lnTo>
                      <a:pt x="1072515" y="184150"/>
                    </a:lnTo>
                    <a:lnTo>
                      <a:pt x="1114666" y="184150"/>
                    </a:lnTo>
                    <a:lnTo>
                      <a:pt x="1118590" y="180339"/>
                    </a:lnTo>
                    <a:lnTo>
                      <a:pt x="1129753" y="179606"/>
                    </a:lnTo>
                    <a:lnTo>
                      <a:pt x="1129106" y="179069"/>
                    </a:lnTo>
                    <a:close/>
                  </a:path>
                  <a:path w="2992754" h="304800">
                    <a:moveTo>
                      <a:pt x="23265" y="149797"/>
                    </a:moveTo>
                    <a:lnTo>
                      <a:pt x="27673" y="157480"/>
                    </a:lnTo>
                    <a:lnTo>
                      <a:pt x="26822" y="161289"/>
                    </a:lnTo>
                    <a:lnTo>
                      <a:pt x="20431" y="166187"/>
                    </a:lnTo>
                    <a:lnTo>
                      <a:pt x="21367" y="172426"/>
                    </a:lnTo>
                    <a:lnTo>
                      <a:pt x="21544" y="173989"/>
                    </a:lnTo>
                    <a:lnTo>
                      <a:pt x="21669" y="174865"/>
                    </a:lnTo>
                    <a:lnTo>
                      <a:pt x="22783" y="176565"/>
                    </a:lnTo>
                    <a:lnTo>
                      <a:pt x="24485" y="181610"/>
                    </a:lnTo>
                    <a:lnTo>
                      <a:pt x="27368" y="182880"/>
                    </a:lnTo>
                    <a:lnTo>
                      <a:pt x="31610" y="181610"/>
                    </a:lnTo>
                    <a:lnTo>
                      <a:pt x="32816" y="180339"/>
                    </a:lnTo>
                    <a:lnTo>
                      <a:pt x="33946" y="175775"/>
                    </a:lnTo>
                    <a:lnTo>
                      <a:pt x="33986" y="174865"/>
                    </a:lnTo>
                    <a:lnTo>
                      <a:pt x="33223" y="171450"/>
                    </a:lnTo>
                    <a:lnTo>
                      <a:pt x="30530" y="162560"/>
                    </a:lnTo>
                    <a:lnTo>
                      <a:pt x="28219" y="157480"/>
                    </a:lnTo>
                    <a:lnTo>
                      <a:pt x="23507" y="149860"/>
                    </a:lnTo>
                    <a:lnTo>
                      <a:pt x="23265" y="149797"/>
                    </a:lnTo>
                    <a:close/>
                  </a:path>
                  <a:path w="2992754" h="304800">
                    <a:moveTo>
                      <a:pt x="1373378" y="160019"/>
                    </a:moveTo>
                    <a:lnTo>
                      <a:pt x="1367891" y="160019"/>
                    </a:lnTo>
                    <a:lnTo>
                      <a:pt x="1346185" y="162560"/>
                    </a:lnTo>
                    <a:lnTo>
                      <a:pt x="1341207" y="162949"/>
                    </a:lnTo>
                    <a:lnTo>
                      <a:pt x="1345438" y="166369"/>
                    </a:lnTo>
                    <a:lnTo>
                      <a:pt x="1346327" y="177800"/>
                    </a:lnTo>
                    <a:lnTo>
                      <a:pt x="1342313" y="181610"/>
                    </a:lnTo>
                    <a:lnTo>
                      <a:pt x="1331336" y="182711"/>
                    </a:lnTo>
                    <a:lnTo>
                      <a:pt x="1331544" y="182880"/>
                    </a:lnTo>
                    <a:lnTo>
                      <a:pt x="1336929" y="182880"/>
                    </a:lnTo>
                    <a:lnTo>
                      <a:pt x="1358512" y="180339"/>
                    </a:lnTo>
                    <a:lnTo>
                      <a:pt x="1369304" y="180339"/>
                    </a:lnTo>
                    <a:lnTo>
                      <a:pt x="1385468" y="179069"/>
                    </a:lnTo>
                    <a:lnTo>
                      <a:pt x="1374698" y="179069"/>
                    </a:lnTo>
                    <a:lnTo>
                      <a:pt x="1370050" y="175260"/>
                    </a:lnTo>
                    <a:lnTo>
                      <a:pt x="1369326" y="165100"/>
                    </a:lnTo>
                    <a:lnTo>
                      <a:pt x="1373378" y="160019"/>
                    </a:lnTo>
                    <a:close/>
                  </a:path>
                  <a:path w="2992754" h="304800">
                    <a:moveTo>
                      <a:pt x="1341207" y="162949"/>
                    </a:moveTo>
                    <a:lnTo>
                      <a:pt x="1329956" y="163830"/>
                    </a:lnTo>
                    <a:lnTo>
                      <a:pt x="1325943" y="167639"/>
                    </a:lnTo>
                    <a:lnTo>
                      <a:pt x="1326832" y="179069"/>
                    </a:lnTo>
                    <a:lnTo>
                      <a:pt x="1331336" y="182711"/>
                    </a:lnTo>
                    <a:lnTo>
                      <a:pt x="1342313" y="181610"/>
                    </a:lnTo>
                    <a:lnTo>
                      <a:pt x="1346327" y="177800"/>
                    </a:lnTo>
                    <a:lnTo>
                      <a:pt x="1345438" y="166369"/>
                    </a:lnTo>
                    <a:lnTo>
                      <a:pt x="1341207" y="162949"/>
                    </a:lnTo>
                    <a:close/>
                  </a:path>
                  <a:path w="2992754" h="304800">
                    <a:moveTo>
                      <a:pt x="4630" y="162313"/>
                    </a:moveTo>
                    <a:lnTo>
                      <a:pt x="2015" y="166187"/>
                    </a:lnTo>
                    <a:lnTo>
                      <a:pt x="1965" y="166840"/>
                    </a:lnTo>
                    <a:lnTo>
                      <a:pt x="2928" y="172781"/>
                    </a:lnTo>
                    <a:lnTo>
                      <a:pt x="3634" y="176565"/>
                    </a:lnTo>
                    <a:lnTo>
                      <a:pt x="8305" y="179069"/>
                    </a:lnTo>
                    <a:lnTo>
                      <a:pt x="18122" y="177800"/>
                    </a:lnTo>
                    <a:lnTo>
                      <a:pt x="20837" y="173607"/>
                    </a:lnTo>
                    <a:lnTo>
                      <a:pt x="17729" y="168910"/>
                    </a:lnTo>
                    <a:lnTo>
                      <a:pt x="15062" y="166369"/>
                    </a:lnTo>
                    <a:lnTo>
                      <a:pt x="14305" y="165309"/>
                    </a:lnTo>
                    <a:lnTo>
                      <a:pt x="12212" y="162560"/>
                    </a:lnTo>
                    <a:lnTo>
                      <a:pt x="4838" y="162560"/>
                    </a:lnTo>
                    <a:lnTo>
                      <a:pt x="4630" y="162313"/>
                    </a:lnTo>
                    <a:close/>
                  </a:path>
                  <a:path w="2992754" h="304800">
                    <a:moveTo>
                      <a:pt x="20837" y="173607"/>
                    </a:moveTo>
                    <a:lnTo>
                      <a:pt x="18122" y="177800"/>
                    </a:lnTo>
                    <a:lnTo>
                      <a:pt x="8305" y="179069"/>
                    </a:lnTo>
                    <a:lnTo>
                      <a:pt x="22284" y="179069"/>
                    </a:lnTo>
                    <a:lnTo>
                      <a:pt x="21669" y="174865"/>
                    </a:lnTo>
                    <a:lnTo>
                      <a:pt x="20837" y="173607"/>
                    </a:lnTo>
                    <a:close/>
                  </a:path>
                  <a:path w="2992754" h="304800">
                    <a:moveTo>
                      <a:pt x="1427200" y="156210"/>
                    </a:moveTo>
                    <a:lnTo>
                      <a:pt x="1411104" y="157480"/>
                    </a:lnTo>
                    <a:lnTo>
                      <a:pt x="1400324" y="158750"/>
                    </a:lnTo>
                    <a:lnTo>
                      <a:pt x="1389539" y="158750"/>
                    </a:lnTo>
                    <a:lnTo>
                      <a:pt x="1373378" y="160019"/>
                    </a:lnTo>
                    <a:lnTo>
                      <a:pt x="1369326" y="165100"/>
                    </a:lnTo>
                    <a:lnTo>
                      <a:pt x="1370050" y="175260"/>
                    </a:lnTo>
                    <a:lnTo>
                      <a:pt x="1374698" y="179069"/>
                    </a:lnTo>
                    <a:lnTo>
                      <a:pt x="1385468" y="179069"/>
                    </a:lnTo>
                    <a:lnTo>
                      <a:pt x="1389507" y="173989"/>
                    </a:lnTo>
                    <a:lnTo>
                      <a:pt x="1388745" y="163830"/>
                    </a:lnTo>
                    <a:lnTo>
                      <a:pt x="1384109" y="160019"/>
                    </a:lnTo>
                    <a:lnTo>
                      <a:pt x="1413907" y="160019"/>
                    </a:lnTo>
                    <a:lnTo>
                      <a:pt x="1416558" y="157480"/>
                    </a:lnTo>
                    <a:lnTo>
                      <a:pt x="1427669" y="156593"/>
                    </a:lnTo>
                    <a:lnTo>
                      <a:pt x="1427200" y="156210"/>
                    </a:lnTo>
                    <a:close/>
                  </a:path>
                  <a:path w="2992754" h="304800">
                    <a:moveTo>
                      <a:pt x="1413907" y="160019"/>
                    </a:moveTo>
                    <a:lnTo>
                      <a:pt x="1384109" y="160019"/>
                    </a:lnTo>
                    <a:lnTo>
                      <a:pt x="1388745" y="163830"/>
                    </a:lnTo>
                    <a:lnTo>
                      <a:pt x="1389507" y="173989"/>
                    </a:lnTo>
                    <a:lnTo>
                      <a:pt x="1385468" y="179069"/>
                    </a:lnTo>
                    <a:lnTo>
                      <a:pt x="1390941" y="179069"/>
                    </a:lnTo>
                    <a:lnTo>
                      <a:pt x="1412616" y="176530"/>
                    </a:lnTo>
                    <a:lnTo>
                      <a:pt x="1417614" y="176137"/>
                    </a:lnTo>
                    <a:lnTo>
                      <a:pt x="1413508" y="172781"/>
                    </a:lnTo>
                    <a:lnTo>
                      <a:pt x="1413383" y="172050"/>
                    </a:lnTo>
                    <a:lnTo>
                      <a:pt x="1412582" y="161289"/>
                    </a:lnTo>
                    <a:lnTo>
                      <a:pt x="1413907" y="160019"/>
                    </a:lnTo>
                    <a:close/>
                  </a:path>
                  <a:path w="2992754" h="304800">
                    <a:moveTo>
                      <a:pt x="2862" y="172426"/>
                    </a:moveTo>
                    <a:lnTo>
                      <a:pt x="3568" y="176530"/>
                    </a:lnTo>
                    <a:lnTo>
                      <a:pt x="2862" y="172426"/>
                    </a:lnTo>
                    <a:close/>
                  </a:path>
                  <a:path w="2992754" h="304800">
                    <a:moveTo>
                      <a:pt x="1458950" y="153669"/>
                    </a:moveTo>
                    <a:lnTo>
                      <a:pt x="1453670" y="153669"/>
                    </a:lnTo>
                    <a:lnTo>
                      <a:pt x="1432473" y="156210"/>
                    </a:lnTo>
                    <a:lnTo>
                      <a:pt x="1427669" y="156593"/>
                    </a:lnTo>
                    <a:lnTo>
                      <a:pt x="1431861" y="160019"/>
                    </a:lnTo>
                    <a:lnTo>
                      <a:pt x="1432737" y="171450"/>
                    </a:lnTo>
                    <a:lnTo>
                      <a:pt x="1428775" y="175260"/>
                    </a:lnTo>
                    <a:lnTo>
                      <a:pt x="1417614" y="176137"/>
                    </a:lnTo>
                    <a:lnTo>
                      <a:pt x="1418094" y="176530"/>
                    </a:lnTo>
                    <a:lnTo>
                      <a:pt x="1423454" y="176530"/>
                    </a:lnTo>
                    <a:lnTo>
                      <a:pt x="1444524" y="173989"/>
                    </a:lnTo>
                    <a:lnTo>
                      <a:pt x="1455063" y="173989"/>
                    </a:lnTo>
                    <a:lnTo>
                      <a:pt x="1470926" y="172719"/>
                    </a:lnTo>
                    <a:lnTo>
                      <a:pt x="1460296" y="172719"/>
                    </a:lnTo>
                    <a:lnTo>
                      <a:pt x="1455686" y="168910"/>
                    </a:lnTo>
                    <a:lnTo>
                      <a:pt x="1454950" y="158750"/>
                    </a:lnTo>
                    <a:lnTo>
                      <a:pt x="1458950" y="153669"/>
                    </a:lnTo>
                    <a:close/>
                  </a:path>
                  <a:path w="2992754" h="304800">
                    <a:moveTo>
                      <a:pt x="1427669" y="156593"/>
                    </a:moveTo>
                    <a:lnTo>
                      <a:pt x="1416558" y="157480"/>
                    </a:lnTo>
                    <a:lnTo>
                      <a:pt x="1412582" y="161289"/>
                    </a:lnTo>
                    <a:lnTo>
                      <a:pt x="1413383" y="172050"/>
                    </a:lnTo>
                    <a:lnTo>
                      <a:pt x="1413508" y="172781"/>
                    </a:lnTo>
                    <a:lnTo>
                      <a:pt x="1417614" y="176137"/>
                    </a:lnTo>
                    <a:lnTo>
                      <a:pt x="1428775" y="175260"/>
                    </a:lnTo>
                    <a:lnTo>
                      <a:pt x="1432737" y="171450"/>
                    </a:lnTo>
                    <a:lnTo>
                      <a:pt x="1431861" y="160019"/>
                    </a:lnTo>
                    <a:lnTo>
                      <a:pt x="1427669" y="156593"/>
                    </a:lnTo>
                    <a:close/>
                  </a:path>
                  <a:path w="2992754" h="304800">
                    <a:moveTo>
                      <a:pt x="1231153" y="172300"/>
                    </a:moveTo>
                    <a:lnTo>
                      <a:pt x="1208638" y="173989"/>
                    </a:lnTo>
                    <a:lnTo>
                      <a:pt x="1194380" y="173989"/>
                    </a:lnTo>
                    <a:lnTo>
                      <a:pt x="1174838" y="175260"/>
                    </a:lnTo>
                    <a:lnTo>
                      <a:pt x="1174431" y="175775"/>
                    </a:lnTo>
                    <a:lnTo>
                      <a:pt x="1180147" y="175260"/>
                    </a:lnTo>
                    <a:lnTo>
                      <a:pt x="1228823" y="175260"/>
                    </a:lnTo>
                    <a:lnTo>
                      <a:pt x="1231153" y="172300"/>
                    </a:lnTo>
                    <a:close/>
                  </a:path>
                  <a:path w="2992754" h="304800">
                    <a:moveTo>
                      <a:pt x="21372" y="172781"/>
                    </a:moveTo>
                    <a:lnTo>
                      <a:pt x="20837" y="173607"/>
                    </a:lnTo>
                    <a:lnTo>
                      <a:pt x="21669" y="174865"/>
                    </a:lnTo>
                    <a:lnTo>
                      <a:pt x="21372" y="172781"/>
                    </a:lnTo>
                    <a:close/>
                  </a:path>
                  <a:path w="2992754" h="304800">
                    <a:moveTo>
                      <a:pt x="20412" y="166201"/>
                    </a:moveTo>
                    <a:lnTo>
                      <a:pt x="20193" y="166369"/>
                    </a:lnTo>
                    <a:lnTo>
                      <a:pt x="15062" y="166369"/>
                    </a:lnTo>
                    <a:lnTo>
                      <a:pt x="17729" y="168910"/>
                    </a:lnTo>
                    <a:lnTo>
                      <a:pt x="20837" y="173607"/>
                    </a:lnTo>
                    <a:lnTo>
                      <a:pt x="21372" y="172781"/>
                    </a:lnTo>
                    <a:lnTo>
                      <a:pt x="20412" y="166201"/>
                    </a:lnTo>
                    <a:close/>
                  </a:path>
                  <a:path w="2992754" h="304800">
                    <a:moveTo>
                      <a:pt x="20711" y="168148"/>
                    </a:moveTo>
                    <a:lnTo>
                      <a:pt x="21372" y="172781"/>
                    </a:lnTo>
                    <a:lnTo>
                      <a:pt x="21309" y="172050"/>
                    </a:lnTo>
                    <a:lnTo>
                      <a:pt x="20711" y="168148"/>
                    </a:lnTo>
                    <a:close/>
                  </a:path>
                  <a:path w="2992754" h="304800">
                    <a:moveTo>
                      <a:pt x="1514157" y="149860"/>
                    </a:moveTo>
                    <a:lnTo>
                      <a:pt x="1497726" y="151130"/>
                    </a:lnTo>
                    <a:lnTo>
                      <a:pt x="1486569" y="152400"/>
                    </a:lnTo>
                    <a:lnTo>
                      <a:pt x="1475418" y="152400"/>
                    </a:lnTo>
                    <a:lnTo>
                      <a:pt x="1458950" y="153669"/>
                    </a:lnTo>
                    <a:lnTo>
                      <a:pt x="1454950" y="158750"/>
                    </a:lnTo>
                    <a:lnTo>
                      <a:pt x="1455686" y="168910"/>
                    </a:lnTo>
                    <a:lnTo>
                      <a:pt x="1460296" y="172719"/>
                    </a:lnTo>
                    <a:lnTo>
                      <a:pt x="1465605" y="172719"/>
                    </a:lnTo>
                    <a:lnTo>
                      <a:pt x="1471455" y="172050"/>
                    </a:lnTo>
                    <a:lnTo>
                      <a:pt x="1474939" y="167639"/>
                    </a:lnTo>
                    <a:lnTo>
                      <a:pt x="1474190" y="157480"/>
                    </a:lnTo>
                    <a:lnTo>
                      <a:pt x="1469580" y="153669"/>
                    </a:lnTo>
                    <a:lnTo>
                      <a:pt x="1501565" y="153669"/>
                    </a:lnTo>
                    <a:lnTo>
                      <a:pt x="1503591" y="151130"/>
                    </a:lnTo>
                    <a:lnTo>
                      <a:pt x="1508887" y="151130"/>
                    </a:lnTo>
                    <a:lnTo>
                      <a:pt x="1514863" y="150653"/>
                    </a:lnTo>
                    <a:lnTo>
                      <a:pt x="1514157" y="149860"/>
                    </a:lnTo>
                    <a:close/>
                  </a:path>
                  <a:path w="2992754" h="304800">
                    <a:moveTo>
                      <a:pt x="1471455" y="172050"/>
                    </a:moveTo>
                    <a:lnTo>
                      <a:pt x="1465605" y="172719"/>
                    </a:lnTo>
                    <a:lnTo>
                      <a:pt x="1470926" y="172719"/>
                    </a:lnTo>
                    <a:lnTo>
                      <a:pt x="1471455" y="172050"/>
                    </a:lnTo>
                    <a:close/>
                  </a:path>
                  <a:path w="2992754" h="304800">
                    <a:moveTo>
                      <a:pt x="1293352" y="166840"/>
                    </a:moveTo>
                    <a:lnTo>
                      <a:pt x="1280796" y="167639"/>
                    </a:lnTo>
                    <a:lnTo>
                      <a:pt x="1251698" y="170180"/>
                    </a:lnTo>
                    <a:lnTo>
                      <a:pt x="1231823" y="171450"/>
                    </a:lnTo>
                    <a:lnTo>
                      <a:pt x="1231153" y="172300"/>
                    </a:lnTo>
                    <a:lnTo>
                      <a:pt x="1242491" y="171450"/>
                    </a:lnTo>
                    <a:lnTo>
                      <a:pt x="1286027" y="171450"/>
                    </a:lnTo>
                    <a:lnTo>
                      <a:pt x="1289977" y="167639"/>
                    </a:lnTo>
                    <a:lnTo>
                      <a:pt x="1293352" y="166840"/>
                    </a:lnTo>
                    <a:close/>
                  </a:path>
                  <a:path w="2992754" h="304800">
                    <a:moveTo>
                      <a:pt x="1501565" y="153669"/>
                    </a:moveTo>
                    <a:lnTo>
                      <a:pt x="1469580" y="153669"/>
                    </a:lnTo>
                    <a:lnTo>
                      <a:pt x="1474190" y="157480"/>
                    </a:lnTo>
                    <a:lnTo>
                      <a:pt x="1474939" y="167639"/>
                    </a:lnTo>
                    <a:lnTo>
                      <a:pt x="1471455" y="172050"/>
                    </a:lnTo>
                    <a:lnTo>
                      <a:pt x="1476700" y="171450"/>
                    </a:lnTo>
                    <a:lnTo>
                      <a:pt x="1487792" y="171450"/>
                    </a:lnTo>
                    <a:lnTo>
                      <a:pt x="1509979" y="170180"/>
                    </a:lnTo>
                    <a:lnTo>
                      <a:pt x="1504645" y="170180"/>
                    </a:lnTo>
                    <a:lnTo>
                      <a:pt x="1500111" y="166369"/>
                    </a:lnTo>
                    <a:lnTo>
                      <a:pt x="1499539" y="156210"/>
                    </a:lnTo>
                    <a:lnTo>
                      <a:pt x="1501565" y="153669"/>
                    </a:lnTo>
                    <a:close/>
                  </a:path>
                  <a:path w="2992754" h="304800">
                    <a:moveTo>
                      <a:pt x="413" y="154214"/>
                    </a:moveTo>
                    <a:lnTo>
                      <a:pt x="558" y="158750"/>
                    </a:lnTo>
                    <a:lnTo>
                      <a:pt x="2552" y="170630"/>
                    </a:lnTo>
                    <a:lnTo>
                      <a:pt x="1965" y="166840"/>
                    </a:lnTo>
                    <a:lnTo>
                      <a:pt x="2015" y="166187"/>
                    </a:lnTo>
                    <a:lnTo>
                      <a:pt x="4630" y="162313"/>
                    </a:lnTo>
                    <a:lnTo>
                      <a:pt x="533" y="157480"/>
                    </a:lnTo>
                    <a:lnTo>
                      <a:pt x="413" y="154214"/>
                    </a:lnTo>
                    <a:close/>
                  </a:path>
                  <a:path w="2992754" h="304800">
                    <a:moveTo>
                      <a:pt x="1514863" y="150653"/>
                    </a:moveTo>
                    <a:lnTo>
                      <a:pt x="1508887" y="151130"/>
                    </a:lnTo>
                    <a:lnTo>
                      <a:pt x="1503591" y="151130"/>
                    </a:lnTo>
                    <a:lnTo>
                      <a:pt x="1499539" y="156210"/>
                    </a:lnTo>
                    <a:lnTo>
                      <a:pt x="1500111" y="166369"/>
                    </a:lnTo>
                    <a:lnTo>
                      <a:pt x="1504645" y="170180"/>
                    </a:lnTo>
                    <a:lnTo>
                      <a:pt x="1509979" y="170180"/>
                    </a:lnTo>
                    <a:lnTo>
                      <a:pt x="1515617" y="169732"/>
                    </a:lnTo>
                    <a:lnTo>
                      <a:pt x="1519301" y="165100"/>
                    </a:lnTo>
                    <a:lnTo>
                      <a:pt x="1518678" y="154939"/>
                    </a:lnTo>
                    <a:lnTo>
                      <a:pt x="1514863" y="150653"/>
                    </a:lnTo>
                    <a:close/>
                  </a:path>
                  <a:path w="2992754" h="304800">
                    <a:moveTo>
                      <a:pt x="1515617" y="169732"/>
                    </a:moveTo>
                    <a:lnTo>
                      <a:pt x="1509979" y="170180"/>
                    </a:lnTo>
                    <a:lnTo>
                      <a:pt x="1515262" y="170180"/>
                    </a:lnTo>
                    <a:lnTo>
                      <a:pt x="1515617" y="169732"/>
                    </a:lnTo>
                    <a:close/>
                  </a:path>
                  <a:path w="2992754" h="304800">
                    <a:moveTo>
                      <a:pt x="1577898" y="146050"/>
                    </a:moveTo>
                    <a:lnTo>
                      <a:pt x="1556700" y="147319"/>
                    </a:lnTo>
                    <a:lnTo>
                      <a:pt x="1514863" y="150653"/>
                    </a:lnTo>
                    <a:lnTo>
                      <a:pt x="1518678" y="154939"/>
                    </a:lnTo>
                    <a:lnTo>
                      <a:pt x="1519301" y="165100"/>
                    </a:lnTo>
                    <a:lnTo>
                      <a:pt x="1515617" y="169732"/>
                    </a:lnTo>
                    <a:lnTo>
                      <a:pt x="1558020" y="166369"/>
                    </a:lnTo>
                    <a:lnTo>
                      <a:pt x="1568047" y="165771"/>
                    </a:lnTo>
                    <a:lnTo>
                      <a:pt x="1564182" y="162560"/>
                    </a:lnTo>
                    <a:lnTo>
                      <a:pt x="1563408" y="151130"/>
                    </a:lnTo>
                    <a:lnTo>
                      <a:pt x="1567374" y="147318"/>
                    </a:lnTo>
                    <a:lnTo>
                      <a:pt x="1578152" y="146261"/>
                    </a:lnTo>
                    <a:lnTo>
                      <a:pt x="1577898" y="146050"/>
                    </a:lnTo>
                    <a:close/>
                  </a:path>
                  <a:path w="2992754" h="304800">
                    <a:moveTo>
                      <a:pt x="1340726" y="162560"/>
                    </a:moveTo>
                    <a:lnTo>
                      <a:pt x="1325340" y="163830"/>
                    </a:lnTo>
                    <a:lnTo>
                      <a:pt x="1315339" y="165100"/>
                    </a:lnTo>
                    <a:lnTo>
                      <a:pt x="1295336" y="166369"/>
                    </a:lnTo>
                    <a:lnTo>
                      <a:pt x="1293352" y="166840"/>
                    </a:lnTo>
                    <a:lnTo>
                      <a:pt x="1300734" y="166369"/>
                    </a:lnTo>
                    <a:lnTo>
                      <a:pt x="1327281" y="166369"/>
                    </a:lnTo>
                    <a:lnTo>
                      <a:pt x="1329956" y="163830"/>
                    </a:lnTo>
                    <a:lnTo>
                      <a:pt x="1341207" y="162949"/>
                    </a:lnTo>
                    <a:lnTo>
                      <a:pt x="1340726" y="162560"/>
                    </a:lnTo>
                    <a:close/>
                  </a:path>
                  <a:path w="2992754" h="304800">
                    <a:moveTo>
                      <a:pt x="14305" y="165309"/>
                    </a:moveTo>
                    <a:lnTo>
                      <a:pt x="15062" y="166369"/>
                    </a:lnTo>
                    <a:lnTo>
                      <a:pt x="14305" y="165309"/>
                    </a:lnTo>
                    <a:close/>
                  </a:path>
                  <a:path w="2992754" h="304800">
                    <a:moveTo>
                      <a:pt x="19854" y="162560"/>
                    </a:moveTo>
                    <a:lnTo>
                      <a:pt x="12344" y="162560"/>
                    </a:lnTo>
                    <a:lnTo>
                      <a:pt x="14305" y="165309"/>
                    </a:lnTo>
                    <a:lnTo>
                      <a:pt x="15113" y="166369"/>
                    </a:lnTo>
                    <a:lnTo>
                      <a:pt x="20193" y="166369"/>
                    </a:lnTo>
                    <a:lnTo>
                      <a:pt x="20412" y="166201"/>
                    </a:lnTo>
                    <a:lnTo>
                      <a:pt x="19854" y="162560"/>
                    </a:lnTo>
                    <a:close/>
                  </a:path>
                  <a:path w="2992754" h="304800">
                    <a:moveTo>
                      <a:pt x="1572295" y="165517"/>
                    </a:moveTo>
                    <a:lnTo>
                      <a:pt x="1568047" y="165771"/>
                    </a:lnTo>
                    <a:lnTo>
                      <a:pt x="1568767" y="166369"/>
                    </a:lnTo>
                    <a:lnTo>
                      <a:pt x="1572295" y="165517"/>
                    </a:lnTo>
                    <a:close/>
                  </a:path>
                  <a:path w="2992754" h="304800">
                    <a:moveTo>
                      <a:pt x="19848" y="162524"/>
                    </a:moveTo>
                    <a:lnTo>
                      <a:pt x="20412" y="166201"/>
                    </a:lnTo>
                    <a:lnTo>
                      <a:pt x="19969" y="162949"/>
                    </a:lnTo>
                    <a:lnTo>
                      <a:pt x="19848" y="162524"/>
                    </a:lnTo>
                    <a:close/>
                  </a:path>
                  <a:path w="2992754" h="304800">
                    <a:moveTo>
                      <a:pt x="18888" y="148669"/>
                    </a:moveTo>
                    <a:lnTo>
                      <a:pt x="19075" y="157480"/>
                    </a:lnTo>
                    <a:lnTo>
                      <a:pt x="19848" y="162524"/>
                    </a:lnTo>
                    <a:lnTo>
                      <a:pt x="19969" y="162949"/>
                    </a:lnTo>
                    <a:lnTo>
                      <a:pt x="20431" y="166187"/>
                    </a:lnTo>
                    <a:lnTo>
                      <a:pt x="26822" y="161289"/>
                    </a:lnTo>
                    <a:lnTo>
                      <a:pt x="27673" y="157480"/>
                    </a:lnTo>
                    <a:lnTo>
                      <a:pt x="23265" y="149797"/>
                    </a:lnTo>
                    <a:lnTo>
                      <a:pt x="18888" y="148669"/>
                    </a:lnTo>
                    <a:close/>
                  </a:path>
                  <a:path w="2992754" h="304800">
                    <a:moveTo>
                      <a:pt x="1578152" y="146261"/>
                    </a:moveTo>
                    <a:lnTo>
                      <a:pt x="1567357" y="147319"/>
                    </a:lnTo>
                    <a:lnTo>
                      <a:pt x="1563408" y="151130"/>
                    </a:lnTo>
                    <a:lnTo>
                      <a:pt x="1564182" y="162560"/>
                    </a:lnTo>
                    <a:lnTo>
                      <a:pt x="1568047" y="165771"/>
                    </a:lnTo>
                    <a:lnTo>
                      <a:pt x="1572295" y="165517"/>
                    </a:lnTo>
                    <a:lnTo>
                      <a:pt x="1574025" y="165100"/>
                    </a:lnTo>
                    <a:lnTo>
                      <a:pt x="1579562" y="164758"/>
                    </a:lnTo>
                    <a:lnTo>
                      <a:pt x="1583258" y="160019"/>
                    </a:lnTo>
                    <a:lnTo>
                      <a:pt x="1582483" y="149860"/>
                    </a:lnTo>
                    <a:lnTo>
                      <a:pt x="1578152" y="146261"/>
                    </a:lnTo>
                    <a:close/>
                  </a:path>
                  <a:path w="2992754" h="304800">
                    <a:moveTo>
                      <a:pt x="1579562" y="164758"/>
                    </a:moveTo>
                    <a:lnTo>
                      <a:pt x="1574025" y="165100"/>
                    </a:lnTo>
                    <a:lnTo>
                      <a:pt x="1572295" y="165517"/>
                    </a:lnTo>
                    <a:lnTo>
                      <a:pt x="1579295" y="165100"/>
                    </a:lnTo>
                    <a:lnTo>
                      <a:pt x="1579562" y="164758"/>
                    </a:lnTo>
                    <a:close/>
                  </a:path>
                  <a:path w="2992754" h="304800">
                    <a:moveTo>
                      <a:pt x="15989" y="160409"/>
                    </a:moveTo>
                    <a:lnTo>
                      <a:pt x="15062" y="161289"/>
                    </a:lnTo>
                    <a:lnTo>
                      <a:pt x="11919" y="161680"/>
                    </a:lnTo>
                    <a:lnTo>
                      <a:pt x="12035" y="162327"/>
                    </a:lnTo>
                    <a:lnTo>
                      <a:pt x="14305" y="165309"/>
                    </a:lnTo>
                    <a:lnTo>
                      <a:pt x="12344" y="162560"/>
                    </a:lnTo>
                    <a:lnTo>
                      <a:pt x="19854" y="162560"/>
                    </a:lnTo>
                    <a:lnTo>
                      <a:pt x="15989" y="160409"/>
                    </a:lnTo>
                    <a:close/>
                  </a:path>
                  <a:path w="2992754" h="304800">
                    <a:moveTo>
                      <a:pt x="1660436" y="139700"/>
                    </a:moveTo>
                    <a:lnTo>
                      <a:pt x="1634509" y="142239"/>
                    </a:lnTo>
                    <a:lnTo>
                      <a:pt x="1593252" y="144780"/>
                    </a:lnTo>
                    <a:lnTo>
                      <a:pt x="1578152" y="146261"/>
                    </a:lnTo>
                    <a:lnTo>
                      <a:pt x="1582483" y="149860"/>
                    </a:lnTo>
                    <a:lnTo>
                      <a:pt x="1583258" y="160019"/>
                    </a:lnTo>
                    <a:lnTo>
                      <a:pt x="1579562" y="164758"/>
                    </a:lnTo>
                    <a:lnTo>
                      <a:pt x="1635827" y="161289"/>
                    </a:lnTo>
                    <a:lnTo>
                      <a:pt x="1661718" y="160019"/>
                    </a:lnTo>
                    <a:lnTo>
                      <a:pt x="1651152" y="160019"/>
                    </a:lnTo>
                    <a:lnTo>
                      <a:pt x="1646567" y="156210"/>
                    </a:lnTo>
                    <a:lnTo>
                      <a:pt x="1645856" y="146050"/>
                    </a:lnTo>
                    <a:lnTo>
                      <a:pt x="1649844" y="140969"/>
                    </a:lnTo>
                    <a:lnTo>
                      <a:pt x="1660895" y="140210"/>
                    </a:lnTo>
                    <a:lnTo>
                      <a:pt x="1660436" y="139700"/>
                    </a:lnTo>
                    <a:close/>
                  </a:path>
                  <a:path w="2992754" h="304800">
                    <a:moveTo>
                      <a:pt x="10721" y="160601"/>
                    </a:moveTo>
                    <a:lnTo>
                      <a:pt x="5321" y="161289"/>
                    </a:lnTo>
                    <a:lnTo>
                      <a:pt x="4630" y="162313"/>
                    </a:lnTo>
                    <a:lnTo>
                      <a:pt x="4838" y="162560"/>
                    </a:lnTo>
                    <a:lnTo>
                      <a:pt x="11575" y="161723"/>
                    </a:lnTo>
                    <a:lnTo>
                      <a:pt x="10721" y="160601"/>
                    </a:lnTo>
                    <a:close/>
                  </a:path>
                  <a:path w="2992754" h="304800">
                    <a:moveTo>
                      <a:pt x="11575" y="161723"/>
                    </a:moveTo>
                    <a:lnTo>
                      <a:pt x="4838" y="162560"/>
                    </a:lnTo>
                    <a:lnTo>
                      <a:pt x="12077" y="162560"/>
                    </a:lnTo>
                    <a:lnTo>
                      <a:pt x="12025" y="162313"/>
                    </a:lnTo>
                    <a:lnTo>
                      <a:pt x="11575" y="161723"/>
                    </a:lnTo>
                    <a:close/>
                  </a:path>
                  <a:path w="2992754" h="304800">
                    <a:moveTo>
                      <a:pt x="12035" y="162327"/>
                    </a:moveTo>
                    <a:lnTo>
                      <a:pt x="12077" y="162560"/>
                    </a:lnTo>
                    <a:lnTo>
                      <a:pt x="12212" y="162560"/>
                    </a:lnTo>
                    <a:lnTo>
                      <a:pt x="12035" y="162327"/>
                    </a:lnTo>
                    <a:close/>
                  </a:path>
                  <a:path w="2992754" h="304800">
                    <a:moveTo>
                      <a:pt x="19075" y="157480"/>
                    </a:moveTo>
                    <a:lnTo>
                      <a:pt x="15989" y="160409"/>
                    </a:lnTo>
                    <a:lnTo>
                      <a:pt x="19848" y="162524"/>
                    </a:lnTo>
                    <a:lnTo>
                      <a:pt x="19075" y="157480"/>
                    </a:lnTo>
                    <a:close/>
                  </a:path>
                  <a:path w="2992754" h="304800">
                    <a:moveTo>
                      <a:pt x="11919" y="161680"/>
                    </a:moveTo>
                    <a:lnTo>
                      <a:pt x="11575" y="161723"/>
                    </a:lnTo>
                    <a:lnTo>
                      <a:pt x="12035" y="162327"/>
                    </a:lnTo>
                    <a:lnTo>
                      <a:pt x="11919" y="161680"/>
                    </a:lnTo>
                    <a:close/>
                  </a:path>
                  <a:path w="2992754" h="304800">
                    <a:moveTo>
                      <a:pt x="271" y="148671"/>
                    </a:moveTo>
                    <a:lnTo>
                      <a:pt x="413" y="154214"/>
                    </a:lnTo>
                    <a:lnTo>
                      <a:pt x="533" y="157480"/>
                    </a:lnTo>
                    <a:lnTo>
                      <a:pt x="4630" y="162313"/>
                    </a:lnTo>
                    <a:lnTo>
                      <a:pt x="5321" y="161289"/>
                    </a:lnTo>
                    <a:lnTo>
                      <a:pt x="10721" y="160601"/>
                    </a:lnTo>
                    <a:lnTo>
                      <a:pt x="7378" y="156210"/>
                    </a:lnTo>
                    <a:lnTo>
                      <a:pt x="4711" y="153669"/>
                    </a:lnTo>
                    <a:lnTo>
                      <a:pt x="1955" y="151130"/>
                    </a:lnTo>
                    <a:lnTo>
                      <a:pt x="271" y="148671"/>
                    </a:lnTo>
                    <a:close/>
                  </a:path>
                  <a:path w="2992754" h="304800">
                    <a:moveTo>
                      <a:pt x="11363" y="160519"/>
                    </a:moveTo>
                    <a:lnTo>
                      <a:pt x="10721" y="160601"/>
                    </a:lnTo>
                    <a:lnTo>
                      <a:pt x="11575" y="161723"/>
                    </a:lnTo>
                    <a:lnTo>
                      <a:pt x="11919" y="161680"/>
                    </a:lnTo>
                    <a:lnTo>
                      <a:pt x="11849" y="161289"/>
                    </a:lnTo>
                    <a:lnTo>
                      <a:pt x="11363" y="160519"/>
                    </a:lnTo>
                    <a:close/>
                  </a:path>
                  <a:path w="2992754" h="304800">
                    <a:moveTo>
                      <a:pt x="15278" y="160019"/>
                    </a:moveTo>
                    <a:lnTo>
                      <a:pt x="11363" y="160519"/>
                    </a:lnTo>
                    <a:lnTo>
                      <a:pt x="11849" y="161289"/>
                    </a:lnTo>
                    <a:lnTo>
                      <a:pt x="11919" y="161680"/>
                    </a:lnTo>
                    <a:lnTo>
                      <a:pt x="15062" y="161289"/>
                    </a:lnTo>
                    <a:lnTo>
                      <a:pt x="15989" y="160409"/>
                    </a:lnTo>
                    <a:lnTo>
                      <a:pt x="15278" y="160019"/>
                    </a:lnTo>
                    <a:close/>
                  </a:path>
                  <a:path w="2992754" h="304800">
                    <a:moveTo>
                      <a:pt x="14605" y="143510"/>
                    </a:moveTo>
                    <a:lnTo>
                      <a:pt x="4318" y="143510"/>
                    </a:lnTo>
                    <a:lnTo>
                      <a:pt x="243" y="147318"/>
                    </a:lnTo>
                    <a:lnTo>
                      <a:pt x="271" y="148671"/>
                    </a:lnTo>
                    <a:lnTo>
                      <a:pt x="1955" y="151130"/>
                    </a:lnTo>
                    <a:lnTo>
                      <a:pt x="5298" y="154229"/>
                    </a:lnTo>
                    <a:lnTo>
                      <a:pt x="7378" y="156210"/>
                    </a:lnTo>
                    <a:lnTo>
                      <a:pt x="10721" y="160601"/>
                    </a:lnTo>
                    <a:lnTo>
                      <a:pt x="11363" y="160519"/>
                    </a:lnTo>
                    <a:lnTo>
                      <a:pt x="9448" y="157480"/>
                    </a:lnTo>
                    <a:lnTo>
                      <a:pt x="10807" y="152400"/>
                    </a:lnTo>
                    <a:lnTo>
                      <a:pt x="18580" y="148589"/>
                    </a:lnTo>
                    <a:lnTo>
                      <a:pt x="18884" y="148589"/>
                    </a:lnTo>
                    <a:lnTo>
                      <a:pt x="18857" y="147318"/>
                    </a:lnTo>
                    <a:lnTo>
                      <a:pt x="14605" y="143510"/>
                    </a:lnTo>
                    <a:close/>
                  </a:path>
                  <a:path w="2992754" h="304800">
                    <a:moveTo>
                      <a:pt x="18580" y="148589"/>
                    </a:moveTo>
                    <a:lnTo>
                      <a:pt x="10807" y="152400"/>
                    </a:lnTo>
                    <a:lnTo>
                      <a:pt x="9448" y="157480"/>
                    </a:lnTo>
                    <a:lnTo>
                      <a:pt x="11363" y="160519"/>
                    </a:lnTo>
                    <a:lnTo>
                      <a:pt x="15278" y="160019"/>
                    </a:lnTo>
                    <a:lnTo>
                      <a:pt x="16399" y="160019"/>
                    </a:lnTo>
                    <a:lnTo>
                      <a:pt x="19075" y="157480"/>
                    </a:lnTo>
                    <a:lnTo>
                      <a:pt x="18886" y="148668"/>
                    </a:lnTo>
                    <a:lnTo>
                      <a:pt x="18580" y="148589"/>
                    </a:lnTo>
                    <a:close/>
                  </a:path>
                  <a:path w="2992754" h="304800">
                    <a:moveTo>
                      <a:pt x="16399" y="160019"/>
                    </a:moveTo>
                    <a:lnTo>
                      <a:pt x="15278" y="160019"/>
                    </a:lnTo>
                    <a:lnTo>
                      <a:pt x="15989" y="160409"/>
                    </a:lnTo>
                    <a:lnTo>
                      <a:pt x="16399" y="160019"/>
                    </a:lnTo>
                    <a:close/>
                  </a:path>
                  <a:path w="2992754" h="304800">
                    <a:moveTo>
                      <a:pt x="1660895" y="140210"/>
                    </a:moveTo>
                    <a:lnTo>
                      <a:pt x="1649844" y="140969"/>
                    </a:lnTo>
                    <a:lnTo>
                      <a:pt x="1645856" y="146050"/>
                    </a:lnTo>
                    <a:lnTo>
                      <a:pt x="1646567" y="156210"/>
                    </a:lnTo>
                    <a:lnTo>
                      <a:pt x="1651152" y="160019"/>
                    </a:lnTo>
                    <a:lnTo>
                      <a:pt x="1656435" y="160019"/>
                    </a:lnTo>
                    <a:lnTo>
                      <a:pt x="1662040" y="159611"/>
                    </a:lnTo>
                    <a:lnTo>
                      <a:pt x="1665719" y="154939"/>
                    </a:lnTo>
                    <a:lnTo>
                      <a:pt x="1665008" y="144780"/>
                    </a:lnTo>
                    <a:lnTo>
                      <a:pt x="1660895" y="140210"/>
                    </a:lnTo>
                    <a:close/>
                  </a:path>
                  <a:path w="2992754" h="304800">
                    <a:moveTo>
                      <a:pt x="1662040" y="159611"/>
                    </a:moveTo>
                    <a:lnTo>
                      <a:pt x="1656435" y="160019"/>
                    </a:lnTo>
                    <a:lnTo>
                      <a:pt x="1661718" y="160019"/>
                    </a:lnTo>
                    <a:lnTo>
                      <a:pt x="1662040" y="159611"/>
                    </a:lnTo>
                    <a:close/>
                  </a:path>
                  <a:path w="2992754" h="304800">
                    <a:moveTo>
                      <a:pt x="1742262" y="134619"/>
                    </a:moveTo>
                    <a:lnTo>
                      <a:pt x="1660895" y="140210"/>
                    </a:lnTo>
                    <a:lnTo>
                      <a:pt x="1665008" y="144780"/>
                    </a:lnTo>
                    <a:lnTo>
                      <a:pt x="1665719" y="154939"/>
                    </a:lnTo>
                    <a:lnTo>
                      <a:pt x="1662040" y="159611"/>
                    </a:lnTo>
                    <a:lnTo>
                      <a:pt x="1732379" y="154485"/>
                    </a:lnTo>
                    <a:lnTo>
                      <a:pt x="1728330" y="151130"/>
                    </a:lnTo>
                    <a:lnTo>
                      <a:pt x="1727580" y="139700"/>
                    </a:lnTo>
                    <a:lnTo>
                      <a:pt x="1731594" y="135889"/>
                    </a:lnTo>
                    <a:lnTo>
                      <a:pt x="1742459" y="134783"/>
                    </a:lnTo>
                    <a:lnTo>
                      <a:pt x="1742262" y="134619"/>
                    </a:lnTo>
                    <a:close/>
                  </a:path>
                  <a:path w="2992754" h="304800">
                    <a:moveTo>
                      <a:pt x="1735899" y="154229"/>
                    </a:moveTo>
                    <a:lnTo>
                      <a:pt x="1732379" y="154485"/>
                    </a:lnTo>
                    <a:lnTo>
                      <a:pt x="1732927" y="154939"/>
                    </a:lnTo>
                    <a:lnTo>
                      <a:pt x="1735899" y="154229"/>
                    </a:lnTo>
                    <a:close/>
                  </a:path>
                  <a:path w="2992754" h="304800">
                    <a:moveTo>
                      <a:pt x="1742459" y="134783"/>
                    </a:moveTo>
                    <a:lnTo>
                      <a:pt x="1731594" y="135889"/>
                    </a:lnTo>
                    <a:lnTo>
                      <a:pt x="1727580" y="139700"/>
                    </a:lnTo>
                    <a:lnTo>
                      <a:pt x="1728330" y="151130"/>
                    </a:lnTo>
                    <a:lnTo>
                      <a:pt x="1732379" y="154485"/>
                    </a:lnTo>
                    <a:lnTo>
                      <a:pt x="1735961" y="154214"/>
                    </a:lnTo>
                    <a:lnTo>
                      <a:pt x="1738236" y="153669"/>
                    </a:lnTo>
                    <a:lnTo>
                      <a:pt x="1743961" y="153298"/>
                    </a:lnTo>
                    <a:lnTo>
                      <a:pt x="1747583" y="149860"/>
                    </a:lnTo>
                    <a:lnTo>
                      <a:pt x="1746872" y="138430"/>
                    </a:lnTo>
                    <a:lnTo>
                      <a:pt x="1742459" y="134783"/>
                    </a:lnTo>
                    <a:close/>
                  </a:path>
                  <a:path w="2992754" h="304800">
                    <a:moveTo>
                      <a:pt x="1743961" y="153298"/>
                    </a:moveTo>
                    <a:lnTo>
                      <a:pt x="1738236" y="153669"/>
                    </a:lnTo>
                    <a:lnTo>
                      <a:pt x="1735899" y="154229"/>
                    </a:lnTo>
                    <a:lnTo>
                      <a:pt x="1743570" y="153669"/>
                    </a:lnTo>
                    <a:lnTo>
                      <a:pt x="1743961" y="153298"/>
                    </a:lnTo>
                    <a:close/>
                  </a:path>
                  <a:path w="2992754" h="304800">
                    <a:moveTo>
                      <a:pt x="76" y="143933"/>
                    </a:moveTo>
                    <a:lnTo>
                      <a:pt x="207" y="148589"/>
                    </a:lnTo>
                    <a:lnTo>
                      <a:pt x="413" y="154214"/>
                    </a:lnTo>
                    <a:lnTo>
                      <a:pt x="297" y="149797"/>
                    </a:lnTo>
                    <a:lnTo>
                      <a:pt x="177" y="147318"/>
                    </a:lnTo>
                    <a:lnTo>
                      <a:pt x="76" y="143933"/>
                    </a:lnTo>
                    <a:close/>
                  </a:path>
                  <a:path w="2992754" h="304800">
                    <a:moveTo>
                      <a:pt x="1820786" y="129539"/>
                    </a:moveTo>
                    <a:lnTo>
                      <a:pt x="1815401" y="129539"/>
                    </a:lnTo>
                    <a:lnTo>
                      <a:pt x="1756527" y="133350"/>
                    </a:lnTo>
                    <a:lnTo>
                      <a:pt x="1742459" y="134783"/>
                    </a:lnTo>
                    <a:lnTo>
                      <a:pt x="1746872" y="138430"/>
                    </a:lnTo>
                    <a:lnTo>
                      <a:pt x="1747583" y="149860"/>
                    </a:lnTo>
                    <a:lnTo>
                      <a:pt x="1743961" y="153298"/>
                    </a:lnTo>
                    <a:lnTo>
                      <a:pt x="1777360" y="151130"/>
                    </a:lnTo>
                    <a:lnTo>
                      <a:pt x="1796923" y="151130"/>
                    </a:lnTo>
                    <a:lnTo>
                      <a:pt x="1816493" y="149860"/>
                    </a:lnTo>
                    <a:lnTo>
                      <a:pt x="1811121" y="149860"/>
                    </a:lnTo>
                    <a:lnTo>
                      <a:pt x="1806511" y="146050"/>
                    </a:lnTo>
                    <a:lnTo>
                      <a:pt x="1805876" y="134619"/>
                    </a:lnTo>
                    <a:lnTo>
                      <a:pt x="1809978" y="130810"/>
                    </a:lnTo>
                    <a:lnTo>
                      <a:pt x="1820955" y="129679"/>
                    </a:lnTo>
                    <a:lnTo>
                      <a:pt x="1820786" y="129539"/>
                    </a:lnTo>
                    <a:close/>
                  </a:path>
                  <a:path w="2992754" h="304800">
                    <a:moveTo>
                      <a:pt x="1820955" y="129679"/>
                    </a:moveTo>
                    <a:lnTo>
                      <a:pt x="1809978" y="130810"/>
                    </a:lnTo>
                    <a:lnTo>
                      <a:pt x="1805876" y="134619"/>
                    </a:lnTo>
                    <a:lnTo>
                      <a:pt x="1806511" y="146050"/>
                    </a:lnTo>
                    <a:lnTo>
                      <a:pt x="1811121" y="149860"/>
                    </a:lnTo>
                    <a:lnTo>
                      <a:pt x="1816493" y="149860"/>
                    </a:lnTo>
                    <a:lnTo>
                      <a:pt x="1821878" y="148589"/>
                    </a:lnTo>
                    <a:lnTo>
                      <a:pt x="1826005" y="144780"/>
                    </a:lnTo>
                    <a:lnTo>
                      <a:pt x="1825409" y="133350"/>
                    </a:lnTo>
                    <a:lnTo>
                      <a:pt x="1820955" y="129679"/>
                    </a:lnTo>
                    <a:close/>
                  </a:path>
                  <a:path w="2992754" h="304800">
                    <a:moveTo>
                      <a:pt x="1886762" y="125979"/>
                    </a:moveTo>
                    <a:lnTo>
                      <a:pt x="1834630" y="128269"/>
                    </a:lnTo>
                    <a:lnTo>
                      <a:pt x="1820955" y="129679"/>
                    </a:lnTo>
                    <a:lnTo>
                      <a:pt x="1825409" y="133350"/>
                    </a:lnTo>
                    <a:lnTo>
                      <a:pt x="1826005" y="144780"/>
                    </a:lnTo>
                    <a:lnTo>
                      <a:pt x="1821878" y="148589"/>
                    </a:lnTo>
                    <a:lnTo>
                      <a:pt x="1816493" y="149860"/>
                    </a:lnTo>
                    <a:lnTo>
                      <a:pt x="1855079" y="147318"/>
                    </a:lnTo>
                    <a:lnTo>
                      <a:pt x="1899056" y="144780"/>
                    </a:lnTo>
                    <a:lnTo>
                      <a:pt x="1888172" y="144780"/>
                    </a:lnTo>
                    <a:lnTo>
                      <a:pt x="1883498" y="140969"/>
                    </a:lnTo>
                    <a:lnTo>
                      <a:pt x="1882825" y="130810"/>
                    </a:lnTo>
                    <a:lnTo>
                      <a:pt x="1886762" y="125979"/>
                    </a:lnTo>
                    <a:close/>
                  </a:path>
                  <a:path w="2992754" h="304800">
                    <a:moveTo>
                      <a:pt x="18732" y="141471"/>
                    </a:moveTo>
                    <a:lnTo>
                      <a:pt x="18896" y="148671"/>
                    </a:lnTo>
                    <a:lnTo>
                      <a:pt x="23265" y="149797"/>
                    </a:lnTo>
                    <a:lnTo>
                      <a:pt x="21843" y="147318"/>
                    </a:lnTo>
                    <a:lnTo>
                      <a:pt x="18732" y="141471"/>
                    </a:lnTo>
                    <a:close/>
                  </a:path>
                  <a:path w="2992754" h="304800">
                    <a:moveTo>
                      <a:pt x="11823" y="134619"/>
                    </a:moveTo>
                    <a:lnTo>
                      <a:pt x="6108" y="135889"/>
                    </a:lnTo>
                    <a:lnTo>
                      <a:pt x="4622" y="137160"/>
                    </a:lnTo>
                    <a:lnTo>
                      <a:pt x="3378" y="138430"/>
                    </a:lnTo>
                    <a:lnTo>
                      <a:pt x="2336" y="138430"/>
                    </a:lnTo>
                    <a:lnTo>
                      <a:pt x="1511" y="139700"/>
                    </a:lnTo>
                    <a:lnTo>
                      <a:pt x="342" y="142239"/>
                    </a:lnTo>
                    <a:lnTo>
                      <a:pt x="68" y="143488"/>
                    </a:lnTo>
                    <a:lnTo>
                      <a:pt x="146" y="146261"/>
                    </a:lnTo>
                    <a:lnTo>
                      <a:pt x="271" y="148671"/>
                    </a:lnTo>
                    <a:lnTo>
                      <a:pt x="243" y="147318"/>
                    </a:lnTo>
                    <a:lnTo>
                      <a:pt x="4318" y="143510"/>
                    </a:lnTo>
                    <a:lnTo>
                      <a:pt x="18776" y="143510"/>
                    </a:lnTo>
                    <a:lnTo>
                      <a:pt x="18718" y="141445"/>
                    </a:lnTo>
                    <a:lnTo>
                      <a:pt x="18465" y="140969"/>
                    </a:lnTo>
                    <a:lnTo>
                      <a:pt x="15417" y="137160"/>
                    </a:lnTo>
                    <a:lnTo>
                      <a:pt x="11823" y="134619"/>
                    </a:lnTo>
                    <a:close/>
                  </a:path>
                  <a:path w="2992754" h="304800">
                    <a:moveTo>
                      <a:pt x="18884" y="148589"/>
                    </a:moveTo>
                    <a:lnTo>
                      <a:pt x="18580" y="148589"/>
                    </a:lnTo>
                    <a:lnTo>
                      <a:pt x="18886" y="148668"/>
                    </a:lnTo>
                    <a:close/>
                  </a:path>
                  <a:path w="2992754" h="304800">
                    <a:moveTo>
                      <a:pt x="18776" y="143510"/>
                    </a:moveTo>
                    <a:lnTo>
                      <a:pt x="14605" y="143510"/>
                    </a:lnTo>
                    <a:lnTo>
                      <a:pt x="18857" y="147318"/>
                    </a:lnTo>
                    <a:lnTo>
                      <a:pt x="18776" y="143510"/>
                    </a:lnTo>
                    <a:close/>
                  </a:path>
                  <a:path w="2992754" h="304800">
                    <a:moveTo>
                      <a:pt x="1898265" y="124856"/>
                    </a:moveTo>
                    <a:lnTo>
                      <a:pt x="1895165" y="125096"/>
                    </a:lnTo>
                    <a:lnTo>
                      <a:pt x="1892439" y="125730"/>
                    </a:lnTo>
                    <a:lnTo>
                      <a:pt x="1886762" y="125979"/>
                    </a:lnTo>
                    <a:lnTo>
                      <a:pt x="1882825" y="130810"/>
                    </a:lnTo>
                    <a:lnTo>
                      <a:pt x="1883498" y="140969"/>
                    </a:lnTo>
                    <a:lnTo>
                      <a:pt x="1888172" y="144780"/>
                    </a:lnTo>
                    <a:lnTo>
                      <a:pt x="1893608" y="144780"/>
                    </a:lnTo>
                    <a:lnTo>
                      <a:pt x="1899257" y="144534"/>
                    </a:lnTo>
                    <a:lnTo>
                      <a:pt x="1903222" y="139700"/>
                    </a:lnTo>
                    <a:lnTo>
                      <a:pt x="1902574" y="129539"/>
                    </a:lnTo>
                    <a:lnTo>
                      <a:pt x="1898265" y="124856"/>
                    </a:lnTo>
                    <a:close/>
                  </a:path>
                  <a:path w="2992754" h="304800">
                    <a:moveTo>
                      <a:pt x="1899257" y="144534"/>
                    </a:moveTo>
                    <a:lnTo>
                      <a:pt x="1893608" y="144780"/>
                    </a:lnTo>
                    <a:lnTo>
                      <a:pt x="1899056" y="144780"/>
                    </a:lnTo>
                    <a:lnTo>
                      <a:pt x="1899257" y="144534"/>
                    </a:lnTo>
                    <a:close/>
                  </a:path>
                  <a:path w="2992754" h="304800">
                    <a:moveTo>
                      <a:pt x="1956333" y="120650"/>
                    </a:moveTo>
                    <a:lnTo>
                      <a:pt x="1936248" y="121919"/>
                    </a:lnTo>
                    <a:lnTo>
                      <a:pt x="1898265" y="124856"/>
                    </a:lnTo>
                    <a:lnTo>
                      <a:pt x="1902574" y="129539"/>
                    </a:lnTo>
                    <a:lnTo>
                      <a:pt x="1903222" y="139700"/>
                    </a:lnTo>
                    <a:lnTo>
                      <a:pt x="1899257" y="144534"/>
                    </a:lnTo>
                    <a:lnTo>
                      <a:pt x="1922886" y="143510"/>
                    </a:lnTo>
                    <a:lnTo>
                      <a:pt x="1937522" y="142239"/>
                    </a:lnTo>
                    <a:lnTo>
                      <a:pt x="1946171" y="141693"/>
                    </a:lnTo>
                    <a:lnTo>
                      <a:pt x="1941944" y="137160"/>
                    </a:lnTo>
                    <a:lnTo>
                      <a:pt x="1941233" y="127000"/>
                    </a:lnTo>
                    <a:lnTo>
                      <a:pt x="1945373" y="121919"/>
                    </a:lnTo>
                    <a:lnTo>
                      <a:pt x="1950859" y="121919"/>
                    </a:lnTo>
                    <a:lnTo>
                      <a:pt x="1957013" y="121378"/>
                    </a:lnTo>
                    <a:lnTo>
                      <a:pt x="1956333" y="120650"/>
                    </a:lnTo>
                    <a:close/>
                  </a:path>
                  <a:path w="2992754" h="304800">
                    <a:moveTo>
                      <a:pt x="6108" y="135889"/>
                    </a:moveTo>
                    <a:lnTo>
                      <a:pt x="4089" y="135889"/>
                    </a:lnTo>
                    <a:lnTo>
                      <a:pt x="0" y="139700"/>
                    </a:lnTo>
                    <a:lnTo>
                      <a:pt x="68" y="143488"/>
                    </a:lnTo>
                    <a:lnTo>
                      <a:pt x="342" y="142239"/>
                    </a:lnTo>
                    <a:lnTo>
                      <a:pt x="1511" y="139700"/>
                    </a:lnTo>
                    <a:lnTo>
                      <a:pt x="2336" y="138430"/>
                    </a:lnTo>
                    <a:lnTo>
                      <a:pt x="3378" y="138430"/>
                    </a:lnTo>
                    <a:lnTo>
                      <a:pt x="4622" y="137160"/>
                    </a:lnTo>
                    <a:lnTo>
                      <a:pt x="6108" y="135889"/>
                    </a:lnTo>
                    <a:close/>
                  </a:path>
                  <a:path w="2992754" h="304800">
                    <a:moveTo>
                      <a:pt x="1950107" y="141445"/>
                    </a:moveTo>
                    <a:lnTo>
                      <a:pt x="1946171" y="141693"/>
                    </a:lnTo>
                    <a:lnTo>
                      <a:pt x="1946681" y="142239"/>
                    </a:lnTo>
                    <a:lnTo>
                      <a:pt x="1950107" y="141445"/>
                    </a:lnTo>
                    <a:close/>
                  </a:path>
                  <a:path w="2992754" h="304800">
                    <a:moveTo>
                      <a:pt x="1957013" y="121378"/>
                    </a:moveTo>
                    <a:lnTo>
                      <a:pt x="1950859" y="121919"/>
                    </a:lnTo>
                    <a:lnTo>
                      <a:pt x="1945373" y="121919"/>
                    </a:lnTo>
                    <a:lnTo>
                      <a:pt x="1941233" y="127000"/>
                    </a:lnTo>
                    <a:lnTo>
                      <a:pt x="1941944" y="137160"/>
                    </a:lnTo>
                    <a:lnTo>
                      <a:pt x="1946171" y="141693"/>
                    </a:lnTo>
                    <a:lnTo>
                      <a:pt x="1950107" y="141445"/>
                    </a:lnTo>
                    <a:lnTo>
                      <a:pt x="1952155" y="140969"/>
                    </a:lnTo>
                    <a:lnTo>
                      <a:pt x="1957628" y="140969"/>
                    </a:lnTo>
                    <a:lnTo>
                      <a:pt x="1961781" y="135889"/>
                    </a:lnTo>
                    <a:lnTo>
                      <a:pt x="1961070" y="125730"/>
                    </a:lnTo>
                    <a:lnTo>
                      <a:pt x="1957013" y="121378"/>
                    </a:lnTo>
                    <a:close/>
                  </a:path>
                  <a:path w="2992754" h="304800">
                    <a:moveTo>
                      <a:pt x="14427" y="135889"/>
                    </a:moveTo>
                    <a:lnTo>
                      <a:pt x="13620" y="135889"/>
                    </a:lnTo>
                    <a:lnTo>
                      <a:pt x="15417" y="137160"/>
                    </a:lnTo>
                    <a:lnTo>
                      <a:pt x="18465" y="140969"/>
                    </a:lnTo>
                    <a:lnTo>
                      <a:pt x="18732" y="141471"/>
                    </a:lnTo>
                    <a:lnTo>
                      <a:pt x="18694" y="139700"/>
                    </a:lnTo>
                    <a:lnTo>
                      <a:pt x="14427" y="135889"/>
                    </a:lnTo>
                    <a:close/>
                  </a:path>
                  <a:path w="2992754" h="304800">
                    <a:moveTo>
                      <a:pt x="1957628" y="140969"/>
                    </a:moveTo>
                    <a:lnTo>
                      <a:pt x="1952155" y="140969"/>
                    </a:lnTo>
                    <a:lnTo>
                      <a:pt x="1950107" y="141445"/>
                    </a:lnTo>
                    <a:lnTo>
                      <a:pt x="1957628" y="140969"/>
                    </a:lnTo>
                    <a:close/>
                  </a:path>
                  <a:path w="2992754" h="304800">
                    <a:moveTo>
                      <a:pt x="2002826" y="118527"/>
                    </a:moveTo>
                    <a:lnTo>
                      <a:pt x="1979749" y="119380"/>
                    </a:lnTo>
                    <a:lnTo>
                      <a:pt x="1957013" y="121378"/>
                    </a:lnTo>
                    <a:lnTo>
                      <a:pt x="1961070" y="125730"/>
                    </a:lnTo>
                    <a:lnTo>
                      <a:pt x="1961781" y="135889"/>
                    </a:lnTo>
                    <a:lnTo>
                      <a:pt x="1957628" y="140969"/>
                    </a:lnTo>
                    <a:lnTo>
                      <a:pt x="1966558" y="140969"/>
                    </a:lnTo>
                    <a:lnTo>
                      <a:pt x="1980965" y="139700"/>
                    </a:lnTo>
                    <a:lnTo>
                      <a:pt x="2003783" y="138010"/>
                    </a:lnTo>
                    <a:lnTo>
                      <a:pt x="1999602" y="134619"/>
                    </a:lnTo>
                    <a:lnTo>
                      <a:pt x="1998979" y="123189"/>
                    </a:lnTo>
                    <a:lnTo>
                      <a:pt x="2002826" y="118527"/>
                    </a:lnTo>
                    <a:close/>
                  </a:path>
                  <a:path w="2992754" h="304800">
                    <a:moveTo>
                      <a:pt x="2074506" y="118110"/>
                    </a:moveTo>
                    <a:lnTo>
                      <a:pt x="2014131" y="118110"/>
                    </a:lnTo>
                    <a:lnTo>
                      <a:pt x="2018830" y="121919"/>
                    </a:lnTo>
                    <a:lnTo>
                      <a:pt x="2019452" y="133350"/>
                    </a:lnTo>
                    <a:lnTo>
                      <a:pt x="2015261" y="137160"/>
                    </a:lnTo>
                    <a:lnTo>
                      <a:pt x="2003783" y="138010"/>
                    </a:lnTo>
                    <a:lnTo>
                      <a:pt x="2004301" y="138430"/>
                    </a:lnTo>
                    <a:lnTo>
                      <a:pt x="2009775" y="138430"/>
                    </a:lnTo>
                    <a:lnTo>
                      <a:pt x="2046633" y="135889"/>
                    </a:lnTo>
                    <a:lnTo>
                      <a:pt x="2065071" y="135889"/>
                    </a:lnTo>
                    <a:lnTo>
                      <a:pt x="2088997" y="134619"/>
                    </a:lnTo>
                    <a:lnTo>
                      <a:pt x="2078024" y="134619"/>
                    </a:lnTo>
                    <a:lnTo>
                      <a:pt x="2073427" y="130810"/>
                    </a:lnTo>
                    <a:lnTo>
                      <a:pt x="2073214" y="123189"/>
                    </a:lnTo>
                    <a:lnTo>
                      <a:pt x="2073071" y="119380"/>
                    </a:lnTo>
                    <a:lnTo>
                      <a:pt x="2074506" y="118110"/>
                    </a:lnTo>
                    <a:close/>
                  </a:path>
                  <a:path w="2992754" h="304800">
                    <a:moveTo>
                      <a:pt x="2014131" y="118110"/>
                    </a:moveTo>
                    <a:lnTo>
                      <a:pt x="2002826" y="118527"/>
                    </a:lnTo>
                    <a:lnTo>
                      <a:pt x="1998979" y="123189"/>
                    </a:lnTo>
                    <a:lnTo>
                      <a:pt x="1999602" y="134619"/>
                    </a:lnTo>
                    <a:lnTo>
                      <a:pt x="2003783" y="138010"/>
                    </a:lnTo>
                    <a:lnTo>
                      <a:pt x="2015261" y="137160"/>
                    </a:lnTo>
                    <a:lnTo>
                      <a:pt x="2019452" y="133350"/>
                    </a:lnTo>
                    <a:lnTo>
                      <a:pt x="2018830" y="121919"/>
                    </a:lnTo>
                    <a:lnTo>
                      <a:pt x="2014131" y="118110"/>
                    </a:lnTo>
                    <a:close/>
                  </a:path>
                  <a:path w="2992754" h="304800">
                    <a:moveTo>
                      <a:pt x="2088925" y="114922"/>
                    </a:moveTo>
                    <a:lnTo>
                      <a:pt x="2077377" y="115569"/>
                    </a:lnTo>
                    <a:lnTo>
                      <a:pt x="2073071" y="119380"/>
                    </a:lnTo>
                    <a:lnTo>
                      <a:pt x="2073301" y="125979"/>
                    </a:lnTo>
                    <a:lnTo>
                      <a:pt x="2073427" y="130810"/>
                    </a:lnTo>
                    <a:lnTo>
                      <a:pt x="2078024" y="134619"/>
                    </a:lnTo>
                    <a:lnTo>
                      <a:pt x="2088997" y="134619"/>
                    </a:lnTo>
                    <a:lnTo>
                      <a:pt x="2093197" y="129679"/>
                    </a:lnTo>
                    <a:lnTo>
                      <a:pt x="2093093" y="123189"/>
                    </a:lnTo>
                    <a:lnTo>
                      <a:pt x="2092960" y="119380"/>
                    </a:lnTo>
                    <a:lnTo>
                      <a:pt x="2088925" y="114922"/>
                    </a:lnTo>
                    <a:close/>
                  </a:path>
                  <a:path w="2992754" h="304800">
                    <a:moveTo>
                      <a:pt x="2145957" y="113030"/>
                    </a:moveTo>
                    <a:lnTo>
                      <a:pt x="2134298" y="113030"/>
                    </a:lnTo>
                    <a:lnTo>
                      <a:pt x="2117155" y="114300"/>
                    </a:lnTo>
                    <a:lnTo>
                      <a:pt x="2100013" y="114300"/>
                    </a:lnTo>
                    <a:lnTo>
                      <a:pt x="2088925" y="114922"/>
                    </a:lnTo>
                    <a:lnTo>
                      <a:pt x="2092960" y="119380"/>
                    </a:lnTo>
                    <a:lnTo>
                      <a:pt x="2093093" y="123189"/>
                    </a:lnTo>
                    <a:lnTo>
                      <a:pt x="2093197" y="129679"/>
                    </a:lnTo>
                    <a:lnTo>
                      <a:pt x="2088997" y="134619"/>
                    </a:lnTo>
                    <a:lnTo>
                      <a:pt x="2100560" y="134619"/>
                    </a:lnTo>
                    <a:lnTo>
                      <a:pt x="2117610" y="133350"/>
                    </a:lnTo>
                    <a:lnTo>
                      <a:pt x="2146223" y="133350"/>
                    </a:lnTo>
                    <a:lnTo>
                      <a:pt x="2141702" y="128269"/>
                    </a:lnTo>
                    <a:lnTo>
                      <a:pt x="2141562" y="118110"/>
                    </a:lnTo>
                    <a:lnTo>
                      <a:pt x="2145957" y="113030"/>
                    </a:lnTo>
                    <a:close/>
                  </a:path>
                  <a:path w="2992754" h="304800">
                    <a:moveTo>
                      <a:pt x="2156942" y="113030"/>
                    </a:moveTo>
                    <a:lnTo>
                      <a:pt x="2145957" y="113030"/>
                    </a:lnTo>
                    <a:lnTo>
                      <a:pt x="2141562" y="118110"/>
                    </a:lnTo>
                    <a:lnTo>
                      <a:pt x="2141702" y="128269"/>
                    </a:lnTo>
                    <a:lnTo>
                      <a:pt x="2146223" y="133350"/>
                    </a:lnTo>
                    <a:lnTo>
                      <a:pt x="2157209" y="133350"/>
                    </a:lnTo>
                    <a:lnTo>
                      <a:pt x="2161603" y="128269"/>
                    </a:lnTo>
                    <a:lnTo>
                      <a:pt x="2161463" y="118110"/>
                    </a:lnTo>
                    <a:lnTo>
                      <a:pt x="2156942" y="113030"/>
                    </a:lnTo>
                    <a:close/>
                  </a:path>
                  <a:path w="2992754" h="304800">
                    <a:moveTo>
                      <a:pt x="2241651" y="113030"/>
                    </a:moveTo>
                    <a:lnTo>
                      <a:pt x="2156942" y="113030"/>
                    </a:lnTo>
                    <a:lnTo>
                      <a:pt x="2161463" y="118110"/>
                    </a:lnTo>
                    <a:lnTo>
                      <a:pt x="2161603" y="128269"/>
                    </a:lnTo>
                    <a:lnTo>
                      <a:pt x="2157209" y="133350"/>
                    </a:lnTo>
                    <a:lnTo>
                      <a:pt x="2199449" y="133350"/>
                    </a:lnTo>
                    <a:lnTo>
                      <a:pt x="2223319" y="132080"/>
                    </a:lnTo>
                    <a:lnTo>
                      <a:pt x="2240546" y="132080"/>
                    </a:lnTo>
                    <a:lnTo>
                      <a:pt x="2237193" y="128269"/>
                    </a:lnTo>
                    <a:lnTo>
                      <a:pt x="2237181" y="116839"/>
                    </a:lnTo>
                    <a:lnTo>
                      <a:pt x="2241651" y="113030"/>
                    </a:lnTo>
                    <a:close/>
                  </a:path>
                  <a:path w="2992754" h="304800">
                    <a:moveTo>
                      <a:pt x="2241392" y="133041"/>
                    </a:moveTo>
                    <a:lnTo>
                      <a:pt x="2241664" y="133350"/>
                    </a:lnTo>
                    <a:lnTo>
                      <a:pt x="2247188" y="133350"/>
                    </a:lnTo>
                    <a:lnTo>
                      <a:pt x="2241392" y="133041"/>
                    </a:lnTo>
                    <a:close/>
                  </a:path>
                  <a:path w="2992754" h="304800">
                    <a:moveTo>
                      <a:pt x="2252726" y="113030"/>
                    </a:moveTo>
                    <a:lnTo>
                      <a:pt x="2241651" y="113030"/>
                    </a:lnTo>
                    <a:lnTo>
                      <a:pt x="2237181" y="116839"/>
                    </a:lnTo>
                    <a:lnTo>
                      <a:pt x="2237193" y="128269"/>
                    </a:lnTo>
                    <a:lnTo>
                      <a:pt x="2241392" y="133041"/>
                    </a:lnTo>
                    <a:lnTo>
                      <a:pt x="2247188" y="133350"/>
                    </a:lnTo>
                    <a:lnTo>
                      <a:pt x="2252713" y="133350"/>
                    </a:lnTo>
                    <a:lnTo>
                      <a:pt x="2257196" y="128269"/>
                    </a:lnTo>
                    <a:lnTo>
                      <a:pt x="2257196" y="116839"/>
                    </a:lnTo>
                    <a:lnTo>
                      <a:pt x="2252726" y="113030"/>
                    </a:lnTo>
                    <a:close/>
                  </a:path>
                  <a:path w="2992754" h="304800">
                    <a:moveTo>
                      <a:pt x="2345004" y="111760"/>
                    </a:moveTo>
                    <a:lnTo>
                      <a:pt x="2316316" y="113030"/>
                    </a:lnTo>
                    <a:lnTo>
                      <a:pt x="2252726" y="113030"/>
                    </a:lnTo>
                    <a:lnTo>
                      <a:pt x="2257196" y="116839"/>
                    </a:lnTo>
                    <a:lnTo>
                      <a:pt x="2257196" y="128269"/>
                    </a:lnTo>
                    <a:lnTo>
                      <a:pt x="2252713" y="133350"/>
                    </a:lnTo>
                    <a:lnTo>
                      <a:pt x="2293345" y="133350"/>
                    </a:lnTo>
                    <a:lnTo>
                      <a:pt x="2316420" y="132080"/>
                    </a:lnTo>
                    <a:lnTo>
                      <a:pt x="2333917" y="132080"/>
                    </a:lnTo>
                    <a:lnTo>
                      <a:pt x="2329370" y="128269"/>
                    </a:lnTo>
                    <a:lnTo>
                      <a:pt x="2329268" y="116839"/>
                    </a:lnTo>
                    <a:lnTo>
                      <a:pt x="2333764" y="113030"/>
                    </a:lnTo>
                    <a:lnTo>
                      <a:pt x="2345531" y="112347"/>
                    </a:lnTo>
                    <a:lnTo>
                      <a:pt x="2345004" y="111760"/>
                    </a:lnTo>
                    <a:close/>
                  </a:path>
                  <a:path w="2992754" h="304800">
                    <a:moveTo>
                      <a:pt x="2240546" y="132080"/>
                    </a:moveTo>
                    <a:lnTo>
                      <a:pt x="2223319" y="132080"/>
                    </a:lnTo>
                    <a:lnTo>
                      <a:pt x="2241392" y="133041"/>
                    </a:lnTo>
                    <a:lnTo>
                      <a:pt x="2240546" y="132080"/>
                    </a:lnTo>
                    <a:close/>
                  </a:path>
                  <a:path w="2992754" h="304800">
                    <a:moveTo>
                      <a:pt x="2345531" y="112347"/>
                    </a:moveTo>
                    <a:lnTo>
                      <a:pt x="2333764" y="113030"/>
                    </a:lnTo>
                    <a:lnTo>
                      <a:pt x="2329268" y="116839"/>
                    </a:lnTo>
                    <a:lnTo>
                      <a:pt x="2329370" y="128269"/>
                    </a:lnTo>
                    <a:lnTo>
                      <a:pt x="2333917" y="132080"/>
                    </a:lnTo>
                    <a:lnTo>
                      <a:pt x="2345093" y="132080"/>
                    </a:lnTo>
                    <a:lnTo>
                      <a:pt x="2349614" y="128269"/>
                    </a:lnTo>
                    <a:lnTo>
                      <a:pt x="2349563" y="116839"/>
                    </a:lnTo>
                    <a:lnTo>
                      <a:pt x="2345531" y="112347"/>
                    </a:lnTo>
                    <a:close/>
                  </a:path>
                  <a:path w="2992754" h="304800">
                    <a:moveTo>
                      <a:pt x="2398966" y="111760"/>
                    </a:moveTo>
                    <a:lnTo>
                      <a:pt x="2355672" y="111760"/>
                    </a:lnTo>
                    <a:lnTo>
                      <a:pt x="2345531" y="112347"/>
                    </a:lnTo>
                    <a:lnTo>
                      <a:pt x="2349563" y="116839"/>
                    </a:lnTo>
                    <a:lnTo>
                      <a:pt x="2349614" y="128269"/>
                    </a:lnTo>
                    <a:lnTo>
                      <a:pt x="2345093" y="132080"/>
                    </a:lnTo>
                    <a:lnTo>
                      <a:pt x="2398966" y="132080"/>
                    </a:lnTo>
                    <a:lnTo>
                      <a:pt x="2394394" y="128269"/>
                    </a:lnTo>
                    <a:lnTo>
                      <a:pt x="2394394" y="116839"/>
                    </a:lnTo>
                    <a:lnTo>
                      <a:pt x="2398966" y="111760"/>
                    </a:lnTo>
                    <a:close/>
                  </a:path>
                  <a:path w="2992754" h="304800">
                    <a:moveTo>
                      <a:pt x="2410244" y="111760"/>
                    </a:moveTo>
                    <a:lnTo>
                      <a:pt x="2398966" y="111760"/>
                    </a:lnTo>
                    <a:lnTo>
                      <a:pt x="2394394" y="116839"/>
                    </a:lnTo>
                    <a:lnTo>
                      <a:pt x="2394394" y="128269"/>
                    </a:lnTo>
                    <a:lnTo>
                      <a:pt x="2398966" y="132080"/>
                    </a:lnTo>
                    <a:lnTo>
                      <a:pt x="2410244" y="132080"/>
                    </a:lnTo>
                    <a:lnTo>
                      <a:pt x="2414803" y="128269"/>
                    </a:lnTo>
                    <a:lnTo>
                      <a:pt x="2414803" y="116839"/>
                    </a:lnTo>
                    <a:lnTo>
                      <a:pt x="2410244" y="111760"/>
                    </a:lnTo>
                    <a:close/>
                  </a:path>
                  <a:path w="2992754" h="304800">
                    <a:moveTo>
                      <a:pt x="2454376" y="111760"/>
                    </a:moveTo>
                    <a:lnTo>
                      <a:pt x="2410244" y="111760"/>
                    </a:lnTo>
                    <a:lnTo>
                      <a:pt x="2414803" y="116839"/>
                    </a:lnTo>
                    <a:lnTo>
                      <a:pt x="2414803" y="128269"/>
                    </a:lnTo>
                    <a:lnTo>
                      <a:pt x="2410244" y="132080"/>
                    </a:lnTo>
                    <a:lnTo>
                      <a:pt x="2454516" y="132080"/>
                    </a:lnTo>
                    <a:lnTo>
                      <a:pt x="2449957" y="128269"/>
                    </a:lnTo>
                    <a:lnTo>
                      <a:pt x="2449868" y="116839"/>
                    </a:lnTo>
                    <a:lnTo>
                      <a:pt x="2454376" y="111760"/>
                    </a:lnTo>
                    <a:close/>
                  </a:path>
                  <a:path w="2992754" h="304800">
                    <a:moveTo>
                      <a:pt x="2465552" y="111760"/>
                    </a:moveTo>
                    <a:lnTo>
                      <a:pt x="2454376" y="111760"/>
                    </a:lnTo>
                    <a:lnTo>
                      <a:pt x="2449868" y="116839"/>
                    </a:lnTo>
                    <a:lnTo>
                      <a:pt x="2449957" y="128269"/>
                    </a:lnTo>
                    <a:lnTo>
                      <a:pt x="2454516" y="132080"/>
                    </a:lnTo>
                    <a:lnTo>
                      <a:pt x="2465793" y="132080"/>
                    </a:lnTo>
                    <a:lnTo>
                      <a:pt x="2470264" y="127000"/>
                    </a:lnTo>
                    <a:lnTo>
                      <a:pt x="2470111" y="116839"/>
                    </a:lnTo>
                    <a:lnTo>
                      <a:pt x="2465552" y="111760"/>
                    </a:lnTo>
                    <a:close/>
                  </a:path>
                  <a:path w="2992754" h="304800">
                    <a:moveTo>
                      <a:pt x="2480360" y="111760"/>
                    </a:moveTo>
                    <a:lnTo>
                      <a:pt x="2465552" y="111760"/>
                    </a:lnTo>
                    <a:lnTo>
                      <a:pt x="2470111" y="116839"/>
                    </a:lnTo>
                    <a:lnTo>
                      <a:pt x="2470264" y="127000"/>
                    </a:lnTo>
                    <a:lnTo>
                      <a:pt x="2465793" y="132080"/>
                    </a:lnTo>
                    <a:lnTo>
                      <a:pt x="2480483" y="132080"/>
                    </a:lnTo>
                    <a:lnTo>
                      <a:pt x="2481372" y="131912"/>
                    </a:lnTo>
                    <a:lnTo>
                      <a:pt x="2476779" y="127000"/>
                    </a:lnTo>
                    <a:lnTo>
                      <a:pt x="2476144" y="116839"/>
                    </a:lnTo>
                    <a:lnTo>
                      <a:pt x="2480360" y="111760"/>
                    </a:lnTo>
                    <a:close/>
                  </a:path>
                  <a:path w="2992754" h="304800">
                    <a:moveTo>
                      <a:pt x="2487231" y="130810"/>
                    </a:moveTo>
                    <a:lnTo>
                      <a:pt x="2481372" y="131912"/>
                    </a:lnTo>
                    <a:lnTo>
                      <a:pt x="2481529" y="132080"/>
                    </a:lnTo>
                    <a:lnTo>
                      <a:pt x="2487231" y="130810"/>
                    </a:lnTo>
                    <a:close/>
                  </a:path>
                  <a:path w="2992754" h="304800">
                    <a:moveTo>
                      <a:pt x="2491525" y="110697"/>
                    </a:moveTo>
                    <a:lnTo>
                      <a:pt x="2489695" y="110871"/>
                    </a:lnTo>
                    <a:lnTo>
                      <a:pt x="2485885" y="111760"/>
                    </a:lnTo>
                    <a:lnTo>
                      <a:pt x="2480360" y="111760"/>
                    </a:lnTo>
                    <a:lnTo>
                      <a:pt x="2476144" y="116839"/>
                    </a:lnTo>
                    <a:lnTo>
                      <a:pt x="2476779" y="127000"/>
                    </a:lnTo>
                    <a:lnTo>
                      <a:pt x="2481372" y="131912"/>
                    </a:lnTo>
                    <a:lnTo>
                      <a:pt x="2487231" y="130810"/>
                    </a:lnTo>
                    <a:lnTo>
                      <a:pt x="2492743" y="130810"/>
                    </a:lnTo>
                    <a:lnTo>
                      <a:pt x="2496870" y="125730"/>
                    </a:lnTo>
                    <a:lnTo>
                      <a:pt x="2496032" y="115569"/>
                    </a:lnTo>
                    <a:lnTo>
                      <a:pt x="2492508" y="111760"/>
                    </a:lnTo>
                    <a:lnTo>
                      <a:pt x="2485885" y="111760"/>
                    </a:lnTo>
                    <a:lnTo>
                      <a:pt x="2489695" y="110871"/>
                    </a:lnTo>
                    <a:lnTo>
                      <a:pt x="2491686" y="110871"/>
                    </a:lnTo>
                    <a:lnTo>
                      <a:pt x="2491525" y="110697"/>
                    </a:lnTo>
                    <a:close/>
                  </a:path>
                  <a:path w="2992754" h="304800">
                    <a:moveTo>
                      <a:pt x="2509231" y="107963"/>
                    </a:moveTo>
                    <a:lnTo>
                      <a:pt x="2493708" y="110489"/>
                    </a:lnTo>
                    <a:lnTo>
                      <a:pt x="2491525" y="110697"/>
                    </a:lnTo>
                    <a:lnTo>
                      <a:pt x="2496032" y="115569"/>
                    </a:lnTo>
                    <a:lnTo>
                      <a:pt x="2496870" y="125730"/>
                    </a:lnTo>
                    <a:lnTo>
                      <a:pt x="2492743" y="130810"/>
                    </a:lnTo>
                    <a:lnTo>
                      <a:pt x="2495562" y="130810"/>
                    </a:lnTo>
                    <a:lnTo>
                      <a:pt x="2503855" y="129539"/>
                    </a:lnTo>
                    <a:lnTo>
                      <a:pt x="2506121" y="129121"/>
                    </a:lnTo>
                    <a:lnTo>
                      <a:pt x="2501633" y="125730"/>
                    </a:lnTo>
                    <a:lnTo>
                      <a:pt x="2500020" y="114300"/>
                    </a:lnTo>
                    <a:lnTo>
                      <a:pt x="2503804" y="109219"/>
                    </a:lnTo>
                    <a:lnTo>
                      <a:pt x="2509231" y="107963"/>
                    </a:lnTo>
                    <a:close/>
                  </a:path>
                  <a:path w="2992754" h="304800">
                    <a:moveTo>
                      <a:pt x="2546320" y="107950"/>
                    </a:moveTo>
                    <a:lnTo>
                      <a:pt x="2514866" y="107950"/>
                    </a:lnTo>
                    <a:lnTo>
                      <a:pt x="2519934" y="111760"/>
                    </a:lnTo>
                    <a:lnTo>
                      <a:pt x="2521445" y="123189"/>
                    </a:lnTo>
                    <a:lnTo>
                      <a:pt x="2517622" y="127000"/>
                    </a:lnTo>
                    <a:lnTo>
                      <a:pt x="2506121" y="129121"/>
                    </a:lnTo>
                    <a:lnTo>
                      <a:pt x="2506675" y="129539"/>
                    </a:lnTo>
                    <a:lnTo>
                      <a:pt x="2512123" y="128269"/>
                    </a:lnTo>
                    <a:lnTo>
                      <a:pt x="2533897" y="125730"/>
                    </a:lnTo>
                    <a:lnTo>
                      <a:pt x="2544820" y="125730"/>
                    </a:lnTo>
                    <a:lnTo>
                      <a:pt x="2555748" y="124460"/>
                    </a:lnTo>
                    <a:lnTo>
                      <a:pt x="2550172" y="124460"/>
                    </a:lnTo>
                    <a:lnTo>
                      <a:pt x="2545435" y="120650"/>
                    </a:lnTo>
                    <a:lnTo>
                      <a:pt x="2544889" y="109219"/>
                    </a:lnTo>
                    <a:lnTo>
                      <a:pt x="2546320" y="107950"/>
                    </a:lnTo>
                    <a:close/>
                  </a:path>
                  <a:path w="2992754" h="304800">
                    <a:moveTo>
                      <a:pt x="2514866" y="107950"/>
                    </a:moveTo>
                    <a:lnTo>
                      <a:pt x="2509316" y="107950"/>
                    </a:lnTo>
                    <a:lnTo>
                      <a:pt x="2503804" y="109219"/>
                    </a:lnTo>
                    <a:lnTo>
                      <a:pt x="2500020" y="114300"/>
                    </a:lnTo>
                    <a:lnTo>
                      <a:pt x="2501633" y="125730"/>
                    </a:lnTo>
                    <a:lnTo>
                      <a:pt x="2506121" y="129121"/>
                    </a:lnTo>
                    <a:lnTo>
                      <a:pt x="2517622" y="127000"/>
                    </a:lnTo>
                    <a:lnTo>
                      <a:pt x="2521445" y="123189"/>
                    </a:lnTo>
                    <a:lnTo>
                      <a:pt x="2519934" y="111760"/>
                    </a:lnTo>
                    <a:lnTo>
                      <a:pt x="2514866" y="107950"/>
                    </a:lnTo>
                    <a:close/>
                  </a:path>
                  <a:path w="2992754" h="304800">
                    <a:moveTo>
                      <a:pt x="1895165" y="125096"/>
                    </a:moveTo>
                    <a:lnTo>
                      <a:pt x="1886966" y="125730"/>
                    </a:lnTo>
                    <a:lnTo>
                      <a:pt x="1886762" y="125979"/>
                    </a:lnTo>
                    <a:lnTo>
                      <a:pt x="1892439" y="125730"/>
                    </a:lnTo>
                    <a:lnTo>
                      <a:pt x="1895165" y="125096"/>
                    </a:lnTo>
                    <a:close/>
                  </a:path>
                  <a:path w="2992754" h="304800">
                    <a:moveTo>
                      <a:pt x="1897900" y="124460"/>
                    </a:moveTo>
                    <a:lnTo>
                      <a:pt x="1895165" y="125096"/>
                    </a:lnTo>
                    <a:lnTo>
                      <a:pt x="1898265" y="124856"/>
                    </a:lnTo>
                    <a:lnTo>
                      <a:pt x="1897900" y="124460"/>
                    </a:lnTo>
                    <a:close/>
                  </a:path>
                  <a:path w="2992754" h="304800">
                    <a:moveTo>
                      <a:pt x="2560846" y="104542"/>
                    </a:moveTo>
                    <a:lnTo>
                      <a:pt x="2549182" y="105410"/>
                    </a:lnTo>
                    <a:lnTo>
                      <a:pt x="2544889" y="109219"/>
                    </a:lnTo>
                    <a:lnTo>
                      <a:pt x="2545435" y="120650"/>
                    </a:lnTo>
                    <a:lnTo>
                      <a:pt x="2550172" y="124460"/>
                    </a:lnTo>
                    <a:lnTo>
                      <a:pt x="2561323" y="124460"/>
                    </a:lnTo>
                    <a:lnTo>
                      <a:pt x="2565628" y="119380"/>
                    </a:lnTo>
                    <a:lnTo>
                      <a:pt x="2565082" y="107950"/>
                    </a:lnTo>
                    <a:lnTo>
                      <a:pt x="2560846" y="104542"/>
                    </a:lnTo>
                    <a:close/>
                  </a:path>
                  <a:path w="2992754" h="304800">
                    <a:moveTo>
                      <a:pt x="2594417" y="102484"/>
                    </a:moveTo>
                    <a:lnTo>
                      <a:pt x="2589238" y="102869"/>
                    </a:lnTo>
                    <a:lnTo>
                      <a:pt x="2577753" y="102869"/>
                    </a:lnTo>
                    <a:lnTo>
                      <a:pt x="2566264" y="104139"/>
                    </a:lnTo>
                    <a:lnTo>
                      <a:pt x="2560846" y="104542"/>
                    </a:lnTo>
                    <a:lnTo>
                      <a:pt x="2565082" y="107950"/>
                    </a:lnTo>
                    <a:lnTo>
                      <a:pt x="2565628" y="119380"/>
                    </a:lnTo>
                    <a:lnTo>
                      <a:pt x="2561323" y="124460"/>
                    </a:lnTo>
                    <a:lnTo>
                      <a:pt x="2567385" y="124460"/>
                    </a:lnTo>
                    <a:lnTo>
                      <a:pt x="2579017" y="123189"/>
                    </a:lnTo>
                    <a:lnTo>
                      <a:pt x="2590645" y="123189"/>
                    </a:lnTo>
                    <a:lnTo>
                      <a:pt x="2602268" y="121919"/>
                    </a:lnTo>
                    <a:lnTo>
                      <a:pt x="2596705" y="121919"/>
                    </a:lnTo>
                    <a:lnTo>
                      <a:pt x="2591841" y="118110"/>
                    </a:lnTo>
                    <a:lnTo>
                      <a:pt x="2590977" y="106680"/>
                    </a:lnTo>
                    <a:lnTo>
                      <a:pt x="2594417" y="102484"/>
                    </a:lnTo>
                    <a:close/>
                  </a:path>
                  <a:path w="2992754" h="304800">
                    <a:moveTo>
                      <a:pt x="2606319" y="101600"/>
                    </a:moveTo>
                    <a:lnTo>
                      <a:pt x="2594417" y="102484"/>
                    </a:lnTo>
                    <a:lnTo>
                      <a:pt x="2590977" y="106680"/>
                    </a:lnTo>
                    <a:lnTo>
                      <a:pt x="2591841" y="118110"/>
                    </a:lnTo>
                    <a:lnTo>
                      <a:pt x="2596705" y="121919"/>
                    </a:lnTo>
                    <a:lnTo>
                      <a:pt x="2602268" y="121919"/>
                    </a:lnTo>
                    <a:lnTo>
                      <a:pt x="2608484" y="121155"/>
                    </a:lnTo>
                    <a:lnTo>
                      <a:pt x="2612034" y="116839"/>
                    </a:lnTo>
                    <a:lnTo>
                      <a:pt x="2611183" y="105410"/>
                    </a:lnTo>
                    <a:lnTo>
                      <a:pt x="2606319" y="101600"/>
                    </a:lnTo>
                    <a:close/>
                  </a:path>
                  <a:path w="2992754" h="304800">
                    <a:moveTo>
                      <a:pt x="2608484" y="121155"/>
                    </a:moveTo>
                    <a:lnTo>
                      <a:pt x="2602268" y="121919"/>
                    </a:lnTo>
                    <a:lnTo>
                      <a:pt x="2607856" y="121919"/>
                    </a:lnTo>
                    <a:lnTo>
                      <a:pt x="2608484" y="121155"/>
                    </a:lnTo>
                    <a:close/>
                  </a:path>
                  <a:path w="2992754" h="304800">
                    <a:moveTo>
                      <a:pt x="2648851" y="99060"/>
                    </a:moveTo>
                    <a:lnTo>
                      <a:pt x="2643200" y="99060"/>
                    </a:lnTo>
                    <a:lnTo>
                      <a:pt x="2632536" y="100330"/>
                    </a:lnTo>
                    <a:lnTo>
                      <a:pt x="2621924" y="100330"/>
                    </a:lnTo>
                    <a:lnTo>
                      <a:pt x="2611316" y="101600"/>
                    </a:lnTo>
                    <a:lnTo>
                      <a:pt x="2606319" y="101600"/>
                    </a:lnTo>
                    <a:lnTo>
                      <a:pt x="2611183" y="105410"/>
                    </a:lnTo>
                    <a:lnTo>
                      <a:pt x="2612034" y="116839"/>
                    </a:lnTo>
                    <a:lnTo>
                      <a:pt x="2608484" y="121155"/>
                    </a:lnTo>
                    <a:lnTo>
                      <a:pt x="2612597" y="120650"/>
                    </a:lnTo>
                    <a:lnTo>
                      <a:pt x="2637993" y="120650"/>
                    </a:lnTo>
                    <a:lnTo>
                      <a:pt x="2633345" y="115569"/>
                    </a:lnTo>
                    <a:lnTo>
                      <a:pt x="2633052" y="104139"/>
                    </a:lnTo>
                    <a:lnTo>
                      <a:pt x="2637510" y="100330"/>
                    </a:lnTo>
                    <a:lnTo>
                      <a:pt x="2649147" y="99382"/>
                    </a:lnTo>
                    <a:lnTo>
                      <a:pt x="2648851" y="99060"/>
                    </a:lnTo>
                    <a:close/>
                  </a:path>
                  <a:path w="2992754" h="304800">
                    <a:moveTo>
                      <a:pt x="2649147" y="99382"/>
                    </a:moveTo>
                    <a:lnTo>
                      <a:pt x="2637510" y="100330"/>
                    </a:lnTo>
                    <a:lnTo>
                      <a:pt x="2633052" y="104139"/>
                    </a:lnTo>
                    <a:lnTo>
                      <a:pt x="2633345" y="115569"/>
                    </a:lnTo>
                    <a:lnTo>
                      <a:pt x="2637993" y="120650"/>
                    </a:lnTo>
                    <a:lnTo>
                      <a:pt x="2643619" y="120650"/>
                    </a:lnTo>
                    <a:lnTo>
                      <a:pt x="2649258" y="119380"/>
                    </a:lnTo>
                    <a:lnTo>
                      <a:pt x="2653741" y="115569"/>
                    </a:lnTo>
                    <a:lnTo>
                      <a:pt x="2653512" y="104139"/>
                    </a:lnTo>
                    <a:lnTo>
                      <a:pt x="2649147" y="99382"/>
                    </a:lnTo>
                    <a:close/>
                  </a:path>
                  <a:path w="2992754" h="304800">
                    <a:moveTo>
                      <a:pt x="2677261" y="99060"/>
                    </a:moveTo>
                    <a:lnTo>
                      <a:pt x="2653102" y="99060"/>
                    </a:lnTo>
                    <a:lnTo>
                      <a:pt x="2649147" y="99382"/>
                    </a:lnTo>
                    <a:lnTo>
                      <a:pt x="2653512" y="104139"/>
                    </a:lnTo>
                    <a:lnTo>
                      <a:pt x="2653741" y="115569"/>
                    </a:lnTo>
                    <a:lnTo>
                      <a:pt x="2649258" y="119380"/>
                    </a:lnTo>
                    <a:lnTo>
                      <a:pt x="2643619" y="120650"/>
                    </a:lnTo>
                    <a:lnTo>
                      <a:pt x="2663634" y="119380"/>
                    </a:lnTo>
                    <a:lnTo>
                      <a:pt x="2677972" y="119380"/>
                    </a:lnTo>
                    <a:lnTo>
                      <a:pt x="2673210" y="114300"/>
                    </a:lnTo>
                    <a:lnTo>
                      <a:pt x="2672803" y="102869"/>
                    </a:lnTo>
                    <a:lnTo>
                      <a:pt x="2677261" y="99060"/>
                    </a:lnTo>
                    <a:close/>
                  </a:path>
                  <a:path w="2992754" h="304800">
                    <a:moveTo>
                      <a:pt x="2689093" y="98218"/>
                    </a:moveTo>
                    <a:lnTo>
                      <a:pt x="2682951" y="99060"/>
                    </a:lnTo>
                    <a:lnTo>
                      <a:pt x="2677261" y="99060"/>
                    </a:lnTo>
                    <a:lnTo>
                      <a:pt x="2672803" y="102869"/>
                    </a:lnTo>
                    <a:lnTo>
                      <a:pt x="2673210" y="114300"/>
                    </a:lnTo>
                    <a:lnTo>
                      <a:pt x="2677972" y="119380"/>
                    </a:lnTo>
                    <a:lnTo>
                      <a:pt x="2689339" y="119380"/>
                    </a:lnTo>
                    <a:lnTo>
                      <a:pt x="2693809" y="114300"/>
                    </a:lnTo>
                    <a:lnTo>
                      <a:pt x="2693454" y="102869"/>
                    </a:lnTo>
                    <a:lnTo>
                      <a:pt x="2689093" y="98218"/>
                    </a:lnTo>
                    <a:close/>
                  </a:path>
                  <a:path w="2992754" h="304800">
                    <a:moveTo>
                      <a:pt x="2790063" y="97789"/>
                    </a:moveTo>
                    <a:lnTo>
                      <a:pt x="2692223" y="97789"/>
                    </a:lnTo>
                    <a:lnTo>
                      <a:pt x="2689093" y="98218"/>
                    </a:lnTo>
                    <a:lnTo>
                      <a:pt x="2693454" y="102869"/>
                    </a:lnTo>
                    <a:lnTo>
                      <a:pt x="2693809" y="114300"/>
                    </a:lnTo>
                    <a:lnTo>
                      <a:pt x="2689339" y="119380"/>
                    </a:lnTo>
                    <a:lnTo>
                      <a:pt x="2692778" y="119380"/>
                    </a:lnTo>
                    <a:lnTo>
                      <a:pt x="2701912" y="118110"/>
                    </a:lnTo>
                    <a:lnTo>
                      <a:pt x="2790063" y="118110"/>
                    </a:lnTo>
                    <a:lnTo>
                      <a:pt x="2785414" y="114300"/>
                    </a:lnTo>
                    <a:lnTo>
                      <a:pt x="2785414" y="102869"/>
                    </a:lnTo>
                    <a:lnTo>
                      <a:pt x="2790063" y="97789"/>
                    </a:lnTo>
                    <a:close/>
                  </a:path>
                  <a:path w="2992754" h="304800">
                    <a:moveTo>
                      <a:pt x="2088362" y="114300"/>
                    </a:moveTo>
                    <a:lnTo>
                      <a:pt x="2082876" y="114300"/>
                    </a:lnTo>
                    <a:lnTo>
                      <a:pt x="2045752" y="116839"/>
                    </a:lnTo>
                    <a:lnTo>
                      <a:pt x="2027199" y="116839"/>
                    </a:lnTo>
                    <a:lnTo>
                      <a:pt x="2003171" y="118110"/>
                    </a:lnTo>
                    <a:lnTo>
                      <a:pt x="2002826" y="118527"/>
                    </a:lnTo>
                    <a:lnTo>
                      <a:pt x="2014131" y="118110"/>
                    </a:lnTo>
                    <a:lnTo>
                      <a:pt x="2074506" y="118110"/>
                    </a:lnTo>
                    <a:lnTo>
                      <a:pt x="2077377" y="115569"/>
                    </a:lnTo>
                    <a:lnTo>
                      <a:pt x="2088925" y="114922"/>
                    </a:lnTo>
                    <a:lnTo>
                      <a:pt x="2088362" y="114300"/>
                    </a:lnTo>
                    <a:close/>
                  </a:path>
                  <a:path w="2992754" h="304800">
                    <a:moveTo>
                      <a:pt x="2801531" y="97789"/>
                    </a:moveTo>
                    <a:lnTo>
                      <a:pt x="2790063" y="97789"/>
                    </a:lnTo>
                    <a:lnTo>
                      <a:pt x="2785414" y="102869"/>
                    </a:lnTo>
                    <a:lnTo>
                      <a:pt x="2785414" y="114300"/>
                    </a:lnTo>
                    <a:lnTo>
                      <a:pt x="2790063" y="118110"/>
                    </a:lnTo>
                    <a:lnTo>
                      <a:pt x="2801531" y="118110"/>
                    </a:lnTo>
                    <a:lnTo>
                      <a:pt x="2806179" y="114300"/>
                    </a:lnTo>
                    <a:lnTo>
                      <a:pt x="2806179" y="102869"/>
                    </a:lnTo>
                    <a:lnTo>
                      <a:pt x="2801531" y="97789"/>
                    </a:lnTo>
                    <a:close/>
                  </a:path>
                  <a:path w="2992754" h="304800">
                    <a:moveTo>
                      <a:pt x="2910852" y="93980"/>
                    </a:moveTo>
                    <a:lnTo>
                      <a:pt x="2900984" y="95250"/>
                    </a:lnTo>
                    <a:lnTo>
                      <a:pt x="2896768" y="96519"/>
                    </a:lnTo>
                    <a:lnTo>
                      <a:pt x="2870847" y="96519"/>
                    </a:lnTo>
                    <a:lnTo>
                      <a:pt x="2852088" y="97789"/>
                    </a:lnTo>
                    <a:lnTo>
                      <a:pt x="2801531" y="97789"/>
                    </a:lnTo>
                    <a:lnTo>
                      <a:pt x="2806179" y="102869"/>
                    </a:lnTo>
                    <a:lnTo>
                      <a:pt x="2806179" y="114300"/>
                    </a:lnTo>
                    <a:lnTo>
                      <a:pt x="2801531" y="118110"/>
                    </a:lnTo>
                    <a:lnTo>
                      <a:pt x="2879331" y="118110"/>
                    </a:lnTo>
                    <a:lnTo>
                      <a:pt x="2887294" y="116839"/>
                    </a:lnTo>
                    <a:lnTo>
                      <a:pt x="2902915" y="116839"/>
                    </a:lnTo>
                    <a:lnTo>
                      <a:pt x="2897543" y="113030"/>
                    </a:lnTo>
                    <a:lnTo>
                      <a:pt x="2895561" y="101600"/>
                    </a:lnTo>
                    <a:lnTo>
                      <a:pt x="2899371" y="96519"/>
                    </a:lnTo>
                    <a:lnTo>
                      <a:pt x="2905074" y="95250"/>
                    </a:lnTo>
                    <a:lnTo>
                      <a:pt x="2911450" y="94402"/>
                    </a:lnTo>
                    <a:lnTo>
                      <a:pt x="2910852" y="93980"/>
                    </a:lnTo>
                    <a:close/>
                  </a:path>
                  <a:path w="2992754" h="304800">
                    <a:moveTo>
                      <a:pt x="2911450" y="94402"/>
                    </a:moveTo>
                    <a:lnTo>
                      <a:pt x="2905074" y="95250"/>
                    </a:lnTo>
                    <a:lnTo>
                      <a:pt x="2899371" y="96519"/>
                    </a:lnTo>
                    <a:lnTo>
                      <a:pt x="2895561" y="101600"/>
                    </a:lnTo>
                    <a:lnTo>
                      <a:pt x="2897543" y="113030"/>
                    </a:lnTo>
                    <a:lnTo>
                      <a:pt x="2902915" y="116839"/>
                    </a:lnTo>
                    <a:lnTo>
                      <a:pt x="2908592" y="115569"/>
                    </a:lnTo>
                    <a:lnTo>
                      <a:pt x="2910123" y="115347"/>
                    </a:lnTo>
                    <a:lnTo>
                      <a:pt x="2914294" y="114300"/>
                    </a:lnTo>
                    <a:lnTo>
                      <a:pt x="2918142" y="109219"/>
                    </a:lnTo>
                    <a:lnTo>
                      <a:pt x="2916250" y="97789"/>
                    </a:lnTo>
                    <a:lnTo>
                      <a:pt x="2911450" y="94402"/>
                    </a:lnTo>
                    <a:close/>
                  </a:path>
                  <a:path w="2992754" h="304800">
                    <a:moveTo>
                      <a:pt x="2910123" y="115347"/>
                    </a:moveTo>
                    <a:lnTo>
                      <a:pt x="2908592" y="115569"/>
                    </a:lnTo>
                    <a:lnTo>
                      <a:pt x="2902915" y="116839"/>
                    </a:lnTo>
                    <a:lnTo>
                      <a:pt x="2904185" y="116839"/>
                    </a:lnTo>
                    <a:lnTo>
                      <a:pt x="2910123" y="115347"/>
                    </a:lnTo>
                    <a:close/>
                  </a:path>
                  <a:path w="2992754" h="304800">
                    <a:moveTo>
                      <a:pt x="2936814" y="92311"/>
                    </a:moveTo>
                    <a:lnTo>
                      <a:pt x="2933792" y="92710"/>
                    </a:lnTo>
                    <a:lnTo>
                      <a:pt x="2924178" y="92710"/>
                    </a:lnTo>
                    <a:lnTo>
                      <a:pt x="2911450" y="94402"/>
                    </a:lnTo>
                    <a:lnTo>
                      <a:pt x="2916250" y="97789"/>
                    </a:lnTo>
                    <a:lnTo>
                      <a:pt x="2918142" y="109219"/>
                    </a:lnTo>
                    <a:lnTo>
                      <a:pt x="2914294" y="114300"/>
                    </a:lnTo>
                    <a:lnTo>
                      <a:pt x="2910123" y="115347"/>
                    </a:lnTo>
                    <a:lnTo>
                      <a:pt x="2926110" y="113030"/>
                    </a:lnTo>
                    <a:lnTo>
                      <a:pt x="2937916" y="113030"/>
                    </a:lnTo>
                    <a:lnTo>
                      <a:pt x="2933154" y="107963"/>
                    </a:lnTo>
                    <a:lnTo>
                      <a:pt x="2932963" y="96519"/>
                    </a:lnTo>
                    <a:lnTo>
                      <a:pt x="2936814" y="92311"/>
                    </a:lnTo>
                    <a:close/>
                  </a:path>
                  <a:path w="2992754" h="304800">
                    <a:moveTo>
                      <a:pt x="2949219" y="91439"/>
                    </a:moveTo>
                    <a:lnTo>
                      <a:pt x="2943415" y="91439"/>
                    </a:lnTo>
                    <a:lnTo>
                      <a:pt x="2936814" y="92311"/>
                    </a:lnTo>
                    <a:lnTo>
                      <a:pt x="2932963" y="96519"/>
                    </a:lnTo>
                    <a:lnTo>
                      <a:pt x="2933154" y="107963"/>
                    </a:lnTo>
                    <a:lnTo>
                      <a:pt x="2937916" y="113030"/>
                    </a:lnTo>
                    <a:lnTo>
                      <a:pt x="2949549" y="113030"/>
                    </a:lnTo>
                    <a:lnTo>
                      <a:pt x="2954172" y="107963"/>
                    </a:lnTo>
                    <a:lnTo>
                      <a:pt x="2954007" y="96519"/>
                    </a:lnTo>
                    <a:lnTo>
                      <a:pt x="2949219" y="91439"/>
                    </a:lnTo>
                    <a:close/>
                  </a:path>
                  <a:path w="2992754" h="304800">
                    <a:moveTo>
                      <a:pt x="2964319" y="90169"/>
                    </a:moveTo>
                    <a:lnTo>
                      <a:pt x="2963926" y="90169"/>
                    </a:lnTo>
                    <a:lnTo>
                      <a:pt x="2961906" y="91439"/>
                    </a:lnTo>
                    <a:lnTo>
                      <a:pt x="2949219" y="91439"/>
                    </a:lnTo>
                    <a:lnTo>
                      <a:pt x="2954007" y="96519"/>
                    </a:lnTo>
                    <a:lnTo>
                      <a:pt x="2954172" y="107963"/>
                    </a:lnTo>
                    <a:lnTo>
                      <a:pt x="2949549" y="113030"/>
                    </a:lnTo>
                    <a:lnTo>
                      <a:pt x="2955061" y="113030"/>
                    </a:lnTo>
                    <a:lnTo>
                      <a:pt x="2963532" y="111872"/>
                    </a:lnTo>
                    <a:lnTo>
                      <a:pt x="2960179" y="110489"/>
                    </a:lnTo>
                    <a:lnTo>
                      <a:pt x="2955683" y="99060"/>
                    </a:lnTo>
                    <a:lnTo>
                      <a:pt x="2958185" y="92710"/>
                    </a:lnTo>
                    <a:lnTo>
                      <a:pt x="2963302" y="91544"/>
                    </a:lnTo>
                    <a:lnTo>
                      <a:pt x="2964319" y="90169"/>
                    </a:lnTo>
                    <a:close/>
                  </a:path>
                  <a:path w="2992754" h="304800">
                    <a:moveTo>
                      <a:pt x="2973258" y="109590"/>
                    </a:moveTo>
                    <a:lnTo>
                      <a:pt x="2968269" y="111760"/>
                    </a:lnTo>
                    <a:lnTo>
                      <a:pt x="2964357" y="111760"/>
                    </a:lnTo>
                    <a:lnTo>
                      <a:pt x="2963532" y="111872"/>
                    </a:lnTo>
                    <a:lnTo>
                      <a:pt x="2966339" y="113030"/>
                    </a:lnTo>
                    <a:lnTo>
                      <a:pt x="2971685" y="110489"/>
                    </a:lnTo>
                    <a:lnTo>
                      <a:pt x="2973258" y="109590"/>
                    </a:lnTo>
                    <a:close/>
                  </a:path>
                  <a:path w="2992754" h="304800">
                    <a:moveTo>
                      <a:pt x="2963302" y="91544"/>
                    </a:moveTo>
                    <a:lnTo>
                      <a:pt x="2958185" y="92710"/>
                    </a:lnTo>
                    <a:lnTo>
                      <a:pt x="2955683" y="99060"/>
                    </a:lnTo>
                    <a:lnTo>
                      <a:pt x="2960179" y="110489"/>
                    </a:lnTo>
                    <a:lnTo>
                      <a:pt x="2963532" y="111872"/>
                    </a:lnTo>
                    <a:lnTo>
                      <a:pt x="2964357" y="111760"/>
                    </a:lnTo>
                    <a:lnTo>
                      <a:pt x="2968269" y="111760"/>
                    </a:lnTo>
                    <a:lnTo>
                      <a:pt x="2973258" y="109590"/>
                    </a:lnTo>
                    <a:lnTo>
                      <a:pt x="2976105" y="107950"/>
                    </a:lnTo>
                    <a:lnTo>
                      <a:pt x="2977398" y="107026"/>
                    </a:lnTo>
                    <a:lnTo>
                      <a:pt x="2977535" y="106680"/>
                    </a:lnTo>
                    <a:lnTo>
                      <a:pt x="2972638" y="106680"/>
                    </a:lnTo>
                    <a:lnTo>
                      <a:pt x="2962910" y="101600"/>
                    </a:lnTo>
                    <a:lnTo>
                      <a:pt x="2961500" y="93980"/>
                    </a:lnTo>
                    <a:lnTo>
                      <a:pt x="2963302" y="91544"/>
                    </a:lnTo>
                    <a:close/>
                  </a:path>
                  <a:path w="2992754" h="304800">
                    <a:moveTo>
                      <a:pt x="2491333" y="110489"/>
                    </a:moveTo>
                    <a:lnTo>
                      <a:pt x="2489695" y="110871"/>
                    </a:lnTo>
                    <a:lnTo>
                      <a:pt x="2491525" y="110697"/>
                    </a:lnTo>
                    <a:lnTo>
                      <a:pt x="2491333" y="110489"/>
                    </a:lnTo>
                    <a:close/>
                  </a:path>
                  <a:path w="2992754" h="304800">
                    <a:moveTo>
                      <a:pt x="2977398" y="107026"/>
                    </a:moveTo>
                    <a:lnTo>
                      <a:pt x="2976081" y="107963"/>
                    </a:lnTo>
                    <a:lnTo>
                      <a:pt x="2973258" y="109590"/>
                    </a:lnTo>
                    <a:lnTo>
                      <a:pt x="2977032" y="107950"/>
                    </a:lnTo>
                    <a:lnTo>
                      <a:pt x="2977398" y="107026"/>
                    </a:lnTo>
                    <a:close/>
                  </a:path>
                  <a:path w="2992754" h="304800">
                    <a:moveTo>
                      <a:pt x="2560345" y="104139"/>
                    </a:moveTo>
                    <a:lnTo>
                      <a:pt x="2554770" y="104139"/>
                    </a:lnTo>
                    <a:lnTo>
                      <a:pt x="2543367" y="105410"/>
                    </a:lnTo>
                    <a:lnTo>
                      <a:pt x="2531973" y="105410"/>
                    </a:lnTo>
                    <a:lnTo>
                      <a:pt x="2509231" y="107963"/>
                    </a:lnTo>
                    <a:lnTo>
                      <a:pt x="2546320" y="107950"/>
                    </a:lnTo>
                    <a:lnTo>
                      <a:pt x="2549182" y="105410"/>
                    </a:lnTo>
                    <a:lnTo>
                      <a:pt x="2560846" y="104542"/>
                    </a:lnTo>
                    <a:lnTo>
                      <a:pt x="2560345" y="104139"/>
                    </a:lnTo>
                    <a:close/>
                  </a:path>
                  <a:path w="2992754" h="304800">
                    <a:moveTo>
                      <a:pt x="2981735" y="102259"/>
                    </a:moveTo>
                    <a:lnTo>
                      <a:pt x="2979089" y="105410"/>
                    </a:lnTo>
                    <a:lnTo>
                      <a:pt x="2977949" y="105634"/>
                    </a:lnTo>
                    <a:lnTo>
                      <a:pt x="2977398" y="107026"/>
                    </a:lnTo>
                    <a:lnTo>
                      <a:pt x="2979661" y="105410"/>
                    </a:lnTo>
                    <a:lnTo>
                      <a:pt x="2981735" y="102259"/>
                    </a:lnTo>
                    <a:close/>
                  </a:path>
                  <a:path w="2992754" h="304800">
                    <a:moveTo>
                      <a:pt x="2968891" y="88900"/>
                    </a:moveTo>
                    <a:lnTo>
                      <a:pt x="2963833" y="91302"/>
                    </a:lnTo>
                    <a:lnTo>
                      <a:pt x="2963760" y="91439"/>
                    </a:lnTo>
                    <a:lnTo>
                      <a:pt x="2963302" y="91544"/>
                    </a:lnTo>
                    <a:lnTo>
                      <a:pt x="2961500" y="93980"/>
                    </a:lnTo>
                    <a:lnTo>
                      <a:pt x="2962910" y="101600"/>
                    </a:lnTo>
                    <a:lnTo>
                      <a:pt x="2972638" y="106680"/>
                    </a:lnTo>
                    <a:lnTo>
                      <a:pt x="2977949" y="105634"/>
                    </a:lnTo>
                    <a:lnTo>
                      <a:pt x="2979547" y="101600"/>
                    </a:lnTo>
                    <a:lnTo>
                      <a:pt x="2975051" y="91439"/>
                    </a:lnTo>
                    <a:lnTo>
                      <a:pt x="2973791" y="90920"/>
                    </a:lnTo>
                    <a:lnTo>
                      <a:pt x="2970403" y="90169"/>
                    </a:lnTo>
                    <a:lnTo>
                      <a:pt x="2969727" y="89244"/>
                    </a:lnTo>
                    <a:lnTo>
                      <a:pt x="2968891" y="88900"/>
                    </a:lnTo>
                    <a:close/>
                  </a:path>
                  <a:path w="2992754" h="304800">
                    <a:moveTo>
                      <a:pt x="2977949" y="105634"/>
                    </a:moveTo>
                    <a:lnTo>
                      <a:pt x="2972638" y="106680"/>
                    </a:lnTo>
                    <a:lnTo>
                      <a:pt x="2977535" y="106680"/>
                    </a:lnTo>
                    <a:lnTo>
                      <a:pt x="2977949" y="105634"/>
                    </a:lnTo>
                    <a:close/>
                  </a:path>
                  <a:path w="2992754" h="304800">
                    <a:moveTo>
                      <a:pt x="2973791" y="90920"/>
                    </a:moveTo>
                    <a:lnTo>
                      <a:pt x="2975051" y="91439"/>
                    </a:lnTo>
                    <a:lnTo>
                      <a:pt x="2979547" y="101600"/>
                    </a:lnTo>
                    <a:lnTo>
                      <a:pt x="2977949" y="105634"/>
                    </a:lnTo>
                    <a:lnTo>
                      <a:pt x="2979089" y="105410"/>
                    </a:lnTo>
                    <a:lnTo>
                      <a:pt x="2981735" y="102259"/>
                    </a:lnTo>
                    <a:lnTo>
                      <a:pt x="2982996" y="100330"/>
                    </a:lnTo>
                    <a:lnTo>
                      <a:pt x="2985407" y="95993"/>
                    </a:lnTo>
                    <a:lnTo>
                      <a:pt x="2984731" y="92710"/>
                    </a:lnTo>
                    <a:lnTo>
                      <a:pt x="2981871" y="92710"/>
                    </a:lnTo>
                    <a:lnTo>
                      <a:pt x="2973791" y="90920"/>
                    </a:lnTo>
                    <a:close/>
                  </a:path>
                  <a:path w="2992754" h="304800">
                    <a:moveTo>
                      <a:pt x="2606319" y="101600"/>
                    </a:moveTo>
                    <a:lnTo>
                      <a:pt x="2595143" y="101600"/>
                    </a:lnTo>
                    <a:lnTo>
                      <a:pt x="2594417" y="102484"/>
                    </a:lnTo>
                    <a:lnTo>
                      <a:pt x="2606319" y="101600"/>
                    </a:lnTo>
                    <a:close/>
                  </a:path>
                  <a:path w="2992754" h="304800">
                    <a:moveTo>
                      <a:pt x="2982939" y="100432"/>
                    </a:moveTo>
                    <a:lnTo>
                      <a:pt x="2981735" y="102259"/>
                    </a:lnTo>
                    <a:lnTo>
                      <a:pt x="2982290" y="101600"/>
                    </a:lnTo>
                    <a:lnTo>
                      <a:pt x="2982939" y="100432"/>
                    </a:lnTo>
                    <a:close/>
                  </a:path>
                  <a:path w="2992754" h="304800">
                    <a:moveTo>
                      <a:pt x="2985407" y="95993"/>
                    </a:moveTo>
                    <a:lnTo>
                      <a:pt x="2982939" y="100432"/>
                    </a:lnTo>
                    <a:lnTo>
                      <a:pt x="2985516" y="96519"/>
                    </a:lnTo>
                    <a:lnTo>
                      <a:pt x="2985407" y="95993"/>
                    </a:lnTo>
                    <a:close/>
                  </a:path>
                  <a:path w="2992754" h="304800">
                    <a:moveTo>
                      <a:pt x="2688691" y="97789"/>
                    </a:moveTo>
                    <a:lnTo>
                      <a:pt x="2673004" y="99060"/>
                    </a:lnTo>
                    <a:lnTo>
                      <a:pt x="2682951" y="99060"/>
                    </a:lnTo>
                    <a:lnTo>
                      <a:pt x="2689093" y="98218"/>
                    </a:lnTo>
                    <a:lnTo>
                      <a:pt x="2688691" y="97789"/>
                    </a:lnTo>
                    <a:close/>
                  </a:path>
                  <a:path w="2992754" h="304800">
                    <a:moveTo>
                      <a:pt x="2987339" y="88972"/>
                    </a:moveTo>
                    <a:lnTo>
                      <a:pt x="2984489" y="90920"/>
                    </a:lnTo>
                    <a:lnTo>
                      <a:pt x="2984491" y="91544"/>
                    </a:lnTo>
                    <a:lnTo>
                      <a:pt x="2985407" y="95993"/>
                    </a:lnTo>
                    <a:lnTo>
                      <a:pt x="2985820" y="95250"/>
                    </a:lnTo>
                    <a:lnTo>
                      <a:pt x="2987339" y="88972"/>
                    </a:lnTo>
                    <a:close/>
                  </a:path>
                  <a:path w="2992754" h="304800">
                    <a:moveTo>
                      <a:pt x="2974517" y="83819"/>
                    </a:moveTo>
                    <a:lnTo>
                      <a:pt x="2967977" y="85089"/>
                    </a:lnTo>
                    <a:lnTo>
                      <a:pt x="2967371" y="86017"/>
                    </a:lnTo>
                    <a:lnTo>
                      <a:pt x="2969727" y="89244"/>
                    </a:lnTo>
                    <a:lnTo>
                      <a:pt x="2973791" y="90920"/>
                    </a:lnTo>
                    <a:lnTo>
                      <a:pt x="2981871" y="92710"/>
                    </a:lnTo>
                    <a:lnTo>
                      <a:pt x="2984378" y="90996"/>
                    </a:lnTo>
                    <a:lnTo>
                      <a:pt x="2984207" y="90169"/>
                    </a:lnTo>
                    <a:lnTo>
                      <a:pt x="2974517" y="83819"/>
                    </a:lnTo>
                    <a:close/>
                  </a:path>
                  <a:path w="2992754" h="304800">
                    <a:moveTo>
                      <a:pt x="2984378" y="90996"/>
                    </a:moveTo>
                    <a:lnTo>
                      <a:pt x="2981871" y="92710"/>
                    </a:lnTo>
                    <a:lnTo>
                      <a:pt x="2984731" y="92710"/>
                    </a:lnTo>
                    <a:lnTo>
                      <a:pt x="2984378" y="90996"/>
                    </a:lnTo>
                    <a:close/>
                  </a:path>
                  <a:path w="2992754" h="304800">
                    <a:moveTo>
                      <a:pt x="2943415" y="91439"/>
                    </a:moveTo>
                    <a:lnTo>
                      <a:pt x="2937611" y="91439"/>
                    </a:lnTo>
                    <a:lnTo>
                      <a:pt x="2936814" y="92311"/>
                    </a:lnTo>
                    <a:lnTo>
                      <a:pt x="2943415" y="91439"/>
                    </a:lnTo>
                    <a:close/>
                  </a:path>
                  <a:path w="2992754" h="304800">
                    <a:moveTo>
                      <a:pt x="2969150" y="72353"/>
                    </a:moveTo>
                    <a:lnTo>
                      <a:pt x="2967748" y="79234"/>
                    </a:lnTo>
                    <a:lnTo>
                      <a:pt x="2967329" y="81280"/>
                    </a:lnTo>
                    <a:lnTo>
                      <a:pt x="2966745" y="83819"/>
                    </a:lnTo>
                    <a:lnTo>
                      <a:pt x="2965602" y="87630"/>
                    </a:lnTo>
                    <a:lnTo>
                      <a:pt x="2965259" y="88900"/>
                    </a:lnTo>
                    <a:lnTo>
                      <a:pt x="2963302" y="91544"/>
                    </a:lnTo>
                    <a:lnTo>
                      <a:pt x="2963760" y="91439"/>
                    </a:lnTo>
                    <a:lnTo>
                      <a:pt x="2963545" y="91439"/>
                    </a:lnTo>
                    <a:lnTo>
                      <a:pt x="2964169" y="90668"/>
                    </a:lnTo>
                    <a:lnTo>
                      <a:pt x="2964434" y="90169"/>
                    </a:lnTo>
                    <a:lnTo>
                      <a:pt x="2964662" y="90169"/>
                    </a:lnTo>
                    <a:lnTo>
                      <a:pt x="2967371" y="86017"/>
                    </a:lnTo>
                    <a:lnTo>
                      <a:pt x="2966694" y="85089"/>
                    </a:lnTo>
                    <a:lnTo>
                      <a:pt x="2969150" y="72353"/>
                    </a:lnTo>
                    <a:close/>
                  </a:path>
                  <a:path w="2992754" h="304800">
                    <a:moveTo>
                      <a:pt x="2964169" y="90668"/>
                    </a:moveTo>
                    <a:lnTo>
                      <a:pt x="2963545" y="91439"/>
                    </a:lnTo>
                    <a:lnTo>
                      <a:pt x="2963833" y="91302"/>
                    </a:lnTo>
                    <a:lnTo>
                      <a:pt x="2964169" y="90668"/>
                    </a:lnTo>
                    <a:close/>
                  </a:path>
                  <a:path w="2992754" h="304800">
                    <a:moveTo>
                      <a:pt x="2963833" y="91302"/>
                    </a:moveTo>
                    <a:lnTo>
                      <a:pt x="2963545" y="91439"/>
                    </a:lnTo>
                    <a:lnTo>
                      <a:pt x="2963760" y="91439"/>
                    </a:lnTo>
                    <a:lnTo>
                      <a:pt x="2963833" y="91302"/>
                    </a:lnTo>
                    <a:close/>
                  </a:path>
                  <a:path w="2992754" h="304800">
                    <a:moveTo>
                      <a:pt x="2967371" y="86017"/>
                    </a:moveTo>
                    <a:lnTo>
                      <a:pt x="2964662" y="90169"/>
                    </a:lnTo>
                    <a:lnTo>
                      <a:pt x="2964169" y="90668"/>
                    </a:lnTo>
                    <a:lnTo>
                      <a:pt x="2963833" y="91302"/>
                    </a:lnTo>
                    <a:lnTo>
                      <a:pt x="2968891" y="88900"/>
                    </a:lnTo>
                    <a:lnTo>
                      <a:pt x="2969475" y="88900"/>
                    </a:lnTo>
                    <a:lnTo>
                      <a:pt x="2967371" y="86017"/>
                    </a:lnTo>
                    <a:close/>
                  </a:path>
                  <a:path w="2992754" h="304800">
                    <a:moveTo>
                      <a:pt x="2988401" y="83819"/>
                    </a:moveTo>
                    <a:lnTo>
                      <a:pt x="2974517" y="83819"/>
                    </a:lnTo>
                    <a:lnTo>
                      <a:pt x="2984207" y="90169"/>
                    </a:lnTo>
                    <a:lnTo>
                      <a:pt x="2984378" y="90996"/>
                    </a:lnTo>
                    <a:lnTo>
                      <a:pt x="2987339" y="88972"/>
                    </a:lnTo>
                    <a:lnTo>
                      <a:pt x="2988007" y="85914"/>
                    </a:lnTo>
                    <a:lnTo>
                      <a:pt x="2988401" y="83819"/>
                    </a:lnTo>
                    <a:close/>
                  </a:path>
                  <a:path w="2992754" h="304800">
                    <a:moveTo>
                      <a:pt x="2969727" y="89244"/>
                    </a:moveTo>
                    <a:lnTo>
                      <a:pt x="2970403" y="90169"/>
                    </a:lnTo>
                    <a:lnTo>
                      <a:pt x="2973791" y="90920"/>
                    </a:lnTo>
                    <a:lnTo>
                      <a:pt x="2969727" y="89244"/>
                    </a:lnTo>
                    <a:close/>
                  </a:path>
                  <a:path w="2992754" h="304800">
                    <a:moveTo>
                      <a:pt x="2964573" y="90169"/>
                    </a:moveTo>
                    <a:lnTo>
                      <a:pt x="2964434" y="90169"/>
                    </a:lnTo>
                    <a:lnTo>
                      <a:pt x="2964169" y="90668"/>
                    </a:lnTo>
                    <a:lnTo>
                      <a:pt x="2964573" y="90169"/>
                    </a:lnTo>
                    <a:close/>
                  </a:path>
                  <a:path w="2992754" h="304800">
                    <a:moveTo>
                      <a:pt x="2969475" y="88900"/>
                    </a:moveTo>
                    <a:lnTo>
                      <a:pt x="2968891" y="88900"/>
                    </a:lnTo>
                    <a:lnTo>
                      <a:pt x="2969727" y="89244"/>
                    </a:lnTo>
                    <a:lnTo>
                      <a:pt x="2969475" y="88900"/>
                    </a:lnTo>
                    <a:close/>
                  </a:path>
                  <a:path w="2992754" h="304800">
                    <a:moveTo>
                      <a:pt x="2988007" y="85914"/>
                    </a:moveTo>
                    <a:lnTo>
                      <a:pt x="2987339" y="88972"/>
                    </a:lnTo>
                    <a:lnTo>
                      <a:pt x="2988007" y="85914"/>
                    </a:lnTo>
                    <a:close/>
                  </a:path>
                  <a:path w="2992754" h="304800">
                    <a:moveTo>
                      <a:pt x="2974663" y="69864"/>
                    </a:moveTo>
                    <a:lnTo>
                      <a:pt x="2969150" y="72353"/>
                    </a:lnTo>
                    <a:lnTo>
                      <a:pt x="2966694" y="85089"/>
                    </a:lnTo>
                    <a:lnTo>
                      <a:pt x="2967371" y="86017"/>
                    </a:lnTo>
                    <a:lnTo>
                      <a:pt x="2967977" y="85089"/>
                    </a:lnTo>
                    <a:lnTo>
                      <a:pt x="2974517" y="83819"/>
                    </a:lnTo>
                    <a:lnTo>
                      <a:pt x="2988401" y="83819"/>
                    </a:lnTo>
                    <a:lnTo>
                      <a:pt x="2988640" y="82550"/>
                    </a:lnTo>
                    <a:lnTo>
                      <a:pt x="2989570" y="78739"/>
                    </a:lnTo>
                    <a:lnTo>
                      <a:pt x="2989846" y="77469"/>
                    </a:lnTo>
                    <a:lnTo>
                      <a:pt x="2986163" y="71119"/>
                    </a:lnTo>
                    <a:lnTo>
                      <a:pt x="2974663" y="69864"/>
                    </a:lnTo>
                    <a:close/>
                  </a:path>
                  <a:path w="2992754" h="304800">
                    <a:moveTo>
                      <a:pt x="2989462" y="79234"/>
                    </a:moveTo>
                    <a:lnTo>
                      <a:pt x="2988640" y="82550"/>
                    </a:lnTo>
                    <a:lnTo>
                      <a:pt x="2988007" y="85914"/>
                    </a:lnTo>
                    <a:lnTo>
                      <a:pt x="2989462" y="79234"/>
                    </a:lnTo>
                    <a:close/>
                  </a:path>
                  <a:path w="2992754" h="304800">
                    <a:moveTo>
                      <a:pt x="2991526" y="61783"/>
                    </a:moveTo>
                    <a:lnTo>
                      <a:pt x="2991281" y="66039"/>
                    </a:lnTo>
                    <a:lnTo>
                      <a:pt x="2986290" y="71119"/>
                    </a:lnTo>
                    <a:lnTo>
                      <a:pt x="2986163" y="71119"/>
                    </a:lnTo>
                    <a:lnTo>
                      <a:pt x="2989846" y="77469"/>
                    </a:lnTo>
                    <a:lnTo>
                      <a:pt x="2989462" y="79234"/>
                    </a:lnTo>
                    <a:lnTo>
                      <a:pt x="2990215" y="76200"/>
                    </a:lnTo>
                    <a:lnTo>
                      <a:pt x="2990866" y="71119"/>
                    </a:lnTo>
                    <a:lnTo>
                      <a:pt x="2986290" y="71119"/>
                    </a:lnTo>
                    <a:lnTo>
                      <a:pt x="2981177" y="70567"/>
                    </a:lnTo>
                    <a:lnTo>
                      <a:pt x="2990937" y="70567"/>
                    </a:lnTo>
                    <a:lnTo>
                      <a:pt x="2991192" y="68580"/>
                    </a:lnTo>
                    <a:lnTo>
                      <a:pt x="2991526" y="61783"/>
                    </a:lnTo>
                    <a:close/>
                  </a:path>
                  <a:path w="2992754" h="304800">
                    <a:moveTo>
                      <a:pt x="2970019" y="64795"/>
                    </a:moveTo>
                    <a:lnTo>
                      <a:pt x="2969958" y="66039"/>
                    </a:lnTo>
                    <a:lnTo>
                      <a:pt x="2969150" y="72353"/>
                    </a:lnTo>
                    <a:lnTo>
                      <a:pt x="2974663" y="69864"/>
                    </a:lnTo>
                    <a:lnTo>
                      <a:pt x="2974530" y="69850"/>
                    </a:lnTo>
                    <a:lnTo>
                      <a:pt x="2970019" y="64795"/>
                    </a:lnTo>
                    <a:close/>
                  </a:path>
                  <a:path w="2992754" h="304800">
                    <a:moveTo>
                      <a:pt x="2987538" y="69850"/>
                    </a:moveTo>
                    <a:lnTo>
                      <a:pt x="2974695" y="69850"/>
                    </a:lnTo>
                    <a:lnTo>
                      <a:pt x="2986290" y="71119"/>
                    </a:lnTo>
                    <a:lnTo>
                      <a:pt x="2987538" y="69850"/>
                    </a:lnTo>
                    <a:close/>
                  </a:path>
                  <a:path w="2992754" h="304800">
                    <a:moveTo>
                      <a:pt x="2974695" y="69850"/>
                    </a:moveTo>
                    <a:lnTo>
                      <a:pt x="2981177" y="70567"/>
                    </a:lnTo>
                    <a:lnTo>
                      <a:pt x="2974695" y="69850"/>
                    </a:lnTo>
                    <a:close/>
                  </a:path>
                  <a:path w="2992754" h="304800">
                    <a:moveTo>
                      <a:pt x="2975584" y="48260"/>
                    </a:moveTo>
                    <a:lnTo>
                      <a:pt x="2970580" y="53339"/>
                    </a:lnTo>
                    <a:lnTo>
                      <a:pt x="2970019" y="64795"/>
                    </a:lnTo>
                    <a:lnTo>
                      <a:pt x="2974530" y="69850"/>
                    </a:lnTo>
                    <a:lnTo>
                      <a:pt x="2974663" y="69864"/>
                    </a:lnTo>
                    <a:lnTo>
                      <a:pt x="2987538" y="69850"/>
                    </a:lnTo>
                    <a:lnTo>
                      <a:pt x="2991281" y="66039"/>
                    </a:lnTo>
                    <a:lnTo>
                      <a:pt x="2991566" y="60960"/>
                    </a:lnTo>
                    <a:lnTo>
                      <a:pt x="2991873" y="54604"/>
                    </a:lnTo>
                    <a:lnTo>
                      <a:pt x="2987344" y="49530"/>
                    </a:lnTo>
                    <a:lnTo>
                      <a:pt x="2975584" y="48260"/>
                    </a:lnTo>
                    <a:close/>
                  </a:path>
                  <a:path w="2992754" h="304800">
                    <a:moveTo>
                      <a:pt x="2970698" y="34982"/>
                    </a:moveTo>
                    <a:lnTo>
                      <a:pt x="2970720" y="44450"/>
                    </a:lnTo>
                    <a:lnTo>
                      <a:pt x="2970596" y="52069"/>
                    </a:lnTo>
                    <a:lnTo>
                      <a:pt x="2970137" y="61783"/>
                    </a:lnTo>
                    <a:lnTo>
                      <a:pt x="2970019" y="64795"/>
                    </a:lnTo>
                    <a:lnTo>
                      <a:pt x="2970580" y="53339"/>
                    </a:lnTo>
                    <a:lnTo>
                      <a:pt x="2975584" y="48260"/>
                    </a:lnTo>
                    <a:lnTo>
                      <a:pt x="2992075" y="48260"/>
                    </a:lnTo>
                    <a:lnTo>
                      <a:pt x="2992130" y="45719"/>
                    </a:lnTo>
                    <a:lnTo>
                      <a:pt x="2975571" y="45719"/>
                    </a:lnTo>
                    <a:lnTo>
                      <a:pt x="2970733" y="41910"/>
                    </a:lnTo>
                    <a:lnTo>
                      <a:pt x="2970698" y="34982"/>
                    </a:lnTo>
                    <a:close/>
                  </a:path>
                  <a:path w="2992754" h="304800">
                    <a:moveTo>
                      <a:pt x="2992075" y="48260"/>
                    </a:moveTo>
                    <a:lnTo>
                      <a:pt x="2975584" y="48260"/>
                    </a:lnTo>
                    <a:lnTo>
                      <a:pt x="2987344" y="49530"/>
                    </a:lnTo>
                    <a:lnTo>
                      <a:pt x="2991873" y="54604"/>
                    </a:lnTo>
                    <a:lnTo>
                      <a:pt x="2991993" y="52069"/>
                    </a:lnTo>
                    <a:lnTo>
                      <a:pt x="2992075" y="48260"/>
                    </a:lnTo>
                    <a:close/>
                  </a:path>
                  <a:path w="2992754" h="304800">
                    <a:moveTo>
                      <a:pt x="2970710" y="33017"/>
                    </a:moveTo>
                    <a:lnTo>
                      <a:pt x="2970733" y="41910"/>
                    </a:lnTo>
                    <a:lnTo>
                      <a:pt x="2975571" y="45719"/>
                    </a:lnTo>
                    <a:lnTo>
                      <a:pt x="2987408" y="45719"/>
                    </a:lnTo>
                    <a:lnTo>
                      <a:pt x="2992170" y="41910"/>
                    </a:lnTo>
                    <a:lnTo>
                      <a:pt x="2992217" y="34289"/>
                    </a:lnTo>
                    <a:lnTo>
                      <a:pt x="2972523" y="34289"/>
                    </a:lnTo>
                    <a:lnTo>
                      <a:pt x="2970710" y="33017"/>
                    </a:lnTo>
                    <a:close/>
                  </a:path>
                  <a:path w="2992754" h="304800">
                    <a:moveTo>
                      <a:pt x="2992192" y="38588"/>
                    </a:moveTo>
                    <a:lnTo>
                      <a:pt x="2992170" y="41910"/>
                    </a:lnTo>
                    <a:lnTo>
                      <a:pt x="2987408" y="45719"/>
                    </a:lnTo>
                    <a:lnTo>
                      <a:pt x="2992130" y="45719"/>
                    </a:lnTo>
                    <a:lnTo>
                      <a:pt x="2992192" y="38588"/>
                    </a:lnTo>
                    <a:close/>
                  </a:path>
                  <a:path w="2992754" h="304800">
                    <a:moveTo>
                      <a:pt x="2990759" y="15547"/>
                    </a:moveTo>
                    <a:lnTo>
                      <a:pt x="2991579" y="18269"/>
                    </a:lnTo>
                    <a:lnTo>
                      <a:pt x="2991697" y="19252"/>
                    </a:lnTo>
                    <a:lnTo>
                      <a:pt x="2988856" y="24130"/>
                    </a:lnTo>
                    <a:lnTo>
                      <a:pt x="2986843" y="25041"/>
                    </a:lnTo>
                    <a:lnTo>
                      <a:pt x="2986797" y="25329"/>
                    </a:lnTo>
                    <a:lnTo>
                      <a:pt x="2987459" y="25400"/>
                    </a:lnTo>
                    <a:lnTo>
                      <a:pt x="2992247" y="29210"/>
                    </a:lnTo>
                    <a:lnTo>
                      <a:pt x="2992192" y="38588"/>
                    </a:lnTo>
                    <a:lnTo>
                      <a:pt x="2992277" y="20217"/>
                    </a:lnTo>
                    <a:lnTo>
                      <a:pt x="2990759" y="15547"/>
                    </a:lnTo>
                    <a:close/>
                  </a:path>
                  <a:path w="2992754" h="304800">
                    <a:moveTo>
                      <a:pt x="2972506" y="27352"/>
                    </a:moveTo>
                    <a:lnTo>
                      <a:pt x="2970733" y="29210"/>
                    </a:lnTo>
                    <a:lnTo>
                      <a:pt x="2970714" y="33019"/>
                    </a:lnTo>
                    <a:lnTo>
                      <a:pt x="2972523" y="34289"/>
                    </a:lnTo>
                    <a:lnTo>
                      <a:pt x="2978928" y="33002"/>
                    </a:lnTo>
                    <a:lnTo>
                      <a:pt x="2980994" y="31750"/>
                    </a:lnTo>
                    <a:lnTo>
                      <a:pt x="2982298" y="29210"/>
                    </a:lnTo>
                    <a:lnTo>
                      <a:pt x="2977642" y="29210"/>
                    </a:lnTo>
                    <a:lnTo>
                      <a:pt x="2975684" y="28021"/>
                    </a:lnTo>
                    <a:lnTo>
                      <a:pt x="2972506" y="27352"/>
                    </a:lnTo>
                    <a:close/>
                  </a:path>
                  <a:path w="2992754" h="304800">
                    <a:moveTo>
                      <a:pt x="2986797" y="25329"/>
                    </a:moveTo>
                    <a:lnTo>
                      <a:pt x="2986582" y="26669"/>
                    </a:lnTo>
                    <a:lnTo>
                      <a:pt x="2981731" y="30480"/>
                    </a:lnTo>
                    <a:lnTo>
                      <a:pt x="2980994" y="31750"/>
                    </a:lnTo>
                    <a:lnTo>
                      <a:pt x="2978899" y="33019"/>
                    </a:lnTo>
                    <a:lnTo>
                      <a:pt x="2972523" y="34289"/>
                    </a:lnTo>
                    <a:lnTo>
                      <a:pt x="2992217" y="34289"/>
                    </a:lnTo>
                    <a:lnTo>
                      <a:pt x="2992247" y="29210"/>
                    </a:lnTo>
                    <a:lnTo>
                      <a:pt x="2987459" y="25400"/>
                    </a:lnTo>
                    <a:lnTo>
                      <a:pt x="2986797" y="25329"/>
                    </a:lnTo>
                    <a:close/>
                  </a:path>
                  <a:path w="2992754" h="304800">
                    <a:moveTo>
                      <a:pt x="2970469" y="26924"/>
                    </a:moveTo>
                    <a:lnTo>
                      <a:pt x="2970516" y="27352"/>
                    </a:lnTo>
                    <a:lnTo>
                      <a:pt x="2970600" y="28679"/>
                    </a:lnTo>
                    <a:lnTo>
                      <a:pt x="2970710" y="33017"/>
                    </a:lnTo>
                    <a:lnTo>
                      <a:pt x="2970733" y="29210"/>
                    </a:lnTo>
                    <a:lnTo>
                      <a:pt x="2972506" y="27352"/>
                    </a:lnTo>
                    <a:lnTo>
                      <a:pt x="2970469" y="26924"/>
                    </a:lnTo>
                    <a:close/>
                  </a:path>
                  <a:path w="2992754" h="304800">
                    <a:moveTo>
                      <a:pt x="2968479" y="28784"/>
                    </a:moveTo>
                    <a:lnTo>
                      <a:pt x="2968904" y="31750"/>
                    </a:lnTo>
                    <a:lnTo>
                      <a:pt x="2970688" y="33002"/>
                    </a:lnTo>
                    <a:lnTo>
                      <a:pt x="2970648" y="30480"/>
                    </a:lnTo>
                    <a:lnTo>
                      <a:pt x="2970072" y="30480"/>
                    </a:lnTo>
                    <a:lnTo>
                      <a:pt x="2968479" y="28784"/>
                    </a:lnTo>
                    <a:close/>
                  </a:path>
                  <a:path w="2992754" h="304800">
                    <a:moveTo>
                      <a:pt x="2967993" y="25135"/>
                    </a:moveTo>
                    <a:lnTo>
                      <a:pt x="2968479" y="28784"/>
                    </a:lnTo>
                    <a:lnTo>
                      <a:pt x="2970072" y="30480"/>
                    </a:lnTo>
                    <a:lnTo>
                      <a:pt x="2970648" y="30480"/>
                    </a:lnTo>
                    <a:lnTo>
                      <a:pt x="2970548" y="27645"/>
                    </a:lnTo>
                    <a:lnTo>
                      <a:pt x="2970469" y="26924"/>
                    </a:lnTo>
                    <a:lnTo>
                      <a:pt x="2969260" y="26669"/>
                    </a:lnTo>
                    <a:lnTo>
                      <a:pt x="2967993" y="25135"/>
                    </a:lnTo>
                    <a:close/>
                  </a:path>
                  <a:path w="2992754" h="304800">
                    <a:moveTo>
                      <a:pt x="2986321" y="25278"/>
                    </a:moveTo>
                    <a:lnTo>
                      <a:pt x="2985025" y="25865"/>
                    </a:lnTo>
                    <a:lnTo>
                      <a:pt x="2983062" y="27645"/>
                    </a:lnTo>
                    <a:lnTo>
                      <a:pt x="2982909" y="28021"/>
                    </a:lnTo>
                    <a:lnTo>
                      <a:pt x="2981646" y="30480"/>
                    </a:lnTo>
                    <a:lnTo>
                      <a:pt x="2986582" y="26669"/>
                    </a:lnTo>
                    <a:lnTo>
                      <a:pt x="2986797" y="25329"/>
                    </a:lnTo>
                    <a:lnTo>
                      <a:pt x="2986321" y="25278"/>
                    </a:lnTo>
                    <a:close/>
                  </a:path>
                  <a:path w="2992754" h="304800">
                    <a:moveTo>
                      <a:pt x="2975684" y="28021"/>
                    </a:moveTo>
                    <a:lnTo>
                      <a:pt x="2977642" y="29210"/>
                    </a:lnTo>
                    <a:lnTo>
                      <a:pt x="2978813" y="28679"/>
                    </a:lnTo>
                    <a:lnTo>
                      <a:pt x="2975684" y="28021"/>
                    </a:lnTo>
                    <a:close/>
                  </a:path>
                  <a:path w="2992754" h="304800">
                    <a:moveTo>
                      <a:pt x="2978813" y="28679"/>
                    </a:moveTo>
                    <a:lnTo>
                      <a:pt x="2977642" y="29210"/>
                    </a:lnTo>
                    <a:lnTo>
                      <a:pt x="2981337" y="29210"/>
                    </a:lnTo>
                    <a:lnTo>
                      <a:pt x="2978813" y="28679"/>
                    </a:lnTo>
                    <a:close/>
                  </a:path>
                  <a:path w="2992754" h="304800">
                    <a:moveTo>
                      <a:pt x="2983566" y="26526"/>
                    </a:moveTo>
                    <a:lnTo>
                      <a:pt x="2978813" y="28679"/>
                    </a:lnTo>
                    <a:lnTo>
                      <a:pt x="2981337" y="29210"/>
                    </a:lnTo>
                    <a:lnTo>
                      <a:pt x="2983062" y="27645"/>
                    </a:lnTo>
                    <a:lnTo>
                      <a:pt x="2983433" y="26669"/>
                    </a:lnTo>
                    <a:lnTo>
                      <a:pt x="2983566" y="26526"/>
                    </a:lnTo>
                    <a:close/>
                  </a:path>
                  <a:path w="2992754" h="304800">
                    <a:moveTo>
                      <a:pt x="2983062" y="27645"/>
                    </a:moveTo>
                    <a:lnTo>
                      <a:pt x="2981337" y="29210"/>
                    </a:lnTo>
                    <a:lnTo>
                      <a:pt x="2982298" y="29210"/>
                    </a:lnTo>
                    <a:lnTo>
                      <a:pt x="2982950" y="27939"/>
                    </a:lnTo>
                    <a:lnTo>
                      <a:pt x="2983062" y="27645"/>
                    </a:lnTo>
                    <a:close/>
                  </a:path>
                  <a:path w="2992754" h="304800">
                    <a:moveTo>
                      <a:pt x="2965412" y="22006"/>
                    </a:moveTo>
                    <a:lnTo>
                      <a:pt x="2965297" y="25400"/>
                    </a:lnTo>
                    <a:lnTo>
                      <a:pt x="2968479" y="28784"/>
                    </a:lnTo>
                    <a:lnTo>
                      <a:pt x="2967983" y="25122"/>
                    </a:lnTo>
                    <a:lnTo>
                      <a:pt x="2965412" y="22006"/>
                    </a:lnTo>
                    <a:close/>
                  </a:path>
                  <a:path w="2992754" h="304800">
                    <a:moveTo>
                      <a:pt x="2975584" y="24130"/>
                    </a:moveTo>
                    <a:lnTo>
                      <a:pt x="2973269" y="26554"/>
                    </a:lnTo>
                    <a:lnTo>
                      <a:pt x="2975684" y="28021"/>
                    </a:lnTo>
                    <a:lnTo>
                      <a:pt x="2978813" y="28679"/>
                    </a:lnTo>
                    <a:lnTo>
                      <a:pt x="2983566" y="26526"/>
                    </a:lnTo>
                    <a:lnTo>
                      <a:pt x="2984864" y="25122"/>
                    </a:lnTo>
                    <a:lnTo>
                      <a:pt x="2975584" y="24130"/>
                    </a:lnTo>
                    <a:close/>
                  </a:path>
                  <a:path w="2992754" h="304800">
                    <a:moveTo>
                      <a:pt x="2973269" y="26554"/>
                    </a:moveTo>
                    <a:lnTo>
                      <a:pt x="2972506" y="27352"/>
                    </a:lnTo>
                    <a:lnTo>
                      <a:pt x="2975684" y="28021"/>
                    </a:lnTo>
                    <a:lnTo>
                      <a:pt x="2973269" y="26554"/>
                    </a:lnTo>
                    <a:close/>
                  </a:path>
                  <a:path w="2992754" h="304800">
                    <a:moveTo>
                      <a:pt x="2985025" y="25865"/>
                    </a:moveTo>
                    <a:lnTo>
                      <a:pt x="2983566" y="26526"/>
                    </a:lnTo>
                    <a:lnTo>
                      <a:pt x="2983433" y="26669"/>
                    </a:lnTo>
                    <a:lnTo>
                      <a:pt x="2983062" y="27645"/>
                    </a:lnTo>
                    <a:lnTo>
                      <a:pt x="2985025" y="25865"/>
                    </a:lnTo>
                    <a:close/>
                  </a:path>
                  <a:path w="2992754" h="304800">
                    <a:moveTo>
                      <a:pt x="2969920" y="21936"/>
                    </a:moveTo>
                    <a:lnTo>
                      <a:pt x="2970469" y="26924"/>
                    </a:lnTo>
                    <a:lnTo>
                      <a:pt x="2972506" y="27352"/>
                    </a:lnTo>
                    <a:lnTo>
                      <a:pt x="2973158" y="26669"/>
                    </a:lnTo>
                    <a:lnTo>
                      <a:pt x="2973223" y="26526"/>
                    </a:lnTo>
                    <a:lnTo>
                      <a:pt x="2971368" y="25400"/>
                    </a:lnTo>
                    <a:lnTo>
                      <a:pt x="2969920" y="21936"/>
                    </a:lnTo>
                    <a:close/>
                  </a:path>
                  <a:path w="2992754" h="304800">
                    <a:moveTo>
                      <a:pt x="2966279" y="12853"/>
                    </a:moveTo>
                    <a:lnTo>
                      <a:pt x="2965617" y="17780"/>
                    </a:lnTo>
                    <a:lnTo>
                      <a:pt x="2965506" y="19252"/>
                    </a:lnTo>
                    <a:lnTo>
                      <a:pt x="2966161" y="21589"/>
                    </a:lnTo>
                    <a:lnTo>
                      <a:pt x="2967850" y="24130"/>
                    </a:lnTo>
                    <a:lnTo>
                      <a:pt x="2967992" y="25122"/>
                    </a:lnTo>
                    <a:lnTo>
                      <a:pt x="2969260" y="26669"/>
                    </a:lnTo>
                    <a:lnTo>
                      <a:pt x="2970469" y="26924"/>
                    </a:lnTo>
                    <a:lnTo>
                      <a:pt x="2969920" y="21936"/>
                    </a:lnTo>
                    <a:lnTo>
                      <a:pt x="2968701" y="19050"/>
                    </a:lnTo>
                    <a:lnTo>
                      <a:pt x="2966986" y="16510"/>
                    </a:lnTo>
                    <a:lnTo>
                      <a:pt x="2966279" y="12853"/>
                    </a:lnTo>
                    <a:close/>
                  </a:path>
                  <a:path w="2992754" h="304800">
                    <a:moveTo>
                      <a:pt x="2976793" y="5541"/>
                    </a:moveTo>
                    <a:lnTo>
                      <a:pt x="2970517" y="7619"/>
                    </a:lnTo>
                    <a:lnTo>
                      <a:pt x="2967342" y="13969"/>
                    </a:lnTo>
                    <a:lnTo>
                      <a:pt x="2969310" y="20319"/>
                    </a:lnTo>
                    <a:lnTo>
                      <a:pt x="2969882" y="21589"/>
                    </a:lnTo>
                    <a:lnTo>
                      <a:pt x="2969949" y="22006"/>
                    </a:lnTo>
                    <a:lnTo>
                      <a:pt x="2971368" y="25400"/>
                    </a:lnTo>
                    <a:lnTo>
                      <a:pt x="2973269" y="26554"/>
                    </a:lnTo>
                    <a:lnTo>
                      <a:pt x="2975584" y="24130"/>
                    </a:lnTo>
                    <a:lnTo>
                      <a:pt x="2985782" y="24130"/>
                    </a:lnTo>
                    <a:lnTo>
                      <a:pt x="2987332" y="21589"/>
                    </a:lnTo>
                    <a:lnTo>
                      <a:pt x="2988043" y="16510"/>
                    </a:lnTo>
                    <a:lnTo>
                      <a:pt x="2987979" y="15239"/>
                    </a:lnTo>
                    <a:lnTo>
                      <a:pt x="2986913" y="11430"/>
                    </a:lnTo>
                    <a:lnTo>
                      <a:pt x="2986455" y="11430"/>
                    </a:lnTo>
                    <a:lnTo>
                      <a:pt x="2985884" y="10160"/>
                    </a:lnTo>
                    <a:lnTo>
                      <a:pt x="2983191" y="6213"/>
                    </a:lnTo>
                    <a:lnTo>
                      <a:pt x="2976793" y="5541"/>
                    </a:lnTo>
                    <a:close/>
                  </a:path>
                  <a:path w="2992754" h="304800">
                    <a:moveTo>
                      <a:pt x="2984864" y="25122"/>
                    </a:moveTo>
                    <a:lnTo>
                      <a:pt x="2983566" y="26526"/>
                    </a:lnTo>
                    <a:lnTo>
                      <a:pt x="2985025" y="25865"/>
                    </a:lnTo>
                    <a:lnTo>
                      <a:pt x="2985740" y="25216"/>
                    </a:lnTo>
                    <a:lnTo>
                      <a:pt x="2984864" y="25122"/>
                    </a:lnTo>
                    <a:close/>
                  </a:path>
                  <a:path w="2992754" h="304800">
                    <a:moveTo>
                      <a:pt x="2985740" y="25216"/>
                    </a:moveTo>
                    <a:lnTo>
                      <a:pt x="2985025" y="25865"/>
                    </a:lnTo>
                    <a:lnTo>
                      <a:pt x="2986321" y="25278"/>
                    </a:lnTo>
                    <a:lnTo>
                      <a:pt x="2985740" y="25216"/>
                    </a:lnTo>
                    <a:close/>
                  </a:path>
                  <a:path w="2992754" h="304800">
                    <a:moveTo>
                      <a:pt x="2986843" y="25041"/>
                    </a:moveTo>
                    <a:lnTo>
                      <a:pt x="2986321" y="25278"/>
                    </a:lnTo>
                    <a:lnTo>
                      <a:pt x="2986797" y="25329"/>
                    </a:lnTo>
                    <a:lnTo>
                      <a:pt x="2986843" y="25041"/>
                    </a:lnTo>
                    <a:close/>
                  </a:path>
                  <a:path w="2992754" h="304800">
                    <a:moveTo>
                      <a:pt x="2987613" y="20217"/>
                    </a:moveTo>
                    <a:lnTo>
                      <a:pt x="2986938" y="24130"/>
                    </a:lnTo>
                    <a:lnTo>
                      <a:pt x="2985740" y="25216"/>
                    </a:lnTo>
                    <a:lnTo>
                      <a:pt x="2986321" y="25278"/>
                    </a:lnTo>
                    <a:lnTo>
                      <a:pt x="2986843" y="25041"/>
                    </a:lnTo>
                    <a:lnTo>
                      <a:pt x="2987613" y="20217"/>
                    </a:lnTo>
                    <a:close/>
                  </a:path>
                  <a:path w="2992754" h="304800">
                    <a:moveTo>
                      <a:pt x="2983191" y="6213"/>
                    </a:moveTo>
                    <a:lnTo>
                      <a:pt x="2985884" y="10160"/>
                    </a:lnTo>
                    <a:lnTo>
                      <a:pt x="2986455" y="11430"/>
                    </a:lnTo>
                    <a:lnTo>
                      <a:pt x="2986913" y="11430"/>
                    </a:lnTo>
                    <a:lnTo>
                      <a:pt x="2987979" y="15239"/>
                    </a:lnTo>
                    <a:lnTo>
                      <a:pt x="2988043" y="16510"/>
                    </a:lnTo>
                    <a:lnTo>
                      <a:pt x="2987332" y="21589"/>
                    </a:lnTo>
                    <a:lnTo>
                      <a:pt x="2985782" y="24130"/>
                    </a:lnTo>
                    <a:lnTo>
                      <a:pt x="2984939" y="25041"/>
                    </a:lnTo>
                    <a:lnTo>
                      <a:pt x="2985740" y="25216"/>
                    </a:lnTo>
                    <a:lnTo>
                      <a:pt x="2986938" y="24130"/>
                    </a:lnTo>
                    <a:lnTo>
                      <a:pt x="2987613" y="20217"/>
                    </a:lnTo>
                    <a:lnTo>
                      <a:pt x="2988656" y="12853"/>
                    </a:lnTo>
                    <a:lnTo>
                      <a:pt x="2988654" y="12663"/>
                    </a:lnTo>
                    <a:lnTo>
                      <a:pt x="2984487" y="6350"/>
                    </a:lnTo>
                    <a:lnTo>
                      <a:pt x="2983191" y="6213"/>
                    </a:lnTo>
                    <a:close/>
                  </a:path>
                  <a:path w="2992754" h="304800">
                    <a:moveTo>
                      <a:pt x="2965506" y="19252"/>
                    </a:moveTo>
                    <a:lnTo>
                      <a:pt x="2965412" y="22006"/>
                    </a:lnTo>
                    <a:lnTo>
                      <a:pt x="2967993" y="25135"/>
                    </a:lnTo>
                    <a:lnTo>
                      <a:pt x="2967863" y="24130"/>
                    </a:lnTo>
                    <a:lnTo>
                      <a:pt x="2966161" y="21589"/>
                    </a:lnTo>
                    <a:lnTo>
                      <a:pt x="2965506" y="19252"/>
                    </a:lnTo>
                    <a:close/>
                  </a:path>
                  <a:path w="2992754" h="304800">
                    <a:moveTo>
                      <a:pt x="2985782" y="24130"/>
                    </a:moveTo>
                    <a:lnTo>
                      <a:pt x="2975584" y="24130"/>
                    </a:lnTo>
                    <a:lnTo>
                      <a:pt x="2984864" y="25122"/>
                    </a:lnTo>
                    <a:lnTo>
                      <a:pt x="2985782" y="24130"/>
                    </a:lnTo>
                    <a:close/>
                  </a:path>
                  <a:path w="2992754" h="304800">
                    <a:moveTo>
                      <a:pt x="2989037" y="10248"/>
                    </a:moveTo>
                    <a:lnTo>
                      <a:pt x="2987779" y="19252"/>
                    </a:lnTo>
                    <a:lnTo>
                      <a:pt x="2986843" y="25041"/>
                    </a:lnTo>
                    <a:lnTo>
                      <a:pt x="2988856" y="24130"/>
                    </a:lnTo>
                    <a:lnTo>
                      <a:pt x="2991815" y="19050"/>
                    </a:lnTo>
                    <a:lnTo>
                      <a:pt x="2990659" y="15239"/>
                    </a:lnTo>
                    <a:lnTo>
                      <a:pt x="2989037" y="10248"/>
                    </a:lnTo>
                    <a:close/>
                  </a:path>
                  <a:path w="2992754" h="304800">
                    <a:moveTo>
                      <a:pt x="2965529" y="18269"/>
                    </a:moveTo>
                    <a:lnTo>
                      <a:pt x="2965069" y="21589"/>
                    </a:lnTo>
                    <a:lnTo>
                      <a:pt x="2965412" y="22006"/>
                    </a:lnTo>
                    <a:lnTo>
                      <a:pt x="2965529" y="18269"/>
                    </a:lnTo>
                    <a:close/>
                  </a:path>
                  <a:path w="2992754" h="304800">
                    <a:moveTo>
                      <a:pt x="2973712" y="5218"/>
                    </a:moveTo>
                    <a:lnTo>
                      <a:pt x="2970453" y="7619"/>
                    </a:lnTo>
                    <a:lnTo>
                      <a:pt x="2967520" y="10160"/>
                    </a:lnTo>
                    <a:lnTo>
                      <a:pt x="2966305" y="12663"/>
                    </a:lnTo>
                    <a:lnTo>
                      <a:pt x="2966279" y="12853"/>
                    </a:lnTo>
                    <a:lnTo>
                      <a:pt x="2966986" y="16510"/>
                    </a:lnTo>
                    <a:lnTo>
                      <a:pt x="2968701" y="19050"/>
                    </a:lnTo>
                    <a:lnTo>
                      <a:pt x="2969920" y="21936"/>
                    </a:lnTo>
                    <a:lnTo>
                      <a:pt x="2969882" y="21589"/>
                    </a:lnTo>
                    <a:lnTo>
                      <a:pt x="2969278" y="20217"/>
                    </a:lnTo>
                    <a:lnTo>
                      <a:pt x="2967342" y="13969"/>
                    </a:lnTo>
                    <a:lnTo>
                      <a:pt x="2970517" y="7619"/>
                    </a:lnTo>
                    <a:lnTo>
                      <a:pt x="2976793" y="5541"/>
                    </a:lnTo>
                    <a:lnTo>
                      <a:pt x="2973712" y="5218"/>
                    </a:lnTo>
                    <a:close/>
                  </a:path>
                  <a:path w="2992754" h="304800">
                    <a:moveTo>
                      <a:pt x="2982023" y="3810"/>
                    </a:moveTo>
                    <a:lnTo>
                      <a:pt x="2979714" y="4574"/>
                    </a:lnTo>
                    <a:lnTo>
                      <a:pt x="2982417" y="5080"/>
                    </a:lnTo>
                    <a:lnTo>
                      <a:pt x="2983191" y="6213"/>
                    </a:lnTo>
                    <a:lnTo>
                      <a:pt x="2984487" y="6350"/>
                    </a:lnTo>
                    <a:lnTo>
                      <a:pt x="2988654" y="12663"/>
                    </a:lnTo>
                    <a:lnTo>
                      <a:pt x="2988656" y="12853"/>
                    </a:lnTo>
                    <a:lnTo>
                      <a:pt x="2987613" y="20217"/>
                    </a:lnTo>
                    <a:lnTo>
                      <a:pt x="2987991" y="17780"/>
                    </a:lnTo>
                    <a:lnTo>
                      <a:pt x="2988904" y="11202"/>
                    </a:lnTo>
                    <a:lnTo>
                      <a:pt x="2988959" y="10010"/>
                    </a:lnTo>
                    <a:lnTo>
                      <a:pt x="2988633" y="9005"/>
                    </a:lnTo>
                    <a:lnTo>
                      <a:pt x="2987974" y="7491"/>
                    </a:lnTo>
                    <a:lnTo>
                      <a:pt x="2982023" y="3810"/>
                    </a:lnTo>
                    <a:close/>
                  </a:path>
                  <a:path w="2992754" h="304800">
                    <a:moveTo>
                      <a:pt x="2966033" y="14632"/>
                    </a:moveTo>
                    <a:lnTo>
                      <a:pt x="2965596" y="17780"/>
                    </a:lnTo>
                    <a:lnTo>
                      <a:pt x="2965524" y="18483"/>
                    </a:lnTo>
                    <a:lnTo>
                      <a:pt x="2966033" y="14632"/>
                    </a:lnTo>
                    <a:close/>
                  </a:path>
                  <a:path w="2992754" h="304800">
                    <a:moveTo>
                      <a:pt x="2966258" y="12743"/>
                    </a:moveTo>
                    <a:lnTo>
                      <a:pt x="2965538" y="17780"/>
                    </a:lnTo>
                    <a:lnTo>
                      <a:pt x="2965529" y="18269"/>
                    </a:lnTo>
                    <a:lnTo>
                      <a:pt x="2966267" y="12853"/>
                    </a:lnTo>
                    <a:close/>
                  </a:path>
                  <a:path w="2992754" h="304800">
                    <a:moveTo>
                      <a:pt x="2989070" y="10010"/>
                    </a:moveTo>
                    <a:lnTo>
                      <a:pt x="2989037" y="10248"/>
                    </a:lnTo>
                    <a:lnTo>
                      <a:pt x="2990759" y="15547"/>
                    </a:lnTo>
                    <a:lnTo>
                      <a:pt x="2989162" y="10248"/>
                    </a:lnTo>
                    <a:lnTo>
                      <a:pt x="2989070" y="10010"/>
                    </a:lnTo>
                    <a:close/>
                  </a:path>
                  <a:path w="2992754" h="304800">
                    <a:moveTo>
                      <a:pt x="2966508" y="11202"/>
                    </a:moveTo>
                    <a:lnTo>
                      <a:pt x="2966334" y="12210"/>
                    </a:lnTo>
                    <a:lnTo>
                      <a:pt x="2966272" y="12817"/>
                    </a:lnTo>
                    <a:lnTo>
                      <a:pt x="2966508" y="11202"/>
                    </a:lnTo>
                    <a:close/>
                  </a:path>
                  <a:path w="2992754" h="304800">
                    <a:moveTo>
                      <a:pt x="2972396" y="5080"/>
                    </a:moveTo>
                    <a:lnTo>
                      <a:pt x="2966920" y="8813"/>
                    </a:lnTo>
                    <a:lnTo>
                      <a:pt x="2966476" y="11430"/>
                    </a:lnTo>
                    <a:lnTo>
                      <a:pt x="2966305" y="12663"/>
                    </a:lnTo>
                    <a:lnTo>
                      <a:pt x="2967520" y="10160"/>
                    </a:lnTo>
                    <a:lnTo>
                      <a:pt x="2970453" y="7619"/>
                    </a:lnTo>
                    <a:lnTo>
                      <a:pt x="2973712" y="5218"/>
                    </a:lnTo>
                    <a:lnTo>
                      <a:pt x="2972396" y="5080"/>
                    </a:lnTo>
                    <a:close/>
                  </a:path>
                  <a:path w="2992754" h="304800">
                    <a:moveTo>
                      <a:pt x="2966830" y="8874"/>
                    </a:moveTo>
                    <a:lnTo>
                      <a:pt x="2966792" y="9005"/>
                    </a:lnTo>
                    <a:lnTo>
                      <a:pt x="2966334" y="12210"/>
                    </a:lnTo>
                    <a:lnTo>
                      <a:pt x="2966508" y="11202"/>
                    </a:lnTo>
                    <a:lnTo>
                      <a:pt x="2966830" y="8874"/>
                    </a:lnTo>
                    <a:close/>
                  </a:path>
                  <a:path w="2992754" h="304800">
                    <a:moveTo>
                      <a:pt x="2966920" y="8813"/>
                    </a:moveTo>
                    <a:lnTo>
                      <a:pt x="2966812" y="9005"/>
                    </a:lnTo>
                    <a:lnTo>
                      <a:pt x="2966508" y="11202"/>
                    </a:lnTo>
                    <a:lnTo>
                      <a:pt x="2966920" y="8813"/>
                    </a:lnTo>
                    <a:close/>
                  </a:path>
                  <a:path w="2992754" h="304800">
                    <a:moveTo>
                      <a:pt x="2988633" y="9005"/>
                    </a:moveTo>
                    <a:lnTo>
                      <a:pt x="2989037" y="10248"/>
                    </a:lnTo>
                    <a:lnTo>
                      <a:pt x="2989070" y="10010"/>
                    </a:lnTo>
                    <a:lnTo>
                      <a:pt x="2988633" y="9005"/>
                    </a:lnTo>
                    <a:close/>
                  </a:path>
                  <a:path w="2992754" h="304800">
                    <a:moveTo>
                      <a:pt x="2985211" y="1269"/>
                    </a:moveTo>
                    <a:lnTo>
                      <a:pt x="2983623" y="1269"/>
                    </a:lnTo>
                    <a:lnTo>
                      <a:pt x="2986925" y="5080"/>
                    </a:lnTo>
                    <a:lnTo>
                      <a:pt x="2987974" y="7491"/>
                    </a:lnTo>
                    <a:lnTo>
                      <a:pt x="2988183" y="7619"/>
                    </a:lnTo>
                    <a:lnTo>
                      <a:pt x="2988633" y="9005"/>
                    </a:lnTo>
                    <a:lnTo>
                      <a:pt x="2989070" y="10010"/>
                    </a:lnTo>
                    <a:lnTo>
                      <a:pt x="2989236" y="8813"/>
                    </a:lnTo>
                    <a:lnTo>
                      <a:pt x="2989317" y="7491"/>
                    </a:lnTo>
                    <a:lnTo>
                      <a:pt x="2985211" y="1269"/>
                    </a:lnTo>
                    <a:close/>
                  </a:path>
                  <a:path w="2992754" h="304800">
                    <a:moveTo>
                      <a:pt x="2987974" y="7491"/>
                    </a:moveTo>
                    <a:lnTo>
                      <a:pt x="2988633" y="9005"/>
                    </a:lnTo>
                    <a:lnTo>
                      <a:pt x="2988183" y="7619"/>
                    </a:lnTo>
                    <a:lnTo>
                      <a:pt x="2987974" y="7491"/>
                    </a:lnTo>
                    <a:close/>
                  </a:path>
                  <a:path w="2992754" h="304800">
                    <a:moveTo>
                      <a:pt x="2973133" y="0"/>
                    </a:moveTo>
                    <a:lnTo>
                      <a:pt x="2967532" y="3810"/>
                    </a:lnTo>
                    <a:lnTo>
                      <a:pt x="2966830" y="8874"/>
                    </a:lnTo>
                    <a:lnTo>
                      <a:pt x="2967126" y="7619"/>
                    </a:lnTo>
                    <a:lnTo>
                      <a:pt x="2968993" y="3810"/>
                    </a:lnTo>
                    <a:lnTo>
                      <a:pt x="2972803" y="1269"/>
                    </a:lnTo>
                    <a:lnTo>
                      <a:pt x="2985211" y="1269"/>
                    </a:lnTo>
                    <a:lnTo>
                      <a:pt x="2973133" y="0"/>
                    </a:lnTo>
                    <a:close/>
                  </a:path>
                  <a:path w="2992754" h="304800">
                    <a:moveTo>
                      <a:pt x="2983623" y="1269"/>
                    </a:moveTo>
                    <a:lnTo>
                      <a:pt x="2972803" y="1269"/>
                    </a:lnTo>
                    <a:lnTo>
                      <a:pt x="2968993" y="3810"/>
                    </a:lnTo>
                    <a:lnTo>
                      <a:pt x="2967126" y="7619"/>
                    </a:lnTo>
                    <a:lnTo>
                      <a:pt x="2966920" y="8813"/>
                    </a:lnTo>
                    <a:lnTo>
                      <a:pt x="2972396" y="5080"/>
                    </a:lnTo>
                    <a:lnTo>
                      <a:pt x="2973899" y="5080"/>
                    </a:lnTo>
                    <a:lnTo>
                      <a:pt x="2975622" y="3810"/>
                    </a:lnTo>
                    <a:lnTo>
                      <a:pt x="2985825" y="3810"/>
                    </a:lnTo>
                    <a:lnTo>
                      <a:pt x="2983623" y="1269"/>
                    </a:lnTo>
                    <a:close/>
                  </a:path>
                  <a:path w="2992754" h="304800">
                    <a:moveTo>
                      <a:pt x="2985825" y="3810"/>
                    </a:moveTo>
                    <a:lnTo>
                      <a:pt x="2982023" y="3810"/>
                    </a:lnTo>
                    <a:lnTo>
                      <a:pt x="2987974" y="7491"/>
                    </a:lnTo>
                    <a:lnTo>
                      <a:pt x="2986925" y="5080"/>
                    </a:lnTo>
                    <a:lnTo>
                      <a:pt x="2985825" y="3810"/>
                    </a:lnTo>
                    <a:close/>
                  </a:path>
                  <a:path w="2992754" h="304800">
                    <a:moveTo>
                      <a:pt x="2979714" y="4574"/>
                    </a:moveTo>
                    <a:lnTo>
                      <a:pt x="2976793" y="5541"/>
                    </a:lnTo>
                    <a:lnTo>
                      <a:pt x="2983191" y="6213"/>
                    </a:lnTo>
                    <a:lnTo>
                      <a:pt x="2982417" y="5080"/>
                    </a:lnTo>
                    <a:lnTo>
                      <a:pt x="2979714" y="4574"/>
                    </a:lnTo>
                    <a:close/>
                  </a:path>
                  <a:path w="2992754" h="304800">
                    <a:moveTo>
                      <a:pt x="2975622" y="3810"/>
                    </a:moveTo>
                    <a:lnTo>
                      <a:pt x="2973712" y="5218"/>
                    </a:lnTo>
                    <a:lnTo>
                      <a:pt x="2976793" y="5541"/>
                    </a:lnTo>
                    <a:lnTo>
                      <a:pt x="2979714" y="4574"/>
                    </a:lnTo>
                    <a:lnTo>
                      <a:pt x="2975622" y="3810"/>
                    </a:lnTo>
                    <a:close/>
                  </a:path>
                  <a:path w="2992754" h="304800">
                    <a:moveTo>
                      <a:pt x="2973899" y="5080"/>
                    </a:moveTo>
                    <a:lnTo>
                      <a:pt x="2972396" y="5080"/>
                    </a:lnTo>
                    <a:lnTo>
                      <a:pt x="2973712" y="5218"/>
                    </a:lnTo>
                    <a:lnTo>
                      <a:pt x="2973899" y="5080"/>
                    </a:lnTo>
                    <a:close/>
                  </a:path>
                  <a:path w="2992754" h="304800">
                    <a:moveTo>
                      <a:pt x="2982023" y="3810"/>
                    </a:moveTo>
                    <a:lnTo>
                      <a:pt x="2975622" y="3810"/>
                    </a:lnTo>
                    <a:lnTo>
                      <a:pt x="2979714" y="4574"/>
                    </a:lnTo>
                    <a:lnTo>
                      <a:pt x="2982023" y="3810"/>
                    </a:lnTo>
                    <a:close/>
                  </a:path>
                </a:pathLst>
              </a:custGeom>
              <a:solidFill>
                <a:srgbClr val="007AFF"/>
              </a:solidFill>
            </p:spPr>
            <p:txBody>
              <a:bodyPr wrap="square" lIns="0" tIns="0" rIns="0" bIns="0" rtlCol="0"/>
              <a:lstStyle/>
              <a:p>
                <a:endParaRPr sz="2388"/>
              </a:p>
            </p:txBody>
          </p:sp>
          <p:pic>
            <p:nvPicPr>
              <p:cNvPr id="13316" name="object 24">
                <a:extLst>
                  <a:ext uri="{FF2B5EF4-FFF2-40B4-BE49-F238E27FC236}">
                    <a16:creationId xmlns:a16="http://schemas.microsoft.com/office/drawing/2014/main" id="{D278FF9C-CEFE-F275-A761-94AA30D5336F}"/>
                  </a:ext>
                </a:extLst>
              </p:cNvPr>
              <p:cNvPicPr/>
              <p:nvPr/>
            </p:nvPicPr>
            <p:blipFill>
              <a:blip r:embed="rId15" cstate="print"/>
              <a:stretch>
                <a:fillRect/>
              </a:stretch>
            </p:blipFill>
            <p:spPr>
              <a:xfrm>
                <a:off x="5481650" y="2590533"/>
                <a:ext cx="451497" cy="422909"/>
              </a:xfrm>
              <a:prstGeom prst="rect">
                <a:avLst/>
              </a:prstGeom>
            </p:spPr>
          </p:pic>
          <p:pic>
            <p:nvPicPr>
              <p:cNvPr id="13317" name="object 25">
                <a:extLst>
                  <a:ext uri="{FF2B5EF4-FFF2-40B4-BE49-F238E27FC236}">
                    <a16:creationId xmlns:a16="http://schemas.microsoft.com/office/drawing/2014/main" id="{6260500D-DD5A-8E6C-DA25-D20DC6F330EA}"/>
                  </a:ext>
                </a:extLst>
              </p:cNvPr>
              <p:cNvPicPr/>
              <p:nvPr/>
            </p:nvPicPr>
            <p:blipFill>
              <a:blip r:embed="rId16" cstate="print"/>
              <a:stretch>
                <a:fillRect/>
              </a:stretch>
            </p:blipFill>
            <p:spPr>
              <a:xfrm>
                <a:off x="5998667" y="2621203"/>
                <a:ext cx="548628" cy="389775"/>
              </a:xfrm>
              <a:prstGeom prst="rect">
                <a:avLst/>
              </a:prstGeom>
            </p:spPr>
          </p:pic>
          <p:pic>
            <p:nvPicPr>
              <p:cNvPr id="13318" name="object 26">
                <a:extLst>
                  <a:ext uri="{FF2B5EF4-FFF2-40B4-BE49-F238E27FC236}">
                    <a16:creationId xmlns:a16="http://schemas.microsoft.com/office/drawing/2014/main" id="{29A48B46-DBA9-DE3A-5511-EBD0F7E8C7BC}"/>
                  </a:ext>
                </a:extLst>
              </p:cNvPr>
              <p:cNvPicPr/>
              <p:nvPr/>
            </p:nvPicPr>
            <p:blipFill>
              <a:blip r:embed="rId17" cstate="print"/>
              <a:stretch>
                <a:fillRect/>
              </a:stretch>
            </p:blipFill>
            <p:spPr>
              <a:xfrm>
                <a:off x="6697230" y="2595625"/>
                <a:ext cx="87084" cy="290347"/>
              </a:xfrm>
              <a:prstGeom prst="rect">
                <a:avLst/>
              </a:prstGeom>
            </p:spPr>
          </p:pic>
          <p:pic>
            <p:nvPicPr>
              <p:cNvPr id="13319" name="object 27">
                <a:extLst>
                  <a:ext uri="{FF2B5EF4-FFF2-40B4-BE49-F238E27FC236}">
                    <a16:creationId xmlns:a16="http://schemas.microsoft.com/office/drawing/2014/main" id="{F689AE05-37DE-FFE9-DBDB-A288A744653E}"/>
                  </a:ext>
                </a:extLst>
              </p:cNvPr>
              <p:cNvPicPr/>
              <p:nvPr/>
            </p:nvPicPr>
            <p:blipFill>
              <a:blip r:embed="rId18" cstate="print"/>
              <a:stretch>
                <a:fillRect/>
              </a:stretch>
            </p:blipFill>
            <p:spPr>
              <a:xfrm>
                <a:off x="6922617" y="2549232"/>
                <a:ext cx="595299" cy="442087"/>
              </a:xfrm>
              <a:prstGeom prst="rect">
                <a:avLst/>
              </a:prstGeom>
            </p:spPr>
          </p:pic>
        </p:grpSp>
      </p:grpSp>
      <p:sp>
        <p:nvSpPr>
          <p:cNvPr id="5" name="Parallelogram 4">
            <a:extLst>
              <a:ext uri="{FF2B5EF4-FFF2-40B4-BE49-F238E27FC236}">
                <a16:creationId xmlns:a16="http://schemas.microsoft.com/office/drawing/2014/main" id="{E6423253-0205-3196-06F1-98C71A78BF87}"/>
              </a:ext>
            </a:extLst>
          </p:cNvPr>
          <p:cNvSpPr/>
          <p:nvPr/>
        </p:nvSpPr>
        <p:spPr>
          <a:xfrm>
            <a:off x="8119215" y="3640035"/>
            <a:ext cx="2387531" cy="875187"/>
          </a:xfrm>
          <a:prstGeom prst="parallelogram">
            <a:avLst>
              <a:gd name="adj" fmla="val 5718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0B11CE3-4E17-649D-D5A9-4108B91EDD00}"/>
              </a:ext>
            </a:extLst>
          </p:cNvPr>
          <p:cNvGrpSpPr/>
          <p:nvPr/>
        </p:nvGrpSpPr>
        <p:grpSpPr>
          <a:xfrm>
            <a:off x="10259079" y="2717682"/>
            <a:ext cx="1674176" cy="1494379"/>
            <a:chOff x="9739269" y="1314490"/>
            <a:chExt cx="1674176" cy="1494379"/>
          </a:xfrm>
        </p:grpSpPr>
        <p:sp>
          <p:nvSpPr>
            <p:cNvPr id="24" name="Trapezoid 23">
              <a:extLst>
                <a:ext uri="{FF2B5EF4-FFF2-40B4-BE49-F238E27FC236}">
                  <a16:creationId xmlns:a16="http://schemas.microsoft.com/office/drawing/2014/main" id="{61232D49-6842-6F69-07B1-46E38AE1C89D}"/>
                </a:ext>
              </a:extLst>
            </p:cNvPr>
            <p:cNvSpPr/>
            <p:nvPr/>
          </p:nvSpPr>
          <p:spPr>
            <a:xfrm rot="16200000">
              <a:off x="10377972" y="1773396"/>
              <a:ext cx="1494379" cy="576567"/>
            </a:xfrm>
            <a:prstGeom prst="trapezoid">
              <a:avLst>
                <a:gd name="adj" fmla="val 46698"/>
              </a:avLst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BAE1540-0D95-4117-7EC9-FBCBAC7AC70C}"/>
                </a:ext>
              </a:extLst>
            </p:cNvPr>
            <p:cNvSpPr txBox="1"/>
            <p:nvPr/>
          </p:nvSpPr>
          <p:spPr>
            <a:xfrm rot="16200000">
              <a:off x="10564355" y="1877013"/>
              <a:ext cx="11544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Decoder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5566FC71-04C8-9009-88C4-20D177FCF94D}"/>
                </a:ext>
              </a:extLst>
            </p:cNvPr>
            <p:cNvCxnSpPr>
              <a:cxnSpLocks/>
            </p:cNvCxnSpPr>
            <p:nvPr/>
          </p:nvCxnSpPr>
          <p:spPr>
            <a:xfrm>
              <a:off x="9739269" y="2053102"/>
              <a:ext cx="1025148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02CEA757-F0F5-7ADE-2450-CEEC80ADAA77}"/>
              </a:ext>
            </a:extLst>
          </p:cNvPr>
          <p:cNvSpPr txBox="1"/>
          <p:nvPr/>
        </p:nvSpPr>
        <p:spPr>
          <a:xfrm>
            <a:off x="9139275" y="4505534"/>
            <a:ext cx="8771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 Rounded MT Bold" panose="020F0704030504030204" pitchFamily="34" charset="77"/>
              </a:rPr>
              <a:t>Z space</a:t>
            </a:r>
          </a:p>
        </p:txBody>
      </p:sp>
      <p:grpSp>
        <p:nvGrpSpPr>
          <p:cNvPr id="13332" name="Group 13331">
            <a:extLst>
              <a:ext uri="{FF2B5EF4-FFF2-40B4-BE49-F238E27FC236}">
                <a16:creationId xmlns:a16="http://schemas.microsoft.com/office/drawing/2014/main" id="{74159F8C-6532-6990-D92E-2BE9B941259A}"/>
              </a:ext>
            </a:extLst>
          </p:cNvPr>
          <p:cNvGrpSpPr/>
          <p:nvPr/>
        </p:nvGrpSpPr>
        <p:grpSpPr>
          <a:xfrm>
            <a:off x="6991125" y="2717682"/>
            <a:ext cx="1291942" cy="1494379"/>
            <a:chOff x="6991125" y="2717682"/>
            <a:chExt cx="1291942" cy="1494379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B9AF28B9-86A1-2B96-EB9F-0C54947BFAB5}"/>
                </a:ext>
              </a:extLst>
            </p:cNvPr>
            <p:cNvGrpSpPr/>
            <p:nvPr/>
          </p:nvGrpSpPr>
          <p:grpSpPr>
            <a:xfrm>
              <a:off x="6991125" y="2717682"/>
              <a:ext cx="576567" cy="1494379"/>
              <a:chOff x="7199047" y="4033850"/>
              <a:chExt cx="576567" cy="1494379"/>
            </a:xfrm>
          </p:grpSpPr>
          <p:sp>
            <p:nvSpPr>
              <p:cNvPr id="29" name="Trapezoid 28">
                <a:extLst>
                  <a:ext uri="{FF2B5EF4-FFF2-40B4-BE49-F238E27FC236}">
                    <a16:creationId xmlns:a16="http://schemas.microsoft.com/office/drawing/2014/main" id="{281F1E80-C67B-82FC-CEAA-7F9F9529C8E7}"/>
                  </a:ext>
                </a:extLst>
              </p:cNvPr>
              <p:cNvSpPr/>
              <p:nvPr/>
            </p:nvSpPr>
            <p:spPr>
              <a:xfrm rot="5400000">
                <a:off x="6740141" y="4492756"/>
                <a:ext cx="1494379" cy="576567"/>
              </a:xfrm>
              <a:prstGeom prst="trapezoid">
                <a:avLst>
                  <a:gd name="adj" fmla="val 46698"/>
                </a:avLst>
              </a:prstGeom>
              <a:solidFill>
                <a:schemeClr val="bg1">
                  <a:lumMod val="6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2095DD0-55EA-3420-81A6-847F19B82EE4}"/>
                  </a:ext>
                </a:extLst>
              </p:cNvPr>
              <p:cNvSpPr txBox="1"/>
              <p:nvPr/>
            </p:nvSpPr>
            <p:spPr>
              <a:xfrm rot="5400000">
                <a:off x="6934539" y="4596373"/>
                <a:ext cx="11384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 Rounded MT Bold" panose="020F0704030504030204" pitchFamily="34" charset="77"/>
                  </a:rPr>
                  <a:t>Encoder</a:t>
                </a:r>
              </a:p>
            </p:txBody>
          </p:sp>
        </p:grp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99828AA6-1A4D-76EC-8FDE-8F4B57D13E2F}"/>
                </a:ext>
              </a:extLst>
            </p:cNvPr>
            <p:cNvCxnSpPr>
              <a:cxnSpLocks/>
            </p:cNvCxnSpPr>
            <p:nvPr/>
          </p:nvCxnSpPr>
          <p:spPr>
            <a:xfrm>
              <a:off x="7567692" y="3414610"/>
              <a:ext cx="715375" cy="450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423D08E-31F2-DCBB-BDE6-0290011BE14F}"/>
              </a:ext>
            </a:extLst>
          </p:cNvPr>
          <p:cNvGrpSpPr/>
          <p:nvPr/>
        </p:nvGrpSpPr>
        <p:grpSpPr>
          <a:xfrm>
            <a:off x="8011133" y="3042962"/>
            <a:ext cx="2571064" cy="1370702"/>
            <a:chOff x="1133247" y="4882932"/>
            <a:chExt cx="3443895" cy="1370702"/>
          </a:xfrm>
        </p:grpSpPr>
        <p:pic>
          <p:nvPicPr>
            <p:cNvPr id="35" name="Picture 34" descr="Gaussian filter, or Gaussian blur — Librow — Digital LCD dashboards for  cars and boats">
              <a:extLst>
                <a:ext uri="{FF2B5EF4-FFF2-40B4-BE49-F238E27FC236}">
                  <a16:creationId xmlns:a16="http://schemas.microsoft.com/office/drawing/2014/main" id="{436945F3-03FE-AF1B-F064-BEABDD040F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3247" y="5063200"/>
              <a:ext cx="1561429" cy="11355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Picture 35" descr="Gaussian filter, or Gaussian blur — Librow — Digital LCD dashboards for  cars and boats">
              <a:extLst>
                <a:ext uri="{FF2B5EF4-FFF2-40B4-BE49-F238E27FC236}">
                  <a16:creationId xmlns:a16="http://schemas.microsoft.com/office/drawing/2014/main" id="{EA37228E-FAD8-6607-970C-E7185D2A10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67215" y="4882932"/>
              <a:ext cx="1229691" cy="11355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" name="Picture 37" descr="Gaussian filter, or Gaussian blur — Librow — Digital LCD dashboards for  cars and boats">
              <a:extLst>
                <a:ext uri="{FF2B5EF4-FFF2-40B4-BE49-F238E27FC236}">
                  <a16:creationId xmlns:a16="http://schemas.microsoft.com/office/drawing/2014/main" id="{99D995C7-B7D9-8307-FF9B-08C51BBC63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01782" y="5041998"/>
              <a:ext cx="1975360" cy="8173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321" name="Picture 13320" descr="Gaussian filter, or Gaussian blur — Librow — Digital LCD dashboards for  cars and boats">
              <a:extLst>
                <a:ext uri="{FF2B5EF4-FFF2-40B4-BE49-F238E27FC236}">
                  <a16:creationId xmlns:a16="http://schemas.microsoft.com/office/drawing/2014/main" id="{B5F39B7E-85BA-472D-EAFC-656FA251EF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89668" y="5696015"/>
              <a:ext cx="2160855" cy="5576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3322" name="TextBox 13321">
            <a:extLst>
              <a:ext uri="{FF2B5EF4-FFF2-40B4-BE49-F238E27FC236}">
                <a16:creationId xmlns:a16="http://schemas.microsoft.com/office/drawing/2014/main" id="{11EB52F8-ABD7-38F5-9B05-B885FDA09AB5}"/>
              </a:ext>
            </a:extLst>
          </p:cNvPr>
          <p:cNvSpPr txBox="1"/>
          <p:nvPr/>
        </p:nvSpPr>
        <p:spPr>
          <a:xfrm>
            <a:off x="4185673" y="4741765"/>
            <a:ext cx="3747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KL = Cross entropy   –    entropy </a:t>
            </a:r>
          </a:p>
        </p:txBody>
      </p:sp>
      <p:cxnSp>
        <p:nvCxnSpPr>
          <p:cNvPr id="13323" name="Straight Arrow Connector 13322">
            <a:extLst>
              <a:ext uri="{FF2B5EF4-FFF2-40B4-BE49-F238E27FC236}">
                <a16:creationId xmlns:a16="http://schemas.microsoft.com/office/drawing/2014/main" id="{41027D5E-69D8-34C1-6F02-D8572409D098}"/>
              </a:ext>
            </a:extLst>
          </p:cNvPr>
          <p:cNvCxnSpPr>
            <a:cxnSpLocks/>
            <a:stCxn id="13316" idx="2"/>
          </p:cNvCxnSpPr>
          <p:nvPr/>
        </p:nvCxnSpPr>
        <p:spPr>
          <a:xfrm flipH="1">
            <a:off x="4411224" y="4220311"/>
            <a:ext cx="7318" cy="450543"/>
          </a:xfrm>
          <a:prstGeom prst="straightConnector1">
            <a:avLst/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30" name="TextBox 13329">
            <a:extLst>
              <a:ext uri="{FF2B5EF4-FFF2-40B4-BE49-F238E27FC236}">
                <a16:creationId xmlns:a16="http://schemas.microsoft.com/office/drawing/2014/main" id="{EB926C1A-B81A-7A6D-879C-295B37FC5C90}"/>
              </a:ext>
            </a:extLst>
          </p:cNvPr>
          <p:cNvSpPr txBox="1"/>
          <p:nvPr/>
        </p:nvSpPr>
        <p:spPr>
          <a:xfrm>
            <a:off x="1789434" y="5591922"/>
            <a:ext cx="15254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Reconstruction</a:t>
            </a:r>
          </a:p>
        </p:txBody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2329C29C-908E-A4E4-3A16-8B7A38BA9566}"/>
              </a:ext>
            </a:extLst>
          </p:cNvPr>
          <p:cNvPicPr/>
          <p:nvPr/>
        </p:nvPicPr>
        <p:blipFill rotWithShape="1">
          <a:blip r:embed="rId2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59462"/>
          <a:stretch/>
        </p:blipFill>
        <p:spPr>
          <a:xfrm>
            <a:off x="594410" y="6029167"/>
            <a:ext cx="4175039" cy="670162"/>
          </a:xfrm>
          <a:prstGeom prst="rect">
            <a:avLst/>
          </a:prstGeom>
        </p:spPr>
      </p:pic>
      <p:pic>
        <p:nvPicPr>
          <p:cNvPr id="7" name="object 3">
            <a:extLst>
              <a:ext uri="{FF2B5EF4-FFF2-40B4-BE49-F238E27FC236}">
                <a16:creationId xmlns:a16="http://schemas.microsoft.com/office/drawing/2014/main" id="{C7D0D818-0102-4AC5-ABDF-1047512C8911}"/>
              </a:ext>
            </a:extLst>
          </p:cNvPr>
          <p:cNvPicPr/>
          <p:nvPr/>
        </p:nvPicPr>
        <p:blipFill rotWithShape="1">
          <a:blip r:embed="rId2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3334" t="1" r="33630" b="1"/>
          <a:stretch/>
        </p:blipFill>
        <p:spPr>
          <a:xfrm>
            <a:off x="9140300" y="6009325"/>
            <a:ext cx="2372497" cy="670162"/>
          </a:xfrm>
          <a:prstGeom prst="rect">
            <a:avLst/>
          </a:prstGeom>
        </p:spPr>
      </p:pic>
      <p:pic>
        <p:nvPicPr>
          <p:cNvPr id="8" name="object 3">
            <a:extLst>
              <a:ext uri="{FF2B5EF4-FFF2-40B4-BE49-F238E27FC236}">
                <a16:creationId xmlns:a16="http://schemas.microsoft.com/office/drawing/2014/main" id="{913B3BDE-DAD8-ABA5-A567-0E3A4D6A75DB}"/>
              </a:ext>
            </a:extLst>
          </p:cNvPr>
          <p:cNvPicPr/>
          <p:nvPr/>
        </p:nvPicPr>
        <p:blipFill rotWithShape="1">
          <a:blip r:embed="rId2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9157" t="-38421" b="-1"/>
          <a:stretch/>
        </p:blipFill>
        <p:spPr>
          <a:xfrm>
            <a:off x="5258527" y="5719910"/>
            <a:ext cx="3176619" cy="92764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B6A816A-98C9-A06C-BB56-260260EC2D05}"/>
              </a:ext>
            </a:extLst>
          </p:cNvPr>
          <p:cNvSpPr txBox="1"/>
          <p:nvPr/>
        </p:nvSpPr>
        <p:spPr>
          <a:xfrm>
            <a:off x="4890799" y="5757390"/>
            <a:ext cx="39626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/>
              <a:t>-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0580BF-6545-7E25-8A30-7B3FB39563FF}"/>
              </a:ext>
            </a:extLst>
          </p:cNvPr>
          <p:cNvSpPr txBox="1"/>
          <p:nvPr/>
        </p:nvSpPr>
        <p:spPr>
          <a:xfrm>
            <a:off x="8538091" y="5835274"/>
            <a:ext cx="4651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+</a:t>
            </a:r>
            <a:endParaRPr lang="en-US" sz="5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AD329F-1AEE-53B1-1606-D88A14E11941}"/>
              </a:ext>
            </a:extLst>
          </p:cNvPr>
          <p:cNvSpPr txBox="1"/>
          <p:nvPr/>
        </p:nvSpPr>
        <p:spPr>
          <a:xfrm>
            <a:off x="6182499" y="5591922"/>
            <a:ext cx="14205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Cross Entropy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7358EF-71EA-546B-253F-D0F6925B3511}"/>
              </a:ext>
            </a:extLst>
          </p:cNvPr>
          <p:cNvSpPr txBox="1"/>
          <p:nvPr/>
        </p:nvSpPr>
        <p:spPr>
          <a:xfrm>
            <a:off x="10016439" y="5595611"/>
            <a:ext cx="8663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Entropy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5A96013-EE27-8DE3-DC93-29292453B582}"/>
              </a:ext>
            </a:extLst>
          </p:cNvPr>
          <p:cNvGrpSpPr/>
          <p:nvPr/>
        </p:nvGrpSpPr>
        <p:grpSpPr>
          <a:xfrm>
            <a:off x="132119" y="1253056"/>
            <a:ext cx="5259057" cy="1284649"/>
            <a:chOff x="274081" y="4108302"/>
            <a:chExt cx="5259057" cy="1284649"/>
          </a:xfrm>
        </p:grpSpPr>
        <p:pic>
          <p:nvPicPr>
            <p:cNvPr id="53" name="object 3">
              <a:extLst>
                <a:ext uri="{FF2B5EF4-FFF2-40B4-BE49-F238E27FC236}">
                  <a16:creationId xmlns:a16="http://schemas.microsoft.com/office/drawing/2014/main" id="{197D1B0C-4618-B413-281C-A2C8C7A7CFF7}"/>
                </a:ext>
              </a:extLst>
            </p:cNvPr>
            <p:cNvPicPr/>
            <p:nvPr/>
          </p:nvPicPr>
          <p:blipFill rotWithShape="1">
            <a:blip r:embed="rId21" cstate="print"/>
            <a:srcRect l="26650" t="1954"/>
            <a:stretch/>
          </p:blipFill>
          <p:spPr>
            <a:xfrm>
              <a:off x="1555825" y="4784712"/>
              <a:ext cx="3870643" cy="608239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FD3432B-B2F1-A06F-25B2-60C7232A36C6}"/>
                </a:ext>
              </a:extLst>
            </p:cNvPr>
            <p:cNvSpPr txBox="1"/>
            <p:nvPr/>
          </p:nvSpPr>
          <p:spPr>
            <a:xfrm>
              <a:off x="274081" y="4108302"/>
              <a:ext cx="52590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 Rounded MT Bold" panose="020F0704030504030204" pitchFamily="34" charset="77"/>
                  <a:sym typeface="Wingdings" pitchFamily="2" charset="2"/>
                </a:rPr>
                <a:t>Maximize Expected ELBO over all data points</a:t>
              </a:r>
              <a:endParaRPr lang="en-US" dirty="0">
                <a:solidFill>
                  <a:srgbClr val="C00000"/>
                </a:solidFill>
                <a:latin typeface="Arial Rounded MT Bold" panose="020F0704030504030204" pitchFamily="34" charset="77"/>
              </a:endParaRPr>
            </a:p>
          </p:txBody>
        </p: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266B1D6D-6CC1-90A5-7F31-49F48283F1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03857" y="4466774"/>
              <a:ext cx="308257" cy="377793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Picture 6" descr="Gaussian filter, or Gaussian blur — Librow — Digital LCD dashboards for  cars and boats">
            <a:extLst>
              <a:ext uri="{FF2B5EF4-FFF2-40B4-BE49-F238E27FC236}">
                <a16:creationId xmlns:a16="http://schemas.microsoft.com/office/drawing/2014/main" id="{E470DB3F-B12C-A647-19AF-E28E7792B2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35000"/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5689" y="2038318"/>
            <a:ext cx="2387532" cy="2533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335" name="Straight Arrow Connector 13334">
            <a:extLst>
              <a:ext uri="{FF2B5EF4-FFF2-40B4-BE49-F238E27FC236}">
                <a16:creationId xmlns:a16="http://schemas.microsoft.com/office/drawing/2014/main" id="{6FFAB842-B24F-1B18-549C-5E271CE94B97}"/>
              </a:ext>
            </a:extLst>
          </p:cNvPr>
          <p:cNvCxnSpPr>
            <a:cxnSpLocks/>
          </p:cNvCxnSpPr>
          <p:nvPr/>
        </p:nvCxnSpPr>
        <p:spPr>
          <a:xfrm>
            <a:off x="7911273" y="4985600"/>
            <a:ext cx="1228002" cy="48142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37" name="Straight Arrow Connector 13336">
            <a:extLst>
              <a:ext uri="{FF2B5EF4-FFF2-40B4-BE49-F238E27FC236}">
                <a16:creationId xmlns:a16="http://schemas.microsoft.com/office/drawing/2014/main" id="{85FAF32A-8404-D9C3-2118-C8A0EDCAEA9A}"/>
              </a:ext>
            </a:extLst>
          </p:cNvPr>
          <p:cNvCxnSpPr>
            <a:cxnSpLocks/>
          </p:cNvCxnSpPr>
          <p:nvPr/>
        </p:nvCxnSpPr>
        <p:spPr>
          <a:xfrm>
            <a:off x="5507584" y="5107171"/>
            <a:ext cx="0" cy="385182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39" name="Straight Arrow Connector 13338">
            <a:extLst>
              <a:ext uri="{FF2B5EF4-FFF2-40B4-BE49-F238E27FC236}">
                <a16:creationId xmlns:a16="http://schemas.microsoft.com/office/drawing/2014/main" id="{2B7AD9F3-AB03-F0B4-61CE-F5B8A88B294E}"/>
              </a:ext>
            </a:extLst>
          </p:cNvPr>
          <p:cNvCxnSpPr>
            <a:cxnSpLocks/>
          </p:cNvCxnSpPr>
          <p:nvPr/>
        </p:nvCxnSpPr>
        <p:spPr>
          <a:xfrm>
            <a:off x="1920409" y="4382194"/>
            <a:ext cx="0" cy="111015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19711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95E9F7A-7FA3-60B8-CAF1-C902E1FC5A86}"/>
              </a:ext>
            </a:extLst>
          </p:cNvPr>
          <p:cNvSpPr/>
          <p:nvPr/>
        </p:nvSpPr>
        <p:spPr>
          <a:xfrm>
            <a:off x="9107478" y="5551359"/>
            <a:ext cx="2577213" cy="114571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0BC90D3-EDE2-D297-C0B1-8425F4F1E6FA}"/>
              </a:ext>
            </a:extLst>
          </p:cNvPr>
          <p:cNvSpPr/>
          <p:nvPr/>
        </p:nvSpPr>
        <p:spPr>
          <a:xfrm>
            <a:off x="5304194" y="5551359"/>
            <a:ext cx="3176619" cy="112812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53206D0-882F-6CCD-69B0-F158CC32C995}"/>
              </a:ext>
            </a:extLst>
          </p:cNvPr>
          <p:cNvSpPr/>
          <p:nvPr/>
        </p:nvSpPr>
        <p:spPr>
          <a:xfrm>
            <a:off x="507309" y="5551361"/>
            <a:ext cx="4373610" cy="110909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30" name="TextBox 13329">
            <a:extLst>
              <a:ext uri="{FF2B5EF4-FFF2-40B4-BE49-F238E27FC236}">
                <a16:creationId xmlns:a16="http://schemas.microsoft.com/office/drawing/2014/main" id="{EB926C1A-B81A-7A6D-879C-295B37FC5C90}"/>
              </a:ext>
            </a:extLst>
          </p:cNvPr>
          <p:cNvSpPr txBox="1"/>
          <p:nvPr/>
        </p:nvSpPr>
        <p:spPr>
          <a:xfrm>
            <a:off x="1789434" y="5591922"/>
            <a:ext cx="15254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Reconstruction</a:t>
            </a:r>
          </a:p>
        </p:txBody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2329C29C-908E-A4E4-3A16-8B7A38BA9566}"/>
              </a:ext>
            </a:extLst>
          </p:cNvPr>
          <p:cNvPicPr/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59462"/>
          <a:stretch/>
        </p:blipFill>
        <p:spPr>
          <a:xfrm>
            <a:off x="594410" y="6029167"/>
            <a:ext cx="4175039" cy="670162"/>
          </a:xfrm>
          <a:prstGeom prst="rect">
            <a:avLst/>
          </a:prstGeom>
        </p:spPr>
      </p:pic>
      <p:pic>
        <p:nvPicPr>
          <p:cNvPr id="7" name="object 3">
            <a:extLst>
              <a:ext uri="{FF2B5EF4-FFF2-40B4-BE49-F238E27FC236}">
                <a16:creationId xmlns:a16="http://schemas.microsoft.com/office/drawing/2014/main" id="{C7D0D818-0102-4AC5-ABDF-1047512C8911}"/>
              </a:ext>
            </a:extLst>
          </p:cNvPr>
          <p:cNvPicPr/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3334" t="1" r="33630" b="1"/>
          <a:stretch/>
        </p:blipFill>
        <p:spPr>
          <a:xfrm>
            <a:off x="9140300" y="6009325"/>
            <a:ext cx="2372497" cy="670162"/>
          </a:xfrm>
          <a:prstGeom prst="rect">
            <a:avLst/>
          </a:prstGeom>
        </p:spPr>
      </p:pic>
      <p:pic>
        <p:nvPicPr>
          <p:cNvPr id="8" name="object 3">
            <a:extLst>
              <a:ext uri="{FF2B5EF4-FFF2-40B4-BE49-F238E27FC236}">
                <a16:creationId xmlns:a16="http://schemas.microsoft.com/office/drawing/2014/main" id="{913B3BDE-DAD8-ABA5-A567-0E3A4D6A75DB}"/>
              </a:ext>
            </a:extLst>
          </p:cNvPr>
          <p:cNvPicPr/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9157" t="-38421" b="-1"/>
          <a:stretch/>
        </p:blipFill>
        <p:spPr>
          <a:xfrm>
            <a:off x="5258527" y="5719910"/>
            <a:ext cx="3176619" cy="92764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B6A816A-98C9-A06C-BB56-260260EC2D05}"/>
              </a:ext>
            </a:extLst>
          </p:cNvPr>
          <p:cNvSpPr txBox="1"/>
          <p:nvPr/>
        </p:nvSpPr>
        <p:spPr>
          <a:xfrm>
            <a:off x="4890799" y="5757390"/>
            <a:ext cx="39626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/>
              <a:t>-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0580BF-6545-7E25-8A30-7B3FB39563FF}"/>
              </a:ext>
            </a:extLst>
          </p:cNvPr>
          <p:cNvSpPr txBox="1"/>
          <p:nvPr/>
        </p:nvSpPr>
        <p:spPr>
          <a:xfrm>
            <a:off x="8538091" y="5835274"/>
            <a:ext cx="4651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+</a:t>
            </a:r>
            <a:endParaRPr lang="en-US" sz="5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AD329F-1AEE-53B1-1606-D88A14E11941}"/>
              </a:ext>
            </a:extLst>
          </p:cNvPr>
          <p:cNvSpPr txBox="1"/>
          <p:nvPr/>
        </p:nvSpPr>
        <p:spPr>
          <a:xfrm>
            <a:off x="6182499" y="5591922"/>
            <a:ext cx="14205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Cross Entropy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7358EF-71EA-546B-253F-D0F6925B3511}"/>
              </a:ext>
            </a:extLst>
          </p:cNvPr>
          <p:cNvSpPr txBox="1"/>
          <p:nvPr/>
        </p:nvSpPr>
        <p:spPr>
          <a:xfrm>
            <a:off x="10016439" y="5595611"/>
            <a:ext cx="8663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Entropy</a:t>
            </a:r>
          </a:p>
        </p:txBody>
      </p:sp>
      <p:sp>
        <p:nvSpPr>
          <p:cNvPr id="13325" name="Parallelogram 13324">
            <a:extLst>
              <a:ext uri="{FF2B5EF4-FFF2-40B4-BE49-F238E27FC236}">
                <a16:creationId xmlns:a16="http://schemas.microsoft.com/office/drawing/2014/main" id="{D9A6C769-73E5-0247-454C-834691CCAB94}"/>
              </a:ext>
            </a:extLst>
          </p:cNvPr>
          <p:cNvSpPr/>
          <p:nvPr/>
        </p:nvSpPr>
        <p:spPr>
          <a:xfrm>
            <a:off x="3380692" y="3340390"/>
            <a:ext cx="5149938" cy="1066038"/>
          </a:xfrm>
          <a:prstGeom prst="parallelogram">
            <a:avLst>
              <a:gd name="adj" fmla="val 5718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326" name="Group 13325">
            <a:extLst>
              <a:ext uri="{FF2B5EF4-FFF2-40B4-BE49-F238E27FC236}">
                <a16:creationId xmlns:a16="http://schemas.microsoft.com/office/drawing/2014/main" id="{EE1F2254-ED43-F503-B370-AD306615CCF2}"/>
              </a:ext>
            </a:extLst>
          </p:cNvPr>
          <p:cNvGrpSpPr/>
          <p:nvPr/>
        </p:nvGrpSpPr>
        <p:grpSpPr>
          <a:xfrm>
            <a:off x="8421659" y="2010863"/>
            <a:ext cx="1674176" cy="1494379"/>
            <a:chOff x="9739269" y="1314490"/>
            <a:chExt cx="1674176" cy="1494379"/>
          </a:xfrm>
        </p:grpSpPr>
        <p:sp>
          <p:nvSpPr>
            <p:cNvPr id="13327" name="Trapezoid 13326">
              <a:extLst>
                <a:ext uri="{FF2B5EF4-FFF2-40B4-BE49-F238E27FC236}">
                  <a16:creationId xmlns:a16="http://schemas.microsoft.com/office/drawing/2014/main" id="{72E9ECF7-7D54-D7EC-2F1B-82A0428B5952}"/>
                </a:ext>
              </a:extLst>
            </p:cNvPr>
            <p:cNvSpPr/>
            <p:nvPr/>
          </p:nvSpPr>
          <p:spPr>
            <a:xfrm rot="16200000">
              <a:off x="10377972" y="1773396"/>
              <a:ext cx="1494379" cy="576567"/>
            </a:xfrm>
            <a:prstGeom prst="trapezoid">
              <a:avLst>
                <a:gd name="adj" fmla="val 46698"/>
              </a:avLst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329" name="TextBox 13328">
              <a:extLst>
                <a:ext uri="{FF2B5EF4-FFF2-40B4-BE49-F238E27FC236}">
                  <a16:creationId xmlns:a16="http://schemas.microsoft.com/office/drawing/2014/main" id="{11AC6037-A229-1025-3083-3BBBC2D67B53}"/>
                </a:ext>
              </a:extLst>
            </p:cNvPr>
            <p:cNvSpPr txBox="1"/>
            <p:nvPr/>
          </p:nvSpPr>
          <p:spPr>
            <a:xfrm rot="16200000">
              <a:off x="10564355" y="1877013"/>
              <a:ext cx="11544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Decoder</a:t>
              </a:r>
            </a:p>
          </p:txBody>
        </p:sp>
        <p:cxnSp>
          <p:nvCxnSpPr>
            <p:cNvPr id="13331" name="Straight Arrow Connector 13330">
              <a:extLst>
                <a:ext uri="{FF2B5EF4-FFF2-40B4-BE49-F238E27FC236}">
                  <a16:creationId xmlns:a16="http://schemas.microsoft.com/office/drawing/2014/main" id="{33134174-4306-4417-524D-3FF698B2B2F6}"/>
                </a:ext>
              </a:extLst>
            </p:cNvPr>
            <p:cNvCxnSpPr>
              <a:cxnSpLocks/>
            </p:cNvCxnSpPr>
            <p:nvPr/>
          </p:nvCxnSpPr>
          <p:spPr>
            <a:xfrm>
              <a:off x="9739269" y="2053102"/>
              <a:ext cx="1025148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332" name="TextBox 13331">
            <a:extLst>
              <a:ext uri="{FF2B5EF4-FFF2-40B4-BE49-F238E27FC236}">
                <a16:creationId xmlns:a16="http://schemas.microsoft.com/office/drawing/2014/main" id="{237AB8E3-814F-0232-21E1-D0DD6CA482EE}"/>
              </a:ext>
            </a:extLst>
          </p:cNvPr>
          <p:cNvSpPr txBox="1"/>
          <p:nvPr/>
        </p:nvSpPr>
        <p:spPr>
          <a:xfrm>
            <a:off x="4691412" y="4400897"/>
            <a:ext cx="18920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 Rounded MT Bold" panose="020F0704030504030204" pitchFamily="34" charset="77"/>
              </a:rPr>
              <a:t>Z space</a:t>
            </a:r>
          </a:p>
        </p:txBody>
      </p:sp>
      <p:grpSp>
        <p:nvGrpSpPr>
          <p:cNvPr id="13337" name="Group 13336">
            <a:extLst>
              <a:ext uri="{FF2B5EF4-FFF2-40B4-BE49-F238E27FC236}">
                <a16:creationId xmlns:a16="http://schemas.microsoft.com/office/drawing/2014/main" id="{6FB16C6A-313D-9A8F-984F-B467DA49C3B8}"/>
              </a:ext>
            </a:extLst>
          </p:cNvPr>
          <p:cNvGrpSpPr/>
          <p:nvPr/>
        </p:nvGrpSpPr>
        <p:grpSpPr>
          <a:xfrm>
            <a:off x="3272608" y="2635259"/>
            <a:ext cx="5545822" cy="1669610"/>
            <a:chOff x="1133247" y="4882932"/>
            <a:chExt cx="3443895" cy="1370702"/>
          </a:xfrm>
        </p:grpSpPr>
        <p:pic>
          <p:nvPicPr>
            <p:cNvPr id="13338" name="Picture 13337" descr="Gaussian filter, or Gaussian blur — Librow — Digital LCD dashboards for  cars and boats">
              <a:extLst>
                <a:ext uri="{FF2B5EF4-FFF2-40B4-BE49-F238E27FC236}">
                  <a16:creationId xmlns:a16="http://schemas.microsoft.com/office/drawing/2014/main" id="{690A485A-DAC1-9BC4-135A-D79D49F466B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3247" y="5063200"/>
              <a:ext cx="1561429" cy="11355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339" name="Picture 13338" descr="Gaussian filter, or Gaussian blur — Librow — Digital LCD dashboards for  cars and boats">
              <a:extLst>
                <a:ext uri="{FF2B5EF4-FFF2-40B4-BE49-F238E27FC236}">
                  <a16:creationId xmlns:a16="http://schemas.microsoft.com/office/drawing/2014/main" id="{AAABFAAF-CBCC-EB8E-D185-9CF90042F6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67215" y="4882932"/>
              <a:ext cx="1229691" cy="11355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340" name="Picture 13339" descr="Gaussian filter, or Gaussian blur — Librow — Digital LCD dashboards for  cars and boats">
              <a:extLst>
                <a:ext uri="{FF2B5EF4-FFF2-40B4-BE49-F238E27FC236}">
                  <a16:creationId xmlns:a16="http://schemas.microsoft.com/office/drawing/2014/main" id="{356EE293-FDE0-BAFD-9A33-7F99ACF891D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01782" y="5041998"/>
              <a:ext cx="1975360" cy="8173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341" name="Picture 13340" descr="Gaussian filter, or Gaussian blur — Librow — Digital LCD dashboards for  cars and boats">
              <a:extLst>
                <a:ext uri="{FF2B5EF4-FFF2-40B4-BE49-F238E27FC236}">
                  <a16:creationId xmlns:a16="http://schemas.microsoft.com/office/drawing/2014/main" id="{1DE9F21D-4D61-69D1-EF5A-D4BED09989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89668" y="5696015"/>
              <a:ext cx="2160855" cy="5576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3342" name="Group 13341">
            <a:extLst>
              <a:ext uri="{FF2B5EF4-FFF2-40B4-BE49-F238E27FC236}">
                <a16:creationId xmlns:a16="http://schemas.microsoft.com/office/drawing/2014/main" id="{AC606C37-DD05-691F-A35E-6D6662DE8BCA}"/>
              </a:ext>
            </a:extLst>
          </p:cNvPr>
          <p:cNvGrpSpPr/>
          <p:nvPr/>
        </p:nvGrpSpPr>
        <p:grpSpPr>
          <a:xfrm>
            <a:off x="2102306" y="2061125"/>
            <a:ext cx="1291942" cy="1494379"/>
            <a:chOff x="6991125" y="2717682"/>
            <a:chExt cx="1291942" cy="1494379"/>
          </a:xfrm>
        </p:grpSpPr>
        <p:grpSp>
          <p:nvGrpSpPr>
            <p:cNvPr id="13343" name="Group 13342">
              <a:extLst>
                <a:ext uri="{FF2B5EF4-FFF2-40B4-BE49-F238E27FC236}">
                  <a16:creationId xmlns:a16="http://schemas.microsoft.com/office/drawing/2014/main" id="{B2A7A1B2-CBB4-4CE9-8CCE-DECECAFDFA8D}"/>
                </a:ext>
              </a:extLst>
            </p:cNvPr>
            <p:cNvGrpSpPr/>
            <p:nvPr/>
          </p:nvGrpSpPr>
          <p:grpSpPr>
            <a:xfrm>
              <a:off x="6991125" y="2717682"/>
              <a:ext cx="576567" cy="1494379"/>
              <a:chOff x="7199047" y="4033850"/>
              <a:chExt cx="576567" cy="1494379"/>
            </a:xfrm>
          </p:grpSpPr>
          <p:sp>
            <p:nvSpPr>
              <p:cNvPr id="13345" name="Trapezoid 13344">
                <a:extLst>
                  <a:ext uri="{FF2B5EF4-FFF2-40B4-BE49-F238E27FC236}">
                    <a16:creationId xmlns:a16="http://schemas.microsoft.com/office/drawing/2014/main" id="{87B0E91C-A5B9-D626-1684-23C85C110C26}"/>
                  </a:ext>
                </a:extLst>
              </p:cNvPr>
              <p:cNvSpPr/>
              <p:nvPr/>
            </p:nvSpPr>
            <p:spPr>
              <a:xfrm rot="5400000">
                <a:off x="6740141" y="4492756"/>
                <a:ext cx="1494379" cy="576567"/>
              </a:xfrm>
              <a:prstGeom prst="trapezoid">
                <a:avLst>
                  <a:gd name="adj" fmla="val 46698"/>
                </a:avLst>
              </a:prstGeom>
              <a:solidFill>
                <a:schemeClr val="bg1">
                  <a:lumMod val="6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346" name="TextBox 13345">
                <a:extLst>
                  <a:ext uri="{FF2B5EF4-FFF2-40B4-BE49-F238E27FC236}">
                    <a16:creationId xmlns:a16="http://schemas.microsoft.com/office/drawing/2014/main" id="{7A183E2B-1366-1739-180C-26D0C5207328}"/>
                  </a:ext>
                </a:extLst>
              </p:cNvPr>
              <p:cNvSpPr txBox="1"/>
              <p:nvPr/>
            </p:nvSpPr>
            <p:spPr>
              <a:xfrm rot="5400000">
                <a:off x="6934539" y="4596373"/>
                <a:ext cx="11384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 Rounded MT Bold" panose="020F0704030504030204" pitchFamily="34" charset="77"/>
                  </a:rPr>
                  <a:t>Encoder</a:t>
                </a:r>
              </a:p>
            </p:txBody>
          </p:sp>
        </p:grpSp>
        <p:cxnSp>
          <p:nvCxnSpPr>
            <p:cNvPr id="13344" name="Straight Arrow Connector 13343">
              <a:extLst>
                <a:ext uri="{FF2B5EF4-FFF2-40B4-BE49-F238E27FC236}">
                  <a16:creationId xmlns:a16="http://schemas.microsoft.com/office/drawing/2014/main" id="{D0611757-0024-417B-D0E9-FBFBFBE08A3F}"/>
                </a:ext>
              </a:extLst>
            </p:cNvPr>
            <p:cNvCxnSpPr>
              <a:cxnSpLocks/>
            </p:cNvCxnSpPr>
            <p:nvPr/>
          </p:nvCxnSpPr>
          <p:spPr>
            <a:xfrm>
              <a:off x="7567692" y="3414610"/>
              <a:ext cx="715375" cy="450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347" name="TextBox 13346">
            <a:extLst>
              <a:ext uri="{FF2B5EF4-FFF2-40B4-BE49-F238E27FC236}">
                <a16:creationId xmlns:a16="http://schemas.microsoft.com/office/drawing/2014/main" id="{9620B068-BEC4-271C-D2F5-6B601CED9F0B}"/>
              </a:ext>
            </a:extLst>
          </p:cNvPr>
          <p:cNvSpPr txBox="1"/>
          <p:nvPr/>
        </p:nvSpPr>
        <p:spPr>
          <a:xfrm>
            <a:off x="1158838" y="5119931"/>
            <a:ext cx="3539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Push out away from center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sp>
        <p:nvSpPr>
          <p:cNvPr id="13348" name="TextBox 13347">
            <a:extLst>
              <a:ext uri="{FF2B5EF4-FFF2-40B4-BE49-F238E27FC236}">
                <a16:creationId xmlns:a16="http://schemas.microsoft.com/office/drawing/2014/main" id="{A08E22AC-C262-8142-A08A-1947D635E9E0}"/>
              </a:ext>
            </a:extLst>
          </p:cNvPr>
          <p:cNvSpPr txBox="1"/>
          <p:nvPr/>
        </p:nvSpPr>
        <p:spPr>
          <a:xfrm>
            <a:off x="9107478" y="5119931"/>
            <a:ext cx="2947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Flatten each mountain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sp>
        <p:nvSpPr>
          <p:cNvPr id="13349" name="TextBox 13348">
            <a:extLst>
              <a:ext uri="{FF2B5EF4-FFF2-40B4-BE49-F238E27FC236}">
                <a16:creationId xmlns:a16="http://schemas.microsoft.com/office/drawing/2014/main" id="{93A97AE8-25C3-0569-DFAE-BAD182A32C33}"/>
              </a:ext>
            </a:extLst>
          </p:cNvPr>
          <p:cNvSpPr txBox="1"/>
          <p:nvPr/>
        </p:nvSpPr>
        <p:spPr>
          <a:xfrm>
            <a:off x="5401384" y="5124165"/>
            <a:ext cx="3033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Pull into Gaussian dome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13324" name="Picture 6" descr="Gaussian filter, or Gaussian blur — Librow — Digital LCD dashboards for  cars and boats">
            <a:extLst>
              <a:ext uri="{FF2B5EF4-FFF2-40B4-BE49-F238E27FC236}">
                <a16:creationId xmlns:a16="http://schemas.microsoft.com/office/drawing/2014/main" id="{71D909C5-141F-377C-79FB-11BFE410D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35000"/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7164" y="407973"/>
            <a:ext cx="5150927" cy="4055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351" name="Cloud 13350">
            <a:extLst>
              <a:ext uri="{FF2B5EF4-FFF2-40B4-BE49-F238E27FC236}">
                <a16:creationId xmlns:a16="http://schemas.microsoft.com/office/drawing/2014/main" id="{A3CF4EFA-C5E4-6CF9-6C89-A82E2E93F2EF}"/>
              </a:ext>
            </a:extLst>
          </p:cNvPr>
          <p:cNvSpPr/>
          <p:nvPr/>
        </p:nvSpPr>
        <p:spPr>
          <a:xfrm>
            <a:off x="-679622" y="-378558"/>
            <a:ext cx="4621427" cy="2351423"/>
          </a:xfrm>
          <a:prstGeom prst="cloud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52" name="TextBox 13351">
            <a:extLst>
              <a:ext uri="{FF2B5EF4-FFF2-40B4-BE49-F238E27FC236}">
                <a16:creationId xmlns:a16="http://schemas.microsoft.com/office/drawing/2014/main" id="{FFF128CF-D04A-8417-084D-5273AB57AC18}"/>
              </a:ext>
            </a:extLst>
          </p:cNvPr>
          <p:cNvSpPr txBox="1"/>
          <p:nvPr/>
        </p:nvSpPr>
        <p:spPr>
          <a:xfrm>
            <a:off x="46392" y="319379"/>
            <a:ext cx="348608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rial Rounded MT Bold" panose="020F0704030504030204" pitchFamily="34" charset="77"/>
              </a:rPr>
              <a:t>VAE is trying to find the </a:t>
            </a:r>
          </a:p>
          <a:p>
            <a:pPr algn="ctr"/>
            <a:r>
              <a:rPr lang="en-US" dirty="0">
                <a:latin typeface="Arial Rounded MT Bold" panose="020F0704030504030204" pitchFamily="34" charset="77"/>
              </a:rPr>
              <a:t>equilibrium between 3 forces </a:t>
            </a:r>
          </a:p>
          <a:p>
            <a:pPr algn="ctr"/>
            <a:r>
              <a:rPr lang="en-US" dirty="0">
                <a:latin typeface="Arial Rounded MT Bold" panose="020F0704030504030204" pitchFamily="34" charset="77"/>
              </a:rPr>
              <a:t>acting on latent space</a:t>
            </a:r>
          </a:p>
        </p:txBody>
      </p:sp>
    </p:spTree>
    <p:extLst>
      <p:ext uri="{BB962C8B-B14F-4D97-AF65-F5344CB8AC3E}">
        <p14:creationId xmlns:p14="http://schemas.microsoft.com/office/powerpoint/2010/main" val="13843770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95E9F7A-7FA3-60B8-CAF1-C902E1FC5A86}"/>
              </a:ext>
            </a:extLst>
          </p:cNvPr>
          <p:cNvSpPr/>
          <p:nvPr/>
        </p:nvSpPr>
        <p:spPr>
          <a:xfrm>
            <a:off x="9107478" y="5551359"/>
            <a:ext cx="2577213" cy="114571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0BC90D3-EDE2-D297-C0B1-8425F4F1E6FA}"/>
              </a:ext>
            </a:extLst>
          </p:cNvPr>
          <p:cNvSpPr/>
          <p:nvPr/>
        </p:nvSpPr>
        <p:spPr>
          <a:xfrm>
            <a:off x="5304194" y="5551359"/>
            <a:ext cx="3176619" cy="112812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53206D0-882F-6CCD-69B0-F158CC32C995}"/>
              </a:ext>
            </a:extLst>
          </p:cNvPr>
          <p:cNvSpPr/>
          <p:nvPr/>
        </p:nvSpPr>
        <p:spPr>
          <a:xfrm>
            <a:off x="507309" y="5551361"/>
            <a:ext cx="4373610" cy="110909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30" name="TextBox 13329">
            <a:extLst>
              <a:ext uri="{FF2B5EF4-FFF2-40B4-BE49-F238E27FC236}">
                <a16:creationId xmlns:a16="http://schemas.microsoft.com/office/drawing/2014/main" id="{EB926C1A-B81A-7A6D-879C-295B37FC5C90}"/>
              </a:ext>
            </a:extLst>
          </p:cNvPr>
          <p:cNvSpPr txBox="1"/>
          <p:nvPr/>
        </p:nvSpPr>
        <p:spPr>
          <a:xfrm>
            <a:off x="1789434" y="5591922"/>
            <a:ext cx="15254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Reconstruction</a:t>
            </a:r>
          </a:p>
        </p:txBody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2329C29C-908E-A4E4-3A16-8B7A38BA9566}"/>
              </a:ext>
            </a:extLst>
          </p:cNvPr>
          <p:cNvPicPr/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59462"/>
          <a:stretch/>
        </p:blipFill>
        <p:spPr>
          <a:xfrm>
            <a:off x="594410" y="6029167"/>
            <a:ext cx="4175039" cy="670162"/>
          </a:xfrm>
          <a:prstGeom prst="rect">
            <a:avLst/>
          </a:prstGeom>
        </p:spPr>
      </p:pic>
      <p:pic>
        <p:nvPicPr>
          <p:cNvPr id="7" name="object 3">
            <a:extLst>
              <a:ext uri="{FF2B5EF4-FFF2-40B4-BE49-F238E27FC236}">
                <a16:creationId xmlns:a16="http://schemas.microsoft.com/office/drawing/2014/main" id="{C7D0D818-0102-4AC5-ABDF-1047512C8911}"/>
              </a:ext>
            </a:extLst>
          </p:cNvPr>
          <p:cNvPicPr/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3334" t="1" r="33630" b="1"/>
          <a:stretch/>
        </p:blipFill>
        <p:spPr>
          <a:xfrm>
            <a:off x="9140300" y="6009325"/>
            <a:ext cx="2372497" cy="670162"/>
          </a:xfrm>
          <a:prstGeom prst="rect">
            <a:avLst/>
          </a:prstGeom>
        </p:spPr>
      </p:pic>
      <p:pic>
        <p:nvPicPr>
          <p:cNvPr id="8" name="object 3">
            <a:extLst>
              <a:ext uri="{FF2B5EF4-FFF2-40B4-BE49-F238E27FC236}">
                <a16:creationId xmlns:a16="http://schemas.microsoft.com/office/drawing/2014/main" id="{913B3BDE-DAD8-ABA5-A567-0E3A4D6A75DB}"/>
              </a:ext>
            </a:extLst>
          </p:cNvPr>
          <p:cNvPicPr/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9157" t="-38421" b="-1"/>
          <a:stretch/>
        </p:blipFill>
        <p:spPr>
          <a:xfrm>
            <a:off x="5258527" y="5719910"/>
            <a:ext cx="3176619" cy="92764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B6A816A-98C9-A06C-BB56-260260EC2D05}"/>
              </a:ext>
            </a:extLst>
          </p:cNvPr>
          <p:cNvSpPr txBox="1"/>
          <p:nvPr/>
        </p:nvSpPr>
        <p:spPr>
          <a:xfrm>
            <a:off x="4890799" y="5757390"/>
            <a:ext cx="39626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/>
              <a:t>-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0580BF-6545-7E25-8A30-7B3FB39563FF}"/>
              </a:ext>
            </a:extLst>
          </p:cNvPr>
          <p:cNvSpPr txBox="1"/>
          <p:nvPr/>
        </p:nvSpPr>
        <p:spPr>
          <a:xfrm>
            <a:off x="8538091" y="5835274"/>
            <a:ext cx="4651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+</a:t>
            </a:r>
            <a:endParaRPr lang="en-US" sz="5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AD329F-1AEE-53B1-1606-D88A14E11941}"/>
              </a:ext>
            </a:extLst>
          </p:cNvPr>
          <p:cNvSpPr txBox="1"/>
          <p:nvPr/>
        </p:nvSpPr>
        <p:spPr>
          <a:xfrm>
            <a:off x="6182499" y="5591922"/>
            <a:ext cx="14205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Cross Entropy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7358EF-71EA-546B-253F-D0F6925B3511}"/>
              </a:ext>
            </a:extLst>
          </p:cNvPr>
          <p:cNvSpPr txBox="1"/>
          <p:nvPr/>
        </p:nvSpPr>
        <p:spPr>
          <a:xfrm>
            <a:off x="10016439" y="5595611"/>
            <a:ext cx="8663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Entropy</a:t>
            </a:r>
          </a:p>
        </p:txBody>
      </p:sp>
      <p:sp>
        <p:nvSpPr>
          <p:cNvPr id="13325" name="Parallelogram 13324">
            <a:extLst>
              <a:ext uri="{FF2B5EF4-FFF2-40B4-BE49-F238E27FC236}">
                <a16:creationId xmlns:a16="http://schemas.microsoft.com/office/drawing/2014/main" id="{D9A6C769-73E5-0247-454C-834691CCAB94}"/>
              </a:ext>
            </a:extLst>
          </p:cNvPr>
          <p:cNvSpPr/>
          <p:nvPr/>
        </p:nvSpPr>
        <p:spPr>
          <a:xfrm>
            <a:off x="3380692" y="3340390"/>
            <a:ext cx="5149938" cy="1066038"/>
          </a:xfrm>
          <a:prstGeom prst="parallelogram">
            <a:avLst>
              <a:gd name="adj" fmla="val 5718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326" name="Group 13325">
            <a:extLst>
              <a:ext uri="{FF2B5EF4-FFF2-40B4-BE49-F238E27FC236}">
                <a16:creationId xmlns:a16="http://schemas.microsoft.com/office/drawing/2014/main" id="{EE1F2254-ED43-F503-B370-AD306615CCF2}"/>
              </a:ext>
            </a:extLst>
          </p:cNvPr>
          <p:cNvGrpSpPr/>
          <p:nvPr/>
        </p:nvGrpSpPr>
        <p:grpSpPr>
          <a:xfrm>
            <a:off x="8421659" y="2010863"/>
            <a:ext cx="1674176" cy="1494379"/>
            <a:chOff x="9739269" y="1314490"/>
            <a:chExt cx="1674176" cy="1494379"/>
          </a:xfrm>
        </p:grpSpPr>
        <p:sp>
          <p:nvSpPr>
            <p:cNvPr id="13327" name="Trapezoid 13326">
              <a:extLst>
                <a:ext uri="{FF2B5EF4-FFF2-40B4-BE49-F238E27FC236}">
                  <a16:creationId xmlns:a16="http://schemas.microsoft.com/office/drawing/2014/main" id="{72E9ECF7-7D54-D7EC-2F1B-82A0428B5952}"/>
                </a:ext>
              </a:extLst>
            </p:cNvPr>
            <p:cNvSpPr/>
            <p:nvPr/>
          </p:nvSpPr>
          <p:spPr>
            <a:xfrm rot="16200000">
              <a:off x="10377972" y="1773396"/>
              <a:ext cx="1494379" cy="576567"/>
            </a:xfrm>
            <a:prstGeom prst="trapezoid">
              <a:avLst>
                <a:gd name="adj" fmla="val 46698"/>
              </a:avLst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329" name="TextBox 13328">
              <a:extLst>
                <a:ext uri="{FF2B5EF4-FFF2-40B4-BE49-F238E27FC236}">
                  <a16:creationId xmlns:a16="http://schemas.microsoft.com/office/drawing/2014/main" id="{11AC6037-A229-1025-3083-3BBBC2D67B53}"/>
                </a:ext>
              </a:extLst>
            </p:cNvPr>
            <p:cNvSpPr txBox="1"/>
            <p:nvPr/>
          </p:nvSpPr>
          <p:spPr>
            <a:xfrm rot="16200000">
              <a:off x="10564355" y="1877013"/>
              <a:ext cx="11544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Decoder</a:t>
              </a:r>
            </a:p>
          </p:txBody>
        </p:sp>
        <p:cxnSp>
          <p:nvCxnSpPr>
            <p:cNvPr id="13331" name="Straight Arrow Connector 13330">
              <a:extLst>
                <a:ext uri="{FF2B5EF4-FFF2-40B4-BE49-F238E27FC236}">
                  <a16:creationId xmlns:a16="http://schemas.microsoft.com/office/drawing/2014/main" id="{33134174-4306-4417-524D-3FF698B2B2F6}"/>
                </a:ext>
              </a:extLst>
            </p:cNvPr>
            <p:cNvCxnSpPr>
              <a:cxnSpLocks/>
            </p:cNvCxnSpPr>
            <p:nvPr/>
          </p:nvCxnSpPr>
          <p:spPr>
            <a:xfrm>
              <a:off x="9739269" y="2053102"/>
              <a:ext cx="1025148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332" name="TextBox 13331">
            <a:extLst>
              <a:ext uri="{FF2B5EF4-FFF2-40B4-BE49-F238E27FC236}">
                <a16:creationId xmlns:a16="http://schemas.microsoft.com/office/drawing/2014/main" id="{237AB8E3-814F-0232-21E1-D0DD6CA482EE}"/>
              </a:ext>
            </a:extLst>
          </p:cNvPr>
          <p:cNvSpPr txBox="1"/>
          <p:nvPr/>
        </p:nvSpPr>
        <p:spPr>
          <a:xfrm>
            <a:off x="4691412" y="4400897"/>
            <a:ext cx="18920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 Rounded MT Bold" panose="020F0704030504030204" pitchFamily="34" charset="77"/>
              </a:rPr>
              <a:t>Z space</a:t>
            </a:r>
          </a:p>
        </p:txBody>
      </p:sp>
      <p:grpSp>
        <p:nvGrpSpPr>
          <p:cNvPr id="13342" name="Group 13341">
            <a:extLst>
              <a:ext uri="{FF2B5EF4-FFF2-40B4-BE49-F238E27FC236}">
                <a16:creationId xmlns:a16="http://schemas.microsoft.com/office/drawing/2014/main" id="{AC606C37-DD05-691F-A35E-6D6662DE8BCA}"/>
              </a:ext>
            </a:extLst>
          </p:cNvPr>
          <p:cNvGrpSpPr/>
          <p:nvPr/>
        </p:nvGrpSpPr>
        <p:grpSpPr>
          <a:xfrm>
            <a:off x="2102306" y="2061125"/>
            <a:ext cx="1291942" cy="1494379"/>
            <a:chOff x="6991125" y="2717682"/>
            <a:chExt cx="1291942" cy="1494379"/>
          </a:xfrm>
        </p:grpSpPr>
        <p:grpSp>
          <p:nvGrpSpPr>
            <p:cNvPr id="13343" name="Group 13342">
              <a:extLst>
                <a:ext uri="{FF2B5EF4-FFF2-40B4-BE49-F238E27FC236}">
                  <a16:creationId xmlns:a16="http://schemas.microsoft.com/office/drawing/2014/main" id="{B2A7A1B2-CBB4-4CE9-8CCE-DECECAFDFA8D}"/>
                </a:ext>
              </a:extLst>
            </p:cNvPr>
            <p:cNvGrpSpPr/>
            <p:nvPr/>
          </p:nvGrpSpPr>
          <p:grpSpPr>
            <a:xfrm>
              <a:off x="6991125" y="2717682"/>
              <a:ext cx="576567" cy="1494379"/>
              <a:chOff x="7199047" y="4033850"/>
              <a:chExt cx="576567" cy="1494379"/>
            </a:xfrm>
          </p:grpSpPr>
          <p:sp>
            <p:nvSpPr>
              <p:cNvPr id="13345" name="Trapezoid 13344">
                <a:extLst>
                  <a:ext uri="{FF2B5EF4-FFF2-40B4-BE49-F238E27FC236}">
                    <a16:creationId xmlns:a16="http://schemas.microsoft.com/office/drawing/2014/main" id="{87B0E91C-A5B9-D626-1684-23C85C110C26}"/>
                  </a:ext>
                </a:extLst>
              </p:cNvPr>
              <p:cNvSpPr/>
              <p:nvPr/>
            </p:nvSpPr>
            <p:spPr>
              <a:xfrm rot="5400000">
                <a:off x="6740141" y="4492756"/>
                <a:ext cx="1494379" cy="576567"/>
              </a:xfrm>
              <a:prstGeom prst="trapezoid">
                <a:avLst>
                  <a:gd name="adj" fmla="val 46698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346" name="TextBox 13345">
                <a:extLst>
                  <a:ext uri="{FF2B5EF4-FFF2-40B4-BE49-F238E27FC236}">
                    <a16:creationId xmlns:a16="http://schemas.microsoft.com/office/drawing/2014/main" id="{7A183E2B-1366-1739-180C-26D0C5207328}"/>
                  </a:ext>
                </a:extLst>
              </p:cNvPr>
              <p:cNvSpPr txBox="1"/>
              <p:nvPr/>
            </p:nvSpPr>
            <p:spPr>
              <a:xfrm rot="5400000">
                <a:off x="6934539" y="4596373"/>
                <a:ext cx="113845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>
                        <a:lumMod val="85000"/>
                      </a:schemeClr>
                    </a:solidFill>
                    <a:latin typeface="Arial Rounded MT Bold" panose="020F0704030504030204" pitchFamily="34" charset="77"/>
                  </a:rPr>
                  <a:t>Encoder</a:t>
                </a:r>
              </a:p>
            </p:txBody>
          </p:sp>
        </p:grpSp>
        <p:cxnSp>
          <p:nvCxnSpPr>
            <p:cNvPr id="13344" name="Straight Arrow Connector 13343">
              <a:extLst>
                <a:ext uri="{FF2B5EF4-FFF2-40B4-BE49-F238E27FC236}">
                  <a16:creationId xmlns:a16="http://schemas.microsoft.com/office/drawing/2014/main" id="{D0611757-0024-417B-D0E9-FBFBFBE08A3F}"/>
                </a:ext>
              </a:extLst>
            </p:cNvPr>
            <p:cNvCxnSpPr>
              <a:cxnSpLocks/>
            </p:cNvCxnSpPr>
            <p:nvPr/>
          </p:nvCxnSpPr>
          <p:spPr>
            <a:xfrm>
              <a:off x="7567692" y="3414610"/>
              <a:ext cx="715375" cy="4500"/>
            </a:xfrm>
            <a:prstGeom prst="straightConnector1">
              <a:avLst/>
            </a:prstGeom>
            <a:ln w="28575">
              <a:solidFill>
                <a:schemeClr val="bg1">
                  <a:lumMod val="8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347" name="TextBox 13346">
            <a:extLst>
              <a:ext uri="{FF2B5EF4-FFF2-40B4-BE49-F238E27FC236}">
                <a16:creationId xmlns:a16="http://schemas.microsoft.com/office/drawing/2014/main" id="{9620B068-BEC4-271C-D2F5-6B601CED9F0B}"/>
              </a:ext>
            </a:extLst>
          </p:cNvPr>
          <p:cNvSpPr txBox="1"/>
          <p:nvPr/>
        </p:nvSpPr>
        <p:spPr>
          <a:xfrm>
            <a:off x="1158838" y="5119931"/>
            <a:ext cx="3539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Push out away from center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sp>
        <p:nvSpPr>
          <p:cNvPr id="13348" name="TextBox 13347">
            <a:extLst>
              <a:ext uri="{FF2B5EF4-FFF2-40B4-BE49-F238E27FC236}">
                <a16:creationId xmlns:a16="http://schemas.microsoft.com/office/drawing/2014/main" id="{A08E22AC-C262-8142-A08A-1947D635E9E0}"/>
              </a:ext>
            </a:extLst>
          </p:cNvPr>
          <p:cNvSpPr txBox="1"/>
          <p:nvPr/>
        </p:nvSpPr>
        <p:spPr>
          <a:xfrm>
            <a:off x="9107478" y="5119931"/>
            <a:ext cx="2947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Flatten each mountain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sp>
        <p:nvSpPr>
          <p:cNvPr id="13349" name="TextBox 13348">
            <a:extLst>
              <a:ext uri="{FF2B5EF4-FFF2-40B4-BE49-F238E27FC236}">
                <a16:creationId xmlns:a16="http://schemas.microsoft.com/office/drawing/2014/main" id="{93A97AE8-25C3-0569-DFAE-BAD182A32C33}"/>
              </a:ext>
            </a:extLst>
          </p:cNvPr>
          <p:cNvSpPr txBox="1"/>
          <p:nvPr/>
        </p:nvSpPr>
        <p:spPr>
          <a:xfrm>
            <a:off x="5401384" y="5124165"/>
            <a:ext cx="3033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Pull into Gaussian dome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sp>
        <p:nvSpPr>
          <p:cNvPr id="13351" name="Cloud 13350">
            <a:extLst>
              <a:ext uri="{FF2B5EF4-FFF2-40B4-BE49-F238E27FC236}">
                <a16:creationId xmlns:a16="http://schemas.microsoft.com/office/drawing/2014/main" id="{A3CF4EFA-C5E4-6CF9-6C89-A82E2E93F2EF}"/>
              </a:ext>
            </a:extLst>
          </p:cNvPr>
          <p:cNvSpPr/>
          <p:nvPr/>
        </p:nvSpPr>
        <p:spPr>
          <a:xfrm>
            <a:off x="-679622" y="-378558"/>
            <a:ext cx="4621427" cy="2351423"/>
          </a:xfrm>
          <a:prstGeom prst="cloud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52" name="TextBox 13351">
            <a:extLst>
              <a:ext uri="{FF2B5EF4-FFF2-40B4-BE49-F238E27FC236}">
                <a16:creationId xmlns:a16="http://schemas.microsoft.com/office/drawing/2014/main" id="{FFF128CF-D04A-8417-084D-5273AB57AC18}"/>
              </a:ext>
            </a:extLst>
          </p:cNvPr>
          <p:cNvSpPr txBox="1"/>
          <p:nvPr/>
        </p:nvSpPr>
        <p:spPr>
          <a:xfrm>
            <a:off x="46392" y="319379"/>
            <a:ext cx="348608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rial Rounded MT Bold" panose="020F0704030504030204" pitchFamily="34" charset="77"/>
              </a:rPr>
              <a:t>VAE is trying to find the </a:t>
            </a:r>
          </a:p>
          <a:p>
            <a:pPr algn="ctr"/>
            <a:r>
              <a:rPr lang="en-US" dirty="0">
                <a:latin typeface="Arial Rounded MT Bold" panose="020F0704030504030204" pitchFamily="34" charset="77"/>
              </a:rPr>
              <a:t>equilibrium between 3 forces </a:t>
            </a:r>
          </a:p>
          <a:p>
            <a:pPr algn="ctr"/>
            <a:r>
              <a:rPr lang="en-US" dirty="0">
                <a:latin typeface="Arial Rounded MT Bold" panose="020F0704030504030204" pitchFamily="34" charset="77"/>
              </a:rPr>
              <a:t>acting on latent space</a:t>
            </a:r>
          </a:p>
        </p:txBody>
      </p:sp>
      <p:sp>
        <p:nvSpPr>
          <p:cNvPr id="2" name="Cloud 1">
            <a:extLst>
              <a:ext uri="{FF2B5EF4-FFF2-40B4-BE49-F238E27FC236}">
                <a16:creationId xmlns:a16="http://schemas.microsoft.com/office/drawing/2014/main" id="{E95A06D3-657A-C175-4008-29324C6457BE}"/>
              </a:ext>
            </a:extLst>
          </p:cNvPr>
          <p:cNvSpPr/>
          <p:nvPr/>
        </p:nvSpPr>
        <p:spPr>
          <a:xfrm>
            <a:off x="8085370" y="-491369"/>
            <a:ext cx="4621427" cy="2351423"/>
          </a:xfrm>
          <a:prstGeom prst="cloud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D088897-C056-93D9-014C-A1A8C91BE07C}"/>
              </a:ext>
            </a:extLst>
          </p:cNvPr>
          <p:cNvGrpSpPr/>
          <p:nvPr/>
        </p:nvGrpSpPr>
        <p:grpSpPr>
          <a:xfrm>
            <a:off x="8736048" y="222677"/>
            <a:ext cx="3494072" cy="923330"/>
            <a:chOff x="6873248" y="784841"/>
            <a:chExt cx="3494072" cy="92333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C7E4EF5-B3C0-2DE0-1954-3F66B281E8C0}"/>
                </a:ext>
              </a:extLst>
            </p:cNvPr>
            <p:cNvSpPr txBox="1"/>
            <p:nvPr/>
          </p:nvSpPr>
          <p:spPr>
            <a:xfrm>
              <a:off x="6873248" y="784841"/>
              <a:ext cx="349407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  <a:t>Once VAE converges: </a:t>
              </a:r>
            </a:p>
            <a:p>
              <a: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  <a:t>Sample from              and feed </a:t>
              </a:r>
            </a:p>
            <a:p>
              <a: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  <a:t>Decoder  </a:t>
              </a:r>
              <a:r>
                <a:rPr lang="en-US" dirty="0">
                  <a:solidFill>
                    <a:srgbClr val="C00000"/>
                  </a:solidFill>
                  <a:latin typeface="Arial Rounded MT Bold" panose="020F0704030504030204" pitchFamily="34" charset="77"/>
                  <a:sym typeface="Wingdings" pitchFamily="2" charset="2"/>
                </a:rPr>
                <a:t>Get new images </a:t>
              </a:r>
              <a:endParaRPr lang="en-US" dirty="0">
                <a:solidFill>
                  <a:srgbClr val="C00000"/>
                </a:solidFill>
                <a:latin typeface="Arial Rounded MT Bold" panose="020F0704030504030204" pitchFamily="34" charset="77"/>
              </a:endParaRP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01D4E3D-A459-6506-89F7-1B483A008CB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84709" t="11012" r="4686"/>
            <a:stretch/>
          </p:blipFill>
          <p:spPr>
            <a:xfrm>
              <a:off x="8435146" y="1000732"/>
              <a:ext cx="677064" cy="556759"/>
            </a:xfrm>
            <a:prstGeom prst="rect">
              <a:avLst/>
            </a:prstGeom>
          </p:spPr>
        </p:pic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3E9BF41-0D97-CDC7-F61C-62350BE524F4}"/>
              </a:ext>
            </a:extLst>
          </p:cNvPr>
          <p:cNvCxnSpPr>
            <a:cxnSpLocks/>
          </p:cNvCxnSpPr>
          <p:nvPr/>
        </p:nvCxnSpPr>
        <p:spPr>
          <a:xfrm>
            <a:off x="10106193" y="2749475"/>
            <a:ext cx="435165" cy="8577"/>
          </a:xfrm>
          <a:prstGeom prst="straightConnector1">
            <a:avLst/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object 2">
            <a:extLst>
              <a:ext uri="{FF2B5EF4-FFF2-40B4-BE49-F238E27FC236}">
                <a16:creationId xmlns:a16="http://schemas.microsoft.com/office/drawing/2014/main" id="{08A91A39-4629-A7CD-B753-CB32BBC2019F}"/>
              </a:ext>
            </a:extLst>
          </p:cNvPr>
          <p:cNvPicPr/>
          <p:nvPr/>
        </p:nvPicPr>
        <p:blipFill rotWithShape="1">
          <a:blip r:embed="rId4" cstate="print"/>
          <a:srcRect r="60568" b="64031"/>
          <a:stretch/>
        </p:blipFill>
        <p:spPr>
          <a:xfrm>
            <a:off x="10599407" y="2063588"/>
            <a:ext cx="1555522" cy="1398798"/>
          </a:xfrm>
          <a:prstGeom prst="rect">
            <a:avLst/>
          </a:prstGeom>
        </p:spPr>
      </p:pic>
      <p:pic>
        <p:nvPicPr>
          <p:cNvPr id="20" name="Picture 6" descr="Gaussian filter, or Gaussian blur — Librow — Digital LCD dashboards for  cars and boats">
            <a:extLst>
              <a:ext uri="{FF2B5EF4-FFF2-40B4-BE49-F238E27FC236}">
                <a16:creationId xmlns:a16="http://schemas.microsoft.com/office/drawing/2014/main" id="{1979AA2C-9B04-216F-4A4C-DEB089782E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35000"/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7164" y="407973"/>
            <a:ext cx="5150927" cy="4055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88199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7201" y="1588815"/>
            <a:ext cx="4436025" cy="640665"/>
          </a:xfrm>
          <a:prstGeom prst="rect">
            <a:avLst/>
          </a:prstGeom>
        </p:spPr>
        <p:txBody>
          <a:bodyPr vert="horz" wrap="square" lIns="0" tIns="17693" rIns="0" bIns="0" rtlCol="0" anchor="ctr">
            <a:spAutoFit/>
          </a:bodyPr>
          <a:lstStyle/>
          <a:p>
            <a:pPr marL="16850">
              <a:lnSpc>
                <a:spcPct val="100000"/>
              </a:lnSpc>
              <a:spcBef>
                <a:spcPts val="139"/>
              </a:spcBef>
            </a:pPr>
            <a:r>
              <a:rPr sz="4047" dirty="0">
                <a:latin typeface="Arial Rounded MT Bold" panose="020F0704030504030204" pitchFamily="34" charset="77"/>
              </a:rPr>
              <a:t>Problems</a:t>
            </a:r>
            <a:r>
              <a:rPr sz="4047" spc="-27" dirty="0">
                <a:latin typeface="Arial Rounded MT Bold" panose="020F0704030504030204" pitchFamily="34" charset="77"/>
              </a:rPr>
              <a:t> </a:t>
            </a:r>
            <a:r>
              <a:rPr sz="4047" spc="-13" dirty="0">
                <a:latin typeface="Arial Rounded MT Bold" panose="020F0704030504030204" pitchFamily="34" charset="77"/>
              </a:rPr>
              <a:t>Remain</a:t>
            </a:r>
            <a:endParaRPr sz="4047" dirty="0">
              <a:latin typeface="Arial Rounded MT Bold" panose="020F0704030504030204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A961E4-6A7E-8809-1256-37326F22C06A}"/>
              </a:ext>
            </a:extLst>
          </p:cNvPr>
          <p:cNvSpPr txBox="1"/>
          <p:nvPr/>
        </p:nvSpPr>
        <p:spPr>
          <a:xfrm>
            <a:off x="5482546" y="2590566"/>
            <a:ext cx="1290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Guesses?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A0C0432-8E38-25E0-951A-7FF11C31DF3E}"/>
              </a:ext>
            </a:extLst>
          </p:cNvPr>
          <p:cNvGrpSpPr/>
          <p:nvPr/>
        </p:nvGrpSpPr>
        <p:grpSpPr>
          <a:xfrm>
            <a:off x="2955806" y="3571102"/>
            <a:ext cx="6368864" cy="2560884"/>
            <a:chOff x="644096" y="1360714"/>
            <a:chExt cx="11808568" cy="5135534"/>
          </a:xfrm>
        </p:grpSpPr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70A1EE31-5334-5280-C44C-BA57BDD0FEAC}"/>
                </a:ext>
              </a:extLst>
            </p:cNvPr>
            <p:cNvSpPr/>
            <p:nvPr/>
          </p:nvSpPr>
          <p:spPr>
            <a:xfrm>
              <a:off x="644096" y="3183876"/>
              <a:ext cx="11177003" cy="3312372"/>
            </a:xfrm>
            <a:prstGeom prst="parallelogram">
              <a:avLst>
                <a:gd name="adj" fmla="val 57184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6" descr="Gaussian filter, or Gaussian blur — Librow — Digital LCD dashboards for  cars and boats">
              <a:extLst>
                <a:ext uri="{FF2B5EF4-FFF2-40B4-BE49-F238E27FC236}">
                  <a16:creationId xmlns:a16="http://schemas.microsoft.com/office/drawing/2014/main" id="{7F993B5F-D400-0B25-DDEA-A944E21525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2">
                  <a:shade val="45000"/>
                  <a:satMod val="135000"/>
                </a:schemeClr>
                <a:prstClr val="white"/>
              </a:duotone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28822" y="1360714"/>
              <a:ext cx="9188260" cy="48488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0" descr="Gaussian filter, or Gaussian blur — Librow — Digital LCD dashboards for  cars and boats">
              <a:extLst>
                <a:ext uri="{FF2B5EF4-FFF2-40B4-BE49-F238E27FC236}">
                  <a16:creationId xmlns:a16="http://schemas.microsoft.com/office/drawing/2014/main" id="{A0F117CE-A3DD-0616-D5D2-624FED407D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57376" y="3429000"/>
              <a:ext cx="2399538" cy="1486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Gaussian filter, or Gaussian blur — Librow — Digital LCD dashboards for  cars and boats">
              <a:extLst>
                <a:ext uri="{FF2B5EF4-FFF2-40B4-BE49-F238E27FC236}">
                  <a16:creationId xmlns:a16="http://schemas.microsoft.com/office/drawing/2014/main" id="{55149593-7B90-EA95-F31F-260C9744D1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48899" y="3183876"/>
              <a:ext cx="3046870" cy="1486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12" descr="Gaussian filter, or Gaussian blur — Librow — Digital LCD dashboards for  cars and boats">
              <a:extLst>
                <a:ext uri="{FF2B5EF4-FFF2-40B4-BE49-F238E27FC236}">
                  <a16:creationId xmlns:a16="http://schemas.microsoft.com/office/drawing/2014/main" id="{C64D38AA-D0D8-F5E0-2257-A9C574117A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77012" y="3746273"/>
              <a:ext cx="3318988" cy="1486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 descr="Gaussian filter, or Gaussian blur — Librow — Digital LCD dashboards for  cars and boats">
              <a:extLst>
                <a:ext uri="{FF2B5EF4-FFF2-40B4-BE49-F238E27FC236}">
                  <a16:creationId xmlns:a16="http://schemas.microsoft.com/office/drawing/2014/main" id="{247A2874-B2D0-234F-DE15-B276AE5A885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41197" y="3211884"/>
              <a:ext cx="2399538" cy="19261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 descr="Gaussian filter, or Gaussian blur — Librow — Digital LCD dashboards for  cars and boats">
              <a:extLst>
                <a:ext uri="{FF2B5EF4-FFF2-40B4-BE49-F238E27FC236}">
                  <a16:creationId xmlns:a16="http://schemas.microsoft.com/office/drawing/2014/main" id="{2DDFBB26-A992-7E82-D228-0D0999FC95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66944" y="4367972"/>
              <a:ext cx="3046870" cy="1486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5" descr="Gaussian filter, or Gaussian blur — Librow — Digital LCD dashboards for  cars and boats">
              <a:extLst>
                <a:ext uri="{FF2B5EF4-FFF2-40B4-BE49-F238E27FC236}">
                  <a16:creationId xmlns:a16="http://schemas.microsoft.com/office/drawing/2014/main" id="{3D4A8F07-7B1F-A1D3-B13C-2135895EC9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22952" y="4160965"/>
              <a:ext cx="2399538" cy="1486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16" descr="Gaussian filter, or Gaussian blur — Librow — Digital LCD dashboards for  cars and boats">
              <a:extLst>
                <a:ext uri="{FF2B5EF4-FFF2-40B4-BE49-F238E27FC236}">
                  <a16:creationId xmlns:a16="http://schemas.microsoft.com/office/drawing/2014/main" id="{F35234AD-6339-774E-BFED-DECFBC0009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47894" y="3690691"/>
              <a:ext cx="3854588" cy="10698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7" descr="Gaussian filter, or Gaussian blur — Librow — Digital LCD dashboards for  cars and boats">
              <a:extLst>
                <a:ext uri="{FF2B5EF4-FFF2-40B4-BE49-F238E27FC236}">
                  <a16:creationId xmlns:a16="http://schemas.microsoft.com/office/drawing/2014/main" id="{B7044BC2-E153-754B-5AC7-F0C4A47DF8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35540" y="4727849"/>
              <a:ext cx="3579501" cy="9532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8" descr="Gaussian filter, or Gaussian blur — Librow — Digital LCD dashboards for  cars and boats">
              <a:extLst>
                <a:ext uri="{FF2B5EF4-FFF2-40B4-BE49-F238E27FC236}">
                  <a16:creationId xmlns:a16="http://schemas.microsoft.com/office/drawing/2014/main" id="{44216488-5DD0-7DD3-2D80-1C27FE45CE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14617" y="5225163"/>
              <a:ext cx="4216550" cy="7298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4AE95E5-B480-B3D1-4356-CE733A5E8BC5}"/>
                </a:ext>
              </a:extLst>
            </p:cNvPr>
            <p:cNvSpPr txBox="1"/>
            <p:nvPr/>
          </p:nvSpPr>
          <p:spPr>
            <a:xfrm>
              <a:off x="10826308" y="2580714"/>
              <a:ext cx="1626356" cy="6172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 Rounded MT Bold" panose="020F0704030504030204" pitchFamily="34" charset="77"/>
                </a:rPr>
                <a:t>Z space</a:t>
              </a:r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1188" y="2800268"/>
            <a:ext cx="8357003" cy="2479647"/>
          </a:xfrm>
          <a:prstGeom prst="rect">
            <a:avLst/>
          </a:prstGeom>
        </p:spPr>
      </p:pic>
      <p:pic>
        <p:nvPicPr>
          <p:cNvPr id="47" name="Picture 6" descr="Gaussian filter, or Gaussian blur — Librow — Digital LCD dashboards for  cars and boats">
            <a:extLst>
              <a:ext uri="{FF2B5EF4-FFF2-40B4-BE49-F238E27FC236}">
                <a16:creationId xmlns:a16="http://schemas.microsoft.com/office/drawing/2014/main" id="{D10B3D14-AAA4-BBCB-CAAF-505BA4CEA9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8402" y="1170583"/>
            <a:ext cx="6577064" cy="3704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Freeform 47">
            <a:extLst>
              <a:ext uri="{FF2B5EF4-FFF2-40B4-BE49-F238E27FC236}">
                <a16:creationId xmlns:a16="http://schemas.microsoft.com/office/drawing/2014/main" id="{9B8683DE-7E3C-8DF9-2C21-FDE1277D24F3}"/>
              </a:ext>
            </a:extLst>
          </p:cNvPr>
          <p:cNvSpPr/>
          <p:nvPr/>
        </p:nvSpPr>
        <p:spPr>
          <a:xfrm>
            <a:off x="5753566" y="4050741"/>
            <a:ext cx="932941" cy="338446"/>
          </a:xfrm>
          <a:custGeom>
            <a:avLst/>
            <a:gdLst>
              <a:gd name="connsiteX0" fmla="*/ 66466 w 932941"/>
              <a:gd name="connsiteY0" fmla="*/ 113486 h 338446"/>
              <a:gd name="connsiteX1" fmla="*/ 152964 w 932941"/>
              <a:gd name="connsiteY1" fmla="*/ 125843 h 338446"/>
              <a:gd name="connsiteX2" fmla="*/ 4683 w 932941"/>
              <a:gd name="connsiteY2" fmla="*/ 113486 h 338446"/>
              <a:gd name="connsiteX3" fmla="*/ 78823 w 932941"/>
              <a:gd name="connsiteY3" fmla="*/ 101129 h 338446"/>
              <a:gd name="connsiteX4" fmla="*/ 115893 w 932941"/>
              <a:gd name="connsiteY4" fmla="*/ 76416 h 338446"/>
              <a:gd name="connsiteX5" fmla="*/ 152964 w 932941"/>
              <a:gd name="connsiteY5" fmla="*/ 64059 h 338446"/>
              <a:gd name="connsiteX6" fmla="*/ 115893 w 932941"/>
              <a:gd name="connsiteY6" fmla="*/ 88773 h 338446"/>
              <a:gd name="connsiteX7" fmla="*/ 103537 w 932941"/>
              <a:gd name="connsiteY7" fmla="*/ 138200 h 338446"/>
              <a:gd name="connsiteX8" fmla="*/ 152964 w 932941"/>
              <a:gd name="connsiteY8" fmla="*/ 187627 h 338446"/>
              <a:gd name="connsiteX9" fmla="*/ 190034 w 932941"/>
              <a:gd name="connsiteY9" fmla="*/ 162913 h 338446"/>
              <a:gd name="connsiteX10" fmla="*/ 152964 w 932941"/>
              <a:gd name="connsiteY10" fmla="*/ 199983 h 338446"/>
              <a:gd name="connsiteX11" fmla="*/ 140607 w 932941"/>
              <a:gd name="connsiteY11" fmla="*/ 162913 h 338446"/>
              <a:gd name="connsiteX12" fmla="*/ 128250 w 932941"/>
              <a:gd name="connsiteY12" fmla="*/ 113486 h 338446"/>
              <a:gd name="connsiteX13" fmla="*/ 165320 w 932941"/>
              <a:gd name="connsiteY13" fmla="*/ 76416 h 338446"/>
              <a:gd name="connsiteX14" fmla="*/ 177677 w 932941"/>
              <a:gd name="connsiteY14" fmla="*/ 113486 h 338446"/>
              <a:gd name="connsiteX15" fmla="*/ 202391 w 932941"/>
              <a:gd name="connsiteY15" fmla="*/ 199983 h 338446"/>
              <a:gd name="connsiteX16" fmla="*/ 214748 w 932941"/>
              <a:gd name="connsiteY16" fmla="*/ 162913 h 338446"/>
              <a:gd name="connsiteX17" fmla="*/ 239461 w 932941"/>
              <a:gd name="connsiteY17" fmla="*/ 199983 h 338446"/>
              <a:gd name="connsiteX18" fmla="*/ 264175 w 932941"/>
              <a:gd name="connsiteY18" fmla="*/ 237054 h 338446"/>
              <a:gd name="connsiteX19" fmla="*/ 251818 w 932941"/>
              <a:gd name="connsiteY19" fmla="*/ 150556 h 338446"/>
              <a:gd name="connsiteX20" fmla="*/ 214748 w 932941"/>
              <a:gd name="connsiteY20" fmla="*/ 138200 h 338446"/>
              <a:gd name="connsiteX21" fmla="*/ 202391 w 932941"/>
              <a:gd name="connsiteY21" fmla="*/ 187627 h 338446"/>
              <a:gd name="connsiteX22" fmla="*/ 239461 w 932941"/>
              <a:gd name="connsiteY22" fmla="*/ 212340 h 338446"/>
              <a:gd name="connsiteX23" fmla="*/ 251818 w 932941"/>
              <a:gd name="connsiteY23" fmla="*/ 249410 h 338446"/>
              <a:gd name="connsiteX24" fmla="*/ 301245 w 932941"/>
              <a:gd name="connsiteY24" fmla="*/ 224697 h 338446"/>
              <a:gd name="connsiteX25" fmla="*/ 313602 w 932941"/>
              <a:gd name="connsiteY25" fmla="*/ 261767 h 338446"/>
              <a:gd name="connsiteX26" fmla="*/ 325958 w 932941"/>
              <a:gd name="connsiteY26" fmla="*/ 212340 h 338446"/>
              <a:gd name="connsiteX27" fmla="*/ 301245 w 932941"/>
              <a:gd name="connsiteY27" fmla="*/ 175270 h 338446"/>
              <a:gd name="connsiteX28" fmla="*/ 227104 w 932941"/>
              <a:gd name="connsiteY28" fmla="*/ 150556 h 338446"/>
              <a:gd name="connsiteX29" fmla="*/ 350672 w 932941"/>
              <a:gd name="connsiteY29" fmla="*/ 162913 h 338446"/>
              <a:gd name="connsiteX30" fmla="*/ 363029 w 932941"/>
              <a:gd name="connsiteY30" fmla="*/ 199983 h 338446"/>
              <a:gd name="connsiteX31" fmla="*/ 437169 w 932941"/>
              <a:gd name="connsiteY31" fmla="*/ 237054 h 338446"/>
              <a:gd name="connsiteX32" fmla="*/ 474239 w 932941"/>
              <a:gd name="connsiteY32" fmla="*/ 261767 h 338446"/>
              <a:gd name="connsiteX33" fmla="*/ 498953 w 932941"/>
              <a:gd name="connsiteY33" fmla="*/ 224697 h 338446"/>
              <a:gd name="connsiteX34" fmla="*/ 424812 w 932941"/>
              <a:gd name="connsiteY34" fmla="*/ 187627 h 338446"/>
              <a:gd name="connsiteX35" fmla="*/ 622520 w 932941"/>
              <a:gd name="connsiteY35" fmla="*/ 125843 h 338446"/>
              <a:gd name="connsiteX36" fmla="*/ 511310 w 932941"/>
              <a:gd name="connsiteY36" fmla="*/ 175270 h 338446"/>
              <a:gd name="connsiteX37" fmla="*/ 474239 w 932941"/>
              <a:gd name="connsiteY37" fmla="*/ 199983 h 338446"/>
              <a:gd name="connsiteX38" fmla="*/ 585450 w 932941"/>
              <a:gd name="connsiteY38" fmla="*/ 187627 h 338446"/>
              <a:gd name="connsiteX39" fmla="*/ 721375 w 932941"/>
              <a:gd name="connsiteY39" fmla="*/ 150556 h 338446"/>
              <a:gd name="connsiteX40" fmla="*/ 758445 w 932941"/>
              <a:gd name="connsiteY40" fmla="*/ 162913 h 338446"/>
              <a:gd name="connsiteX41" fmla="*/ 783158 w 932941"/>
              <a:gd name="connsiteY41" fmla="*/ 125843 h 338446"/>
              <a:gd name="connsiteX42" fmla="*/ 844942 w 932941"/>
              <a:gd name="connsiteY42" fmla="*/ 101129 h 338446"/>
              <a:gd name="connsiteX43" fmla="*/ 882012 w 932941"/>
              <a:gd name="connsiteY43" fmla="*/ 64059 h 338446"/>
              <a:gd name="connsiteX44" fmla="*/ 807872 w 932941"/>
              <a:gd name="connsiteY44" fmla="*/ 88773 h 338446"/>
              <a:gd name="connsiteX45" fmla="*/ 709018 w 932941"/>
              <a:gd name="connsiteY45" fmla="*/ 138200 h 338446"/>
              <a:gd name="connsiteX46" fmla="*/ 733731 w 932941"/>
              <a:gd name="connsiteY46" fmla="*/ 101129 h 338446"/>
              <a:gd name="connsiteX47" fmla="*/ 684304 w 932941"/>
              <a:gd name="connsiteY47" fmla="*/ 138200 h 338446"/>
              <a:gd name="connsiteX48" fmla="*/ 733731 w 932941"/>
              <a:gd name="connsiteY48" fmla="*/ 76416 h 338446"/>
              <a:gd name="connsiteX49" fmla="*/ 770802 w 932941"/>
              <a:gd name="connsiteY49" fmla="*/ 39345 h 338446"/>
              <a:gd name="connsiteX50" fmla="*/ 721375 w 932941"/>
              <a:gd name="connsiteY50" fmla="*/ 76416 h 338446"/>
              <a:gd name="connsiteX51" fmla="*/ 647234 w 932941"/>
              <a:gd name="connsiteY51" fmla="*/ 101129 h 338446"/>
              <a:gd name="connsiteX52" fmla="*/ 610164 w 932941"/>
              <a:gd name="connsiteY52" fmla="*/ 125843 h 338446"/>
              <a:gd name="connsiteX53" fmla="*/ 560737 w 932941"/>
              <a:gd name="connsiteY53" fmla="*/ 150556 h 338446"/>
              <a:gd name="connsiteX54" fmla="*/ 536023 w 932941"/>
              <a:gd name="connsiteY54" fmla="*/ 187627 h 338446"/>
              <a:gd name="connsiteX55" fmla="*/ 573093 w 932941"/>
              <a:gd name="connsiteY55" fmla="*/ 138200 h 338446"/>
              <a:gd name="connsiteX56" fmla="*/ 610164 w 932941"/>
              <a:gd name="connsiteY56" fmla="*/ 101129 h 338446"/>
              <a:gd name="connsiteX57" fmla="*/ 536023 w 932941"/>
              <a:gd name="connsiteY57" fmla="*/ 138200 h 338446"/>
              <a:gd name="connsiteX58" fmla="*/ 461883 w 932941"/>
              <a:gd name="connsiteY58" fmla="*/ 199983 h 338446"/>
              <a:gd name="connsiteX59" fmla="*/ 424812 w 932941"/>
              <a:gd name="connsiteY59" fmla="*/ 224697 h 338446"/>
              <a:gd name="connsiteX60" fmla="*/ 437169 w 932941"/>
              <a:gd name="connsiteY60" fmla="*/ 187627 h 338446"/>
              <a:gd name="connsiteX61" fmla="*/ 412456 w 932941"/>
              <a:gd name="connsiteY61" fmla="*/ 187627 h 338446"/>
              <a:gd name="connsiteX62" fmla="*/ 424812 w 932941"/>
              <a:gd name="connsiteY62" fmla="*/ 138200 h 338446"/>
              <a:gd name="connsiteX63" fmla="*/ 387742 w 932941"/>
              <a:gd name="connsiteY63" fmla="*/ 150556 h 338446"/>
              <a:gd name="connsiteX64" fmla="*/ 400099 w 932941"/>
              <a:gd name="connsiteY64" fmla="*/ 113486 h 338446"/>
              <a:gd name="connsiteX65" fmla="*/ 313602 w 932941"/>
              <a:gd name="connsiteY65" fmla="*/ 162913 h 338446"/>
              <a:gd name="connsiteX66" fmla="*/ 325958 w 932941"/>
              <a:gd name="connsiteY66" fmla="*/ 125843 h 338446"/>
              <a:gd name="connsiteX67" fmla="*/ 239461 w 932941"/>
              <a:gd name="connsiteY67" fmla="*/ 150556 h 338446"/>
              <a:gd name="connsiteX68" fmla="*/ 264175 w 932941"/>
              <a:gd name="connsiteY68" fmla="*/ 113486 h 338446"/>
              <a:gd name="connsiteX69" fmla="*/ 239461 w 932941"/>
              <a:gd name="connsiteY69" fmla="*/ 76416 h 338446"/>
              <a:gd name="connsiteX70" fmla="*/ 227104 w 932941"/>
              <a:gd name="connsiteY70" fmla="*/ 26989 h 338446"/>
              <a:gd name="connsiteX71" fmla="*/ 152964 w 932941"/>
              <a:gd name="connsiteY71" fmla="*/ 39345 h 338446"/>
              <a:gd name="connsiteX72" fmla="*/ 78823 w 932941"/>
              <a:gd name="connsiteY72" fmla="*/ 26989 h 338446"/>
              <a:gd name="connsiteX73" fmla="*/ 41753 w 932941"/>
              <a:gd name="connsiteY73" fmla="*/ 101129 h 338446"/>
              <a:gd name="connsiteX74" fmla="*/ 54110 w 932941"/>
              <a:gd name="connsiteY74" fmla="*/ 64059 h 338446"/>
              <a:gd name="connsiteX75" fmla="*/ 103537 w 932941"/>
              <a:gd name="connsiteY75" fmla="*/ 51702 h 338446"/>
              <a:gd name="connsiteX76" fmla="*/ 140607 w 932941"/>
              <a:gd name="connsiteY76" fmla="*/ 39345 h 338446"/>
              <a:gd name="connsiteX77" fmla="*/ 152964 w 932941"/>
              <a:gd name="connsiteY77" fmla="*/ 113486 h 338446"/>
              <a:gd name="connsiteX78" fmla="*/ 190034 w 932941"/>
              <a:gd name="connsiteY78" fmla="*/ 88773 h 338446"/>
              <a:gd name="connsiteX79" fmla="*/ 177677 w 932941"/>
              <a:gd name="connsiteY79" fmla="*/ 175270 h 338446"/>
              <a:gd name="connsiteX80" fmla="*/ 202391 w 932941"/>
              <a:gd name="connsiteY80" fmla="*/ 237054 h 338446"/>
              <a:gd name="connsiteX81" fmla="*/ 276531 w 932941"/>
              <a:gd name="connsiteY81" fmla="*/ 199983 h 338446"/>
              <a:gd name="connsiteX82" fmla="*/ 288888 w 932941"/>
              <a:gd name="connsiteY82" fmla="*/ 237054 h 338446"/>
              <a:gd name="connsiteX83" fmla="*/ 338315 w 932941"/>
              <a:gd name="connsiteY83" fmla="*/ 249410 h 338446"/>
              <a:gd name="connsiteX84" fmla="*/ 325958 w 932941"/>
              <a:gd name="connsiteY84" fmla="*/ 298837 h 338446"/>
              <a:gd name="connsiteX85" fmla="*/ 363029 w 932941"/>
              <a:gd name="connsiteY85" fmla="*/ 286481 h 338446"/>
              <a:gd name="connsiteX86" fmla="*/ 350672 w 932941"/>
              <a:gd name="connsiteY86" fmla="*/ 335908 h 338446"/>
              <a:gd name="connsiteX87" fmla="*/ 363029 w 932941"/>
              <a:gd name="connsiteY87" fmla="*/ 298837 h 338446"/>
              <a:gd name="connsiteX88" fmla="*/ 400099 w 932941"/>
              <a:gd name="connsiteY88" fmla="*/ 286481 h 338446"/>
              <a:gd name="connsiteX89" fmla="*/ 461883 w 932941"/>
              <a:gd name="connsiteY89" fmla="*/ 249410 h 338446"/>
              <a:gd name="connsiteX90" fmla="*/ 548380 w 932941"/>
              <a:gd name="connsiteY90" fmla="*/ 224697 h 338446"/>
              <a:gd name="connsiteX91" fmla="*/ 585450 w 932941"/>
              <a:gd name="connsiteY91" fmla="*/ 212340 h 338446"/>
              <a:gd name="connsiteX92" fmla="*/ 647234 w 932941"/>
              <a:gd name="connsiteY92" fmla="*/ 187627 h 338446"/>
              <a:gd name="connsiteX93" fmla="*/ 746088 w 932941"/>
              <a:gd name="connsiteY93" fmla="*/ 150556 h 338446"/>
              <a:gd name="connsiteX94" fmla="*/ 783158 w 932941"/>
              <a:gd name="connsiteY94" fmla="*/ 125843 h 338446"/>
              <a:gd name="connsiteX95" fmla="*/ 807872 w 932941"/>
              <a:gd name="connsiteY95" fmla="*/ 125843 h 338446"/>
              <a:gd name="connsiteX96" fmla="*/ 882012 w 932941"/>
              <a:gd name="connsiteY96" fmla="*/ 64059 h 338446"/>
              <a:gd name="connsiteX97" fmla="*/ 919083 w 932941"/>
              <a:gd name="connsiteY97" fmla="*/ 39345 h 338446"/>
              <a:gd name="connsiteX98" fmla="*/ 906726 w 932941"/>
              <a:gd name="connsiteY98" fmla="*/ 76416 h 338446"/>
              <a:gd name="connsiteX99" fmla="*/ 894369 w 932941"/>
              <a:gd name="connsiteY99" fmla="*/ 39345 h 338446"/>
              <a:gd name="connsiteX100" fmla="*/ 795515 w 932941"/>
              <a:gd name="connsiteY100" fmla="*/ 88773 h 338446"/>
              <a:gd name="connsiteX101" fmla="*/ 733731 w 932941"/>
              <a:gd name="connsiteY101" fmla="*/ 125843 h 338446"/>
              <a:gd name="connsiteX102" fmla="*/ 684304 w 932941"/>
              <a:gd name="connsiteY102" fmla="*/ 162913 h 338446"/>
              <a:gd name="connsiteX103" fmla="*/ 647234 w 932941"/>
              <a:gd name="connsiteY103" fmla="*/ 187627 h 338446"/>
              <a:gd name="connsiteX104" fmla="*/ 684304 w 932941"/>
              <a:gd name="connsiteY104" fmla="*/ 101129 h 338446"/>
              <a:gd name="connsiteX105" fmla="*/ 795515 w 932941"/>
              <a:gd name="connsiteY105" fmla="*/ 76416 h 338446"/>
              <a:gd name="connsiteX106" fmla="*/ 869656 w 932941"/>
              <a:gd name="connsiteY106" fmla="*/ 26989 h 338446"/>
              <a:gd name="connsiteX107" fmla="*/ 931439 w 932941"/>
              <a:gd name="connsiteY107" fmla="*/ 39345 h 338446"/>
              <a:gd name="connsiteX108" fmla="*/ 906726 w 932941"/>
              <a:gd name="connsiteY108" fmla="*/ 76416 h 33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</a:cxnLst>
            <a:rect l="l" t="t" r="r" b="b"/>
            <a:pathLst>
              <a:path w="932941" h="338446">
                <a:moveTo>
                  <a:pt x="66466" y="113486"/>
                </a:moveTo>
                <a:cubicBezTo>
                  <a:pt x="95299" y="117605"/>
                  <a:pt x="182089" y="125843"/>
                  <a:pt x="152964" y="125843"/>
                </a:cubicBezTo>
                <a:cubicBezTo>
                  <a:pt x="103366" y="125843"/>
                  <a:pt x="51736" y="129171"/>
                  <a:pt x="4683" y="113486"/>
                </a:cubicBezTo>
                <a:cubicBezTo>
                  <a:pt x="-19086" y="105563"/>
                  <a:pt x="54110" y="105248"/>
                  <a:pt x="78823" y="101129"/>
                </a:cubicBezTo>
                <a:cubicBezTo>
                  <a:pt x="91180" y="92891"/>
                  <a:pt x="102610" y="83057"/>
                  <a:pt x="115893" y="76416"/>
                </a:cubicBezTo>
                <a:cubicBezTo>
                  <a:pt x="127543" y="70591"/>
                  <a:pt x="152964" y="51034"/>
                  <a:pt x="152964" y="64059"/>
                </a:cubicBezTo>
                <a:cubicBezTo>
                  <a:pt x="152964" y="78910"/>
                  <a:pt x="128250" y="80535"/>
                  <a:pt x="115893" y="88773"/>
                </a:cubicBezTo>
                <a:cubicBezTo>
                  <a:pt x="111774" y="105249"/>
                  <a:pt x="110227" y="122590"/>
                  <a:pt x="103537" y="138200"/>
                </a:cubicBezTo>
                <a:cubicBezTo>
                  <a:pt x="77796" y="198262"/>
                  <a:pt x="42459" y="169209"/>
                  <a:pt x="152964" y="187627"/>
                </a:cubicBezTo>
                <a:cubicBezTo>
                  <a:pt x="165321" y="179389"/>
                  <a:pt x="190034" y="148062"/>
                  <a:pt x="190034" y="162913"/>
                </a:cubicBezTo>
                <a:cubicBezTo>
                  <a:pt x="190034" y="180388"/>
                  <a:pt x="170439" y="199983"/>
                  <a:pt x="152964" y="199983"/>
                </a:cubicBezTo>
                <a:cubicBezTo>
                  <a:pt x="139939" y="199983"/>
                  <a:pt x="144185" y="175437"/>
                  <a:pt x="140607" y="162913"/>
                </a:cubicBezTo>
                <a:cubicBezTo>
                  <a:pt x="135941" y="146584"/>
                  <a:pt x="132369" y="129962"/>
                  <a:pt x="128250" y="113486"/>
                </a:cubicBezTo>
                <a:cubicBezTo>
                  <a:pt x="140607" y="101129"/>
                  <a:pt x="147845" y="76416"/>
                  <a:pt x="165320" y="76416"/>
                </a:cubicBezTo>
                <a:cubicBezTo>
                  <a:pt x="178345" y="76416"/>
                  <a:pt x="174099" y="100962"/>
                  <a:pt x="177677" y="113486"/>
                </a:cubicBezTo>
                <a:cubicBezTo>
                  <a:pt x="208709" y="222096"/>
                  <a:pt x="172763" y="111102"/>
                  <a:pt x="202391" y="199983"/>
                </a:cubicBezTo>
                <a:cubicBezTo>
                  <a:pt x="206510" y="187626"/>
                  <a:pt x="207523" y="152075"/>
                  <a:pt x="214748" y="162913"/>
                </a:cubicBezTo>
                <a:cubicBezTo>
                  <a:pt x="243743" y="206408"/>
                  <a:pt x="211644" y="283435"/>
                  <a:pt x="239461" y="199983"/>
                </a:cubicBezTo>
                <a:cubicBezTo>
                  <a:pt x="247699" y="212340"/>
                  <a:pt x="260573" y="251462"/>
                  <a:pt x="264175" y="237054"/>
                </a:cubicBezTo>
                <a:cubicBezTo>
                  <a:pt x="271239" y="208798"/>
                  <a:pt x="264843" y="176607"/>
                  <a:pt x="251818" y="150556"/>
                </a:cubicBezTo>
                <a:cubicBezTo>
                  <a:pt x="245993" y="138906"/>
                  <a:pt x="227105" y="142319"/>
                  <a:pt x="214748" y="138200"/>
                </a:cubicBezTo>
                <a:cubicBezTo>
                  <a:pt x="210629" y="154676"/>
                  <a:pt x="197021" y="171516"/>
                  <a:pt x="202391" y="187627"/>
                </a:cubicBezTo>
                <a:cubicBezTo>
                  <a:pt x="207087" y="201716"/>
                  <a:pt x="230184" y="200744"/>
                  <a:pt x="239461" y="212340"/>
                </a:cubicBezTo>
                <a:cubicBezTo>
                  <a:pt x="247598" y="222511"/>
                  <a:pt x="247699" y="237053"/>
                  <a:pt x="251818" y="249410"/>
                </a:cubicBezTo>
                <a:cubicBezTo>
                  <a:pt x="268294" y="241172"/>
                  <a:pt x="283182" y="221084"/>
                  <a:pt x="301245" y="224697"/>
                </a:cubicBezTo>
                <a:cubicBezTo>
                  <a:pt x="314017" y="227251"/>
                  <a:pt x="301952" y="267592"/>
                  <a:pt x="313602" y="261767"/>
                </a:cubicBezTo>
                <a:cubicBezTo>
                  <a:pt x="328792" y="254172"/>
                  <a:pt x="321839" y="228816"/>
                  <a:pt x="325958" y="212340"/>
                </a:cubicBezTo>
                <a:cubicBezTo>
                  <a:pt x="317720" y="199983"/>
                  <a:pt x="313838" y="183141"/>
                  <a:pt x="301245" y="175270"/>
                </a:cubicBezTo>
                <a:cubicBezTo>
                  <a:pt x="279154" y="161463"/>
                  <a:pt x="201183" y="147964"/>
                  <a:pt x="227104" y="150556"/>
                </a:cubicBezTo>
                <a:lnTo>
                  <a:pt x="350672" y="162913"/>
                </a:lnTo>
                <a:cubicBezTo>
                  <a:pt x="354791" y="175270"/>
                  <a:pt x="354892" y="189812"/>
                  <a:pt x="363029" y="199983"/>
                </a:cubicBezTo>
                <a:cubicBezTo>
                  <a:pt x="386638" y="229494"/>
                  <a:pt x="407321" y="222130"/>
                  <a:pt x="437169" y="237054"/>
                </a:cubicBezTo>
                <a:cubicBezTo>
                  <a:pt x="450452" y="243695"/>
                  <a:pt x="461882" y="253529"/>
                  <a:pt x="474239" y="261767"/>
                </a:cubicBezTo>
                <a:cubicBezTo>
                  <a:pt x="482477" y="249410"/>
                  <a:pt x="501865" y="239260"/>
                  <a:pt x="498953" y="224697"/>
                </a:cubicBezTo>
                <a:cubicBezTo>
                  <a:pt x="495531" y="207585"/>
                  <a:pt x="436955" y="191674"/>
                  <a:pt x="424812" y="187627"/>
                </a:cubicBezTo>
                <a:cubicBezTo>
                  <a:pt x="571642" y="128895"/>
                  <a:pt x="504621" y="145493"/>
                  <a:pt x="622520" y="125843"/>
                </a:cubicBezTo>
                <a:cubicBezTo>
                  <a:pt x="578379" y="143499"/>
                  <a:pt x="551721" y="152178"/>
                  <a:pt x="511310" y="175270"/>
                </a:cubicBezTo>
                <a:cubicBezTo>
                  <a:pt x="498416" y="182638"/>
                  <a:pt x="459590" y="197541"/>
                  <a:pt x="474239" y="199983"/>
                </a:cubicBezTo>
                <a:cubicBezTo>
                  <a:pt x="511030" y="206115"/>
                  <a:pt x="548380" y="191746"/>
                  <a:pt x="585450" y="187627"/>
                </a:cubicBezTo>
                <a:cubicBezTo>
                  <a:pt x="626686" y="173881"/>
                  <a:pt x="683048" y="154040"/>
                  <a:pt x="721375" y="150556"/>
                </a:cubicBezTo>
                <a:cubicBezTo>
                  <a:pt x="734347" y="149377"/>
                  <a:pt x="746088" y="158794"/>
                  <a:pt x="758445" y="162913"/>
                </a:cubicBezTo>
                <a:cubicBezTo>
                  <a:pt x="766683" y="150556"/>
                  <a:pt x="771073" y="134475"/>
                  <a:pt x="783158" y="125843"/>
                </a:cubicBezTo>
                <a:cubicBezTo>
                  <a:pt x="801208" y="112950"/>
                  <a:pt x="826132" y="112885"/>
                  <a:pt x="844942" y="101129"/>
                </a:cubicBezTo>
                <a:cubicBezTo>
                  <a:pt x="859761" y="91867"/>
                  <a:pt x="898590" y="69585"/>
                  <a:pt x="882012" y="64059"/>
                </a:cubicBezTo>
                <a:lnTo>
                  <a:pt x="807872" y="88773"/>
                </a:lnTo>
                <a:cubicBezTo>
                  <a:pt x="804979" y="90943"/>
                  <a:pt x="728848" y="158030"/>
                  <a:pt x="709018" y="138200"/>
                </a:cubicBezTo>
                <a:cubicBezTo>
                  <a:pt x="698517" y="127699"/>
                  <a:pt x="748582" y="101129"/>
                  <a:pt x="733731" y="101129"/>
                </a:cubicBezTo>
                <a:cubicBezTo>
                  <a:pt x="713136" y="101129"/>
                  <a:pt x="684304" y="158795"/>
                  <a:pt x="684304" y="138200"/>
                </a:cubicBezTo>
                <a:cubicBezTo>
                  <a:pt x="684304" y="111826"/>
                  <a:pt x="716364" y="96264"/>
                  <a:pt x="733731" y="76416"/>
                </a:cubicBezTo>
                <a:cubicBezTo>
                  <a:pt x="745239" y="63264"/>
                  <a:pt x="788277" y="39345"/>
                  <a:pt x="770802" y="39345"/>
                </a:cubicBezTo>
                <a:cubicBezTo>
                  <a:pt x="750207" y="39345"/>
                  <a:pt x="740913" y="69904"/>
                  <a:pt x="721375" y="76416"/>
                </a:cubicBezTo>
                <a:lnTo>
                  <a:pt x="647234" y="101129"/>
                </a:lnTo>
                <a:cubicBezTo>
                  <a:pt x="634877" y="109367"/>
                  <a:pt x="623058" y="118475"/>
                  <a:pt x="610164" y="125843"/>
                </a:cubicBezTo>
                <a:cubicBezTo>
                  <a:pt x="594171" y="134982"/>
                  <a:pt x="574888" y="138764"/>
                  <a:pt x="560737" y="150556"/>
                </a:cubicBezTo>
                <a:cubicBezTo>
                  <a:pt x="549328" y="160064"/>
                  <a:pt x="525522" y="198128"/>
                  <a:pt x="536023" y="187627"/>
                </a:cubicBezTo>
                <a:cubicBezTo>
                  <a:pt x="550586" y="173064"/>
                  <a:pt x="559690" y="153837"/>
                  <a:pt x="573093" y="138200"/>
                </a:cubicBezTo>
                <a:cubicBezTo>
                  <a:pt x="584466" y="124932"/>
                  <a:pt x="627639" y="101129"/>
                  <a:pt x="610164" y="101129"/>
                </a:cubicBezTo>
                <a:cubicBezTo>
                  <a:pt x="582533" y="101129"/>
                  <a:pt x="559013" y="122873"/>
                  <a:pt x="536023" y="138200"/>
                </a:cubicBezTo>
                <a:cubicBezTo>
                  <a:pt x="509256" y="156044"/>
                  <a:pt x="487276" y="180233"/>
                  <a:pt x="461883" y="199983"/>
                </a:cubicBezTo>
                <a:cubicBezTo>
                  <a:pt x="450160" y="209101"/>
                  <a:pt x="437169" y="216459"/>
                  <a:pt x="424812" y="224697"/>
                </a:cubicBezTo>
                <a:cubicBezTo>
                  <a:pt x="428931" y="212340"/>
                  <a:pt x="431344" y="199277"/>
                  <a:pt x="437169" y="187627"/>
                </a:cubicBezTo>
                <a:cubicBezTo>
                  <a:pt x="458852" y="144262"/>
                  <a:pt x="493809" y="126611"/>
                  <a:pt x="412456" y="187627"/>
                </a:cubicBezTo>
                <a:cubicBezTo>
                  <a:pt x="416575" y="171151"/>
                  <a:pt x="434232" y="152330"/>
                  <a:pt x="424812" y="138200"/>
                </a:cubicBezTo>
                <a:cubicBezTo>
                  <a:pt x="417587" y="127363"/>
                  <a:pt x="396952" y="159766"/>
                  <a:pt x="387742" y="150556"/>
                </a:cubicBezTo>
                <a:cubicBezTo>
                  <a:pt x="378532" y="141346"/>
                  <a:pt x="412456" y="117605"/>
                  <a:pt x="400099" y="113486"/>
                </a:cubicBezTo>
                <a:cubicBezTo>
                  <a:pt x="389648" y="110003"/>
                  <a:pt x="323867" y="156070"/>
                  <a:pt x="313602" y="162913"/>
                </a:cubicBezTo>
                <a:cubicBezTo>
                  <a:pt x="317721" y="150556"/>
                  <a:pt x="336796" y="133068"/>
                  <a:pt x="325958" y="125843"/>
                </a:cubicBezTo>
                <a:cubicBezTo>
                  <a:pt x="320787" y="122396"/>
                  <a:pt x="249008" y="147374"/>
                  <a:pt x="239461" y="150556"/>
                </a:cubicBezTo>
                <a:cubicBezTo>
                  <a:pt x="247699" y="138199"/>
                  <a:pt x="264175" y="128337"/>
                  <a:pt x="264175" y="113486"/>
                </a:cubicBezTo>
                <a:cubicBezTo>
                  <a:pt x="264175" y="98635"/>
                  <a:pt x="245311" y="90066"/>
                  <a:pt x="239461" y="76416"/>
                </a:cubicBezTo>
                <a:cubicBezTo>
                  <a:pt x="232771" y="60806"/>
                  <a:pt x="231223" y="43465"/>
                  <a:pt x="227104" y="26989"/>
                </a:cubicBezTo>
                <a:cubicBezTo>
                  <a:pt x="202391" y="31108"/>
                  <a:pt x="177422" y="44780"/>
                  <a:pt x="152964" y="39345"/>
                </a:cubicBezTo>
                <a:cubicBezTo>
                  <a:pt x="63768" y="19523"/>
                  <a:pt x="165806" y="-31001"/>
                  <a:pt x="78823" y="26989"/>
                </a:cubicBezTo>
                <a:cubicBezTo>
                  <a:pt x="75776" y="36130"/>
                  <a:pt x="57721" y="101129"/>
                  <a:pt x="41753" y="101129"/>
                </a:cubicBezTo>
                <a:cubicBezTo>
                  <a:pt x="28728" y="101129"/>
                  <a:pt x="43939" y="72196"/>
                  <a:pt x="54110" y="64059"/>
                </a:cubicBezTo>
                <a:cubicBezTo>
                  <a:pt x="67371" y="53450"/>
                  <a:pt x="87208" y="56368"/>
                  <a:pt x="103537" y="51702"/>
                </a:cubicBezTo>
                <a:cubicBezTo>
                  <a:pt x="116061" y="48124"/>
                  <a:pt x="128250" y="43464"/>
                  <a:pt x="140607" y="39345"/>
                </a:cubicBezTo>
                <a:cubicBezTo>
                  <a:pt x="144726" y="64059"/>
                  <a:pt x="135248" y="95770"/>
                  <a:pt x="152964" y="113486"/>
                </a:cubicBezTo>
                <a:cubicBezTo>
                  <a:pt x="163465" y="123987"/>
                  <a:pt x="184519" y="74984"/>
                  <a:pt x="190034" y="88773"/>
                </a:cubicBezTo>
                <a:cubicBezTo>
                  <a:pt x="200851" y="115815"/>
                  <a:pt x="181796" y="146438"/>
                  <a:pt x="177677" y="175270"/>
                </a:cubicBezTo>
                <a:cubicBezTo>
                  <a:pt x="185915" y="195865"/>
                  <a:pt x="185070" y="223198"/>
                  <a:pt x="202391" y="237054"/>
                </a:cubicBezTo>
                <a:cubicBezTo>
                  <a:pt x="214018" y="246356"/>
                  <a:pt x="273697" y="201873"/>
                  <a:pt x="276531" y="199983"/>
                </a:cubicBezTo>
                <a:cubicBezTo>
                  <a:pt x="280650" y="212340"/>
                  <a:pt x="276251" y="233895"/>
                  <a:pt x="288888" y="237054"/>
                </a:cubicBezTo>
                <a:cubicBezTo>
                  <a:pt x="352766" y="253024"/>
                  <a:pt x="307255" y="156233"/>
                  <a:pt x="338315" y="249410"/>
                </a:cubicBezTo>
                <a:cubicBezTo>
                  <a:pt x="334196" y="265886"/>
                  <a:pt x="316538" y="284706"/>
                  <a:pt x="325958" y="298837"/>
                </a:cubicBezTo>
                <a:cubicBezTo>
                  <a:pt x="333183" y="309675"/>
                  <a:pt x="355804" y="275643"/>
                  <a:pt x="363029" y="286481"/>
                </a:cubicBezTo>
                <a:cubicBezTo>
                  <a:pt x="372449" y="300612"/>
                  <a:pt x="350672" y="318925"/>
                  <a:pt x="350672" y="335908"/>
                </a:cubicBezTo>
                <a:cubicBezTo>
                  <a:pt x="350672" y="348933"/>
                  <a:pt x="353819" y="308047"/>
                  <a:pt x="363029" y="298837"/>
                </a:cubicBezTo>
                <a:cubicBezTo>
                  <a:pt x="372239" y="289627"/>
                  <a:pt x="388449" y="292306"/>
                  <a:pt x="400099" y="286481"/>
                </a:cubicBezTo>
                <a:cubicBezTo>
                  <a:pt x="421581" y="275740"/>
                  <a:pt x="441288" y="261767"/>
                  <a:pt x="461883" y="249410"/>
                </a:cubicBezTo>
                <a:cubicBezTo>
                  <a:pt x="525961" y="270770"/>
                  <a:pt x="476722" y="265645"/>
                  <a:pt x="548380" y="224697"/>
                </a:cubicBezTo>
                <a:cubicBezTo>
                  <a:pt x="559689" y="218235"/>
                  <a:pt x="573254" y="216913"/>
                  <a:pt x="585450" y="212340"/>
                </a:cubicBezTo>
                <a:cubicBezTo>
                  <a:pt x="606219" y="204552"/>
                  <a:pt x="627395" y="197547"/>
                  <a:pt x="647234" y="187627"/>
                </a:cubicBezTo>
                <a:cubicBezTo>
                  <a:pt x="732085" y="145201"/>
                  <a:pt x="626882" y="174398"/>
                  <a:pt x="746088" y="150556"/>
                </a:cubicBezTo>
                <a:cubicBezTo>
                  <a:pt x="758445" y="142318"/>
                  <a:pt x="773881" y="137439"/>
                  <a:pt x="783158" y="125843"/>
                </a:cubicBezTo>
                <a:cubicBezTo>
                  <a:pt x="806418" y="96768"/>
                  <a:pt x="784612" y="56064"/>
                  <a:pt x="807872" y="125843"/>
                </a:cubicBezTo>
                <a:cubicBezTo>
                  <a:pt x="899915" y="64479"/>
                  <a:pt x="786863" y="143350"/>
                  <a:pt x="882012" y="64059"/>
                </a:cubicBezTo>
                <a:cubicBezTo>
                  <a:pt x="893421" y="54551"/>
                  <a:pt x="906726" y="47583"/>
                  <a:pt x="919083" y="39345"/>
                </a:cubicBezTo>
                <a:cubicBezTo>
                  <a:pt x="914964" y="51702"/>
                  <a:pt x="919751" y="76416"/>
                  <a:pt x="906726" y="76416"/>
                </a:cubicBezTo>
                <a:cubicBezTo>
                  <a:pt x="893701" y="76416"/>
                  <a:pt x="907315" y="37907"/>
                  <a:pt x="894369" y="39345"/>
                </a:cubicBezTo>
                <a:cubicBezTo>
                  <a:pt x="857753" y="43413"/>
                  <a:pt x="827952" y="71307"/>
                  <a:pt x="795515" y="88773"/>
                </a:cubicBezTo>
                <a:cubicBezTo>
                  <a:pt x="774369" y="100160"/>
                  <a:pt x="753715" y="112521"/>
                  <a:pt x="733731" y="125843"/>
                </a:cubicBezTo>
                <a:cubicBezTo>
                  <a:pt x="716595" y="137267"/>
                  <a:pt x="701062" y="150943"/>
                  <a:pt x="684304" y="162913"/>
                </a:cubicBezTo>
                <a:cubicBezTo>
                  <a:pt x="672219" y="171545"/>
                  <a:pt x="659591" y="179389"/>
                  <a:pt x="647234" y="187627"/>
                </a:cubicBezTo>
                <a:cubicBezTo>
                  <a:pt x="654654" y="157949"/>
                  <a:pt x="657638" y="122461"/>
                  <a:pt x="684304" y="101129"/>
                </a:cubicBezTo>
                <a:cubicBezTo>
                  <a:pt x="700349" y="88293"/>
                  <a:pt x="794689" y="76600"/>
                  <a:pt x="795515" y="76416"/>
                </a:cubicBezTo>
                <a:cubicBezTo>
                  <a:pt x="841499" y="66197"/>
                  <a:pt x="833658" y="62986"/>
                  <a:pt x="869656" y="26989"/>
                </a:cubicBezTo>
                <a:cubicBezTo>
                  <a:pt x="890250" y="31108"/>
                  <a:pt x="918838" y="22543"/>
                  <a:pt x="931439" y="39345"/>
                </a:cubicBezTo>
                <a:cubicBezTo>
                  <a:pt x="940350" y="51226"/>
                  <a:pt x="906726" y="76416"/>
                  <a:pt x="906726" y="76416"/>
                </a:cubicBezTo>
              </a:path>
            </a:pathLst>
          </a:custGeom>
          <a:noFill/>
          <a:ln w="57150">
            <a:solidFill>
              <a:srgbClr val="00B0F0">
                <a:alpha val="7098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158AE996-4816-902D-7F62-5C7DCA3DF2DD}"/>
              </a:ext>
            </a:extLst>
          </p:cNvPr>
          <p:cNvSpPr/>
          <p:nvPr/>
        </p:nvSpPr>
        <p:spPr>
          <a:xfrm rot="20519076">
            <a:off x="4566422" y="4274116"/>
            <a:ext cx="731471" cy="79891"/>
          </a:xfrm>
          <a:custGeom>
            <a:avLst/>
            <a:gdLst>
              <a:gd name="connsiteX0" fmla="*/ 66466 w 932941"/>
              <a:gd name="connsiteY0" fmla="*/ 113486 h 338446"/>
              <a:gd name="connsiteX1" fmla="*/ 152964 w 932941"/>
              <a:gd name="connsiteY1" fmla="*/ 125843 h 338446"/>
              <a:gd name="connsiteX2" fmla="*/ 4683 w 932941"/>
              <a:gd name="connsiteY2" fmla="*/ 113486 h 338446"/>
              <a:gd name="connsiteX3" fmla="*/ 78823 w 932941"/>
              <a:gd name="connsiteY3" fmla="*/ 101129 h 338446"/>
              <a:gd name="connsiteX4" fmla="*/ 115893 w 932941"/>
              <a:gd name="connsiteY4" fmla="*/ 76416 h 338446"/>
              <a:gd name="connsiteX5" fmla="*/ 152964 w 932941"/>
              <a:gd name="connsiteY5" fmla="*/ 64059 h 338446"/>
              <a:gd name="connsiteX6" fmla="*/ 115893 w 932941"/>
              <a:gd name="connsiteY6" fmla="*/ 88773 h 338446"/>
              <a:gd name="connsiteX7" fmla="*/ 103537 w 932941"/>
              <a:gd name="connsiteY7" fmla="*/ 138200 h 338446"/>
              <a:gd name="connsiteX8" fmla="*/ 152964 w 932941"/>
              <a:gd name="connsiteY8" fmla="*/ 187627 h 338446"/>
              <a:gd name="connsiteX9" fmla="*/ 190034 w 932941"/>
              <a:gd name="connsiteY9" fmla="*/ 162913 h 338446"/>
              <a:gd name="connsiteX10" fmla="*/ 152964 w 932941"/>
              <a:gd name="connsiteY10" fmla="*/ 199983 h 338446"/>
              <a:gd name="connsiteX11" fmla="*/ 140607 w 932941"/>
              <a:gd name="connsiteY11" fmla="*/ 162913 h 338446"/>
              <a:gd name="connsiteX12" fmla="*/ 128250 w 932941"/>
              <a:gd name="connsiteY12" fmla="*/ 113486 h 338446"/>
              <a:gd name="connsiteX13" fmla="*/ 165320 w 932941"/>
              <a:gd name="connsiteY13" fmla="*/ 76416 h 338446"/>
              <a:gd name="connsiteX14" fmla="*/ 177677 w 932941"/>
              <a:gd name="connsiteY14" fmla="*/ 113486 h 338446"/>
              <a:gd name="connsiteX15" fmla="*/ 202391 w 932941"/>
              <a:gd name="connsiteY15" fmla="*/ 199983 h 338446"/>
              <a:gd name="connsiteX16" fmla="*/ 214748 w 932941"/>
              <a:gd name="connsiteY16" fmla="*/ 162913 h 338446"/>
              <a:gd name="connsiteX17" fmla="*/ 239461 w 932941"/>
              <a:gd name="connsiteY17" fmla="*/ 199983 h 338446"/>
              <a:gd name="connsiteX18" fmla="*/ 264175 w 932941"/>
              <a:gd name="connsiteY18" fmla="*/ 237054 h 338446"/>
              <a:gd name="connsiteX19" fmla="*/ 251818 w 932941"/>
              <a:gd name="connsiteY19" fmla="*/ 150556 h 338446"/>
              <a:gd name="connsiteX20" fmla="*/ 214748 w 932941"/>
              <a:gd name="connsiteY20" fmla="*/ 138200 h 338446"/>
              <a:gd name="connsiteX21" fmla="*/ 202391 w 932941"/>
              <a:gd name="connsiteY21" fmla="*/ 187627 h 338446"/>
              <a:gd name="connsiteX22" fmla="*/ 239461 w 932941"/>
              <a:gd name="connsiteY22" fmla="*/ 212340 h 338446"/>
              <a:gd name="connsiteX23" fmla="*/ 251818 w 932941"/>
              <a:gd name="connsiteY23" fmla="*/ 249410 h 338446"/>
              <a:gd name="connsiteX24" fmla="*/ 301245 w 932941"/>
              <a:gd name="connsiteY24" fmla="*/ 224697 h 338446"/>
              <a:gd name="connsiteX25" fmla="*/ 313602 w 932941"/>
              <a:gd name="connsiteY25" fmla="*/ 261767 h 338446"/>
              <a:gd name="connsiteX26" fmla="*/ 325958 w 932941"/>
              <a:gd name="connsiteY26" fmla="*/ 212340 h 338446"/>
              <a:gd name="connsiteX27" fmla="*/ 301245 w 932941"/>
              <a:gd name="connsiteY27" fmla="*/ 175270 h 338446"/>
              <a:gd name="connsiteX28" fmla="*/ 227104 w 932941"/>
              <a:gd name="connsiteY28" fmla="*/ 150556 h 338446"/>
              <a:gd name="connsiteX29" fmla="*/ 350672 w 932941"/>
              <a:gd name="connsiteY29" fmla="*/ 162913 h 338446"/>
              <a:gd name="connsiteX30" fmla="*/ 363029 w 932941"/>
              <a:gd name="connsiteY30" fmla="*/ 199983 h 338446"/>
              <a:gd name="connsiteX31" fmla="*/ 437169 w 932941"/>
              <a:gd name="connsiteY31" fmla="*/ 237054 h 338446"/>
              <a:gd name="connsiteX32" fmla="*/ 474239 w 932941"/>
              <a:gd name="connsiteY32" fmla="*/ 261767 h 338446"/>
              <a:gd name="connsiteX33" fmla="*/ 498953 w 932941"/>
              <a:gd name="connsiteY33" fmla="*/ 224697 h 338446"/>
              <a:gd name="connsiteX34" fmla="*/ 424812 w 932941"/>
              <a:gd name="connsiteY34" fmla="*/ 187627 h 338446"/>
              <a:gd name="connsiteX35" fmla="*/ 622520 w 932941"/>
              <a:gd name="connsiteY35" fmla="*/ 125843 h 338446"/>
              <a:gd name="connsiteX36" fmla="*/ 511310 w 932941"/>
              <a:gd name="connsiteY36" fmla="*/ 175270 h 338446"/>
              <a:gd name="connsiteX37" fmla="*/ 474239 w 932941"/>
              <a:gd name="connsiteY37" fmla="*/ 199983 h 338446"/>
              <a:gd name="connsiteX38" fmla="*/ 585450 w 932941"/>
              <a:gd name="connsiteY38" fmla="*/ 187627 h 338446"/>
              <a:gd name="connsiteX39" fmla="*/ 721375 w 932941"/>
              <a:gd name="connsiteY39" fmla="*/ 150556 h 338446"/>
              <a:gd name="connsiteX40" fmla="*/ 758445 w 932941"/>
              <a:gd name="connsiteY40" fmla="*/ 162913 h 338446"/>
              <a:gd name="connsiteX41" fmla="*/ 783158 w 932941"/>
              <a:gd name="connsiteY41" fmla="*/ 125843 h 338446"/>
              <a:gd name="connsiteX42" fmla="*/ 844942 w 932941"/>
              <a:gd name="connsiteY42" fmla="*/ 101129 h 338446"/>
              <a:gd name="connsiteX43" fmla="*/ 882012 w 932941"/>
              <a:gd name="connsiteY43" fmla="*/ 64059 h 338446"/>
              <a:gd name="connsiteX44" fmla="*/ 807872 w 932941"/>
              <a:gd name="connsiteY44" fmla="*/ 88773 h 338446"/>
              <a:gd name="connsiteX45" fmla="*/ 709018 w 932941"/>
              <a:gd name="connsiteY45" fmla="*/ 138200 h 338446"/>
              <a:gd name="connsiteX46" fmla="*/ 733731 w 932941"/>
              <a:gd name="connsiteY46" fmla="*/ 101129 h 338446"/>
              <a:gd name="connsiteX47" fmla="*/ 684304 w 932941"/>
              <a:gd name="connsiteY47" fmla="*/ 138200 h 338446"/>
              <a:gd name="connsiteX48" fmla="*/ 733731 w 932941"/>
              <a:gd name="connsiteY48" fmla="*/ 76416 h 338446"/>
              <a:gd name="connsiteX49" fmla="*/ 770802 w 932941"/>
              <a:gd name="connsiteY49" fmla="*/ 39345 h 338446"/>
              <a:gd name="connsiteX50" fmla="*/ 721375 w 932941"/>
              <a:gd name="connsiteY50" fmla="*/ 76416 h 338446"/>
              <a:gd name="connsiteX51" fmla="*/ 647234 w 932941"/>
              <a:gd name="connsiteY51" fmla="*/ 101129 h 338446"/>
              <a:gd name="connsiteX52" fmla="*/ 610164 w 932941"/>
              <a:gd name="connsiteY52" fmla="*/ 125843 h 338446"/>
              <a:gd name="connsiteX53" fmla="*/ 560737 w 932941"/>
              <a:gd name="connsiteY53" fmla="*/ 150556 h 338446"/>
              <a:gd name="connsiteX54" fmla="*/ 536023 w 932941"/>
              <a:gd name="connsiteY54" fmla="*/ 187627 h 338446"/>
              <a:gd name="connsiteX55" fmla="*/ 573093 w 932941"/>
              <a:gd name="connsiteY55" fmla="*/ 138200 h 338446"/>
              <a:gd name="connsiteX56" fmla="*/ 610164 w 932941"/>
              <a:gd name="connsiteY56" fmla="*/ 101129 h 338446"/>
              <a:gd name="connsiteX57" fmla="*/ 536023 w 932941"/>
              <a:gd name="connsiteY57" fmla="*/ 138200 h 338446"/>
              <a:gd name="connsiteX58" fmla="*/ 461883 w 932941"/>
              <a:gd name="connsiteY58" fmla="*/ 199983 h 338446"/>
              <a:gd name="connsiteX59" fmla="*/ 424812 w 932941"/>
              <a:gd name="connsiteY59" fmla="*/ 224697 h 338446"/>
              <a:gd name="connsiteX60" fmla="*/ 437169 w 932941"/>
              <a:gd name="connsiteY60" fmla="*/ 187627 h 338446"/>
              <a:gd name="connsiteX61" fmla="*/ 412456 w 932941"/>
              <a:gd name="connsiteY61" fmla="*/ 187627 h 338446"/>
              <a:gd name="connsiteX62" fmla="*/ 424812 w 932941"/>
              <a:gd name="connsiteY62" fmla="*/ 138200 h 338446"/>
              <a:gd name="connsiteX63" fmla="*/ 387742 w 932941"/>
              <a:gd name="connsiteY63" fmla="*/ 150556 h 338446"/>
              <a:gd name="connsiteX64" fmla="*/ 400099 w 932941"/>
              <a:gd name="connsiteY64" fmla="*/ 113486 h 338446"/>
              <a:gd name="connsiteX65" fmla="*/ 313602 w 932941"/>
              <a:gd name="connsiteY65" fmla="*/ 162913 h 338446"/>
              <a:gd name="connsiteX66" fmla="*/ 325958 w 932941"/>
              <a:gd name="connsiteY66" fmla="*/ 125843 h 338446"/>
              <a:gd name="connsiteX67" fmla="*/ 239461 w 932941"/>
              <a:gd name="connsiteY67" fmla="*/ 150556 h 338446"/>
              <a:gd name="connsiteX68" fmla="*/ 264175 w 932941"/>
              <a:gd name="connsiteY68" fmla="*/ 113486 h 338446"/>
              <a:gd name="connsiteX69" fmla="*/ 239461 w 932941"/>
              <a:gd name="connsiteY69" fmla="*/ 76416 h 338446"/>
              <a:gd name="connsiteX70" fmla="*/ 227104 w 932941"/>
              <a:gd name="connsiteY70" fmla="*/ 26989 h 338446"/>
              <a:gd name="connsiteX71" fmla="*/ 152964 w 932941"/>
              <a:gd name="connsiteY71" fmla="*/ 39345 h 338446"/>
              <a:gd name="connsiteX72" fmla="*/ 78823 w 932941"/>
              <a:gd name="connsiteY72" fmla="*/ 26989 h 338446"/>
              <a:gd name="connsiteX73" fmla="*/ 41753 w 932941"/>
              <a:gd name="connsiteY73" fmla="*/ 101129 h 338446"/>
              <a:gd name="connsiteX74" fmla="*/ 54110 w 932941"/>
              <a:gd name="connsiteY74" fmla="*/ 64059 h 338446"/>
              <a:gd name="connsiteX75" fmla="*/ 103537 w 932941"/>
              <a:gd name="connsiteY75" fmla="*/ 51702 h 338446"/>
              <a:gd name="connsiteX76" fmla="*/ 140607 w 932941"/>
              <a:gd name="connsiteY76" fmla="*/ 39345 h 338446"/>
              <a:gd name="connsiteX77" fmla="*/ 152964 w 932941"/>
              <a:gd name="connsiteY77" fmla="*/ 113486 h 338446"/>
              <a:gd name="connsiteX78" fmla="*/ 190034 w 932941"/>
              <a:gd name="connsiteY78" fmla="*/ 88773 h 338446"/>
              <a:gd name="connsiteX79" fmla="*/ 177677 w 932941"/>
              <a:gd name="connsiteY79" fmla="*/ 175270 h 338446"/>
              <a:gd name="connsiteX80" fmla="*/ 202391 w 932941"/>
              <a:gd name="connsiteY80" fmla="*/ 237054 h 338446"/>
              <a:gd name="connsiteX81" fmla="*/ 276531 w 932941"/>
              <a:gd name="connsiteY81" fmla="*/ 199983 h 338446"/>
              <a:gd name="connsiteX82" fmla="*/ 288888 w 932941"/>
              <a:gd name="connsiteY82" fmla="*/ 237054 h 338446"/>
              <a:gd name="connsiteX83" fmla="*/ 338315 w 932941"/>
              <a:gd name="connsiteY83" fmla="*/ 249410 h 338446"/>
              <a:gd name="connsiteX84" fmla="*/ 325958 w 932941"/>
              <a:gd name="connsiteY84" fmla="*/ 298837 h 338446"/>
              <a:gd name="connsiteX85" fmla="*/ 363029 w 932941"/>
              <a:gd name="connsiteY85" fmla="*/ 286481 h 338446"/>
              <a:gd name="connsiteX86" fmla="*/ 350672 w 932941"/>
              <a:gd name="connsiteY86" fmla="*/ 335908 h 338446"/>
              <a:gd name="connsiteX87" fmla="*/ 363029 w 932941"/>
              <a:gd name="connsiteY87" fmla="*/ 298837 h 338446"/>
              <a:gd name="connsiteX88" fmla="*/ 400099 w 932941"/>
              <a:gd name="connsiteY88" fmla="*/ 286481 h 338446"/>
              <a:gd name="connsiteX89" fmla="*/ 461883 w 932941"/>
              <a:gd name="connsiteY89" fmla="*/ 249410 h 338446"/>
              <a:gd name="connsiteX90" fmla="*/ 548380 w 932941"/>
              <a:gd name="connsiteY90" fmla="*/ 224697 h 338446"/>
              <a:gd name="connsiteX91" fmla="*/ 585450 w 932941"/>
              <a:gd name="connsiteY91" fmla="*/ 212340 h 338446"/>
              <a:gd name="connsiteX92" fmla="*/ 647234 w 932941"/>
              <a:gd name="connsiteY92" fmla="*/ 187627 h 338446"/>
              <a:gd name="connsiteX93" fmla="*/ 746088 w 932941"/>
              <a:gd name="connsiteY93" fmla="*/ 150556 h 338446"/>
              <a:gd name="connsiteX94" fmla="*/ 783158 w 932941"/>
              <a:gd name="connsiteY94" fmla="*/ 125843 h 338446"/>
              <a:gd name="connsiteX95" fmla="*/ 807872 w 932941"/>
              <a:gd name="connsiteY95" fmla="*/ 125843 h 338446"/>
              <a:gd name="connsiteX96" fmla="*/ 882012 w 932941"/>
              <a:gd name="connsiteY96" fmla="*/ 64059 h 338446"/>
              <a:gd name="connsiteX97" fmla="*/ 919083 w 932941"/>
              <a:gd name="connsiteY97" fmla="*/ 39345 h 338446"/>
              <a:gd name="connsiteX98" fmla="*/ 906726 w 932941"/>
              <a:gd name="connsiteY98" fmla="*/ 76416 h 338446"/>
              <a:gd name="connsiteX99" fmla="*/ 894369 w 932941"/>
              <a:gd name="connsiteY99" fmla="*/ 39345 h 338446"/>
              <a:gd name="connsiteX100" fmla="*/ 795515 w 932941"/>
              <a:gd name="connsiteY100" fmla="*/ 88773 h 338446"/>
              <a:gd name="connsiteX101" fmla="*/ 733731 w 932941"/>
              <a:gd name="connsiteY101" fmla="*/ 125843 h 338446"/>
              <a:gd name="connsiteX102" fmla="*/ 684304 w 932941"/>
              <a:gd name="connsiteY102" fmla="*/ 162913 h 338446"/>
              <a:gd name="connsiteX103" fmla="*/ 647234 w 932941"/>
              <a:gd name="connsiteY103" fmla="*/ 187627 h 338446"/>
              <a:gd name="connsiteX104" fmla="*/ 684304 w 932941"/>
              <a:gd name="connsiteY104" fmla="*/ 101129 h 338446"/>
              <a:gd name="connsiteX105" fmla="*/ 795515 w 932941"/>
              <a:gd name="connsiteY105" fmla="*/ 76416 h 338446"/>
              <a:gd name="connsiteX106" fmla="*/ 869656 w 932941"/>
              <a:gd name="connsiteY106" fmla="*/ 26989 h 338446"/>
              <a:gd name="connsiteX107" fmla="*/ 931439 w 932941"/>
              <a:gd name="connsiteY107" fmla="*/ 39345 h 338446"/>
              <a:gd name="connsiteX108" fmla="*/ 906726 w 932941"/>
              <a:gd name="connsiteY108" fmla="*/ 76416 h 33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</a:cxnLst>
            <a:rect l="l" t="t" r="r" b="b"/>
            <a:pathLst>
              <a:path w="932941" h="338446">
                <a:moveTo>
                  <a:pt x="66466" y="113486"/>
                </a:moveTo>
                <a:cubicBezTo>
                  <a:pt x="95299" y="117605"/>
                  <a:pt x="182089" y="125843"/>
                  <a:pt x="152964" y="125843"/>
                </a:cubicBezTo>
                <a:cubicBezTo>
                  <a:pt x="103366" y="125843"/>
                  <a:pt x="51736" y="129171"/>
                  <a:pt x="4683" y="113486"/>
                </a:cubicBezTo>
                <a:cubicBezTo>
                  <a:pt x="-19086" y="105563"/>
                  <a:pt x="54110" y="105248"/>
                  <a:pt x="78823" y="101129"/>
                </a:cubicBezTo>
                <a:cubicBezTo>
                  <a:pt x="91180" y="92891"/>
                  <a:pt x="102610" y="83057"/>
                  <a:pt x="115893" y="76416"/>
                </a:cubicBezTo>
                <a:cubicBezTo>
                  <a:pt x="127543" y="70591"/>
                  <a:pt x="152964" y="51034"/>
                  <a:pt x="152964" y="64059"/>
                </a:cubicBezTo>
                <a:cubicBezTo>
                  <a:pt x="152964" y="78910"/>
                  <a:pt x="128250" y="80535"/>
                  <a:pt x="115893" y="88773"/>
                </a:cubicBezTo>
                <a:cubicBezTo>
                  <a:pt x="111774" y="105249"/>
                  <a:pt x="110227" y="122590"/>
                  <a:pt x="103537" y="138200"/>
                </a:cubicBezTo>
                <a:cubicBezTo>
                  <a:pt x="77796" y="198262"/>
                  <a:pt x="42459" y="169209"/>
                  <a:pt x="152964" y="187627"/>
                </a:cubicBezTo>
                <a:cubicBezTo>
                  <a:pt x="165321" y="179389"/>
                  <a:pt x="190034" y="148062"/>
                  <a:pt x="190034" y="162913"/>
                </a:cubicBezTo>
                <a:cubicBezTo>
                  <a:pt x="190034" y="180388"/>
                  <a:pt x="170439" y="199983"/>
                  <a:pt x="152964" y="199983"/>
                </a:cubicBezTo>
                <a:cubicBezTo>
                  <a:pt x="139939" y="199983"/>
                  <a:pt x="144185" y="175437"/>
                  <a:pt x="140607" y="162913"/>
                </a:cubicBezTo>
                <a:cubicBezTo>
                  <a:pt x="135941" y="146584"/>
                  <a:pt x="132369" y="129962"/>
                  <a:pt x="128250" y="113486"/>
                </a:cubicBezTo>
                <a:cubicBezTo>
                  <a:pt x="140607" y="101129"/>
                  <a:pt x="147845" y="76416"/>
                  <a:pt x="165320" y="76416"/>
                </a:cubicBezTo>
                <a:cubicBezTo>
                  <a:pt x="178345" y="76416"/>
                  <a:pt x="174099" y="100962"/>
                  <a:pt x="177677" y="113486"/>
                </a:cubicBezTo>
                <a:cubicBezTo>
                  <a:pt x="208709" y="222096"/>
                  <a:pt x="172763" y="111102"/>
                  <a:pt x="202391" y="199983"/>
                </a:cubicBezTo>
                <a:cubicBezTo>
                  <a:pt x="206510" y="187626"/>
                  <a:pt x="207523" y="152075"/>
                  <a:pt x="214748" y="162913"/>
                </a:cubicBezTo>
                <a:cubicBezTo>
                  <a:pt x="243743" y="206408"/>
                  <a:pt x="211644" y="283435"/>
                  <a:pt x="239461" y="199983"/>
                </a:cubicBezTo>
                <a:cubicBezTo>
                  <a:pt x="247699" y="212340"/>
                  <a:pt x="260573" y="251462"/>
                  <a:pt x="264175" y="237054"/>
                </a:cubicBezTo>
                <a:cubicBezTo>
                  <a:pt x="271239" y="208798"/>
                  <a:pt x="264843" y="176607"/>
                  <a:pt x="251818" y="150556"/>
                </a:cubicBezTo>
                <a:cubicBezTo>
                  <a:pt x="245993" y="138906"/>
                  <a:pt x="227105" y="142319"/>
                  <a:pt x="214748" y="138200"/>
                </a:cubicBezTo>
                <a:cubicBezTo>
                  <a:pt x="210629" y="154676"/>
                  <a:pt x="197021" y="171516"/>
                  <a:pt x="202391" y="187627"/>
                </a:cubicBezTo>
                <a:cubicBezTo>
                  <a:pt x="207087" y="201716"/>
                  <a:pt x="230184" y="200744"/>
                  <a:pt x="239461" y="212340"/>
                </a:cubicBezTo>
                <a:cubicBezTo>
                  <a:pt x="247598" y="222511"/>
                  <a:pt x="247699" y="237053"/>
                  <a:pt x="251818" y="249410"/>
                </a:cubicBezTo>
                <a:cubicBezTo>
                  <a:pt x="268294" y="241172"/>
                  <a:pt x="283182" y="221084"/>
                  <a:pt x="301245" y="224697"/>
                </a:cubicBezTo>
                <a:cubicBezTo>
                  <a:pt x="314017" y="227251"/>
                  <a:pt x="301952" y="267592"/>
                  <a:pt x="313602" y="261767"/>
                </a:cubicBezTo>
                <a:cubicBezTo>
                  <a:pt x="328792" y="254172"/>
                  <a:pt x="321839" y="228816"/>
                  <a:pt x="325958" y="212340"/>
                </a:cubicBezTo>
                <a:cubicBezTo>
                  <a:pt x="317720" y="199983"/>
                  <a:pt x="313838" y="183141"/>
                  <a:pt x="301245" y="175270"/>
                </a:cubicBezTo>
                <a:cubicBezTo>
                  <a:pt x="279154" y="161463"/>
                  <a:pt x="201183" y="147964"/>
                  <a:pt x="227104" y="150556"/>
                </a:cubicBezTo>
                <a:lnTo>
                  <a:pt x="350672" y="162913"/>
                </a:lnTo>
                <a:cubicBezTo>
                  <a:pt x="354791" y="175270"/>
                  <a:pt x="354892" y="189812"/>
                  <a:pt x="363029" y="199983"/>
                </a:cubicBezTo>
                <a:cubicBezTo>
                  <a:pt x="386638" y="229494"/>
                  <a:pt x="407321" y="222130"/>
                  <a:pt x="437169" y="237054"/>
                </a:cubicBezTo>
                <a:cubicBezTo>
                  <a:pt x="450452" y="243695"/>
                  <a:pt x="461882" y="253529"/>
                  <a:pt x="474239" y="261767"/>
                </a:cubicBezTo>
                <a:cubicBezTo>
                  <a:pt x="482477" y="249410"/>
                  <a:pt x="501865" y="239260"/>
                  <a:pt x="498953" y="224697"/>
                </a:cubicBezTo>
                <a:cubicBezTo>
                  <a:pt x="495531" y="207585"/>
                  <a:pt x="436955" y="191674"/>
                  <a:pt x="424812" y="187627"/>
                </a:cubicBezTo>
                <a:cubicBezTo>
                  <a:pt x="571642" y="128895"/>
                  <a:pt x="504621" y="145493"/>
                  <a:pt x="622520" y="125843"/>
                </a:cubicBezTo>
                <a:cubicBezTo>
                  <a:pt x="578379" y="143499"/>
                  <a:pt x="551721" y="152178"/>
                  <a:pt x="511310" y="175270"/>
                </a:cubicBezTo>
                <a:cubicBezTo>
                  <a:pt x="498416" y="182638"/>
                  <a:pt x="459590" y="197541"/>
                  <a:pt x="474239" y="199983"/>
                </a:cubicBezTo>
                <a:cubicBezTo>
                  <a:pt x="511030" y="206115"/>
                  <a:pt x="548380" y="191746"/>
                  <a:pt x="585450" y="187627"/>
                </a:cubicBezTo>
                <a:cubicBezTo>
                  <a:pt x="626686" y="173881"/>
                  <a:pt x="683048" y="154040"/>
                  <a:pt x="721375" y="150556"/>
                </a:cubicBezTo>
                <a:cubicBezTo>
                  <a:pt x="734347" y="149377"/>
                  <a:pt x="746088" y="158794"/>
                  <a:pt x="758445" y="162913"/>
                </a:cubicBezTo>
                <a:cubicBezTo>
                  <a:pt x="766683" y="150556"/>
                  <a:pt x="771073" y="134475"/>
                  <a:pt x="783158" y="125843"/>
                </a:cubicBezTo>
                <a:cubicBezTo>
                  <a:pt x="801208" y="112950"/>
                  <a:pt x="826132" y="112885"/>
                  <a:pt x="844942" y="101129"/>
                </a:cubicBezTo>
                <a:cubicBezTo>
                  <a:pt x="859761" y="91867"/>
                  <a:pt x="898590" y="69585"/>
                  <a:pt x="882012" y="64059"/>
                </a:cubicBezTo>
                <a:lnTo>
                  <a:pt x="807872" y="88773"/>
                </a:lnTo>
                <a:cubicBezTo>
                  <a:pt x="804979" y="90943"/>
                  <a:pt x="728848" y="158030"/>
                  <a:pt x="709018" y="138200"/>
                </a:cubicBezTo>
                <a:cubicBezTo>
                  <a:pt x="698517" y="127699"/>
                  <a:pt x="748582" y="101129"/>
                  <a:pt x="733731" y="101129"/>
                </a:cubicBezTo>
                <a:cubicBezTo>
                  <a:pt x="713136" y="101129"/>
                  <a:pt x="684304" y="158795"/>
                  <a:pt x="684304" y="138200"/>
                </a:cubicBezTo>
                <a:cubicBezTo>
                  <a:pt x="684304" y="111826"/>
                  <a:pt x="716364" y="96264"/>
                  <a:pt x="733731" y="76416"/>
                </a:cubicBezTo>
                <a:cubicBezTo>
                  <a:pt x="745239" y="63264"/>
                  <a:pt x="788277" y="39345"/>
                  <a:pt x="770802" y="39345"/>
                </a:cubicBezTo>
                <a:cubicBezTo>
                  <a:pt x="750207" y="39345"/>
                  <a:pt x="740913" y="69904"/>
                  <a:pt x="721375" y="76416"/>
                </a:cubicBezTo>
                <a:lnTo>
                  <a:pt x="647234" y="101129"/>
                </a:lnTo>
                <a:cubicBezTo>
                  <a:pt x="634877" y="109367"/>
                  <a:pt x="623058" y="118475"/>
                  <a:pt x="610164" y="125843"/>
                </a:cubicBezTo>
                <a:cubicBezTo>
                  <a:pt x="594171" y="134982"/>
                  <a:pt x="574888" y="138764"/>
                  <a:pt x="560737" y="150556"/>
                </a:cubicBezTo>
                <a:cubicBezTo>
                  <a:pt x="549328" y="160064"/>
                  <a:pt x="525522" y="198128"/>
                  <a:pt x="536023" y="187627"/>
                </a:cubicBezTo>
                <a:cubicBezTo>
                  <a:pt x="550586" y="173064"/>
                  <a:pt x="559690" y="153837"/>
                  <a:pt x="573093" y="138200"/>
                </a:cubicBezTo>
                <a:cubicBezTo>
                  <a:pt x="584466" y="124932"/>
                  <a:pt x="627639" y="101129"/>
                  <a:pt x="610164" y="101129"/>
                </a:cubicBezTo>
                <a:cubicBezTo>
                  <a:pt x="582533" y="101129"/>
                  <a:pt x="559013" y="122873"/>
                  <a:pt x="536023" y="138200"/>
                </a:cubicBezTo>
                <a:cubicBezTo>
                  <a:pt x="509256" y="156044"/>
                  <a:pt x="487276" y="180233"/>
                  <a:pt x="461883" y="199983"/>
                </a:cubicBezTo>
                <a:cubicBezTo>
                  <a:pt x="450160" y="209101"/>
                  <a:pt x="437169" y="216459"/>
                  <a:pt x="424812" y="224697"/>
                </a:cubicBezTo>
                <a:cubicBezTo>
                  <a:pt x="428931" y="212340"/>
                  <a:pt x="431344" y="199277"/>
                  <a:pt x="437169" y="187627"/>
                </a:cubicBezTo>
                <a:cubicBezTo>
                  <a:pt x="458852" y="144262"/>
                  <a:pt x="493809" y="126611"/>
                  <a:pt x="412456" y="187627"/>
                </a:cubicBezTo>
                <a:cubicBezTo>
                  <a:pt x="416575" y="171151"/>
                  <a:pt x="434232" y="152330"/>
                  <a:pt x="424812" y="138200"/>
                </a:cubicBezTo>
                <a:cubicBezTo>
                  <a:pt x="417587" y="127363"/>
                  <a:pt x="396952" y="159766"/>
                  <a:pt x="387742" y="150556"/>
                </a:cubicBezTo>
                <a:cubicBezTo>
                  <a:pt x="378532" y="141346"/>
                  <a:pt x="412456" y="117605"/>
                  <a:pt x="400099" y="113486"/>
                </a:cubicBezTo>
                <a:cubicBezTo>
                  <a:pt x="389648" y="110003"/>
                  <a:pt x="323867" y="156070"/>
                  <a:pt x="313602" y="162913"/>
                </a:cubicBezTo>
                <a:cubicBezTo>
                  <a:pt x="317721" y="150556"/>
                  <a:pt x="336796" y="133068"/>
                  <a:pt x="325958" y="125843"/>
                </a:cubicBezTo>
                <a:cubicBezTo>
                  <a:pt x="320787" y="122396"/>
                  <a:pt x="249008" y="147374"/>
                  <a:pt x="239461" y="150556"/>
                </a:cubicBezTo>
                <a:cubicBezTo>
                  <a:pt x="247699" y="138199"/>
                  <a:pt x="264175" y="128337"/>
                  <a:pt x="264175" y="113486"/>
                </a:cubicBezTo>
                <a:cubicBezTo>
                  <a:pt x="264175" y="98635"/>
                  <a:pt x="245311" y="90066"/>
                  <a:pt x="239461" y="76416"/>
                </a:cubicBezTo>
                <a:cubicBezTo>
                  <a:pt x="232771" y="60806"/>
                  <a:pt x="231223" y="43465"/>
                  <a:pt x="227104" y="26989"/>
                </a:cubicBezTo>
                <a:cubicBezTo>
                  <a:pt x="202391" y="31108"/>
                  <a:pt x="177422" y="44780"/>
                  <a:pt x="152964" y="39345"/>
                </a:cubicBezTo>
                <a:cubicBezTo>
                  <a:pt x="63768" y="19523"/>
                  <a:pt x="165806" y="-31001"/>
                  <a:pt x="78823" y="26989"/>
                </a:cubicBezTo>
                <a:cubicBezTo>
                  <a:pt x="75776" y="36130"/>
                  <a:pt x="57721" y="101129"/>
                  <a:pt x="41753" y="101129"/>
                </a:cubicBezTo>
                <a:cubicBezTo>
                  <a:pt x="28728" y="101129"/>
                  <a:pt x="43939" y="72196"/>
                  <a:pt x="54110" y="64059"/>
                </a:cubicBezTo>
                <a:cubicBezTo>
                  <a:pt x="67371" y="53450"/>
                  <a:pt x="87208" y="56368"/>
                  <a:pt x="103537" y="51702"/>
                </a:cubicBezTo>
                <a:cubicBezTo>
                  <a:pt x="116061" y="48124"/>
                  <a:pt x="128250" y="43464"/>
                  <a:pt x="140607" y="39345"/>
                </a:cubicBezTo>
                <a:cubicBezTo>
                  <a:pt x="144726" y="64059"/>
                  <a:pt x="135248" y="95770"/>
                  <a:pt x="152964" y="113486"/>
                </a:cubicBezTo>
                <a:cubicBezTo>
                  <a:pt x="163465" y="123987"/>
                  <a:pt x="184519" y="74984"/>
                  <a:pt x="190034" y="88773"/>
                </a:cubicBezTo>
                <a:cubicBezTo>
                  <a:pt x="200851" y="115815"/>
                  <a:pt x="181796" y="146438"/>
                  <a:pt x="177677" y="175270"/>
                </a:cubicBezTo>
                <a:cubicBezTo>
                  <a:pt x="185915" y="195865"/>
                  <a:pt x="185070" y="223198"/>
                  <a:pt x="202391" y="237054"/>
                </a:cubicBezTo>
                <a:cubicBezTo>
                  <a:pt x="214018" y="246356"/>
                  <a:pt x="273697" y="201873"/>
                  <a:pt x="276531" y="199983"/>
                </a:cubicBezTo>
                <a:cubicBezTo>
                  <a:pt x="280650" y="212340"/>
                  <a:pt x="276251" y="233895"/>
                  <a:pt x="288888" y="237054"/>
                </a:cubicBezTo>
                <a:cubicBezTo>
                  <a:pt x="352766" y="253024"/>
                  <a:pt x="307255" y="156233"/>
                  <a:pt x="338315" y="249410"/>
                </a:cubicBezTo>
                <a:cubicBezTo>
                  <a:pt x="334196" y="265886"/>
                  <a:pt x="316538" y="284706"/>
                  <a:pt x="325958" y="298837"/>
                </a:cubicBezTo>
                <a:cubicBezTo>
                  <a:pt x="333183" y="309675"/>
                  <a:pt x="355804" y="275643"/>
                  <a:pt x="363029" y="286481"/>
                </a:cubicBezTo>
                <a:cubicBezTo>
                  <a:pt x="372449" y="300612"/>
                  <a:pt x="350672" y="318925"/>
                  <a:pt x="350672" y="335908"/>
                </a:cubicBezTo>
                <a:cubicBezTo>
                  <a:pt x="350672" y="348933"/>
                  <a:pt x="353819" y="308047"/>
                  <a:pt x="363029" y="298837"/>
                </a:cubicBezTo>
                <a:cubicBezTo>
                  <a:pt x="372239" y="289627"/>
                  <a:pt x="388449" y="292306"/>
                  <a:pt x="400099" y="286481"/>
                </a:cubicBezTo>
                <a:cubicBezTo>
                  <a:pt x="421581" y="275740"/>
                  <a:pt x="441288" y="261767"/>
                  <a:pt x="461883" y="249410"/>
                </a:cubicBezTo>
                <a:cubicBezTo>
                  <a:pt x="525961" y="270770"/>
                  <a:pt x="476722" y="265645"/>
                  <a:pt x="548380" y="224697"/>
                </a:cubicBezTo>
                <a:cubicBezTo>
                  <a:pt x="559689" y="218235"/>
                  <a:pt x="573254" y="216913"/>
                  <a:pt x="585450" y="212340"/>
                </a:cubicBezTo>
                <a:cubicBezTo>
                  <a:pt x="606219" y="204552"/>
                  <a:pt x="627395" y="197547"/>
                  <a:pt x="647234" y="187627"/>
                </a:cubicBezTo>
                <a:cubicBezTo>
                  <a:pt x="732085" y="145201"/>
                  <a:pt x="626882" y="174398"/>
                  <a:pt x="746088" y="150556"/>
                </a:cubicBezTo>
                <a:cubicBezTo>
                  <a:pt x="758445" y="142318"/>
                  <a:pt x="773881" y="137439"/>
                  <a:pt x="783158" y="125843"/>
                </a:cubicBezTo>
                <a:cubicBezTo>
                  <a:pt x="806418" y="96768"/>
                  <a:pt x="784612" y="56064"/>
                  <a:pt x="807872" y="125843"/>
                </a:cubicBezTo>
                <a:cubicBezTo>
                  <a:pt x="899915" y="64479"/>
                  <a:pt x="786863" y="143350"/>
                  <a:pt x="882012" y="64059"/>
                </a:cubicBezTo>
                <a:cubicBezTo>
                  <a:pt x="893421" y="54551"/>
                  <a:pt x="906726" y="47583"/>
                  <a:pt x="919083" y="39345"/>
                </a:cubicBezTo>
                <a:cubicBezTo>
                  <a:pt x="914964" y="51702"/>
                  <a:pt x="919751" y="76416"/>
                  <a:pt x="906726" y="76416"/>
                </a:cubicBezTo>
                <a:cubicBezTo>
                  <a:pt x="893701" y="76416"/>
                  <a:pt x="907315" y="37907"/>
                  <a:pt x="894369" y="39345"/>
                </a:cubicBezTo>
                <a:cubicBezTo>
                  <a:pt x="857753" y="43413"/>
                  <a:pt x="827952" y="71307"/>
                  <a:pt x="795515" y="88773"/>
                </a:cubicBezTo>
                <a:cubicBezTo>
                  <a:pt x="774369" y="100160"/>
                  <a:pt x="753715" y="112521"/>
                  <a:pt x="733731" y="125843"/>
                </a:cubicBezTo>
                <a:cubicBezTo>
                  <a:pt x="716595" y="137267"/>
                  <a:pt x="701062" y="150943"/>
                  <a:pt x="684304" y="162913"/>
                </a:cubicBezTo>
                <a:cubicBezTo>
                  <a:pt x="672219" y="171545"/>
                  <a:pt x="659591" y="179389"/>
                  <a:pt x="647234" y="187627"/>
                </a:cubicBezTo>
                <a:cubicBezTo>
                  <a:pt x="654654" y="157949"/>
                  <a:pt x="657638" y="122461"/>
                  <a:pt x="684304" y="101129"/>
                </a:cubicBezTo>
                <a:cubicBezTo>
                  <a:pt x="700349" y="88293"/>
                  <a:pt x="794689" y="76600"/>
                  <a:pt x="795515" y="76416"/>
                </a:cubicBezTo>
                <a:cubicBezTo>
                  <a:pt x="841499" y="66197"/>
                  <a:pt x="833658" y="62986"/>
                  <a:pt x="869656" y="26989"/>
                </a:cubicBezTo>
                <a:cubicBezTo>
                  <a:pt x="890250" y="31108"/>
                  <a:pt x="918838" y="22543"/>
                  <a:pt x="931439" y="39345"/>
                </a:cubicBezTo>
                <a:cubicBezTo>
                  <a:pt x="940350" y="51226"/>
                  <a:pt x="906726" y="76416"/>
                  <a:pt x="906726" y="76416"/>
                </a:cubicBezTo>
              </a:path>
            </a:pathLst>
          </a:custGeom>
          <a:noFill/>
          <a:ln w="57150">
            <a:solidFill>
              <a:srgbClr val="00B0F0">
                <a:alpha val="7098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reeform 49">
            <a:extLst>
              <a:ext uri="{FF2B5EF4-FFF2-40B4-BE49-F238E27FC236}">
                <a16:creationId xmlns:a16="http://schemas.microsoft.com/office/drawing/2014/main" id="{2269F6A8-44B8-634B-E060-894A238CDBE7}"/>
              </a:ext>
            </a:extLst>
          </p:cNvPr>
          <p:cNvSpPr/>
          <p:nvPr/>
        </p:nvSpPr>
        <p:spPr>
          <a:xfrm rot="20911669" flipV="1">
            <a:off x="5222914" y="3721943"/>
            <a:ext cx="1271207" cy="143718"/>
          </a:xfrm>
          <a:custGeom>
            <a:avLst/>
            <a:gdLst>
              <a:gd name="connsiteX0" fmla="*/ 66466 w 932941"/>
              <a:gd name="connsiteY0" fmla="*/ 113486 h 338446"/>
              <a:gd name="connsiteX1" fmla="*/ 152964 w 932941"/>
              <a:gd name="connsiteY1" fmla="*/ 125843 h 338446"/>
              <a:gd name="connsiteX2" fmla="*/ 4683 w 932941"/>
              <a:gd name="connsiteY2" fmla="*/ 113486 h 338446"/>
              <a:gd name="connsiteX3" fmla="*/ 78823 w 932941"/>
              <a:gd name="connsiteY3" fmla="*/ 101129 h 338446"/>
              <a:gd name="connsiteX4" fmla="*/ 115893 w 932941"/>
              <a:gd name="connsiteY4" fmla="*/ 76416 h 338446"/>
              <a:gd name="connsiteX5" fmla="*/ 152964 w 932941"/>
              <a:gd name="connsiteY5" fmla="*/ 64059 h 338446"/>
              <a:gd name="connsiteX6" fmla="*/ 115893 w 932941"/>
              <a:gd name="connsiteY6" fmla="*/ 88773 h 338446"/>
              <a:gd name="connsiteX7" fmla="*/ 103537 w 932941"/>
              <a:gd name="connsiteY7" fmla="*/ 138200 h 338446"/>
              <a:gd name="connsiteX8" fmla="*/ 152964 w 932941"/>
              <a:gd name="connsiteY8" fmla="*/ 187627 h 338446"/>
              <a:gd name="connsiteX9" fmla="*/ 190034 w 932941"/>
              <a:gd name="connsiteY9" fmla="*/ 162913 h 338446"/>
              <a:gd name="connsiteX10" fmla="*/ 152964 w 932941"/>
              <a:gd name="connsiteY10" fmla="*/ 199983 h 338446"/>
              <a:gd name="connsiteX11" fmla="*/ 140607 w 932941"/>
              <a:gd name="connsiteY11" fmla="*/ 162913 h 338446"/>
              <a:gd name="connsiteX12" fmla="*/ 128250 w 932941"/>
              <a:gd name="connsiteY12" fmla="*/ 113486 h 338446"/>
              <a:gd name="connsiteX13" fmla="*/ 165320 w 932941"/>
              <a:gd name="connsiteY13" fmla="*/ 76416 h 338446"/>
              <a:gd name="connsiteX14" fmla="*/ 177677 w 932941"/>
              <a:gd name="connsiteY14" fmla="*/ 113486 h 338446"/>
              <a:gd name="connsiteX15" fmla="*/ 202391 w 932941"/>
              <a:gd name="connsiteY15" fmla="*/ 199983 h 338446"/>
              <a:gd name="connsiteX16" fmla="*/ 214748 w 932941"/>
              <a:gd name="connsiteY16" fmla="*/ 162913 h 338446"/>
              <a:gd name="connsiteX17" fmla="*/ 239461 w 932941"/>
              <a:gd name="connsiteY17" fmla="*/ 199983 h 338446"/>
              <a:gd name="connsiteX18" fmla="*/ 264175 w 932941"/>
              <a:gd name="connsiteY18" fmla="*/ 237054 h 338446"/>
              <a:gd name="connsiteX19" fmla="*/ 251818 w 932941"/>
              <a:gd name="connsiteY19" fmla="*/ 150556 h 338446"/>
              <a:gd name="connsiteX20" fmla="*/ 214748 w 932941"/>
              <a:gd name="connsiteY20" fmla="*/ 138200 h 338446"/>
              <a:gd name="connsiteX21" fmla="*/ 202391 w 932941"/>
              <a:gd name="connsiteY21" fmla="*/ 187627 h 338446"/>
              <a:gd name="connsiteX22" fmla="*/ 239461 w 932941"/>
              <a:gd name="connsiteY22" fmla="*/ 212340 h 338446"/>
              <a:gd name="connsiteX23" fmla="*/ 251818 w 932941"/>
              <a:gd name="connsiteY23" fmla="*/ 249410 h 338446"/>
              <a:gd name="connsiteX24" fmla="*/ 301245 w 932941"/>
              <a:gd name="connsiteY24" fmla="*/ 224697 h 338446"/>
              <a:gd name="connsiteX25" fmla="*/ 313602 w 932941"/>
              <a:gd name="connsiteY25" fmla="*/ 261767 h 338446"/>
              <a:gd name="connsiteX26" fmla="*/ 325958 w 932941"/>
              <a:gd name="connsiteY26" fmla="*/ 212340 h 338446"/>
              <a:gd name="connsiteX27" fmla="*/ 301245 w 932941"/>
              <a:gd name="connsiteY27" fmla="*/ 175270 h 338446"/>
              <a:gd name="connsiteX28" fmla="*/ 227104 w 932941"/>
              <a:gd name="connsiteY28" fmla="*/ 150556 h 338446"/>
              <a:gd name="connsiteX29" fmla="*/ 350672 w 932941"/>
              <a:gd name="connsiteY29" fmla="*/ 162913 h 338446"/>
              <a:gd name="connsiteX30" fmla="*/ 363029 w 932941"/>
              <a:gd name="connsiteY30" fmla="*/ 199983 h 338446"/>
              <a:gd name="connsiteX31" fmla="*/ 437169 w 932941"/>
              <a:gd name="connsiteY31" fmla="*/ 237054 h 338446"/>
              <a:gd name="connsiteX32" fmla="*/ 474239 w 932941"/>
              <a:gd name="connsiteY32" fmla="*/ 261767 h 338446"/>
              <a:gd name="connsiteX33" fmla="*/ 498953 w 932941"/>
              <a:gd name="connsiteY33" fmla="*/ 224697 h 338446"/>
              <a:gd name="connsiteX34" fmla="*/ 424812 w 932941"/>
              <a:gd name="connsiteY34" fmla="*/ 187627 h 338446"/>
              <a:gd name="connsiteX35" fmla="*/ 622520 w 932941"/>
              <a:gd name="connsiteY35" fmla="*/ 125843 h 338446"/>
              <a:gd name="connsiteX36" fmla="*/ 511310 w 932941"/>
              <a:gd name="connsiteY36" fmla="*/ 175270 h 338446"/>
              <a:gd name="connsiteX37" fmla="*/ 474239 w 932941"/>
              <a:gd name="connsiteY37" fmla="*/ 199983 h 338446"/>
              <a:gd name="connsiteX38" fmla="*/ 585450 w 932941"/>
              <a:gd name="connsiteY38" fmla="*/ 187627 h 338446"/>
              <a:gd name="connsiteX39" fmla="*/ 721375 w 932941"/>
              <a:gd name="connsiteY39" fmla="*/ 150556 h 338446"/>
              <a:gd name="connsiteX40" fmla="*/ 758445 w 932941"/>
              <a:gd name="connsiteY40" fmla="*/ 162913 h 338446"/>
              <a:gd name="connsiteX41" fmla="*/ 783158 w 932941"/>
              <a:gd name="connsiteY41" fmla="*/ 125843 h 338446"/>
              <a:gd name="connsiteX42" fmla="*/ 844942 w 932941"/>
              <a:gd name="connsiteY42" fmla="*/ 101129 h 338446"/>
              <a:gd name="connsiteX43" fmla="*/ 882012 w 932941"/>
              <a:gd name="connsiteY43" fmla="*/ 64059 h 338446"/>
              <a:gd name="connsiteX44" fmla="*/ 807872 w 932941"/>
              <a:gd name="connsiteY44" fmla="*/ 88773 h 338446"/>
              <a:gd name="connsiteX45" fmla="*/ 709018 w 932941"/>
              <a:gd name="connsiteY45" fmla="*/ 138200 h 338446"/>
              <a:gd name="connsiteX46" fmla="*/ 733731 w 932941"/>
              <a:gd name="connsiteY46" fmla="*/ 101129 h 338446"/>
              <a:gd name="connsiteX47" fmla="*/ 684304 w 932941"/>
              <a:gd name="connsiteY47" fmla="*/ 138200 h 338446"/>
              <a:gd name="connsiteX48" fmla="*/ 733731 w 932941"/>
              <a:gd name="connsiteY48" fmla="*/ 76416 h 338446"/>
              <a:gd name="connsiteX49" fmla="*/ 770802 w 932941"/>
              <a:gd name="connsiteY49" fmla="*/ 39345 h 338446"/>
              <a:gd name="connsiteX50" fmla="*/ 721375 w 932941"/>
              <a:gd name="connsiteY50" fmla="*/ 76416 h 338446"/>
              <a:gd name="connsiteX51" fmla="*/ 647234 w 932941"/>
              <a:gd name="connsiteY51" fmla="*/ 101129 h 338446"/>
              <a:gd name="connsiteX52" fmla="*/ 610164 w 932941"/>
              <a:gd name="connsiteY52" fmla="*/ 125843 h 338446"/>
              <a:gd name="connsiteX53" fmla="*/ 560737 w 932941"/>
              <a:gd name="connsiteY53" fmla="*/ 150556 h 338446"/>
              <a:gd name="connsiteX54" fmla="*/ 536023 w 932941"/>
              <a:gd name="connsiteY54" fmla="*/ 187627 h 338446"/>
              <a:gd name="connsiteX55" fmla="*/ 573093 w 932941"/>
              <a:gd name="connsiteY55" fmla="*/ 138200 h 338446"/>
              <a:gd name="connsiteX56" fmla="*/ 610164 w 932941"/>
              <a:gd name="connsiteY56" fmla="*/ 101129 h 338446"/>
              <a:gd name="connsiteX57" fmla="*/ 536023 w 932941"/>
              <a:gd name="connsiteY57" fmla="*/ 138200 h 338446"/>
              <a:gd name="connsiteX58" fmla="*/ 461883 w 932941"/>
              <a:gd name="connsiteY58" fmla="*/ 199983 h 338446"/>
              <a:gd name="connsiteX59" fmla="*/ 424812 w 932941"/>
              <a:gd name="connsiteY59" fmla="*/ 224697 h 338446"/>
              <a:gd name="connsiteX60" fmla="*/ 437169 w 932941"/>
              <a:gd name="connsiteY60" fmla="*/ 187627 h 338446"/>
              <a:gd name="connsiteX61" fmla="*/ 412456 w 932941"/>
              <a:gd name="connsiteY61" fmla="*/ 187627 h 338446"/>
              <a:gd name="connsiteX62" fmla="*/ 424812 w 932941"/>
              <a:gd name="connsiteY62" fmla="*/ 138200 h 338446"/>
              <a:gd name="connsiteX63" fmla="*/ 387742 w 932941"/>
              <a:gd name="connsiteY63" fmla="*/ 150556 h 338446"/>
              <a:gd name="connsiteX64" fmla="*/ 400099 w 932941"/>
              <a:gd name="connsiteY64" fmla="*/ 113486 h 338446"/>
              <a:gd name="connsiteX65" fmla="*/ 313602 w 932941"/>
              <a:gd name="connsiteY65" fmla="*/ 162913 h 338446"/>
              <a:gd name="connsiteX66" fmla="*/ 325958 w 932941"/>
              <a:gd name="connsiteY66" fmla="*/ 125843 h 338446"/>
              <a:gd name="connsiteX67" fmla="*/ 239461 w 932941"/>
              <a:gd name="connsiteY67" fmla="*/ 150556 h 338446"/>
              <a:gd name="connsiteX68" fmla="*/ 264175 w 932941"/>
              <a:gd name="connsiteY68" fmla="*/ 113486 h 338446"/>
              <a:gd name="connsiteX69" fmla="*/ 239461 w 932941"/>
              <a:gd name="connsiteY69" fmla="*/ 76416 h 338446"/>
              <a:gd name="connsiteX70" fmla="*/ 227104 w 932941"/>
              <a:gd name="connsiteY70" fmla="*/ 26989 h 338446"/>
              <a:gd name="connsiteX71" fmla="*/ 152964 w 932941"/>
              <a:gd name="connsiteY71" fmla="*/ 39345 h 338446"/>
              <a:gd name="connsiteX72" fmla="*/ 78823 w 932941"/>
              <a:gd name="connsiteY72" fmla="*/ 26989 h 338446"/>
              <a:gd name="connsiteX73" fmla="*/ 41753 w 932941"/>
              <a:gd name="connsiteY73" fmla="*/ 101129 h 338446"/>
              <a:gd name="connsiteX74" fmla="*/ 54110 w 932941"/>
              <a:gd name="connsiteY74" fmla="*/ 64059 h 338446"/>
              <a:gd name="connsiteX75" fmla="*/ 103537 w 932941"/>
              <a:gd name="connsiteY75" fmla="*/ 51702 h 338446"/>
              <a:gd name="connsiteX76" fmla="*/ 140607 w 932941"/>
              <a:gd name="connsiteY76" fmla="*/ 39345 h 338446"/>
              <a:gd name="connsiteX77" fmla="*/ 152964 w 932941"/>
              <a:gd name="connsiteY77" fmla="*/ 113486 h 338446"/>
              <a:gd name="connsiteX78" fmla="*/ 190034 w 932941"/>
              <a:gd name="connsiteY78" fmla="*/ 88773 h 338446"/>
              <a:gd name="connsiteX79" fmla="*/ 177677 w 932941"/>
              <a:gd name="connsiteY79" fmla="*/ 175270 h 338446"/>
              <a:gd name="connsiteX80" fmla="*/ 202391 w 932941"/>
              <a:gd name="connsiteY80" fmla="*/ 237054 h 338446"/>
              <a:gd name="connsiteX81" fmla="*/ 276531 w 932941"/>
              <a:gd name="connsiteY81" fmla="*/ 199983 h 338446"/>
              <a:gd name="connsiteX82" fmla="*/ 288888 w 932941"/>
              <a:gd name="connsiteY82" fmla="*/ 237054 h 338446"/>
              <a:gd name="connsiteX83" fmla="*/ 338315 w 932941"/>
              <a:gd name="connsiteY83" fmla="*/ 249410 h 338446"/>
              <a:gd name="connsiteX84" fmla="*/ 325958 w 932941"/>
              <a:gd name="connsiteY84" fmla="*/ 298837 h 338446"/>
              <a:gd name="connsiteX85" fmla="*/ 363029 w 932941"/>
              <a:gd name="connsiteY85" fmla="*/ 286481 h 338446"/>
              <a:gd name="connsiteX86" fmla="*/ 350672 w 932941"/>
              <a:gd name="connsiteY86" fmla="*/ 335908 h 338446"/>
              <a:gd name="connsiteX87" fmla="*/ 363029 w 932941"/>
              <a:gd name="connsiteY87" fmla="*/ 298837 h 338446"/>
              <a:gd name="connsiteX88" fmla="*/ 400099 w 932941"/>
              <a:gd name="connsiteY88" fmla="*/ 286481 h 338446"/>
              <a:gd name="connsiteX89" fmla="*/ 461883 w 932941"/>
              <a:gd name="connsiteY89" fmla="*/ 249410 h 338446"/>
              <a:gd name="connsiteX90" fmla="*/ 548380 w 932941"/>
              <a:gd name="connsiteY90" fmla="*/ 224697 h 338446"/>
              <a:gd name="connsiteX91" fmla="*/ 585450 w 932941"/>
              <a:gd name="connsiteY91" fmla="*/ 212340 h 338446"/>
              <a:gd name="connsiteX92" fmla="*/ 647234 w 932941"/>
              <a:gd name="connsiteY92" fmla="*/ 187627 h 338446"/>
              <a:gd name="connsiteX93" fmla="*/ 746088 w 932941"/>
              <a:gd name="connsiteY93" fmla="*/ 150556 h 338446"/>
              <a:gd name="connsiteX94" fmla="*/ 783158 w 932941"/>
              <a:gd name="connsiteY94" fmla="*/ 125843 h 338446"/>
              <a:gd name="connsiteX95" fmla="*/ 807872 w 932941"/>
              <a:gd name="connsiteY95" fmla="*/ 125843 h 338446"/>
              <a:gd name="connsiteX96" fmla="*/ 882012 w 932941"/>
              <a:gd name="connsiteY96" fmla="*/ 64059 h 338446"/>
              <a:gd name="connsiteX97" fmla="*/ 919083 w 932941"/>
              <a:gd name="connsiteY97" fmla="*/ 39345 h 338446"/>
              <a:gd name="connsiteX98" fmla="*/ 906726 w 932941"/>
              <a:gd name="connsiteY98" fmla="*/ 76416 h 338446"/>
              <a:gd name="connsiteX99" fmla="*/ 894369 w 932941"/>
              <a:gd name="connsiteY99" fmla="*/ 39345 h 338446"/>
              <a:gd name="connsiteX100" fmla="*/ 795515 w 932941"/>
              <a:gd name="connsiteY100" fmla="*/ 88773 h 338446"/>
              <a:gd name="connsiteX101" fmla="*/ 733731 w 932941"/>
              <a:gd name="connsiteY101" fmla="*/ 125843 h 338446"/>
              <a:gd name="connsiteX102" fmla="*/ 684304 w 932941"/>
              <a:gd name="connsiteY102" fmla="*/ 162913 h 338446"/>
              <a:gd name="connsiteX103" fmla="*/ 647234 w 932941"/>
              <a:gd name="connsiteY103" fmla="*/ 187627 h 338446"/>
              <a:gd name="connsiteX104" fmla="*/ 684304 w 932941"/>
              <a:gd name="connsiteY104" fmla="*/ 101129 h 338446"/>
              <a:gd name="connsiteX105" fmla="*/ 795515 w 932941"/>
              <a:gd name="connsiteY105" fmla="*/ 76416 h 338446"/>
              <a:gd name="connsiteX106" fmla="*/ 869656 w 932941"/>
              <a:gd name="connsiteY106" fmla="*/ 26989 h 338446"/>
              <a:gd name="connsiteX107" fmla="*/ 931439 w 932941"/>
              <a:gd name="connsiteY107" fmla="*/ 39345 h 338446"/>
              <a:gd name="connsiteX108" fmla="*/ 906726 w 932941"/>
              <a:gd name="connsiteY108" fmla="*/ 76416 h 33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</a:cxnLst>
            <a:rect l="l" t="t" r="r" b="b"/>
            <a:pathLst>
              <a:path w="932941" h="338446">
                <a:moveTo>
                  <a:pt x="66466" y="113486"/>
                </a:moveTo>
                <a:cubicBezTo>
                  <a:pt x="95299" y="117605"/>
                  <a:pt x="182089" y="125843"/>
                  <a:pt x="152964" y="125843"/>
                </a:cubicBezTo>
                <a:cubicBezTo>
                  <a:pt x="103366" y="125843"/>
                  <a:pt x="51736" y="129171"/>
                  <a:pt x="4683" y="113486"/>
                </a:cubicBezTo>
                <a:cubicBezTo>
                  <a:pt x="-19086" y="105563"/>
                  <a:pt x="54110" y="105248"/>
                  <a:pt x="78823" y="101129"/>
                </a:cubicBezTo>
                <a:cubicBezTo>
                  <a:pt x="91180" y="92891"/>
                  <a:pt x="102610" y="83057"/>
                  <a:pt x="115893" y="76416"/>
                </a:cubicBezTo>
                <a:cubicBezTo>
                  <a:pt x="127543" y="70591"/>
                  <a:pt x="152964" y="51034"/>
                  <a:pt x="152964" y="64059"/>
                </a:cubicBezTo>
                <a:cubicBezTo>
                  <a:pt x="152964" y="78910"/>
                  <a:pt x="128250" y="80535"/>
                  <a:pt x="115893" y="88773"/>
                </a:cubicBezTo>
                <a:cubicBezTo>
                  <a:pt x="111774" y="105249"/>
                  <a:pt x="110227" y="122590"/>
                  <a:pt x="103537" y="138200"/>
                </a:cubicBezTo>
                <a:cubicBezTo>
                  <a:pt x="77796" y="198262"/>
                  <a:pt x="42459" y="169209"/>
                  <a:pt x="152964" y="187627"/>
                </a:cubicBezTo>
                <a:cubicBezTo>
                  <a:pt x="165321" y="179389"/>
                  <a:pt x="190034" y="148062"/>
                  <a:pt x="190034" y="162913"/>
                </a:cubicBezTo>
                <a:cubicBezTo>
                  <a:pt x="190034" y="180388"/>
                  <a:pt x="170439" y="199983"/>
                  <a:pt x="152964" y="199983"/>
                </a:cubicBezTo>
                <a:cubicBezTo>
                  <a:pt x="139939" y="199983"/>
                  <a:pt x="144185" y="175437"/>
                  <a:pt x="140607" y="162913"/>
                </a:cubicBezTo>
                <a:cubicBezTo>
                  <a:pt x="135941" y="146584"/>
                  <a:pt x="132369" y="129962"/>
                  <a:pt x="128250" y="113486"/>
                </a:cubicBezTo>
                <a:cubicBezTo>
                  <a:pt x="140607" y="101129"/>
                  <a:pt x="147845" y="76416"/>
                  <a:pt x="165320" y="76416"/>
                </a:cubicBezTo>
                <a:cubicBezTo>
                  <a:pt x="178345" y="76416"/>
                  <a:pt x="174099" y="100962"/>
                  <a:pt x="177677" y="113486"/>
                </a:cubicBezTo>
                <a:cubicBezTo>
                  <a:pt x="208709" y="222096"/>
                  <a:pt x="172763" y="111102"/>
                  <a:pt x="202391" y="199983"/>
                </a:cubicBezTo>
                <a:cubicBezTo>
                  <a:pt x="206510" y="187626"/>
                  <a:pt x="207523" y="152075"/>
                  <a:pt x="214748" y="162913"/>
                </a:cubicBezTo>
                <a:cubicBezTo>
                  <a:pt x="243743" y="206408"/>
                  <a:pt x="211644" y="283435"/>
                  <a:pt x="239461" y="199983"/>
                </a:cubicBezTo>
                <a:cubicBezTo>
                  <a:pt x="247699" y="212340"/>
                  <a:pt x="260573" y="251462"/>
                  <a:pt x="264175" y="237054"/>
                </a:cubicBezTo>
                <a:cubicBezTo>
                  <a:pt x="271239" y="208798"/>
                  <a:pt x="264843" y="176607"/>
                  <a:pt x="251818" y="150556"/>
                </a:cubicBezTo>
                <a:cubicBezTo>
                  <a:pt x="245993" y="138906"/>
                  <a:pt x="227105" y="142319"/>
                  <a:pt x="214748" y="138200"/>
                </a:cubicBezTo>
                <a:cubicBezTo>
                  <a:pt x="210629" y="154676"/>
                  <a:pt x="197021" y="171516"/>
                  <a:pt x="202391" y="187627"/>
                </a:cubicBezTo>
                <a:cubicBezTo>
                  <a:pt x="207087" y="201716"/>
                  <a:pt x="230184" y="200744"/>
                  <a:pt x="239461" y="212340"/>
                </a:cubicBezTo>
                <a:cubicBezTo>
                  <a:pt x="247598" y="222511"/>
                  <a:pt x="247699" y="237053"/>
                  <a:pt x="251818" y="249410"/>
                </a:cubicBezTo>
                <a:cubicBezTo>
                  <a:pt x="268294" y="241172"/>
                  <a:pt x="283182" y="221084"/>
                  <a:pt x="301245" y="224697"/>
                </a:cubicBezTo>
                <a:cubicBezTo>
                  <a:pt x="314017" y="227251"/>
                  <a:pt x="301952" y="267592"/>
                  <a:pt x="313602" y="261767"/>
                </a:cubicBezTo>
                <a:cubicBezTo>
                  <a:pt x="328792" y="254172"/>
                  <a:pt x="321839" y="228816"/>
                  <a:pt x="325958" y="212340"/>
                </a:cubicBezTo>
                <a:cubicBezTo>
                  <a:pt x="317720" y="199983"/>
                  <a:pt x="313838" y="183141"/>
                  <a:pt x="301245" y="175270"/>
                </a:cubicBezTo>
                <a:cubicBezTo>
                  <a:pt x="279154" y="161463"/>
                  <a:pt x="201183" y="147964"/>
                  <a:pt x="227104" y="150556"/>
                </a:cubicBezTo>
                <a:lnTo>
                  <a:pt x="350672" y="162913"/>
                </a:lnTo>
                <a:cubicBezTo>
                  <a:pt x="354791" y="175270"/>
                  <a:pt x="354892" y="189812"/>
                  <a:pt x="363029" y="199983"/>
                </a:cubicBezTo>
                <a:cubicBezTo>
                  <a:pt x="386638" y="229494"/>
                  <a:pt x="407321" y="222130"/>
                  <a:pt x="437169" y="237054"/>
                </a:cubicBezTo>
                <a:cubicBezTo>
                  <a:pt x="450452" y="243695"/>
                  <a:pt x="461882" y="253529"/>
                  <a:pt x="474239" y="261767"/>
                </a:cubicBezTo>
                <a:cubicBezTo>
                  <a:pt x="482477" y="249410"/>
                  <a:pt x="501865" y="239260"/>
                  <a:pt x="498953" y="224697"/>
                </a:cubicBezTo>
                <a:cubicBezTo>
                  <a:pt x="495531" y="207585"/>
                  <a:pt x="436955" y="191674"/>
                  <a:pt x="424812" y="187627"/>
                </a:cubicBezTo>
                <a:cubicBezTo>
                  <a:pt x="571642" y="128895"/>
                  <a:pt x="504621" y="145493"/>
                  <a:pt x="622520" y="125843"/>
                </a:cubicBezTo>
                <a:cubicBezTo>
                  <a:pt x="578379" y="143499"/>
                  <a:pt x="551721" y="152178"/>
                  <a:pt x="511310" y="175270"/>
                </a:cubicBezTo>
                <a:cubicBezTo>
                  <a:pt x="498416" y="182638"/>
                  <a:pt x="459590" y="197541"/>
                  <a:pt x="474239" y="199983"/>
                </a:cubicBezTo>
                <a:cubicBezTo>
                  <a:pt x="511030" y="206115"/>
                  <a:pt x="548380" y="191746"/>
                  <a:pt x="585450" y="187627"/>
                </a:cubicBezTo>
                <a:cubicBezTo>
                  <a:pt x="626686" y="173881"/>
                  <a:pt x="683048" y="154040"/>
                  <a:pt x="721375" y="150556"/>
                </a:cubicBezTo>
                <a:cubicBezTo>
                  <a:pt x="734347" y="149377"/>
                  <a:pt x="746088" y="158794"/>
                  <a:pt x="758445" y="162913"/>
                </a:cubicBezTo>
                <a:cubicBezTo>
                  <a:pt x="766683" y="150556"/>
                  <a:pt x="771073" y="134475"/>
                  <a:pt x="783158" y="125843"/>
                </a:cubicBezTo>
                <a:cubicBezTo>
                  <a:pt x="801208" y="112950"/>
                  <a:pt x="826132" y="112885"/>
                  <a:pt x="844942" y="101129"/>
                </a:cubicBezTo>
                <a:cubicBezTo>
                  <a:pt x="859761" y="91867"/>
                  <a:pt x="898590" y="69585"/>
                  <a:pt x="882012" y="64059"/>
                </a:cubicBezTo>
                <a:lnTo>
                  <a:pt x="807872" y="88773"/>
                </a:lnTo>
                <a:cubicBezTo>
                  <a:pt x="804979" y="90943"/>
                  <a:pt x="728848" y="158030"/>
                  <a:pt x="709018" y="138200"/>
                </a:cubicBezTo>
                <a:cubicBezTo>
                  <a:pt x="698517" y="127699"/>
                  <a:pt x="748582" y="101129"/>
                  <a:pt x="733731" y="101129"/>
                </a:cubicBezTo>
                <a:cubicBezTo>
                  <a:pt x="713136" y="101129"/>
                  <a:pt x="684304" y="158795"/>
                  <a:pt x="684304" y="138200"/>
                </a:cubicBezTo>
                <a:cubicBezTo>
                  <a:pt x="684304" y="111826"/>
                  <a:pt x="716364" y="96264"/>
                  <a:pt x="733731" y="76416"/>
                </a:cubicBezTo>
                <a:cubicBezTo>
                  <a:pt x="745239" y="63264"/>
                  <a:pt x="788277" y="39345"/>
                  <a:pt x="770802" y="39345"/>
                </a:cubicBezTo>
                <a:cubicBezTo>
                  <a:pt x="750207" y="39345"/>
                  <a:pt x="740913" y="69904"/>
                  <a:pt x="721375" y="76416"/>
                </a:cubicBezTo>
                <a:lnTo>
                  <a:pt x="647234" y="101129"/>
                </a:lnTo>
                <a:cubicBezTo>
                  <a:pt x="634877" y="109367"/>
                  <a:pt x="623058" y="118475"/>
                  <a:pt x="610164" y="125843"/>
                </a:cubicBezTo>
                <a:cubicBezTo>
                  <a:pt x="594171" y="134982"/>
                  <a:pt x="574888" y="138764"/>
                  <a:pt x="560737" y="150556"/>
                </a:cubicBezTo>
                <a:cubicBezTo>
                  <a:pt x="549328" y="160064"/>
                  <a:pt x="525522" y="198128"/>
                  <a:pt x="536023" y="187627"/>
                </a:cubicBezTo>
                <a:cubicBezTo>
                  <a:pt x="550586" y="173064"/>
                  <a:pt x="559690" y="153837"/>
                  <a:pt x="573093" y="138200"/>
                </a:cubicBezTo>
                <a:cubicBezTo>
                  <a:pt x="584466" y="124932"/>
                  <a:pt x="627639" y="101129"/>
                  <a:pt x="610164" y="101129"/>
                </a:cubicBezTo>
                <a:cubicBezTo>
                  <a:pt x="582533" y="101129"/>
                  <a:pt x="559013" y="122873"/>
                  <a:pt x="536023" y="138200"/>
                </a:cubicBezTo>
                <a:cubicBezTo>
                  <a:pt x="509256" y="156044"/>
                  <a:pt x="487276" y="180233"/>
                  <a:pt x="461883" y="199983"/>
                </a:cubicBezTo>
                <a:cubicBezTo>
                  <a:pt x="450160" y="209101"/>
                  <a:pt x="437169" y="216459"/>
                  <a:pt x="424812" y="224697"/>
                </a:cubicBezTo>
                <a:cubicBezTo>
                  <a:pt x="428931" y="212340"/>
                  <a:pt x="431344" y="199277"/>
                  <a:pt x="437169" y="187627"/>
                </a:cubicBezTo>
                <a:cubicBezTo>
                  <a:pt x="458852" y="144262"/>
                  <a:pt x="493809" y="126611"/>
                  <a:pt x="412456" y="187627"/>
                </a:cubicBezTo>
                <a:cubicBezTo>
                  <a:pt x="416575" y="171151"/>
                  <a:pt x="434232" y="152330"/>
                  <a:pt x="424812" y="138200"/>
                </a:cubicBezTo>
                <a:cubicBezTo>
                  <a:pt x="417587" y="127363"/>
                  <a:pt x="396952" y="159766"/>
                  <a:pt x="387742" y="150556"/>
                </a:cubicBezTo>
                <a:cubicBezTo>
                  <a:pt x="378532" y="141346"/>
                  <a:pt x="412456" y="117605"/>
                  <a:pt x="400099" y="113486"/>
                </a:cubicBezTo>
                <a:cubicBezTo>
                  <a:pt x="389648" y="110003"/>
                  <a:pt x="323867" y="156070"/>
                  <a:pt x="313602" y="162913"/>
                </a:cubicBezTo>
                <a:cubicBezTo>
                  <a:pt x="317721" y="150556"/>
                  <a:pt x="336796" y="133068"/>
                  <a:pt x="325958" y="125843"/>
                </a:cubicBezTo>
                <a:cubicBezTo>
                  <a:pt x="320787" y="122396"/>
                  <a:pt x="249008" y="147374"/>
                  <a:pt x="239461" y="150556"/>
                </a:cubicBezTo>
                <a:cubicBezTo>
                  <a:pt x="247699" y="138199"/>
                  <a:pt x="264175" y="128337"/>
                  <a:pt x="264175" y="113486"/>
                </a:cubicBezTo>
                <a:cubicBezTo>
                  <a:pt x="264175" y="98635"/>
                  <a:pt x="245311" y="90066"/>
                  <a:pt x="239461" y="76416"/>
                </a:cubicBezTo>
                <a:cubicBezTo>
                  <a:pt x="232771" y="60806"/>
                  <a:pt x="231223" y="43465"/>
                  <a:pt x="227104" y="26989"/>
                </a:cubicBezTo>
                <a:cubicBezTo>
                  <a:pt x="202391" y="31108"/>
                  <a:pt x="177422" y="44780"/>
                  <a:pt x="152964" y="39345"/>
                </a:cubicBezTo>
                <a:cubicBezTo>
                  <a:pt x="63768" y="19523"/>
                  <a:pt x="165806" y="-31001"/>
                  <a:pt x="78823" y="26989"/>
                </a:cubicBezTo>
                <a:cubicBezTo>
                  <a:pt x="75776" y="36130"/>
                  <a:pt x="57721" y="101129"/>
                  <a:pt x="41753" y="101129"/>
                </a:cubicBezTo>
                <a:cubicBezTo>
                  <a:pt x="28728" y="101129"/>
                  <a:pt x="43939" y="72196"/>
                  <a:pt x="54110" y="64059"/>
                </a:cubicBezTo>
                <a:cubicBezTo>
                  <a:pt x="67371" y="53450"/>
                  <a:pt x="87208" y="56368"/>
                  <a:pt x="103537" y="51702"/>
                </a:cubicBezTo>
                <a:cubicBezTo>
                  <a:pt x="116061" y="48124"/>
                  <a:pt x="128250" y="43464"/>
                  <a:pt x="140607" y="39345"/>
                </a:cubicBezTo>
                <a:cubicBezTo>
                  <a:pt x="144726" y="64059"/>
                  <a:pt x="135248" y="95770"/>
                  <a:pt x="152964" y="113486"/>
                </a:cubicBezTo>
                <a:cubicBezTo>
                  <a:pt x="163465" y="123987"/>
                  <a:pt x="184519" y="74984"/>
                  <a:pt x="190034" y="88773"/>
                </a:cubicBezTo>
                <a:cubicBezTo>
                  <a:pt x="200851" y="115815"/>
                  <a:pt x="181796" y="146438"/>
                  <a:pt x="177677" y="175270"/>
                </a:cubicBezTo>
                <a:cubicBezTo>
                  <a:pt x="185915" y="195865"/>
                  <a:pt x="185070" y="223198"/>
                  <a:pt x="202391" y="237054"/>
                </a:cubicBezTo>
                <a:cubicBezTo>
                  <a:pt x="214018" y="246356"/>
                  <a:pt x="273697" y="201873"/>
                  <a:pt x="276531" y="199983"/>
                </a:cubicBezTo>
                <a:cubicBezTo>
                  <a:pt x="280650" y="212340"/>
                  <a:pt x="276251" y="233895"/>
                  <a:pt x="288888" y="237054"/>
                </a:cubicBezTo>
                <a:cubicBezTo>
                  <a:pt x="352766" y="253024"/>
                  <a:pt x="307255" y="156233"/>
                  <a:pt x="338315" y="249410"/>
                </a:cubicBezTo>
                <a:cubicBezTo>
                  <a:pt x="334196" y="265886"/>
                  <a:pt x="316538" y="284706"/>
                  <a:pt x="325958" y="298837"/>
                </a:cubicBezTo>
                <a:cubicBezTo>
                  <a:pt x="333183" y="309675"/>
                  <a:pt x="355804" y="275643"/>
                  <a:pt x="363029" y="286481"/>
                </a:cubicBezTo>
                <a:cubicBezTo>
                  <a:pt x="372449" y="300612"/>
                  <a:pt x="350672" y="318925"/>
                  <a:pt x="350672" y="335908"/>
                </a:cubicBezTo>
                <a:cubicBezTo>
                  <a:pt x="350672" y="348933"/>
                  <a:pt x="353819" y="308047"/>
                  <a:pt x="363029" y="298837"/>
                </a:cubicBezTo>
                <a:cubicBezTo>
                  <a:pt x="372239" y="289627"/>
                  <a:pt x="388449" y="292306"/>
                  <a:pt x="400099" y="286481"/>
                </a:cubicBezTo>
                <a:cubicBezTo>
                  <a:pt x="421581" y="275740"/>
                  <a:pt x="441288" y="261767"/>
                  <a:pt x="461883" y="249410"/>
                </a:cubicBezTo>
                <a:cubicBezTo>
                  <a:pt x="525961" y="270770"/>
                  <a:pt x="476722" y="265645"/>
                  <a:pt x="548380" y="224697"/>
                </a:cubicBezTo>
                <a:cubicBezTo>
                  <a:pt x="559689" y="218235"/>
                  <a:pt x="573254" y="216913"/>
                  <a:pt x="585450" y="212340"/>
                </a:cubicBezTo>
                <a:cubicBezTo>
                  <a:pt x="606219" y="204552"/>
                  <a:pt x="627395" y="197547"/>
                  <a:pt x="647234" y="187627"/>
                </a:cubicBezTo>
                <a:cubicBezTo>
                  <a:pt x="732085" y="145201"/>
                  <a:pt x="626882" y="174398"/>
                  <a:pt x="746088" y="150556"/>
                </a:cubicBezTo>
                <a:cubicBezTo>
                  <a:pt x="758445" y="142318"/>
                  <a:pt x="773881" y="137439"/>
                  <a:pt x="783158" y="125843"/>
                </a:cubicBezTo>
                <a:cubicBezTo>
                  <a:pt x="806418" y="96768"/>
                  <a:pt x="784612" y="56064"/>
                  <a:pt x="807872" y="125843"/>
                </a:cubicBezTo>
                <a:cubicBezTo>
                  <a:pt x="899915" y="64479"/>
                  <a:pt x="786863" y="143350"/>
                  <a:pt x="882012" y="64059"/>
                </a:cubicBezTo>
                <a:cubicBezTo>
                  <a:pt x="893421" y="54551"/>
                  <a:pt x="906726" y="47583"/>
                  <a:pt x="919083" y="39345"/>
                </a:cubicBezTo>
                <a:cubicBezTo>
                  <a:pt x="914964" y="51702"/>
                  <a:pt x="919751" y="76416"/>
                  <a:pt x="906726" y="76416"/>
                </a:cubicBezTo>
                <a:cubicBezTo>
                  <a:pt x="893701" y="76416"/>
                  <a:pt x="907315" y="37907"/>
                  <a:pt x="894369" y="39345"/>
                </a:cubicBezTo>
                <a:cubicBezTo>
                  <a:pt x="857753" y="43413"/>
                  <a:pt x="827952" y="71307"/>
                  <a:pt x="795515" y="88773"/>
                </a:cubicBezTo>
                <a:cubicBezTo>
                  <a:pt x="774369" y="100160"/>
                  <a:pt x="753715" y="112521"/>
                  <a:pt x="733731" y="125843"/>
                </a:cubicBezTo>
                <a:cubicBezTo>
                  <a:pt x="716595" y="137267"/>
                  <a:pt x="701062" y="150943"/>
                  <a:pt x="684304" y="162913"/>
                </a:cubicBezTo>
                <a:cubicBezTo>
                  <a:pt x="672219" y="171545"/>
                  <a:pt x="659591" y="179389"/>
                  <a:pt x="647234" y="187627"/>
                </a:cubicBezTo>
                <a:cubicBezTo>
                  <a:pt x="654654" y="157949"/>
                  <a:pt x="657638" y="122461"/>
                  <a:pt x="684304" y="101129"/>
                </a:cubicBezTo>
                <a:cubicBezTo>
                  <a:pt x="700349" y="88293"/>
                  <a:pt x="794689" y="76600"/>
                  <a:pt x="795515" y="76416"/>
                </a:cubicBezTo>
                <a:cubicBezTo>
                  <a:pt x="841499" y="66197"/>
                  <a:pt x="833658" y="62986"/>
                  <a:pt x="869656" y="26989"/>
                </a:cubicBezTo>
                <a:cubicBezTo>
                  <a:pt x="890250" y="31108"/>
                  <a:pt x="918838" y="22543"/>
                  <a:pt x="931439" y="39345"/>
                </a:cubicBezTo>
                <a:cubicBezTo>
                  <a:pt x="940350" y="51226"/>
                  <a:pt x="906726" y="76416"/>
                  <a:pt x="906726" y="76416"/>
                </a:cubicBezTo>
              </a:path>
            </a:pathLst>
          </a:custGeom>
          <a:solidFill>
            <a:srgbClr val="000000">
              <a:alpha val="52157"/>
            </a:srgbClr>
          </a:solidFill>
          <a:ln w="57150">
            <a:solidFill>
              <a:srgbClr val="00B0F0">
                <a:alpha val="4392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reeform 50">
            <a:extLst>
              <a:ext uri="{FF2B5EF4-FFF2-40B4-BE49-F238E27FC236}">
                <a16:creationId xmlns:a16="http://schemas.microsoft.com/office/drawing/2014/main" id="{9FDC90A8-46F2-8046-C326-B8F0BBEB7E6F}"/>
              </a:ext>
            </a:extLst>
          </p:cNvPr>
          <p:cNvSpPr/>
          <p:nvPr/>
        </p:nvSpPr>
        <p:spPr>
          <a:xfrm rot="4368630" flipV="1">
            <a:off x="6672373" y="3745626"/>
            <a:ext cx="508452" cy="345345"/>
          </a:xfrm>
          <a:custGeom>
            <a:avLst/>
            <a:gdLst>
              <a:gd name="connsiteX0" fmla="*/ 66466 w 932941"/>
              <a:gd name="connsiteY0" fmla="*/ 113486 h 338446"/>
              <a:gd name="connsiteX1" fmla="*/ 152964 w 932941"/>
              <a:gd name="connsiteY1" fmla="*/ 125843 h 338446"/>
              <a:gd name="connsiteX2" fmla="*/ 4683 w 932941"/>
              <a:gd name="connsiteY2" fmla="*/ 113486 h 338446"/>
              <a:gd name="connsiteX3" fmla="*/ 78823 w 932941"/>
              <a:gd name="connsiteY3" fmla="*/ 101129 h 338446"/>
              <a:gd name="connsiteX4" fmla="*/ 115893 w 932941"/>
              <a:gd name="connsiteY4" fmla="*/ 76416 h 338446"/>
              <a:gd name="connsiteX5" fmla="*/ 152964 w 932941"/>
              <a:gd name="connsiteY5" fmla="*/ 64059 h 338446"/>
              <a:gd name="connsiteX6" fmla="*/ 115893 w 932941"/>
              <a:gd name="connsiteY6" fmla="*/ 88773 h 338446"/>
              <a:gd name="connsiteX7" fmla="*/ 103537 w 932941"/>
              <a:gd name="connsiteY7" fmla="*/ 138200 h 338446"/>
              <a:gd name="connsiteX8" fmla="*/ 152964 w 932941"/>
              <a:gd name="connsiteY8" fmla="*/ 187627 h 338446"/>
              <a:gd name="connsiteX9" fmla="*/ 190034 w 932941"/>
              <a:gd name="connsiteY9" fmla="*/ 162913 h 338446"/>
              <a:gd name="connsiteX10" fmla="*/ 152964 w 932941"/>
              <a:gd name="connsiteY10" fmla="*/ 199983 h 338446"/>
              <a:gd name="connsiteX11" fmla="*/ 140607 w 932941"/>
              <a:gd name="connsiteY11" fmla="*/ 162913 h 338446"/>
              <a:gd name="connsiteX12" fmla="*/ 128250 w 932941"/>
              <a:gd name="connsiteY12" fmla="*/ 113486 h 338446"/>
              <a:gd name="connsiteX13" fmla="*/ 165320 w 932941"/>
              <a:gd name="connsiteY13" fmla="*/ 76416 h 338446"/>
              <a:gd name="connsiteX14" fmla="*/ 177677 w 932941"/>
              <a:gd name="connsiteY14" fmla="*/ 113486 h 338446"/>
              <a:gd name="connsiteX15" fmla="*/ 202391 w 932941"/>
              <a:gd name="connsiteY15" fmla="*/ 199983 h 338446"/>
              <a:gd name="connsiteX16" fmla="*/ 214748 w 932941"/>
              <a:gd name="connsiteY16" fmla="*/ 162913 h 338446"/>
              <a:gd name="connsiteX17" fmla="*/ 239461 w 932941"/>
              <a:gd name="connsiteY17" fmla="*/ 199983 h 338446"/>
              <a:gd name="connsiteX18" fmla="*/ 264175 w 932941"/>
              <a:gd name="connsiteY18" fmla="*/ 237054 h 338446"/>
              <a:gd name="connsiteX19" fmla="*/ 251818 w 932941"/>
              <a:gd name="connsiteY19" fmla="*/ 150556 h 338446"/>
              <a:gd name="connsiteX20" fmla="*/ 214748 w 932941"/>
              <a:gd name="connsiteY20" fmla="*/ 138200 h 338446"/>
              <a:gd name="connsiteX21" fmla="*/ 202391 w 932941"/>
              <a:gd name="connsiteY21" fmla="*/ 187627 h 338446"/>
              <a:gd name="connsiteX22" fmla="*/ 239461 w 932941"/>
              <a:gd name="connsiteY22" fmla="*/ 212340 h 338446"/>
              <a:gd name="connsiteX23" fmla="*/ 251818 w 932941"/>
              <a:gd name="connsiteY23" fmla="*/ 249410 h 338446"/>
              <a:gd name="connsiteX24" fmla="*/ 301245 w 932941"/>
              <a:gd name="connsiteY24" fmla="*/ 224697 h 338446"/>
              <a:gd name="connsiteX25" fmla="*/ 313602 w 932941"/>
              <a:gd name="connsiteY25" fmla="*/ 261767 h 338446"/>
              <a:gd name="connsiteX26" fmla="*/ 325958 w 932941"/>
              <a:gd name="connsiteY26" fmla="*/ 212340 h 338446"/>
              <a:gd name="connsiteX27" fmla="*/ 301245 w 932941"/>
              <a:gd name="connsiteY27" fmla="*/ 175270 h 338446"/>
              <a:gd name="connsiteX28" fmla="*/ 227104 w 932941"/>
              <a:gd name="connsiteY28" fmla="*/ 150556 h 338446"/>
              <a:gd name="connsiteX29" fmla="*/ 350672 w 932941"/>
              <a:gd name="connsiteY29" fmla="*/ 162913 h 338446"/>
              <a:gd name="connsiteX30" fmla="*/ 363029 w 932941"/>
              <a:gd name="connsiteY30" fmla="*/ 199983 h 338446"/>
              <a:gd name="connsiteX31" fmla="*/ 437169 w 932941"/>
              <a:gd name="connsiteY31" fmla="*/ 237054 h 338446"/>
              <a:gd name="connsiteX32" fmla="*/ 474239 w 932941"/>
              <a:gd name="connsiteY32" fmla="*/ 261767 h 338446"/>
              <a:gd name="connsiteX33" fmla="*/ 498953 w 932941"/>
              <a:gd name="connsiteY33" fmla="*/ 224697 h 338446"/>
              <a:gd name="connsiteX34" fmla="*/ 424812 w 932941"/>
              <a:gd name="connsiteY34" fmla="*/ 187627 h 338446"/>
              <a:gd name="connsiteX35" fmla="*/ 622520 w 932941"/>
              <a:gd name="connsiteY35" fmla="*/ 125843 h 338446"/>
              <a:gd name="connsiteX36" fmla="*/ 511310 w 932941"/>
              <a:gd name="connsiteY36" fmla="*/ 175270 h 338446"/>
              <a:gd name="connsiteX37" fmla="*/ 474239 w 932941"/>
              <a:gd name="connsiteY37" fmla="*/ 199983 h 338446"/>
              <a:gd name="connsiteX38" fmla="*/ 585450 w 932941"/>
              <a:gd name="connsiteY38" fmla="*/ 187627 h 338446"/>
              <a:gd name="connsiteX39" fmla="*/ 721375 w 932941"/>
              <a:gd name="connsiteY39" fmla="*/ 150556 h 338446"/>
              <a:gd name="connsiteX40" fmla="*/ 758445 w 932941"/>
              <a:gd name="connsiteY40" fmla="*/ 162913 h 338446"/>
              <a:gd name="connsiteX41" fmla="*/ 783158 w 932941"/>
              <a:gd name="connsiteY41" fmla="*/ 125843 h 338446"/>
              <a:gd name="connsiteX42" fmla="*/ 844942 w 932941"/>
              <a:gd name="connsiteY42" fmla="*/ 101129 h 338446"/>
              <a:gd name="connsiteX43" fmla="*/ 882012 w 932941"/>
              <a:gd name="connsiteY43" fmla="*/ 64059 h 338446"/>
              <a:gd name="connsiteX44" fmla="*/ 807872 w 932941"/>
              <a:gd name="connsiteY44" fmla="*/ 88773 h 338446"/>
              <a:gd name="connsiteX45" fmla="*/ 709018 w 932941"/>
              <a:gd name="connsiteY45" fmla="*/ 138200 h 338446"/>
              <a:gd name="connsiteX46" fmla="*/ 733731 w 932941"/>
              <a:gd name="connsiteY46" fmla="*/ 101129 h 338446"/>
              <a:gd name="connsiteX47" fmla="*/ 684304 w 932941"/>
              <a:gd name="connsiteY47" fmla="*/ 138200 h 338446"/>
              <a:gd name="connsiteX48" fmla="*/ 733731 w 932941"/>
              <a:gd name="connsiteY48" fmla="*/ 76416 h 338446"/>
              <a:gd name="connsiteX49" fmla="*/ 770802 w 932941"/>
              <a:gd name="connsiteY49" fmla="*/ 39345 h 338446"/>
              <a:gd name="connsiteX50" fmla="*/ 721375 w 932941"/>
              <a:gd name="connsiteY50" fmla="*/ 76416 h 338446"/>
              <a:gd name="connsiteX51" fmla="*/ 647234 w 932941"/>
              <a:gd name="connsiteY51" fmla="*/ 101129 h 338446"/>
              <a:gd name="connsiteX52" fmla="*/ 610164 w 932941"/>
              <a:gd name="connsiteY52" fmla="*/ 125843 h 338446"/>
              <a:gd name="connsiteX53" fmla="*/ 560737 w 932941"/>
              <a:gd name="connsiteY53" fmla="*/ 150556 h 338446"/>
              <a:gd name="connsiteX54" fmla="*/ 536023 w 932941"/>
              <a:gd name="connsiteY54" fmla="*/ 187627 h 338446"/>
              <a:gd name="connsiteX55" fmla="*/ 573093 w 932941"/>
              <a:gd name="connsiteY55" fmla="*/ 138200 h 338446"/>
              <a:gd name="connsiteX56" fmla="*/ 610164 w 932941"/>
              <a:gd name="connsiteY56" fmla="*/ 101129 h 338446"/>
              <a:gd name="connsiteX57" fmla="*/ 536023 w 932941"/>
              <a:gd name="connsiteY57" fmla="*/ 138200 h 338446"/>
              <a:gd name="connsiteX58" fmla="*/ 461883 w 932941"/>
              <a:gd name="connsiteY58" fmla="*/ 199983 h 338446"/>
              <a:gd name="connsiteX59" fmla="*/ 424812 w 932941"/>
              <a:gd name="connsiteY59" fmla="*/ 224697 h 338446"/>
              <a:gd name="connsiteX60" fmla="*/ 437169 w 932941"/>
              <a:gd name="connsiteY60" fmla="*/ 187627 h 338446"/>
              <a:gd name="connsiteX61" fmla="*/ 412456 w 932941"/>
              <a:gd name="connsiteY61" fmla="*/ 187627 h 338446"/>
              <a:gd name="connsiteX62" fmla="*/ 424812 w 932941"/>
              <a:gd name="connsiteY62" fmla="*/ 138200 h 338446"/>
              <a:gd name="connsiteX63" fmla="*/ 387742 w 932941"/>
              <a:gd name="connsiteY63" fmla="*/ 150556 h 338446"/>
              <a:gd name="connsiteX64" fmla="*/ 400099 w 932941"/>
              <a:gd name="connsiteY64" fmla="*/ 113486 h 338446"/>
              <a:gd name="connsiteX65" fmla="*/ 313602 w 932941"/>
              <a:gd name="connsiteY65" fmla="*/ 162913 h 338446"/>
              <a:gd name="connsiteX66" fmla="*/ 325958 w 932941"/>
              <a:gd name="connsiteY66" fmla="*/ 125843 h 338446"/>
              <a:gd name="connsiteX67" fmla="*/ 239461 w 932941"/>
              <a:gd name="connsiteY67" fmla="*/ 150556 h 338446"/>
              <a:gd name="connsiteX68" fmla="*/ 264175 w 932941"/>
              <a:gd name="connsiteY68" fmla="*/ 113486 h 338446"/>
              <a:gd name="connsiteX69" fmla="*/ 239461 w 932941"/>
              <a:gd name="connsiteY69" fmla="*/ 76416 h 338446"/>
              <a:gd name="connsiteX70" fmla="*/ 227104 w 932941"/>
              <a:gd name="connsiteY70" fmla="*/ 26989 h 338446"/>
              <a:gd name="connsiteX71" fmla="*/ 152964 w 932941"/>
              <a:gd name="connsiteY71" fmla="*/ 39345 h 338446"/>
              <a:gd name="connsiteX72" fmla="*/ 78823 w 932941"/>
              <a:gd name="connsiteY72" fmla="*/ 26989 h 338446"/>
              <a:gd name="connsiteX73" fmla="*/ 41753 w 932941"/>
              <a:gd name="connsiteY73" fmla="*/ 101129 h 338446"/>
              <a:gd name="connsiteX74" fmla="*/ 54110 w 932941"/>
              <a:gd name="connsiteY74" fmla="*/ 64059 h 338446"/>
              <a:gd name="connsiteX75" fmla="*/ 103537 w 932941"/>
              <a:gd name="connsiteY75" fmla="*/ 51702 h 338446"/>
              <a:gd name="connsiteX76" fmla="*/ 140607 w 932941"/>
              <a:gd name="connsiteY76" fmla="*/ 39345 h 338446"/>
              <a:gd name="connsiteX77" fmla="*/ 152964 w 932941"/>
              <a:gd name="connsiteY77" fmla="*/ 113486 h 338446"/>
              <a:gd name="connsiteX78" fmla="*/ 190034 w 932941"/>
              <a:gd name="connsiteY78" fmla="*/ 88773 h 338446"/>
              <a:gd name="connsiteX79" fmla="*/ 177677 w 932941"/>
              <a:gd name="connsiteY79" fmla="*/ 175270 h 338446"/>
              <a:gd name="connsiteX80" fmla="*/ 202391 w 932941"/>
              <a:gd name="connsiteY80" fmla="*/ 237054 h 338446"/>
              <a:gd name="connsiteX81" fmla="*/ 276531 w 932941"/>
              <a:gd name="connsiteY81" fmla="*/ 199983 h 338446"/>
              <a:gd name="connsiteX82" fmla="*/ 288888 w 932941"/>
              <a:gd name="connsiteY82" fmla="*/ 237054 h 338446"/>
              <a:gd name="connsiteX83" fmla="*/ 338315 w 932941"/>
              <a:gd name="connsiteY83" fmla="*/ 249410 h 338446"/>
              <a:gd name="connsiteX84" fmla="*/ 325958 w 932941"/>
              <a:gd name="connsiteY84" fmla="*/ 298837 h 338446"/>
              <a:gd name="connsiteX85" fmla="*/ 363029 w 932941"/>
              <a:gd name="connsiteY85" fmla="*/ 286481 h 338446"/>
              <a:gd name="connsiteX86" fmla="*/ 350672 w 932941"/>
              <a:gd name="connsiteY86" fmla="*/ 335908 h 338446"/>
              <a:gd name="connsiteX87" fmla="*/ 363029 w 932941"/>
              <a:gd name="connsiteY87" fmla="*/ 298837 h 338446"/>
              <a:gd name="connsiteX88" fmla="*/ 400099 w 932941"/>
              <a:gd name="connsiteY88" fmla="*/ 286481 h 338446"/>
              <a:gd name="connsiteX89" fmla="*/ 461883 w 932941"/>
              <a:gd name="connsiteY89" fmla="*/ 249410 h 338446"/>
              <a:gd name="connsiteX90" fmla="*/ 548380 w 932941"/>
              <a:gd name="connsiteY90" fmla="*/ 224697 h 338446"/>
              <a:gd name="connsiteX91" fmla="*/ 585450 w 932941"/>
              <a:gd name="connsiteY91" fmla="*/ 212340 h 338446"/>
              <a:gd name="connsiteX92" fmla="*/ 647234 w 932941"/>
              <a:gd name="connsiteY92" fmla="*/ 187627 h 338446"/>
              <a:gd name="connsiteX93" fmla="*/ 746088 w 932941"/>
              <a:gd name="connsiteY93" fmla="*/ 150556 h 338446"/>
              <a:gd name="connsiteX94" fmla="*/ 783158 w 932941"/>
              <a:gd name="connsiteY94" fmla="*/ 125843 h 338446"/>
              <a:gd name="connsiteX95" fmla="*/ 807872 w 932941"/>
              <a:gd name="connsiteY95" fmla="*/ 125843 h 338446"/>
              <a:gd name="connsiteX96" fmla="*/ 882012 w 932941"/>
              <a:gd name="connsiteY96" fmla="*/ 64059 h 338446"/>
              <a:gd name="connsiteX97" fmla="*/ 919083 w 932941"/>
              <a:gd name="connsiteY97" fmla="*/ 39345 h 338446"/>
              <a:gd name="connsiteX98" fmla="*/ 906726 w 932941"/>
              <a:gd name="connsiteY98" fmla="*/ 76416 h 338446"/>
              <a:gd name="connsiteX99" fmla="*/ 894369 w 932941"/>
              <a:gd name="connsiteY99" fmla="*/ 39345 h 338446"/>
              <a:gd name="connsiteX100" fmla="*/ 795515 w 932941"/>
              <a:gd name="connsiteY100" fmla="*/ 88773 h 338446"/>
              <a:gd name="connsiteX101" fmla="*/ 733731 w 932941"/>
              <a:gd name="connsiteY101" fmla="*/ 125843 h 338446"/>
              <a:gd name="connsiteX102" fmla="*/ 684304 w 932941"/>
              <a:gd name="connsiteY102" fmla="*/ 162913 h 338446"/>
              <a:gd name="connsiteX103" fmla="*/ 647234 w 932941"/>
              <a:gd name="connsiteY103" fmla="*/ 187627 h 338446"/>
              <a:gd name="connsiteX104" fmla="*/ 684304 w 932941"/>
              <a:gd name="connsiteY104" fmla="*/ 101129 h 338446"/>
              <a:gd name="connsiteX105" fmla="*/ 795515 w 932941"/>
              <a:gd name="connsiteY105" fmla="*/ 76416 h 338446"/>
              <a:gd name="connsiteX106" fmla="*/ 869656 w 932941"/>
              <a:gd name="connsiteY106" fmla="*/ 26989 h 338446"/>
              <a:gd name="connsiteX107" fmla="*/ 931439 w 932941"/>
              <a:gd name="connsiteY107" fmla="*/ 39345 h 338446"/>
              <a:gd name="connsiteX108" fmla="*/ 906726 w 932941"/>
              <a:gd name="connsiteY108" fmla="*/ 76416 h 33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</a:cxnLst>
            <a:rect l="l" t="t" r="r" b="b"/>
            <a:pathLst>
              <a:path w="932941" h="338446">
                <a:moveTo>
                  <a:pt x="66466" y="113486"/>
                </a:moveTo>
                <a:cubicBezTo>
                  <a:pt x="95299" y="117605"/>
                  <a:pt x="182089" y="125843"/>
                  <a:pt x="152964" y="125843"/>
                </a:cubicBezTo>
                <a:cubicBezTo>
                  <a:pt x="103366" y="125843"/>
                  <a:pt x="51736" y="129171"/>
                  <a:pt x="4683" y="113486"/>
                </a:cubicBezTo>
                <a:cubicBezTo>
                  <a:pt x="-19086" y="105563"/>
                  <a:pt x="54110" y="105248"/>
                  <a:pt x="78823" y="101129"/>
                </a:cubicBezTo>
                <a:cubicBezTo>
                  <a:pt x="91180" y="92891"/>
                  <a:pt x="102610" y="83057"/>
                  <a:pt x="115893" y="76416"/>
                </a:cubicBezTo>
                <a:cubicBezTo>
                  <a:pt x="127543" y="70591"/>
                  <a:pt x="152964" y="51034"/>
                  <a:pt x="152964" y="64059"/>
                </a:cubicBezTo>
                <a:cubicBezTo>
                  <a:pt x="152964" y="78910"/>
                  <a:pt x="128250" y="80535"/>
                  <a:pt x="115893" y="88773"/>
                </a:cubicBezTo>
                <a:cubicBezTo>
                  <a:pt x="111774" y="105249"/>
                  <a:pt x="110227" y="122590"/>
                  <a:pt x="103537" y="138200"/>
                </a:cubicBezTo>
                <a:cubicBezTo>
                  <a:pt x="77796" y="198262"/>
                  <a:pt x="42459" y="169209"/>
                  <a:pt x="152964" y="187627"/>
                </a:cubicBezTo>
                <a:cubicBezTo>
                  <a:pt x="165321" y="179389"/>
                  <a:pt x="190034" y="148062"/>
                  <a:pt x="190034" y="162913"/>
                </a:cubicBezTo>
                <a:cubicBezTo>
                  <a:pt x="190034" y="180388"/>
                  <a:pt x="170439" y="199983"/>
                  <a:pt x="152964" y="199983"/>
                </a:cubicBezTo>
                <a:cubicBezTo>
                  <a:pt x="139939" y="199983"/>
                  <a:pt x="144185" y="175437"/>
                  <a:pt x="140607" y="162913"/>
                </a:cubicBezTo>
                <a:cubicBezTo>
                  <a:pt x="135941" y="146584"/>
                  <a:pt x="132369" y="129962"/>
                  <a:pt x="128250" y="113486"/>
                </a:cubicBezTo>
                <a:cubicBezTo>
                  <a:pt x="140607" y="101129"/>
                  <a:pt x="147845" y="76416"/>
                  <a:pt x="165320" y="76416"/>
                </a:cubicBezTo>
                <a:cubicBezTo>
                  <a:pt x="178345" y="76416"/>
                  <a:pt x="174099" y="100962"/>
                  <a:pt x="177677" y="113486"/>
                </a:cubicBezTo>
                <a:cubicBezTo>
                  <a:pt x="208709" y="222096"/>
                  <a:pt x="172763" y="111102"/>
                  <a:pt x="202391" y="199983"/>
                </a:cubicBezTo>
                <a:cubicBezTo>
                  <a:pt x="206510" y="187626"/>
                  <a:pt x="207523" y="152075"/>
                  <a:pt x="214748" y="162913"/>
                </a:cubicBezTo>
                <a:cubicBezTo>
                  <a:pt x="243743" y="206408"/>
                  <a:pt x="211644" y="283435"/>
                  <a:pt x="239461" y="199983"/>
                </a:cubicBezTo>
                <a:cubicBezTo>
                  <a:pt x="247699" y="212340"/>
                  <a:pt x="260573" y="251462"/>
                  <a:pt x="264175" y="237054"/>
                </a:cubicBezTo>
                <a:cubicBezTo>
                  <a:pt x="271239" y="208798"/>
                  <a:pt x="264843" y="176607"/>
                  <a:pt x="251818" y="150556"/>
                </a:cubicBezTo>
                <a:cubicBezTo>
                  <a:pt x="245993" y="138906"/>
                  <a:pt x="227105" y="142319"/>
                  <a:pt x="214748" y="138200"/>
                </a:cubicBezTo>
                <a:cubicBezTo>
                  <a:pt x="210629" y="154676"/>
                  <a:pt x="197021" y="171516"/>
                  <a:pt x="202391" y="187627"/>
                </a:cubicBezTo>
                <a:cubicBezTo>
                  <a:pt x="207087" y="201716"/>
                  <a:pt x="230184" y="200744"/>
                  <a:pt x="239461" y="212340"/>
                </a:cubicBezTo>
                <a:cubicBezTo>
                  <a:pt x="247598" y="222511"/>
                  <a:pt x="247699" y="237053"/>
                  <a:pt x="251818" y="249410"/>
                </a:cubicBezTo>
                <a:cubicBezTo>
                  <a:pt x="268294" y="241172"/>
                  <a:pt x="283182" y="221084"/>
                  <a:pt x="301245" y="224697"/>
                </a:cubicBezTo>
                <a:cubicBezTo>
                  <a:pt x="314017" y="227251"/>
                  <a:pt x="301952" y="267592"/>
                  <a:pt x="313602" y="261767"/>
                </a:cubicBezTo>
                <a:cubicBezTo>
                  <a:pt x="328792" y="254172"/>
                  <a:pt x="321839" y="228816"/>
                  <a:pt x="325958" y="212340"/>
                </a:cubicBezTo>
                <a:cubicBezTo>
                  <a:pt x="317720" y="199983"/>
                  <a:pt x="313838" y="183141"/>
                  <a:pt x="301245" y="175270"/>
                </a:cubicBezTo>
                <a:cubicBezTo>
                  <a:pt x="279154" y="161463"/>
                  <a:pt x="201183" y="147964"/>
                  <a:pt x="227104" y="150556"/>
                </a:cubicBezTo>
                <a:lnTo>
                  <a:pt x="350672" y="162913"/>
                </a:lnTo>
                <a:cubicBezTo>
                  <a:pt x="354791" y="175270"/>
                  <a:pt x="354892" y="189812"/>
                  <a:pt x="363029" y="199983"/>
                </a:cubicBezTo>
                <a:cubicBezTo>
                  <a:pt x="386638" y="229494"/>
                  <a:pt x="407321" y="222130"/>
                  <a:pt x="437169" y="237054"/>
                </a:cubicBezTo>
                <a:cubicBezTo>
                  <a:pt x="450452" y="243695"/>
                  <a:pt x="461882" y="253529"/>
                  <a:pt x="474239" y="261767"/>
                </a:cubicBezTo>
                <a:cubicBezTo>
                  <a:pt x="482477" y="249410"/>
                  <a:pt x="501865" y="239260"/>
                  <a:pt x="498953" y="224697"/>
                </a:cubicBezTo>
                <a:cubicBezTo>
                  <a:pt x="495531" y="207585"/>
                  <a:pt x="436955" y="191674"/>
                  <a:pt x="424812" y="187627"/>
                </a:cubicBezTo>
                <a:cubicBezTo>
                  <a:pt x="571642" y="128895"/>
                  <a:pt x="504621" y="145493"/>
                  <a:pt x="622520" y="125843"/>
                </a:cubicBezTo>
                <a:cubicBezTo>
                  <a:pt x="578379" y="143499"/>
                  <a:pt x="551721" y="152178"/>
                  <a:pt x="511310" y="175270"/>
                </a:cubicBezTo>
                <a:cubicBezTo>
                  <a:pt x="498416" y="182638"/>
                  <a:pt x="459590" y="197541"/>
                  <a:pt x="474239" y="199983"/>
                </a:cubicBezTo>
                <a:cubicBezTo>
                  <a:pt x="511030" y="206115"/>
                  <a:pt x="548380" y="191746"/>
                  <a:pt x="585450" y="187627"/>
                </a:cubicBezTo>
                <a:cubicBezTo>
                  <a:pt x="626686" y="173881"/>
                  <a:pt x="683048" y="154040"/>
                  <a:pt x="721375" y="150556"/>
                </a:cubicBezTo>
                <a:cubicBezTo>
                  <a:pt x="734347" y="149377"/>
                  <a:pt x="746088" y="158794"/>
                  <a:pt x="758445" y="162913"/>
                </a:cubicBezTo>
                <a:cubicBezTo>
                  <a:pt x="766683" y="150556"/>
                  <a:pt x="771073" y="134475"/>
                  <a:pt x="783158" y="125843"/>
                </a:cubicBezTo>
                <a:cubicBezTo>
                  <a:pt x="801208" y="112950"/>
                  <a:pt x="826132" y="112885"/>
                  <a:pt x="844942" y="101129"/>
                </a:cubicBezTo>
                <a:cubicBezTo>
                  <a:pt x="859761" y="91867"/>
                  <a:pt x="898590" y="69585"/>
                  <a:pt x="882012" y="64059"/>
                </a:cubicBezTo>
                <a:lnTo>
                  <a:pt x="807872" y="88773"/>
                </a:lnTo>
                <a:cubicBezTo>
                  <a:pt x="804979" y="90943"/>
                  <a:pt x="728848" y="158030"/>
                  <a:pt x="709018" y="138200"/>
                </a:cubicBezTo>
                <a:cubicBezTo>
                  <a:pt x="698517" y="127699"/>
                  <a:pt x="748582" y="101129"/>
                  <a:pt x="733731" y="101129"/>
                </a:cubicBezTo>
                <a:cubicBezTo>
                  <a:pt x="713136" y="101129"/>
                  <a:pt x="684304" y="158795"/>
                  <a:pt x="684304" y="138200"/>
                </a:cubicBezTo>
                <a:cubicBezTo>
                  <a:pt x="684304" y="111826"/>
                  <a:pt x="716364" y="96264"/>
                  <a:pt x="733731" y="76416"/>
                </a:cubicBezTo>
                <a:cubicBezTo>
                  <a:pt x="745239" y="63264"/>
                  <a:pt x="788277" y="39345"/>
                  <a:pt x="770802" y="39345"/>
                </a:cubicBezTo>
                <a:cubicBezTo>
                  <a:pt x="750207" y="39345"/>
                  <a:pt x="740913" y="69904"/>
                  <a:pt x="721375" y="76416"/>
                </a:cubicBezTo>
                <a:lnTo>
                  <a:pt x="647234" y="101129"/>
                </a:lnTo>
                <a:cubicBezTo>
                  <a:pt x="634877" y="109367"/>
                  <a:pt x="623058" y="118475"/>
                  <a:pt x="610164" y="125843"/>
                </a:cubicBezTo>
                <a:cubicBezTo>
                  <a:pt x="594171" y="134982"/>
                  <a:pt x="574888" y="138764"/>
                  <a:pt x="560737" y="150556"/>
                </a:cubicBezTo>
                <a:cubicBezTo>
                  <a:pt x="549328" y="160064"/>
                  <a:pt x="525522" y="198128"/>
                  <a:pt x="536023" y="187627"/>
                </a:cubicBezTo>
                <a:cubicBezTo>
                  <a:pt x="550586" y="173064"/>
                  <a:pt x="559690" y="153837"/>
                  <a:pt x="573093" y="138200"/>
                </a:cubicBezTo>
                <a:cubicBezTo>
                  <a:pt x="584466" y="124932"/>
                  <a:pt x="627639" y="101129"/>
                  <a:pt x="610164" y="101129"/>
                </a:cubicBezTo>
                <a:cubicBezTo>
                  <a:pt x="582533" y="101129"/>
                  <a:pt x="559013" y="122873"/>
                  <a:pt x="536023" y="138200"/>
                </a:cubicBezTo>
                <a:cubicBezTo>
                  <a:pt x="509256" y="156044"/>
                  <a:pt x="487276" y="180233"/>
                  <a:pt x="461883" y="199983"/>
                </a:cubicBezTo>
                <a:cubicBezTo>
                  <a:pt x="450160" y="209101"/>
                  <a:pt x="437169" y="216459"/>
                  <a:pt x="424812" y="224697"/>
                </a:cubicBezTo>
                <a:cubicBezTo>
                  <a:pt x="428931" y="212340"/>
                  <a:pt x="431344" y="199277"/>
                  <a:pt x="437169" y="187627"/>
                </a:cubicBezTo>
                <a:cubicBezTo>
                  <a:pt x="458852" y="144262"/>
                  <a:pt x="493809" y="126611"/>
                  <a:pt x="412456" y="187627"/>
                </a:cubicBezTo>
                <a:cubicBezTo>
                  <a:pt x="416575" y="171151"/>
                  <a:pt x="434232" y="152330"/>
                  <a:pt x="424812" y="138200"/>
                </a:cubicBezTo>
                <a:cubicBezTo>
                  <a:pt x="417587" y="127363"/>
                  <a:pt x="396952" y="159766"/>
                  <a:pt x="387742" y="150556"/>
                </a:cubicBezTo>
                <a:cubicBezTo>
                  <a:pt x="378532" y="141346"/>
                  <a:pt x="412456" y="117605"/>
                  <a:pt x="400099" y="113486"/>
                </a:cubicBezTo>
                <a:cubicBezTo>
                  <a:pt x="389648" y="110003"/>
                  <a:pt x="323867" y="156070"/>
                  <a:pt x="313602" y="162913"/>
                </a:cubicBezTo>
                <a:cubicBezTo>
                  <a:pt x="317721" y="150556"/>
                  <a:pt x="336796" y="133068"/>
                  <a:pt x="325958" y="125843"/>
                </a:cubicBezTo>
                <a:cubicBezTo>
                  <a:pt x="320787" y="122396"/>
                  <a:pt x="249008" y="147374"/>
                  <a:pt x="239461" y="150556"/>
                </a:cubicBezTo>
                <a:cubicBezTo>
                  <a:pt x="247699" y="138199"/>
                  <a:pt x="264175" y="128337"/>
                  <a:pt x="264175" y="113486"/>
                </a:cubicBezTo>
                <a:cubicBezTo>
                  <a:pt x="264175" y="98635"/>
                  <a:pt x="245311" y="90066"/>
                  <a:pt x="239461" y="76416"/>
                </a:cubicBezTo>
                <a:cubicBezTo>
                  <a:pt x="232771" y="60806"/>
                  <a:pt x="231223" y="43465"/>
                  <a:pt x="227104" y="26989"/>
                </a:cubicBezTo>
                <a:cubicBezTo>
                  <a:pt x="202391" y="31108"/>
                  <a:pt x="177422" y="44780"/>
                  <a:pt x="152964" y="39345"/>
                </a:cubicBezTo>
                <a:cubicBezTo>
                  <a:pt x="63768" y="19523"/>
                  <a:pt x="165806" y="-31001"/>
                  <a:pt x="78823" y="26989"/>
                </a:cubicBezTo>
                <a:cubicBezTo>
                  <a:pt x="75776" y="36130"/>
                  <a:pt x="57721" y="101129"/>
                  <a:pt x="41753" y="101129"/>
                </a:cubicBezTo>
                <a:cubicBezTo>
                  <a:pt x="28728" y="101129"/>
                  <a:pt x="43939" y="72196"/>
                  <a:pt x="54110" y="64059"/>
                </a:cubicBezTo>
                <a:cubicBezTo>
                  <a:pt x="67371" y="53450"/>
                  <a:pt x="87208" y="56368"/>
                  <a:pt x="103537" y="51702"/>
                </a:cubicBezTo>
                <a:cubicBezTo>
                  <a:pt x="116061" y="48124"/>
                  <a:pt x="128250" y="43464"/>
                  <a:pt x="140607" y="39345"/>
                </a:cubicBezTo>
                <a:cubicBezTo>
                  <a:pt x="144726" y="64059"/>
                  <a:pt x="135248" y="95770"/>
                  <a:pt x="152964" y="113486"/>
                </a:cubicBezTo>
                <a:cubicBezTo>
                  <a:pt x="163465" y="123987"/>
                  <a:pt x="184519" y="74984"/>
                  <a:pt x="190034" y="88773"/>
                </a:cubicBezTo>
                <a:cubicBezTo>
                  <a:pt x="200851" y="115815"/>
                  <a:pt x="181796" y="146438"/>
                  <a:pt x="177677" y="175270"/>
                </a:cubicBezTo>
                <a:cubicBezTo>
                  <a:pt x="185915" y="195865"/>
                  <a:pt x="185070" y="223198"/>
                  <a:pt x="202391" y="237054"/>
                </a:cubicBezTo>
                <a:cubicBezTo>
                  <a:pt x="214018" y="246356"/>
                  <a:pt x="273697" y="201873"/>
                  <a:pt x="276531" y="199983"/>
                </a:cubicBezTo>
                <a:cubicBezTo>
                  <a:pt x="280650" y="212340"/>
                  <a:pt x="276251" y="233895"/>
                  <a:pt x="288888" y="237054"/>
                </a:cubicBezTo>
                <a:cubicBezTo>
                  <a:pt x="352766" y="253024"/>
                  <a:pt x="307255" y="156233"/>
                  <a:pt x="338315" y="249410"/>
                </a:cubicBezTo>
                <a:cubicBezTo>
                  <a:pt x="334196" y="265886"/>
                  <a:pt x="316538" y="284706"/>
                  <a:pt x="325958" y="298837"/>
                </a:cubicBezTo>
                <a:cubicBezTo>
                  <a:pt x="333183" y="309675"/>
                  <a:pt x="355804" y="275643"/>
                  <a:pt x="363029" y="286481"/>
                </a:cubicBezTo>
                <a:cubicBezTo>
                  <a:pt x="372449" y="300612"/>
                  <a:pt x="350672" y="318925"/>
                  <a:pt x="350672" y="335908"/>
                </a:cubicBezTo>
                <a:cubicBezTo>
                  <a:pt x="350672" y="348933"/>
                  <a:pt x="353819" y="308047"/>
                  <a:pt x="363029" y="298837"/>
                </a:cubicBezTo>
                <a:cubicBezTo>
                  <a:pt x="372239" y="289627"/>
                  <a:pt x="388449" y="292306"/>
                  <a:pt x="400099" y="286481"/>
                </a:cubicBezTo>
                <a:cubicBezTo>
                  <a:pt x="421581" y="275740"/>
                  <a:pt x="441288" y="261767"/>
                  <a:pt x="461883" y="249410"/>
                </a:cubicBezTo>
                <a:cubicBezTo>
                  <a:pt x="525961" y="270770"/>
                  <a:pt x="476722" y="265645"/>
                  <a:pt x="548380" y="224697"/>
                </a:cubicBezTo>
                <a:cubicBezTo>
                  <a:pt x="559689" y="218235"/>
                  <a:pt x="573254" y="216913"/>
                  <a:pt x="585450" y="212340"/>
                </a:cubicBezTo>
                <a:cubicBezTo>
                  <a:pt x="606219" y="204552"/>
                  <a:pt x="627395" y="197547"/>
                  <a:pt x="647234" y="187627"/>
                </a:cubicBezTo>
                <a:cubicBezTo>
                  <a:pt x="732085" y="145201"/>
                  <a:pt x="626882" y="174398"/>
                  <a:pt x="746088" y="150556"/>
                </a:cubicBezTo>
                <a:cubicBezTo>
                  <a:pt x="758445" y="142318"/>
                  <a:pt x="773881" y="137439"/>
                  <a:pt x="783158" y="125843"/>
                </a:cubicBezTo>
                <a:cubicBezTo>
                  <a:pt x="806418" y="96768"/>
                  <a:pt x="784612" y="56064"/>
                  <a:pt x="807872" y="125843"/>
                </a:cubicBezTo>
                <a:cubicBezTo>
                  <a:pt x="899915" y="64479"/>
                  <a:pt x="786863" y="143350"/>
                  <a:pt x="882012" y="64059"/>
                </a:cubicBezTo>
                <a:cubicBezTo>
                  <a:pt x="893421" y="54551"/>
                  <a:pt x="906726" y="47583"/>
                  <a:pt x="919083" y="39345"/>
                </a:cubicBezTo>
                <a:cubicBezTo>
                  <a:pt x="914964" y="51702"/>
                  <a:pt x="919751" y="76416"/>
                  <a:pt x="906726" y="76416"/>
                </a:cubicBezTo>
                <a:cubicBezTo>
                  <a:pt x="893701" y="76416"/>
                  <a:pt x="907315" y="37907"/>
                  <a:pt x="894369" y="39345"/>
                </a:cubicBezTo>
                <a:cubicBezTo>
                  <a:pt x="857753" y="43413"/>
                  <a:pt x="827952" y="71307"/>
                  <a:pt x="795515" y="88773"/>
                </a:cubicBezTo>
                <a:cubicBezTo>
                  <a:pt x="774369" y="100160"/>
                  <a:pt x="753715" y="112521"/>
                  <a:pt x="733731" y="125843"/>
                </a:cubicBezTo>
                <a:cubicBezTo>
                  <a:pt x="716595" y="137267"/>
                  <a:pt x="701062" y="150943"/>
                  <a:pt x="684304" y="162913"/>
                </a:cubicBezTo>
                <a:cubicBezTo>
                  <a:pt x="672219" y="171545"/>
                  <a:pt x="659591" y="179389"/>
                  <a:pt x="647234" y="187627"/>
                </a:cubicBezTo>
                <a:cubicBezTo>
                  <a:pt x="654654" y="157949"/>
                  <a:pt x="657638" y="122461"/>
                  <a:pt x="684304" y="101129"/>
                </a:cubicBezTo>
                <a:cubicBezTo>
                  <a:pt x="700349" y="88293"/>
                  <a:pt x="794689" y="76600"/>
                  <a:pt x="795515" y="76416"/>
                </a:cubicBezTo>
                <a:cubicBezTo>
                  <a:pt x="841499" y="66197"/>
                  <a:pt x="833658" y="62986"/>
                  <a:pt x="869656" y="26989"/>
                </a:cubicBezTo>
                <a:cubicBezTo>
                  <a:pt x="890250" y="31108"/>
                  <a:pt x="918838" y="22543"/>
                  <a:pt x="931439" y="39345"/>
                </a:cubicBezTo>
                <a:cubicBezTo>
                  <a:pt x="940350" y="51226"/>
                  <a:pt x="906726" y="76416"/>
                  <a:pt x="906726" y="76416"/>
                </a:cubicBezTo>
              </a:path>
            </a:pathLst>
          </a:custGeom>
          <a:solidFill>
            <a:srgbClr val="000000">
              <a:alpha val="52157"/>
            </a:srgbClr>
          </a:solidFill>
          <a:ln w="57150">
            <a:solidFill>
              <a:srgbClr val="00B0F0">
                <a:alpha val="4392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B9CB74E-78AF-BA73-A2B8-558C9CB575B3}"/>
              </a:ext>
            </a:extLst>
          </p:cNvPr>
          <p:cNvCxnSpPr>
            <a:cxnSpLocks/>
          </p:cNvCxnSpPr>
          <p:nvPr/>
        </p:nvCxnSpPr>
        <p:spPr>
          <a:xfrm flipV="1">
            <a:off x="6771295" y="2638168"/>
            <a:ext cx="0" cy="1119084"/>
          </a:xfrm>
          <a:prstGeom prst="straightConnector1">
            <a:avLst/>
          </a:prstGeom>
          <a:ln w="28575">
            <a:solidFill>
              <a:srgbClr val="C00000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9DE7558-3D78-EB73-5B71-583FFD0903E1}"/>
              </a:ext>
            </a:extLst>
          </p:cNvPr>
          <p:cNvCxnSpPr>
            <a:cxnSpLocks/>
          </p:cNvCxnSpPr>
          <p:nvPr/>
        </p:nvCxnSpPr>
        <p:spPr>
          <a:xfrm flipV="1">
            <a:off x="6367640" y="2223153"/>
            <a:ext cx="0" cy="1933351"/>
          </a:xfrm>
          <a:prstGeom prst="straightConnector1">
            <a:avLst/>
          </a:prstGeom>
          <a:ln w="28575">
            <a:solidFill>
              <a:srgbClr val="C00000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8F0C0BA-492D-C5BB-AB10-11097BE2E026}"/>
              </a:ext>
            </a:extLst>
          </p:cNvPr>
          <p:cNvCxnSpPr>
            <a:cxnSpLocks/>
          </p:cNvCxnSpPr>
          <p:nvPr/>
        </p:nvCxnSpPr>
        <p:spPr>
          <a:xfrm flipV="1">
            <a:off x="6079316" y="2638168"/>
            <a:ext cx="0" cy="1119084"/>
          </a:xfrm>
          <a:prstGeom prst="straightConnector1">
            <a:avLst/>
          </a:prstGeom>
          <a:ln w="28575">
            <a:solidFill>
              <a:srgbClr val="C00000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AB70DB5-FFFE-B970-177A-A6ACAA9960C6}"/>
              </a:ext>
            </a:extLst>
          </p:cNvPr>
          <p:cNvCxnSpPr>
            <a:cxnSpLocks/>
          </p:cNvCxnSpPr>
          <p:nvPr/>
        </p:nvCxnSpPr>
        <p:spPr>
          <a:xfrm flipV="1">
            <a:off x="5753566" y="2800268"/>
            <a:ext cx="0" cy="956984"/>
          </a:xfrm>
          <a:prstGeom prst="straightConnector1">
            <a:avLst/>
          </a:prstGeom>
          <a:ln w="28575">
            <a:solidFill>
              <a:srgbClr val="C00000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B204B74-6446-0334-4A0E-3C7DF2B0361B}"/>
              </a:ext>
            </a:extLst>
          </p:cNvPr>
          <p:cNvCxnSpPr>
            <a:cxnSpLocks/>
          </p:cNvCxnSpPr>
          <p:nvPr/>
        </p:nvCxnSpPr>
        <p:spPr>
          <a:xfrm flipV="1">
            <a:off x="5955393" y="2508422"/>
            <a:ext cx="0" cy="1654540"/>
          </a:xfrm>
          <a:prstGeom prst="straightConnector1">
            <a:avLst/>
          </a:prstGeom>
          <a:ln w="28575">
            <a:solidFill>
              <a:srgbClr val="C00000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rapezoid 61">
            <a:extLst>
              <a:ext uri="{FF2B5EF4-FFF2-40B4-BE49-F238E27FC236}">
                <a16:creationId xmlns:a16="http://schemas.microsoft.com/office/drawing/2014/main" id="{3ECCCDF5-BD63-29B6-4163-B0BDD41C3CE8}"/>
              </a:ext>
            </a:extLst>
          </p:cNvPr>
          <p:cNvSpPr/>
          <p:nvPr/>
        </p:nvSpPr>
        <p:spPr>
          <a:xfrm rot="16200000">
            <a:off x="8370722" y="1429564"/>
            <a:ext cx="1494379" cy="862728"/>
          </a:xfrm>
          <a:prstGeom prst="trapezoid">
            <a:avLst>
              <a:gd name="adj" fmla="val 46698"/>
            </a:avLst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ADA3A3F-BAFD-32D0-D108-F959E134CB63}"/>
              </a:ext>
            </a:extLst>
          </p:cNvPr>
          <p:cNvSpPr txBox="1"/>
          <p:nvPr/>
        </p:nvSpPr>
        <p:spPr>
          <a:xfrm>
            <a:off x="8853479" y="1674297"/>
            <a:ext cx="494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De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0B3EDDB3-A970-7409-E037-88EDD3FBABE6}"/>
              </a:ext>
            </a:extLst>
          </p:cNvPr>
          <p:cNvGrpSpPr/>
          <p:nvPr/>
        </p:nvGrpSpPr>
        <p:grpSpPr>
          <a:xfrm>
            <a:off x="6914732" y="1909643"/>
            <a:ext cx="3173317" cy="666660"/>
            <a:chOff x="8462931" y="4783430"/>
            <a:chExt cx="3173317" cy="666660"/>
          </a:xfrm>
        </p:grpSpPr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3D5961A4-DDA9-6C6A-3D44-73205F151508}"/>
                </a:ext>
              </a:extLst>
            </p:cNvPr>
            <p:cNvCxnSpPr>
              <a:cxnSpLocks/>
            </p:cNvCxnSpPr>
            <p:nvPr/>
          </p:nvCxnSpPr>
          <p:spPr>
            <a:xfrm>
              <a:off x="11109871" y="4783430"/>
              <a:ext cx="526377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A4A9A535-5590-634C-111C-11192AE15B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62931" y="4798763"/>
              <a:ext cx="1759682" cy="65132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DC5BEF46-9E8E-3AEB-F0F8-DD096966D275}"/>
              </a:ext>
            </a:extLst>
          </p:cNvPr>
          <p:cNvSpPr txBox="1"/>
          <p:nvPr/>
        </p:nvSpPr>
        <p:spPr>
          <a:xfrm>
            <a:off x="86497" y="195280"/>
            <a:ext cx="12016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1.</a:t>
            </a:r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  <a:sym typeface="Wingdings" pitchFamily="2" charset="2"/>
              </a:rPr>
              <a:t> Prior Hole:  </a:t>
            </a:r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Samples from            may not have probability in              . Results in poor samples on Decoding  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70" name="object 3">
            <a:extLst>
              <a:ext uri="{FF2B5EF4-FFF2-40B4-BE49-F238E27FC236}">
                <a16:creationId xmlns:a16="http://schemas.microsoft.com/office/drawing/2014/main" id="{5A840D0C-618A-1B35-FBE3-D04B95D44704}"/>
              </a:ext>
            </a:extLst>
          </p:cNvPr>
          <p:cNvPicPr/>
          <p:nvPr/>
        </p:nvPicPr>
        <p:blipFill rotWithShape="1"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82616" t="-4056" r="9726" b="-1"/>
          <a:stretch/>
        </p:blipFill>
        <p:spPr>
          <a:xfrm>
            <a:off x="6975799" y="120162"/>
            <a:ext cx="724344" cy="605109"/>
          </a:xfrm>
          <a:prstGeom prst="rect">
            <a:avLst/>
          </a:prstGeom>
        </p:spPr>
      </p:pic>
      <p:pic>
        <p:nvPicPr>
          <p:cNvPr id="71" name="object 3">
            <a:extLst>
              <a:ext uri="{FF2B5EF4-FFF2-40B4-BE49-F238E27FC236}">
                <a16:creationId xmlns:a16="http://schemas.microsoft.com/office/drawing/2014/main" id="{59560A65-17DF-CE60-9EC6-559158B32AA3}"/>
              </a:ext>
            </a:extLst>
          </p:cNvPr>
          <p:cNvPicPr/>
          <p:nvPr/>
        </p:nvPicPr>
        <p:blipFill rotWithShape="1"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92342" t="4668" r="1239" b="-1"/>
          <a:stretch/>
        </p:blipFill>
        <p:spPr>
          <a:xfrm>
            <a:off x="3277929" y="183249"/>
            <a:ext cx="607204" cy="554379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95D841BF-8B91-64FD-354E-69CC138DCC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3906" y="1033342"/>
            <a:ext cx="1413802" cy="1432403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17A624E5-A688-648D-2817-B7E98BECDE35}"/>
              </a:ext>
            </a:extLst>
          </p:cNvPr>
          <p:cNvSpPr txBox="1"/>
          <p:nvPr/>
        </p:nvSpPr>
        <p:spPr>
          <a:xfrm>
            <a:off x="426308" y="5715856"/>
            <a:ext cx="11765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  <a:sym typeface="Wingdings" pitchFamily="2" charset="2"/>
              </a:rPr>
              <a:t>Research:  </a:t>
            </a:r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Why </a:t>
            </a:r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  <a:sym typeface="Wingdings" pitchFamily="2" charset="2"/>
              </a:rPr>
              <a:t>          </a:t>
            </a:r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?   Learn flexible priors that match                     Energy Based Models (EBM)  </a:t>
            </a:r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  <a:sym typeface="Wingdings" pitchFamily="2" charset="2"/>
              </a:rPr>
              <a:t>  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74" name="object 3">
            <a:extLst>
              <a:ext uri="{FF2B5EF4-FFF2-40B4-BE49-F238E27FC236}">
                <a16:creationId xmlns:a16="http://schemas.microsoft.com/office/drawing/2014/main" id="{246F7405-2502-BB7C-F971-2DD3C455E456}"/>
              </a:ext>
            </a:extLst>
          </p:cNvPr>
          <p:cNvPicPr/>
          <p:nvPr/>
        </p:nvPicPr>
        <p:blipFill rotWithShape="1"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92342" t="4668" r="1239" b="-1"/>
          <a:stretch/>
        </p:blipFill>
        <p:spPr>
          <a:xfrm>
            <a:off x="2251198" y="5712131"/>
            <a:ext cx="607204" cy="554379"/>
          </a:xfrm>
          <a:prstGeom prst="rect">
            <a:avLst/>
          </a:prstGeom>
        </p:spPr>
      </p:pic>
      <p:pic>
        <p:nvPicPr>
          <p:cNvPr id="75" name="object 3">
            <a:extLst>
              <a:ext uri="{FF2B5EF4-FFF2-40B4-BE49-F238E27FC236}">
                <a16:creationId xmlns:a16="http://schemas.microsoft.com/office/drawing/2014/main" id="{A3941284-8F04-F9BF-61EE-B052F82D326F}"/>
              </a:ext>
            </a:extLst>
          </p:cNvPr>
          <p:cNvPicPr/>
          <p:nvPr/>
        </p:nvPicPr>
        <p:blipFill rotWithShape="1"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82616" t="-4056" r="9726" b="-1"/>
          <a:stretch/>
        </p:blipFill>
        <p:spPr>
          <a:xfrm>
            <a:off x="6728423" y="5607238"/>
            <a:ext cx="796778" cy="665620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BD9ECB2C-76F9-21E0-1449-B9B628FB3712}"/>
              </a:ext>
            </a:extLst>
          </p:cNvPr>
          <p:cNvSpPr txBox="1"/>
          <p:nvPr/>
        </p:nvSpPr>
        <p:spPr>
          <a:xfrm>
            <a:off x="8312699" y="6135655"/>
            <a:ext cx="2245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+ MCMC sampling</a:t>
            </a:r>
            <a:endParaRPr lang="en-US" dirty="0">
              <a:latin typeface="Arial Rounded MT Bold" panose="020F0704030504030204" pitchFamily="34" charset="77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object 3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4799" y="1175121"/>
            <a:ext cx="4667399" cy="564675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37B12D4C-3D08-1408-DF8F-006AF1455DB0}"/>
              </a:ext>
            </a:extLst>
          </p:cNvPr>
          <p:cNvSpPr txBox="1"/>
          <p:nvPr/>
        </p:nvSpPr>
        <p:spPr>
          <a:xfrm>
            <a:off x="454799" y="175175"/>
            <a:ext cx="11495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2.</a:t>
            </a:r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  <a:sym typeface="Wingdings" pitchFamily="2" charset="2"/>
              </a:rPr>
              <a:t> Posterior Collapse: </a:t>
            </a:r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If Decoder is powerful (autoregressive), then some Z dimensions are redundant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sp>
        <p:nvSpPr>
          <p:cNvPr id="56" name="Left Brace 55">
            <a:extLst>
              <a:ext uri="{FF2B5EF4-FFF2-40B4-BE49-F238E27FC236}">
                <a16:creationId xmlns:a16="http://schemas.microsoft.com/office/drawing/2014/main" id="{EC229D9F-EAB9-5722-7486-33708B7DD30D}"/>
              </a:ext>
            </a:extLst>
          </p:cNvPr>
          <p:cNvSpPr/>
          <p:nvPr/>
        </p:nvSpPr>
        <p:spPr>
          <a:xfrm rot="10800000">
            <a:off x="5208697" y="1067702"/>
            <a:ext cx="186449" cy="856988"/>
          </a:xfrm>
          <a:prstGeom prst="leftBrace">
            <a:avLst>
              <a:gd name="adj1" fmla="val 52333"/>
              <a:gd name="adj2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B660388-4297-1D26-49FA-9DB145BABF92}"/>
              </a:ext>
            </a:extLst>
          </p:cNvPr>
          <p:cNvSpPr txBox="1"/>
          <p:nvPr/>
        </p:nvSpPr>
        <p:spPr>
          <a:xfrm>
            <a:off x="5654191" y="925836"/>
            <a:ext cx="53020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K out of L dimensions of posterior can match </a:t>
            </a:r>
          </a:p>
          <a:p>
            <a:pPr algn="ctr"/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Gaussian  reduces KL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B9728C3-C258-0B2C-3A0E-713F3F395178}"/>
              </a:ext>
            </a:extLst>
          </p:cNvPr>
          <p:cNvSpPr txBox="1"/>
          <p:nvPr/>
        </p:nvSpPr>
        <p:spPr>
          <a:xfrm>
            <a:off x="5460678" y="1624243"/>
            <a:ext cx="6127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  <a:sym typeface="Wingdings" pitchFamily="2" charset="2"/>
              </a:rPr>
              <a:t>Decoder decodes from remaining (L – K) dimensions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83813" y="2340912"/>
            <a:ext cx="4923863" cy="4321807"/>
            <a:chOff x="690592" y="2207882"/>
            <a:chExt cx="3338195" cy="27247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7251" y="4780614"/>
              <a:ext cx="225508" cy="15194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0592" y="2207882"/>
              <a:ext cx="3337618" cy="2653022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27952" y="2434282"/>
            <a:ext cx="5006423" cy="4095774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4799" y="1175121"/>
            <a:ext cx="4667399" cy="564675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020088" y="3646105"/>
            <a:ext cx="999149" cy="754363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961753" y="2565926"/>
            <a:ext cx="1988991" cy="1421695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433407" y="2906610"/>
            <a:ext cx="355823" cy="293192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37B12D4C-3D08-1408-DF8F-006AF1455DB0}"/>
              </a:ext>
            </a:extLst>
          </p:cNvPr>
          <p:cNvSpPr txBox="1"/>
          <p:nvPr/>
        </p:nvSpPr>
        <p:spPr>
          <a:xfrm>
            <a:off x="454799" y="175175"/>
            <a:ext cx="11495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2.</a:t>
            </a:r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  <a:sym typeface="Wingdings" pitchFamily="2" charset="2"/>
              </a:rPr>
              <a:t> Posterior Collapse: </a:t>
            </a:r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If Decoder is powerful (autoregressive), then some Z dimensions are redundant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sp>
        <p:nvSpPr>
          <p:cNvPr id="56" name="Left Brace 55">
            <a:extLst>
              <a:ext uri="{FF2B5EF4-FFF2-40B4-BE49-F238E27FC236}">
                <a16:creationId xmlns:a16="http://schemas.microsoft.com/office/drawing/2014/main" id="{EC229D9F-EAB9-5722-7486-33708B7DD30D}"/>
              </a:ext>
            </a:extLst>
          </p:cNvPr>
          <p:cNvSpPr/>
          <p:nvPr/>
        </p:nvSpPr>
        <p:spPr>
          <a:xfrm rot="10800000">
            <a:off x="5208697" y="1067702"/>
            <a:ext cx="186449" cy="856988"/>
          </a:xfrm>
          <a:prstGeom prst="leftBrace">
            <a:avLst>
              <a:gd name="adj1" fmla="val 52333"/>
              <a:gd name="adj2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B660388-4297-1D26-49FA-9DB145BABF92}"/>
              </a:ext>
            </a:extLst>
          </p:cNvPr>
          <p:cNvSpPr txBox="1"/>
          <p:nvPr/>
        </p:nvSpPr>
        <p:spPr>
          <a:xfrm>
            <a:off x="5654191" y="925836"/>
            <a:ext cx="53020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K out of L dimensions of posterior can match </a:t>
            </a:r>
          </a:p>
          <a:p>
            <a:pPr algn="ctr"/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Gaussian  reduces KL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B9728C3-C258-0B2C-3A0E-713F3F395178}"/>
              </a:ext>
            </a:extLst>
          </p:cNvPr>
          <p:cNvSpPr txBox="1"/>
          <p:nvPr/>
        </p:nvSpPr>
        <p:spPr>
          <a:xfrm>
            <a:off x="5460678" y="1624243"/>
            <a:ext cx="6127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  <a:sym typeface="Wingdings" pitchFamily="2" charset="2"/>
              </a:rPr>
              <a:t>Decoder decodes from remaining (L – K) dimensions</a:t>
            </a:r>
          </a:p>
        </p:txBody>
      </p:sp>
    </p:spTree>
    <p:extLst>
      <p:ext uri="{BB962C8B-B14F-4D97-AF65-F5344CB8AC3E}">
        <p14:creationId xmlns:p14="http://schemas.microsoft.com/office/powerpoint/2010/main" val="62378865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11934" y="460460"/>
            <a:ext cx="8853991" cy="388897"/>
          </a:xfrm>
          <a:prstGeom prst="rect">
            <a:avLst/>
          </a:prstGeom>
        </p:spPr>
        <p:txBody>
          <a:bodyPr vert="horz" wrap="square" lIns="0" tIns="19376" rIns="0" bIns="0" rtlCol="0" anchor="ctr">
            <a:spAutoFit/>
          </a:bodyPr>
          <a:lstStyle/>
          <a:p>
            <a:pPr marL="16850">
              <a:lnSpc>
                <a:spcPct val="100000"/>
              </a:lnSpc>
              <a:spcBef>
                <a:spcPts val="151"/>
              </a:spcBef>
            </a:pPr>
            <a:r>
              <a:rPr lang="en-US" sz="2400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Research:</a:t>
            </a:r>
            <a:r>
              <a:rPr lang="en-US" sz="2400" dirty="0">
                <a:latin typeface="Arial Rounded MT Bold" panose="020F0704030504030204" pitchFamily="34" charset="77"/>
              </a:rPr>
              <a:t> </a:t>
            </a:r>
            <a:r>
              <a:rPr sz="2400" dirty="0">
                <a:latin typeface="Arial Rounded MT Bold" panose="020F0704030504030204" pitchFamily="34" charset="77"/>
              </a:rPr>
              <a:t>Vector</a:t>
            </a:r>
            <a:r>
              <a:rPr sz="2400" spc="-86" dirty="0">
                <a:latin typeface="Arial Rounded MT Bold" panose="020F0704030504030204" pitchFamily="34" charset="77"/>
              </a:rPr>
              <a:t> </a:t>
            </a:r>
            <a:r>
              <a:rPr sz="2400" dirty="0">
                <a:latin typeface="Arial Rounded MT Bold" panose="020F0704030504030204" pitchFamily="34" charset="77"/>
              </a:rPr>
              <a:t>Quantized</a:t>
            </a:r>
            <a:r>
              <a:rPr sz="2400" spc="-66" dirty="0">
                <a:latin typeface="Arial Rounded MT Bold" panose="020F0704030504030204" pitchFamily="34" charset="77"/>
              </a:rPr>
              <a:t> </a:t>
            </a:r>
            <a:r>
              <a:rPr sz="2400" spc="-192" dirty="0">
                <a:latin typeface="Arial Rounded MT Bold" panose="020F0704030504030204" pitchFamily="34" charset="77"/>
              </a:rPr>
              <a:t>VAE</a:t>
            </a:r>
            <a:r>
              <a:rPr sz="2400" spc="-46" dirty="0">
                <a:latin typeface="Arial Rounded MT Bold" panose="020F0704030504030204" pitchFamily="34" charset="77"/>
              </a:rPr>
              <a:t> </a:t>
            </a:r>
            <a:r>
              <a:rPr sz="2400" spc="-133" dirty="0">
                <a:latin typeface="Arial Rounded MT Bold" panose="020F0704030504030204" pitchFamily="34" charset="77"/>
              </a:rPr>
              <a:t>(VQ</a:t>
            </a:r>
            <a:r>
              <a:rPr sz="2400" spc="-66" dirty="0">
                <a:latin typeface="Arial Rounded MT Bold" panose="020F0704030504030204" pitchFamily="34" charset="77"/>
              </a:rPr>
              <a:t> </a:t>
            </a:r>
            <a:r>
              <a:rPr sz="2400" spc="-151" dirty="0">
                <a:latin typeface="Arial Rounded MT Bold" panose="020F0704030504030204" pitchFamily="34" charset="77"/>
              </a:rPr>
              <a:t>VAE)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3652" y="1139967"/>
            <a:ext cx="6456781" cy="5063124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2889" y="1598352"/>
            <a:ext cx="10966221" cy="366129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38872" y="5459671"/>
            <a:ext cx="5395257" cy="707574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6F38742F-FF2A-B6C7-92DA-A76D4386591D}"/>
              </a:ext>
            </a:extLst>
          </p:cNvPr>
          <p:cNvSpPr txBox="1">
            <a:spLocks/>
          </p:cNvSpPr>
          <p:nvPr/>
        </p:nvSpPr>
        <p:spPr>
          <a:xfrm>
            <a:off x="612889" y="690755"/>
            <a:ext cx="10878895" cy="296564"/>
          </a:xfrm>
          <a:prstGeom prst="rect">
            <a:avLst/>
          </a:prstGeom>
        </p:spPr>
        <p:txBody>
          <a:bodyPr vert="horz" wrap="square" lIns="0" tIns="19376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6850">
              <a:lnSpc>
                <a:spcPct val="100000"/>
              </a:lnSpc>
              <a:spcBef>
                <a:spcPts val="151"/>
              </a:spcBef>
            </a:pPr>
            <a:r>
              <a:rPr lang="en-US" sz="1800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VQ-VAE:</a:t>
            </a:r>
            <a:r>
              <a:rPr lang="en-US" sz="1800" dirty="0">
                <a:latin typeface="Arial Rounded MT Bold" panose="020F0704030504030204" pitchFamily="34" charset="77"/>
              </a:rPr>
              <a:t> Let the latent space be discrete, i.e., composed of a dictionary of embeddings.</a:t>
            </a:r>
            <a:endParaRPr lang="en-US" sz="1800" spc="-151" dirty="0">
              <a:latin typeface="Arial Rounded MT Bold" panose="020F0704030504030204" pitchFamily="34" charset="77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6686"/>
            <a:ext cx="6783859" cy="6831314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3076832" y="13343"/>
            <a:ext cx="6783859" cy="683131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76947" y="13343"/>
            <a:ext cx="8215053" cy="361941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76947" y="3753091"/>
            <a:ext cx="8215053" cy="3091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3616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7F815F-D0F8-9AD8-2381-878DBF88C9C3}"/>
              </a:ext>
            </a:extLst>
          </p:cNvPr>
          <p:cNvSpPr txBox="1"/>
          <p:nvPr/>
        </p:nvSpPr>
        <p:spPr>
          <a:xfrm>
            <a:off x="5189149" y="3244334"/>
            <a:ext cx="1317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77"/>
                <a:ea typeface="+mn-ea"/>
                <a:cs typeface="+mn-cs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10375323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1700</Words>
  <Application>Microsoft Office PowerPoint</Application>
  <PresentationFormat>Widescreen</PresentationFormat>
  <Paragraphs>472</Paragraphs>
  <Slides>64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0" baseType="lpstr">
      <vt:lpstr>Aptos</vt:lpstr>
      <vt:lpstr>Aptos Display</vt:lpstr>
      <vt:lpstr>Arial</vt:lpstr>
      <vt:lpstr>Arial Rounded MT Bold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Problems Remain</vt:lpstr>
      <vt:lpstr>PowerPoint Presentation</vt:lpstr>
      <vt:lpstr>PowerPoint Presentation</vt:lpstr>
      <vt:lpstr>PowerPoint Presentation</vt:lpstr>
      <vt:lpstr>Research: Vector Quantized VAE (VQ VAE)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Wei, Yu-Lin</dc:creator>
  <cp:lastModifiedBy>Wei, Yu-Lin</cp:lastModifiedBy>
  <cp:revision>2</cp:revision>
  <dcterms:created xsi:type="dcterms:W3CDTF">2024-11-11T15:34:05Z</dcterms:created>
  <dcterms:modified xsi:type="dcterms:W3CDTF">2024-11-11T15:40:06Z</dcterms:modified>
</cp:coreProperties>
</file>