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6" r:id="rId2"/>
    <p:sldId id="765" r:id="rId3"/>
    <p:sldId id="449" r:id="rId4"/>
    <p:sldId id="396" r:id="rId5"/>
    <p:sldId id="447" r:id="rId6"/>
    <p:sldId id="448" r:id="rId7"/>
    <p:sldId id="450" r:id="rId8"/>
    <p:sldId id="451" r:id="rId9"/>
    <p:sldId id="454" r:id="rId10"/>
    <p:sldId id="455" r:id="rId11"/>
    <p:sldId id="452" r:id="rId12"/>
    <p:sldId id="459" r:id="rId13"/>
    <p:sldId id="453" r:id="rId14"/>
    <p:sldId id="456" r:id="rId15"/>
    <p:sldId id="457" r:id="rId16"/>
    <p:sldId id="461" r:id="rId17"/>
    <p:sldId id="462" r:id="rId18"/>
    <p:sldId id="463" r:id="rId19"/>
    <p:sldId id="464" r:id="rId20"/>
    <p:sldId id="467" r:id="rId21"/>
    <p:sldId id="468" r:id="rId22"/>
    <p:sldId id="469" r:id="rId23"/>
    <p:sldId id="470" r:id="rId24"/>
    <p:sldId id="471" r:id="rId25"/>
    <p:sldId id="465" r:id="rId26"/>
    <p:sldId id="475" r:id="rId27"/>
    <p:sldId id="472" r:id="rId28"/>
    <p:sldId id="476" r:id="rId29"/>
    <p:sldId id="62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D48E-45AA-5484-EB91-9FE822E29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A2DDF-A38A-D513-5515-5FFA9360E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3058-8DFF-0986-1FC0-C819DC02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A1B83-BACA-B8E4-92D6-25828E0C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FCEF7-AE1F-7CEE-05FF-1E4DD7D8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8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1683-83F2-51E4-F379-594C5326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A7271-5FE7-C0A8-FFB8-C8A07E363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B3565-60AF-7658-273A-4F2EBCE1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CDCF3-CF03-7806-87F9-7A31BF4F4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B4436-C94D-B738-FB9F-CF0D739A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1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EA50-49B9-0E02-8A8E-0D2C559B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3256C-2C65-EFC9-641B-59ECCEB35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98ABD-0786-AAA1-FDC4-7D483C8D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C794F-44DE-8FC1-E029-FD24FDC5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432BA-4A79-2435-E46C-5C5C8EA2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6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BB1F-301A-D768-53AE-17D7076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770C-DAE8-18BC-76D4-A5B1426EA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28370-6EC5-01F8-EE38-5097F3972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964A9-C23C-EC04-0C7A-FCCFFF8C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F7513-6537-C386-154C-71880657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64DAC-4221-96E5-1681-ADA8C6B5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8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BC15-F62A-74F1-A888-DDD57722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DCCFA-433C-7070-F56A-E2A5EBE7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9FC5E-BF4E-6C95-B11C-63E12DE5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B20C4-481D-E77A-1865-A8F3A340F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C4A1F-7BE4-8880-97D8-40012CADE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5997C-492C-E17F-334A-B75D2881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CFEF6-1170-76D2-F44A-45E2FAF3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29E800-1997-ED95-6105-F0EB67B2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BB0A-E94D-27F1-CBCE-D6A5B92B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2EB27-9F58-BFCE-F9DC-A0B16363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A9FF0-D08C-6B08-40D0-CBFB1682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C29EC-ABC6-0808-17F7-7C394D8D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3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56B21-B2BC-A2C7-1CEC-B23C21B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C771C-44D8-97A3-F793-C514909E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4C987-0D0F-4AAB-270D-59242CAE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FEAE-2856-5EF9-F348-01B731E2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FCB9-62F9-4C8E-B6A9-FD47E4864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13913-16B1-4C04-A684-86BCADEFD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CDF89-EB37-48CD-AB40-E16EFC9B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9AC1D-8A1B-58D8-7947-8D8C3BF0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34422-CAA7-5299-A09A-29BF007F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B65C-6FCD-5623-D76F-D89BF757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2D118-78A0-10C6-C92C-195A63DC3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C3A4-0E4D-83F5-79A4-E89FB96DD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FE943-B8B5-C575-7D4A-BB839983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2E180-C932-7CF1-3A47-B40E0A0E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C59F7-475A-4467-1D77-668FBC96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2ED1-C5F2-7430-63D6-94DA11CD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B9300-13C1-9AE2-A05F-124D48B79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FA2CF-E8ED-500A-356A-100D4783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18C3F-6380-ADD2-1889-E3C52871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3D3C-4621-C160-BA48-0FB6CA85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4BAB4-A3CB-FA8B-64C8-EA3A69749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0C6FC-2826-94D1-BC77-74EA2DE96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06929-DADD-A45A-C5E7-B044F3F0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CEBB1-1650-E212-3C77-27805EF3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ACCD-18FD-BDC2-E0E3-1428EE32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B8879-45F2-626D-38BA-A51FF434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A0A98-64E9-F5DC-ED0B-BCBF8B989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4D4FC-C65C-CEEF-1E0E-0BA9CEE43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3D8F1-C7E0-47A1-AD75-107022CB7B1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07BD-E7FB-1EAA-6ECC-FDC5303BA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3920-83BC-8156-99AF-3AD30C7F7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48924-7926-40EA-89F0-4FE410FCA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6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jpeg"/><Relationship Id="rId4" Type="http://schemas.openxmlformats.org/officeDocument/2006/relationships/image" Target="../media/image3.png"/><Relationship Id="rId9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2.wdp"/><Relationship Id="rId5" Type="http://schemas.openxmlformats.org/officeDocument/2006/relationships/image" Target="../media/image22.png"/><Relationship Id="rId10" Type="http://schemas.microsoft.com/office/2007/relationships/hdphoto" Target="../media/hdphoto1.wdp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2.png"/><Relationship Id="rId7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5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6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2.png"/><Relationship Id="rId7" Type="http://schemas.microsoft.com/office/2007/relationships/hdphoto" Target="../media/hdphoto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microsoft.com/office/2007/relationships/hdphoto" Target="../media/hdphoto9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microsoft.com/office/2007/relationships/hdphoto" Target="../media/hdphoto10.wdp"/><Relationship Id="rId10" Type="http://schemas.openxmlformats.org/officeDocument/2006/relationships/image" Target="../media/image25.png"/><Relationship Id="rId4" Type="http://schemas.microsoft.com/office/2007/relationships/hdphoto" Target="../media/hdphoto8.wdp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1F9A8-DF85-AC99-C9BB-E2564545FDD9}"/>
              </a:ext>
            </a:extLst>
          </p:cNvPr>
          <p:cNvSpPr txBox="1"/>
          <p:nvPr/>
        </p:nvSpPr>
        <p:spPr>
          <a:xfrm>
            <a:off x="3805589" y="3059668"/>
            <a:ext cx="38722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Another Perspective on Diffusion</a:t>
            </a:r>
          </a:p>
        </p:txBody>
      </p:sp>
    </p:spTree>
    <p:extLst>
      <p:ext uri="{BB962C8B-B14F-4D97-AF65-F5344CB8AC3E}">
        <p14:creationId xmlns:p14="http://schemas.microsoft.com/office/powerpoint/2010/main" val="268453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496266-2EE7-2803-8D46-26F245DA342F}"/>
              </a:ext>
            </a:extLst>
          </p:cNvPr>
          <p:cNvSpPr txBox="1"/>
          <p:nvPr/>
        </p:nvSpPr>
        <p:spPr>
          <a:xfrm>
            <a:off x="1724792" y="109672"/>
            <a:ext cx="8457956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I have images x  … can you generate more samples of real images?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						</a:t>
            </a:r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Do you have             ?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No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					       </a:t>
            </a:r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Do you have                        ?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No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 				</a:t>
            </a:r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Ok, can you give me your images with a 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					slight bit of noise, i.e.,  y = x + n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Yes, here they are y(1:N)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						</a:t>
            </a:r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Wait … doing Langevin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				And here you go, samples from 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But I wanted samples from 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				</a:t>
            </a:r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It’s the same, since you added negligible 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				noise, so y samples almost same as x :-) 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Yeah !!! They should give you the Nobel prize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177154" name="Picture 2" descr="Geoffrey Hinton emoji | AI Emoji Generator">
            <a:extLst>
              <a:ext uri="{FF2B5EF4-FFF2-40B4-BE49-F238E27FC236}">
                <a16:creationId xmlns:a16="http://schemas.microsoft.com/office/drawing/2014/main" id="{11495FD6-7E13-3260-2644-1FD6CFAF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503" y="294338"/>
            <a:ext cx="934019" cy="93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160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09323F8A-4F9A-D559-7EC0-455C0B807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49" y="-1828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FE7ACB-D244-E34D-D0C6-8EFA3224B9A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80321" y="1717103"/>
            <a:ext cx="1311509" cy="432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BDC6BC-D4AF-26A7-2668-BC714EB08B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/>
          <a:stretch/>
        </p:blipFill>
        <p:spPr>
          <a:xfrm>
            <a:off x="8739879" y="611290"/>
            <a:ext cx="655754" cy="432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89B13-213C-D80C-0CBF-066FFC71D5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728" t="434" b="-1"/>
          <a:stretch/>
        </p:blipFill>
        <p:spPr>
          <a:xfrm>
            <a:off x="8902011" y="4429044"/>
            <a:ext cx="1077899" cy="506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62F593-4883-3B72-6530-D602460332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000"/>
          <a:stretch/>
        </p:blipFill>
        <p:spPr>
          <a:xfrm>
            <a:off x="4825246" y="5006103"/>
            <a:ext cx="655754" cy="432026"/>
          </a:xfrm>
          <a:prstGeom prst="rect">
            <a:avLst/>
          </a:prstGeom>
        </p:spPr>
      </p:pic>
      <p:pic>
        <p:nvPicPr>
          <p:cNvPr id="9" name="Picture 2" descr="Geoffrey Hinton emoji | AI Emoji Generator">
            <a:extLst>
              <a:ext uri="{FF2B5EF4-FFF2-40B4-BE49-F238E27FC236}">
                <a16:creationId xmlns:a16="http://schemas.microsoft.com/office/drawing/2014/main" id="{8FF9FD24-D4DC-13EA-7366-EBDCD5793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503" y="1372924"/>
            <a:ext cx="934019" cy="93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66CF30E4-13B1-B3FC-7F84-531D4E7CE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49" y="1083337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eoffrey Hinton emoji | AI Emoji Generator">
            <a:extLst>
              <a:ext uri="{FF2B5EF4-FFF2-40B4-BE49-F238E27FC236}">
                <a16:creationId xmlns:a16="http://schemas.microsoft.com/office/drawing/2014/main" id="{76D29298-27BF-E710-556D-58EDE8F45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502" y="2593494"/>
            <a:ext cx="934019" cy="93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11423ED9-71E9-F13E-E700-52DA5792D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50" y="2249539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5C478BEE-4A8B-930E-2F8E-441EBFD88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50" y="3636697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eoffrey Hinton emoji | AI Emoji Generator">
            <a:extLst>
              <a:ext uri="{FF2B5EF4-FFF2-40B4-BE49-F238E27FC236}">
                <a16:creationId xmlns:a16="http://schemas.microsoft.com/office/drawing/2014/main" id="{B02D3F89-FF55-73AC-7F88-73C5441A3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501" y="4005802"/>
            <a:ext cx="934019" cy="93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05B95967-040E-CB79-41C0-E4817594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9" y="4932529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Geoffrey Hinton emoji | AI Emoji Generator">
            <a:extLst>
              <a:ext uri="{FF2B5EF4-FFF2-40B4-BE49-F238E27FC236}">
                <a16:creationId xmlns:a16="http://schemas.microsoft.com/office/drawing/2014/main" id="{4153A470-9706-4B72-6D03-470F3405B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501" y="5412290"/>
            <a:ext cx="934019" cy="93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3D Animation Character Cartoon | Premium AI-generated image">
            <a:extLst>
              <a:ext uri="{FF2B5EF4-FFF2-40B4-BE49-F238E27FC236}">
                <a16:creationId xmlns:a16="http://schemas.microsoft.com/office/drawing/2014/main" id="{FD37F592-DFEC-4656-24B2-0B91FE14F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47" y="5980398"/>
            <a:ext cx="797542" cy="7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24C0A-CD89-E42E-776F-E58B36631A33}"/>
              </a:ext>
            </a:extLst>
          </p:cNvPr>
          <p:cNvSpPr txBox="1"/>
          <p:nvPr/>
        </p:nvSpPr>
        <p:spPr>
          <a:xfrm>
            <a:off x="777126" y="528098"/>
            <a:ext cx="319074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Classical inverse problem: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521783" y="983929"/>
            <a:ext cx="732539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002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24C0A-CD89-E42E-776F-E58B36631A33}"/>
              </a:ext>
            </a:extLst>
          </p:cNvPr>
          <p:cNvSpPr txBox="1"/>
          <p:nvPr/>
        </p:nvSpPr>
        <p:spPr>
          <a:xfrm>
            <a:off x="777126" y="528098"/>
            <a:ext cx="319074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Classical inverse problem: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521783" y="983929"/>
            <a:ext cx="732539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340DFC-0ADC-FF9F-0537-F466844559CB}"/>
              </a:ext>
            </a:extLst>
          </p:cNvPr>
          <p:cNvSpPr txBox="1"/>
          <p:nvPr/>
        </p:nvSpPr>
        <p:spPr>
          <a:xfrm>
            <a:off x="777126" y="4108472"/>
            <a:ext cx="2524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One idea:  </a:t>
            </a:r>
            <a:r>
              <a:rPr lang="en-US" dirty="0">
                <a:latin typeface="Arial Rounded MT Bold" panose="020F0704030504030204" pitchFamily="34" charset="77"/>
              </a:rPr>
              <a:t>Estimate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4184CC-F00E-3A77-66F7-C88C986271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0642"/>
          <a:stretch/>
        </p:blipFill>
        <p:spPr>
          <a:xfrm>
            <a:off x="3148014" y="3908542"/>
            <a:ext cx="2169210" cy="140105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2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521783" y="983929"/>
            <a:ext cx="732539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340DFC-0ADC-FF9F-0537-F466844559CB}"/>
              </a:ext>
            </a:extLst>
          </p:cNvPr>
          <p:cNvSpPr txBox="1"/>
          <p:nvPr/>
        </p:nvSpPr>
        <p:spPr>
          <a:xfrm>
            <a:off x="777126" y="4108472"/>
            <a:ext cx="2524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One idea:  </a:t>
            </a:r>
            <a:r>
              <a:rPr lang="en-US" dirty="0">
                <a:latin typeface="Arial Rounded MT Bold" panose="020F0704030504030204" pitchFamily="34" charset="77"/>
              </a:rPr>
              <a:t>Estimate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4184CC-F00E-3A77-66F7-C88C986271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286"/>
          <a:stretch/>
        </p:blipFill>
        <p:spPr>
          <a:xfrm>
            <a:off x="3148014" y="3908542"/>
            <a:ext cx="7367586" cy="140105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51350E4-00A5-5954-B740-3E7EE4AC9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20" y="5326182"/>
            <a:ext cx="3517900" cy="7366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D9A111-EF55-48BA-5E8D-FD5DA348E8D5}"/>
              </a:ext>
            </a:extLst>
          </p:cNvPr>
          <p:cNvCxnSpPr>
            <a:cxnSpLocks/>
          </p:cNvCxnSpPr>
          <p:nvPr/>
        </p:nvCxnSpPr>
        <p:spPr>
          <a:xfrm flipH="1">
            <a:off x="3888052" y="5156960"/>
            <a:ext cx="3550717" cy="5029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05BA49-465B-55BE-9FA2-12B8E6BBD535}"/>
              </a:ext>
            </a:extLst>
          </p:cNvPr>
          <p:cNvSpPr txBox="1"/>
          <p:nvPr/>
        </p:nvSpPr>
        <p:spPr>
          <a:xfrm rot="21100573">
            <a:off x="4367805" y="5227998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Gaussian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CE29E9-601F-12F4-C039-9E8AAE29ADFC}"/>
              </a:ext>
            </a:extLst>
          </p:cNvPr>
          <p:cNvSpPr txBox="1"/>
          <p:nvPr/>
        </p:nvSpPr>
        <p:spPr>
          <a:xfrm>
            <a:off x="777126" y="528098"/>
            <a:ext cx="319074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Classical inverse problem: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7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643850-63EC-4C40-D4E7-3CB07EC7DB30}"/>
              </a:ext>
            </a:extLst>
          </p:cNvPr>
          <p:cNvSpPr/>
          <p:nvPr/>
        </p:nvSpPr>
        <p:spPr>
          <a:xfrm>
            <a:off x="7612470" y="5965162"/>
            <a:ext cx="1149179" cy="6487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521783" y="983929"/>
            <a:ext cx="732539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340DFC-0ADC-FF9F-0537-F466844559CB}"/>
              </a:ext>
            </a:extLst>
          </p:cNvPr>
          <p:cNvSpPr txBox="1"/>
          <p:nvPr/>
        </p:nvSpPr>
        <p:spPr>
          <a:xfrm>
            <a:off x="777126" y="4108472"/>
            <a:ext cx="2524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One idea:  </a:t>
            </a:r>
            <a:r>
              <a:rPr lang="en-US" dirty="0">
                <a:latin typeface="Arial Rounded MT Bold" panose="020F0704030504030204" pitchFamily="34" charset="77"/>
              </a:rPr>
              <a:t>Estimate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4184CC-F00E-3A77-66F7-C88C986271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286"/>
          <a:stretch/>
        </p:blipFill>
        <p:spPr>
          <a:xfrm>
            <a:off x="3148014" y="3908542"/>
            <a:ext cx="7367586" cy="140105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51350E4-00A5-5954-B740-3E7EE4AC9B6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280220" y="5326182"/>
            <a:ext cx="3517900" cy="73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099580-5FA6-9940-A2AD-6E9389D1728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5853" y="6008519"/>
            <a:ext cx="5232400" cy="622300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8467D1E7-D6E4-9772-F096-64ABC4FF72C7}"/>
              </a:ext>
            </a:extLst>
          </p:cNvPr>
          <p:cNvSpPr/>
          <p:nvPr/>
        </p:nvSpPr>
        <p:spPr>
          <a:xfrm>
            <a:off x="6713838" y="5342861"/>
            <a:ext cx="448384" cy="6223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12AD0-ECB3-3E48-F3A7-523997A2A4E3}"/>
              </a:ext>
            </a:extLst>
          </p:cNvPr>
          <p:cNvSpPr txBox="1"/>
          <p:nvPr/>
        </p:nvSpPr>
        <p:spPr>
          <a:xfrm>
            <a:off x="777126" y="528098"/>
            <a:ext cx="319074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Classical inverse problem: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8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521784" y="983929"/>
            <a:ext cx="732538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212AD0-ECB3-3E48-F3A7-523997A2A4E3}"/>
              </a:ext>
            </a:extLst>
          </p:cNvPr>
          <p:cNvSpPr txBox="1"/>
          <p:nvPr/>
        </p:nvSpPr>
        <p:spPr>
          <a:xfrm>
            <a:off x="777126" y="528098"/>
            <a:ext cx="303365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Simpler inverse problem: 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45C2E3E-FB10-623D-2744-D375F5F2A561}"/>
              </a:ext>
            </a:extLst>
          </p:cNvPr>
          <p:cNvCxnSpPr>
            <a:cxnSpLocks/>
          </p:cNvCxnSpPr>
          <p:nvPr/>
        </p:nvCxnSpPr>
        <p:spPr>
          <a:xfrm flipV="1">
            <a:off x="4843263" y="479010"/>
            <a:ext cx="305365" cy="406063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67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06A2B-7B1A-1F9D-7C59-EF7346DF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8590" y="370121"/>
            <a:ext cx="4215541" cy="685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BDD83-C3DB-BD69-E352-36AC41A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255" y="1531818"/>
            <a:ext cx="1401057" cy="140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47A8E-0D69-8C60-EFB6-B5B91C817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28" y="1531818"/>
            <a:ext cx="1370152" cy="14010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32C5C0-69AF-BCDD-89E0-C149859B0E25}"/>
              </a:ext>
            </a:extLst>
          </p:cNvPr>
          <p:cNvCxnSpPr>
            <a:cxnSpLocks/>
          </p:cNvCxnSpPr>
          <p:nvPr/>
        </p:nvCxnSpPr>
        <p:spPr>
          <a:xfrm flipH="1" flipV="1">
            <a:off x="5353452" y="983929"/>
            <a:ext cx="567663" cy="5478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8AB83F-6176-9150-E459-B40D5A3954B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521784" y="983929"/>
            <a:ext cx="732538" cy="5478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45CFDA-123B-2ED0-F435-38177BAC37FB}"/>
              </a:ext>
            </a:extLst>
          </p:cNvPr>
          <p:cNvGrpSpPr/>
          <p:nvPr/>
        </p:nvGrpSpPr>
        <p:grpSpPr>
          <a:xfrm>
            <a:off x="777126" y="3082342"/>
            <a:ext cx="4243534" cy="506205"/>
            <a:chOff x="777126" y="3082342"/>
            <a:chExt cx="4243534" cy="5062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AD97B4-2DB8-C1CE-3C13-0DCB33A6F237}"/>
                </a:ext>
              </a:extLst>
            </p:cNvPr>
            <p:cNvSpPr txBox="1"/>
            <p:nvPr/>
          </p:nvSpPr>
          <p:spPr>
            <a:xfrm>
              <a:off x="777126" y="3188940"/>
              <a:ext cx="4243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How can we estimate        from       ?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4515DE-09C4-885E-AA46-84E75F7C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7793" y="3144945"/>
              <a:ext cx="330200" cy="381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285F6D7-ECAE-6C29-A24D-3054D7246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4" t="9515" r="88981" b="16617"/>
            <a:stretch/>
          </p:blipFill>
          <p:spPr>
            <a:xfrm>
              <a:off x="4204894" y="3082342"/>
              <a:ext cx="333634" cy="50620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212AD0-ECB3-3E48-F3A7-523997A2A4E3}"/>
              </a:ext>
            </a:extLst>
          </p:cNvPr>
          <p:cNvSpPr txBox="1"/>
          <p:nvPr/>
        </p:nvSpPr>
        <p:spPr>
          <a:xfrm>
            <a:off x="777126" y="528098"/>
            <a:ext cx="303365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Simpler inverse problem: 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45C2E3E-FB10-623D-2744-D375F5F2A561}"/>
              </a:ext>
            </a:extLst>
          </p:cNvPr>
          <p:cNvCxnSpPr>
            <a:cxnSpLocks/>
          </p:cNvCxnSpPr>
          <p:nvPr/>
        </p:nvCxnSpPr>
        <p:spPr>
          <a:xfrm flipV="1">
            <a:off x="4843263" y="479010"/>
            <a:ext cx="305365" cy="406063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0446B9-20A6-E24F-F748-6BFBF9C06992}"/>
              </a:ext>
            </a:extLst>
          </p:cNvPr>
          <p:cNvGrpSpPr/>
          <p:nvPr/>
        </p:nvGrpSpPr>
        <p:grpSpPr>
          <a:xfrm>
            <a:off x="777126" y="4062856"/>
            <a:ext cx="10948054" cy="2076941"/>
            <a:chOff x="777126" y="4062856"/>
            <a:chExt cx="10948054" cy="20769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340DFC-0ADC-FF9F-0537-F466844559CB}"/>
                </a:ext>
              </a:extLst>
            </p:cNvPr>
            <p:cNvSpPr txBox="1"/>
            <p:nvPr/>
          </p:nvSpPr>
          <p:spPr>
            <a:xfrm>
              <a:off x="777126" y="4108472"/>
              <a:ext cx="10649005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1. Langevin showed us a way to sample from             if we can estimate  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 </a:t>
              </a:r>
            </a:p>
            <a:p>
              <a:endParaRPr lang="en-US" dirty="0">
                <a:solidFill>
                  <a:srgbClr val="C00000"/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		2. Say we can somehow estimate                          , which is the gradient of 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		4. Can we call those samples “generative data” if we make noise negligible?   </a:t>
              </a:r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FDF1687-EE83-F3DA-3BFA-6F498FDFC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9FA2F12-64AC-D60A-83B4-72AE38AF4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22B1E6-2AD7-4873-B868-4F3357079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64D7A48-EFFC-21B0-9CB3-39B0C1907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41C10B-8591-9589-82C4-E53DFC87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DBCA27D-2F5F-3DE0-B3E8-C2756EFD97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B68A65-8519-29BC-039E-D2AFAE80A649}"/>
              </a:ext>
            </a:extLst>
          </p:cNvPr>
          <p:cNvCxnSpPr>
            <a:cxnSpLocks/>
          </p:cNvCxnSpPr>
          <p:nvPr/>
        </p:nvCxnSpPr>
        <p:spPr>
          <a:xfrm>
            <a:off x="7925496" y="6139797"/>
            <a:ext cx="3096733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0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9842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154E5-78A6-2008-A9E0-55AD5751F9DF}"/>
              </a:ext>
            </a:extLst>
          </p:cNvPr>
          <p:cNvSpPr/>
          <p:nvPr/>
        </p:nvSpPr>
        <p:spPr>
          <a:xfrm>
            <a:off x="2014151" y="3688369"/>
            <a:ext cx="2863512" cy="7531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20D80-528E-6FD0-2434-6285499D9DF2}"/>
              </a:ext>
            </a:extLst>
          </p:cNvPr>
          <p:cNvGrpSpPr/>
          <p:nvPr/>
        </p:nvGrpSpPr>
        <p:grpSpPr>
          <a:xfrm>
            <a:off x="480564" y="5312635"/>
            <a:ext cx="2696135" cy="1242774"/>
            <a:chOff x="615476" y="5091281"/>
            <a:chExt cx="2696135" cy="124277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03CC007-5238-1CB5-6B9E-7A7AB9AA241E}"/>
                </a:ext>
              </a:extLst>
            </p:cNvPr>
            <p:cNvSpPr/>
            <p:nvPr/>
          </p:nvSpPr>
          <p:spPr>
            <a:xfrm>
              <a:off x="615476" y="5091281"/>
              <a:ext cx="2696135" cy="124277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FC074E-D578-98AA-36D3-DFF71DDCD836}"/>
                </a:ext>
              </a:extLst>
            </p:cNvPr>
            <p:cNvSpPr txBox="1"/>
            <p:nvPr/>
          </p:nvSpPr>
          <p:spPr>
            <a:xfrm>
              <a:off x="730216" y="5115995"/>
              <a:ext cx="2011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Remember this?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1596B5-EEBA-876C-2687-C55DD16FEA0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176699" y="5194632"/>
            <a:ext cx="876317" cy="7393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E285BD-8D34-C6A8-0086-AF6A78370515}"/>
              </a:ext>
            </a:extLst>
          </p:cNvPr>
          <p:cNvCxnSpPr>
            <a:cxnSpLocks/>
          </p:cNvCxnSpPr>
          <p:nvPr/>
        </p:nvCxnSpPr>
        <p:spPr>
          <a:xfrm>
            <a:off x="3346936" y="4441501"/>
            <a:ext cx="706080" cy="5797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92F3C0E-20BC-3C61-B952-66E9AF21161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294" y="5680225"/>
            <a:ext cx="2583877" cy="8751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B6CE95C-1DD5-9F99-29B5-B058940428E2}"/>
              </a:ext>
            </a:extLst>
          </p:cNvPr>
          <p:cNvSpPr txBox="1"/>
          <p:nvPr/>
        </p:nvSpPr>
        <p:spPr>
          <a:xfrm>
            <a:off x="4053016" y="496257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Same?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53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154E5-78A6-2008-A9E0-55AD5751F9DF}"/>
              </a:ext>
            </a:extLst>
          </p:cNvPr>
          <p:cNvSpPr/>
          <p:nvPr/>
        </p:nvSpPr>
        <p:spPr>
          <a:xfrm>
            <a:off x="2014151" y="3688369"/>
            <a:ext cx="2863512" cy="7531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20D80-528E-6FD0-2434-6285499D9DF2}"/>
              </a:ext>
            </a:extLst>
          </p:cNvPr>
          <p:cNvGrpSpPr/>
          <p:nvPr/>
        </p:nvGrpSpPr>
        <p:grpSpPr>
          <a:xfrm>
            <a:off x="480564" y="5312635"/>
            <a:ext cx="2696135" cy="1242774"/>
            <a:chOff x="615476" y="5091281"/>
            <a:chExt cx="2696135" cy="124277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03CC007-5238-1CB5-6B9E-7A7AB9AA241E}"/>
                </a:ext>
              </a:extLst>
            </p:cNvPr>
            <p:cNvSpPr/>
            <p:nvPr/>
          </p:nvSpPr>
          <p:spPr>
            <a:xfrm>
              <a:off x="615476" y="5091281"/>
              <a:ext cx="2696135" cy="124277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FC074E-D578-98AA-36D3-DFF71DDCD836}"/>
                </a:ext>
              </a:extLst>
            </p:cNvPr>
            <p:cNvSpPr txBox="1"/>
            <p:nvPr/>
          </p:nvSpPr>
          <p:spPr>
            <a:xfrm>
              <a:off x="730216" y="5115995"/>
              <a:ext cx="2011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Remember this?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1596B5-EEBA-876C-2687-C55DD16FEA0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176699" y="5194632"/>
            <a:ext cx="876317" cy="7393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E285BD-8D34-C6A8-0086-AF6A78370515}"/>
              </a:ext>
            </a:extLst>
          </p:cNvPr>
          <p:cNvCxnSpPr>
            <a:cxnSpLocks/>
          </p:cNvCxnSpPr>
          <p:nvPr/>
        </p:nvCxnSpPr>
        <p:spPr>
          <a:xfrm>
            <a:off x="3346936" y="4441501"/>
            <a:ext cx="706080" cy="5797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92F3C0E-20BC-3C61-B952-66E9AF21161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294" y="5680225"/>
            <a:ext cx="2583877" cy="8751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B6CE95C-1DD5-9F99-29B5-B058940428E2}"/>
              </a:ext>
            </a:extLst>
          </p:cNvPr>
          <p:cNvSpPr txBox="1"/>
          <p:nvPr/>
        </p:nvSpPr>
        <p:spPr>
          <a:xfrm>
            <a:off x="4053016" y="496257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Same?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69555F2-4077-63DD-C460-EB9E49FC1A73}"/>
              </a:ext>
            </a:extLst>
          </p:cNvPr>
          <p:cNvGrpSpPr/>
          <p:nvPr/>
        </p:nvGrpSpPr>
        <p:grpSpPr>
          <a:xfrm>
            <a:off x="5049995" y="2681417"/>
            <a:ext cx="7142005" cy="4176584"/>
            <a:chOff x="0" y="2109168"/>
            <a:chExt cx="12191999" cy="4748832"/>
          </a:xfrm>
        </p:grpSpPr>
        <p:pic>
          <p:nvPicPr>
            <p:cNvPr id="43" name="Picture 2" descr="Morocco, man standing on desert dune looking at view stock photo">
              <a:extLst>
                <a:ext uri="{FF2B5EF4-FFF2-40B4-BE49-F238E27FC236}">
                  <a16:creationId xmlns:a16="http://schemas.microsoft.com/office/drawing/2014/main" id="{B19F881B-DD9E-B6FF-E212-8306D16513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768" b="7851"/>
            <a:stretch/>
          </p:blipFill>
          <p:spPr bwMode="auto">
            <a:xfrm>
              <a:off x="0" y="2109168"/>
              <a:ext cx="12191999" cy="4748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" descr="The 8 Best AI Face Generators to Try in 2024">
              <a:extLst>
                <a:ext uri="{FF2B5EF4-FFF2-40B4-BE49-F238E27FC236}">
                  <a16:creationId xmlns:a16="http://schemas.microsoft.com/office/drawing/2014/main" id="{9D521062-885B-4AAC-CC2F-0FDC27C521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092" y="3004898"/>
              <a:ext cx="2319479" cy="1049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2D369E7-6290-14CE-DDA2-F9580F5151A3}"/>
                </a:ext>
              </a:extLst>
            </p:cNvPr>
            <p:cNvSpPr/>
            <p:nvPr/>
          </p:nvSpPr>
          <p:spPr>
            <a:xfrm>
              <a:off x="1898765" y="4527733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379CF65-E3DE-E65E-119A-54DF505AAFD2}"/>
                </a:ext>
              </a:extLst>
            </p:cNvPr>
            <p:cNvSpPr/>
            <p:nvPr/>
          </p:nvSpPr>
          <p:spPr>
            <a:xfrm>
              <a:off x="782157" y="4276363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FDCF44A-1FCF-FC4D-5A92-79729949797D}"/>
                </a:ext>
              </a:extLst>
            </p:cNvPr>
            <p:cNvSpPr/>
            <p:nvPr/>
          </p:nvSpPr>
          <p:spPr>
            <a:xfrm>
              <a:off x="1167836" y="4334693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8EAB205-CD6F-7257-3525-E464E5792555}"/>
                </a:ext>
              </a:extLst>
            </p:cNvPr>
            <p:cNvSpPr/>
            <p:nvPr/>
          </p:nvSpPr>
          <p:spPr>
            <a:xfrm>
              <a:off x="324092" y="4504874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E108BF-81F0-4A00-6EB3-5949656CE90E}"/>
                </a:ext>
              </a:extLst>
            </p:cNvPr>
            <p:cNvSpPr/>
            <p:nvPr/>
          </p:nvSpPr>
          <p:spPr>
            <a:xfrm>
              <a:off x="8685891" y="5389735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8" descr="Diffusion Models and DALL-E ...">
              <a:extLst>
                <a:ext uri="{FF2B5EF4-FFF2-40B4-BE49-F238E27FC236}">
                  <a16:creationId xmlns:a16="http://schemas.microsoft.com/office/drawing/2014/main" id="{40ABB5C4-D470-C623-70DB-851985E14E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983" r="51389" b="13164"/>
            <a:stretch/>
          </p:blipFill>
          <p:spPr bwMode="auto">
            <a:xfrm>
              <a:off x="8141619" y="5606385"/>
              <a:ext cx="1927666" cy="714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A9DADEC-1ACF-88CF-DEC9-1DDA99E72980}"/>
                </a:ext>
              </a:extLst>
            </p:cNvPr>
            <p:cNvSpPr/>
            <p:nvPr/>
          </p:nvSpPr>
          <p:spPr>
            <a:xfrm>
              <a:off x="9154439" y="5434573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2A6E840-80C4-4D88-219C-9313BA0E9EF7}"/>
                </a:ext>
              </a:extLst>
            </p:cNvPr>
            <p:cNvSpPr/>
            <p:nvPr/>
          </p:nvSpPr>
          <p:spPr>
            <a:xfrm>
              <a:off x="6394565" y="3123475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2F93F6F-AB3F-6AE0-E305-14383170C870}"/>
                </a:ext>
              </a:extLst>
            </p:cNvPr>
            <p:cNvSpPr/>
            <p:nvPr/>
          </p:nvSpPr>
          <p:spPr>
            <a:xfrm>
              <a:off x="6546965" y="3275875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51D2152-7177-CA45-D594-0B89752C59B8}"/>
                </a:ext>
              </a:extLst>
            </p:cNvPr>
            <p:cNvSpPr/>
            <p:nvPr/>
          </p:nvSpPr>
          <p:spPr>
            <a:xfrm>
              <a:off x="6246815" y="3252290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8B9D882-C96D-CA43-F5A7-7DF4ACEDD19E}"/>
                </a:ext>
              </a:extLst>
            </p:cNvPr>
            <p:cNvSpPr/>
            <p:nvPr/>
          </p:nvSpPr>
          <p:spPr>
            <a:xfrm>
              <a:off x="11605066" y="3285310"/>
              <a:ext cx="261257" cy="4571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111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154E5-78A6-2008-A9E0-55AD5751F9DF}"/>
              </a:ext>
            </a:extLst>
          </p:cNvPr>
          <p:cNvSpPr/>
          <p:nvPr/>
        </p:nvSpPr>
        <p:spPr>
          <a:xfrm>
            <a:off x="2014151" y="3688369"/>
            <a:ext cx="2863512" cy="7531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20D80-528E-6FD0-2434-6285499D9DF2}"/>
              </a:ext>
            </a:extLst>
          </p:cNvPr>
          <p:cNvGrpSpPr/>
          <p:nvPr/>
        </p:nvGrpSpPr>
        <p:grpSpPr>
          <a:xfrm>
            <a:off x="480564" y="5312635"/>
            <a:ext cx="2696135" cy="1242774"/>
            <a:chOff x="615476" y="5091281"/>
            <a:chExt cx="2696135" cy="124277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03CC007-5238-1CB5-6B9E-7A7AB9AA241E}"/>
                </a:ext>
              </a:extLst>
            </p:cNvPr>
            <p:cNvSpPr/>
            <p:nvPr/>
          </p:nvSpPr>
          <p:spPr>
            <a:xfrm>
              <a:off x="615476" y="5091281"/>
              <a:ext cx="2696135" cy="124277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FC074E-D578-98AA-36D3-DFF71DDCD836}"/>
                </a:ext>
              </a:extLst>
            </p:cNvPr>
            <p:cNvSpPr txBox="1"/>
            <p:nvPr/>
          </p:nvSpPr>
          <p:spPr>
            <a:xfrm>
              <a:off x="730216" y="5115995"/>
              <a:ext cx="2011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Remember this?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1596B5-EEBA-876C-2687-C55DD16FEA0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176699" y="5194632"/>
            <a:ext cx="876317" cy="7393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E285BD-8D34-C6A8-0086-AF6A78370515}"/>
              </a:ext>
            </a:extLst>
          </p:cNvPr>
          <p:cNvCxnSpPr>
            <a:cxnSpLocks/>
          </p:cNvCxnSpPr>
          <p:nvPr/>
        </p:nvCxnSpPr>
        <p:spPr>
          <a:xfrm>
            <a:off x="3346936" y="4441501"/>
            <a:ext cx="706080" cy="5797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92F3C0E-20BC-3C61-B952-66E9AF21161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294" y="5680225"/>
            <a:ext cx="2583877" cy="8751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B6CE95C-1DD5-9F99-29B5-B058940428E2}"/>
              </a:ext>
            </a:extLst>
          </p:cNvPr>
          <p:cNvSpPr txBox="1"/>
          <p:nvPr/>
        </p:nvSpPr>
        <p:spPr>
          <a:xfrm>
            <a:off x="4053016" y="496257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Same?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B68EEE-52EA-9771-B538-9CC46D18258F}"/>
              </a:ext>
            </a:extLst>
          </p:cNvPr>
          <p:cNvGrpSpPr/>
          <p:nvPr/>
        </p:nvGrpSpPr>
        <p:grpSpPr>
          <a:xfrm>
            <a:off x="5302567" y="3497996"/>
            <a:ext cx="6458465" cy="2940682"/>
            <a:chOff x="5302567" y="3497996"/>
            <a:chExt cx="6458465" cy="2940682"/>
          </a:xfrm>
        </p:grpSpPr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4DE2F602-4842-D995-D3FF-7907E610FB35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00FF0DE-F64C-576C-2CF5-BE0554BAF861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BE7040-B4B1-2320-5734-BC709A2A74AB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9A05F5-ADFD-27A6-85FD-942B019ED1BD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2AA6E1-F14A-6100-0E90-C0F8332B3A93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6219FE-C7CA-B364-264C-6E6A5EAA575A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0BE50B4-8AEE-B1FB-2894-78EAAFAC05E2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4390988-7157-481E-9A67-DE835C85AF37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860220B-6F59-8FF9-402D-CC17C183116B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E9562EA-0AF3-DD90-5B18-934911D07B90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100F465-B766-EA19-C4C5-3FC10635EBF3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5FAD4F9-BB02-3BB8-FD6B-E320443795C4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5F5C28C-4D49-86A8-C058-D9A881724BA3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8637405-30F1-59E7-D6A2-10C7E4BF264F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D7F79F1-5957-0098-3761-72E56A8006F0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8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154E5-78A6-2008-A9E0-55AD5751F9DF}"/>
              </a:ext>
            </a:extLst>
          </p:cNvPr>
          <p:cNvSpPr/>
          <p:nvPr/>
        </p:nvSpPr>
        <p:spPr>
          <a:xfrm>
            <a:off x="2014151" y="3688369"/>
            <a:ext cx="2863512" cy="7531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20D80-528E-6FD0-2434-6285499D9DF2}"/>
              </a:ext>
            </a:extLst>
          </p:cNvPr>
          <p:cNvGrpSpPr/>
          <p:nvPr/>
        </p:nvGrpSpPr>
        <p:grpSpPr>
          <a:xfrm>
            <a:off x="480564" y="5312635"/>
            <a:ext cx="2696135" cy="1242774"/>
            <a:chOff x="615476" y="5091281"/>
            <a:chExt cx="2696135" cy="124277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03CC007-5238-1CB5-6B9E-7A7AB9AA241E}"/>
                </a:ext>
              </a:extLst>
            </p:cNvPr>
            <p:cNvSpPr/>
            <p:nvPr/>
          </p:nvSpPr>
          <p:spPr>
            <a:xfrm>
              <a:off x="615476" y="5091281"/>
              <a:ext cx="2696135" cy="124277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FC074E-D578-98AA-36D3-DFF71DDCD836}"/>
                </a:ext>
              </a:extLst>
            </p:cNvPr>
            <p:cNvSpPr txBox="1"/>
            <p:nvPr/>
          </p:nvSpPr>
          <p:spPr>
            <a:xfrm>
              <a:off x="730216" y="5115995"/>
              <a:ext cx="2011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Remember this?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1596B5-EEBA-876C-2687-C55DD16FEA0A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176699" y="5194632"/>
            <a:ext cx="876317" cy="7393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E285BD-8D34-C6A8-0086-AF6A78370515}"/>
              </a:ext>
            </a:extLst>
          </p:cNvPr>
          <p:cNvCxnSpPr>
            <a:cxnSpLocks/>
          </p:cNvCxnSpPr>
          <p:nvPr/>
        </p:nvCxnSpPr>
        <p:spPr>
          <a:xfrm>
            <a:off x="3346936" y="4441501"/>
            <a:ext cx="706080" cy="5797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92F3C0E-20BC-3C61-B952-66E9AF21161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294" y="5680225"/>
            <a:ext cx="2583877" cy="8751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B6CE95C-1DD5-9F99-29B5-B058940428E2}"/>
              </a:ext>
            </a:extLst>
          </p:cNvPr>
          <p:cNvSpPr txBox="1"/>
          <p:nvPr/>
        </p:nvSpPr>
        <p:spPr>
          <a:xfrm>
            <a:off x="4053016" y="496257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Same?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E30A7D-DD2D-6327-37F8-C01302C90E61}"/>
              </a:ext>
            </a:extLst>
          </p:cNvPr>
          <p:cNvCxnSpPr>
            <a:cxnSpLocks/>
          </p:cNvCxnSpPr>
          <p:nvPr/>
        </p:nvCxnSpPr>
        <p:spPr>
          <a:xfrm flipV="1">
            <a:off x="5143492" y="2527206"/>
            <a:ext cx="0" cy="4048073"/>
          </a:xfrm>
          <a:prstGeom prst="line">
            <a:avLst/>
          </a:prstGeom>
          <a:ln w="12700"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F89EDB-D778-B531-9036-873BC3B4C647}"/>
              </a:ext>
            </a:extLst>
          </p:cNvPr>
          <p:cNvGrpSpPr/>
          <p:nvPr/>
        </p:nvGrpSpPr>
        <p:grpSpPr>
          <a:xfrm>
            <a:off x="5674835" y="2544517"/>
            <a:ext cx="6108700" cy="1943100"/>
            <a:chOff x="5674835" y="2544517"/>
            <a:chExt cx="6108700" cy="194310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C4587F8C-C940-8AAB-FF71-ACBABE4B48FA}"/>
                </a:ext>
              </a:extLst>
            </p:cNvPr>
            <p:cNvSpPr/>
            <p:nvPr/>
          </p:nvSpPr>
          <p:spPr>
            <a:xfrm>
              <a:off x="6731782" y="2569230"/>
              <a:ext cx="1015907" cy="6241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926DA06-424D-8EAB-D01A-44EB3ED3EB1C}"/>
                </a:ext>
              </a:extLst>
            </p:cNvPr>
            <p:cNvSpPr/>
            <p:nvPr/>
          </p:nvSpPr>
          <p:spPr>
            <a:xfrm>
              <a:off x="9257658" y="2558216"/>
              <a:ext cx="1591577" cy="6241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5A1D168-11AB-85D6-D2F9-518E5E6DC525}"/>
                </a:ext>
              </a:extLst>
            </p:cNvPr>
            <p:cNvCxnSpPr>
              <a:cxnSpLocks/>
            </p:cNvCxnSpPr>
            <p:nvPr/>
          </p:nvCxnSpPr>
          <p:spPr>
            <a:xfrm>
              <a:off x="7234001" y="3182010"/>
              <a:ext cx="1291079" cy="7597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4E3C74-8A76-1214-1ECD-9D162D5357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7769" y="3193394"/>
              <a:ext cx="1495677" cy="7484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12EA67D-D975-BE4D-76AA-71EAB32EE37C}"/>
                </a:ext>
              </a:extLst>
            </p:cNvPr>
            <p:cNvSpPr/>
            <p:nvPr/>
          </p:nvSpPr>
          <p:spPr>
            <a:xfrm>
              <a:off x="8139181" y="3974541"/>
              <a:ext cx="708260" cy="37503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A891C0A-46A9-EE9F-82DD-4200DABF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674835" y="2544517"/>
              <a:ext cx="6108700" cy="1943100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42D38F9-4564-52B8-2067-1A7CF99C305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2094" y="4752186"/>
            <a:ext cx="44704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2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154E5-78A6-2008-A9E0-55AD5751F9DF}"/>
              </a:ext>
            </a:extLst>
          </p:cNvPr>
          <p:cNvSpPr/>
          <p:nvPr/>
        </p:nvSpPr>
        <p:spPr>
          <a:xfrm>
            <a:off x="2014151" y="3688369"/>
            <a:ext cx="2863512" cy="7531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635B-C983-2B7A-32C3-8A8B6735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7" y="3087047"/>
            <a:ext cx="4837336" cy="1354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252137" y="250733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E30A7D-DD2D-6327-37F8-C01302C90E61}"/>
              </a:ext>
            </a:extLst>
          </p:cNvPr>
          <p:cNvCxnSpPr>
            <a:cxnSpLocks/>
          </p:cNvCxnSpPr>
          <p:nvPr/>
        </p:nvCxnSpPr>
        <p:spPr>
          <a:xfrm flipV="1">
            <a:off x="5143492" y="2527206"/>
            <a:ext cx="0" cy="4048073"/>
          </a:xfrm>
          <a:prstGeom prst="line">
            <a:avLst/>
          </a:prstGeom>
          <a:ln w="12700"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F42D38F9-4564-52B8-2067-1A7CF99C305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9322" y="2558216"/>
            <a:ext cx="4470400" cy="18923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A2F2409-A28C-C8B6-5DE6-A48B2589647C}"/>
              </a:ext>
            </a:extLst>
          </p:cNvPr>
          <p:cNvGrpSpPr/>
          <p:nvPr/>
        </p:nvGrpSpPr>
        <p:grpSpPr>
          <a:xfrm>
            <a:off x="246894" y="5021212"/>
            <a:ext cx="4622470" cy="1523338"/>
            <a:chOff x="5674835" y="2544517"/>
            <a:chExt cx="6108700" cy="194310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6E784D85-4117-FD2F-09EE-616BB3EE4BC9}"/>
                </a:ext>
              </a:extLst>
            </p:cNvPr>
            <p:cNvSpPr/>
            <p:nvPr/>
          </p:nvSpPr>
          <p:spPr>
            <a:xfrm>
              <a:off x="6731782" y="2569230"/>
              <a:ext cx="1015907" cy="6241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5C8E7E2-4ACE-20C9-A86A-BAB55BFFFEE0}"/>
                </a:ext>
              </a:extLst>
            </p:cNvPr>
            <p:cNvSpPr/>
            <p:nvPr/>
          </p:nvSpPr>
          <p:spPr>
            <a:xfrm>
              <a:off x="9257658" y="2558216"/>
              <a:ext cx="1591577" cy="6241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C5403E1-7D00-D278-8E5F-2BE3E3AB0912}"/>
                </a:ext>
              </a:extLst>
            </p:cNvPr>
            <p:cNvCxnSpPr>
              <a:cxnSpLocks/>
            </p:cNvCxnSpPr>
            <p:nvPr/>
          </p:nvCxnSpPr>
          <p:spPr>
            <a:xfrm>
              <a:off x="7234001" y="3182010"/>
              <a:ext cx="1291079" cy="7597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AFC30E2-9741-16E2-CA1B-DAEA2C8F3B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7769" y="3193394"/>
              <a:ext cx="1495677" cy="7484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D04F76-61A2-911C-ADBB-CC93D354F4BC}"/>
                </a:ext>
              </a:extLst>
            </p:cNvPr>
            <p:cNvSpPr/>
            <p:nvPr/>
          </p:nvSpPr>
          <p:spPr>
            <a:xfrm>
              <a:off x="8139181" y="3974541"/>
              <a:ext cx="708260" cy="37503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9BC3507-E612-914C-5D62-19981B4D7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674835" y="2544517"/>
              <a:ext cx="6108700" cy="1943100"/>
            </a:xfrm>
            <a:prstGeom prst="rect">
              <a:avLst/>
            </a:prstGeom>
          </p:spPr>
        </p:pic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3841" y="5040586"/>
            <a:ext cx="5054600" cy="13335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CED67A2-12F6-0F8F-6F37-44C86B26919E}"/>
              </a:ext>
            </a:extLst>
          </p:cNvPr>
          <p:cNvSpPr txBox="1"/>
          <p:nvPr/>
        </p:nvSpPr>
        <p:spPr>
          <a:xfrm>
            <a:off x="3266785" y="4394445"/>
            <a:ext cx="1739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rPr>
              <a:t>Gaussian blurring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0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821781" y="250077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487" y="3015211"/>
            <a:ext cx="5778983" cy="152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51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use Langevin to sample modes of the             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821781" y="250077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487" y="3015211"/>
            <a:ext cx="5778983" cy="15246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B2D4B-FE18-2F74-4730-C1666E1AAD58}"/>
              </a:ext>
            </a:extLst>
          </p:cNvPr>
          <p:cNvCxnSpPr>
            <a:cxnSpLocks/>
          </p:cNvCxnSpPr>
          <p:nvPr/>
        </p:nvCxnSpPr>
        <p:spPr>
          <a:xfrm>
            <a:off x="5986401" y="4307453"/>
            <a:ext cx="122994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28181E-7188-DA87-345F-D58636AAE73B}"/>
              </a:ext>
            </a:extLst>
          </p:cNvPr>
          <p:cNvSpPr txBox="1"/>
          <p:nvPr/>
        </p:nvSpPr>
        <p:spPr>
          <a:xfrm>
            <a:off x="7308890" y="4122787"/>
            <a:ext cx="159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is this?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4" name="Picture 2" descr="Clapping Hands Emoji (U+1F44F)">
            <a:extLst>
              <a:ext uri="{FF2B5EF4-FFF2-40B4-BE49-F238E27FC236}">
                <a16:creationId xmlns:a16="http://schemas.microsoft.com/office/drawing/2014/main" id="{690D7E15-94CC-1CB1-579D-93C48BB13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260" y="3777514"/>
            <a:ext cx="889672" cy="88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1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821781" y="250077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487" y="3015211"/>
            <a:ext cx="5778983" cy="15246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B2D4B-FE18-2F74-4730-C1666E1AAD58}"/>
              </a:ext>
            </a:extLst>
          </p:cNvPr>
          <p:cNvCxnSpPr>
            <a:cxnSpLocks/>
          </p:cNvCxnSpPr>
          <p:nvPr/>
        </p:nvCxnSpPr>
        <p:spPr>
          <a:xfrm>
            <a:off x="5986401" y="4307453"/>
            <a:ext cx="122994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28181E-7188-DA87-345F-D58636AAE73B}"/>
              </a:ext>
            </a:extLst>
          </p:cNvPr>
          <p:cNvSpPr txBox="1"/>
          <p:nvPr/>
        </p:nvSpPr>
        <p:spPr>
          <a:xfrm>
            <a:off x="7308890" y="4122787"/>
            <a:ext cx="330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is this? It’s a denoiser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3D731D-9527-F796-7F2B-6D3681CCB105}"/>
              </a:ext>
            </a:extLst>
          </p:cNvPr>
          <p:cNvCxnSpPr>
            <a:cxnSpLocks/>
          </p:cNvCxnSpPr>
          <p:nvPr/>
        </p:nvCxnSpPr>
        <p:spPr>
          <a:xfrm>
            <a:off x="4058484" y="1826114"/>
            <a:ext cx="4714813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lapping Hands Emoji (U+1F44F)">
            <a:extLst>
              <a:ext uri="{FF2B5EF4-FFF2-40B4-BE49-F238E27FC236}">
                <a16:creationId xmlns:a16="http://schemas.microsoft.com/office/drawing/2014/main" id="{B5725971-6AE4-C07D-9B95-CB70774E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260" y="3777514"/>
            <a:ext cx="889672" cy="88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72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97D3C3-C3DB-FCD8-8856-4C3069C13DBB}"/>
              </a:ext>
            </a:extLst>
          </p:cNvPr>
          <p:cNvGrpSpPr/>
          <p:nvPr/>
        </p:nvGrpSpPr>
        <p:grpSpPr>
          <a:xfrm>
            <a:off x="480564" y="256975"/>
            <a:ext cx="10948054" cy="2076941"/>
            <a:chOff x="777126" y="4062856"/>
            <a:chExt cx="10948054" cy="20769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DEE99-590C-CCE9-088F-2ADF90BE02E2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B8C71F-B514-000C-3621-8A9BF55D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67CE51-24BE-60F7-65B7-1A85DD30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2A9B8-FE43-240B-94F6-ABB194A06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5EFEB2-C0CA-0E57-2919-3F7CC6C6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49A710-35E1-F97A-6BB2-8B80A2365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BD2146-4538-8285-797A-00F5E621D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A5679-C8DF-3660-4459-A8FC00B76717}"/>
              </a:ext>
            </a:extLst>
          </p:cNvPr>
          <p:cNvCxnSpPr>
            <a:cxnSpLocks/>
          </p:cNvCxnSpPr>
          <p:nvPr/>
        </p:nvCxnSpPr>
        <p:spPr>
          <a:xfrm>
            <a:off x="3930797" y="1276817"/>
            <a:ext cx="3611638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821781" y="2500776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487" y="3015211"/>
            <a:ext cx="5778983" cy="15246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B2D4B-FE18-2F74-4730-C1666E1AAD58}"/>
              </a:ext>
            </a:extLst>
          </p:cNvPr>
          <p:cNvCxnSpPr>
            <a:cxnSpLocks/>
          </p:cNvCxnSpPr>
          <p:nvPr/>
        </p:nvCxnSpPr>
        <p:spPr>
          <a:xfrm>
            <a:off x="5986401" y="4307453"/>
            <a:ext cx="122994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28181E-7188-DA87-345F-D58636AAE73B}"/>
              </a:ext>
            </a:extLst>
          </p:cNvPr>
          <p:cNvSpPr txBox="1"/>
          <p:nvPr/>
        </p:nvSpPr>
        <p:spPr>
          <a:xfrm>
            <a:off x="7308890" y="4122787"/>
            <a:ext cx="330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is this? It’s a denoiser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3D731D-9527-F796-7F2B-6D3681CCB105}"/>
              </a:ext>
            </a:extLst>
          </p:cNvPr>
          <p:cNvCxnSpPr>
            <a:cxnSpLocks/>
          </p:cNvCxnSpPr>
          <p:nvPr/>
        </p:nvCxnSpPr>
        <p:spPr>
          <a:xfrm>
            <a:off x="4058484" y="1826114"/>
            <a:ext cx="4714813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lapping Hands Emoji (U+1F44F)">
            <a:extLst>
              <a:ext uri="{FF2B5EF4-FFF2-40B4-BE49-F238E27FC236}">
                <a16:creationId xmlns:a16="http://schemas.microsoft.com/office/drawing/2014/main" id="{B5725971-6AE4-C07D-9B95-CB70774E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260" y="3777514"/>
            <a:ext cx="889672" cy="88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BD29F0D-4A8B-FCDB-6EAA-2B301F6DAE91}"/>
              </a:ext>
            </a:extLst>
          </p:cNvPr>
          <p:cNvGrpSpPr/>
          <p:nvPr/>
        </p:nvGrpSpPr>
        <p:grpSpPr>
          <a:xfrm>
            <a:off x="3393008" y="5072754"/>
            <a:ext cx="5380289" cy="1123341"/>
            <a:chOff x="3393008" y="5072754"/>
            <a:chExt cx="5380289" cy="11233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6015B9-7661-BF73-839E-52F4E80298F5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5EBF50E-6AEB-395F-553A-DA4A8C870F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A3D1FE5-FCB7-56E1-C4FD-C9DEA0B4ED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0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759998" y="1694658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4704" y="2209093"/>
            <a:ext cx="5778983" cy="15246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B2D4B-FE18-2F74-4730-C1666E1AAD58}"/>
              </a:ext>
            </a:extLst>
          </p:cNvPr>
          <p:cNvCxnSpPr>
            <a:cxnSpLocks/>
          </p:cNvCxnSpPr>
          <p:nvPr/>
        </p:nvCxnSpPr>
        <p:spPr>
          <a:xfrm>
            <a:off x="5924618" y="3501335"/>
            <a:ext cx="122994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28181E-7188-DA87-345F-D58636AAE73B}"/>
              </a:ext>
            </a:extLst>
          </p:cNvPr>
          <p:cNvSpPr txBox="1"/>
          <p:nvPr/>
        </p:nvSpPr>
        <p:spPr>
          <a:xfrm>
            <a:off x="7247107" y="3316669"/>
            <a:ext cx="330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is this? It’s a denoiser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5" name="Picture 2" descr="Clapping Hands Emoji (U+1F44F)">
            <a:extLst>
              <a:ext uri="{FF2B5EF4-FFF2-40B4-BE49-F238E27FC236}">
                <a16:creationId xmlns:a16="http://schemas.microsoft.com/office/drawing/2014/main" id="{B5725971-6AE4-C07D-9B95-CB70774E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145" y="3075758"/>
            <a:ext cx="529939" cy="52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99" y="5035878"/>
            <a:ext cx="4935653" cy="696252"/>
          </a:xfrm>
          <a:prstGeom prst="rect">
            <a:avLst/>
          </a:prstGeom>
        </p:spPr>
      </p:pic>
      <p:pic>
        <p:nvPicPr>
          <p:cNvPr id="52226" name="Picture 2" descr="Gradient Descent From Scratch- Batch Gradient Descent, Stochastic Gradient  Descent, and Mini-Batch Gradient Descent. | by Jaleel Adejumo | Medium">
            <a:extLst>
              <a:ext uri="{FF2B5EF4-FFF2-40B4-BE49-F238E27FC236}">
                <a16:creationId xmlns:a16="http://schemas.microsoft.com/office/drawing/2014/main" id="{FCCE42D7-1EC6-DC1D-33C9-17E6F6E790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0" t="17441" r="2927" b="20563"/>
          <a:stretch/>
        </p:blipFill>
        <p:spPr bwMode="auto">
          <a:xfrm>
            <a:off x="6662715" y="4208475"/>
            <a:ext cx="4472124" cy="174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478C7DC9-8AD0-EC8A-E93D-CFB0D5B333A5}"/>
              </a:ext>
            </a:extLst>
          </p:cNvPr>
          <p:cNvSpPr/>
          <p:nvPr/>
        </p:nvSpPr>
        <p:spPr>
          <a:xfrm rot="16200000">
            <a:off x="2502718" y="3430029"/>
            <a:ext cx="152528" cy="4572762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176899" y="3752234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72449-C3DD-16E0-83FF-B987109ABBC6}"/>
              </a:ext>
            </a:extLst>
          </p:cNvPr>
          <p:cNvGrpSpPr/>
          <p:nvPr/>
        </p:nvGrpSpPr>
        <p:grpSpPr>
          <a:xfrm>
            <a:off x="450591" y="-592640"/>
            <a:ext cx="10948054" cy="2076941"/>
            <a:chOff x="777126" y="4062856"/>
            <a:chExt cx="10948054" cy="20769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4EA2C0-E462-5A1B-383A-FA70C7E6A2D1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3D8C22B-C631-0BFF-3269-468EBA44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65C6BA3-C8DC-A067-B664-78AE4BAB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7CCA52E-8099-6CF9-0F4C-81327632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C1DE6BD-B906-A095-322F-505C8D3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56D460-3F10-7118-35AB-322D21671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9A374BC-46EA-755A-5E34-1FE2B33EF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4DAAD86-6F5D-0C34-5221-A25300A07B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500" t="6358" r="30124"/>
          <a:stretch/>
        </p:blipFill>
        <p:spPr>
          <a:xfrm>
            <a:off x="7154322" y="3962788"/>
            <a:ext cx="561513" cy="65198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85177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6502E-19C9-E711-D759-D3E8461528BD}"/>
              </a:ext>
            </a:extLst>
          </p:cNvPr>
          <p:cNvGrpSpPr/>
          <p:nvPr/>
        </p:nvGrpSpPr>
        <p:grpSpPr>
          <a:xfrm>
            <a:off x="3759998" y="1694658"/>
            <a:ext cx="3566101" cy="579711"/>
            <a:chOff x="239780" y="2466293"/>
            <a:chExt cx="3566101" cy="5797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20297C-9E86-1998-64C8-802A21BD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780" y="2466293"/>
              <a:ext cx="3566101" cy="57971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A4F9F4-13E1-693D-3569-1D923FD23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885" y="2517173"/>
              <a:ext cx="305365" cy="406063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2D76AF8-A326-E1F9-EA6C-CC2DC1ECBE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4704" y="2209093"/>
            <a:ext cx="5778983" cy="15246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B2D4B-FE18-2F74-4730-C1666E1AAD58}"/>
              </a:ext>
            </a:extLst>
          </p:cNvPr>
          <p:cNvCxnSpPr>
            <a:cxnSpLocks/>
          </p:cNvCxnSpPr>
          <p:nvPr/>
        </p:nvCxnSpPr>
        <p:spPr>
          <a:xfrm>
            <a:off x="5924618" y="3501335"/>
            <a:ext cx="122994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28181E-7188-DA87-345F-D58636AAE73B}"/>
              </a:ext>
            </a:extLst>
          </p:cNvPr>
          <p:cNvSpPr txBox="1"/>
          <p:nvPr/>
        </p:nvSpPr>
        <p:spPr>
          <a:xfrm>
            <a:off x="7247107" y="3316669"/>
            <a:ext cx="330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is this? It’s a denoiser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5" name="Picture 2" descr="Clapping Hands Emoji (U+1F44F)">
            <a:extLst>
              <a:ext uri="{FF2B5EF4-FFF2-40B4-BE49-F238E27FC236}">
                <a16:creationId xmlns:a16="http://schemas.microsoft.com/office/drawing/2014/main" id="{B5725971-6AE4-C07D-9B95-CB70774E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145" y="3075758"/>
            <a:ext cx="529939" cy="52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99" y="5035878"/>
            <a:ext cx="4935653" cy="6962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176899" y="3752234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72449-C3DD-16E0-83FF-B987109ABBC6}"/>
              </a:ext>
            </a:extLst>
          </p:cNvPr>
          <p:cNvGrpSpPr/>
          <p:nvPr/>
        </p:nvGrpSpPr>
        <p:grpSpPr>
          <a:xfrm>
            <a:off x="450591" y="-592640"/>
            <a:ext cx="10948054" cy="2076941"/>
            <a:chOff x="777126" y="4062856"/>
            <a:chExt cx="10948054" cy="20769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4EA2C0-E462-5A1B-383A-FA70C7E6A2D1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3D8C22B-C631-0BFF-3269-468EBA44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65C6BA3-C8DC-A067-B664-78AE4BAB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7CCA52E-8099-6CF9-0F4C-81327632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C1DE6BD-B906-A095-322F-505C8D3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56D460-3F10-7118-35AB-322D21671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9A374BC-46EA-755A-5E34-1FE2B33EF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512CCE-669E-E7A8-BC20-39B63CEA709F}"/>
              </a:ext>
            </a:extLst>
          </p:cNvPr>
          <p:cNvGrpSpPr/>
          <p:nvPr/>
        </p:nvGrpSpPr>
        <p:grpSpPr>
          <a:xfrm>
            <a:off x="6764418" y="4366958"/>
            <a:ext cx="5250103" cy="2126170"/>
            <a:chOff x="5302567" y="3497996"/>
            <a:chExt cx="6458465" cy="2940682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AC872C5-E4A3-90CB-8E69-4E34721D791A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A66666-AFF4-31BB-BE6E-89F88FD56E09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2D59B0-4C78-1224-ACC7-007FFFDDD540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10319A-D142-D0AF-DE41-6C1D518AD700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51D324-702F-A6BD-8EAB-3F1C4DA3C017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6797B7-7E22-4272-C0DF-8713E539FA19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13E75C-F43A-91F0-9BDD-6263EA33AF7F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1CBEA8-967C-5BAE-4F0B-B13FFDC8EEFA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27E0E5-6A96-4F37-0097-9476DF4C9E38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5DD095-68C2-D3FE-608F-8B495F7AFF24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BC71B6-9A92-B4E7-4CE9-E94C51C50678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AD508B-8FE8-383A-2F2C-C2C57550759D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180862-10B6-0338-1370-FF0AAD70FAED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4F8C46-D0BB-0CB5-C034-A15DCB53697D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2F000A3-D778-425D-F4FF-7184F39BBBA3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BEFC2C8-1BF7-6EEA-A684-87A5C32CA24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687" t="15338" r="5404"/>
          <a:stretch/>
        </p:blipFill>
        <p:spPr>
          <a:xfrm>
            <a:off x="2376715" y="5177294"/>
            <a:ext cx="1321201" cy="430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57608F-002D-EC99-FC8D-49878EBD8CB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7247107" y="4120816"/>
            <a:ext cx="950506" cy="41635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46358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6" y="2984657"/>
            <a:ext cx="4935653" cy="6962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263396" y="1701013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72449-C3DD-16E0-83FF-B987109ABBC6}"/>
              </a:ext>
            </a:extLst>
          </p:cNvPr>
          <p:cNvGrpSpPr/>
          <p:nvPr/>
        </p:nvGrpSpPr>
        <p:grpSpPr>
          <a:xfrm>
            <a:off x="450591" y="-592640"/>
            <a:ext cx="10948054" cy="2076941"/>
            <a:chOff x="777126" y="4062856"/>
            <a:chExt cx="10948054" cy="20769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4EA2C0-E462-5A1B-383A-FA70C7E6A2D1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3D8C22B-C631-0BFF-3269-468EBA44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65C6BA3-C8DC-A067-B664-78AE4BAB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7CCA52E-8099-6CF9-0F4C-81327632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C1DE6BD-B906-A095-322F-505C8D3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56D460-3F10-7118-35AB-322D21671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9A374BC-46EA-755A-5E34-1FE2B33EF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512CCE-669E-E7A8-BC20-39B63CEA709F}"/>
              </a:ext>
            </a:extLst>
          </p:cNvPr>
          <p:cNvGrpSpPr/>
          <p:nvPr/>
        </p:nvGrpSpPr>
        <p:grpSpPr>
          <a:xfrm>
            <a:off x="6850915" y="2315737"/>
            <a:ext cx="5250103" cy="2126170"/>
            <a:chOff x="5302567" y="3497996"/>
            <a:chExt cx="6458465" cy="2940682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AC872C5-E4A3-90CB-8E69-4E34721D791A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A66666-AFF4-31BB-BE6E-89F88FD56E09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2D59B0-4C78-1224-ACC7-007FFFDDD540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10319A-D142-D0AF-DE41-6C1D518AD700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51D324-702F-A6BD-8EAB-3F1C4DA3C017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6797B7-7E22-4272-C0DF-8713E539FA19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13E75C-F43A-91F0-9BDD-6263EA33AF7F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1CBEA8-967C-5BAE-4F0B-B13FFDC8EEFA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27E0E5-6A96-4F37-0097-9476DF4C9E38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5DD095-68C2-D3FE-608F-8B495F7AFF24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BC71B6-9A92-B4E7-4CE9-E94C51C50678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AD508B-8FE8-383A-2F2C-C2C57550759D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180862-10B6-0338-1370-FF0AAD70FAED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4F8C46-D0BB-0CB5-C034-A15DCB53697D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2F000A3-D778-425D-F4FF-7184F39BBBA3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BEFC2C8-1BF7-6EEA-A684-87A5C32CA2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687" t="15338" r="5404"/>
          <a:stretch/>
        </p:blipFill>
        <p:spPr>
          <a:xfrm>
            <a:off x="2463212" y="3126073"/>
            <a:ext cx="1321201" cy="430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57608F-002D-EC99-FC8D-49878EBD8CB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7333604" y="2069595"/>
            <a:ext cx="950506" cy="4163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918421-935D-4A35-0901-E0214D14579A}"/>
              </a:ext>
            </a:extLst>
          </p:cNvPr>
          <p:cNvSpPr txBox="1"/>
          <p:nvPr/>
        </p:nvSpPr>
        <p:spPr>
          <a:xfrm>
            <a:off x="700329" y="4787655"/>
            <a:ext cx="101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So start from a random point and do Langevin ascent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 you have samples from modes of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B096DE-D01F-8D06-E566-B8D7AF43FC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10682851" y="4787655"/>
            <a:ext cx="950506" cy="41635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28045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6" y="2984657"/>
            <a:ext cx="4935653" cy="6962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263396" y="1701013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72449-C3DD-16E0-83FF-B987109ABBC6}"/>
              </a:ext>
            </a:extLst>
          </p:cNvPr>
          <p:cNvGrpSpPr/>
          <p:nvPr/>
        </p:nvGrpSpPr>
        <p:grpSpPr>
          <a:xfrm>
            <a:off x="450591" y="-592640"/>
            <a:ext cx="10948054" cy="2076941"/>
            <a:chOff x="777126" y="4062856"/>
            <a:chExt cx="10948054" cy="20769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4EA2C0-E462-5A1B-383A-FA70C7E6A2D1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3D8C22B-C631-0BFF-3269-468EBA44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65C6BA3-C8DC-A067-B664-78AE4BAB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7CCA52E-8099-6CF9-0F4C-81327632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C1DE6BD-B906-A095-322F-505C8D3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56D460-3F10-7118-35AB-322D21671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9A374BC-46EA-755A-5E34-1FE2B33EF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512CCE-669E-E7A8-BC20-39B63CEA709F}"/>
              </a:ext>
            </a:extLst>
          </p:cNvPr>
          <p:cNvGrpSpPr/>
          <p:nvPr/>
        </p:nvGrpSpPr>
        <p:grpSpPr>
          <a:xfrm>
            <a:off x="6850915" y="2315737"/>
            <a:ext cx="5250103" cy="2126170"/>
            <a:chOff x="5302567" y="3497996"/>
            <a:chExt cx="6458465" cy="2940682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AC872C5-E4A3-90CB-8E69-4E34721D791A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A66666-AFF4-31BB-BE6E-89F88FD56E09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2D59B0-4C78-1224-ACC7-007FFFDDD540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10319A-D142-D0AF-DE41-6C1D518AD700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51D324-702F-A6BD-8EAB-3F1C4DA3C017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6797B7-7E22-4272-C0DF-8713E539FA19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13E75C-F43A-91F0-9BDD-6263EA33AF7F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1CBEA8-967C-5BAE-4F0B-B13FFDC8EEFA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27E0E5-6A96-4F37-0097-9476DF4C9E38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5DD095-68C2-D3FE-608F-8B495F7AFF24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BC71B6-9A92-B4E7-4CE9-E94C51C50678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AD508B-8FE8-383A-2F2C-C2C57550759D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180862-10B6-0338-1370-FF0AAD70FAED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4F8C46-D0BB-0CB5-C034-A15DCB53697D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2F000A3-D778-425D-F4FF-7184F39BBBA3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BEFC2C8-1BF7-6EEA-A684-87A5C32CA2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687" t="15338" r="5404"/>
          <a:stretch/>
        </p:blipFill>
        <p:spPr>
          <a:xfrm>
            <a:off x="2463212" y="3126073"/>
            <a:ext cx="1321201" cy="430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57608F-002D-EC99-FC8D-49878EBD8CB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7333604" y="2069595"/>
            <a:ext cx="950506" cy="4163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918421-935D-4A35-0901-E0214D14579A}"/>
              </a:ext>
            </a:extLst>
          </p:cNvPr>
          <p:cNvSpPr txBox="1"/>
          <p:nvPr/>
        </p:nvSpPr>
        <p:spPr>
          <a:xfrm>
            <a:off x="700329" y="4787655"/>
            <a:ext cx="101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So start from a random point and do Langevin ascent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 you have samples from modes of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B096DE-D01F-8D06-E566-B8D7AF43FC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10682851" y="4787655"/>
            <a:ext cx="950506" cy="416356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384F5CC-B3F9-43FB-15E0-73FFE0DA0143}"/>
              </a:ext>
            </a:extLst>
          </p:cNvPr>
          <p:cNvGrpSpPr/>
          <p:nvPr/>
        </p:nvGrpSpPr>
        <p:grpSpPr>
          <a:xfrm>
            <a:off x="7974747" y="3286897"/>
            <a:ext cx="2292601" cy="592587"/>
            <a:chOff x="7974747" y="3286897"/>
            <a:chExt cx="2292601" cy="59258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6CEDB3C-049E-5CBD-CD35-F6EBB44FA1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583868B-2E81-E9F3-C902-8691D8D9B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B6635-979B-422B-5590-8B1DAB8D88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0C14BF-9E5A-1B60-467E-EB3DFEC54D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C856A9-CD15-F399-417D-EFA61DEB5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BFEC692-A227-DAA6-3004-E8B6D72DD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AD2F4E-913C-1A3D-524E-E48E04CF2F04}"/>
              </a:ext>
            </a:extLst>
          </p:cNvPr>
          <p:cNvGrpSpPr/>
          <p:nvPr/>
        </p:nvGrpSpPr>
        <p:grpSpPr>
          <a:xfrm rot="1061812" flipH="1">
            <a:off x="8485644" y="2270798"/>
            <a:ext cx="1140062" cy="610736"/>
            <a:chOff x="7974747" y="3286897"/>
            <a:chExt cx="2292601" cy="59258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C239A6-182F-2812-18A7-5573B72E54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CD30127-07AD-1270-991D-01871B90A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51F2C0-345D-9D95-DD4B-F10F0F4F16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A8EBF0B-6DCE-5288-D540-0DC93D9BB3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ABC12A-E772-D0C1-F38E-939B07A86A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64E7FA5-74C5-1EAD-4173-928E4A9AF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024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6" y="2984657"/>
            <a:ext cx="4935653" cy="6962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263396" y="1701013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72449-C3DD-16E0-83FF-B987109ABBC6}"/>
              </a:ext>
            </a:extLst>
          </p:cNvPr>
          <p:cNvGrpSpPr/>
          <p:nvPr/>
        </p:nvGrpSpPr>
        <p:grpSpPr>
          <a:xfrm>
            <a:off x="450591" y="-592640"/>
            <a:ext cx="10948054" cy="2076941"/>
            <a:chOff x="777126" y="4062856"/>
            <a:chExt cx="10948054" cy="20769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4EA2C0-E462-5A1B-383A-FA70C7E6A2D1}"/>
                </a:ext>
              </a:extLst>
            </p:cNvPr>
            <p:cNvSpPr txBox="1"/>
            <p:nvPr/>
          </p:nvSpPr>
          <p:spPr>
            <a:xfrm>
              <a:off x="777126" y="4108472"/>
              <a:ext cx="1089465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 sketch:       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1. Langevin showed us a way to sample from             if we can estimate   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2. Say we can </a:t>
              </a:r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77"/>
                </a:rPr>
                <a:t>somehow estimate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                       , which is the gradient of 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3. Then we can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use Langevin to sample modes of the           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distribution.</a:t>
              </a:r>
            </a:p>
            <a:p>
              <a:endPara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77"/>
              </a:endParaRPr>
            </a:p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		4. Can we call those samples “generative data” if we make noise negligible? </a:t>
              </a:r>
              <a:r>
                <a:rPr lang="en-US" dirty="0">
                  <a:latin typeface="Arial Rounded MT Bold" panose="020F0704030504030204" pitchFamily="34" charset="77"/>
                </a:rPr>
                <a:t>  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 Rounded MT Bold" panose="020F0704030504030204" pitchFamily="34" charset="77"/>
                </a:rPr>
                <a:t>   </a:t>
              </a:r>
              <a:endParaRPr 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3D8C22B-C631-0BFF-3269-468EBA44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5452" y="4066679"/>
              <a:ext cx="695830" cy="42820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65C6BA3-C8DC-A067-B664-78AE4BAB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60273" y="4062856"/>
              <a:ext cx="1311509" cy="4320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7CCA52E-8099-6CF9-0F4C-81327632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9350" y="4084593"/>
              <a:ext cx="695830" cy="4282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C1DE6BD-B906-A095-322F-505C8D3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82963" y="4565188"/>
              <a:ext cx="1556034" cy="50840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56D460-3F10-7118-35AB-322D21671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9552" t="-4000"/>
            <a:stretch/>
          </p:blipFill>
          <p:spPr>
            <a:xfrm>
              <a:off x="8557766" y="5082698"/>
              <a:ext cx="629375" cy="5287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9A374BC-46EA-755A-5E34-1FE2B33EF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28" t="434" b="-1"/>
            <a:stretch/>
          </p:blipFill>
          <p:spPr>
            <a:xfrm>
              <a:off x="10593883" y="4576493"/>
              <a:ext cx="1077899" cy="50620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512CCE-669E-E7A8-BC20-39B63CEA709F}"/>
              </a:ext>
            </a:extLst>
          </p:cNvPr>
          <p:cNvGrpSpPr/>
          <p:nvPr/>
        </p:nvGrpSpPr>
        <p:grpSpPr>
          <a:xfrm>
            <a:off x="6850915" y="2315737"/>
            <a:ext cx="5250103" cy="2126170"/>
            <a:chOff x="5302567" y="3497996"/>
            <a:chExt cx="6458465" cy="2940682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AC872C5-E4A3-90CB-8E69-4E34721D791A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A66666-AFF4-31BB-BE6E-89F88FD56E09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2D59B0-4C78-1224-ACC7-007FFFDDD540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10319A-D142-D0AF-DE41-6C1D518AD700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51D324-702F-A6BD-8EAB-3F1C4DA3C017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6797B7-7E22-4272-C0DF-8713E539FA19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13E75C-F43A-91F0-9BDD-6263EA33AF7F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1CBEA8-967C-5BAE-4F0B-B13FFDC8EEFA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27E0E5-6A96-4F37-0097-9476DF4C9E38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5DD095-68C2-D3FE-608F-8B495F7AFF24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BC71B6-9A92-B4E7-4CE9-E94C51C50678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AD508B-8FE8-383A-2F2C-C2C57550759D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180862-10B6-0338-1370-FF0AAD70FAED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4F8C46-D0BB-0CB5-C034-A15DCB53697D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2F000A3-D778-425D-F4FF-7184F39BBBA3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BEFC2C8-1BF7-6EEA-A684-87A5C32CA2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687" t="15338" r="5404"/>
          <a:stretch/>
        </p:blipFill>
        <p:spPr>
          <a:xfrm>
            <a:off x="2463212" y="3126073"/>
            <a:ext cx="1321201" cy="430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57608F-002D-EC99-FC8D-49878EBD8CB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7333604" y="2069595"/>
            <a:ext cx="950506" cy="4163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918421-935D-4A35-0901-E0214D14579A}"/>
              </a:ext>
            </a:extLst>
          </p:cNvPr>
          <p:cNvSpPr txBox="1"/>
          <p:nvPr/>
        </p:nvSpPr>
        <p:spPr>
          <a:xfrm>
            <a:off x="700329" y="4787655"/>
            <a:ext cx="101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So start from a random point and do Langevin ascent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 you have samples from modes of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B096DE-D01F-8D06-E566-B8D7AF43FC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10682851" y="4787655"/>
            <a:ext cx="950506" cy="416356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384F5CC-B3F9-43FB-15E0-73FFE0DA0143}"/>
              </a:ext>
            </a:extLst>
          </p:cNvPr>
          <p:cNvGrpSpPr/>
          <p:nvPr/>
        </p:nvGrpSpPr>
        <p:grpSpPr>
          <a:xfrm>
            <a:off x="7974747" y="3286897"/>
            <a:ext cx="2292601" cy="592587"/>
            <a:chOff x="7974747" y="3286897"/>
            <a:chExt cx="2292601" cy="59258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6CEDB3C-049E-5CBD-CD35-F6EBB44FA1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583868B-2E81-E9F3-C902-8691D8D9B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B6635-979B-422B-5590-8B1DAB8D88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0C14BF-9E5A-1B60-467E-EB3DFEC54D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C856A9-CD15-F399-417D-EFA61DEB5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BFEC692-A227-DAA6-3004-E8B6D72DD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AD2F4E-913C-1A3D-524E-E48E04CF2F04}"/>
              </a:ext>
            </a:extLst>
          </p:cNvPr>
          <p:cNvGrpSpPr/>
          <p:nvPr/>
        </p:nvGrpSpPr>
        <p:grpSpPr>
          <a:xfrm rot="1061812" flipH="1">
            <a:off x="8485644" y="2270798"/>
            <a:ext cx="1140062" cy="610736"/>
            <a:chOff x="7974747" y="3286897"/>
            <a:chExt cx="2292601" cy="59258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C239A6-182F-2812-18A7-5573B72E54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CD30127-07AD-1270-991D-01871B90A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51F2C0-345D-9D95-DD4B-F10F0F4F16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A8EBF0B-6DCE-5288-D540-0DC93D9BB3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ABC12A-E772-D0C1-F38E-939B07A86A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64E7FA5-74C5-1EAD-4173-928E4A9AF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2BC9888-3C8A-0BFC-2897-2C363896ED90}"/>
              </a:ext>
            </a:extLst>
          </p:cNvPr>
          <p:cNvSpPr txBox="1"/>
          <p:nvPr/>
        </p:nvSpPr>
        <p:spPr>
          <a:xfrm>
            <a:off x="325181" y="5625505"/>
            <a:ext cx="615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recall,           was a blurring with a Gaussian kernel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BDAD8BC-D94B-31D2-303B-DFB347D374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9552" t="-4000"/>
          <a:stretch/>
        </p:blipFill>
        <p:spPr>
          <a:xfrm>
            <a:off x="1550346" y="5502735"/>
            <a:ext cx="629375" cy="5287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4A6E9C5-B636-E574-E1F7-4F50C241107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367" t="7744"/>
          <a:stretch/>
        </p:blipFill>
        <p:spPr>
          <a:xfrm>
            <a:off x="6392530" y="5597677"/>
            <a:ext cx="960685" cy="48619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4B424646-0750-4C1D-D1DA-9AE561DAA136}"/>
              </a:ext>
            </a:extLst>
          </p:cNvPr>
          <p:cNvGrpSpPr/>
          <p:nvPr/>
        </p:nvGrpSpPr>
        <p:grpSpPr>
          <a:xfrm>
            <a:off x="307157" y="6069113"/>
            <a:ext cx="11181523" cy="369332"/>
            <a:chOff x="275753" y="4452934"/>
            <a:chExt cx="11181523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6BF7E7-032B-D2D4-79AB-D518780CBE9D}"/>
                </a:ext>
              </a:extLst>
            </p:cNvPr>
            <p:cNvSpPr txBox="1"/>
            <p:nvPr/>
          </p:nvSpPr>
          <p:spPr>
            <a:xfrm>
              <a:off x="275753" y="4452934"/>
              <a:ext cx="11181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To start from far away initial points (far from images) we should blur with               , then do Langevin.</a:t>
              </a:r>
              <a:endParaRPr lang="en-US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7EBD1AF-6427-C8DC-0916-5E66966C3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70392" y="4461386"/>
              <a:ext cx="991870" cy="349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72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84BDFF-65AB-FA39-E7E9-60501F3D1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" y="1378278"/>
            <a:ext cx="4935653" cy="6962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F8080-0D5C-D867-F731-EC35C162B266}"/>
              </a:ext>
            </a:extLst>
          </p:cNvPr>
          <p:cNvGrpSpPr/>
          <p:nvPr/>
        </p:nvGrpSpPr>
        <p:grpSpPr>
          <a:xfrm>
            <a:off x="213969" y="94634"/>
            <a:ext cx="5380289" cy="1123341"/>
            <a:chOff x="3393008" y="5072754"/>
            <a:chExt cx="5380289" cy="11233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B4226-7827-34D8-DD24-0FC3AAB2BF20}"/>
                </a:ext>
              </a:extLst>
            </p:cNvPr>
            <p:cNvSpPr txBox="1"/>
            <p:nvPr/>
          </p:nvSpPr>
          <p:spPr>
            <a:xfrm>
              <a:off x="3393008" y="5072754"/>
              <a:ext cx="51800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Langevin, Ito, Euler said:</a:t>
              </a:r>
              <a:b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</a:br>
              <a:r>
                <a:rPr lang="en-US" dirty="0">
                  <a:latin typeface="Arial Rounded MT Bold" panose="020F0704030504030204" pitchFamily="34" charset="77"/>
                </a:rPr>
                <a:t>We can give you samples from distribution    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if you can give us 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1FED1-EE3A-C371-FB06-88110D0FC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500" t="6358" r="30124"/>
            <a:stretch/>
          </p:blipFill>
          <p:spPr>
            <a:xfrm>
              <a:off x="8211784" y="5226804"/>
              <a:ext cx="561513" cy="65198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D7F939-9EA7-4861-3EE8-3C6576271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82" t="11683" r="30124"/>
            <a:stretch/>
          </p:blipFill>
          <p:spPr>
            <a:xfrm>
              <a:off x="5481611" y="5581183"/>
              <a:ext cx="1228777" cy="61491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512CCE-669E-E7A8-BC20-39B63CEA709F}"/>
              </a:ext>
            </a:extLst>
          </p:cNvPr>
          <p:cNvGrpSpPr/>
          <p:nvPr/>
        </p:nvGrpSpPr>
        <p:grpSpPr>
          <a:xfrm>
            <a:off x="6801488" y="709358"/>
            <a:ext cx="5250103" cy="2126170"/>
            <a:chOff x="5302567" y="3497996"/>
            <a:chExt cx="6458465" cy="2940682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AC872C5-E4A3-90CB-8E69-4E34721D791A}"/>
                </a:ext>
              </a:extLst>
            </p:cNvPr>
            <p:cNvSpPr/>
            <p:nvPr/>
          </p:nvSpPr>
          <p:spPr>
            <a:xfrm>
              <a:off x="5302567" y="3497996"/>
              <a:ext cx="6458465" cy="2940682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A66666-AFF4-31BB-BE6E-89F88FD56E09}"/>
                </a:ext>
              </a:extLst>
            </p:cNvPr>
            <p:cNvSpPr/>
            <p:nvPr/>
          </p:nvSpPr>
          <p:spPr>
            <a:xfrm>
              <a:off x="7274139" y="5652141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2D59B0-4C78-1224-ACC7-007FFFDDD540}"/>
                </a:ext>
              </a:extLst>
            </p:cNvPr>
            <p:cNvSpPr/>
            <p:nvPr/>
          </p:nvSpPr>
          <p:spPr>
            <a:xfrm>
              <a:off x="6629710" y="5371458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10319A-D142-D0AF-DE41-6C1D518AD700}"/>
                </a:ext>
              </a:extLst>
            </p:cNvPr>
            <p:cNvSpPr/>
            <p:nvPr/>
          </p:nvSpPr>
          <p:spPr>
            <a:xfrm>
              <a:off x="6852297" y="5436590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51D324-702F-A6BD-8EAB-3F1C4DA3C017}"/>
                </a:ext>
              </a:extLst>
            </p:cNvPr>
            <p:cNvSpPr/>
            <p:nvPr/>
          </p:nvSpPr>
          <p:spPr>
            <a:xfrm>
              <a:off x="6365346" y="562661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6797B7-7E22-4272-C0DF-8713E539FA19}"/>
                </a:ext>
              </a:extLst>
            </p:cNvPr>
            <p:cNvSpPr/>
            <p:nvPr/>
          </p:nvSpPr>
          <p:spPr>
            <a:xfrm>
              <a:off x="8394341" y="5947245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13E75C-F43A-91F0-9BDD-6263EA33AF7F}"/>
                </a:ext>
              </a:extLst>
            </p:cNvPr>
            <p:cNvSpPr/>
            <p:nvPr/>
          </p:nvSpPr>
          <p:spPr>
            <a:xfrm>
              <a:off x="8683603" y="5997312"/>
              <a:ext cx="267114" cy="9043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1CBEA8-967C-5BAE-4F0B-B13FFDC8EEFA}"/>
                </a:ext>
              </a:extLst>
            </p:cNvPr>
            <p:cNvSpPr/>
            <p:nvPr/>
          </p:nvSpPr>
          <p:spPr>
            <a:xfrm>
              <a:off x="6705099" y="5997312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27E0E5-6A96-4F37-0097-9476DF4C9E38}"/>
                </a:ext>
              </a:extLst>
            </p:cNvPr>
            <p:cNvSpPr/>
            <p:nvPr/>
          </p:nvSpPr>
          <p:spPr>
            <a:xfrm>
              <a:off x="9010290" y="5918076"/>
              <a:ext cx="267114" cy="9043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5DD095-68C2-D3FE-608F-8B495F7AFF24}"/>
                </a:ext>
              </a:extLst>
            </p:cNvPr>
            <p:cNvSpPr/>
            <p:nvPr/>
          </p:nvSpPr>
          <p:spPr>
            <a:xfrm>
              <a:off x="8783395" y="385777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BC71B6-9A92-B4E7-4CE9-E94C51C50678}"/>
                </a:ext>
              </a:extLst>
            </p:cNvPr>
            <p:cNvSpPr/>
            <p:nvPr/>
          </p:nvSpPr>
          <p:spPr>
            <a:xfrm>
              <a:off x="8871350" y="4027941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AD508B-8FE8-383A-2F2C-C2C57550759D}"/>
                </a:ext>
              </a:extLst>
            </p:cNvPr>
            <p:cNvSpPr/>
            <p:nvPr/>
          </p:nvSpPr>
          <p:spPr>
            <a:xfrm>
              <a:off x="8549903" y="4001606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180862-10B6-0338-1370-FF0AAD70FAED}"/>
                </a:ext>
              </a:extLst>
            </p:cNvPr>
            <p:cNvSpPr/>
            <p:nvPr/>
          </p:nvSpPr>
          <p:spPr>
            <a:xfrm>
              <a:off x="10149895" y="3806720"/>
              <a:ext cx="182442" cy="1094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4F8C46-D0BB-0CB5-C034-A15DCB53697D}"/>
                </a:ext>
              </a:extLst>
            </p:cNvPr>
            <p:cNvSpPr/>
            <p:nvPr/>
          </p:nvSpPr>
          <p:spPr>
            <a:xfrm>
              <a:off x="6425789" y="5390426"/>
              <a:ext cx="2843074" cy="699033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2F000A3-D778-425D-F4FF-7184F39BBBA3}"/>
                </a:ext>
              </a:extLst>
            </p:cNvPr>
            <p:cNvSpPr/>
            <p:nvPr/>
          </p:nvSpPr>
          <p:spPr>
            <a:xfrm rot="19629389">
              <a:off x="8571976" y="3850035"/>
              <a:ext cx="1628371" cy="337110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BEFC2C8-1BF7-6EEA-A684-87A5C32CA2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9687" t="15338" r="5404"/>
          <a:stretch/>
        </p:blipFill>
        <p:spPr>
          <a:xfrm>
            <a:off x="2413785" y="1519694"/>
            <a:ext cx="1321201" cy="430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57608F-002D-EC99-FC8D-49878EBD8C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7284177" y="463216"/>
            <a:ext cx="950506" cy="4163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918421-935D-4A35-0901-E0214D14579A}"/>
              </a:ext>
            </a:extLst>
          </p:cNvPr>
          <p:cNvSpPr txBox="1"/>
          <p:nvPr/>
        </p:nvSpPr>
        <p:spPr>
          <a:xfrm>
            <a:off x="650902" y="3181276"/>
            <a:ext cx="101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So start from a random point and do Langevin ascent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 you have samples from modes of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B096DE-D01F-8D06-E566-B8D7AF43FC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3510" t="18106" r="5404" b="1"/>
          <a:stretch/>
        </p:blipFill>
        <p:spPr>
          <a:xfrm>
            <a:off x="10633424" y="3181276"/>
            <a:ext cx="950506" cy="416356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384F5CC-B3F9-43FB-15E0-73FFE0DA0143}"/>
              </a:ext>
            </a:extLst>
          </p:cNvPr>
          <p:cNvGrpSpPr/>
          <p:nvPr/>
        </p:nvGrpSpPr>
        <p:grpSpPr>
          <a:xfrm>
            <a:off x="7925320" y="1680518"/>
            <a:ext cx="2292601" cy="592587"/>
            <a:chOff x="7974747" y="3286897"/>
            <a:chExt cx="2292601" cy="59258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6CEDB3C-049E-5CBD-CD35-F6EBB44FA1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583868B-2E81-E9F3-C902-8691D8D9B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B6635-979B-422B-5590-8B1DAB8D88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0C14BF-9E5A-1B60-467E-EB3DFEC54D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C856A9-CD15-F399-417D-EFA61DEB5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BFEC692-A227-DAA6-3004-E8B6D72DD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AD2F4E-913C-1A3D-524E-E48E04CF2F04}"/>
              </a:ext>
            </a:extLst>
          </p:cNvPr>
          <p:cNvGrpSpPr/>
          <p:nvPr/>
        </p:nvGrpSpPr>
        <p:grpSpPr>
          <a:xfrm rot="1061812" flipH="1">
            <a:off x="8436217" y="664419"/>
            <a:ext cx="1140062" cy="610736"/>
            <a:chOff x="7974747" y="3286897"/>
            <a:chExt cx="2292601" cy="59258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C239A6-182F-2812-18A7-5573B72E54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CD30127-07AD-1270-991D-01871B90A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51F2C0-345D-9D95-DD4B-F10F0F4F16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A8EBF0B-6DCE-5288-D540-0DC93D9BB3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ABC12A-E772-D0C1-F38E-939B07A86A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7833" y="3556508"/>
              <a:ext cx="300038" cy="1902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64E7FA5-74C5-1EAD-4173-928E4A9AF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747" y="3286897"/>
              <a:ext cx="309363" cy="26961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2BC9888-3C8A-0BFC-2897-2C363896ED90}"/>
              </a:ext>
            </a:extLst>
          </p:cNvPr>
          <p:cNvSpPr txBox="1"/>
          <p:nvPr/>
        </p:nvSpPr>
        <p:spPr>
          <a:xfrm>
            <a:off x="279299" y="3699855"/>
            <a:ext cx="615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recall,           was a blurring with a Gaussian kernel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BDAD8BC-D94B-31D2-303B-DFB347D3748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9552" t="-4000"/>
          <a:stretch/>
        </p:blipFill>
        <p:spPr>
          <a:xfrm>
            <a:off x="1504464" y="3577085"/>
            <a:ext cx="629375" cy="5287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4A6E9C5-B636-E574-E1F7-4F50C241107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367" t="7744"/>
          <a:stretch/>
        </p:blipFill>
        <p:spPr>
          <a:xfrm>
            <a:off x="6346648" y="3672027"/>
            <a:ext cx="960685" cy="486197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3FCB28D0-BC9B-A03A-52B5-C193C58AD7FE}"/>
              </a:ext>
            </a:extLst>
          </p:cNvPr>
          <p:cNvGrpSpPr/>
          <p:nvPr/>
        </p:nvGrpSpPr>
        <p:grpSpPr>
          <a:xfrm>
            <a:off x="266941" y="4663186"/>
            <a:ext cx="11844023" cy="1675829"/>
            <a:chOff x="266941" y="4663186"/>
            <a:chExt cx="11844023" cy="1675829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82FF140F-7705-BC09-7A40-B1DBEA73E8AF}"/>
                </a:ext>
              </a:extLst>
            </p:cNvPr>
            <p:cNvSpPr/>
            <p:nvPr/>
          </p:nvSpPr>
          <p:spPr>
            <a:xfrm>
              <a:off x="266941" y="4663186"/>
              <a:ext cx="11831666" cy="167582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F74CC8-34F7-2B7A-E46B-6593413509F4}"/>
                </a:ext>
              </a:extLst>
            </p:cNvPr>
            <p:cNvSpPr txBox="1"/>
            <p:nvPr/>
          </p:nvSpPr>
          <p:spPr>
            <a:xfrm>
              <a:off x="520573" y="4737328"/>
              <a:ext cx="3746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Ideas from simulated annealing: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EEFE3A7-D1E0-2A3B-7EBD-B882106E1152}"/>
                </a:ext>
              </a:extLst>
            </p:cNvPr>
            <p:cNvSpPr txBox="1"/>
            <p:nvPr/>
          </p:nvSpPr>
          <p:spPr>
            <a:xfrm>
              <a:off x="4253884" y="4756310"/>
              <a:ext cx="702038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Instead of 1000 Langevin steps on very highly blurred images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Blur with k decreasing noise levels: 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And perform 1000/k Langevin steps for each noise level.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4E61E1D-E178-1656-E7B0-E20B0A8B8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41274" y="5280954"/>
              <a:ext cx="3869690" cy="4191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9EE01DB-C996-6C18-BF74-6F6607B4648F}"/>
              </a:ext>
            </a:extLst>
          </p:cNvPr>
          <p:cNvGrpSpPr/>
          <p:nvPr/>
        </p:nvGrpSpPr>
        <p:grpSpPr>
          <a:xfrm>
            <a:off x="279298" y="4133663"/>
            <a:ext cx="11181523" cy="369332"/>
            <a:chOff x="275753" y="4452934"/>
            <a:chExt cx="11181523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6D483F0-C735-C3F5-AF20-E07313864E72}"/>
                </a:ext>
              </a:extLst>
            </p:cNvPr>
            <p:cNvSpPr txBox="1"/>
            <p:nvPr/>
          </p:nvSpPr>
          <p:spPr>
            <a:xfrm>
              <a:off x="275753" y="4452934"/>
              <a:ext cx="11181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To start from far away initial points (far from images) we should blur with               , then do Langevin.</a:t>
              </a:r>
              <a:endParaRPr lang="en-US" dirty="0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BE5379D-F525-9EBA-D22C-5ADC4A2EC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70392" y="4461386"/>
              <a:ext cx="991870" cy="349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7560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E493D9-E81C-028D-2F95-9BB9F246FA48}"/>
              </a:ext>
            </a:extLst>
          </p:cNvPr>
          <p:cNvGrpSpPr/>
          <p:nvPr/>
        </p:nvGrpSpPr>
        <p:grpSpPr>
          <a:xfrm>
            <a:off x="7924771" y="2525305"/>
            <a:ext cx="5217718" cy="2215101"/>
            <a:chOff x="6868953" y="1938248"/>
            <a:chExt cx="5217718" cy="2215101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218E5C2-EABE-E512-964A-3BF264D47016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2899CE-69DD-14B5-478C-C7DBB0AFE828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62C477-4AEF-ECFE-8C1D-81FB0B0F7D88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6712A9-32A7-AEC4-A881-23674557CD57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340EF2-DC64-341B-8C9F-714905EBF406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FF33B6D-956C-3E2E-600C-A8FB2254045B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FEC2E9-615F-4FC9-1712-AFA0F55D04D9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92CDE3-389C-8205-20F4-7DC2DA2110B2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913F834-7ED1-2F49-1308-6A82F741E6D5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03A605-7096-D546-636D-5B9D2A165474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48C848-CEBB-E879-A045-5662839B107E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19BE2CB-85C1-DBB1-1E07-0FC6B7C978A0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9E5821-C065-781B-47C2-226FF13F47F4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ACBC739-F060-E0CC-6BEB-C3047F29A994}"/>
                </a:ext>
              </a:extLst>
            </p:cNvPr>
            <p:cNvSpPr/>
            <p:nvPr/>
          </p:nvSpPr>
          <p:spPr>
            <a:xfrm>
              <a:off x="7776391" y="3363742"/>
              <a:ext cx="2296886" cy="526554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381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4253C-A32D-A8AF-A266-C99B6849B5AB}"/>
              </a:ext>
            </a:extLst>
          </p:cNvPr>
          <p:cNvGrpSpPr/>
          <p:nvPr/>
        </p:nvGrpSpPr>
        <p:grpSpPr>
          <a:xfrm>
            <a:off x="3240005" y="2525305"/>
            <a:ext cx="5217718" cy="2215101"/>
            <a:chOff x="6868953" y="1938248"/>
            <a:chExt cx="5217718" cy="2215101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DCE66417-2073-AD3F-722C-413E6575AB8F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F7FAA48-57A3-06DB-18D6-323866871BA4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1C69681-1077-4C46-AA33-2252EDDA9231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ED42001-3A44-F0B5-92F4-8411A1D8C869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6A4F19D-EC54-A080-EFE0-19A5AD1A21D5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1226B96-CF2D-0526-5266-F4E8BEA016C8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063C703-F835-8390-60E6-EA487C3685C4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67AE5B1-0728-1172-9B29-163E631333DD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6776F96-AEC2-43F9-1C2C-C78026525249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05AA46C-FF07-E70B-B5A0-A7DD0A75D95A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4AA5E6B-16E7-6B7E-29C8-7A5DF19A99D1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44E90AE-B69A-F51B-CF3B-2B444C54A099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1028EB5-EA15-3CB6-C9F4-8EB042A6B131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A7B2463-8F01-8144-71D9-5061587301CC}"/>
                </a:ext>
              </a:extLst>
            </p:cNvPr>
            <p:cNvSpPr/>
            <p:nvPr/>
          </p:nvSpPr>
          <p:spPr>
            <a:xfrm>
              <a:off x="7776391" y="3363742"/>
              <a:ext cx="2296886" cy="526554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889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27AA69-D036-6C4C-2014-3E3C157FC842}"/>
              </a:ext>
            </a:extLst>
          </p:cNvPr>
          <p:cNvGrpSpPr/>
          <p:nvPr/>
        </p:nvGrpSpPr>
        <p:grpSpPr>
          <a:xfrm>
            <a:off x="-512841" y="2525305"/>
            <a:ext cx="5217718" cy="2215101"/>
            <a:chOff x="6868953" y="1938248"/>
            <a:chExt cx="5217718" cy="2215101"/>
          </a:xfrm>
        </p:grpSpPr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034F4AE5-3733-8E91-8ABA-FFCB07E39AF8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42E3151-F0CF-7648-320D-9C915A727358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E4817C-0BBA-5E73-D9CF-CBB1F465ADB0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11C4BCA-E2F6-4146-E41E-F381EAC44FD3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E525C91-9845-A8D2-37B0-64A4061E30B0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3909E75-756C-1F37-4532-DA46C0369FEA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0DF2F31-8AA0-FC8A-E90F-F65103CFB2EE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6164A1A-21BF-7E38-139E-4EAF07BE5E77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3448978-2367-C19A-4F64-BE160C229CFD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3365A33-7E8E-EA43-C8E3-A2F4AA8BA014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87D6FDC-7223-5DC9-3187-FA8B0645DF1D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8430CFF-B025-DE6B-29DB-8A2FB8AB5AA2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27D8FAB-3A2F-1A08-3625-C5054C0F4BBE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2506C2B-AB58-2D90-DD2B-DC37FBE0400B}"/>
                </a:ext>
              </a:extLst>
            </p:cNvPr>
            <p:cNvSpPr/>
            <p:nvPr/>
          </p:nvSpPr>
          <p:spPr>
            <a:xfrm rot="20904882">
              <a:off x="7727560" y="2862117"/>
              <a:ext cx="2908279" cy="1110919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989E091-489C-FA64-7106-22F3C490D61E}"/>
              </a:ext>
            </a:extLst>
          </p:cNvPr>
          <p:cNvGrpSpPr/>
          <p:nvPr/>
        </p:nvGrpSpPr>
        <p:grpSpPr>
          <a:xfrm>
            <a:off x="173988" y="103295"/>
            <a:ext cx="11844023" cy="1675829"/>
            <a:chOff x="266941" y="4663186"/>
            <a:chExt cx="11844023" cy="1675829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0C0512DC-FC16-8107-9034-0F4467D52563}"/>
                </a:ext>
              </a:extLst>
            </p:cNvPr>
            <p:cNvSpPr/>
            <p:nvPr/>
          </p:nvSpPr>
          <p:spPr>
            <a:xfrm>
              <a:off x="266941" y="4663186"/>
              <a:ext cx="11831666" cy="167582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3E39C94-FAD9-C433-76B3-567128A9F83C}"/>
                </a:ext>
              </a:extLst>
            </p:cNvPr>
            <p:cNvSpPr txBox="1"/>
            <p:nvPr/>
          </p:nvSpPr>
          <p:spPr>
            <a:xfrm>
              <a:off x="520573" y="4737328"/>
              <a:ext cx="3746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Ideas from simulated annealing: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D8E871B-213A-7AB2-BD41-AC2FE4E89E45}"/>
                </a:ext>
              </a:extLst>
            </p:cNvPr>
            <p:cNvSpPr txBox="1"/>
            <p:nvPr/>
          </p:nvSpPr>
          <p:spPr>
            <a:xfrm>
              <a:off x="4253884" y="4756310"/>
              <a:ext cx="702038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Instead of 1000 Langevin steps on very highly blurred images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Blur with k decreasing noise levels: 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And perform 1000/k Langevin steps for each noise level.</a:t>
              </a: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1757055-EA51-647F-8036-8E38C4FA5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41274" y="5280954"/>
              <a:ext cx="3869690" cy="41910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EC416E6-9ACE-DF62-4282-EDD14E28888A}"/>
              </a:ext>
            </a:extLst>
          </p:cNvPr>
          <p:cNvGrpSpPr/>
          <p:nvPr/>
        </p:nvGrpSpPr>
        <p:grpSpPr>
          <a:xfrm>
            <a:off x="2605466" y="3936852"/>
            <a:ext cx="719023" cy="12357"/>
            <a:chOff x="9548325" y="3867127"/>
            <a:chExt cx="719023" cy="1235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6AD5045-C139-CDED-F41F-C2E211AE9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6F611B9-4ED7-2F0E-6E2B-C14C346750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02083AA-A8AE-4F9F-3130-22C9B8F23F0A}"/>
              </a:ext>
            </a:extLst>
          </p:cNvPr>
          <p:cNvCxnSpPr>
            <a:cxnSpLocks/>
          </p:cNvCxnSpPr>
          <p:nvPr/>
        </p:nvCxnSpPr>
        <p:spPr>
          <a:xfrm flipH="1" flipV="1">
            <a:off x="10504380" y="4037345"/>
            <a:ext cx="362764" cy="128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BDA3C5D-9E3C-4912-15A8-17DAA598E129}"/>
              </a:ext>
            </a:extLst>
          </p:cNvPr>
          <p:cNvCxnSpPr>
            <a:cxnSpLocks/>
          </p:cNvCxnSpPr>
          <p:nvPr/>
        </p:nvCxnSpPr>
        <p:spPr>
          <a:xfrm flipH="1">
            <a:off x="11352404" y="4062059"/>
            <a:ext cx="300038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E8989A2-D387-FE6D-E21D-FBFC3F4BB65C}"/>
              </a:ext>
            </a:extLst>
          </p:cNvPr>
          <p:cNvCxnSpPr>
            <a:cxnSpLocks/>
          </p:cNvCxnSpPr>
          <p:nvPr/>
        </p:nvCxnSpPr>
        <p:spPr>
          <a:xfrm flipH="1" flipV="1">
            <a:off x="10933419" y="4049702"/>
            <a:ext cx="280472" cy="87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6FE4A3A-C894-ECD0-DACB-DCA851DACFBE}"/>
              </a:ext>
            </a:extLst>
          </p:cNvPr>
          <p:cNvCxnSpPr>
            <a:cxnSpLocks/>
          </p:cNvCxnSpPr>
          <p:nvPr/>
        </p:nvCxnSpPr>
        <p:spPr>
          <a:xfrm flipH="1" flipV="1">
            <a:off x="10055843" y="3965341"/>
            <a:ext cx="339876" cy="7200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5324F53-3AF5-9B37-26BB-07D39809886D}"/>
              </a:ext>
            </a:extLst>
          </p:cNvPr>
          <p:cNvCxnSpPr>
            <a:cxnSpLocks/>
          </p:cNvCxnSpPr>
          <p:nvPr/>
        </p:nvCxnSpPr>
        <p:spPr>
          <a:xfrm flipH="1" flipV="1">
            <a:off x="9712927" y="3739083"/>
            <a:ext cx="300038" cy="1902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B806602-61E3-CA7C-A9B6-02B38437BC87}"/>
              </a:ext>
            </a:extLst>
          </p:cNvPr>
          <p:cNvCxnSpPr>
            <a:cxnSpLocks/>
          </p:cNvCxnSpPr>
          <p:nvPr/>
        </p:nvCxnSpPr>
        <p:spPr>
          <a:xfrm flipH="1" flipV="1">
            <a:off x="9372198" y="3457115"/>
            <a:ext cx="309363" cy="2696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5EA0065-C77B-F515-A937-49A2CED6D6A1}"/>
              </a:ext>
            </a:extLst>
          </p:cNvPr>
          <p:cNvGrpSpPr/>
          <p:nvPr/>
        </p:nvGrpSpPr>
        <p:grpSpPr>
          <a:xfrm>
            <a:off x="5202717" y="3968956"/>
            <a:ext cx="1596599" cy="96718"/>
            <a:chOff x="8670749" y="3782766"/>
            <a:chExt cx="1596599" cy="9671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696CE36-37C0-42D1-3DD0-D75A5FEDE9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2D6BAAA-E6DD-8A7E-B54D-A559D4266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6D05FA6-A88C-7A92-5851-28A716B1C2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8AB2DE1-CF7B-747E-F262-2B1EA9B1FC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36F671D9-60F9-8E21-6A8F-BB1BED5AEA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254" t="5091" r="27246"/>
          <a:stretch/>
        </p:blipFill>
        <p:spPr>
          <a:xfrm>
            <a:off x="10790934" y="1993383"/>
            <a:ext cx="382513" cy="52422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B688B268-22C2-46B2-ED55-E0B222F5F411}"/>
              </a:ext>
            </a:extLst>
          </p:cNvPr>
          <p:cNvSpPr txBox="1"/>
          <p:nvPr/>
        </p:nvSpPr>
        <p:spPr>
          <a:xfrm>
            <a:off x="7825991" y="3228625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D198867C-C6FA-2960-BC1F-21D2317308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354" t="16120" r="53206"/>
          <a:stretch/>
        </p:blipFill>
        <p:spPr>
          <a:xfrm>
            <a:off x="6010883" y="2000969"/>
            <a:ext cx="736425" cy="46330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B0AA7353-D367-CA4F-2F30-407E200525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977" t="16120" r="75444"/>
          <a:stretch/>
        </p:blipFill>
        <p:spPr>
          <a:xfrm>
            <a:off x="2461559" y="2052249"/>
            <a:ext cx="437480" cy="46330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DE00358B-5748-1818-28CA-61F695D7BE33}"/>
              </a:ext>
            </a:extLst>
          </p:cNvPr>
          <p:cNvSpPr txBox="1"/>
          <p:nvPr/>
        </p:nvSpPr>
        <p:spPr>
          <a:xfrm>
            <a:off x="4090973" y="5335606"/>
            <a:ext cx="348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Annealed Langevin Dynamics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89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E493D9-E81C-028D-2F95-9BB9F246FA48}"/>
              </a:ext>
            </a:extLst>
          </p:cNvPr>
          <p:cNvGrpSpPr/>
          <p:nvPr/>
        </p:nvGrpSpPr>
        <p:grpSpPr>
          <a:xfrm>
            <a:off x="7924771" y="2525305"/>
            <a:ext cx="5217718" cy="2215101"/>
            <a:chOff x="6868953" y="1938248"/>
            <a:chExt cx="5217718" cy="2215101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218E5C2-EABE-E512-964A-3BF264D47016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2899CE-69DD-14B5-478C-C7DBB0AFE828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62C477-4AEF-ECFE-8C1D-81FB0B0F7D88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6712A9-32A7-AEC4-A881-23674557CD57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340EF2-DC64-341B-8C9F-714905EBF406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FF33B6D-956C-3E2E-600C-A8FB2254045B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FEC2E9-615F-4FC9-1712-AFA0F55D04D9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92CDE3-389C-8205-20F4-7DC2DA2110B2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913F834-7ED1-2F49-1308-6A82F741E6D5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03A605-7096-D546-636D-5B9D2A165474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48C848-CEBB-E879-A045-5662839B107E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19BE2CB-85C1-DBB1-1E07-0FC6B7C978A0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9E5821-C065-781B-47C2-226FF13F47F4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ACBC739-F060-E0CC-6BEB-C3047F29A994}"/>
                </a:ext>
              </a:extLst>
            </p:cNvPr>
            <p:cNvSpPr/>
            <p:nvPr/>
          </p:nvSpPr>
          <p:spPr>
            <a:xfrm>
              <a:off x="7776391" y="3363742"/>
              <a:ext cx="2296886" cy="526554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381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4253C-A32D-A8AF-A266-C99B6849B5AB}"/>
              </a:ext>
            </a:extLst>
          </p:cNvPr>
          <p:cNvGrpSpPr/>
          <p:nvPr/>
        </p:nvGrpSpPr>
        <p:grpSpPr>
          <a:xfrm>
            <a:off x="3240005" y="2525305"/>
            <a:ext cx="5217718" cy="2215101"/>
            <a:chOff x="6868953" y="1938248"/>
            <a:chExt cx="5217718" cy="2215101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DCE66417-2073-AD3F-722C-413E6575AB8F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F7FAA48-57A3-06DB-18D6-323866871BA4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1C69681-1077-4C46-AA33-2252EDDA9231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ED42001-3A44-F0B5-92F4-8411A1D8C869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6A4F19D-EC54-A080-EFE0-19A5AD1A21D5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1226B96-CF2D-0526-5266-F4E8BEA016C8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063C703-F835-8390-60E6-EA487C3685C4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67AE5B1-0728-1172-9B29-163E631333DD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6776F96-AEC2-43F9-1C2C-C78026525249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05AA46C-FF07-E70B-B5A0-A7DD0A75D95A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4AA5E6B-16E7-6B7E-29C8-7A5DF19A99D1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44E90AE-B69A-F51B-CF3B-2B444C54A099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1028EB5-EA15-3CB6-C9F4-8EB042A6B131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A7B2463-8F01-8144-71D9-5061587301CC}"/>
                </a:ext>
              </a:extLst>
            </p:cNvPr>
            <p:cNvSpPr/>
            <p:nvPr/>
          </p:nvSpPr>
          <p:spPr>
            <a:xfrm>
              <a:off x="7776391" y="3363742"/>
              <a:ext cx="2296886" cy="526554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889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27AA69-D036-6C4C-2014-3E3C157FC842}"/>
              </a:ext>
            </a:extLst>
          </p:cNvPr>
          <p:cNvGrpSpPr/>
          <p:nvPr/>
        </p:nvGrpSpPr>
        <p:grpSpPr>
          <a:xfrm>
            <a:off x="-512841" y="2525305"/>
            <a:ext cx="5217718" cy="2215101"/>
            <a:chOff x="6868953" y="1938248"/>
            <a:chExt cx="5217718" cy="2215101"/>
          </a:xfrm>
        </p:grpSpPr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034F4AE5-3733-8E91-8ABA-FFCB07E39AF8}"/>
                </a:ext>
              </a:extLst>
            </p:cNvPr>
            <p:cNvSpPr/>
            <p:nvPr/>
          </p:nvSpPr>
          <p:spPr>
            <a:xfrm>
              <a:off x="6868953" y="1938248"/>
              <a:ext cx="5217718" cy="2215101"/>
            </a:xfrm>
            <a:prstGeom prst="parallelogram">
              <a:avLst>
                <a:gd name="adj" fmla="val 7455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42E3151-F0CF-7648-320D-9C915A727358}"/>
                </a:ext>
              </a:extLst>
            </p:cNvPr>
            <p:cNvSpPr/>
            <p:nvPr/>
          </p:nvSpPr>
          <p:spPr>
            <a:xfrm>
              <a:off x="8461763" y="3560881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E4817C-0BBA-5E73-D9CF-CBB1F465ADB0}"/>
                </a:ext>
              </a:extLst>
            </p:cNvPr>
            <p:cNvSpPr/>
            <p:nvPr/>
          </p:nvSpPr>
          <p:spPr>
            <a:xfrm>
              <a:off x="7941136" y="33494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11C4BCA-E2F6-4146-E41E-F381EAC44FD3}"/>
                </a:ext>
              </a:extLst>
            </p:cNvPr>
            <p:cNvSpPr/>
            <p:nvPr/>
          </p:nvSpPr>
          <p:spPr>
            <a:xfrm>
              <a:off x="8120962" y="339851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E525C91-9845-A8D2-37B0-64A4061E30B0}"/>
                </a:ext>
              </a:extLst>
            </p:cNvPr>
            <p:cNvSpPr/>
            <p:nvPr/>
          </p:nvSpPr>
          <p:spPr>
            <a:xfrm>
              <a:off x="7727560" y="3541654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3909E75-756C-1F37-4532-DA46C0369FEA}"/>
                </a:ext>
              </a:extLst>
            </p:cNvPr>
            <p:cNvSpPr/>
            <p:nvPr/>
          </p:nvSpPr>
          <p:spPr>
            <a:xfrm>
              <a:off x="9366761" y="3783172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0DF2F31-8AA0-FC8A-E90F-F65103CFB2EE}"/>
                </a:ext>
              </a:extLst>
            </p:cNvPr>
            <p:cNvSpPr/>
            <p:nvPr/>
          </p:nvSpPr>
          <p:spPr>
            <a:xfrm>
              <a:off x="9600452" y="3820885"/>
              <a:ext cx="215798" cy="6812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6164A1A-21BF-7E38-139E-4EAF07BE5E77}"/>
                </a:ext>
              </a:extLst>
            </p:cNvPr>
            <p:cNvSpPr/>
            <p:nvPr/>
          </p:nvSpPr>
          <p:spPr>
            <a:xfrm>
              <a:off x="8002042" y="3820885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3448978-2367-C19A-4F64-BE160C229CFD}"/>
                </a:ext>
              </a:extLst>
            </p:cNvPr>
            <p:cNvSpPr/>
            <p:nvPr/>
          </p:nvSpPr>
          <p:spPr>
            <a:xfrm>
              <a:off x="9864379" y="3761200"/>
              <a:ext cx="215798" cy="681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3365A33-7E8E-EA43-C8E3-A2F4AA8BA014}"/>
                </a:ext>
              </a:extLst>
            </p:cNvPr>
            <p:cNvSpPr/>
            <p:nvPr/>
          </p:nvSpPr>
          <p:spPr>
            <a:xfrm>
              <a:off x="9681073" y="2209252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87D6FDC-7223-5DC9-3187-FA8B0645DF1D}"/>
                </a:ext>
              </a:extLst>
            </p:cNvPr>
            <p:cNvSpPr/>
            <p:nvPr/>
          </p:nvSpPr>
          <p:spPr>
            <a:xfrm>
              <a:off x="9752131" y="2337435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8430CFF-B025-DE6B-29DB-8A2FB8AB5AA2}"/>
                </a:ext>
              </a:extLst>
            </p:cNvPr>
            <p:cNvSpPr/>
            <p:nvPr/>
          </p:nvSpPr>
          <p:spPr>
            <a:xfrm>
              <a:off x="9492438" y="23175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27D8FAB-3A2F-1A08-3625-C5054C0F4BBE}"/>
                </a:ext>
              </a:extLst>
            </p:cNvPr>
            <p:cNvSpPr/>
            <p:nvPr/>
          </p:nvSpPr>
          <p:spPr>
            <a:xfrm>
              <a:off x="10785052" y="2170798"/>
              <a:ext cx="147393" cy="8242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2506C2B-AB58-2D90-DD2B-DC37FBE0400B}"/>
                </a:ext>
              </a:extLst>
            </p:cNvPr>
            <p:cNvSpPr/>
            <p:nvPr/>
          </p:nvSpPr>
          <p:spPr>
            <a:xfrm rot="20904882">
              <a:off x="7727560" y="2862117"/>
              <a:ext cx="2908279" cy="1110919"/>
            </a:xfrm>
            <a:custGeom>
              <a:avLst/>
              <a:gdLst>
                <a:gd name="connsiteX0" fmla="*/ 0 w 2253343"/>
                <a:gd name="connsiteY0" fmla="*/ 283041 h 522585"/>
                <a:gd name="connsiteX1" fmla="*/ 228600 w 2253343"/>
                <a:gd name="connsiteY1" fmla="*/ 13 h 522585"/>
                <a:gd name="connsiteX2" fmla="*/ 838200 w 2253343"/>
                <a:gd name="connsiteY2" fmla="*/ 272155 h 522585"/>
                <a:gd name="connsiteX3" fmla="*/ 1992085 w 2253343"/>
                <a:gd name="connsiteY3" fmla="*/ 522527 h 522585"/>
                <a:gd name="connsiteX4" fmla="*/ 2253343 w 2253343"/>
                <a:gd name="connsiteY4" fmla="*/ 250384 h 522585"/>
                <a:gd name="connsiteX5" fmla="*/ 2253343 w 2253343"/>
                <a:gd name="connsiteY5" fmla="*/ 250384 h 522585"/>
                <a:gd name="connsiteX0" fmla="*/ 0 w 2296886"/>
                <a:gd name="connsiteY0" fmla="*/ 493838 h 526554"/>
                <a:gd name="connsiteX1" fmla="*/ 272143 w 2296886"/>
                <a:gd name="connsiteY1" fmla="*/ 3982 h 526554"/>
                <a:gd name="connsiteX2" fmla="*/ 881743 w 2296886"/>
                <a:gd name="connsiteY2" fmla="*/ 276124 h 526554"/>
                <a:gd name="connsiteX3" fmla="*/ 2035628 w 2296886"/>
                <a:gd name="connsiteY3" fmla="*/ 526496 h 526554"/>
                <a:gd name="connsiteX4" fmla="*/ 2296886 w 2296886"/>
                <a:gd name="connsiteY4" fmla="*/ 254353 h 526554"/>
                <a:gd name="connsiteX5" fmla="*/ 2296886 w 2296886"/>
                <a:gd name="connsiteY5" fmla="*/ 254353 h 526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6886" h="526554">
                  <a:moveTo>
                    <a:pt x="0" y="493838"/>
                  </a:moveTo>
                  <a:cubicBezTo>
                    <a:pt x="44450" y="353231"/>
                    <a:pt x="125186" y="40268"/>
                    <a:pt x="272143" y="3982"/>
                  </a:cubicBezTo>
                  <a:cubicBezTo>
                    <a:pt x="419100" y="-32304"/>
                    <a:pt x="587829" y="189038"/>
                    <a:pt x="881743" y="276124"/>
                  </a:cubicBezTo>
                  <a:cubicBezTo>
                    <a:pt x="1175657" y="363210"/>
                    <a:pt x="1799771" y="530124"/>
                    <a:pt x="2035628" y="526496"/>
                  </a:cubicBezTo>
                  <a:cubicBezTo>
                    <a:pt x="2271485" y="522868"/>
                    <a:pt x="2296886" y="254353"/>
                    <a:pt x="2296886" y="254353"/>
                  </a:cubicBezTo>
                  <a:lnTo>
                    <a:pt x="2296886" y="254353"/>
                  </a:lnTo>
                </a:path>
              </a:pathLst>
            </a:custGeom>
            <a:noFill/>
            <a:ln w="1270000">
              <a:solidFill>
                <a:srgbClr val="7F7F7F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989E091-489C-FA64-7106-22F3C490D61E}"/>
              </a:ext>
            </a:extLst>
          </p:cNvPr>
          <p:cNvGrpSpPr/>
          <p:nvPr/>
        </p:nvGrpSpPr>
        <p:grpSpPr>
          <a:xfrm>
            <a:off x="173988" y="103295"/>
            <a:ext cx="11844023" cy="1675829"/>
            <a:chOff x="266941" y="4663186"/>
            <a:chExt cx="11844023" cy="1675829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0C0512DC-FC16-8107-9034-0F4467D52563}"/>
                </a:ext>
              </a:extLst>
            </p:cNvPr>
            <p:cNvSpPr/>
            <p:nvPr/>
          </p:nvSpPr>
          <p:spPr>
            <a:xfrm>
              <a:off x="266941" y="4663186"/>
              <a:ext cx="11831666" cy="167582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3E39C94-FAD9-C433-76B3-567128A9F83C}"/>
                </a:ext>
              </a:extLst>
            </p:cNvPr>
            <p:cNvSpPr txBox="1"/>
            <p:nvPr/>
          </p:nvSpPr>
          <p:spPr>
            <a:xfrm>
              <a:off x="520573" y="4737328"/>
              <a:ext cx="3746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Ideas from simulated annealing: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D8E871B-213A-7AB2-BD41-AC2FE4E89E45}"/>
                </a:ext>
              </a:extLst>
            </p:cNvPr>
            <p:cNvSpPr txBox="1"/>
            <p:nvPr/>
          </p:nvSpPr>
          <p:spPr>
            <a:xfrm>
              <a:off x="4253884" y="4756310"/>
              <a:ext cx="702038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Instead of 1000 Langevin steps on very highly blurred images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Blur with k decreasing noise levels: </a:t>
              </a:r>
            </a:p>
            <a:p>
              <a:endParaRPr lang="en-US" dirty="0">
                <a:latin typeface="Arial Rounded MT Bold" panose="020F0704030504030204" pitchFamily="34" charset="77"/>
              </a:endParaRPr>
            </a:p>
            <a:p>
              <a:r>
                <a:rPr lang="en-US" dirty="0">
                  <a:latin typeface="Arial Rounded MT Bold" panose="020F0704030504030204" pitchFamily="34" charset="77"/>
                </a:rPr>
                <a:t>And perform 1000/k Langevin steps for each noise level.</a:t>
              </a: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1757055-EA51-647F-8036-8E38C4FA5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41274" y="5280954"/>
              <a:ext cx="3869690" cy="41910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EC416E6-9ACE-DF62-4282-EDD14E28888A}"/>
              </a:ext>
            </a:extLst>
          </p:cNvPr>
          <p:cNvGrpSpPr/>
          <p:nvPr/>
        </p:nvGrpSpPr>
        <p:grpSpPr>
          <a:xfrm>
            <a:off x="2605466" y="3936852"/>
            <a:ext cx="719023" cy="12357"/>
            <a:chOff x="9548325" y="3867127"/>
            <a:chExt cx="719023" cy="1235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6AD5045-C139-CDED-F41F-C2E211AE9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6F611B9-4ED7-2F0E-6E2B-C14C346750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02083AA-A8AE-4F9F-3130-22C9B8F23F0A}"/>
              </a:ext>
            </a:extLst>
          </p:cNvPr>
          <p:cNvCxnSpPr>
            <a:cxnSpLocks/>
          </p:cNvCxnSpPr>
          <p:nvPr/>
        </p:nvCxnSpPr>
        <p:spPr>
          <a:xfrm flipH="1" flipV="1">
            <a:off x="10504380" y="4037345"/>
            <a:ext cx="362764" cy="128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BDA3C5D-9E3C-4912-15A8-17DAA598E129}"/>
              </a:ext>
            </a:extLst>
          </p:cNvPr>
          <p:cNvCxnSpPr>
            <a:cxnSpLocks/>
          </p:cNvCxnSpPr>
          <p:nvPr/>
        </p:nvCxnSpPr>
        <p:spPr>
          <a:xfrm flipH="1">
            <a:off x="11352404" y="4062059"/>
            <a:ext cx="300038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E8989A2-D387-FE6D-E21D-FBFC3F4BB65C}"/>
              </a:ext>
            </a:extLst>
          </p:cNvPr>
          <p:cNvCxnSpPr>
            <a:cxnSpLocks/>
          </p:cNvCxnSpPr>
          <p:nvPr/>
        </p:nvCxnSpPr>
        <p:spPr>
          <a:xfrm flipH="1" flipV="1">
            <a:off x="10933419" y="4049702"/>
            <a:ext cx="280472" cy="87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6FE4A3A-C894-ECD0-DACB-DCA851DACFBE}"/>
              </a:ext>
            </a:extLst>
          </p:cNvPr>
          <p:cNvCxnSpPr>
            <a:cxnSpLocks/>
          </p:cNvCxnSpPr>
          <p:nvPr/>
        </p:nvCxnSpPr>
        <p:spPr>
          <a:xfrm flipH="1" flipV="1">
            <a:off x="10055843" y="3965341"/>
            <a:ext cx="339876" cy="7200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5324F53-3AF5-9B37-26BB-07D39809886D}"/>
              </a:ext>
            </a:extLst>
          </p:cNvPr>
          <p:cNvCxnSpPr>
            <a:cxnSpLocks/>
          </p:cNvCxnSpPr>
          <p:nvPr/>
        </p:nvCxnSpPr>
        <p:spPr>
          <a:xfrm flipH="1" flipV="1">
            <a:off x="9712927" y="3739083"/>
            <a:ext cx="300038" cy="1902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B806602-61E3-CA7C-A9B6-02B38437BC87}"/>
              </a:ext>
            </a:extLst>
          </p:cNvPr>
          <p:cNvCxnSpPr>
            <a:cxnSpLocks/>
          </p:cNvCxnSpPr>
          <p:nvPr/>
        </p:nvCxnSpPr>
        <p:spPr>
          <a:xfrm flipH="1" flipV="1">
            <a:off x="9372198" y="3457115"/>
            <a:ext cx="309363" cy="2696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5EA0065-C77B-F515-A937-49A2CED6D6A1}"/>
              </a:ext>
            </a:extLst>
          </p:cNvPr>
          <p:cNvGrpSpPr/>
          <p:nvPr/>
        </p:nvGrpSpPr>
        <p:grpSpPr>
          <a:xfrm>
            <a:off x="5202717" y="3968956"/>
            <a:ext cx="1596599" cy="96718"/>
            <a:chOff x="8670749" y="3782766"/>
            <a:chExt cx="1596599" cy="9671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696CE36-37C0-42D1-3DD0-D75A5FEDE9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9286" y="3854770"/>
              <a:ext cx="362764" cy="1286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2D6BAAA-E6DD-8A7E-B54D-A559D4266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7310" y="3879484"/>
              <a:ext cx="30003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6D05FA6-A88C-7A92-5851-28A716B1C2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8325" y="3867127"/>
              <a:ext cx="280472" cy="87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8AB2DE1-CF7B-747E-F262-2B1EA9B1FC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749" y="3782766"/>
              <a:ext cx="339876" cy="720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36F671D9-60F9-8E21-6A8F-BB1BED5AEA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254" t="5091" r="27246"/>
          <a:stretch/>
        </p:blipFill>
        <p:spPr>
          <a:xfrm>
            <a:off x="10790934" y="1993383"/>
            <a:ext cx="382513" cy="52422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B688B268-22C2-46B2-ED55-E0B222F5F411}"/>
              </a:ext>
            </a:extLst>
          </p:cNvPr>
          <p:cNvSpPr txBox="1"/>
          <p:nvPr/>
        </p:nvSpPr>
        <p:spPr>
          <a:xfrm>
            <a:off x="7825991" y="3228625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D198867C-C6FA-2960-BC1F-21D2317308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354" t="16120" r="53206"/>
          <a:stretch/>
        </p:blipFill>
        <p:spPr>
          <a:xfrm>
            <a:off x="6010883" y="2000969"/>
            <a:ext cx="736425" cy="46330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B0AA7353-D367-CA4F-2F30-407E200525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977" t="16120" r="75444"/>
          <a:stretch/>
        </p:blipFill>
        <p:spPr>
          <a:xfrm>
            <a:off x="2461559" y="2052249"/>
            <a:ext cx="437480" cy="46330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DE00358B-5748-1818-28CA-61F695D7BE33}"/>
              </a:ext>
            </a:extLst>
          </p:cNvPr>
          <p:cNvSpPr txBox="1"/>
          <p:nvPr/>
        </p:nvSpPr>
        <p:spPr>
          <a:xfrm>
            <a:off x="4090973" y="5335606"/>
            <a:ext cx="348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Annealed Langevin Dynamics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2AA02D-315C-ACAA-44DB-ECF28CAAF749}"/>
              </a:ext>
            </a:extLst>
          </p:cNvPr>
          <p:cNvGrpSpPr/>
          <p:nvPr/>
        </p:nvGrpSpPr>
        <p:grpSpPr>
          <a:xfrm>
            <a:off x="2979009" y="5885011"/>
            <a:ext cx="6470939" cy="463301"/>
            <a:chOff x="4104049" y="5735295"/>
            <a:chExt cx="6470939" cy="4633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EDAB040-93A4-08A0-B423-BA39A855BB11}"/>
                </a:ext>
              </a:extLst>
            </p:cNvPr>
            <p:cNvSpPr txBox="1"/>
            <p:nvPr/>
          </p:nvSpPr>
          <p:spPr>
            <a:xfrm>
              <a:off x="4104049" y="5782280"/>
              <a:ext cx="6470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But adding infinite noise and choosing         is impractical </a:t>
              </a:r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7736026-0ABF-3182-DA75-8BD6A94033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5977" t="16120" r="75444"/>
            <a:stretch/>
          </p:blipFill>
          <p:spPr>
            <a:xfrm>
              <a:off x="8457723" y="5735295"/>
              <a:ext cx="437480" cy="463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0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75A03EB-F232-26A1-9F60-555D8AD8910E}"/>
              </a:ext>
            </a:extLst>
          </p:cNvPr>
          <p:cNvGrpSpPr/>
          <p:nvPr/>
        </p:nvGrpSpPr>
        <p:grpSpPr>
          <a:xfrm>
            <a:off x="2645377" y="312113"/>
            <a:ext cx="6470939" cy="463301"/>
            <a:chOff x="4104049" y="5735295"/>
            <a:chExt cx="6470939" cy="4633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12C6D6-864E-8023-A593-22D51D0CC36E}"/>
                </a:ext>
              </a:extLst>
            </p:cNvPr>
            <p:cNvSpPr txBox="1"/>
            <p:nvPr/>
          </p:nvSpPr>
          <p:spPr>
            <a:xfrm>
              <a:off x="4104049" y="5782280"/>
              <a:ext cx="6470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But adding infinite noise and choosing         is impractical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A31E6A-FCBF-1D3C-46E4-6A8E2E6C71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5977" t="16120" r="75444"/>
            <a:stretch/>
          </p:blipFill>
          <p:spPr>
            <a:xfrm>
              <a:off x="8457723" y="5735295"/>
              <a:ext cx="437480" cy="46330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B1A966B-9F16-345A-B12C-61F3876245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62091" y="1782916"/>
            <a:ext cx="5270500" cy="431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095CC88-F70C-BCD4-B030-2F16052DFD5B}"/>
              </a:ext>
            </a:extLst>
          </p:cNvPr>
          <p:cNvSpPr txBox="1"/>
          <p:nvPr/>
        </p:nvSpPr>
        <p:spPr>
          <a:xfrm>
            <a:off x="1714117" y="1293852"/>
            <a:ext cx="856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Define          as a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convex combination </a:t>
            </a:r>
            <a:r>
              <a:rPr lang="en-US" dirty="0">
                <a:latin typeface="Arial Rounded MT Bold" panose="020F0704030504030204" pitchFamily="34" charset="77"/>
              </a:rPr>
              <a:t>of given image and isotropic Gaussian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84A0611-90D7-48E4-1B6D-C257B529E4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9916"/>
          <a:stretch/>
        </p:blipFill>
        <p:spPr>
          <a:xfrm>
            <a:off x="2491593" y="1231384"/>
            <a:ext cx="531453" cy="4318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BF7B08-F8BB-44AE-CC38-92FF9EEEC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091" y="2722030"/>
            <a:ext cx="546100" cy="419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36215B-E7C7-73BE-BE92-55F95CAE9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86" y="2722030"/>
            <a:ext cx="457200" cy="457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259AE8-EF02-4262-7B54-C1848BA49B30}"/>
              </a:ext>
            </a:extLst>
          </p:cNvPr>
          <p:cNvSpPr txBox="1"/>
          <p:nvPr/>
        </p:nvSpPr>
        <p:spPr>
          <a:xfrm>
            <a:off x="3899000" y="277179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21F26-2E15-C655-86C4-C7BDDC1F5AAA}"/>
              </a:ext>
            </a:extLst>
          </p:cNvPr>
          <p:cNvSpPr txBox="1"/>
          <p:nvPr/>
        </p:nvSpPr>
        <p:spPr>
          <a:xfrm>
            <a:off x="7791486" y="27469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=</a:t>
            </a:r>
          </a:p>
        </p:txBody>
      </p:sp>
      <p:pic>
        <p:nvPicPr>
          <p:cNvPr id="28" name="Picture 6" descr="STATIC add noise white noise&quot; Metal Print for Sale by thecheek | Redbubble">
            <a:extLst>
              <a:ext uri="{FF2B5EF4-FFF2-40B4-BE49-F238E27FC236}">
                <a16:creationId xmlns:a16="http://schemas.microsoft.com/office/drawing/2014/main" id="{5832AFF2-957F-0058-25BB-B15D0AE1D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9" b="5873"/>
          <a:stretch/>
        </p:blipFill>
        <p:spPr bwMode="auto">
          <a:xfrm rot="16200000">
            <a:off x="8123308" y="2532725"/>
            <a:ext cx="1234131" cy="120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64F6A8-707E-0B94-FAD8-3DE6C0540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1843" y="2543130"/>
            <a:ext cx="1206911" cy="123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95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75A03EB-F232-26A1-9F60-555D8AD8910E}"/>
              </a:ext>
            </a:extLst>
          </p:cNvPr>
          <p:cNvGrpSpPr/>
          <p:nvPr/>
        </p:nvGrpSpPr>
        <p:grpSpPr>
          <a:xfrm>
            <a:off x="2645377" y="312113"/>
            <a:ext cx="6470939" cy="463301"/>
            <a:chOff x="4104049" y="5735295"/>
            <a:chExt cx="6470939" cy="4633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12C6D6-864E-8023-A593-22D51D0CC36E}"/>
                </a:ext>
              </a:extLst>
            </p:cNvPr>
            <p:cNvSpPr txBox="1"/>
            <p:nvPr/>
          </p:nvSpPr>
          <p:spPr>
            <a:xfrm>
              <a:off x="4104049" y="5782280"/>
              <a:ext cx="6470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But adding infinite noise and choosing         is impractical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A31E6A-FCBF-1D3C-46E4-6A8E2E6C71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5977" t="16120" r="75444"/>
            <a:stretch/>
          </p:blipFill>
          <p:spPr>
            <a:xfrm>
              <a:off x="8457723" y="5735295"/>
              <a:ext cx="437480" cy="463301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7F94BD3-8DCC-9532-F66F-D412640258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62091" y="1782916"/>
            <a:ext cx="5270500" cy="431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9A84FD-9FFC-C382-529B-A5E389B66607}"/>
              </a:ext>
            </a:extLst>
          </p:cNvPr>
          <p:cNvSpPr txBox="1"/>
          <p:nvPr/>
        </p:nvSpPr>
        <p:spPr>
          <a:xfrm>
            <a:off x="3687203" y="4457715"/>
            <a:ext cx="5472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Denoising Diffusion Probabilistic Model (DDPM)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A7DEC-0B4C-C4D6-EFFF-AAA2DC2828D2}"/>
              </a:ext>
            </a:extLst>
          </p:cNvPr>
          <p:cNvSpPr txBox="1"/>
          <p:nvPr/>
        </p:nvSpPr>
        <p:spPr>
          <a:xfrm>
            <a:off x="1714117" y="1293852"/>
            <a:ext cx="856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Define          as a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convex combination </a:t>
            </a:r>
            <a:r>
              <a:rPr lang="en-US" dirty="0">
                <a:latin typeface="Arial Rounded MT Bold" panose="020F0704030504030204" pitchFamily="34" charset="77"/>
              </a:rPr>
              <a:t>of given image and isotropic Gaussian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26EC59-3A6F-6E82-04CA-3CE2863B80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9916"/>
          <a:stretch/>
        </p:blipFill>
        <p:spPr>
          <a:xfrm>
            <a:off x="2491593" y="1231384"/>
            <a:ext cx="531453" cy="43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0DA919-84AC-341D-6D49-B3568D7A5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091" y="2722030"/>
            <a:ext cx="546100" cy="419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11728D-6350-7AAA-5867-2B898E6BD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86" y="2722030"/>
            <a:ext cx="457200" cy="457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92D6D3-07CA-82B7-6D16-36837F118CCE}"/>
              </a:ext>
            </a:extLst>
          </p:cNvPr>
          <p:cNvSpPr txBox="1"/>
          <p:nvPr/>
        </p:nvSpPr>
        <p:spPr>
          <a:xfrm>
            <a:off x="3899000" y="277179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318AB8-99A0-ACD0-E77E-8A9C739AA148}"/>
              </a:ext>
            </a:extLst>
          </p:cNvPr>
          <p:cNvSpPr txBox="1"/>
          <p:nvPr/>
        </p:nvSpPr>
        <p:spPr>
          <a:xfrm>
            <a:off x="7791486" y="27469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=</a:t>
            </a:r>
          </a:p>
        </p:txBody>
      </p:sp>
      <p:pic>
        <p:nvPicPr>
          <p:cNvPr id="19" name="Picture 6" descr="STATIC add noise white noise&quot; Metal Print for Sale by thecheek | Redbubble">
            <a:extLst>
              <a:ext uri="{FF2B5EF4-FFF2-40B4-BE49-F238E27FC236}">
                <a16:creationId xmlns:a16="http://schemas.microsoft.com/office/drawing/2014/main" id="{A2D6B8F4-BB15-D79C-475E-EF6C8CE64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9" b="5873"/>
          <a:stretch/>
        </p:blipFill>
        <p:spPr bwMode="auto">
          <a:xfrm rot="16200000">
            <a:off x="8123308" y="2532725"/>
            <a:ext cx="1234131" cy="120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90E210-7E56-74C0-BC0B-03EE4506AE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1843" y="2543130"/>
            <a:ext cx="1206911" cy="123413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4FF357A-3FAA-521E-451F-8D134F01C911}"/>
              </a:ext>
            </a:extLst>
          </p:cNvPr>
          <p:cNvGrpSpPr/>
          <p:nvPr/>
        </p:nvGrpSpPr>
        <p:grpSpPr>
          <a:xfrm>
            <a:off x="2875729" y="5039765"/>
            <a:ext cx="6975347" cy="1459137"/>
            <a:chOff x="2706462" y="5004329"/>
            <a:chExt cx="6975347" cy="14591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13C1418-58CE-444C-6A50-97A90FDD1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05813" y="5681872"/>
              <a:ext cx="754051" cy="75405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AA47D0C-3EBF-4FDA-FACC-CEBC3BD6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46863" y="5664735"/>
              <a:ext cx="759763" cy="77118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08E303-4200-3C26-4FD5-412C99283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03132" y="5681872"/>
              <a:ext cx="771188" cy="7711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799293-59F8-7404-1B67-80236F843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97091" y="5672950"/>
              <a:ext cx="783134" cy="77135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A968EC-5DE5-5E48-8C5B-A46064B13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06462" y="5673174"/>
              <a:ext cx="771188" cy="788583"/>
            </a:xfrm>
            <a:prstGeom prst="rect">
              <a:avLst/>
            </a:prstGeom>
          </p:spPr>
        </p:pic>
        <p:pic>
          <p:nvPicPr>
            <p:cNvPr id="16" name="Picture 6" descr="STATIC add noise white noise&quot; Metal Print for Sale by thecheek | Redbubble">
              <a:extLst>
                <a:ext uri="{FF2B5EF4-FFF2-40B4-BE49-F238E27FC236}">
                  <a16:creationId xmlns:a16="http://schemas.microsoft.com/office/drawing/2014/main" id="{B52E7FCD-2092-B6B8-AEF8-A3A66372FC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9" b="5873"/>
            <a:stretch/>
          </p:blipFill>
          <p:spPr bwMode="auto">
            <a:xfrm rot="16200000">
              <a:off x="8908833" y="5690491"/>
              <a:ext cx="781595" cy="764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1EB4197-9D5F-D94B-B408-F6A458DD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55446" y="5128513"/>
              <a:ext cx="6731000" cy="457200"/>
            </a:xfrm>
            <a:prstGeom prst="rect">
              <a:avLst/>
            </a:prstGeom>
          </p:spPr>
        </p:pic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36DC4A7-FDBF-89D1-5FF1-33A43375B42D}"/>
                </a:ext>
              </a:extLst>
            </p:cNvPr>
            <p:cNvSpPr/>
            <p:nvPr/>
          </p:nvSpPr>
          <p:spPr>
            <a:xfrm>
              <a:off x="3262187" y="5004329"/>
              <a:ext cx="739577" cy="234938"/>
            </a:xfrm>
            <a:custGeom>
              <a:avLst/>
              <a:gdLst>
                <a:gd name="connsiteX0" fmla="*/ 0 w 358346"/>
                <a:gd name="connsiteY0" fmla="*/ 148441 h 173154"/>
                <a:gd name="connsiteX1" fmla="*/ 185351 w 358346"/>
                <a:gd name="connsiteY1" fmla="*/ 159 h 173154"/>
                <a:gd name="connsiteX2" fmla="*/ 358346 w 358346"/>
                <a:gd name="connsiteY2" fmla="*/ 173154 h 1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346" h="173154">
                  <a:moveTo>
                    <a:pt x="0" y="148441"/>
                  </a:moveTo>
                  <a:cubicBezTo>
                    <a:pt x="62813" y="72240"/>
                    <a:pt x="125627" y="-3960"/>
                    <a:pt x="185351" y="159"/>
                  </a:cubicBezTo>
                  <a:cubicBezTo>
                    <a:pt x="245075" y="4278"/>
                    <a:pt x="301710" y="88716"/>
                    <a:pt x="358346" y="173154"/>
                  </a:cubicBez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4E89980-DD44-9078-B666-B1E65E6696F3}"/>
                </a:ext>
              </a:extLst>
            </p:cNvPr>
            <p:cNvSpPr/>
            <p:nvPr/>
          </p:nvSpPr>
          <p:spPr>
            <a:xfrm>
              <a:off x="4415417" y="5010737"/>
              <a:ext cx="739577" cy="234938"/>
            </a:xfrm>
            <a:custGeom>
              <a:avLst/>
              <a:gdLst>
                <a:gd name="connsiteX0" fmla="*/ 0 w 358346"/>
                <a:gd name="connsiteY0" fmla="*/ 148441 h 173154"/>
                <a:gd name="connsiteX1" fmla="*/ 185351 w 358346"/>
                <a:gd name="connsiteY1" fmla="*/ 159 h 173154"/>
                <a:gd name="connsiteX2" fmla="*/ 358346 w 358346"/>
                <a:gd name="connsiteY2" fmla="*/ 173154 h 1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346" h="173154">
                  <a:moveTo>
                    <a:pt x="0" y="148441"/>
                  </a:moveTo>
                  <a:cubicBezTo>
                    <a:pt x="62813" y="72240"/>
                    <a:pt x="125627" y="-3960"/>
                    <a:pt x="185351" y="159"/>
                  </a:cubicBezTo>
                  <a:cubicBezTo>
                    <a:pt x="245075" y="4278"/>
                    <a:pt x="301710" y="88716"/>
                    <a:pt x="358346" y="173154"/>
                  </a:cubicBez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4B1BD96-742A-A9E7-5253-5EFD613324C4}"/>
                </a:ext>
              </a:extLst>
            </p:cNvPr>
            <p:cNvSpPr/>
            <p:nvPr/>
          </p:nvSpPr>
          <p:spPr>
            <a:xfrm>
              <a:off x="5684113" y="5035758"/>
              <a:ext cx="739577" cy="234938"/>
            </a:xfrm>
            <a:custGeom>
              <a:avLst/>
              <a:gdLst>
                <a:gd name="connsiteX0" fmla="*/ 0 w 358346"/>
                <a:gd name="connsiteY0" fmla="*/ 148441 h 173154"/>
                <a:gd name="connsiteX1" fmla="*/ 185351 w 358346"/>
                <a:gd name="connsiteY1" fmla="*/ 159 h 173154"/>
                <a:gd name="connsiteX2" fmla="*/ 358346 w 358346"/>
                <a:gd name="connsiteY2" fmla="*/ 173154 h 1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346" h="173154">
                  <a:moveTo>
                    <a:pt x="0" y="148441"/>
                  </a:moveTo>
                  <a:cubicBezTo>
                    <a:pt x="62813" y="72240"/>
                    <a:pt x="125627" y="-3960"/>
                    <a:pt x="185351" y="159"/>
                  </a:cubicBezTo>
                  <a:cubicBezTo>
                    <a:pt x="245075" y="4278"/>
                    <a:pt x="301710" y="88716"/>
                    <a:pt x="358346" y="173154"/>
                  </a:cubicBez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0BE979C-7DB0-90F4-1FA3-584871C32562}"/>
                </a:ext>
              </a:extLst>
            </p:cNvPr>
            <p:cNvSpPr/>
            <p:nvPr/>
          </p:nvSpPr>
          <p:spPr>
            <a:xfrm>
              <a:off x="7117024" y="5097221"/>
              <a:ext cx="739577" cy="234938"/>
            </a:xfrm>
            <a:custGeom>
              <a:avLst/>
              <a:gdLst>
                <a:gd name="connsiteX0" fmla="*/ 0 w 358346"/>
                <a:gd name="connsiteY0" fmla="*/ 148441 h 173154"/>
                <a:gd name="connsiteX1" fmla="*/ 185351 w 358346"/>
                <a:gd name="connsiteY1" fmla="*/ 159 h 173154"/>
                <a:gd name="connsiteX2" fmla="*/ 358346 w 358346"/>
                <a:gd name="connsiteY2" fmla="*/ 173154 h 1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346" h="173154">
                  <a:moveTo>
                    <a:pt x="0" y="148441"/>
                  </a:moveTo>
                  <a:cubicBezTo>
                    <a:pt x="62813" y="72240"/>
                    <a:pt x="125627" y="-3960"/>
                    <a:pt x="185351" y="159"/>
                  </a:cubicBezTo>
                  <a:cubicBezTo>
                    <a:pt x="245075" y="4278"/>
                    <a:pt x="301710" y="88716"/>
                    <a:pt x="358346" y="173154"/>
                  </a:cubicBez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DDD6927-A652-CACD-C778-39076D9083B0}"/>
                </a:ext>
              </a:extLst>
            </p:cNvPr>
            <p:cNvSpPr/>
            <p:nvPr/>
          </p:nvSpPr>
          <p:spPr>
            <a:xfrm>
              <a:off x="8270254" y="5103629"/>
              <a:ext cx="739577" cy="234938"/>
            </a:xfrm>
            <a:custGeom>
              <a:avLst/>
              <a:gdLst>
                <a:gd name="connsiteX0" fmla="*/ 0 w 358346"/>
                <a:gd name="connsiteY0" fmla="*/ 148441 h 173154"/>
                <a:gd name="connsiteX1" fmla="*/ 185351 w 358346"/>
                <a:gd name="connsiteY1" fmla="*/ 159 h 173154"/>
                <a:gd name="connsiteX2" fmla="*/ 358346 w 358346"/>
                <a:gd name="connsiteY2" fmla="*/ 173154 h 1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346" h="173154">
                  <a:moveTo>
                    <a:pt x="0" y="148441"/>
                  </a:moveTo>
                  <a:cubicBezTo>
                    <a:pt x="62813" y="72240"/>
                    <a:pt x="125627" y="-3960"/>
                    <a:pt x="185351" y="159"/>
                  </a:cubicBezTo>
                  <a:cubicBezTo>
                    <a:pt x="245075" y="4278"/>
                    <a:pt x="301710" y="88716"/>
                    <a:pt x="358346" y="173154"/>
                  </a:cubicBez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Left Brace 31">
            <a:extLst>
              <a:ext uri="{FF2B5EF4-FFF2-40B4-BE49-F238E27FC236}">
                <a16:creationId xmlns:a16="http://schemas.microsoft.com/office/drawing/2014/main" id="{E59D9D98-C7F1-588F-3C6C-5C69792CCFD4}"/>
              </a:ext>
            </a:extLst>
          </p:cNvPr>
          <p:cNvSpPr/>
          <p:nvPr/>
        </p:nvSpPr>
        <p:spPr>
          <a:xfrm rot="16200000">
            <a:off x="6178738" y="991890"/>
            <a:ext cx="369331" cy="6446083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43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0168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1783</Words>
  <Application>Microsoft Office PowerPoint</Application>
  <PresentationFormat>Widescreen</PresentationFormat>
  <Paragraphs>222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Yu-Lin</dc:creator>
  <cp:lastModifiedBy>Wei, Yu-Lin</cp:lastModifiedBy>
  <cp:revision>2</cp:revision>
  <dcterms:created xsi:type="dcterms:W3CDTF">2024-11-11T15:36:22Z</dcterms:created>
  <dcterms:modified xsi:type="dcterms:W3CDTF">2024-11-11T15:39:38Z</dcterms:modified>
</cp:coreProperties>
</file>