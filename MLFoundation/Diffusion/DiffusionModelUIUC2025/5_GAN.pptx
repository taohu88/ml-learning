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16" r:id="rId2"/>
    <p:sldId id="717" r:id="rId3"/>
    <p:sldId id="718" r:id="rId4"/>
    <p:sldId id="719" r:id="rId5"/>
    <p:sldId id="720" r:id="rId6"/>
    <p:sldId id="721" r:id="rId7"/>
    <p:sldId id="722" r:id="rId8"/>
    <p:sldId id="723" r:id="rId9"/>
    <p:sldId id="724" r:id="rId10"/>
    <p:sldId id="725" r:id="rId11"/>
    <p:sldId id="726" r:id="rId12"/>
    <p:sldId id="727" r:id="rId13"/>
    <p:sldId id="728" r:id="rId14"/>
    <p:sldId id="729" r:id="rId15"/>
    <p:sldId id="730" r:id="rId16"/>
    <p:sldId id="731" r:id="rId17"/>
    <p:sldId id="732" r:id="rId18"/>
    <p:sldId id="733" r:id="rId19"/>
    <p:sldId id="734" r:id="rId20"/>
    <p:sldId id="735" r:id="rId21"/>
    <p:sldId id="736" r:id="rId22"/>
    <p:sldId id="737" r:id="rId23"/>
    <p:sldId id="738" r:id="rId24"/>
    <p:sldId id="739" r:id="rId25"/>
    <p:sldId id="740" r:id="rId26"/>
    <p:sldId id="741" r:id="rId27"/>
    <p:sldId id="742" r:id="rId28"/>
    <p:sldId id="743" r:id="rId29"/>
    <p:sldId id="744" r:id="rId30"/>
    <p:sldId id="745" r:id="rId31"/>
    <p:sldId id="746" r:id="rId32"/>
    <p:sldId id="747" r:id="rId33"/>
    <p:sldId id="76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C0E6-322F-D5E3-E543-183D85888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10252-9CEB-C8E2-90C8-D2112CFF7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1172-D318-76DD-C566-DCB4396E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CF64E-F3E1-329D-DD0A-E6C3D056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77D7E-F59B-638F-3640-C1066B8F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8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A31C-9960-B397-D0F7-0C6F5537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77DCF-5CA9-B7DC-5576-32906452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C304B-BA4C-FCAB-1877-CDA54BC4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E38EF-42D2-246E-321D-AFD70E5E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47ED8-A1A6-B2D0-4106-55113DFA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2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4CAC-AF3E-ED32-DA05-A8E7B845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89956-F2C6-14FE-F2F6-294346B31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6C3CE-7F38-9923-0E93-F2DF1BE4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F58AC-50AA-E839-9F3F-000553C0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36826-72B7-6F1B-4B60-0B0D99C4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7611-673E-5CB1-F539-63566D62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A776-FF5F-EE63-41BF-5639FBDC2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472CE-02CD-BF77-A302-122F35F90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64D04-6C71-A1B8-FFB4-A2BB207F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12017-68D0-1F1C-9C60-E7367757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C8E82-8F8D-C025-3461-94492F92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2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2198-E348-6ADB-679C-141D9E1B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7FF5A-8B6F-35D6-4CE8-1EA94B6A7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FEB33-BE0A-81F1-663A-72A9B5813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138ED-5E01-38DD-036D-5FE823F9A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54193-6CD8-47AD-8EF6-B82A7D486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459F5-5C7F-23B5-35BA-E2575AA0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B4005F-2992-7BDB-3794-38FF5D5F8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3B3D8C-AA3F-0F7E-1442-4A75DCFE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8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3B28-8597-A0F1-1E9F-3E48D223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8E409-01EA-F444-9A1C-3094467C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AFCB26-485D-9D10-69AC-F3026B26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131C7-58BB-F36F-70C1-E5AB118C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3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4763A-5F6E-5C3B-454F-392D17FA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77B62-7329-D82F-F2D6-FC5121BD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AB73-991E-26EF-50A0-1E456F7D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5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D1F3-5D28-A6E1-78D4-259491D37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B1550-3C18-03D9-116B-1876A3F9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0A23F-03D1-6FC3-3EB5-4E9BFA777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15EE4-2FFE-DEB6-EC44-EFD1E7E8C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360D9-F284-A0D6-98A2-B42CD5671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48600-758F-4FD2-88D3-7C5F34CD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8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4BCF-74BC-336E-1BE1-3BC55820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09C74-25FF-E3A2-F82A-A458B9F88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55980-9921-564E-C60C-3AABCE792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EA454-9E27-9CF7-3EAF-6B58EB88D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E86AD-F8C9-921E-C7E7-FD357319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6CBA1-3837-46C8-5505-85C0AB1C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2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81A4-B9A7-7945-2B32-5B3B112C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0D7B3-C122-3175-FC29-3D3CD8DE8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B4307-A5C8-CDF8-DCCA-79FE4735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98472-E482-0376-C81B-6B792250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64A1D-243A-120B-E659-187E8C7A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15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82D61F-CDDF-A689-837B-95356EDF7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8F290-2482-1DEF-939C-8AF1AB248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7B5F9-C1CD-390A-29A4-63A0BFFCD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36488-E396-FCAD-FAFC-CA2633B6B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CBC0B-D715-C2BD-A2BD-136ED1D3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5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D3E974-5D77-ED73-549B-C5E63C97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6C5BD-28C3-AD4A-28DD-30916767E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5E54E-ADB7-BC3F-8601-052223716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8C5C1-F151-4B40-92BF-691DBF75EF7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AEF84-5E2B-A1A9-5CD4-17E9EF427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674FB-824E-E893-7A2B-57433FC63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EAE5A-B1D2-4DEB-A654-45342C74D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7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7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19.png"/><Relationship Id="rId9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2595882-5B48-7FE3-00B6-2D75FC752ABC}"/>
              </a:ext>
            </a:extLst>
          </p:cNvPr>
          <p:cNvSpPr txBox="1"/>
          <p:nvPr/>
        </p:nvSpPr>
        <p:spPr>
          <a:xfrm>
            <a:off x="276410" y="818198"/>
            <a:ext cx="153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Motivation: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3F3F47-5A7E-90EE-E5D7-682CC4BC72D8}"/>
              </a:ext>
            </a:extLst>
          </p:cNvPr>
          <p:cNvSpPr txBox="1"/>
          <p:nvPr/>
        </p:nvSpPr>
        <p:spPr>
          <a:xfrm>
            <a:off x="2910406" y="818197"/>
            <a:ext cx="3604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may blur the generated images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74292-8730-35F3-5512-E27A066FF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9" y="864751"/>
            <a:ext cx="1042291" cy="276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6D8A94-274E-5825-7617-1CB3E36938DF}"/>
              </a:ext>
            </a:extLst>
          </p:cNvPr>
          <p:cNvSpPr txBox="1"/>
          <p:nvPr/>
        </p:nvSpPr>
        <p:spPr>
          <a:xfrm>
            <a:off x="2909771" y="1247031"/>
            <a:ext cx="527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gives good rules, but we care about the image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8A2374-4A45-E7A6-4516-F227645E6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8" y="1327110"/>
            <a:ext cx="1042291" cy="2762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6EAE28-D736-813F-E777-A37651BE6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497" y="455119"/>
            <a:ext cx="1022534" cy="109922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477CC16-1D41-FED3-AD6A-D76B41365936}"/>
              </a:ext>
            </a:extLst>
          </p:cNvPr>
          <p:cNvGrpSpPr/>
          <p:nvPr/>
        </p:nvGrpSpPr>
        <p:grpSpPr>
          <a:xfrm>
            <a:off x="421086" y="1810161"/>
            <a:ext cx="7961683" cy="1606601"/>
            <a:chOff x="421086" y="1810161"/>
            <a:chExt cx="7961683" cy="160660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854FA7-36BF-E30F-0B8B-480C4D35AF55}"/>
                </a:ext>
              </a:extLst>
            </p:cNvPr>
            <p:cNvSpPr txBox="1"/>
            <p:nvPr/>
          </p:nvSpPr>
          <p:spPr>
            <a:xfrm>
              <a:off x="3221602" y="2463551"/>
              <a:ext cx="1244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Encoder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7010FFF-F1FC-DFE8-CB01-45FFD41CFD50}"/>
                </a:ext>
              </a:extLst>
            </p:cNvPr>
            <p:cNvSpPr txBox="1"/>
            <p:nvPr/>
          </p:nvSpPr>
          <p:spPr>
            <a:xfrm>
              <a:off x="5393302" y="2463551"/>
              <a:ext cx="11475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Decoder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7" name="Trapezoid 26">
              <a:extLst>
                <a:ext uri="{FF2B5EF4-FFF2-40B4-BE49-F238E27FC236}">
                  <a16:creationId xmlns:a16="http://schemas.microsoft.com/office/drawing/2014/main" id="{E140B9D5-AF31-7694-CC6F-DEB06759567B}"/>
                </a:ext>
              </a:extLst>
            </p:cNvPr>
            <p:cNvSpPr/>
            <p:nvPr/>
          </p:nvSpPr>
          <p:spPr>
            <a:xfrm rot="5400000">
              <a:off x="3187108" y="20292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1F5B3A6-FD4E-EAD5-D3EC-4CF3B27502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3100" y="2067355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7B0BFDC-6AD8-2269-48FE-11D7435BDB0E}"/>
                </a:ext>
              </a:extLst>
            </p:cNvPr>
            <p:cNvSpPr/>
            <p:nvPr/>
          </p:nvSpPr>
          <p:spPr>
            <a:xfrm rot="16200000">
              <a:off x="4184707" y="2442277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apezoid 29">
              <a:extLst>
                <a:ext uri="{FF2B5EF4-FFF2-40B4-BE49-F238E27FC236}">
                  <a16:creationId xmlns:a16="http://schemas.microsoft.com/office/drawing/2014/main" id="{CA487F95-5869-48D2-8109-87CC42ADB14C}"/>
                </a:ext>
              </a:extLst>
            </p:cNvPr>
            <p:cNvSpPr/>
            <p:nvPr/>
          </p:nvSpPr>
          <p:spPr>
            <a:xfrm rot="16200000" flipH="1">
              <a:off x="5388951" y="2032869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8108016-CA5A-9C56-FCD2-4FF82107E69A}"/>
                </a:ext>
              </a:extLst>
            </p:cNvPr>
            <p:cNvSpPr txBox="1"/>
            <p:nvPr/>
          </p:nvSpPr>
          <p:spPr>
            <a:xfrm>
              <a:off x="421086" y="1810161"/>
              <a:ext cx="876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VAE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32" name="Picture 2" descr="VideoForensicsHQ Dataset | Papers With Code">
              <a:extLst>
                <a:ext uri="{FF2B5EF4-FFF2-40B4-BE49-F238E27FC236}">
                  <a16:creationId xmlns:a16="http://schemas.microsoft.com/office/drawing/2014/main" id="{425D0B4C-9B9D-7A07-18F9-72607DA97B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356" y="1891783"/>
              <a:ext cx="1507683" cy="1524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VideoForensicsHQ Dataset | Papers With Code">
              <a:extLst>
                <a:ext uri="{FF2B5EF4-FFF2-40B4-BE49-F238E27FC236}">
                  <a16:creationId xmlns:a16="http://schemas.microsoft.com/office/drawing/2014/main" id="{2E7C8609-D5A7-0FDE-FC62-8E0F1E7503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5086" y="1885726"/>
              <a:ext cx="1507683" cy="1524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E33969B-D940-248F-B3B0-366170D09B66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06E6E68-6E0B-8E8E-0917-DDE46614F114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380697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2948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841B-7893-6F40-46B0-C5EBCC72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0DCF1C-D54C-AF72-EB02-FE1659C9FC0C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B4342AD-FBED-B434-BB5D-194DE6CA049C}"/>
              </a:ext>
            </a:extLst>
          </p:cNvPr>
          <p:cNvSpPr txBox="1"/>
          <p:nvPr/>
        </p:nvSpPr>
        <p:spPr>
          <a:xfrm>
            <a:off x="276410" y="818198"/>
            <a:ext cx="153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Motivation: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20D9A-3D1B-F423-B3F6-EA9F1B2D552F}"/>
              </a:ext>
            </a:extLst>
          </p:cNvPr>
          <p:cNvSpPr txBox="1"/>
          <p:nvPr/>
        </p:nvSpPr>
        <p:spPr>
          <a:xfrm>
            <a:off x="2910406" y="818197"/>
            <a:ext cx="3604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may blur the generated images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39A7E2-9A6A-45A6-8AD5-2D9F01BC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9" y="864751"/>
            <a:ext cx="1042291" cy="276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DCA590-25E7-09E3-FCCB-E199AC3F2A3B}"/>
              </a:ext>
            </a:extLst>
          </p:cNvPr>
          <p:cNvSpPr txBox="1"/>
          <p:nvPr/>
        </p:nvSpPr>
        <p:spPr>
          <a:xfrm>
            <a:off x="2909771" y="1247031"/>
            <a:ext cx="527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gives good rules, but we care about the image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24FE1A-2B49-B86C-A7F1-984E34F92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8" y="1327110"/>
            <a:ext cx="1042291" cy="2762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03D3EA-27EA-7C7A-F48C-FE156A77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497" y="455119"/>
            <a:ext cx="1022534" cy="10992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1F247E-1DEA-D08F-046B-F03533844E6C}"/>
              </a:ext>
            </a:extLst>
          </p:cNvPr>
          <p:cNvSpPr txBox="1"/>
          <p:nvPr/>
        </p:nvSpPr>
        <p:spPr>
          <a:xfrm>
            <a:off x="276410" y="4025118"/>
            <a:ext cx="676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Can we focus on “generating realistic pictures”?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4FF6E54-9739-D3C4-8993-EED617F8E0C6}"/>
              </a:ext>
            </a:extLst>
          </p:cNvPr>
          <p:cNvSpPr/>
          <p:nvPr/>
        </p:nvSpPr>
        <p:spPr>
          <a:xfrm>
            <a:off x="1501323" y="4488470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08CBDD-D15C-F7AF-0C14-C396015552D7}"/>
              </a:ext>
            </a:extLst>
          </p:cNvPr>
          <p:cNvSpPr txBox="1"/>
          <p:nvPr/>
        </p:nvSpPr>
        <p:spPr>
          <a:xfrm>
            <a:off x="1809749" y="4414037"/>
            <a:ext cx="600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Train the decoder using the metric “realistic or not”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DAA65CF-5898-0513-54F3-DE0F7C4C0E3E}"/>
              </a:ext>
            </a:extLst>
          </p:cNvPr>
          <p:cNvGrpSpPr/>
          <p:nvPr/>
        </p:nvGrpSpPr>
        <p:grpSpPr>
          <a:xfrm>
            <a:off x="421086" y="1810161"/>
            <a:ext cx="7961683" cy="1606601"/>
            <a:chOff x="421086" y="1810161"/>
            <a:chExt cx="7961683" cy="16066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E5A04D0-2E26-4F3E-8FAB-08DDEAB4B031}"/>
                </a:ext>
              </a:extLst>
            </p:cNvPr>
            <p:cNvSpPr txBox="1"/>
            <p:nvPr/>
          </p:nvSpPr>
          <p:spPr>
            <a:xfrm>
              <a:off x="3221602" y="2463551"/>
              <a:ext cx="1244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Encoder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782ED3B-A744-91AD-C119-BFC40E969F9B}"/>
                </a:ext>
              </a:extLst>
            </p:cNvPr>
            <p:cNvSpPr txBox="1"/>
            <p:nvPr/>
          </p:nvSpPr>
          <p:spPr>
            <a:xfrm>
              <a:off x="5393302" y="2463551"/>
              <a:ext cx="11475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Decoder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38" name="Trapezoid 37">
              <a:extLst>
                <a:ext uri="{FF2B5EF4-FFF2-40B4-BE49-F238E27FC236}">
                  <a16:creationId xmlns:a16="http://schemas.microsoft.com/office/drawing/2014/main" id="{C0159A24-FA5F-CF42-647A-B429F3E823B1}"/>
                </a:ext>
              </a:extLst>
            </p:cNvPr>
            <p:cNvSpPr/>
            <p:nvPr/>
          </p:nvSpPr>
          <p:spPr>
            <a:xfrm rot="5400000">
              <a:off x="3187108" y="20292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DBBA20F-E06D-8F4D-BA9C-665C2A890C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3100" y="2067355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0D3DEDC-CC64-9261-E050-3F33AFA4DBF7}"/>
                </a:ext>
              </a:extLst>
            </p:cNvPr>
            <p:cNvSpPr/>
            <p:nvPr/>
          </p:nvSpPr>
          <p:spPr>
            <a:xfrm rot="16200000">
              <a:off x="4184707" y="2442277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rapezoid 40">
              <a:extLst>
                <a:ext uri="{FF2B5EF4-FFF2-40B4-BE49-F238E27FC236}">
                  <a16:creationId xmlns:a16="http://schemas.microsoft.com/office/drawing/2014/main" id="{92C32CE3-C92E-0863-5F1A-3FC936FEFB05}"/>
                </a:ext>
              </a:extLst>
            </p:cNvPr>
            <p:cNvSpPr/>
            <p:nvPr/>
          </p:nvSpPr>
          <p:spPr>
            <a:xfrm rot="16200000" flipH="1">
              <a:off x="5388951" y="2032869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D785A7-B4BF-EE62-0D9E-D28A22BFFD80}"/>
                </a:ext>
              </a:extLst>
            </p:cNvPr>
            <p:cNvSpPr txBox="1"/>
            <p:nvPr/>
          </p:nvSpPr>
          <p:spPr>
            <a:xfrm>
              <a:off x="421086" y="1810161"/>
              <a:ext cx="876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VAE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45" name="Picture 2" descr="VideoForensicsHQ Dataset | Papers With Code">
              <a:extLst>
                <a:ext uri="{FF2B5EF4-FFF2-40B4-BE49-F238E27FC236}">
                  <a16:creationId xmlns:a16="http://schemas.microsoft.com/office/drawing/2014/main" id="{60111D40-9DE5-7006-2F4A-43ADD0B646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356" y="1891783"/>
              <a:ext cx="1507683" cy="1524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2" descr="VideoForensicsHQ Dataset | Papers With Code">
              <a:extLst>
                <a:ext uri="{FF2B5EF4-FFF2-40B4-BE49-F238E27FC236}">
                  <a16:creationId xmlns:a16="http://schemas.microsoft.com/office/drawing/2014/main" id="{179C7770-8DA6-781D-F4F1-1262181D8E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5086" y="1885726"/>
              <a:ext cx="1507683" cy="1524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CD54FB8-C1D8-9B39-EC24-E58B8BB89840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A1BE54F-0585-00D6-D07B-424096F33D5F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380697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674F1C6-614F-6C40-5672-AACBBB67F521}"/>
              </a:ext>
            </a:extLst>
          </p:cNvPr>
          <p:cNvGrpSpPr/>
          <p:nvPr/>
        </p:nvGrpSpPr>
        <p:grpSpPr>
          <a:xfrm>
            <a:off x="4525108" y="2073737"/>
            <a:ext cx="2344794" cy="1246933"/>
            <a:chOff x="4525108" y="2064404"/>
            <a:chExt cx="2344794" cy="1246933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D05F904-52F5-2D7A-C79F-351F20C566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0508" y="2064404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FE6AB43-238E-9DEF-55A3-3E2760EC5ED5}"/>
                </a:ext>
              </a:extLst>
            </p:cNvPr>
            <p:cNvSpPr/>
            <p:nvPr/>
          </p:nvSpPr>
          <p:spPr>
            <a:xfrm rot="16200000">
              <a:off x="4182115" y="2439326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rapezoid 56">
              <a:extLst>
                <a:ext uri="{FF2B5EF4-FFF2-40B4-BE49-F238E27FC236}">
                  <a16:creationId xmlns:a16="http://schemas.microsoft.com/office/drawing/2014/main" id="{FBB25C7F-F161-19BD-B208-CBFA4E501D72}"/>
                </a:ext>
              </a:extLst>
            </p:cNvPr>
            <p:cNvSpPr/>
            <p:nvPr/>
          </p:nvSpPr>
          <p:spPr>
            <a:xfrm rot="16200000" flipH="1">
              <a:off x="5386359" y="2029918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1520698-85D1-F509-B8B2-1B8FA11E7E4A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6848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C156-E821-E457-540D-BEBF75CF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FEAD94-655A-1CCA-CE5F-1C7F66C98D21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A200A98-4CD7-8E6D-2892-C848B1545A79}"/>
              </a:ext>
            </a:extLst>
          </p:cNvPr>
          <p:cNvSpPr txBox="1"/>
          <p:nvPr/>
        </p:nvSpPr>
        <p:spPr>
          <a:xfrm>
            <a:off x="276410" y="818198"/>
            <a:ext cx="153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Motivation: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7E7CC4-39C3-5988-D2F4-FF0697B95C1C}"/>
              </a:ext>
            </a:extLst>
          </p:cNvPr>
          <p:cNvSpPr txBox="1"/>
          <p:nvPr/>
        </p:nvSpPr>
        <p:spPr>
          <a:xfrm>
            <a:off x="2910406" y="818197"/>
            <a:ext cx="3604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may blur the generated images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744D00-0188-057E-C257-F57547317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9" y="864751"/>
            <a:ext cx="1042291" cy="276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87A9C3-4A5B-7FBD-0206-D1CDC51DD3AB}"/>
              </a:ext>
            </a:extLst>
          </p:cNvPr>
          <p:cNvSpPr txBox="1"/>
          <p:nvPr/>
        </p:nvSpPr>
        <p:spPr>
          <a:xfrm>
            <a:off x="2909771" y="1247031"/>
            <a:ext cx="527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gives good rules, but we care about the image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FA2456-4765-AC2E-8AC5-0A10DDC73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8" y="1327110"/>
            <a:ext cx="1042291" cy="2762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A2E53F-65AA-3353-8C45-5DD594A3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497" y="455119"/>
            <a:ext cx="1022534" cy="10992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AF5ECAF-D506-FC14-AEBB-41C990A6B67E}"/>
              </a:ext>
            </a:extLst>
          </p:cNvPr>
          <p:cNvSpPr txBox="1"/>
          <p:nvPr/>
        </p:nvSpPr>
        <p:spPr>
          <a:xfrm>
            <a:off x="276410" y="4025118"/>
            <a:ext cx="676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Can we focus on “generating realistic pictures”?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439648F-EC31-942F-B552-8BDDB7F624E0}"/>
              </a:ext>
            </a:extLst>
          </p:cNvPr>
          <p:cNvSpPr/>
          <p:nvPr/>
        </p:nvSpPr>
        <p:spPr>
          <a:xfrm>
            <a:off x="1501323" y="4488470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6A417-FCB9-C72E-9783-600B1D1BB36C}"/>
              </a:ext>
            </a:extLst>
          </p:cNvPr>
          <p:cNvSpPr txBox="1"/>
          <p:nvPr/>
        </p:nvSpPr>
        <p:spPr>
          <a:xfrm>
            <a:off x="1664455" y="5470346"/>
            <a:ext cx="12380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Generator</a:t>
            </a:r>
            <a:endParaRPr lang="en-US" sz="1600" dirty="0">
              <a:latin typeface="Arial Rounded MT Bold" panose="020F0704030504030204" pitchFamily="34" charset="77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49E93D-292C-0262-C538-067ADE7B66DF}"/>
              </a:ext>
            </a:extLst>
          </p:cNvPr>
          <p:cNvGrpSpPr/>
          <p:nvPr/>
        </p:nvGrpSpPr>
        <p:grpSpPr>
          <a:xfrm>
            <a:off x="421086" y="1810161"/>
            <a:ext cx="7961683" cy="1606601"/>
            <a:chOff x="421086" y="1810161"/>
            <a:chExt cx="7961683" cy="160660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1E0A11-0A9E-ED2C-EFDD-02D4CF411831}"/>
                </a:ext>
              </a:extLst>
            </p:cNvPr>
            <p:cNvSpPr txBox="1"/>
            <p:nvPr/>
          </p:nvSpPr>
          <p:spPr>
            <a:xfrm>
              <a:off x="3221602" y="2463551"/>
              <a:ext cx="1244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Encoder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7E765D-CD83-5D05-C136-00610841C388}"/>
                </a:ext>
              </a:extLst>
            </p:cNvPr>
            <p:cNvSpPr txBox="1"/>
            <p:nvPr/>
          </p:nvSpPr>
          <p:spPr>
            <a:xfrm>
              <a:off x="5393302" y="2463551"/>
              <a:ext cx="11475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Decoder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43" name="Trapezoid 42">
              <a:extLst>
                <a:ext uri="{FF2B5EF4-FFF2-40B4-BE49-F238E27FC236}">
                  <a16:creationId xmlns:a16="http://schemas.microsoft.com/office/drawing/2014/main" id="{CF906342-4AF2-BDA4-5E23-B9A21EF83602}"/>
                </a:ext>
              </a:extLst>
            </p:cNvPr>
            <p:cNvSpPr/>
            <p:nvPr/>
          </p:nvSpPr>
          <p:spPr>
            <a:xfrm rot="5400000">
              <a:off x="3187108" y="20292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90BCFEA-3DA9-5204-771A-9C2531B6B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3100" y="2067355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95B7073-2B39-8698-E024-D72281952084}"/>
                </a:ext>
              </a:extLst>
            </p:cNvPr>
            <p:cNvSpPr/>
            <p:nvPr/>
          </p:nvSpPr>
          <p:spPr>
            <a:xfrm rot="16200000">
              <a:off x="4184707" y="2442277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rapezoid 52">
              <a:extLst>
                <a:ext uri="{FF2B5EF4-FFF2-40B4-BE49-F238E27FC236}">
                  <a16:creationId xmlns:a16="http://schemas.microsoft.com/office/drawing/2014/main" id="{30AAD113-6F3D-4E20-4808-4817357F7ECE}"/>
                </a:ext>
              </a:extLst>
            </p:cNvPr>
            <p:cNvSpPr/>
            <p:nvPr/>
          </p:nvSpPr>
          <p:spPr>
            <a:xfrm rot="16200000" flipH="1">
              <a:off x="5388951" y="2032869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F3BC339-C655-E740-7F80-9682AA57FA87}"/>
                </a:ext>
              </a:extLst>
            </p:cNvPr>
            <p:cNvSpPr txBox="1"/>
            <p:nvPr/>
          </p:nvSpPr>
          <p:spPr>
            <a:xfrm>
              <a:off x="421086" y="1810161"/>
              <a:ext cx="876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VAE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55" name="Picture 2" descr="VideoForensicsHQ Dataset | Papers With Code">
              <a:extLst>
                <a:ext uri="{FF2B5EF4-FFF2-40B4-BE49-F238E27FC236}">
                  <a16:creationId xmlns:a16="http://schemas.microsoft.com/office/drawing/2014/main" id="{146C0E7E-F7F3-0382-DFA0-FC20D09138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356" y="1891783"/>
              <a:ext cx="1507683" cy="1524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2" descr="VideoForensicsHQ Dataset | Papers With Code">
              <a:extLst>
                <a:ext uri="{FF2B5EF4-FFF2-40B4-BE49-F238E27FC236}">
                  <a16:creationId xmlns:a16="http://schemas.microsoft.com/office/drawing/2014/main" id="{ECF502D8-86F4-0F66-1897-2576F88A6B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5086" y="1885726"/>
              <a:ext cx="1507683" cy="1524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92963DA-13D5-F322-97C8-9F55F3EA70C4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6B43019-CAE2-1B71-7E84-7B7CBA2DDDD5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380697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" descr="VideoForensicsHQ Dataset | Papers With Code">
            <a:extLst>
              <a:ext uri="{FF2B5EF4-FFF2-40B4-BE49-F238E27FC236}">
                <a16:creationId xmlns:a16="http://schemas.microsoft.com/office/drawing/2014/main" id="{68C5A026-FC15-66C5-2CC4-97972235F7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20" t="83491"/>
          <a:stretch/>
        </p:blipFill>
        <p:spPr bwMode="auto">
          <a:xfrm>
            <a:off x="3259283" y="4904742"/>
            <a:ext cx="794026" cy="79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39D88E-34ED-20C7-DC2C-1FB3988CCB2D}"/>
              </a:ext>
            </a:extLst>
          </p:cNvPr>
          <p:cNvCxnSpPr>
            <a:cxnSpLocks/>
          </p:cNvCxnSpPr>
          <p:nvPr/>
        </p:nvCxnSpPr>
        <p:spPr>
          <a:xfrm>
            <a:off x="4196164" y="5381177"/>
            <a:ext cx="66307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BA7155E-8BF6-40DF-1CC4-42E8AADFC8A8}"/>
              </a:ext>
            </a:extLst>
          </p:cNvPr>
          <p:cNvSpPr/>
          <p:nvPr/>
        </p:nvSpPr>
        <p:spPr>
          <a:xfrm>
            <a:off x="4899505" y="5237085"/>
            <a:ext cx="1686601" cy="9246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E80A27-96D2-CB9E-E40B-001C840B697E}"/>
              </a:ext>
            </a:extLst>
          </p:cNvPr>
          <p:cNvSpPr txBox="1"/>
          <p:nvPr/>
        </p:nvSpPr>
        <p:spPr>
          <a:xfrm>
            <a:off x="4976301" y="5491540"/>
            <a:ext cx="1729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Critic</a:t>
            </a:r>
            <a:r>
              <a:rPr lang="zh-TW" altLang="en-US" sz="1600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network</a:t>
            </a:r>
            <a:endParaRPr lang="en-US" sz="1600" dirty="0">
              <a:latin typeface="Arial Rounded MT Bold" panose="020F0704030504030204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AF4259-A8E4-DEBD-F1A7-517625B41983}"/>
              </a:ext>
            </a:extLst>
          </p:cNvPr>
          <p:cNvCxnSpPr>
            <a:cxnSpLocks/>
          </p:cNvCxnSpPr>
          <p:nvPr/>
        </p:nvCxnSpPr>
        <p:spPr>
          <a:xfrm>
            <a:off x="6586106" y="5394071"/>
            <a:ext cx="4528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A5293F-32E2-A533-3DE1-E7F29C29AF17}"/>
              </a:ext>
            </a:extLst>
          </p:cNvPr>
          <p:cNvSpPr txBox="1"/>
          <p:nvPr/>
        </p:nvSpPr>
        <p:spPr>
          <a:xfrm>
            <a:off x="7118723" y="5168127"/>
            <a:ext cx="150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76% Real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6AC1-8253-7D2C-F64D-8378823BDA0A}"/>
              </a:ext>
            </a:extLst>
          </p:cNvPr>
          <p:cNvSpPr txBox="1"/>
          <p:nvPr/>
        </p:nvSpPr>
        <p:spPr>
          <a:xfrm>
            <a:off x="1809749" y="4414037"/>
            <a:ext cx="600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Train the decoder using the metric “realistic or not”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F77B52-0C03-0019-11A1-B81AF57EF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517" y="5664328"/>
            <a:ext cx="719080" cy="773011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54499F-0E6F-2978-A024-B47583A6D132}"/>
              </a:ext>
            </a:extLst>
          </p:cNvPr>
          <p:cNvCxnSpPr>
            <a:cxnSpLocks/>
          </p:cNvCxnSpPr>
          <p:nvPr/>
        </p:nvCxnSpPr>
        <p:spPr>
          <a:xfrm>
            <a:off x="4196163" y="5944747"/>
            <a:ext cx="66307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D05F1D-8513-2B90-69A0-0BADC72D2003}"/>
              </a:ext>
            </a:extLst>
          </p:cNvPr>
          <p:cNvCxnSpPr>
            <a:cxnSpLocks/>
          </p:cNvCxnSpPr>
          <p:nvPr/>
        </p:nvCxnSpPr>
        <p:spPr>
          <a:xfrm>
            <a:off x="6586105" y="5957641"/>
            <a:ext cx="4528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8390181-F012-EA3F-2F7A-C7371FF0B57D}"/>
              </a:ext>
            </a:extLst>
          </p:cNvPr>
          <p:cNvSpPr txBox="1"/>
          <p:nvPr/>
        </p:nvSpPr>
        <p:spPr>
          <a:xfrm>
            <a:off x="7118723" y="5772975"/>
            <a:ext cx="150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15% Real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1AFF545-7280-5830-2B9E-D0B8CA575644}"/>
              </a:ext>
            </a:extLst>
          </p:cNvPr>
          <p:cNvGrpSpPr/>
          <p:nvPr/>
        </p:nvGrpSpPr>
        <p:grpSpPr>
          <a:xfrm>
            <a:off x="754633" y="5063635"/>
            <a:ext cx="2344794" cy="1246933"/>
            <a:chOff x="4525108" y="2064404"/>
            <a:chExt cx="2344794" cy="1246933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3CFC2E9-E117-F37E-9115-598F2544B5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0508" y="2064404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6B8FCA7-512D-55A9-ED4A-FF727BF3EA93}"/>
                </a:ext>
              </a:extLst>
            </p:cNvPr>
            <p:cNvSpPr/>
            <p:nvPr/>
          </p:nvSpPr>
          <p:spPr>
            <a:xfrm rot="16200000">
              <a:off x="4182115" y="2439326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rapezoid 38">
              <a:extLst>
                <a:ext uri="{FF2B5EF4-FFF2-40B4-BE49-F238E27FC236}">
                  <a16:creationId xmlns:a16="http://schemas.microsoft.com/office/drawing/2014/main" id="{4F290ED7-3280-FD1A-ACA5-87C12A4F843F}"/>
                </a:ext>
              </a:extLst>
            </p:cNvPr>
            <p:cNvSpPr/>
            <p:nvPr/>
          </p:nvSpPr>
          <p:spPr>
            <a:xfrm rot="16200000" flipH="1">
              <a:off x="5386359" y="2029918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2E5774F-D48C-C415-3C18-864DEF89EE5C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65A624D-E444-1315-9EF5-D8BB6B8DD031}"/>
              </a:ext>
            </a:extLst>
          </p:cNvPr>
          <p:cNvCxnSpPr>
            <a:cxnSpLocks/>
          </p:cNvCxnSpPr>
          <p:nvPr/>
        </p:nvCxnSpPr>
        <p:spPr>
          <a:xfrm flipV="1">
            <a:off x="1229314" y="5352793"/>
            <a:ext cx="1874492" cy="202562"/>
          </a:xfrm>
          <a:prstGeom prst="straightConnector1">
            <a:avLst/>
          </a:prstGeom>
          <a:ln w="5715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947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9353-229D-9A59-BDF4-45C563DE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F8EBA9-8887-7B80-E74C-E67E256E4831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BFB9CC-EE44-0228-322B-28B31CF83D89}"/>
              </a:ext>
            </a:extLst>
          </p:cNvPr>
          <p:cNvSpPr txBox="1"/>
          <p:nvPr/>
        </p:nvSpPr>
        <p:spPr>
          <a:xfrm>
            <a:off x="276411" y="2299050"/>
            <a:ext cx="3622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how do we get this critic?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D9445A-9ED3-5CA5-CB01-DDAE6ED07D13}"/>
              </a:ext>
            </a:extLst>
          </p:cNvPr>
          <p:cNvSpPr txBox="1"/>
          <p:nvPr/>
        </p:nvSpPr>
        <p:spPr>
          <a:xfrm>
            <a:off x="1664455" y="1332057"/>
            <a:ext cx="12380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Generator</a:t>
            </a:r>
            <a:endParaRPr lang="en-US" sz="1600" dirty="0">
              <a:latin typeface="Arial Rounded MT Bold" panose="020F0704030504030204" pitchFamily="34" charset="77"/>
            </a:endParaRPr>
          </a:p>
        </p:txBody>
      </p:sp>
      <p:pic>
        <p:nvPicPr>
          <p:cNvPr id="33" name="Picture 2" descr="VideoForensicsHQ Dataset | Papers With Code">
            <a:extLst>
              <a:ext uri="{FF2B5EF4-FFF2-40B4-BE49-F238E27FC236}">
                <a16:creationId xmlns:a16="http://schemas.microsoft.com/office/drawing/2014/main" id="{7C6CB6D6-91EF-AA5D-5F28-2C1C0BD13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20" t="83491"/>
          <a:stretch/>
        </p:blipFill>
        <p:spPr bwMode="auto">
          <a:xfrm>
            <a:off x="3259283" y="766453"/>
            <a:ext cx="794026" cy="79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4ED829-DFA5-EC0F-675B-7AFD0CF7146C}"/>
              </a:ext>
            </a:extLst>
          </p:cNvPr>
          <p:cNvCxnSpPr>
            <a:cxnSpLocks/>
          </p:cNvCxnSpPr>
          <p:nvPr/>
        </p:nvCxnSpPr>
        <p:spPr>
          <a:xfrm>
            <a:off x="4196164" y="1242888"/>
            <a:ext cx="66307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833C0A5-907E-7006-C059-D2ED40C1EBAF}"/>
              </a:ext>
            </a:extLst>
          </p:cNvPr>
          <p:cNvSpPr/>
          <p:nvPr/>
        </p:nvSpPr>
        <p:spPr>
          <a:xfrm>
            <a:off x="4899505" y="1098796"/>
            <a:ext cx="1686601" cy="9246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565512-6297-5F32-5648-F42F41857A9E}"/>
              </a:ext>
            </a:extLst>
          </p:cNvPr>
          <p:cNvSpPr txBox="1"/>
          <p:nvPr/>
        </p:nvSpPr>
        <p:spPr>
          <a:xfrm>
            <a:off x="4976301" y="1353251"/>
            <a:ext cx="1729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Critic</a:t>
            </a:r>
            <a:r>
              <a:rPr lang="zh-TW" altLang="en-US" sz="1600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network</a:t>
            </a:r>
            <a:endParaRPr lang="en-US" sz="1600" dirty="0">
              <a:latin typeface="Arial Rounded MT Bold" panose="020F0704030504030204" pitchFamily="34" charset="77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E3579B9-A9D9-F8B5-678D-C69EF61D5F19}"/>
              </a:ext>
            </a:extLst>
          </p:cNvPr>
          <p:cNvCxnSpPr>
            <a:cxnSpLocks/>
          </p:cNvCxnSpPr>
          <p:nvPr/>
        </p:nvCxnSpPr>
        <p:spPr>
          <a:xfrm>
            <a:off x="6586106" y="1255782"/>
            <a:ext cx="4528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B7063A3-2D56-2C2C-569B-87C77C75ECDC}"/>
              </a:ext>
            </a:extLst>
          </p:cNvPr>
          <p:cNvSpPr txBox="1"/>
          <p:nvPr/>
        </p:nvSpPr>
        <p:spPr>
          <a:xfrm>
            <a:off x="7118723" y="1029838"/>
            <a:ext cx="150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76% Real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AC8B6CB-3957-365F-F51A-85C73F539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517" y="1526039"/>
            <a:ext cx="719080" cy="773011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EFAB2A2-05B2-AEFF-607F-A42DE2485B3E}"/>
              </a:ext>
            </a:extLst>
          </p:cNvPr>
          <p:cNvCxnSpPr>
            <a:cxnSpLocks/>
          </p:cNvCxnSpPr>
          <p:nvPr/>
        </p:nvCxnSpPr>
        <p:spPr>
          <a:xfrm>
            <a:off x="4196163" y="1806458"/>
            <a:ext cx="66307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C0C01DB-992F-D63B-EF80-FE26C36C1F9D}"/>
              </a:ext>
            </a:extLst>
          </p:cNvPr>
          <p:cNvCxnSpPr>
            <a:cxnSpLocks/>
          </p:cNvCxnSpPr>
          <p:nvPr/>
        </p:nvCxnSpPr>
        <p:spPr>
          <a:xfrm>
            <a:off x="6586105" y="1819352"/>
            <a:ext cx="4528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4401109-307D-D55B-8749-8CCE7EA68909}"/>
              </a:ext>
            </a:extLst>
          </p:cNvPr>
          <p:cNvSpPr txBox="1"/>
          <p:nvPr/>
        </p:nvSpPr>
        <p:spPr>
          <a:xfrm>
            <a:off x="7118723" y="1634686"/>
            <a:ext cx="150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15% Real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129288-A137-B1AC-8ECB-D415961847A9}"/>
              </a:ext>
            </a:extLst>
          </p:cNvPr>
          <p:cNvGrpSpPr/>
          <p:nvPr/>
        </p:nvGrpSpPr>
        <p:grpSpPr>
          <a:xfrm>
            <a:off x="754633" y="925346"/>
            <a:ext cx="2344794" cy="1246933"/>
            <a:chOff x="4525108" y="2064404"/>
            <a:chExt cx="2344794" cy="1246933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7539901-5D09-8523-AB6D-9617B45A3F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0508" y="2064404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97D6005-680E-D9DC-8025-26B4A8E2B0E8}"/>
                </a:ext>
              </a:extLst>
            </p:cNvPr>
            <p:cNvSpPr/>
            <p:nvPr/>
          </p:nvSpPr>
          <p:spPr>
            <a:xfrm rot="16200000">
              <a:off x="4182115" y="2439326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rapezoid 45">
              <a:extLst>
                <a:ext uri="{FF2B5EF4-FFF2-40B4-BE49-F238E27FC236}">
                  <a16:creationId xmlns:a16="http://schemas.microsoft.com/office/drawing/2014/main" id="{D35AB332-0F3B-D652-EEA1-32BB7CDAFB07}"/>
                </a:ext>
              </a:extLst>
            </p:cNvPr>
            <p:cNvSpPr/>
            <p:nvPr/>
          </p:nvSpPr>
          <p:spPr>
            <a:xfrm rot="16200000" flipH="1">
              <a:off x="5386359" y="2029918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98CEFE7-574E-3D5E-50AA-523070C16F10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D5042E-0D0C-BA14-9187-557F2DC78A02}"/>
              </a:ext>
            </a:extLst>
          </p:cNvPr>
          <p:cNvCxnSpPr>
            <a:cxnSpLocks/>
          </p:cNvCxnSpPr>
          <p:nvPr/>
        </p:nvCxnSpPr>
        <p:spPr>
          <a:xfrm flipV="1">
            <a:off x="1229314" y="1214504"/>
            <a:ext cx="1874492" cy="202562"/>
          </a:xfrm>
          <a:prstGeom prst="straightConnector1">
            <a:avLst/>
          </a:prstGeom>
          <a:ln w="5715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110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802A-4821-89EA-4F36-9A69F47D0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42A3DE-928B-6203-4C41-1A4A115D6F27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895CEF-D83B-4065-DD0D-DCA852383C42}"/>
              </a:ext>
            </a:extLst>
          </p:cNvPr>
          <p:cNvSpPr txBox="1"/>
          <p:nvPr/>
        </p:nvSpPr>
        <p:spPr>
          <a:xfrm>
            <a:off x="276411" y="2299050"/>
            <a:ext cx="3622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how do we get this critic?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2BEAF5-DAA4-C126-2C85-71342AFD13C0}"/>
              </a:ext>
            </a:extLst>
          </p:cNvPr>
          <p:cNvSpPr txBox="1"/>
          <p:nvPr/>
        </p:nvSpPr>
        <p:spPr>
          <a:xfrm>
            <a:off x="3931629" y="2299050"/>
            <a:ext cx="736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Train another network</a:t>
            </a:r>
            <a:r>
              <a:rPr lang="zh-TW" altLang="en-US" dirty="0">
                <a:latin typeface="Arial Rounded MT Bold" panose="020F0704030504030204" pitchFamily="34" charset="77"/>
              </a:rPr>
              <a:t> </a:t>
            </a:r>
            <a:r>
              <a:rPr lang="en-US" altLang="zh-TW" dirty="0">
                <a:latin typeface="Arial Rounded MT Bold" panose="020F0704030504030204" pitchFamily="34" charset="77"/>
              </a:rPr>
              <a:t>(discriminator)</a:t>
            </a:r>
            <a:r>
              <a:rPr lang="en-US" dirty="0">
                <a:latin typeface="Arial Rounded MT Bold" panose="020F0704030504030204" pitchFamily="34" charset="77"/>
              </a:rPr>
              <a:t>  as the classifier!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A7D796-36D8-041D-CB59-A2989ECE9B1E}"/>
              </a:ext>
            </a:extLst>
          </p:cNvPr>
          <p:cNvGrpSpPr/>
          <p:nvPr/>
        </p:nvGrpSpPr>
        <p:grpSpPr>
          <a:xfrm>
            <a:off x="798853" y="2841991"/>
            <a:ext cx="9758582" cy="3311911"/>
            <a:chOff x="798853" y="2841991"/>
            <a:chExt cx="9758582" cy="3311911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9EF1483-57CF-4E96-3FA1-DD3F01C33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4253" y="2841991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8655BEF-5C75-ACC7-310F-E8AF9486F504}"/>
                </a:ext>
              </a:extLst>
            </p:cNvPr>
            <p:cNvSpPr/>
            <p:nvPr/>
          </p:nvSpPr>
          <p:spPr>
            <a:xfrm rot="16200000">
              <a:off x="455860" y="3216913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rapezoid 32">
              <a:extLst>
                <a:ext uri="{FF2B5EF4-FFF2-40B4-BE49-F238E27FC236}">
                  <a16:creationId xmlns:a16="http://schemas.microsoft.com/office/drawing/2014/main" id="{FBB19160-055A-56FB-705D-42E2DD0D9D9F}"/>
                </a:ext>
              </a:extLst>
            </p:cNvPr>
            <p:cNvSpPr/>
            <p:nvPr/>
          </p:nvSpPr>
          <p:spPr>
            <a:xfrm rot="16200000" flipH="1">
              <a:off x="1660104" y="28075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EDBFBE2-1A7F-8D04-7ECE-F92DAFA33FEE}"/>
                </a:ext>
              </a:extLst>
            </p:cNvPr>
            <p:cNvCxnSpPr>
              <a:cxnSpLocks/>
            </p:cNvCxnSpPr>
            <p:nvPr/>
          </p:nvCxnSpPr>
          <p:spPr>
            <a:xfrm>
              <a:off x="1261595" y="3522260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2" descr="VideoForensicsHQ Dataset | Papers With Code">
              <a:extLst>
                <a:ext uri="{FF2B5EF4-FFF2-40B4-BE49-F238E27FC236}">
                  <a16:creationId xmlns:a16="http://schemas.microsoft.com/office/drawing/2014/main" id="{4AE8149D-F586-A744-C1D9-BA33E2E580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20" t="83491"/>
            <a:stretch/>
          </p:blipFill>
          <p:spPr bwMode="auto">
            <a:xfrm>
              <a:off x="3136087" y="2942495"/>
              <a:ext cx="947486" cy="948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DF1DEC7-348F-3BF1-325F-02D70A09165C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3475130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9AADBEE-6290-4092-2C08-CD99E598692E}"/>
                </a:ext>
              </a:extLst>
            </p:cNvPr>
            <p:cNvCxnSpPr>
              <a:cxnSpLocks/>
            </p:cNvCxnSpPr>
            <p:nvPr/>
          </p:nvCxnSpPr>
          <p:spPr>
            <a:xfrm>
              <a:off x="7899057" y="3891517"/>
              <a:ext cx="4528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E82B1BE-A8CC-640D-610D-F52933F51DE8}"/>
                </a:ext>
              </a:extLst>
            </p:cNvPr>
            <p:cNvSpPr txBox="1"/>
            <p:nvPr/>
          </p:nvSpPr>
          <p:spPr>
            <a:xfrm>
              <a:off x="8454047" y="3706408"/>
              <a:ext cx="2103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R or G?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41" name="Trapezoid 40">
              <a:extLst>
                <a:ext uri="{FF2B5EF4-FFF2-40B4-BE49-F238E27FC236}">
                  <a16:creationId xmlns:a16="http://schemas.microsoft.com/office/drawing/2014/main" id="{67C2840C-A7C1-28FB-F8D0-9E1DFC1285FA}"/>
                </a:ext>
              </a:extLst>
            </p:cNvPr>
            <p:cNvSpPr/>
            <p:nvPr/>
          </p:nvSpPr>
          <p:spPr>
            <a:xfrm rot="5400000">
              <a:off x="6204071" y="3137233"/>
              <a:ext cx="1669807" cy="1507683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2" descr="VideoForensicsHQ Dataset | Papers With Code">
              <a:extLst>
                <a:ext uri="{FF2B5EF4-FFF2-40B4-BE49-F238E27FC236}">
                  <a16:creationId xmlns:a16="http://schemas.microsoft.com/office/drawing/2014/main" id="{1B3FF174-D3CA-5A00-4317-0A7052DEE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222" y="4332216"/>
              <a:ext cx="1474814" cy="1491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7E2A8C-E9F6-AC15-6706-30C0B9C5E58F}"/>
                </a:ext>
              </a:extLst>
            </p:cNvPr>
            <p:cNvSpPr txBox="1"/>
            <p:nvPr/>
          </p:nvSpPr>
          <p:spPr>
            <a:xfrm>
              <a:off x="1492755" y="5784570"/>
              <a:ext cx="2678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75E1935-6BE8-EB1A-A795-9313A669F7C0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4456205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9A0ADC1-DFBC-6748-79CC-75EAFF709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6347" y="3183711"/>
              <a:ext cx="454240" cy="45424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BF73363-CEB5-B26B-B697-A22EA7A45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46559" y="3606135"/>
              <a:ext cx="584829" cy="506270"/>
            </a:xfrm>
            <a:prstGeom prst="rect">
              <a:avLst/>
            </a:prstGeom>
          </p:spPr>
        </p:pic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DA0DD4CC-7B66-35C7-C3AE-147EFD35EFF2}"/>
                </a:ext>
              </a:extLst>
            </p:cNvPr>
            <p:cNvCxnSpPr>
              <a:cxnSpLocks/>
            </p:cNvCxnSpPr>
            <p:nvPr/>
          </p:nvCxnSpPr>
          <p:spPr>
            <a:xfrm>
              <a:off x="5582806" y="3891074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7B8027C-8694-C310-109F-EC60CCBA564B}"/>
                </a:ext>
              </a:extLst>
            </p:cNvPr>
            <p:cNvCxnSpPr>
              <a:cxnSpLocks/>
              <a:stCxn id="10" idx="6"/>
              <a:endCxn id="13" idx="1"/>
            </p:cNvCxnSpPr>
            <p:nvPr/>
          </p:nvCxnSpPr>
          <p:spPr>
            <a:xfrm>
              <a:off x="4897649" y="3475130"/>
              <a:ext cx="638382" cy="3980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605C37-1AB0-2B61-0647-DB0914E4F7B6}"/>
                </a:ext>
              </a:extLst>
            </p:cNvPr>
            <p:cNvSpPr/>
            <p:nvPr/>
          </p:nvSpPr>
          <p:spPr>
            <a:xfrm>
              <a:off x="4802399" y="3427505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0804851-89AE-56AA-22A2-DE42EA5ACCAE}"/>
                </a:ext>
              </a:extLst>
            </p:cNvPr>
            <p:cNvSpPr/>
            <p:nvPr/>
          </p:nvSpPr>
          <p:spPr>
            <a:xfrm>
              <a:off x="4802399" y="440858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B9E715-5F81-5AE8-F51C-DC7848B2EB89}"/>
                </a:ext>
              </a:extLst>
            </p:cNvPr>
            <p:cNvSpPr/>
            <p:nvPr/>
          </p:nvSpPr>
          <p:spPr>
            <a:xfrm>
              <a:off x="5522082" y="385927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21900842-8641-5147-6575-09365E98BBB6}"/>
              </a:ext>
            </a:extLst>
          </p:cNvPr>
          <p:cNvSpPr txBox="1"/>
          <p:nvPr/>
        </p:nvSpPr>
        <p:spPr>
          <a:xfrm>
            <a:off x="1664455" y="1332057"/>
            <a:ext cx="12380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Generator</a:t>
            </a:r>
            <a:endParaRPr lang="en-US" sz="1600" dirty="0">
              <a:latin typeface="Arial Rounded MT Bold" panose="020F0704030504030204" pitchFamily="34" charset="77"/>
            </a:endParaRPr>
          </a:p>
        </p:txBody>
      </p:sp>
      <p:pic>
        <p:nvPicPr>
          <p:cNvPr id="70" name="Picture 2" descr="VideoForensicsHQ Dataset | Papers With Code">
            <a:extLst>
              <a:ext uri="{FF2B5EF4-FFF2-40B4-BE49-F238E27FC236}">
                <a16:creationId xmlns:a16="http://schemas.microsoft.com/office/drawing/2014/main" id="{5A4EC70E-7F4E-6126-635E-9024171523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20" t="83491"/>
          <a:stretch/>
        </p:blipFill>
        <p:spPr bwMode="auto">
          <a:xfrm>
            <a:off x="3259283" y="766453"/>
            <a:ext cx="794026" cy="79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B8B05F8-74E9-D1EC-354D-B189C8CE41F5}"/>
              </a:ext>
            </a:extLst>
          </p:cNvPr>
          <p:cNvCxnSpPr>
            <a:cxnSpLocks/>
          </p:cNvCxnSpPr>
          <p:nvPr/>
        </p:nvCxnSpPr>
        <p:spPr>
          <a:xfrm>
            <a:off x="4196164" y="1242888"/>
            <a:ext cx="66307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6B78895F-55D3-AA03-E259-A039F12CAC8E}"/>
              </a:ext>
            </a:extLst>
          </p:cNvPr>
          <p:cNvSpPr/>
          <p:nvPr/>
        </p:nvSpPr>
        <p:spPr>
          <a:xfrm>
            <a:off x="4899505" y="1098796"/>
            <a:ext cx="1686601" cy="9246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4EA3AF-553E-FCB1-B937-FA1C91DCC8F3}"/>
              </a:ext>
            </a:extLst>
          </p:cNvPr>
          <p:cNvSpPr txBox="1"/>
          <p:nvPr/>
        </p:nvSpPr>
        <p:spPr>
          <a:xfrm>
            <a:off x="4976301" y="1353251"/>
            <a:ext cx="1729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Critic</a:t>
            </a:r>
            <a:r>
              <a:rPr lang="zh-TW" altLang="en-US" sz="1600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r>
              <a:rPr lang="en-US" altLang="zh-TW" sz="1600" dirty="0">
                <a:latin typeface="Arial Rounded MT Bold" panose="020F0704030504030204" pitchFamily="34" charset="77"/>
                <a:sym typeface="Wingdings" pitchFamily="2" charset="2"/>
              </a:rPr>
              <a:t>network</a:t>
            </a:r>
            <a:endParaRPr lang="en-US" sz="1600" dirty="0">
              <a:latin typeface="Arial Rounded MT Bold" panose="020F0704030504030204" pitchFamily="34" charset="77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E539C67-398C-2395-FF72-50F003B9882B}"/>
              </a:ext>
            </a:extLst>
          </p:cNvPr>
          <p:cNvCxnSpPr>
            <a:cxnSpLocks/>
          </p:cNvCxnSpPr>
          <p:nvPr/>
        </p:nvCxnSpPr>
        <p:spPr>
          <a:xfrm>
            <a:off x="6586106" y="1255782"/>
            <a:ext cx="4528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378DE19-0B7E-9925-986D-4B089ECCDB5B}"/>
              </a:ext>
            </a:extLst>
          </p:cNvPr>
          <p:cNvSpPr txBox="1"/>
          <p:nvPr/>
        </p:nvSpPr>
        <p:spPr>
          <a:xfrm>
            <a:off x="7118723" y="1029838"/>
            <a:ext cx="150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76% Real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7B84825-7D5A-B152-9799-B2AF8DD2A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517" y="1526039"/>
            <a:ext cx="719080" cy="773011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6EED555-7594-3451-7C02-C7241C600613}"/>
              </a:ext>
            </a:extLst>
          </p:cNvPr>
          <p:cNvCxnSpPr>
            <a:cxnSpLocks/>
          </p:cNvCxnSpPr>
          <p:nvPr/>
        </p:nvCxnSpPr>
        <p:spPr>
          <a:xfrm>
            <a:off x="4196163" y="1806458"/>
            <a:ext cx="66307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877D921-F9F4-9408-C9DE-70816350FE85}"/>
              </a:ext>
            </a:extLst>
          </p:cNvPr>
          <p:cNvCxnSpPr>
            <a:cxnSpLocks/>
          </p:cNvCxnSpPr>
          <p:nvPr/>
        </p:nvCxnSpPr>
        <p:spPr>
          <a:xfrm>
            <a:off x="6586105" y="1819352"/>
            <a:ext cx="45286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F1CAB14-69B9-AF54-CD0C-8F52868DC01E}"/>
              </a:ext>
            </a:extLst>
          </p:cNvPr>
          <p:cNvSpPr txBox="1"/>
          <p:nvPr/>
        </p:nvSpPr>
        <p:spPr>
          <a:xfrm>
            <a:off x="7118723" y="1634686"/>
            <a:ext cx="150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15% Real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97309C7-47AC-1589-CCBD-576672373BA3}"/>
              </a:ext>
            </a:extLst>
          </p:cNvPr>
          <p:cNvGrpSpPr/>
          <p:nvPr/>
        </p:nvGrpSpPr>
        <p:grpSpPr>
          <a:xfrm>
            <a:off x="754633" y="925346"/>
            <a:ext cx="2344794" cy="1246933"/>
            <a:chOff x="4525108" y="2064404"/>
            <a:chExt cx="2344794" cy="1246933"/>
          </a:xfrm>
        </p:grpSpPr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C6BDA8BB-3E7A-7ABF-0EBE-AFF454F4F3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0508" y="2064404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64C5BF5-FEAE-40B1-800C-1E6DBAB2C112}"/>
                </a:ext>
              </a:extLst>
            </p:cNvPr>
            <p:cNvSpPr/>
            <p:nvPr/>
          </p:nvSpPr>
          <p:spPr>
            <a:xfrm rot="16200000">
              <a:off x="4182115" y="2439326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rapezoid 82">
              <a:extLst>
                <a:ext uri="{FF2B5EF4-FFF2-40B4-BE49-F238E27FC236}">
                  <a16:creationId xmlns:a16="http://schemas.microsoft.com/office/drawing/2014/main" id="{BB15F177-C700-B1AB-2B02-B889EEC3D74F}"/>
                </a:ext>
              </a:extLst>
            </p:cNvPr>
            <p:cNvSpPr/>
            <p:nvPr/>
          </p:nvSpPr>
          <p:spPr>
            <a:xfrm rot="16200000" flipH="1">
              <a:off x="5386359" y="2029918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5C83C8A-8085-1419-D015-4A5ECC855F69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0" y="2829932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9891534-CD5B-98C9-E662-15274FE4918F}"/>
              </a:ext>
            </a:extLst>
          </p:cNvPr>
          <p:cNvCxnSpPr>
            <a:cxnSpLocks/>
          </p:cNvCxnSpPr>
          <p:nvPr/>
        </p:nvCxnSpPr>
        <p:spPr>
          <a:xfrm flipV="1">
            <a:off x="1229314" y="1214504"/>
            <a:ext cx="1874492" cy="202562"/>
          </a:xfrm>
          <a:prstGeom prst="straightConnector1">
            <a:avLst/>
          </a:prstGeom>
          <a:ln w="5715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968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8F32-FB7A-8A02-B411-CEA8CB74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69676D-0C9C-6CE5-FFE6-4DBB4F1FB9AA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20671E-03A5-0D36-C9AC-87D8F095058A}"/>
              </a:ext>
            </a:extLst>
          </p:cNvPr>
          <p:cNvSpPr txBox="1"/>
          <p:nvPr/>
        </p:nvSpPr>
        <p:spPr>
          <a:xfrm>
            <a:off x="276410" y="986589"/>
            <a:ext cx="653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To train the network,        optimizes the cross-entropy loss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6DFB89C-CE6F-B131-D444-9B8157365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87" y="1060243"/>
            <a:ext cx="246356" cy="21326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45BFDC7-C8C3-A383-7FAB-CA40BA2B21B7}"/>
              </a:ext>
            </a:extLst>
          </p:cNvPr>
          <p:cNvGrpSpPr/>
          <p:nvPr/>
        </p:nvGrpSpPr>
        <p:grpSpPr>
          <a:xfrm>
            <a:off x="7142131" y="260293"/>
            <a:ext cx="5049869" cy="1891032"/>
            <a:chOff x="798853" y="2841991"/>
            <a:chExt cx="9765155" cy="365677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0306A7C-9585-53CB-8D55-7B84C71743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4253" y="2841991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1F408E2-8A28-528F-0C40-CF82991486AE}"/>
                </a:ext>
              </a:extLst>
            </p:cNvPr>
            <p:cNvSpPr/>
            <p:nvPr/>
          </p:nvSpPr>
          <p:spPr>
            <a:xfrm rot="16200000">
              <a:off x="455860" y="3216913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D09666A4-20C9-9023-9378-41313ABF3402}"/>
                </a:ext>
              </a:extLst>
            </p:cNvPr>
            <p:cNvSpPr/>
            <p:nvPr/>
          </p:nvSpPr>
          <p:spPr>
            <a:xfrm rot="16200000" flipH="1">
              <a:off x="1660104" y="28075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B19CBEF-26B0-54EA-DC5E-953659FB6C77}"/>
                </a:ext>
              </a:extLst>
            </p:cNvPr>
            <p:cNvCxnSpPr>
              <a:cxnSpLocks/>
            </p:cNvCxnSpPr>
            <p:nvPr/>
          </p:nvCxnSpPr>
          <p:spPr>
            <a:xfrm>
              <a:off x="1261595" y="3522260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 descr="VideoForensicsHQ Dataset | Papers With Code">
              <a:extLst>
                <a:ext uri="{FF2B5EF4-FFF2-40B4-BE49-F238E27FC236}">
                  <a16:creationId xmlns:a16="http://schemas.microsoft.com/office/drawing/2014/main" id="{D802F55D-A5BD-A6B1-A7B3-E9293FF647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20" t="83491"/>
            <a:stretch/>
          </p:blipFill>
          <p:spPr bwMode="auto">
            <a:xfrm>
              <a:off x="3136087" y="2942495"/>
              <a:ext cx="947486" cy="948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4417A8D-3C28-D120-2A0B-8F9570496A5C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3475130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1F56218-5FC6-19F5-5898-CF671419FE6B}"/>
                </a:ext>
              </a:extLst>
            </p:cNvPr>
            <p:cNvCxnSpPr>
              <a:cxnSpLocks/>
            </p:cNvCxnSpPr>
            <p:nvPr/>
          </p:nvCxnSpPr>
          <p:spPr>
            <a:xfrm>
              <a:off x="7899057" y="3891517"/>
              <a:ext cx="4528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408373-8A9C-EB94-1A40-D5102CCCD1C3}"/>
                </a:ext>
              </a:extLst>
            </p:cNvPr>
            <p:cNvSpPr txBox="1"/>
            <p:nvPr/>
          </p:nvSpPr>
          <p:spPr>
            <a:xfrm>
              <a:off x="8460620" y="3510063"/>
              <a:ext cx="2103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R or G?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8" name="Trapezoid 27">
              <a:extLst>
                <a:ext uri="{FF2B5EF4-FFF2-40B4-BE49-F238E27FC236}">
                  <a16:creationId xmlns:a16="http://schemas.microsoft.com/office/drawing/2014/main" id="{0A7BFD14-EB1A-25CA-DABF-98E801E3A984}"/>
                </a:ext>
              </a:extLst>
            </p:cNvPr>
            <p:cNvSpPr/>
            <p:nvPr/>
          </p:nvSpPr>
          <p:spPr>
            <a:xfrm rot="5400000">
              <a:off x="6204071" y="3137233"/>
              <a:ext cx="1669807" cy="1507683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" descr="VideoForensicsHQ Dataset | Papers With Code">
              <a:extLst>
                <a:ext uri="{FF2B5EF4-FFF2-40B4-BE49-F238E27FC236}">
                  <a16:creationId xmlns:a16="http://schemas.microsoft.com/office/drawing/2014/main" id="{0F763589-F136-3775-9ED5-98549327A4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222" y="4332216"/>
              <a:ext cx="1474814" cy="1491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84185E-64F3-FF83-332A-3C6EDC5AFD68}"/>
                </a:ext>
              </a:extLst>
            </p:cNvPr>
            <p:cNvSpPr txBox="1"/>
            <p:nvPr/>
          </p:nvSpPr>
          <p:spPr>
            <a:xfrm>
              <a:off x="1492756" y="5784570"/>
              <a:ext cx="6300061" cy="714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52128BA-C3B1-9DFA-6DD3-BA66AA589DA0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4456205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44A551C-907F-F8AF-7A3D-F98CCE3D5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6347" y="3183711"/>
              <a:ext cx="454240" cy="45424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EBE680B-1967-BC4C-C89C-CB438C05B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6559" y="3606135"/>
              <a:ext cx="584829" cy="506270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223EC6B-E0E5-227D-D10F-DDCF966D0247}"/>
                </a:ext>
              </a:extLst>
            </p:cNvPr>
            <p:cNvCxnSpPr>
              <a:cxnSpLocks/>
            </p:cNvCxnSpPr>
            <p:nvPr/>
          </p:nvCxnSpPr>
          <p:spPr>
            <a:xfrm>
              <a:off x="5582806" y="3891074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6AC24CC-8CB4-EE49-C446-F906240383F3}"/>
                </a:ext>
              </a:extLst>
            </p:cNvPr>
            <p:cNvCxnSpPr>
              <a:cxnSpLocks/>
              <a:stCxn id="36" idx="6"/>
              <a:endCxn id="39" idx="1"/>
            </p:cNvCxnSpPr>
            <p:nvPr/>
          </p:nvCxnSpPr>
          <p:spPr>
            <a:xfrm>
              <a:off x="4897649" y="3475130"/>
              <a:ext cx="638382" cy="3980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E4C0437-9906-279F-3D7C-076C2DA46AA8}"/>
                </a:ext>
              </a:extLst>
            </p:cNvPr>
            <p:cNvSpPr/>
            <p:nvPr/>
          </p:nvSpPr>
          <p:spPr>
            <a:xfrm>
              <a:off x="4802399" y="3427505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3AB1EB8-0481-766F-D320-298C65987390}"/>
                </a:ext>
              </a:extLst>
            </p:cNvPr>
            <p:cNvSpPr/>
            <p:nvPr/>
          </p:nvSpPr>
          <p:spPr>
            <a:xfrm>
              <a:off x="4802399" y="440858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4F3512C-3CB5-F5EE-3429-CBBDE9A27CE9}"/>
                </a:ext>
              </a:extLst>
            </p:cNvPr>
            <p:cNvSpPr/>
            <p:nvPr/>
          </p:nvSpPr>
          <p:spPr>
            <a:xfrm>
              <a:off x="5522082" y="385927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379CD69-C709-191D-1A10-CCB8513EC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53" y="1667625"/>
            <a:ext cx="6575367" cy="3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51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E136-5D44-8CAC-B015-3ECA0223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EC573-38DC-2DA4-770A-92C4B0175717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34C609-998D-FB47-8218-2A943FA3D318}"/>
              </a:ext>
            </a:extLst>
          </p:cNvPr>
          <p:cNvSpPr txBox="1"/>
          <p:nvPr/>
        </p:nvSpPr>
        <p:spPr>
          <a:xfrm>
            <a:off x="276410" y="986589"/>
            <a:ext cx="653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To train the network,        optimizes the cross-entropy loss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AA90EC4-232F-9412-90F0-73684C8BB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87" y="1060243"/>
            <a:ext cx="246356" cy="2132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3714F73-411E-E747-41CC-6F0B6A918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8" y="3215736"/>
            <a:ext cx="246356" cy="213264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2414EE-CFF9-A8C7-2013-7FCD0EE3E0F7}"/>
              </a:ext>
            </a:extLst>
          </p:cNvPr>
          <p:cNvCxnSpPr/>
          <p:nvPr/>
        </p:nvCxnSpPr>
        <p:spPr>
          <a:xfrm>
            <a:off x="1159193" y="3322368"/>
            <a:ext cx="7476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7E43825-DB69-3E36-C904-50B891CDA86D}"/>
              </a:ext>
            </a:extLst>
          </p:cNvPr>
          <p:cNvCxnSpPr>
            <a:cxnSpLocks/>
          </p:cNvCxnSpPr>
          <p:nvPr/>
        </p:nvCxnSpPr>
        <p:spPr>
          <a:xfrm>
            <a:off x="1910801" y="3322324"/>
            <a:ext cx="64859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0C8E333-5CAD-F8AB-C4F2-125DA3F71461}"/>
              </a:ext>
            </a:extLst>
          </p:cNvPr>
          <p:cNvCxnSpPr>
            <a:cxnSpLocks/>
          </p:cNvCxnSpPr>
          <p:nvPr/>
        </p:nvCxnSpPr>
        <p:spPr>
          <a:xfrm>
            <a:off x="2563645" y="3322368"/>
            <a:ext cx="4209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FA51628-697D-1B6E-7530-434694C6A8F2}"/>
              </a:ext>
            </a:extLst>
          </p:cNvPr>
          <p:cNvCxnSpPr>
            <a:cxnSpLocks/>
          </p:cNvCxnSpPr>
          <p:nvPr/>
        </p:nvCxnSpPr>
        <p:spPr>
          <a:xfrm>
            <a:off x="2995443" y="3324370"/>
            <a:ext cx="549592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C7C22AC-5D48-5107-8AD1-253EC1ED977D}"/>
              </a:ext>
            </a:extLst>
          </p:cNvPr>
          <p:cNvCxnSpPr>
            <a:cxnSpLocks/>
          </p:cNvCxnSpPr>
          <p:nvPr/>
        </p:nvCxnSpPr>
        <p:spPr>
          <a:xfrm>
            <a:off x="5193766" y="2251854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99AC630-45A7-0A04-E6FD-A4F325803FD0}"/>
              </a:ext>
            </a:extLst>
          </p:cNvPr>
          <p:cNvSpPr txBox="1"/>
          <p:nvPr/>
        </p:nvSpPr>
        <p:spPr>
          <a:xfrm>
            <a:off x="5572972" y="2426557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87B562C-0533-9313-C7F1-9F191AC88913}"/>
              </a:ext>
            </a:extLst>
          </p:cNvPr>
          <p:cNvCxnSpPr>
            <a:cxnSpLocks/>
          </p:cNvCxnSpPr>
          <p:nvPr/>
        </p:nvCxnSpPr>
        <p:spPr>
          <a:xfrm>
            <a:off x="5193766" y="2621068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1FA9ACB-99FB-20D9-3831-85F232087C8D}"/>
              </a:ext>
            </a:extLst>
          </p:cNvPr>
          <p:cNvSpPr txBox="1"/>
          <p:nvPr/>
        </p:nvSpPr>
        <p:spPr>
          <a:xfrm>
            <a:off x="5572972" y="2046793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5EE08E-2B9C-FAFD-5273-879015F3AEFC}"/>
              </a:ext>
            </a:extLst>
          </p:cNvPr>
          <p:cNvGrpSpPr/>
          <p:nvPr/>
        </p:nvGrpSpPr>
        <p:grpSpPr>
          <a:xfrm>
            <a:off x="7142131" y="260293"/>
            <a:ext cx="5049869" cy="1891032"/>
            <a:chOff x="798853" y="2841991"/>
            <a:chExt cx="9765155" cy="3656773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9D5EEFA-22EE-C355-217D-60CE6A7A4A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4253" y="2841991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8168F97-E48E-4821-F8A2-4E1F793B52B0}"/>
                </a:ext>
              </a:extLst>
            </p:cNvPr>
            <p:cNvSpPr/>
            <p:nvPr/>
          </p:nvSpPr>
          <p:spPr>
            <a:xfrm rot="16200000">
              <a:off x="455860" y="3216913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BE77ED21-E007-AB18-C3ED-3C0DB273F66F}"/>
                </a:ext>
              </a:extLst>
            </p:cNvPr>
            <p:cNvSpPr/>
            <p:nvPr/>
          </p:nvSpPr>
          <p:spPr>
            <a:xfrm rot="16200000" flipH="1">
              <a:off x="1660104" y="28075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592367E-0B35-3580-C30B-222FDC383B3D}"/>
                </a:ext>
              </a:extLst>
            </p:cNvPr>
            <p:cNvCxnSpPr>
              <a:cxnSpLocks/>
            </p:cNvCxnSpPr>
            <p:nvPr/>
          </p:nvCxnSpPr>
          <p:spPr>
            <a:xfrm>
              <a:off x="1261595" y="3522260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VideoForensicsHQ Dataset | Papers With Code">
              <a:extLst>
                <a:ext uri="{FF2B5EF4-FFF2-40B4-BE49-F238E27FC236}">
                  <a16:creationId xmlns:a16="http://schemas.microsoft.com/office/drawing/2014/main" id="{4868B8C2-674D-85BF-84D8-DAA50FF5C6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20" t="83491"/>
            <a:stretch/>
          </p:blipFill>
          <p:spPr bwMode="auto">
            <a:xfrm>
              <a:off x="3136087" y="2942495"/>
              <a:ext cx="947486" cy="948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CFC0592-B610-E83B-347D-B42A797C7321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3475130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4C6DD3D-AFE3-59EC-47BC-D54C42915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99057" y="3891517"/>
              <a:ext cx="4528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FD9C813-2FB4-98A6-1E3E-488437037CD9}"/>
                </a:ext>
              </a:extLst>
            </p:cNvPr>
            <p:cNvSpPr txBox="1"/>
            <p:nvPr/>
          </p:nvSpPr>
          <p:spPr>
            <a:xfrm>
              <a:off x="8460620" y="3510063"/>
              <a:ext cx="2103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R or G?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3D75CAD1-3225-5C49-4AAB-727393526CE9}"/>
                </a:ext>
              </a:extLst>
            </p:cNvPr>
            <p:cNvSpPr/>
            <p:nvPr/>
          </p:nvSpPr>
          <p:spPr>
            <a:xfrm rot="5400000">
              <a:off x="6204071" y="3137233"/>
              <a:ext cx="1669807" cy="1507683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" descr="VideoForensicsHQ Dataset | Papers With Code">
              <a:extLst>
                <a:ext uri="{FF2B5EF4-FFF2-40B4-BE49-F238E27FC236}">
                  <a16:creationId xmlns:a16="http://schemas.microsoft.com/office/drawing/2014/main" id="{1253A7CB-5E1F-9C5E-9FC5-FA3F7BF5C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222" y="4332216"/>
              <a:ext cx="1474814" cy="1491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C6069A5-C076-719C-0209-8DECD6ACAF87}"/>
                </a:ext>
              </a:extLst>
            </p:cNvPr>
            <p:cNvSpPr txBox="1"/>
            <p:nvPr/>
          </p:nvSpPr>
          <p:spPr>
            <a:xfrm>
              <a:off x="1492756" y="5784570"/>
              <a:ext cx="6300061" cy="714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603437B-F043-619E-D349-1DD02AF539B1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4456205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0AC0B39-1ABD-E56C-ECC7-81D973222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6347" y="3183711"/>
              <a:ext cx="454240" cy="45424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B364717-60B4-EAC1-EA2A-1865793D8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6559" y="3606135"/>
              <a:ext cx="584829" cy="506270"/>
            </a:xfrm>
            <a:prstGeom prst="rect">
              <a:avLst/>
            </a:prstGeom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75D2309-1C1A-1BA0-A437-006BC12F0800}"/>
                </a:ext>
              </a:extLst>
            </p:cNvPr>
            <p:cNvCxnSpPr>
              <a:cxnSpLocks/>
            </p:cNvCxnSpPr>
            <p:nvPr/>
          </p:nvCxnSpPr>
          <p:spPr>
            <a:xfrm>
              <a:off x="5582806" y="3891074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9FD35B0-F0F1-CD4D-3F56-06C7FBB4EF3D}"/>
                </a:ext>
              </a:extLst>
            </p:cNvPr>
            <p:cNvCxnSpPr>
              <a:cxnSpLocks/>
              <a:stCxn id="34" idx="6"/>
              <a:endCxn id="36" idx="1"/>
            </p:cNvCxnSpPr>
            <p:nvPr/>
          </p:nvCxnSpPr>
          <p:spPr>
            <a:xfrm>
              <a:off x="4897649" y="3475130"/>
              <a:ext cx="638382" cy="3980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DAB349F-4342-7C66-D053-11D0F598B16E}"/>
                </a:ext>
              </a:extLst>
            </p:cNvPr>
            <p:cNvSpPr/>
            <p:nvPr/>
          </p:nvSpPr>
          <p:spPr>
            <a:xfrm>
              <a:off x="4802399" y="3427505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91FF09A-C018-CA7F-80CF-FD0B93B1FA8A}"/>
                </a:ext>
              </a:extLst>
            </p:cNvPr>
            <p:cNvSpPr/>
            <p:nvPr/>
          </p:nvSpPr>
          <p:spPr>
            <a:xfrm>
              <a:off x="4802399" y="440858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AAFA2C4-A4D9-2E39-7E77-F125D21008C6}"/>
                </a:ext>
              </a:extLst>
            </p:cNvPr>
            <p:cNvSpPr/>
            <p:nvPr/>
          </p:nvSpPr>
          <p:spPr>
            <a:xfrm>
              <a:off x="5522082" y="385927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30193ED-44E5-4198-2E54-6E04F1EF6BA5}"/>
              </a:ext>
            </a:extLst>
          </p:cNvPr>
          <p:cNvSpPr txBox="1"/>
          <p:nvPr/>
        </p:nvSpPr>
        <p:spPr>
          <a:xfrm>
            <a:off x="1371395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A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9924DE-E464-97C6-54FE-0E8F7089BCED}"/>
              </a:ext>
            </a:extLst>
          </p:cNvPr>
          <p:cNvSpPr txBox="1"/>
          <p:nvPr/>
        </p:nvSpPr>
        <p:spPr>
          <a:xfrm>
            <a:off x="2072789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B</a:t>
            </a:r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5FBF0A-AAF3-CBB7-05AC-DE82C19D4B42}"/>
              </a:ext>
            </a:extLst>
          </p:cNvPr>
          <p:cNvSpPr txBox="1"/>
          <p:nvPr/>
        </p:nvSpPr>
        <p:spPr>
          <a:xfrm>
            <a:off x="2608484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C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5389883-AD71-EC31-A369-8A6EBF41BEEC}"/>
              </a:ext>
            </a:extLst>
          </p:cNvPr>
          <p:cNvSpPr txBox="1"/>
          <p:nvPr/>
        </p:nvSpPr>
        <p:spPr>
          <a:xfrm>
            <a:off x="3090950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48BED-3F73-EA61-878E-DC3289FD7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53" y="1667625"/>
            <a:ext cx="6575367" cy="36933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FD54EC-277E-A856-2AF4-15B318C449BF}"/>
              </a:ext>
            </a:extLst>
          </p:cNvPr>
          <p:cNvCxnSpPr>
            <a:cxnSpLocks/>
          </p:cNvCxnSpPr>
          <p:nvPr/>
        </p:nvCxnSpPr>
        <p:spPr>
          <a:xfrm>
            <a:off x="1164597" y="2817528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EAD22B7-2C2A-2CD0-0CBB-E0C2DC035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561" y="2698659"/>
            <a:ext cx="263710" cy="221516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DA3A7B-D6CE-DA11-C4A5-693CF0CA503D}"/>
              </a:ext>
            </a:extLst>
          </p:cNvPr>
          <p:cNvSpPr/>
          <p:nvPr/>
        </p:nvSpPr>
        <p:spPr>
          <a:xfrm>
            <a:off x="2156640" y="2268713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37A0C5-508A-8368-55F8-3AB15D9DB61E}"/>
              </a:ext>
            </a:extLst>
          </p:cNvPr>
          <p:cNvSpPr/>
          <p:nvPr/>
        </p:nvSpPr>
        <p:spPr>
          <a:xfrm>
            <a:off x="1067220" y="2268713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5A423F8-F2E3-D020-CFFB-282C95C43407}"/>
              </a:ext>
            </a:extLst>
          </p:cNvPr>
          <p:cNvSpPr/>
          <p:nvPr/>
        </p:nvSpPr>
        <p:spPr>
          <a:xfrm>
            <a:off x="2619672" y="2268712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BBBEAD-FCA7-5F09-5A0D-6C6B14A474B1}"/>
              </a:ext>
            </a:extLst>
          </p:cNvPr>
          <p:cNvSpPr/>
          <p:nvPr/>
        </p:nvSpPr>
        <p:spPr>
          <a:xfrm>
            <a:off x="1534958" y="2268711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B080D6-FD16-73D5-A031-7B6BAA56D5E5}"/>
              </a:ext>
            </a:extLst>
          </p:cNvPr>
          <p:cNvGrpSpPr/>
          <p:nvPr/>
        </p:nvGrpSpPr>
        <p:grpSpPr>
          <a:xfrm>
            <a:off x="1056032" y="2281235"/>
            <a:ext cx="3616239" cy="650743"/>
            <a:chOff x="1056032" y="2281235"/>
            <a:chExt cx="3616239" cy="650743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F3DEFBE-FE9A-182C-92C4-F335855A63BA}"/>
                </a:ext>
              </a:extLst>
            </p:cNvPr>
            <p:cNvCxnSpPr>
              <a:cxnSpLocks/>
            </p:cNvCxnSpPr>
            <p:nvPr/>
          </p:nvCxnSpPr>
          <p:spPr>
            <a:xfrm>
              <a:off x="1164597" y="280841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2990991-D568-A01A-34A7-20262A6B9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08561" y="2689545"/>
              <a:ext cx="263710" cy="221516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C708400-D8DB-979D-C4E3-DEF0C56EAD3B}"/>
                </a:ext>
              </a:extLst>
            </p:cNvPr>
            <p:cNvCxnSpPr/>
            <p:nvPr/>
          </p:nvCxnSpPr>
          <p:spPr>
            <a:xfrm>
              <a:off x="1159193" y="2931978"/>
              <a:ext cx="74766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5023050-C8F2-D28D-F725-9E6ACC1CACAF}"/>
                </a:ext>
              </a:extLst>
            </p:cNvPr>
            <p:cNvCxnSpPr>
              <a:cxnSpLocks/>
            </p:cNvCxnSpPr>
            <p:nvPr/>
          </p:nvCxnSpPr>
          <p:spPr>
            <a:xfrm>
              <a:off x="1906859" y="2931978"/>
              <a:ext cx="62080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B04BCAE-717A-D27D-02F7-4165D7E54C3F}"/>
                </a:ext>
              </a:extLst>
            </p:cNvPr>
            <p:cNvCxnSpPr>
              <a:cxnSpLocks/>
            </p:cNvCxnSpPr>
            <p:nvPr/>
          </p:nvCxnSpPr>
          <p:spPr>
            <a:xfrm>
              <a:off x="2561388" y="2931978"/>
              <a:ext cx="42320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82E967E-66E4-B96C-E46E-B8D71D6E7F84}"/>
                </a:ext>
              </a:extLst>
            </p:cNvPr>
            <p:cNvCxnSpPr>
              <a:cxnSpLocks/>
            </p:cNvCxnSpPr>
            <p:nvPr/>
          </p:nvCxnSpPr>
          <p:spPr>
            <a:xfrm>
              <a:off x="2995443" y="2931978"/>
              <a:ext cx="54959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B9EBF62-9F81-D3FD-77C4-327611A91C75}"/>
                </a:ext>
              </a:extLst>
            </p:cNvPr>
            <p:cNvSpPr/>
            <p:nvPr/>
          </p:nvSpPr>
          <p:spPr>
            <a:xfrm>
              <a:off x="214545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65849CE-D073-FEB7-1E22-253C0C504E0D}"/>
                </a:ext>
              </a:extLst>
            </p:cNvPr>
            <p:cNvSpPr/>
            <p:nvPr/>
          </p:nvSpPr>
          <p:spPr>
            <a:xfrm>
              <a:off x="105603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CB76315-B3BB-988E-1D78-E80AD9861FEC}"/>
                </a:ext>
              </a:extLst>
            </p:cNvPr>
            <p:cNvSpPr/>
            <p:nvPr/>
          </p:nvSpPr>
          <p:spPr>
            <a:xfrm>
              <a:off x="2608484" y="2281236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D4FA94C-F08C-2671-38A4-9AC78735DF56}"/>
                </a:ext>
              </a:extLst>
            </p:cNvPr>
            <p:cNvSpPr/>
            <p:nvPr/>
          </p:nvSpPr>
          <p:spPr>
            <a:xfrm>
              <a:off x="1523770" y="2281235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5740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8503-E1CD-2C0B-6F6C-DE9C8FFE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C93FAD-75FB-FB3D-80F9-44802C86FB05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C27C3C-9F4B-2741-FF6B-C6689AF88104}"/>
              </a:ext>
            </a:extLst>
          </p:cNvPr>
          <p:cNvSpPr txBox="1"/>
          <p:nvPr/>
        </p:nvSpPr>
        <p:spPr>
          <a:xfrm>
            <a:off x="276410" y="986589"/>
            <a:ext cx="653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To train the network,        optimizes the cross-entropy loss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5DC06B5-3327-7A6E-C6FF-9AE6C2007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87" y="1060243"/>
            <a:ext cx="246356" cy="213264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732945E-5248-ADC3-749C-1165A842BD35}"/>
              </a:ext>
            </a:extLst>
          </p:cNvPr>
          <p:cNvCxnSpPr>
            <a:cxnSpLocks/>
          </p:cNvCxnSpPr>
          <p:nvPr/>
        </p:nvCxnSpPr>
        <p:spPr>
          <a:xfrm>
            <a:off x="5193766" y="2251854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AF64281-4E8F-8AFE-27C6-9FD76AF0E373}"/>
              </a:ext>
            </a:extLst>
          </p:cNvPr>
          <p:cNvSpPr txBox="1"/>
          <p:nvPr/>
        </p:nvSpPr>
        <p:spPr>
          <a:xfrm>
            <a:off x="5572972" y="2426557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0B91D0E-D07C-2DFC-9DF7-E3272FB4700A}"/>
              </a:ext>
            </a:extLst>
          </p:cNvPr>
          <p:cNvCxnSpPr>
            <a:cxnSpLocks/>
          </p:cNvCxnSpPr>
          <p:nvPr/>
        </p:nvCxnSpPr>
        <p:spPr>
          <a:xfrm>
            <a:off x="5193766" y="2621068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2C8A19C-8986-F427-6DEC-76F74EE55257}"/>
              </a:ext>
            </a:extLst>
          </p:cNvPr>
          <p:cNvSpPr txBox="1"/>
          <p:nvPr/>
        </p:nvSpPr>
        <p:spPr>
          <a:xfrm>
            <a:off x="5572972" y="2046793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ECDBE7-DBA5-BACD-6D5A-4E1D7E889778}"/>
              </a:ext>
            </a:extLst>
          </p:cNvPr>
          <p:cNvGrpSpPr/>
          <p:nvPr/>
        </p:nvGrpSpPr>
        <p:grpSpPr>
          <a:xfrm>
            <a:off x="7142131" y="260293"/>
            <a:ext cx="5049869" cy="1891032"/>
            <a:chOff x="798853" y="2841991"/>
            <a:chExt cx="9765155" cy="3656773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801F800-220F-7F94-1997-9B421B4F0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4253" y="2841991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148C320-1F40-BBB8-CDC0-FC6FEFFD62E7}"/>
                </a:ext>
              </a:extLst>
            </p:cNvPr>
            <p:cNvSpPr/>
            <p:nvPr/>
          </p:nvSpPr>
          <p:spPr>
            <a:xfrm rot="16200000">
              <a:off x="455860" y="3216913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545D5737-9B0E-DA46-2096-23CE8FBF9020}"/>
                </a:ext>
              </a:extLst>
            </p:cNvPr>
            <p:cNvSpPr/>
            <p:nvPr/>
          </p:nvSpPr>
          <p:spPr>
            <a:xfrm rot="16200000" flipH="1">
              <a:off x="1660104" y="28075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0C406DD-E086-F628-F4C3-84A04D992B0E}"/>
                </a:ext>
              </a:extLst>
            </p:cNvPr>
            <p:cNvCxnSpPr>
              <a:cxnSpLocks/>
            </p:cNvCxnSpPr>
            <p:nvPr/>
          </p:nvCxnSpPr>
          <p:spPr>
            <a:xfrm>
              <a:off x="1261595" y="3522260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VideoForensicsHQ Dataset | Papers With Code">
              <a:extLst>
                <a:ext uri="{FF2B5EF4-FFF2-40B4-BE49-F238E27FC236}">
                  <a16:creationId xmlns:a16="http://schemas.microsoft.com/office/drawing/2014/main" id="{708A09CC-2902-69D6-B10E-BABC1D2F7E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20" t="83491"/>
            <a:stretch/>
          </p:blipFill>
          <p:spPr bwMode="auto">
            <a:xfrm>
              <a:off x="3136087" y="2942495"/>
              <a:ext cx="947486" cy="948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E3A497B-F1B5-2E99-8F4F-73F92921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3475130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F4DD31C-9A1F-DC75-76D2-6262BA30F150}"/>
                </a:ext>
              </a:extLst>
            </p:cNvPr>
            <p:cNvCxnSpPr>
              <a:cxnSpLocks/>
            </p:cNvCxnSpPr>
            <p:nvPr/>
          </p:nvCxnSpPr>
          <p:spPr>
            <a:xfrm>
              <a:off x="7899057" y="3891517"/>
              <a:ext cx="4528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8DE94C-BE2A-2153-B4E6-F1E1EFC536C1}"/>
                </a:ext>
              </a:extLst>
            </p:cNvPr>
            <p:cNvSpPr txBox="1"/>
            <p:nvPr/>
          </p:nvSpPr>
          <p:spPr>
            <a:xfrm>
              <a:off x="8460620" y="3510063"/>
              <a:ext cx="2103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R or G?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9C5617F6-BCA2-CC70-A775-6FA7AB7217D7}"/>
                </a:ext>
              </a:extLst>
            </p:cNvPr>
            <p:cNvSpPr/>
            <p:nvPr/>
          </p:nvSpPr>
          <p:spPr>
            <a:xfrm rot="5400000">
              <a:off x="6204071" y="3137233"/>
              <a:ext cx="1669807" cy="1507683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" descr="VideoForensicsHQ Dataset | Papers With Code">
              <a:extLst>
                <a:ext uri="{FF2B5EF4-FFF2-40B4-BE49-F238E27FC236}">
                  <a16:creationId xmlns:a16="http://schemas.microsoft.com/office/drawing/2014/main" id="{F91F682B-CF76-21F0-2A85-B6D0A5363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222" y="4332216"/>
              <a:ext cx="1474814" cy="1491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F994EC-9472-DC68-32A1-E2A5B943481F}"/>
                </a:ext>
              </a:extLst>
            </p:cNvPr>
            <p:cNvSpPr txBox="1"/>
            <p:nvPr/>
          </p:nvSpPr>
          <p:spPr>
            <a:xfrm>
              <a:off x="1492756" y="5784570"/>
              <a:ext cx="6300061" cy="714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6F7D384-079B-79F4-C2C5-F29DD251C9C7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4456205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DFDAFB2-8F4A-54F2-728E-A13B25F24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6347" y="3183711"/>
              <a:ext cx="454240" cy="45424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C1F745A-10D5-5B3F-C1A4-D639C3E3A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6559" y="3606135"/>
              <a:ext cx="584829" cy="506270"/>
            </a:xfrm>
            <a:prstGeom prst="rect">
              <a:avLst/>
            </a:prstGeom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953C1CA-7B41-3340-15EF-A3FB2DD53656}"/>
                </a:ext>
              </a:extLst>
            </p:cNvPr>
            <p:cNvCxnSpPr>
              <a:cxnSpLocks/>
            </p:cNvCxnSpPr>
            <p:nvPr/>
          </p:nvCxnSpPr>
          <p:spPr>
            <a:xfrm>
              <a:off x="5582806" y="3891074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4E4FFB1-4C7E-B476-B516-E0E5B8F9DC4A}"/>
                </a:ext>
              </a:extLst>
            </p:cNvPr>
            <p:cNvCxnSpPr>
              <a:cxnSpLocks/>
              <a:stCxn id="34" idx="6"/>
              <a:endCxn id="36" idx="1"/>
            </p:cNvCxnSpPr>
            <p:nvPr/>
          </p:nvCxnSpPr>
          <p:spPr>
            <a:xfrm>
              <a:off x="4897649" y="3475130"/>
              <a:ext cx="638382" cy="3980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65745B4-E2B5-C92B-5A8B-4C46B551B672}"/>
                </a:ext>
              </a:extLst>
            </p:cNvPr>
            <p:cNvSpPr/>
            <p:nvPr/>
          </p:nvSpPr>
          <p:spPr>
            <a:xfrm>
              <a:off x="4802399" y="3427505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141B46A-3BD7-E59F-ED30-C6FA71F3D987}"/>
                </a:ext>
              </a:extLst>
            </p:cNvPr>
            <p:cNvSpPr/>
            <p:nvPr/>
          </p:nvSpPr>
          <p:spPr>
            <a:xfrm>
              <a:off x="4802399" y="440858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1C4603D-61C6-871A-C868-876D928DA1F3}"/>
                </a:ext>
              </a:extLst>
            </p:cNvPr>
            <p:cNvSpPr/>
            <p:nvPr/>
          </p:nvSpPr>
          <p:spPr>
            <a:xfrm>
              <a:off x="5522082" y="385927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EA6B76BA-9212-0FEE-5365-36E57D143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37" y="3743877"/>
            <a:ext cx="246356" cy="24635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320D562-3374-2361-B6AC-5172E3B64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8" y="3215736"/>
            <a:ext cx="246356" cy="213264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F2B6A77-0558-2AAE-7517-3C9CCF0581E9}"/>
              </a:ext>
            </a:extLst>
          </p:cNvPr>
          <p:cNvCxnSpPr/>
          <p:nvPr/>
        </p:nvCxnSpPr>
        <p:spPr>
          <a:xfrm>
            <a:off x="1159193" y="3322368"/>
            <a:ext cx="7476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381B992-AF4C-DE96-90DE-8FCB8274598D}"/>
              </a:ext>
            </a:extLst>
          </p:cNvPr>
          <p:cNvCxnSpPr>
            <a:cxnSpLocks/>
          </p:cNvCxnSpPr>
          <p:nvPr/>
        </p:nvCxnSpPr>
        <p:spPr>
          <a:xfrm>
            <a:off x="1910801" y="3322324"/>
            <a:ext cx="64859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B3E033A-6435-3CED-A6F4-93FEDFD23B39}"/>
              </a:ext>
            </a:extLst>
          </p:cNvPr>
          <p:cNvCxnSpPr>
            <a:cxnSpLocks/>
          </p:cNvCxnSpPr>
          <p:nvPr/>
        </p:nvCxnSpPr>
        <p:spPr>
          <a:xfrm>
            <a:off x="2563645" y="3322368"/>
            <a:ext cx="4209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D9BB9F6-28C9-ADAF-4386-DC9397870D9A}"/>
              </a:ext>
            </a:extLst>
          </p:cNvPr>
          <p:cNvCxnSpPr>
            <a:cxnSpLocks/>
          </p:cNvCxnSpPr>
          <p:nvPr/>
        </p:nvCxnSpPr>
        <p:spPr>
          <a:xfrm>
            <a:off x="2995443" y="3324370"/>
            <a:ext cx="549592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E3A36F7-B293-5FAE-663C-C63BD413FDEF}"/>
              </a:ext>
            </a:extLst>
          </p:cNvPr>
          <p:cNvSpPr txBox="1"/>
          <p:nvPr/>
        </p:nvSpPr>
        <p:spPr>
          <a:xfrm>
            <a:off x="1371395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A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8B1447F-A0FA-AD93-FD38-6740D17F66CF}"/>
              </a:ext>
            </a:extLst>
          </p:cNvPr>
          <p:cNvSpPr txBox="1"/>
          <p:nvPr/>
        </p:nvSpPr>
        <p:spPr>
          <a:xfrm>
            <a:off x="2072789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B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1117EAE-618A-5BF1-2C77-2A537B97C1AE}"/>
              </a:ext>
            </a:extLst>
          </p:cNvPr>
          <p:cNvSpPr txBox="1"/>
          <p:nvPr/>
        </p:nvSpPr>
        <p:spPr>
          <a:xfrm>
            <a:off x="2608484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C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A8BBAE8-762B-B53C-10D5-431D05088EC6}"/>
              </a:ext>
            </a:extLst>
          </p:cNvPr>
          <p:cNvSpPr txBox="1"/>
          <p:nvPr/>
        </p:nvSpPr>
        <p:spPr>
          <a:xfrm>
            <a:off x="3090950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D</a:t>
            </a:r>
            <a:endParaRPr 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A74A09-A5E2-6621-FAB5-9954CB98EE74}"/>
              </a:ext>
            </a:extLst>
          </p:cNvPr>
          <p:cNvSpPr txBox="1"/>
          <p:nvPr/>
        </p:nvSpPr>
        <p:spPr>
          <a:xfrm>
            <a:off x="276409" y="3688567"/>
            <a:ext cx="751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And       wants to do the opposite. The objective function becomes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C1D7F-4229-9ACB-B422-E94BEDA26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53" y="1667625"/>
            <a:ext cx="6575367" cy="3693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28FC0E-0D05-F876-560B-775F12A58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53" y="4132595"/>
            <a:ext cx="7733871" cy="36933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204FD5-DCF6-A08A-4D02-BD83BA89ABDD}"/>
              </a:ext>
            </a:extLst>
          </p:cNvPr>
          <p:cNvCxnSpPr>
            <a:cxnSpLocks/>
          </p:cNvCxnSpPr>
          <p:nvPr/>
        </p:nvCxnSpPr>
        <p:spPr>
          <a:xfrm>
            <a:off x="1164597" y="2817528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56B641B-3230-D7F9-63E8-58885D21AF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8561" y="2698659"/>
            <a:ext cx="263710" cy="221516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B0BEB4-F570-98B4-49F6-9E8DCD64C807}"/>
              </a:ext>
            </a:extLst>
          </p:cNvPr>
          <p:cNvSpPr/>
          <p:nvPr/>
        </p:nvSpPr>
        <p:spPr>
          <a:xfrm>
            <a:off x="2156640" y="2268713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3EBDB0-91B4-3506-7AA2-3D461FEDE35B}"/>
              </a:ext>
            </a:extLst>
          </p:cNvPr>
          <p:cNvSpPr/>
          <p:nvPr/>
        </p:nvSpPr>
        <p:spPr>
          <a:xfrm>
            <a:off x="1067220" y="2268713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7EF923-FB47-2A9C-F143-FC68D1DFD339}"/>
              </a:ext>
            </a:extLst>
          </p:cNvPr>
          <p:cNvSpPr/>
          <p:nvPr/>
        </p:nvSpPr>
        <p:spPr>
          <a:xfrm>
            <a:off x="2619672" y="2268712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00C981C-E495-EA1E-E181-387D22D780F1}"/>
              </a:ext>
            </a:extLst>
          </p:cNvPr>
          <p:cNvSpPr/>
          <p:nvPr/>
        </p:nvSpPr>
        <p:spPr>
          <a:xfrm>
            <a:off x="1534958" y="2268711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3BFE142-E035-326F-F5A9-FE64BD78D0B7}"/>
              </a:ext>
            </a:extLst>
          </p:cNvPr>
          <p:cNvGrpSpPr/>
          <p:nvPr/>
        </p:nvGrpSpPr>
        <p:grpSpPr>
          <a:xfrm>
            <a:off x="1056032" y="2281235"/>
            <a:ext cx="3616239" cy="650743"/>
            <a:chOff x="1056032" y="2281235"/>
            <a:chExt cx="3616239" cy="650743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FF51AAE-731F-072B-6378-90B1F990E9CA}"/>
                </a:ext>
              </a:extLst>
            </p:cNvPr>
            <p:cNvCxnSpPr>
              <a:cxnSpLocks/>
            </p:cNvCxnSpPr>
            <p:nvPr/>
          </p:nvCxnSpPr>
          <p:spPr>
            <a:xfrm>
              <a:off x="1164597" y="280841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CB4DA01-1084-0E6F-A186-9B4F6BD5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08561" y="2689545"/>
              <a:ext cx="263710" cy="221516"/>
            </a:xfrm>
            <a:prstGeom prst="rect">
              <a:avLst/>
            </a:prstGeom>
          </p:spPr>
        </p:pic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3EA9FD5-D0ED-3B9E-BFC9-9DF18A98D22A}"/>
                </a:ext>
              </a:extLst>
            </p:cNvPr>
            <p:cNvCxnSpPr/>
            <p:nvPr/>
          </p:nvCxnSpPr>
          <p:spPr>
            <a:xfrm>
              <a:off x="1159193" y="2931978"/>
              <a:ext cx="74766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84B6828-6541-3CB4-A744-EAED1F6534D3}"/>
                </a:ext>
              </a:extLst>
            </p:cNvPr>
            <p:cNvCxnSpPr>
              <a:cxnSpLocks/>
            </p:cNvCxnSpPr>
            <p:nvPr/>
          </p:nvCxnSpPr>
          <p:spPr>
            <a:xfrm>
              <a:off x="1906859" y="2931978"/>
              <a:ext cx="62080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5FF9C3D-6309-C3A0-5321-7158EA07FD45}"/>
                </a:ext>
              </a:extLst>
            </p:cNvPr>
            <p:cNvCxnSpPr>
              <a:cxnSpLocks/>
            </p:cNvCxnSpPr>
            <p:nvPr/>
          </p:nvCxnSpPr>
          <p:spPr>
            <a:xfrm>
              <a:off x="2561388" y="2931978"/>
              <a:ext cx="42320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9A7DD21-AD10-0226-7A45-DEC9D936D760}"/>
                </a:ext>
              </a:extLst>
            </p:cNvPr>
            <p:cNvCxnSpPr>
              <a:cxnSpLocks/>
            </p:cNvCxnSpPr>
            <p:nvPr/>
          </p:nvCxnSpPr>
          <p:spPr>
            <a:xfrm>
              <a:off x="2995443" y="2931978"/>
              <a:ext cx="54959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CA20F95-EA9B-C703-852D-00DE1D9A146B}"/>
                </a:ext>
              </a:extLst>
            </p:cNvPr>
            <p:cNvSpPr/>
            <p:nvPr/>
          </p:nvSpPr>
          <p:spPr>
            <a:xfrm>
              <a:off x="214545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9D77C3F-2ADA-7B31-E0C8-EC155AA78A5C}"/>
                </a:ext>
              </a:extLst>
            </p:cNvPr>
            <p:cNvSpPr/>
            <p:nvPr/>
          </p:nvSpPr>
          <p:spPr>
            <a:xfrm>
              <a:off x="105603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DC55CC1-A7AF-73B7-02FE-940A2CDB9E43}"/>
                </a:ext>
              </a:extLst>
            </p:cNvPr>
            <p:cNvSpPr/>
            <p:nvPr/>
          </p:nvSpPr>
          <p:spPr>
            <a:xfrm>
              <a:off x="2608484" y="2281236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C839CC9-BFD2-3D91-AD0C-E0E7D4BD1ADA}"/>
                </a:ext>
              </a:extLst>
            </p:cNvPr>
            <p:cNvSpPr/>
            <p:nvPr/>
          </p:nvSpPr>
          <p:spPr>
            <a:xfrm>
              <a:off x="1523770" y="2281235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649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FCE5-D4FE-F969-593B-E0BEE87F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DEEA1F-7BCB-9C92-73B1-41824A8D1986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4E104A-D6A2-FD5C-3D16-4C9484A6EFE3}"/>
              </a:ext>
            </a:extLst>
          </p:cNvPr>
          <p:cNvSpPr txBox="1"/>
          <p:nvPr/>
        </p:nvSpPr>
        <p:spPr>
          <a:xfrm>
            <a:off x="276410" y="986589"/>
            <a:ext cx="653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To train the network,        optimizes the cross-entropy loss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37FE337-B9FA-206D-51A9-8194A494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87" y="1060243"/>
            <a:ext cx="246356" cy="213264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24E6BDA-D637-3747-FAD1-4EC6285C6ED2}"/>
              </a:ext>
            </a:extLst>
          </p:cNvPr>
          <p:cNvCxnSpPr>
            <a:cxnSpLocks/>
          </p:cNvCxnSpPr>
          <p:nvPr/>
        </p:nvCxnSpPr>
        <p:spPr>
          <a:xfrm>
            <a:off x="5193766" y="2251854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D9E8CDD-4779-0C01-23F1-3EBD90555E8B}"/>
              </a:ext>
            </a:extLst>
          </p:cNvPr>
          <p:cNvSpPr txBox="1"/>
          <p:nvPr/>
        </p:nvSpPr>
        <p:spPr>
          <a:xfrm>
            <a:off x="5572972" y="2426557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15585BB-9611-0F36-F6E5-04C56E244DBC}"/>
              </a:ext>
            </a:extLst>
          </p:cNvPr>
          <p:cNvCxnSpPr>
            <a:cxnSpLocks/>
          </p:cNvCxnSpPr>
          <p:nvPr/>
        </p:nvCxnSpPr>
        <p:spPr>
          <a:xfrm>
            <a:off x="5193766" y="2621068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B96EED5-7A8F-D27D-C50C-01BCD2209F6D}"/>
              </a:ext>
            </a:extLst>
          </p:cNvPr>
          <p:cNvSpPr txBox="1"/>
          <p:nvPr/>
        </p:nvSpPr>
        <p:spPr>
          <a:xfrm>
            <a:off x="5572972" y="2046793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20049A-C7F4-4804-23FA-9F33B878FC1F}"/>
              </a:ext>
            </a:extLst>
          </p:cNvPr>
          <p:cNvCxnSpPr>
            <a:cxnSpLocks/>
          </p:cNvCxnSpPr>
          <p:nvPr/>
        </p:nvCxnSpPr>
        <p:spPr>
          <a:xfrm>
            <a:off x="1164597" y="5304012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D765586-E9A7-6EEF-2CB6-9B5383487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561" y="5185143"/>
            <a:ext cx="263710" cy="22151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13CAA52-FBDF-C0A1-373F-ED566340C02B}"/>
              </a:ext>
            </a:extLst>
          </p:cNvPr>
          <p:cNvGrpSpPr/>
          <p:nvPr/>
        </p:nvGrpSpPr>
        <p:grpSpPr>
          <a:xfrm>
            <a:off x="7142131" y="260293"/>
            <a:ext cx="5049869" cy="1891032"/>
            <a:chOff x="798853" y="2841991"/>
            <a:chExt cx="9765155" cy="3656773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28E64C4-DC64-5DA9-6353-68D1A9F5CB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4253" y="2841991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6C9732-193D-83FF-519D-FEFB1AFF562B}"/>
                </a:ext>
              </a:extLst>
            </p:cNvPr>
            <p:cNvSpPr/>
            <p:nvPr/>
          </p:nvSpPr>
          <p:spPr>
            <a:xfrm rot="16200000">
              <a:off x="455860" y="3216913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B2D766BD-88A2-9E01-6279-2732285416ED}"/>
                </a:ext>
              </a:extLst>
            </p:cNvPr>
            <p:cNvSpPr/>
            <p:nvPr/>
          </p:nvSpPr>
          <p:spPr>
            <a:xfrm rot="16200000" flipH="1">
              <a:off x="1660104" y="28075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25EE506-4951-0479-B83B-5E9D9358B036}"/>
                </a:ext>
              </a:extLst>
            </p:cNvPr>
            <p:cNvCxnSpPr>
              <a:cxnSpLocks/>
            </p:cNvCxnSpPr>
            <p:nvPr/>
          </p:nvCxnSpPr>
          <p:spPr>
            <a:xfrm>
              <a:off x="1261595" y="3522260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VideoForensicsHQ Dataset | Papers With Code">
              <a:extLst>
                <a:ext uri="{FF2B5EF4-FFF2-40B4-BE49-F238E27FC236}">
                  <a16:creationId xmlns:a16="http://schemas.microsoft.com/office/drawing/2014/main" id="{445EED31-D454-A012-1C10-2581FF446E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20" t="83491"/>
            <a:stretch/>
          </p:blipFill>
          <p:spPr bwMode="auto">
            <a:xfrm>
              <a:off x="3136087" y="2942495"/>
              <a:ext cx="947486" cy="948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C1F95AD-4DBA-F9C6-C470-E04184C6E031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3475130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7AF5FF-9E18-047D-A983-8EB643C88E95}"/>
                </a:ext>
              </a:extLst>
            </p:cNvPr>
            <p:cNvCxnSpPr>
              <a:cxnSpLocks/>
            </p:cNvCxnSpPr>
            <p:nvPr/>
          </p:nvCxnSpPr>
          <p:spPr>
            <a:xfrm>
              <a:off x="7899057" y="3891517"/>
              <a:ext cx="4528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DA0FDA7-DF34-9401-C187-AE1A43F6FE2C}"/>
                </a:ext>
              </a:extLst>
            </p:cNvPr>
            <p:cNvSpPr txBox="1"/>
            <p:nvPr/>
          </p:nvSpPr>
          <p:spPr>
            <a:xfrm>
              <a:off x="8460620" y="3510063"/>
              <a:ext cx="2103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R or G?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7" name="Trapezoid 26">
              <a:extLst>
                <a:ext uri="{FF2B5EF4-FFF2-40B4-BE49-F238E27FC236}">
                  <a16:creationId xmlns:a16="http://schemas.microsoft.com/office/drawing/2014/main" id="{31BEF009-C9EC-142B-AE3E-6D596F4A1C0F}"/>
                </a:ext>
              </a:extLst>
            </p:cNvPr>
            <p:cNvSpPr/>
            <p:nvPr/>
          </p:nvSpPr>
          <p:spPr>
            <a:xfrm rot="5400000">
              <a:off x="6204071" y="3137233"/>
              <a:ext cx="1669807" cy="1507683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2" descr="VideoForensicsHQ Dataset | Papers With Code">
              <a:extLst>
                <a:ext uri="{FF2B5EF4-FFF2-40B4-BE49-F238E27FC236}">
                  <a16:creationId xmlns:a16="http://schemas.microsoft.com/office/drawing/2014/main" id="{E9EEA3C5-3C68-CEC2-AAD2-28F2DDA98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222" y="4332216"/>
              <a:ext cx="1474814" cy="1491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AB5391E-4269-2194-F7BB-1059D37BA616}"/>
                </a:ext>
              </a:extLst>
            </p:cNvPr>
            <p:cNvSpPr txBox="1"/>
            <p:nvPr/>
          </p:nvSpPr>
          <p:spPr>
            <a:xfrm>
              <a:off x="1492756" y="5784570"/>
              <a:ext cx="6300061" cy="714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2243B9B-6ED7-336D-A1BB-82301E93F33D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4456205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C9665CA-E992-9112-FB22-9BAC02456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56347" y="3183711"/>
              <a:ext cx="454240" cy="45424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DB42886-840E-FE25-4D9A-E77AB951F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6559" y="3606135"/>
              <a:ext cx="584829" cy="506270"/>
            </a:xfrm>
            <a:prstGeom prst="rect">
              <a:avLst/>
            </a:prstGeom>
          </p:spPr>
        </p:pic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2CBBBE6-CA79-88EA-7CED-0CA42542D111}"/>
                </a:ext>
              </a:extLst>
            </p:cNvPr>
            <p:cNvCxnSpPr>
              <a:cxnSpLocks/>
            </p:cNvCxnSpPr>
            <p:nvPr/>
          </p:nvCxnSpPr>
          <p:spPr>
            <a:xfrm>
              <a:off x="5582806" y="3891074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DA3E40F-830D-30C8-6228-B17044142CBD}"/>
                </a:ext>
              </a:extLst>
            </p:cNvPr>
            <p:cNvCxnSpPr>
              <a:cxnSpLocks/>
              <a:stCxn id="58" idx="6"/>
              <a:endCxn id="62" idx="1"/>
            </p:cNvCxnSpPr>
            <p:nvPr/>
          </p:nvCxnSpPr>
          <p:spPr>
            <a:xfrm>
              <a:off x="4897649" y="3475130"/>
              <a:ext cx="638382" cy="3980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A00C20A-946D-ABFE-E376-68FECAF3AF34}"/>
                </a:ext>
              </a:extLst>
            </p:cNvPr>
            <p:cNvSpPr/>
            <p:nvPr/>
          </p:nvSpPr>
          <p:spPr>
            <a:xfrm>
              <a:off x="4802399" y="3427505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0EFF9DA-9940-6FF5-E24A-C9265A3B4BFB}"/>
                </a:ext>
              </a:extLst>
            </p:cNvPr>
            <p:cNvSpPr/>
            <p:nvPr/>
          </p:nvSpPr>
          <p:spPr>
            <a:xfrm>
              <a:off x="4802399" y="440858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36EB555-4F1A-3E6C-A532-96183196E65F}"/>
                </a:ext>
              </a:extLst>
            </p:cNvPr>
            <p:cNvSpPr/>
            <p:nvPr/>
          </p:nvSpPr>
          <p:spPr>
            <a:xfrm>
              <a:off x="5522082" y="385927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DBD0D8FE-B7DF-38A3-8F8A-96C2D5F43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37" y="3743877"/>
            <a:ext cx="246356" cy="24635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4F31FC8E-FF53-3158-5D32-6781A7526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8" y="3215736"/>
            <a:ext cx="246356" cy="213264"/>
          </a:xfrm>
          <a:prstGeom prst="rect">
            <a:avLst/>
          </a:prstGeom>
        </p:spPr>
      </p:pic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2DF2235-C43A-04C8-534F-8A49A268E42F}"/>
              </a:ext>
            </a:extLst>
          </p:cNvPr>
          <p:cNvCxnSpPr/>
          <p:nvPr/>
        </p:nvCxnSpPr>
        <p:spPr>
          <a:xfrm>
            <a:off x="1159193" y="3322368"/>
            <a:ext cx="7476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72610AF-AE18-DAB7-C396-30A7ADC17019}"/>
              </a:ext>
            </a:extLst>
          </p:cNvPr>
          <p:cNvCxnSpPr>
            <a:cxnSpLocks/>
          </p:cNvCxnSpPr>
          <p:nvPr/>
        </p:nvCxnSpPr>
        <p:spPr>
          <a:xfrm>
            <a:off x="1910801" y="3322324"/>
            <a:ext cx="64859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6EAB15F-7716-4CB9-AF0C-95EF26D2BB8D}"/>
              </a:ext>
            </a:extLst>
          </p:cNvPr>
          <p:cNvCxnSpPr>
            <a:cxnSpLocks/>
          </p:cNvCxnSpPr>
          <p:nvPr/>
        </p:nvCxnSpPr>
        <p:spPr>
          <a:xfrm>
            <a:off x="2563645" y="3322368"/>
            <a:ext cx="4209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F24BAFB-34E8-5624-2F97-2D865CCE4ED5}"/>
              </a:ext>
            </a:extLst>
          </p:cNvPr>
          <p:cNvCxnSpPr>
            <a:cxnSpLocks/>
          </p:cNvCxnSpPr>
          <p:nvPr/>
        </p:nvCxnSpPr>
        <p:spPr>
          <a:xfrm>
            <a:off x="2995443" y="3324370"/>
            <a:ext cx="549592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2A5602D-E57F-E31D-D5E3-A93C0E9F0565}"/>
              </a:ext>
            </a:extLst>
          </p:cNvPr>
          <p:cNvSpPr txBox="1"/>
          <p:nvPr/>
        </p:nvSpPr>
        <p:spPr>
          <a:xfrm>
            <a:off x="1371395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A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219FDD-6055-7371-D340-DBF48C0A3218}"/>
              </a:ext>
            </a:extLst>
          </p:cNvPr>
          <p:cNvSpPr txBox="1"/>
          <p:nvPr/>
        </p:nvSpPr>
        <p:spPr>
          <a:xfrm>
            <a:off x="2072789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B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2ABCE5-5E37-AD7E-807E-5151FEB90AF6}"/>
              </a:ext>
            </a:extLst>
          </p:cNvPr>
          <p:cNvSpPr txBox="1"/>
          <p:nvPr/>
        </p:nvSpPr>
        <p:spPr>
          <a:xfrm>
            <a:off x="2608484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C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67F511A-4C7F-E355-26C3-182F81BB1A28}"/>
              </a:ext>
            </a:extLst>
          </p:cNvPr>
          <p:cNvSpPr txBox="1"/>
          <p:nvPr/>
        </p:nvSpPr>
        <p:spPr>
          <a:xfrm>
            <a:off x="3090950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D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5B6BF5C-72B0-D49B-5961-590C092D94E1}"/>
              </a:ext>
            </a:extLst>
          </p:cNvPr>
          <p:cNvSpPr txBox="1"/>
          <p:nvPr/>
        </p:nvSpPr>
        <p:spPr>
          <a:xfrm>
            <a:off x="276409" y="3688567"/>
            <a:ext cx="751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And       wants to do the opposite. The objective function becomes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823B87-D245-1856-C3B9-112E3FB15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53" y="1667625"/>
            <a:ext cx="6575367" cy="3693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47B102-D1B2-EBCD-F314-C592EA28E1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53" y="4132595"/>
            <a:ext cx="7733871" cy="369331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FEFC106-BD10-1C2F-7EDD-1767909C607C}"/>
              </a:ext>
            </a:extLst>
          </p:cNvPr>
          <p:cNvSpPr/>
          <p:nvPr/>
        </p:nvSpPr>
        <p:spPr>
          <a:xfrm>
            <a:off x="2156640" y="4755197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A37EAA9-3982-8CB2-6714-61D19400964D}"/>
              </a:ext>
            </a:extLst>
          </p:cNvPr>
          <p:cNvSpPr/>
          <p:nvPr/>
        </p:nvSpPr>
        <p:spPr>
          <a:xfrm>
            <a:off x="1067220" y="4755197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25DDA3-1D0B-B1FB-57CC-6EE870E33576}"/>
              </a:ext>
            </a:extLst>
          </p:cNvPr>
          <p:cNvSpPr/>
          <p:nvPr/>
        </p:nvSpPr>
        <p:spPr>
          <a:xfrm>
            <a:off x="2619672" y="4755196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8015B05-1D2F-74FF-D714-A55331B95A61}"/>
              </a:ext>
            </a:extLst>
          </p:cNvPr>
          <p:cNvSpPr/>
          <p:nvPr/>
        </p:nvSpPr>
        <p:spPr>
          <a:xfrm>
            <a:off x="1534958" y="4755195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14B69E1-5F64-12C4-6F83-01B1A6787174}"/>
              </a:ext>
            </a:extLst>
          </p:cNvPr>
          <p:cNvGrpSpPr/>
          <p:nvPr/>
        </p:nvGrpSpPr>
        <p:grpSpPr>
          <a:xfrm>
            <a:off x="1056032" y="2281235"/>
            <a:ext cx="3616239" cy="650743"/>
            <a:chOff x="1056032" y="2281235"/>
            <a:chExt cx="3616239" cy="65074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DCA0531-2DA0-7FA5-42F6-6D36E1F73CAF}"/>
                </a:ext>
              </a:extLst>
            </p:cNvPr>
            <p:cNvCxnSpPr>
              <a:cxnSpLocks/>
            </p:cNvCxnSpPr>
            <p:nvPr/>
          </p:nvCxnSpPr>
          <p:spPr>
            <a:xfrm>
              <a:off x="1164597" y="280841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57658CC-C302-F543-5B98-C70FE377B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8561" y="2689545"/>
              <a:ext cx="263710" cy="221516"/>
            </a:xfrm>
            <a:prstGeom prst="rect">
              <a:avLst/>
            </a:prstGeom>
          </p:spPr>
        </p:pic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C76BF5A-558F-11FC-0132-1311AAB92F4B}"/>
                </a:ext>
              </a:extLst>
            </p:cNvPr>
            <p:cNvCxnSpPr/>
            <p:nvPr/>
          </p:nvCxnSpPr>
          <p:spPr>
            <a:xfrm>
              <a:off x="1159193" y="2931978"/>
              <a:ext cx="74766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23761668-C4F2-689A-CABF-A47307ACCB73}"/>
                </a:ext>
              </a:extLst>
            </p:cNvPr>
            <p:cNvCxnSpPr>
              <a:cxnSpLocks/>
            </p:cNvCxnSpPr>
            <p:nvPr/>
          </p:nvCxnSpPr>
          <p:spPr>
            <a:xfrm>
              <a:off x="1906859" y="2931978"/>
              <a:ext cx="62080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36AB167-9055-C467-CF5E-287EE6EA376D}"/>
                </a:ext>
              </a:extLst>
            </p:cNvPr>
            <p:cNvCxnSpPr>
              <a:cxnSpLocks/>
            </p:cNvCxnSpPr>
            <p:nvPr/>
          </p:nvCxnSpPr>
          <p:spPr>
            <a:xfrm>
              <a:off x="2561388" y="2931978"/>
              <a:ext cx="42320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4B43892-C207-2A7F-FD38-6AB6ABBB3A64}"/>
                </a:ext>
              </a:extLst>
            </p:cNvPr>
            <p:cNvCxnSpPr>
              <a:cxnSpLocks/>
            </p:cNvCxnSpPr>
            <p:nvPr/>
          </p:nvCxnSpPr>
          <p:spPr>
            <a:xfrm>
              <a:off x="2995443" y="2931978"/>
              <a:ext cx="54959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8087256-2E01-8AD6-9220-85E8B979BC79}"/>
                </a:ext>
              </a:extLst>
            </p:cNvPr>
            <p:cNvSpPr/>
            <p:nvPr/>
          </p:nvSpPr>
          <p:spPr>
            <a:xfrm>
              <a:off x="214545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6FD1DD5-F4C0-9277-7158-093C7275FFCC}"/>
                </a:ext>
              </a:extLst>
            </p:cNvPr>
            <p:cNvSpPr/>
            <p:nvPr/>
          </p:nvSpPr>
          <p:spPr>
            <a:xfrm>
              <a:off x="105603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F4821BF-9FAC-C51F-FD54-61DB933C99BE}"/>
                </a:ext>
              </a:extLst>
            </p:cNvPr>
            <p:cNvSpPr/>
            <p:nvPr/>
          </p:nvSpPr>
          <p:spPr>
            <a:xfrm>
              <a:off x="2608484" y="2281236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EC11F1C-18CE-63BF-1BDA-B0E65DAA7F01}"/>
                </a:ext>
              </a:extLst>
            </p:cNvPr>
            <p:cNvSpPr/>
            <p:nvPr/>
          </p:nvSpPr>
          <p:spPr>
            <a:xfrm>
              <a:off x="1523770" y="2281235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9249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F61C-35FC-2B2B-F686-0A49E688C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65A0F1-DB91-76B6-5666-B3C48CE871F1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B4FE04-AE7D-5E9F-8796-7FAB736AE8C0}"/>
              </a:ext>
            </a:extLst>
          </p:cNvPr>
          <p:cNvSpPr txBox="1"/>
          <p:nvPr/>
        </p:nvSpPr>
        <p:spPr>
          <a:xfrm>
            <a:off x="276410" y="986589"/>
            <a:ext cx="653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To train the network,        optimizes the cross-entropy loss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FE5CE66-B3F8-E316-AC74-7B81835AE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87" y="1060243"/>
            <a:ext cx="246356" cy="213264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EB9531D-F919-F0E3-8577-7F5C5DB79F4C}"/>
              </a:ext>
            </a:extLst>
          </p:cNvPr>
          <p:cNvCxnSpPr>
            <a:cxnSpLocks/>
          </p:cNvCxnSpPr>
          <p:nvPr/>
        </p:nvCxnSpPr>
        <p:spPr>
          <a:xfrm>
            <a:off x="5193766" y="2251854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6F8E9A3-22C6-FFBC-08C3-1F8EAC3F1C28}"/>
              </a:ext>
            </a:extLst>
          </p:cNvPr>
          <p:cNvSpPr txBox="1"/>
          <p:nvPr/>
        </p:nvSpPr>
        <p:spPr>
          <a:xfrm>
            <a:off x="5572972" y="2426557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790F5F5-4473-9A63-92A1-62A3372F06C3}"/>
              </a:ext>
            </a:extLst>
          </p:cNvPr>
          <p:cNvCxnSpPr>
            <a:cxnSpLocks/>
          </p:cNvCxnSpPr>
          <p:nvPr/>
        </p:nvCxnSpPr>
        <p:spPr>
          <a:xfrm>
            <a:off x="5193766" y="2621068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046226B-BB09-F5D4-3281-0147AADA0BDF}"/>
              </a:ext>
            </a:extLst>
          </p:cNvPr>
          <p:cNvSpPr txBox="1"/>
          <p:nvPr/>
        </p:nvSpPr>
        <p:spPr>
          <a:xfrm>
            <a:off x="5572972" y="2046793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403FF2-3CAA-044A-5A8A-AA0E63136125}"/>
              </a:ext>
            </a:extLst>
          </p:cNvPr>
          <p:cNvCxnSpPr>
            <a:cxnSpLocks/>
          </p:cNvCxnSpPr>
          <p:nvPr/>
        </p:nvCxnSpPr>
        <p:spPr>
          <a:xfrm>
            <a:off x="1164597" y="5304012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9664539B-82B6-95D4-BE47-8535E7B2A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561" y="5185143"/>
            <a:ext cx="263710" cy="22151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0782792-AA35-8A6D-0A39-AAF762369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8" y="5523093"/>
            <a:ext cx="246356" cy="21326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FF5D525-1BA6-4FFE-F67F-BFF72BB584AD}"/>
              </a:ext>
            </a:extLst>
          </p:cNvPr>
          <p:cNvGrpSpPr/>
          <p:nvPr/>
        </p:nvGrpSpPr>
        <p:grpSpPr>
          <a:xfrm>
            <a:off x="7142131" y="260293"/>
            <a:ext cx="5049869" cy="1891032"/>
            <a:chOff x="798853" y="2841991"/>
            <a:chExt cx="9765155" cy="3656773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CCEA1CE-59CB-2C0B-F719-38785425EB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4253" y="2841991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699B41-BD4A-EC8D-B04F-706DC060DF9F}"/>
                </a:ext>
              </a:extLst>
            </p:cNvPr>
            <p:cNvSpPr/>
            <p:nvPr/>
          </p:nvSpPr>
          <p:spPr>
            <a:xfrm rot="16200000">
              <a:off x="455860" y="3216913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93894750-1F3D-2133-1D66-3E1A69E55558}"/>
                </a:ext>
              </a:extLst>
            </p:cNvPr>
            <p:cNvSpPr/>
            <p:nvPr/>
          </p:nvSpPr>
          <p:spPr>
            <a:xfrm rot="16200000" flipH="1">
              <a:off x="1660104" y="28075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0F98216-8F68-087B-734B-3953F9385617}"/>
                </a:ext>
              </a:extLst>
            </p:cNvPr>
            <p:cNvCxnSpPr>
              <a:cxnSpLocks/>
            </p:cNvCxnSpPr>
            <p:nvPr/>
          </p:nvCxnSpPr>
          <p:spPr>
            <a:xfrm>
              <a:off x="1261595" y="3522260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VideoForensicsHQ Dataset | Papers With Code">
              <a:extLst>
                <a:ext uri="{FF2B5EF4-FFF2-40B4-BE49-F238E27FC236}">
                  <a16:creationId xmlns:a16="http://schemas.microsoft.com/office/drawing/2014/main" id="{AD90DA7D-D09E-FED8-192A-13CDE15789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20" t="83491"/>
            <a:stretch/>
          </p:blipFill>
          <p:spPr bwMode="auto">
            <a:xfrm>
              <a:off x="3136087" y="2942495"/>
              <a:ext cx="947486" cy="948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5B1AF8C-AF7A-D153-B721-34566E820A3E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3475130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D586989-FC0F-A7FF-416F-5624E828BC66}"/>
                </a:ext>
              </a:extLst>
            </p:cNvPr>
            <p:cNvCxnSpPr>
              <a:cxnSpLocks/>
            </p:cNvCxnSpPr>
            <p:nvPr/>
          </p:nvCxnSpPr>
          <p:spPr>
            <a:xfrm>
              <a:off x="7899057" y="3891517"/>
              <a:ext cx="4528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750C648-4AD7-2D0C-C5AC-B92798DFADC5}"/>
                </a:ext>
              </a:extLst>
            </p:cNvPr>
            <p:cNvSpPr txBox="1"/>
            <p:nvPr/>
          </p:nvSpPr>
          <p:spPr>
            <a:xfrm>
              <a:off x="8460620" y="3510063"/>
              <a:ext cx="2103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R or G?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7" name="Trapezoid 26">
              <a:extLst>
                <a:ext uri="{FF2B5EF4-FFF2-40B4-BE49-F238E27FC236}">
                  <a16:creationId xmlns:a16="http://schemas.microsoft.com/office/drawing/2014/main" id="{E7262E90-02ED-2FF7-8C40-162E9D2B7399}"/>
                </a:ext>
              </a:extLst>
            </p:cNvPr>
            <p:cNvSpPr/>
            <p:nvPr/>
          </p:nvSpPr>
          <p:spPr>
            <a:xfrm rot="5400000">
              <a:off x="6204071" y="3137233"/>
              <a:ext cx="1669807" cy="1507683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2" descr="VideoForensicsHQ Dataset | Papers With Code">
              <a:extLst>
                <a:ext uri="{FF2B5EF4-FFF2-40B4-BE49-F238E27FC236}">
                  <a16:creationId xmlns:a16="http://schemas.microsoft.com/office/drawing/2014/main" id="{8B3F09C8-B6A9-D844-AE49-9F4D2C29B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222" y="4332216"/>
              <a:ext cx="1474814" cy="1491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B903669-34C4-08C8-4A04-0D222D174352}"/>
                </a:ext>
              </a:extLst>
            </p:cNvPr>
            <p:cNvSpPr txBox="1"/>
            <p:nvPr/>
          </p:nvSpPr>
          <p:spPr>
            <a:xfrm>
              <a:off x="1492756" y="5784570"/>
              <a:ext cx="6300061" cy="714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2C6E92A-A87D-533E-CAFE-DF49C345EB75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4456205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E3A9696-55FD-9B63-610C-38688B1C7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56347" y="3183711"/>
              <a:ext cx="454240" cy="45424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E1D2703-ECD1-41D0-6A49-779D17114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6559" y="3606135"/>
              <a:ext cx="584829" cy="506270"/>
            </a:xfrm>
            <a:prstGeom prst="rect">
              <a:avLst/>
            </a:prstGeom>
          </p:spPr>
        </p:pic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256444E-0A9E-D347-26D7-87B77CDAA52D}"/>
                </a:ext>
              </a:extLst>
            </p:cNvPr>
            <p:cNvCxnSpPr>
              <a:cxnSpLocks/>
            </p:cNvCxnSpPr>
            <p:nvPr/>
          </p:nvCxnSpPr>
          <p:spPr>
            <a:xfrm>
              <a:off x="5582806" y="3891074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74A6F61-3640-842F-1381-7108E2E1D260}"/>
                </a:ext>
              </a:extLst>
            </p:cNvPr>
            <p:cNvCxnSpPr>
              <a:cxnSpLocks/>
              <a:stCxn id="63" idx="6"/>
              <a:endCxn id="66" idx="1"/>
            </p:cNvCxnSpPr>
            <p:nvPr/>
          </p:nvCxnSpPr>
          <p:spPr>
            <a:xfrm>
              <a:off x="4897649" y="3475130"/>
              <a:ext cx="638382" cy="3980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3C9FE2A-412D-5A49-8C08-FD94A24B5D1E}"/>
                </a:ext>
              </a:extLst>
            </p:cNvPr>
            <p:cNvSpPr/>
            <p:nvPr/>
          </p:nvSpPr>
          <p:spPr>
            <a:xfrm>
              <a:off x="4802399" y="3427505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E46C45F-BFEA-2C48-C301-0D04A71121DF}"/>
                </a:ext>
              </a:extLst>
            </p:cNvPr>
            <p:cNvSpPr/>
            <p:nvPr/>
          </p:nvSpPr>
          <p:spPr>
            <a:xfrm>
              <a:off x="4802399" y="440858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71A4A64-C190-E2FF-771F-27B811DF27EE}"/>
                </a:ext>
              </a:extLst>
            </p:cNvPr>
            <p:cNvSpPr/>
            <p:nvPr/>
          </p:nvSpPr>
          <p:spPr>
            <a:xfrm>
              <a:off x="5522082" y="385927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7022CFD4-6F34-5FCD-8777-956338240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37" y="3743877"/>
            <a:ext cx="246356" cy="246356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B43A00E-AAE6-9B74-8E5A-6C63259E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8" y="3215736"/>
            <a:ext cx="246356" cy="213264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7C6BCD3-4D42-F25B-A3E0-180C5951C994}"/>
              </a:ext>
            </a:extLst>
          </p:cNvPr>
          <p:cNvCxnSpPr/>
          <p:nvPr/>
        </p:nvCxnSpPr>
        <p:spPr>
          <a:xfrm>
            <a:off x="1159193" y="3322368"/>
            <a:ext cx="7476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51D99CB-D3D3-2F7D-1DB5-B8AF5BAC7DCD}"/>
              </a:ext>
            </a:extLst>
          </p:cNvPr>
          <p:cNvCxnSpPr>
            <a:cxnSpLocks/>
          </p:cNvCxnSpPr>
          <p:nvPr/>
        </p:nvCxnSpPr>
        <p:spPr>
          <a:xfrm>
            <a:off x="1910801" y="3322324"/>
            <a:ext cx="64859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D781BD5-7969-7970-9383-EEB5F2985DD6}"/>
              </a:ext>
            </a:extLst>
          </p:cNvPr>
          <p:cNvCxnSpPr>
            <a:cxnSpLocks/>
          </p:cNvCxnSpPr>
          <p:nvPr/>
        </p:nvCxnSpPr>
        <p:spPr>
          <a:xfrm>
            <a:off x="2563645" y="3322368"/>
            <a:ext cx="4209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5F16BB3-8A86-F6C6-D0FD-154C01404D3B}"/>
              </a:ext>
            </a:extLst>
          </p:cNvPr>
          <p:cNvCxnSpPr>
            <a:cxnSpLocks/>
          </p:cNvCxnSpPr>
          <p:nvPr/>
        </p:nvCxnSpPr>
        <p:spPr>
          <a:xfrm>
            <a:off x="2995443" y="3324370"/>
            <a:ext cx="549592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C06E0D5-E63D-1338-2FD9-A0B8C64F0129}"/>
              </a:ext>
            </a:extLst>
          </p:cNvPr>
          <p:cNvSpPr txBox="1"/>
          <p:nvPr/>
        </p:nvSpPr>
        <p:spPr>
          <a:xfrm>
            <a:off x="1371395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A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1F38712-5878-6719-91EF-17C8F21EA83B}"/>
              </a:ext>
            </a:extLst>
          </p:cNvPr>
          <p:cNvSpPr txBox="1"/>
          <p:nvPr/>
        </p:nvSpPr>
        <p:spPr>
          <a:xfrm>
            <a:off x="2072789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B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DD0955-871B-8EC1-0651-620BF9F39F98}"/>
              </a:ext>
            </a:extLst>
          </p:cNvPr>
          <p:cNvSpPr txBox="1"/>
          <p:nvPr/>
        </p:nvSpPr>
        <p:spPr>
          <a:xfrm>
            <a:off x="2608484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C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93FF43-D61D-4630-3BF3-EC5A388B4464}"/>
              </a:ext>
            </a:extLst>
          </p:cNvPr>
          <p:cNvSpPr txBox="1"/>
          <p:nvPr/>
        </p:nvSpPr>
        <p:spPr>
          <a:xfrm>
            <a:off x="3090950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D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BB73898-5A0A-20E7-4245-F0CB5DBF59CC}"/>
              </a:ext>
            </a:extLst>
          </p:cNvPr>
          <p:cNvSpPr txBox="1"/>
          <p:nvPr/>
        </p:nvSpPr>
        <p:spPr>
          <a:xfrm>
            <a:off x="276409" y="3688567"/>
            <a:ext cx="751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And       wants to do the opposite. The objective function becomes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4FF239-3B8D-38FE-5950-AA179F079D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53" y="1667625"/>
            <a:ext cx="6575367" cy="3693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0B6C29-8215-7940-8442-6B5E65B231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53" y="4132595"/>
            <a:ext cx="7733871" cy="369331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3C96A52-8F01-8611-2461-9D62C712974B}"/>
              </a:ext>
            </a:extLst>
          </p:cNvPr>
          <p:cNvSpPr/>
          <p:nvPr/>
        </p:nvSpPr>
        <p:spPr>
          <a:xfrm>
            <a:off x="2567449" y="4755197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8EC7EE7-6409-827C-B1B9-8415B591DA61}"/>
              </a:ext>
            </a:extLst>
          </p:cNvPr>
          <p:cNvSpPr/>
          <p:nvPr/>
        </p:nvSpPr>
        <p:spPr>
          <a:xfrm>
            <a:off x="1501971" y="4755197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739B7CC-1944-E305-183A-44F56886CE8C}"/>
              </a:ext>
            </a:extLst>
          </p:cNvPr>
          <p:cNvSpPr/>
          <p:nvPr/>
        </p:nvSpPr>
        <p:spPr>
          <a:xfrm>
            <a:off x="2619672" y="4755196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C4A5BDC-4673-4220-FD65-FDC7CC9ED6BB}"/>
              </a:ext>
            </a:extLst>
          </p:cNvPr>
          <p:cNvSpPr/>
          <p:nvPr/>
        </p:nvSpPr>
        <p:spPr>
          <a:xfrm>
            <a:off x="1534958" y="4755195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B58A487-A2B6-8904-390A-297AD3E905A1}"/>
              </a:ext>
            </a:extLst>
          </p:cNvPr>
          <p:cNvCxnSpPr>
            <a:cxnSpLocks/>
          </p:cNvCxnSpPr>
          <p:nvPr/>
        </p:nvCxnSpPr>
        <p:spPr>
          <a:xfrm>
            <a:off x="1811775" y="5629725"/>
            <a:ext cx="23225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391C80-D92F-F33B-49D9-09C5C8BBF52B}"/>
              </a:ext>
            </a:extLst>
          </p:cNvPr>
          <p:cNvCxnSpPr>
            <a:cxnSpLocks/>
          </p:cNvCxnSpPr>
          <p:nvPr/>
        </p:nvCxnSpPr>
        <p:spPr>
          <a:xfrm>
            <a:off x="2331926" y="5629681"/>
            <a:ext cx="31387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7040111-1439-1D4C-39B8-6B0DCA209280}"/>
              </a:ext>
            </a:extLst>
          </p:cNvPr>
          <p:cNvCxnSpPr>
            <a:cxnSpLocks/>
          </p:cNvCxnSpPr>
          <p:nvPr/>
        </p:nvCxnSpPr>
        <p:spPr>
          <a:xfrm>
            <a:off x="2830950" y="5629725"/>
            <a:ext cx="27918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461D907-090D-8A6F-742D-B6EC455A8666}"/>
              </a:ext>
            </a:extLst>
          </p:cNvPr>
          <p:cNvCxnSpPr>
            <a:cxnSpLocks/>
          </p:cNvCxnSpPr>
          <p:nvPr/>
        </p:nvCxnSpPr>
        <p:spPr>
          <a:xfrm>
            <a:off x="3405716" y="5629681"/>
            <a:ext cx="253801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FE200B9-EB6A-DD99-F96C-5872904C4313}"/>
              </a:ext>
            </a:extLst>
          </p:cNvPr>
          <p:cNvCxnSpPr>
            <a:cxnSpLocks/>
          </p:cNvCxnSpPr>
          <p:nvPr/>
        </p:nvCxnSpPr>
        <p:spPr>
          <a:xfrm>
            <a:off x="3114995" y="5630012"/>
            <a:ext cx="279181" cy="0"/>
          </a:xfrm>
          <a:prstGeom prst="line">
            <a:avLst/>
          </a:prstGeom>
          <a:ln w="38100">
            <a:solidFill>
              <a:srgbClr val="29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15B3F6-5E5E-D2C8-7FFF-3F71BF6B9183}"/>
              </a:ext>
            </a:extLst>
          </p:cNvPr>
          <p:cNvCxnSpPr>
            <a:cxnSpLocks/>
          </p:cNvCxnSpPr>
          <p:nvPr/>
        </p:nvCxnSpPr>
        <p:spPr>
          <a:xfrm>
            <a:off x="2048803" y="5629553"/>
            <a:ext cx="279181" cy="0"/>
          </a:xfrm>
          <a:prstGeom prst="line">
            <a:avLst/>
          </a:prstGeom>
          <a:ln w="38100">
            <a:solidFill>
              <a:srgbClr val="29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C9E0EE9-3FFF-AB48-7771-B6B88B9FC970}"/>
              </a:ext>
            </a:extLst>
          </p:cNvPr>
          <p:cNvCxnSpPr>
            <a:cxnSpLocks/>
          </p:cNvCxnSpPr>
          <p:nvPr/>
        </p:nvCxnSpPr>
        <p:spPr>
          <a:xfrm>
            <a:off x="2645796" y="5629553"/>
            <a:ext cx="185154" cy="0"/>
          </a:xfrm>
          <a:prstGeom prst="line">
            <a:avLst/>
          </a:prstGeom>
          <a:ln w="38100">
            <a:solidFill>
              <a:srgbClr val="29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3BA5CF6-C103-839C-07B9-410EC9C78972}"/>
              </a:ext>
            </a:extLst>
          </p:cNvPr>
          <p:cNvGrpSpPr/>
          <p:nvPr/>
        </p:nvGrpSpPr>
        <p:grpSpPr>
          <a:xfrm>
            <a:off x="1056032" y="2281235"/>
            <a:ext cx="3616239" cy="650743"/>
            <a:chOff x="1056032" y="2281235"/>
            <a:chExt cx="3616239" cy="650743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FA2E50A-D5FE-3B72-1491-9EBB4BEF05DE}"/>
                </a:ext>
              </a:extLst>
            </p:cNvPr>
            <p:cNvCxnSpPr>
              <a:cxnSpLocks/>
            </p:cNvCxnSpPr>
            <p:nvPr/>
          </p:nvCxnSpPr>
          <p:spPr>
            <a:xfrm>
              <a:off x="1164597" y="280841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2DCBD002-15DE-715A-FF00-2BEE63744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8561" y="2689545"/>
              <a:ext cx="263710" cy="221516"/>
            </a:xfrm>
            <a:prstGeom prst="rect">
              <a:avLst/>
            </a:prstGeom>
          </p:spPr>
        </p:pic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6F97A4A-BD1A-5C47-488F-B2D698B6F816}"/>
                </a:ext>
              </a:extLst>
            </p:cNvPr>
            <p:cNvCxnSpPr/>
            <p:nvPr/>
          </p:nvCxnSpPr>
          <p:spPr>
            <a:xfrm>
              <a:off x="1159193" y="2931978"/>
              <a:ext cx="74766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E8BD89FC-A4C3-AC57-E032-C481EFAFF404}"/>
                </a:ext>
              </a:extLst>
            </p:cNvPr>
            <p:cNvCxnSpPr>
              <a:cxnSpLocks/>
            </p:cNvCxnSpPr>
            <p:nvPr/>
          </p:nvCxnSpPr>
          <p:spPr>
            <a:xfrm>
              <a:off x="1906859" y="2931978"/>
              <a:ext cx="62080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B2974CB6-CBBD-12FD-D0C7-089100E8B065}"/>
                </a:ext>
              </a:extLst>
            </p:cNvPr>
            <p:cNvCxnSpPr>
              <a:cxnSpLocks/>
            </p:cNvCxnSpPr>
            <p:nvPr/>
          </p:nvCxnSpPr>
          <p:spPr>
            <a:xfrm>
              <a:off x="2561388" y="2931978"/>
              <a:ext cx="42320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46BD891-6693-139F-ED39-D6B34C9D0C01}"/>
                </a:ext>
              </a:extLst>
            </p:cNvPr>
            <p:cNvCxnSpPr>
              <a:cxnSpLocks/>
            </p:cNvCxnSpPr>
            <p:nvPr/>
          </p:nvCxnSpPr>
          <p:spPr>
            <a:xfrm>
              <a:off x="2995443" y="2931978"/>
              <a:ext cx="54959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9950E06-FB35-D1F9-BFD9-DB00F9F73F58}"/>
                </a:ext>
              </a:extLst>
            </p:cNvPr>
            <p:cNvSpPr/>
            <p:nvPr/>
          </p:nvSpPr>
          <p:spPr>
            <a:xfrm>
              <a:off x="214545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7434E61-466A-0489-3464-C9AA025692BF}"/>
                </a:ext>
              </a:extLst>
            </p:cNvPr>
            <p:cNvSpPr/>
            <p:nvPr/>
          </p:nvSpPr>
          <p:spPr>
            <a:xfrm>
              <a:off x="105603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AF313B9-8DDC-9603-7FDA-B799B0D0D4FA}"/>
                </a:ext>
              </a:extLst>
            </p:cNvPr>
            <p:cNvSpPr/>
            <p:nvPr/>
          </p:nvSpPr>
          <p:spPr>
            <a:xfrm>
              <a:off x="2608484" y="2281236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9444290-D22A-E66A-B43E-3FD3447A11AC}"/>
                </a:ext>
              </a:extLst>
            </p:cNvPr>
            <p:cNvSpPr/>
            <p:nvPr/>
          </p:nvSpPr>
          <p:spPr>
            <a:xfrm>
              <a:off x="1523770" y="2281235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6043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9E8D-EBB4-BEE3-4238-F8843A23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169645-1657-DFCA-FE9F-F891339CF81C}"/>
              </a:ext>
            </a:extLst>
          </p:cNvPr>
          <p:cNvSpPr txBox="1"/>
          <p:nvPr/>
        </p:nvSpPr>
        <p:spPr>
          <a:xfrm>
            <a:off x="276411" y="260293"/>
            <a:ext cx="45025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Generative Adversarial Network (GAN)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75746D-ED34-6691-CAE9-DE3E2D83D81B}"/>
              </a:ext>
            </a:extLst>
          </p:cNvPr>
          <p:cNvSpPr txBox="1"/>
          <p:nvPr/>
        </p:nvSpPr>
        <p:spPr>
          <a:xfrm>
            <a:off x="276410" y="986589"/>
            <a:ext cx="653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To train the network,        optimizes the cross-entropy loss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C6CDCFC-9231-5C61-3D47-25C3EF579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87" y="1060243"/>
            <a:ext cx="246356" cy="21326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942D26-F634-12E7-E206-24F25BF172B3}"/>
              </a:ext>
            </a:extLst>
          </p:cNvPr>
          <p:cNvSpPr txBox="1"/>
          <p:nvPr/>
        </p:nvSpPr>
        <p:spPr>
          <a:xfrm>
            <a:off x="266505" y="5852830"/>
            <a:ext cx="8872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GAN is a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min-max gaming </a:t>
            </a:r>
            <a:r>
              <a:rPr lang="en-US" dirty="0">
                <a:latin typeface="Arial Rounded MT Bold" panose="020F0704030504030204" pitchFamily="34" charset="77"/>
              </a:rPr>
              <a:t>between the generator and discriminator!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3323496-8A3C-0C74-C53C-5D84D4A76995}"/>
              </a:ext>
            </a:extLst>
          </p:cNvPr>
          <p:cNvCxnSpPr>
            <a:cxnSpLocks/>
          </p:cNvCxnSpPr>
          <p:nvPr/>
        </p:nvCxnSpPr>
        <p:spPr>
          <a:xfrm>
            <a:off x="5193766" y="2251854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AE98981-102A-03A8-5B54-01DB41A57B39}"/>
              </a:ext>
            </a:extLst>
          </p:cNvPr>
          <p:cNvSpPr txBox="1"/>
          <p:nvPr/>
        </p:nvSpPr>
        <p:spPr>
          <a:xfrm>
            <a:off x="5572972" y="2426557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83C841E-5FD3-E3DB-92BE-7BAB911C7DDE}"/>
              </a:ext>
            </a:extLst>
          </p:cNvPr>
          <p:cNvCxnSpPr>
            <a:cxnSpLocks/>
          </p:cNvCxnSpPr>
          <p:nvPr/>
        </p:nvCxnSpPr>
        <p:spPr>
          <a:xfrm>
            <a:off x="5193766" y="2621068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55A0759-2273-E242-5FB2-BD5BB70B474D}"/>
              </a:ext>
            </a:extLst>
          </p:cNvPr>
          <p:cNvSpPr txBox="1"/>
          <p:nvPr/>
        </p:nvSpPr>
        <p:spPr>
          <a:xfrm>
            <a:off x="5572972" y="2046793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9620F-CFC2-1AF7-EFD4-EAC4F4461861}"/>
              </a:ext>
            </a:extLst>
          </p:cNvPr>
          <p:cNvSpPr txBox="1"/>
          <p:nvPr/>
        </p:nvSpPr>
        <p:spPr>
          <a:xfrm>
            <a:off x="276409" y="6192799"/>
            <a:ext cx="559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where is the balance – Nash Equilibrium (NE)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5C9554-4AE2-242E-642E-A9A590731617}"/>
              </a:ext>
            </a:extLst>
          </p:cNvPr>
          <p:cNvGrpSpPr/>
          <p:nvPr/>
        </p:nvGrpSpPr>
        <p:grpSpPr>
          <a:xfrm>
            <a:off x="7142131" y="260293"/>
            <a:ext cx="5049869" cy="1891032"/>
            <a:chOff x="798853" y="2841991"/>
            <a:chExt cx="9765155" cy="3656773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146471A-AD90-155E-274E-5C87639B21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4253" y="2841991"/>
              <a:ext cx="6002" cy="124693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29F49E-61F8-DB3B-39E4-28D7BA7FA2C3}"/>
                </a:ext>
              </a:extLst>
            </p:cNvPr>
            <p:cNvSpPr/>
            <p:nvPr/>
          </p:nvSpPr>
          <p:spPr>
            <a:xfrm rot="16200000">
              <a:off x="455860" y="3216913"/>
              <a:ext cx="1156288" cy="47030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rapezoid 22">
              <a:extLst>
                <a:ext uri="{FF2B5EF4-FFF2-40B4-BE49-F238E27FC236}">
                  <a16:creationId xmlns:a16="http://schemas.microsoft.com/office/drawing/2014/main" id="{1864351A-C6F1-450E-5154-CE0B23C419B9}"/>
                </a:ext>
              </a:extLst>
            </p:cNvPr>
            <p:cNvSpPr/>
            <p:nvPr/>
          </p:nvSpPr>
          <p:spPr>
            <a:xfrm rot="16200000" flipH="1">
              <a:off x="1660104" y="2807505"/>
              <a:ext cx="1156286" cy="1238024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8F671BB-5988-4DA0-54BD-D00AEFF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1261595" y="3522260"/>
              <a:ext cx="1874492" cy="203222"/>
            </a:xfrm>
            <a:prstGeom prst="straightConnector1">
              <a:avLst/>
            </a:prstGeom>
            <a:ln w="57150">
              <a:solidFill>
                <a:schemeClr val="accent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2" descr="VideoForensicsHQ Dataset | Papers With Code">
              <a:extLst>
                <a:ext uri="{FF2B5EF4-FFF2-40B4-BE49-F238E27FC236}">
                  <a16:creationId xmlns:a16="http://schemas.microsoft.com/office/drawing/2014/main" id="{4085DF92-F84D-34B0-86FB-D951718740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20" t="83491"/>
            <a:stretch/>
          </p:blipFill>
          <p:spPr bwMode="auto">
            <a:xfrm>
              <a:off x="3136087" y="2942495"/>
              <a:ext cx="947486" cy="948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3D5B12F-5610-E229-CE9D-4DEE587A5CFD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3475130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62A83C0-236B-D678-2E5A-5065D6A2E3E0}"/>
                </a:ext>
              </a:extLst>
            </p:cNvPr>
            <p:cNvCxnSpPr>
              <a:cxnSpLocks/>
            </p:cNvCxnSpPr>
            <p:nvPr/>
          </p:nvCxnSpPr>
          <p:spPr>
            <a:xfrm>
              <a:off x="7899057" y="3891517"/>
              <a:ext cx="4528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F13756D-986C-2070-92D1-40E601FB7D50}"/>
                </a:ext>
              </a:extLst>
            </p:cNvPr>
            <p:cNvSpPr txBox="1"/>
            <p:nvPr/>
          </p:nvSpPr>
          <p:spPr>
            <a:xfrm>
              <a:off x="8460620" y="3510063"/>
              <a:ext cx="2103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R or G?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41" name="Trapezoid 40">
              <a:extLst>
                <a:ext uri="{FF2B5EF4-FFF2-40B4-BE49-F238E27FC236}">
                  <a16:creationId xmlns:a16="http://schemas.microsoft.com/office/drawing/2014/main" id="{900DC441-5A0C-6908-D228-8DFC57FB49F7}"/>
                </a:ext>
              </a:extLst>
            </p:cNvPr>
            <p:cNvSpPr/>
            <p:nvPr/>
          </p:nvSpPr>
          <p:spPr>
            <a:xfrm rot="5400000">
              <a:off x="6204071" y="3137233"/>
              <a:ext cx="1669807" cy="1507683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2" descr="VideoForensicsHQ Dataset | Papers With Code">
              <a:extLst>
                <a:ext uri="{FF2B5EF4-FFF2-40B4-BE49-F238E27FC236}">
                  <a16:creationId xmlns:a16="http://schemas.microsoft.com/office/drawing/2014/main" id="{A1B1D2A4-F5BB-EB2F-9D7E-C5A064F0C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222" y="4332216"/>
              <a:ext cx="1474814" cy="1491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AD89652-6886-0C45-AF3F-815BC8BEE45A}"/>
                </a:ext>
              </a:extLst>
            </p:cNvPr>
            <p:cNvSpPr txBox="1"/>
            <p:nvPr/>
          </p:nvSpPr>
          <p:spPr>
            <a:xfrm>
              <a:off x="1492756" y="5784570"/>
              <a:ext cx="6300061" cy="714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6D9EF8E0-51F2-A024-3235-2F3B33B394D6}"/>
                </a:ext>
              </a:extLst>
            </p:cNvPr>
            <p:cNvCxnSpPr>
              <a:cxnSpLocks/>
            </p:cNvCxnSpPr>
            <p:nvPr/>
          </p:nvCxnSpPr>
          <p:spPr>
            <a:xfrm>
              <a:off x="4115854" y="4456205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3373B2C-1798-D2C7-9216-F26B421C0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6347" y="3183711"/>
              <a:ext cx="454240" cy="45424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5A76077-030C-F248-6946-0ACAA576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6559" y="3606135"/>
              <a:ext cx="584829" cy="506270"/>
            </a:xfrm>
            <a:prstGeom prst="rect">
              <a:avLst/>
            </a:prstGeom>
          </p:spPr>
        </p:pic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8AD13C5-1E7F-1010-3D79-5DD82565794B}"/>
                </a:ext>
              </a:extLst>
            </p:cNvPr>
            <p:cNvCxnSpPr>
              <a:cxnSpLocks/>
            </p:cNvCxnSpPr>
            <p:nvPr/>
          </p:nvCxnSpPr>
          <p:spPr>
            <a:xfrm>
              <a:off x="5582806" y="3891074"/>
              <a:ext cx="663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7EC6B57-AEB0-D135-7316-F55F09145BEC}"/>
                </a:ext>
              </a:extLst>
            </p:cNvPr>
            <p:cNvCxnSpPr>
              <a:cxnSpLocks/>
              <a:stCxn id="70" idx="6"/>
              <a:endCxn id="73" idx="1"/>
            </p:cNvCxnSpPr>
            <p:nvPr/>
          </p:nvCxnSpPr>
          <p:spPr>
            <a:xfrm>
              <a:off x="4897649" y="3475130"/>
              <a:ext cx="638382" cy="3980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A94E4C7-05A7-7538-EED7-173117D307A6}"/>
                </a:ext>
              </a:extLst>
            </p:cNvPr>
            <p:cNvSpPr/>
            <p:nvPr/>
          </p:nvSpPr>
          <p:spPr>
            <a:xfrm>
              <a:off x="4802399" y="3427505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C2CFF1E-4894-3FF7-4FAF-C9EAB2ADDB9B}"/>
                </a:ext>
              </a:extLst>
            </p:cNvPr>
            <p:cNvSpPr/>
            <p:nvPr/>
          </p:nvSpPr>
          <p:spPr>
            <a:xfrm>
              <a:off x="4802399" y="440858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2033CC6-CC42-2E8B-88C3-60793C3A88BE}"/>
                </a:ext>
              </a:extLst>
            </p:cNvPr>
            <p:cNvSpPr/>
            <p:nvPr/>
          </p:nvSpPr>
          <p:spPr>
            <a:xfrm>
              <a:off x="5522082" y="3859270"/>
              <a:ext cx="95250" cy="952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2E66DEF1-2069-1C67-1E83-C4EA1E228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37" y="3743877"/>
            <a:ext cx="246356" cy="246356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C4270145-0EE1-DBF7-0C17-671A50986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8" y="3215736"/>
            <a:ext cx="246356" cy="213264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B2A2DF4-1ACE-F0E7-A758-762EF05FEB52}"/>
              </a:ext>
            </a:extLst>
          </p:cNvPr>
          <p:cNvCxnSpPr/>
          <p:nvPr/>
        </p:nvCxnSpPr>
        <p:spPr>
          <a:xfrm>
            <a:off x="1159193" y="3322368"/>
            <a:ext cx="7476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B3E905A-1C96-BA60-5BE5-3644FA1C2E66}"/>
              </a:ext>
            </a:extLst>
          </p:cNvPr>
          <p:cNvCxnSpPr>
            <a:cxnSpLocks/>
          </p:cNvCxnSpPr>
          <p:nvPr/>
        </p:nvCxnSpPr>
        <p:spPr>
          <a:xfrm>
            <a:off x="1910801" y="3322324"/>
            <a:ext cx="64859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A77238A-902B-4069-3588-4BE14A8183E8}"/>
              </a:ext>
            </a:extLst>
          </p:cNvPr>
          <p:cNvCxnSpPr>
            <a:cxnSpLocks/>
          </p:cNvCxnSpPr>
          <p:nvPr/>
        </p:nvCxnSpPr>
        <p:spPr>
          <a:xfrm>
            <a:off x="2563645" y="3322368"/>
            <a:ext cx="4209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40EC051-9178-ABB4-339D-E01B5A34B799}"/>
              </a:ext>
            </a:extLst>
          </p:cNvPr>
          <p:cNvCxnSpPr>
            <a:cxnSpLocks/>
          </p:cNvCxnSpPr>
          <p:nvPr/>
        </p:nvCxnSpPr>
        <p:spPr>
          <a:xfrm>
            <a:off x="2995443" y="3324370"/>
            <a:ext cx="549592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7186F1F-12C0-AAEE-E2B9-43E5099AAAF5}"/>
              </a:ext>
            </a:extLst>
          </p:cNvPr>
          <p:cNvSpPr txBox="1"/>
          <p:nvPr/>
        </p:nvSpPr>
        <p:spPr>
          <a:xfrm>
            <a:off x="1371395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A</a:t>
            </a:r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03A19D9-B417-D7DC-619E-67327479EDE9}"/>
              </a:ext>
            </a:extLst>
          </p:cNvPr>
          <p:cNvSpPr txBox="1"/>
          <p:nvPr/>
        </p:nvSpPr>
        <p:spPr>
          <a:xfrm>
            <a:off x="2072789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B</a:t>
            </a:r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748D0E4-3708-D120-EA28-4E3C50DBC5FC}"/>
              </a:ext>
            </a:extLst>
          </p:cNvPr>
          <p:cNvSpPr txBox="1"/>
          <p:nvPr/>
        </p:nvSpPr>
        <p:spPr>
          <a:xfrm>
            <a:off x="2608484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C</a:t>
            </a:r>
            <a:endParaRPr 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6B83BB3-19EB-CDF1-B681-C7056D3CBA6D}"/>
              </a:ext>
            </a:extLst>
          </p:cNvPr>
          <p:cNvSpPr txBox="1"/>
          <p:nvPr/>
        </p:nvSpPr>
        <p:spPr>
          <a:xfrm>
            <a:off x="3090950" y="2911060"/>
            <a:ext cx="24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D</a:t>
            </a:r>
            <a:endParaRPr 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C2F1A27-19DE-9308-1167-320F81F5C17F}"/>
              </a:ext>
            </a:extLst>
          </p:cNvPr>
          <p:cNvSpPr txBox="1"/>
          <p:nvPr/>
        </p:nvSpPr>
        <p:spPr>
          <a:xfrm>
            <a:off x="276409" y="3688567"/>
            <a:ext cx="751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And       wants to do the opposite. The objective function becomes           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405B3B-D0B0-4081-559A-53C84CCF9AD3}"/>
              </a:ext>
            </a:extLst>
          </p:cNvPr>
          <p:cNvCxnSpPr>
            <a:cxnSpLocks/>
          </p:cNvCxnSpPr>
          <p:nvPr/>
        </p:nvCxnSpPr>
        <p:spPr>
          <a:xfrm>
            <a:off x="1164597" y="5304012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9F531DC5-6D8B-45B9-6E99-AAD45AA58531}"/>
              </a:ext>
            </a:extLst>
          </p:cNvPr>
          <p:cNvSpPr/>
          <p:nvPr/>
        </p:nvSpPr>
        <p:spPr>
          <a:xfrm>
            <a:off x="2567449" y="4755197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1EA6711B-A866-42E4-6116-67EBB2FE0072}"/>
              </a:ext>
            </a:extLst>
          </p:cNvPr>
          <p:cNvSpPr/>
          <p:nvPr/>
        </p:nvSpPr>
        <p:spPr>
          <a:xfrm>
            <a:off x="1501971" y="4755197"/>
            <a:ext cx="1150043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7759F01C-9D7A-122E-E755-0A1DD52CEF06}"/>
              </a:ext>
            </a:extLst>
          </p:cNvPr>
          <p:cNvSpPr/>
          <p:nvPr/>
        </p:nvSpPr>
        <p:spPr>
          <a:xfrm>
            <a:off x="2619672" y="4755196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3BA8890B-0434-32F5-294F-8233C9262563}"/>
              </a:ext>
            </a:extLst>
          </p:cNvPr>
          <p:cNvSpPr/>
          <p:nvPr/>
        </p:nvSpPr>
        <p:spPr>
          <a:xfrm>
            <a:off x="1534958" y="4755195"/>
            <a:ext cx="1321111" cy="54070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C9E689CE-FFBF-6873-8A6A-37C8BF32F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561" y="5185143"/>
            <a:ext cx="263710" cy="221516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2B39C985-309B-6C5A-713D-FA89A437C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8" y="5523093"/>
            <a:ext cx="246356" cy="213264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04A86D8-0348-618D-3379-C301F20F3F0E}"/>
              </a:ext>
            </a:extLst>
          </p:cNvPr>
          <p:cNvCxnSpPr>
            <a:cxnSpLocks/>
          </p:cNvCxnSpPr>
          <p:nvPr/>
        </p:nvCxnSpPr>
        <p:spPr>
          <a:xfrm>
            <a:off x="1811775" y="5629725"/>
            <a:ext cx="23225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F2B4D84-C593-09CC-5047-C8629CAB3DD5}"/>
              </a:ext>
            </a:extLst>
          </p:cNvPr>
          <p:cNvCxnSpPr>
            <a:cxnSpLocks/>
          </p:cNvCxnSpPr>
          <p:nvPr/>
        </p:nvCxnSpPr>
        <p:spPr>
          <a:xfrm>
            <a:off x="2331926" y="5629681"/>
            <a:ext cx="31387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5DA3EE1-8C8C-A866-DE70-BFC44E79CB22}"/>
              </a:ext>
            </a:extLst>
          </p:cNvPr>
          <p:cNvCxnSpPr>
            <a:cxnSpLocks/>
          </p:cNvCxnSpPr>
          <p:nvPr/>
        </p:nvCxnSpPr>
        <p:spPr>
          <a:xfrm>
            <a:off x="2830950" y="5629725"/>
            <a:ext cx="27918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9603F81-C891-8E95-AD17-7AB88EB8E205}"/>
              </a:ext>
            </a:extLst>
          </p:cNvPr>
          <p:cNvCxnSpPr>
            <a:cxnSpLocks/>
          </p:cNvCxnSpPr>
          <p:nvPr/>
        </p:nvCxnSpPr>
        <p:spPr>
          <a:xfrm>
            <a:off x="3405716" y="5629681"/>
            <a:ext cx="253801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8AE22DB-C9CE-8CB6-28BF-170A28818587}"/>
              </a:ext>
            </a:extLst>
          </p:cNvPr>
          <p:cNvCxnSpPr>
            <a:cxnSpLocks/>
          </p:cNvCxnSpPr>
          <p:nvPr/>
        </p:nvCxnSpPr>
        <p:spPr>
          <a:xfrm>
            <a:off x="3114995" y="5630012"/>
            <a:ext cx="279181" cy="0"/>
          </a:xfrm>
          <a:prstGeom prst="line">
            <a:avLst/>
          </a:prstGeom>
          <a:ln w="38100">
            <a:solidFill>
              <a:srgbClr val="29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401190F1-C8E9-A685-BBAA-262D38766BEC}"/>
              </a:ext>
            </a:extLst>
          </p:cNvPr>
          <p:cNvCxnSpPr>
            <a:cxnSpLocks/>
          </p:cNvCxnSpPr>
          <p:nvPr/>
        </p:nvCxnSpPr>
        <p:spPr>
          <a:xfrm>
            <a:off x="2048803" y="5629553"/>
            <a:ext cx="279181" cy="0"/>
          </a:xfrm>
          <a:prstGeom prst="line">
            <a:avLst/>
          </a:prstGeom>
          <a:ln w="38100">
            <a:solidFill>
              <a:srgbClr val="29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7935CEB-F644-19D9-967B-4443C89740BB}"/>
              </a:ext>
            </a:extLst>
          </p:cNvPr>
          <p:cNvCxnSpPr>
            <a:cxnSpLocks/>
          </p:cNvCxnSpPr>
          <p:nvPr/>
        </p:nvCxnSpPr>
        <p:spPr>
          <a:xfrm>
            <a:off x="2645796" y="5629553"/>
            <a:ext cx="185154" cy="0"/>
          </a:xfrm>
          <a:prstGeom prst="line">
            <a:avLst/>
          </a:prstGeom>
          <a:ln w="38100">
            <a:solidFill>
              <a:srgbClr val="29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FF58A23-52EE-1BAA-0990-09E98CE4A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53" y="1667625"/>
            <a:ext cx="6575367" cy="369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699CD6-AB0C-B674-49C5-3D25F82D70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53" y="4132595"/>
            <a:ext cx="7733871" cy="36933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104204F-43A7-7C46-A268-8021AE397FF1}"/>
              </a:ext>
            </a:extLst>
          </p:cNvPr>
          <p:cNvGrpSpPr/>
          <p:nvPr/>
        </p:nvGrpSpPr>
        <p:grpSpPr>
          <a:xfrm>
            <a:off x="1056032" y="2281235"/>
            <a:ext cx="3616239" cy="650743"/>
            <a:chOff x="1056032" y="2281235"/>
            <a:chExt cx="3616239" cy="65074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84F8237-ED32-1DF3-F5B8-E3A71F794A87}"/>
                </a:ext>
              </a:extLst>
            </p:cNvPr>
            <p:cNvCxnSpPr>
              <a:cxnSpLocks/>
            </p:cNvCxnSpPr>
            <p:nvPr/>
          </p:nvCxnSpPr>
          <p:spPr>
            <a:xfrm>
              <a:off x="1164597" y="280841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07955A-27C4-B2BE-CDE8-AA37EB873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08561" y="2689545"/>
              <a:ext cx="263710" cy="221516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3A5FF42-FF75-1FDB-7A20-B9E86066FC13}"/>
                </a:ext>
              </a:extLst>
            </p:cNvPr>
            <p:cNvCxnSpPr/>
            <p:nvPr/>
          </p:nvCxnSpPr>
          <p:spPr>
            <a:xfrm>
              <a:off x="1159193" y="2931978"/>
              <a:ext cx="74766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85D1C80-5659-9148-6086-07E4EBFCDFD4}"/>
                </a:ext>
              </a:extLst>
            </p:cNvPr>
            <p:cNvCxnSpPr>
              <a:cxnSpLocks/>
            </p:cNvCxnSpPr>
            <p:nvPr/>
          </p:nvCxnSpPr>
          <p:spPr>
            <a:xfrm>
              <a:off x="1906859" y="2931978"/>
              <a:ext cx="62080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31DD07B-8940-50E7-33C8-0858CF29EAF3}"/>
                </a:ext>
              </a:extLst>
            </p:cNvPr>
            <p:cNvCxnSpPr>
              <a:cxnSpLocks/>
            </p:cNvCxnSpPr>
            <p:nvPr/>
          </p:nvCxnSpPr>
          <p:spPr>
            <a:xfrm>
              <a:off x="2561388" y="2931978"/>
              <a:ext cx="42320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07ED9D3-9C75-F7DB-E3A3-F8B113A9BF5B}"/>
                </a:ext>
              </a:extLst>
            </p:cNvPr>
            <p:cNvCxnSpPr>
              <a:cxnSpLocks/>
            </p:cNvCxnSpPr>
            <p:nvPr/>
          </p:nvCxnSpPr>
          <p:spPr>
            <a:xfrm>
              <a:off x="2995443" y="2931978"/>
              <a:ext cx="54959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3DD27E7-831F-F13A-D0B9-F99C1F410C6C}"/>
                </a:ext>
              </a:extLst>
            </p:cNvPr>
            <p:cNvSpPr/>
            <p:nvPr/>
          </p:nvSpPr>
          <p:spPr>
            <a:xfrm>
              <a:off x="214545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BB8567-26EC-0BD5-0E42-7AAA12358492}"/>
                </a:ext>
              </a:extLst>
            </p:cNvPr>
            <p:cNvSpPr/>
            <p:nvPr/>
          </p:nvSpPr>
          <p:spPr>
            <a:xfrm>
              <a:off x="1056032" y="2281237"/>
              <a:ext cx="1150043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454692E-22A2-E66C-B4A0-DCFDE1498D04}"/>
                </a:ext>
              </a:extLst>
            </p:cNvPr>
            <p:cNvSpPr/>
            <p:nvPr/>
          </p:nvSpPr>
          <p:spPr>
            <a:xfrm>
              <a:off x="2608484" y="2281236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02FF3C-B1E2-F118-33BE-66B0E86289BF}"/>
                </a:ext>
              </a:extLst>
            </p:cNvPr>
            <p:cNvSpPr/>
            <p:nvPr/>
          </p:nvSpPr>
          <p:spPr>
            <a:xfrm>
              <a:off x="1523770" y="2281235"/>
              <a:ext cx="1321111" cy="540708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1608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E15E-F8FC-6501-46A5-083908C9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914F40-81C4-5A74-32C1-647C50EBB286}"/>
              </a:ext>
            </a:extLst>
          </p:cNvPr>
          <p:cNvSpPr txBox="1"/>
          <p:nvPr/>
        </p:nvSpPr>
        <p:spPr>
          <a:xfrm>
            <a:off x="276411" y="260293"/>
            <a:ext cx="264527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Nash Equilibrium (NE)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AEDE5-BAF0-6A5B-A282-7FDCEDF38F4F}"/>
              </a:ext>
            </a:extLst>
          </p:cNvPr>
          <p:cNvSpPr txBox="1"/>
          <p:nvPr/>
        </p:nvSpPr>
        <p:spPr>
          <a:xfrm>
            <a:off x="276409" y="773297"/>
            <a:ext cx="559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where is the balance – Nash Equilibrium (NE)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D8D38-9C1E-FF93-49B6-282FF2BC6AF9}"/>
              </a:ext>
            </a:extLst>
          </p:cNvPr>
          <p:cNvSpPr txBox="1"/>
          <p:nvPr/>
        </p:nvSpPr>
        <p:spPr>
          <a:xfrm>
            <a:off x="276409" y="1354583"/>
            <a:ext cx="2367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Discriminator side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1EAF4D-311A-3FB9-DD68-E0285CB6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53" y="1781925"/>
            <a:ext cx="6575367" cy="3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191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5F0B8-25A3-B671-FFD7-AD9E1639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78CB4-827E-99FA-E067-27866F4429C0}"/>
              </a:ext>
            </a:extLst>
          </p:cNvPr>
          <p:cNvSpPr txBox="1"/>
          <p:nvPr/>
        </p:nvSpPr>
        <p:spPr>
          <a:xfrm>
            <a:off x="276411" y="260293"/>
            <a:ext cx="264527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Nash Equilibrium (NE)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DE678B8-C641-50DD-E2D4-0644036E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90" y="2226666"/>
            <a:ext cx="5102475" cy="599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DEA6EF-4F89-1258-817F-B5EA23052B2B}"/>
              </a:ext>
            </a:extLst>
          </p:cNvPr>
          <p:cNvSpPr txBox="1"/>
          <p:nvPr/>
        </p:nvSpPr>
        <p:spPr>
          <a:xfrm>
            <a:off x="276409" y="773297"/>
            <a:ext cx="559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where is the balance – Nash Equilibrium (NE)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F1099-7245-DE42-89D4-DFF0E7CEA4F8}"/>
              </a:ext>
            </a:extLst>
          </p:cNvPr>
          <p:cNvSpPr txBox="1"/>
          <p:nvPr/>
        </p:nvSpPr>
        <p:spPr>
          <a:xfrm>
            <a:off x="276409" y="1354583"/>
            <a:ext cx="2367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Discriminator side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91180E-5660-8CD5-E110-6051B9F3C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11" y="3024276"/>
            <a:ext cx="2804499" cy="6469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37A523E-8481-A063-9AAB-EF82224133ED}"/>
              </a:ext>
            </a:extLst>
          </p:cNvPr>
          <p:cNvSpPr txBox="1"/>
          <p:nvPr/>
        </p:nvSpPr>
        <p:spPr>
          <a:xfrm>
            <a:off x="5574766" y="3224323"/>
            <a:ext cx="214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Distribution ratio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B8C1DC-A039-9F4D-E0E4-37E899A23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53" y="1781925"/>
            <a:ext cx="6575367" cy="3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33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1EA6-A653-79B3-AD9A-77325569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1BDCAB-98F9-0AC5-9869-F6D7433FEA23}"/>
              </a:ext>
            </a:extLst>
          </p:cNvPr>
          <p:cNvSpPr txBox="1"/>
          <p:nvPr/>
        </p:nvSpPr>
        <p:spPr>
          <a:xfrm>
            <a:off x="276411" y="260293"/>
            <a:ext cx="264527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Nash Equilibrium (NE)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F0A05386-8BF9-3AC8-34FA-E659EA50C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90" y="2226666"/>
            <a:ext cx="5102475" cy="599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B7CA8-F742-CEBB-44FF-408BA4A433FD}"/>
              </a:ext>
            </a:extLst>
          </p:cNvPr>
          <p:cNvSpPr txBox="1"/>
          <p:nvPr/>
        </p:nvSpPr>
        <p:spPr>
          <a:xfrm>
            <a:off x="276409" y="773297"/>
            <a:ext cx="559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where is the balance – Nash Equilibrium (NE)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9E8A1-01E3-6E7A-EC81-E56797BB4F9F}"/>
              </a:ext>
            </a:extLst>
          </p:cNvPr>
          <p:cNvSpPr txBox="1"/>
          <p:nvPr/>
        </p:nvSpPr>
        <p:spPr>
          <a:xfrm>
            <a:off x="276409" y="1354583"/>
            <a:ext cx="2367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Discriminator side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AFD83E-3495-6D10-0ED6-AC5C49D91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11" y="3024276"/>
            <a:ext cx="2804499" cy="6469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85634B-7097-4395-C13D-CF0B1E160092}"/>
              </a:ext>
            </a:extLst>
          </p:cNvPr>
          <p:cNvSpPr txBox="1"/>
          <p:nvPr/>
        </p:nvSpPr>
        <p:spPr>
          <a:xfrm>
            <a:off x="276410" y="4079475"/>
            <a:ext cx="236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Generator side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A078C0-DE98-F60B-3DED-E1EA8B1FA9D9}"/>
              </a:ext>
            </a:extLst>
          </p:cNvPr>
          <p:cNvSpPr txBox="1"/>
          <p:nvPr/>
        </p:nvSpPr>
        <p:spPr>
          <a:xfrm>
            <a:off x="5574766" y="3224323"/>
            <a:ext cx="214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Distribution ratio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A46DD8-DCF7-72AA-90EB-77042B01B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53" y="1781925"/>
            <a:ext cx="6575367" cy="369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C80D1-654C-AAD7-6AD6-F56299DC7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11" y="4516911"/>
            <a:ext cx="6902355" cy="59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46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6F71-B3F1-CD38-98B7-865A5671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201514-DAC5-7721-7D8C-5B16FDC6BB0E}"/>
              </a:ext>
            </a:extLst>
          </p:cNvPr>
          <p:cNvSpPr txBox="1"/>
          <p:nvPr/>
        </p:nvSpPr>
        <p:spPr>
          <a:xfrm>
            <a:off x="276411" y="260293"/>
            <a:ext cx="264527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Nash Equilibrium (NE)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FE70486-EA7C-5D0B-E85B-8879FAD33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90" y="2226666"/>
            <a:ext cx="5102475" cy="599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719823-CFD1-B438-11DD-44C32F0BD678}"/>
              </a:ext>
            </a:extLst>
          </p:cNvPr>
          <p:cNvSpPr txBox="1"/>
          <p:nvPr/>
        </p:nvSpPr>
        <p:spPr>
          <a:xfrm>
            <a:off x="276409" y="773297"/>
            <a:ext cx="559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But where is the balance – Nash Equilibrium (NE)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55504-1B70-E98E-3D50-79409E2D0AA6}"/>
              </a:ext>
            </a:extLst>
          </p:cNvPr>
          <p:cNvSpPr txBox="1"/>
          <p:nvPr/>
        </p:nvSpPr>
        <p:spPr>
          <a:xfrm>
            <a:off x="276409" y="1354583"/>
            <a:ext cx="2367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Discriminator side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8D0DC5-E20C-B432-FCFA-87652BF8A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11" y="3024276"/>
            <a:ext cx="2804499" cy="6469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5CA647B-E168-38AC-B1D4-04457A3DEB9D}"/>
              </a:ext>
            </a:extLst>
          </p:cNvPr>
          <p:cNvSpPr txBox="1"/>
          <p:nvPr/>
        </p:nvSpPr>
        <p:spPr>
          <a:xfrm>
            <a:off x="276410" y="4079475"/>
            <a:ext cx="236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Generator side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BDEF07-8473-FE8D-00BB-F3B13BBE901C}"/>
              </a:ext>
            </a:extLst>
          </p:cNvPr>
          <p:cNvSpPr txBox="1"/>
          <p:nvPr/>
        </p:nvSpPr>
        <p:spPr>
          <a:xfrm>
            <a:off x="5574766" y="3224323"/>
            <a:ext cx="214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Distribution ratio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A307448-0DB4-C754-688E-A6435A216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891" y="5175537"/>
            <a:ext cx="6436580" cy="60098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C13F179-A784-8458-D161-02A239F0D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890" y="6030689"/>
            <a:ext cx="3001951" cy="282176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09B7E0C-BD5C-5B6D-A704-5AD8F275EA10}"/>
              </a:ext>
            </a:extLst>
          </p:cNvPr>
          <p:cNvGrpSpPr/>
          <p:nvPr/>
        </p:nvGrpSpPr>
        <p:grpSpPr>
          <a:xfrm>
            <a:off x="5773382" y="5943533"/>
            <a:ext cx="5661144" cy="369332"/>
            <a:chOff x="6840971" y="5987111"/>
            <a:chExt cx="5661144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EB2739-B3FF-2FD9-7BB1-AAC66778E545}"/>
                </a:ext>
              </a:extLst>
            </p:cNvPr>
            <p:cNvSpPr txBox="1"/>
            <p:nvPr/>
          </p:nvSpPr>
          <p:spPr>
            <a:xfrm>
              <a:off x="7087326" y="5987111"/>
              <a:ext cx="54147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optimizes for Jensen-Shannon Diversity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25F1A8B-673D-3444-5F4F-C43265669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0971" y="6048599"/>
              <a:ext cx="246356" cy="246356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A09204D-F74D-0CC2-4430-2203473769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311" y="4516911"/>
            <a:ext cx="6902355" cy="5977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129EA6-9CE9-B83F-A88F-8E3197AF7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53" y="1781925"/>
            <a:ext cx="6575367" cy="3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55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2B20-888D-5465-434A-5ED7FC17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106A08-2372-725B-671F-DAE1D7FDFA7E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F28FA-8A3F-1798-C863-E09C463A33FD}"/>
              </a:ext>
            </a:extLst>
          </p:cNvPr>
          <p:cNvSpPr txBox="1"/>
          <p:nvPr/>
        </p:nvSpPr>
        <p:spPr>
          <a:xfrm>
            <a:off x="276409" y="773297"/>
            <a:ext cx="365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Mode collapse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5A480-9DC7-A23C-BACF-B8DA83D6FC34}"/>
              </a:ext>
            </a:extLst>
          </p:cNvPr>
          <p:cNvSpPr txBox="1"/>
          <p:nvPr/>
        </p:nvSpPr>
        <p:spPr>
          <a:xfrm>
            <a:off x="6096000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</p:spTree>
    <p:extLst>
      <p:ext uri="{BB962C8B-B14F-4D97-AF65-F5344CB8AC3E}">
        <p14:creationId xmlns:p14="http://schemas.microsoft.com/office/powerpoint/2010/main" val="2314783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7EB6-23C0-0415-319C-03B54E55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CCDB54-2BEA-019E-DF4C-F6425103DD6A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185BF-5EC7-13F9-A066-7093B947A62F}"/>
              </a:ext>
            </a:extLst>
          </p:cNvPr>
          <p:cNvSpPr txBox="1"/>
          <p:nvPr/>
        </p:nvSpPr>
        <p:spPr>
          <a:xfrm>
            <a:off x="276409" y="773297"/>
            <a:ext cx="365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Mode collapse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5B0DD69-A5E0-1829-36AD-6D27F2CBDC1B}"/>
              </a:ext>
            </a:extLst>
          </p:cNvPr>
          <p:cNvGrpSpPr/>
          <p:nvPr/>
        </p:nvGrpSpPr>
        <p:grpSpPr>
          <a:xfrm>
            <a:off x="598618" y="1261894"/>
            <a:ext cx="3857449" cy="369332"/>
            <a:chOff x="598618" y="1261894"/>
            <a:chExt cx="3857449" cy="36933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B9575C8-7A60-586D-2158-A31001955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8618" y="1346976"/>
              <a:ext cx="199167" cy="199167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FE0BB6-25A2-630D-F8FF-44DAE1A64C26}"/>
                </a:ext>
              </a:extLst>
            </p:cNvPr>
            <p:cNvSpPr txBox="1"/>
            <p:nvPr/>
          </p:nvSpPr>
          <p:spPr>
            <a:xfrm>
              <a:off x="797785" y="1261894"/>
              <a:ext cx="3658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generates only few easy modes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93A07A-7866-524E-557C-365457F07019}"/>
              </a:ext>
            </a:extLst>
          </p:cNvPr>
          <p:cNvGrpSpPr/>
          <p:nvPr/>
        </p:nvGrpSpPr>
        <p:grpSpPr>
          <a:xfrm>
            <a:off x="638803" y="1677571"/>
            <a:ext cx="3851369" cy="369332"/>
            <a:chOff x="638803" y="1677571"/>
            <a:chExt cx="3851369" cy="369332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F6F1CF08-4DF1-1EF6-65D6-FFE62672DE06}"/>
                </a:ext>
              </a:extLst>
            </p:cNvPr>
            <p:cNvSpPr/>
            <p:nvPr/>
          </p:nvSpPr>
          <p:spPr>
            <a:xfrm>
              <a:off x="638803" y="1779078"/>
              <a:ext cx="193087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A4EE90-F8AE-2F7E-C7F8-6F8B1BBE1FB4}"/>
                </a:ext>
              </a:extLst>
            </p:cNvPr>
            <p:cNvSpPr txBox="1"/>
            <p:nvPr/>
          </p:nvSpPr>
          <p:spPr>
            <a:xfrm>
              <a:off x="831890" y="1677571"/>
              <a:ext cx="3658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 images are of a kind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2875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62F0F-3480-5526-7B56-C7A9DB00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2F2C6-8B52-A625-0799-4CFD2AAB1553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271FC-0DAE-3A54-1306-8BC53A399C49}"/>
              </a:ext>
            </a:extLst>
          </p:cNvPr>
          <p:cNvSpPr txBox="1"/>
          <p:nvPr/>
        </p:nvSpPr>
        <p:spPr>
          <a:xfrm>
            <a:off x="276409" y="773297"/>
            <a:ext cx="365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Mode collapse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193A16-C1F2-1DA5-D0E2-0AD5785FDBB4}"/>
              </a:ext>
            </a:extLst>
          </p:cNvPr>
          <p:cNvCxnSpPr>
            <a:cxnSpLocks/>
          </p:cNvCxnSpPr>
          <p:nvPr/>
        </p:nvCxnSpPr>
        <p:spPr>
          <a:xfrm>
            <a:off x="3910591" y="2673088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92CB5A-9F21-F3AE-1227-099A8CAEAD03}"/>
              </a:ext>
            </a:extLst>
          </p:cNvPr>
          <p:cNvSpPr txBox="1"/>
          <p:nvPr/>
        </p:nvSpPr>
        <p:spPr>
          <a:xfrm>
            <a:off x="4289797" y="2847791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8E675A-A57C-6FB3-8651-D23F1D622F34}"/>
              </a:ext>
            </a:extLst>
          </p:cNvPr>
          <p:cNvCxnSpPr>
            <a:cxnSpLocks/>
          </p:cNvCxnSpPr>
          <p:nvPr/>
        </p:nvCxnSpPr>
        <p:spPr>
          <a:xfrm>
            <a:off x="3910591" y="3042302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048DB49-574D-E380-A0B7-3CC597064DC5}"/>
              </a:ext>
            </a:extLst>
          </p:cNvPr>
          <p:cNvSpPr txBox="1"/>
          <p:nvPr/>
        </p:nvSpPr>
        <p:spPr>
          <a:xfrm>
            <a:off x="4289797" y="2468027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C42DBC-224B-8FEE-B1D7-B975125697F9}"/>
              </a:ext>
            </a:extLst>
          </p:cNvPr>
          <p:cNvCxnSpPr>
            <a:cxnSpLocks/>
          </p:cNvCxnSpPr>
          <p:nvPr/>
        </p:nvCxnSpPr>
        <p:spPr>
          <a:xfrm>
            <a:off x="638803" y="3437108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C5B180-9069-B405-280A-9F5AFF060CB5}"/>
              </a:ext>
            </a:extLst>
          </p:cNvPr>
          <p:cNvSpPr/>
          <p:nvPr/>
        </p:nvSpPr>
        <p:spPr>
          <a:xfrm>
            <a:off x="1166138" y="2753062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12CEC79-1645-810A-BDB6-7E64D228E16C}"/>
              </a:ext>
            </a:extLst>
          </p:cNvPr>
          <p:cNvSpPr/>
          <p:nvPr/>
        </p:nvSpPr>
        <p:spPr>
          <a:xfrm>
            <a:off x="2093878" y="3059668"/>
            <a:ext cx="1066097" cy="36933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6A2928-5EDB-8850-CBF3-7F07F965DA2C}"/>
              </a:ext>
            </a:extLst>
          </p:cNvPr>
          <p:cNvSpPr/>
          <p:nvPr/>
        </p:nvSpPr>
        <p:spPr>
          <a:xfrm>
            <a:off x="1097115" y="3059666"/>
            <a:ext cx="1066097" cy="36933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7FA9548-2145-DEB1-CFA5-38B4E0DE6DCA}"/>
              </a:ext>
            </a:extLst>
          </p:cNvPr>
          <p:cNvGrpSpPr/>
          <p:nvPr/>
        </p:nvGrpSpPr>
        <p:grpSpPr>
          <a:xfrm>
            <a:off x="598618" y="1261894"/>
            <a:ext cx="3857449" cy="369332"/>
            <a:chOff x="598618" y="1261894"/>
            <a:chExt cx="3857449" cy="36933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945AC3C-BA3C-5915-CA17-F4E015662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8618" y="1346976"/>
              <a:ext cx="199167" cy="199167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620F92-4EA1-24B1-D7BE-4F95DA651509}"/>
                </a:ext>
              </a:extLst>
            </p:cNvPr>
            <p:cNvSpPr txBox="1"/>
            <p:nvPr/>
          </p:nvSpPr>
          <p:spPr>
            <a:xfrm>
              <a:off x="797785" y="1261894"/>
              <a:ext cx="3658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generates only few easy modes</a:t>
              </a: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2946D85-51AF-DBC8-0F7B-5F1ADEE0DB67}"/>
              </a:ext>
            </a:extLst>
          </p:cNvPr>
          <p:cNvSpPr/>
          <p:nvPr/>
        </p:nvSpPr>
        <p:spPr>
          <a:xfrm>
            <a:off x="2626926" y="3316555"/>
            <a:ext cx="928050" cy="10290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60BEB22-793B-D8EA-0A3D-E5C31A201050}"/>
              </a:ext>
            </a:extLst>
          </p:cNvPr>
          <p:cNvGrpSpPr/>
          <p:nvPr/>
        </p:nvGrpSpPr>
        <p:grpSpPr>
          <a:xfrm>
            <a:off x="638803" y="1677571"/>
            <a:ext cx="3851369" cy="369332"/>
            <a:chOff x="638803" y="1677571"/>
            <a:chExt cx="3851369" cy="369332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2ED5F5BC-4F1A-58C9-7F22-81A89041D1B5}"/>
                </a:ext>
              </a:extLst>
            </p:cNvPr>
            <p:cNvSpPr/>
            <p:nvPr/>
          </p:nvSpPr>
          <p:spPr>
            <a:xfrm>
              <a:off x="638803" y="1779078"/>
              <a:ext cx="193087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855C28-85CC-ECE2-BC19-88A61F2222E8}"/>
                </a:ext>
              </a:extLst>
            </p:cNvPr>
            <p:cNvSpPr txBox="1"/>
            <p:nvPr/>
          </p:nvSpPr>
          <p:spPr>
            <a:xfrm>
              <a:off x="831890" y="1677571"/>
              <a:ext cx="3658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 images are of a kind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741DAA3-3160-40AA-A806-4E88622E97F3}"/>
              </a:ext>
            </a:extLst>
          </p:cNvPr>
          <p:cNvSpPr txBox="1"/>
          <p:nvPr/>
        </p:nvSpPr>
        <p:spPr>
          <a:xfrm>
            <a:off x="598617" y="4295323"/>
            <a:ext cx="674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How should       react to these realistic generated cats?                   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9B1604D-4871-9EFB-9219-6C0403927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084" y="4353069"/>
            <a:ext cx="246356" cy="2132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6E0291C-A7F9-7CFB-00A1-BD4DEAF9CDBB}"/>
              </a:ext>
            </a:extLst>
          </p:cNvPr>
          <p:cNvSpPr txBox="1"/>
          <p:nvPr/>
        </p:nvSpPr>
        <p:spPr>
          <a:xfrm>
            <a:off x="797785" y="3871279"/>
            <a:ext cx="612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:I am excellent at drawing cat! Let’s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only draw cat                  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B1CF4FE-4B56-1D29-CC38-6D4E7C37B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18" y="3947883"/>
            <a:ext cx="199167" cy="1991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DF81E6C-E4B6-96AC-59FE-096F57AFD608}"/>
              </a:ext>
            </a:extLst>
          </p:cNvPr>
          <p:cNvSpPr txBox="1"/>
          <p:nvPr/>
        </p:nvSpPr>
        <p:spPr>
          <a:xfrm>
            <a:off x="1408067" y="2302262"/>
            <a:ext cx="631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cat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7FD4A8-A1F5-A048-AFE9-7EE078DD4B72}"/>
              </a:ext>
            </a:extLst>
          </p:cNvPr>
          <p:cNvSpPr txBox="1"/>
          <p:nvPr/>
        </p:nvSpPr>
        <p:spPr>
          <a:xfrm>
            <a:off x="2412422" y="2643733"/>
            <a:ext cx="747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dog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7CAA28-2159-9D57-FD7D-321F34294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767" y="3318239"/>
            <a:ext cx="263710" cy="22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14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6EC6-DAB9-E0E4-D2C4-D6CE757C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DF7A77-F52F-BA1B-CB58-436E9E82C5F0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C87C6-CCB3-A54A-FB07-5B4CE1BAFD72}"/>
              </a:ext>
            </a:extLst>
          </p:cNvPr>
          <p:cNvSpPr txBox="1"/>
          <p:nvPr/>
        </p:nvSpPr>
        <p:spPr>
          <a:xfrm>
            <a:off x="276409" y="773297"/>
            <a:ext cx="365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Mode collapse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FA8C78-B588-4176-5962-9585217E7B51}"/>
              </a:ext>
            </a:extLst>
          </p:cNvPr>
          <p:cNvCxnSpPr>
            <a:cxnSpLocks/>
          </p:cNvCxnSpPr>
          <p:nvPr/>
        </p:nvCxnSpPr>
        <p:spPr>
          <a:xfrm>
            <a:off x="3910591" y="2673088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E9A2C1-0265-2D0D-28D5-2281954D9390}"/>
              </a:ext>
            </a:extLst>
          </p:cNvPr>
          <p:cNvSpPr txBox="1"/>
          <p:nvPr/>
        </p:nvSpPr>
        <p:spPr>
          <a:xfrm>
            <a:off x="4289797" y="2847791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E70D94-A99B-DCC0-BD5B-96A0A0769758}"/>
              </a:ext>
            </a:extLst>
          </p:cNvPr>
          <p:cNvCxnSpPr>
            <a:cxnSpLocks/>
          </p:cNvCxnSpPr>
          <p:nvPr/>
        </p:nvCxnSpPr>
        <p:spPr>
          <a:xfrm>
            <a:off x="3910591" y="3042302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9E40FF-7D21-5543-AC62-3047C7A72055}"/>
              </a:ext>
            </a:extLst>
          </p:cNvPr>
          <p:cNvSpPr txBox="1"/>
          <p:nvPr/>
        </p:nvSpPr>
        <p:spPr>
          <a:xfrm>
            <a:off x="4289797" y="2468027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8F5E59-D554-E905-FCCC-C9922F9FBB4F}"/>
              </a:ext>
            </a:extLst>
          </p:cNvPr>
          <p:cNvCxnSpPr>
            <a:cxnSpLocks/>
          </p:cNvCxnSpPr>
          <p:nvPr/>
        </p:nvCxnSpPr>
        <p:spPr>
          <a:xfrm>
            <a:off x="638803" y="3437108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23B6382-9D09-EB4C-269E-59F22268AC4F}"/>
              </a:ext>
            </a:extLst>
          </p:cNvPr>
          <p:cNvSpPr/>
          <p:nvPr/>
        </p:nvSpPr>
        <p:spPr>
          <a:xfrm>
            <a:off x="1166138" y="2753062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9341B73-5475-B561-49B1-52D0DB17B909}"/>
              </a:ext>
            </a:extLst>
          </p:cNvPr>
          <p:cNvSpPr/>
          <p:nvPr/>
        </p:nvSpPr>
        <p:spPr>
          <a:xfrm>
            <a:off x="2093878" y="3059668"/>
            <a:ext cx="1066097" cy="36933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440AA84-F3C4-B1CB-7399-2A9E239C3C51}"/>
              </a:ext>
            </a:extLst>
          </p:cNvPr>
          <p:cNvSpPr/>
          <p:nvPr/>
        </p:nvSpPr>
        <p:spPr>
          <a:xfrm>
            <a:off x="1097115" y="3059666"/>
            <a:ext cx="1066097" cy="36933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DB9DFC-3E7A-94C5-5CD4-7EC5FFC63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767" y="3318239"/>
            <a:ext cx="263710" cy="22151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135AE69-019E-7AD6-CD1E-A27A7F4C1C76}"/>
              </a:ext>
            </a:extLst>
          </p:cNvPr>
          <p:cNvGrpSpPr/>
          <p:nvPr/>
        </p:nvGrpSpPr>
        <p:grpSpPr>
          <a:xfrm>
            <a:off x="598618" y="1261894"/>
            <a:ext cx="3857449" cy="369332"/>
            <a:chOff x="598618" y="1261894"/>
            <a:chExt cx="3857449" cy="36933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6E93D85-D560-51A1-54C2-F319B5DB8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618" y="1346976"/>
              <a:ext cx="199167" cy="199167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A99953-266E-6956-7E2C-A6E8CE3EAF80}"/>
                </a:ext>
              </a:extLst>
            </p:cNvPr>
            <p:cNvSpPr txBox="1"/>
            <p:nvPr/>
          </p:nvSpPr>
          <p:spPr>
            <a:xfrm>
              <a:off x="797785" y="1261894"/>
              <a:ext cx="3658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generates only few easy modes</a:t>
              </a: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36B5A3E-761F-9C18-AFC9-C46CAE73ACA8}"/>
              </a:ext>
            </a:extLst>
          </p:cNvPr>
          <p:cNvSpPr/>
          <p:nvPr/>
        </p:nvSpPr>
        <p:spPr>
          <a:xfrm>
            <a:off x="2626926" y="3316555"/>
            <a:ext cx="928050" cy="10290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224C8E8-68B9-92B7-21D0-7F589ED807F7}"/>
              </a:ext>
            </a:extLst>
          </p:cNvPr>
          <p:cNvGrpSpPr/>
          <p:nvPr/>
        </p:nvGrpSpPr>
        <p:grpSpPr>
          <a:xfrm>
            <a:off x="638803" y="1677571"/>
            <a:ext cx="3851369" cy="369332"/>
            <a:chOff x="638803" y="1677571"/>
            <a:chExt cx="3851369" cy="369332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DB31F565-4894-F487-E258-AE04D269DA26}"/>
                </a:ext>
              </a:extLst>
            </p:cNvPr>
            <p:cNvSpPr/>
            <p:nvPr/>
          </p:nvSpPr>
          <p:spPr>
            <a:xfrm>
              <a:off x="638803" y="1779078"/>
              <a:ext cx="193087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B43EABF-19A6-CA21-7FE9-6E486CC13FDA}"/>
                </a:ext>
              </a:extLst>
            </p:cNvPr>
            <p:cNvSpPr txBox="1"/>
            <p:nvPr/>
          </p:nvSpPr>
          <p:spPr>
            <a:xfrm>
              <a:off x="831890" y="1677571"/>
              <a:ext cx="3658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 images are of a kind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3676BF9-4BFF-06CF-A913-045CEE5155A0}"/>
              </a:ext>
            </a:extLst>
          </p:cNvPr>
          <p:cNvSpPr txBox="1"/>
          <p:nvPr/>
        </p:nvSpPr>
        <p:spPr>
          <a:xfrm>
            <a:off x="598617" y="4295323"/>
            <a:ext cx="674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How should       react to these realistic generated cats?                   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D8F0851-5162-742A-574E-F69702844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084" y="4353069"/>
            <a:ext cx="246356" cy="2132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9D942F-761B-1439-63E3-3CBFF4017806}"/>
              </a:ext>
            </a:extLst>
          </p:cNvPr>
          <p:cNvSpPr txBox="1"/>
          <p:nvPr/>
        </p:nvSpPr>
        <p:spPr>
          <a:xfrm>
            <a:off x="797785" y="3871279"/>
            <a:ext cx="612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:I am excellent at drawing cat! Let’s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only draw cat                  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F69C27A-F9AE-B542-6CAB-CBFD64610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8" y="3947883"/>
            <a:ext cx="199167" cy="1991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C90E3CD-3AE8-A4C2-3A85-F48F20FF9232}"/>
              </a:ext>
            </a:extLst>
          </p:cNvPr>
          <p:cNvSpPr txBox="1"/>
          <p:nvPr/>
        </p:nvSpPr>
        <p:spPr>
          <a:xfrm>
            <a:off x="1408067" y="2302262"/>
            <a:ext cx="631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cat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1CC164-E024-1E96-A3B5-A20CBBB61C89}"/>
              </a:ext>
            </a:extLst>
          </p:cNvPr>
          <p:cNvSpPr txBox="1"/>
          <p:nvPr/>
        </p:nvSpPr>
        <p:spPr>
          <a:xfrm>
            <a:off x="2412422" y="2643733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dog</a:t>
            </a:r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0191F23-EEA7-724E-64A7-D8F8F5B88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17" y="4776152"/>
            <a:ext cx="2804499" cy="64694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9D35E875-C9F6-184C-716C-4A866C88E3F1}"/>
              </a:ext>
            </a:extLst>
          </p:cNvPr>
          <p:cNvGrpSpPr/>
          <p:nvPr/>
        </p:nvGrpSpPr>
        <p:grpSpPr>
          <a:xfrm>
            <a:off x="3669609" y="4914345"/>
            <a:ext cx="6160191" cy="369332"/>
            <a:chOff x="3669609" y="5207780"/>
            <a:chExt cx="6160191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64C4189-D957-8E8D-0767-D7913AAD84AC}"/>
                </a:ext>
              </a:extLst>
            </p:cNvPr>
            <p:cNvSpPr txBox="1"/>
            <p:nvPr/>
          </p:nvSpPr>
          <p:spPr>
            <a:xfrm>
              <a:off x="3865696" y="5207780"/>
              <a:ext cx="5964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Every time       sees a cat, less likely to say it’s true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F1F806A-4976-E4FB-7733-83953E2BB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4804" y="5285814"/>
              <a:ext cx="246356" cy="213264"/>
            </a:xfrm>
            <a:prstGeom prst="rect">
              <a:avLst/>
            </a:prstGeom>
          </p:spPr>
        </p:pic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56BD8EB8-59F0-17D5-6BB4-70A7ABAAC0BA}"/>
                </a:ext>
              </a:extLst>
            </p:cNvPr>
            <p:cNvSpPr/>
            <p:nvPr/>
          </p:nvSpPr>
          <p:spPr>
            <a:xfrm>
              <a:off x="3669609" y="5319697"/>
              <a:ext cx="193087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11B8023-A8D2-3634-CB59-A26018B33438}"/>
              </a:ext>
            </a:extLst>
          </p:cNvPr>
          <p:cNvSpPr txBox="1"/>
          <p:nvPr/>
        </p:nvSpPr>
        <p:spPr>
          <a:xfrm>
            <a:off x="598617" y="5606817"/>
            <a:ext cx="694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Better solutions? Can generator get some “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constraints</a:t>
            </a:r>
            <a:r>
              <a:rPr lang="en-US" dirty="0">
                <a:latin typeface="Arial Rounded MT Bold" panose="020F0704030504030204" pitchFamily="34" charset="77"/>
              </a:rPr>
              <a:t>”?</a:t>
            </a:r>
          </a:p>
        </p:txBody>
      </p:sp>
    </p:spTree>
    <p:extLst>
      <p:ext uri="{BB962C8B-B14F-4D97-AF65-F5344CB8AC3E}">
        <p14:creationId xmlns:p14="http://schemas.microsoft.com/office/powerpoint/2010/main" val="2768335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302C1-CB3C-5F73-F783-1095D7AE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F52917-2F7C-A6B7-0720-FD842E016637}"/>
              </a:ext>
            </a:extLst>
          </p:cNvPr>
          <p:cNvSpPr txBox="1"/>
          <p:nvPr/>
        </p:nvSpPr>
        <p:spPr>
          <a:xfrm>
            <a:off x="276411" y="260293"/>
            <a:ext cx="29178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Conditional GAN - CGAN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8F2DE0-7877-CFCF-AB70-A619500DFFE7}"/>
              </a:ext>
            </a:extLst>
          </p:cNvPr>
          <p:cNvCxnSpPr>
            <a:cxnSpLocks/>
          </p:cNvCxnSpPr>
          <p:nvPr/>
        </p:nvCxnSpPr>
        <p:spPr>
          <a:xfrm>
            <a:off x="10130416" y="631119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243695-4F82-56A2-6BE0-E234AB36C656}"/>
              </a:ext>
            </a:extLst>
          </p:cNvPr>
          <p:cNvSpPr txBox="1"/>
          <p:nvPr/>
        </p:nvSpPr>
        <p:spPr>
          <a:xfrm>
            <a:off x="10509622" y="805822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488A1F-15FF-F64B-F72C-0F043CC00F42}"/>
              </a:ext>
            </a:extLst>
          </p:cNvPr>
          <p:cNvCxnSpPr>
            <a:cxnSpLocks/>
          </p:cNvCxnSpPr>
          <p:nvPr/>
        </p:nvCxnSpPr>
        <p:spPr>
          <a:xfrm>
            <a:off x="10130416" y="1000333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A9196D-D771-15EC-9755-B79B11A7CD5D}"/>
              </a:ext>
            </a:extLst>
          </p:cNvPr>
          <p:cNvSpPr txBox="1"/>
          <p:nvPr/>
        </p:nvSpPr>
        <p:spPr>
          <a:xfrm>
            <a:off x="10509622" y="426058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0CE278-40E9-3F79-FD4F-FF21504DCE26}"/>
              </a:ext>
            </a:extLst>
          </p:cNvPr>
          <p:cNvCxnSpPr>
            <a:cxnSpLocks/>
          </p:cNvCxnSpPr>
          <p:nvPr/>
        </p:nvCxnSpPr>
        <p:spPr>
          <a:xfrm>
            <a:off x="6858628" y="1395139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2E6A1-16E4-5759-034B-94A14070307F}"/>
              </a:ext>
            </a:extLst>
          </p:cNvPr>
          <p:cNvSpPr/>
          <p:nvPr/>
        </p:nvSpPr>
        <p:spPr>
          <a:xfrm>
            <a:off x="7385963" y="711093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469C32C-4D4A-25F1-10ED-A92F8869FA7F}"/>
              </a:ext>
            </a:extLst>
          </p:cNvPr>
          <p:cNvSpPr/>
          <p:nvPr/>
        </p:nvSpPr>
        <p:spPr>
          <a:xfrm>
            <a:off x="8313703" y="1017699"/>
            <a:ext cx="1066097" cy="36933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BE9F714-7645-3480-1EF4-391AD2790D68}"/>
              </a:ext>
            </a:extLst>
          </p:cNvPr>
          <p:cNvSpPr/>
          <p:nvPr/>
        </p:nvSpPr>
        <p:spPr>
          <a:xfrm>
            <a:off x="7316940" y="1017697"/>
            <a:ext cx="1066097" cy="36933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513C94-F2C1-2097-C36D-232A775DD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592" y="1276270"/>
            <a:ext cx="263710" cy="22151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4B3AB4C-204E-B39B-38F6-778D73AA52F5}"/>
              </a:ext>
            </a:extLst>
          </p:cNvPr>
          <p:cNvSpPr/>
          <p:nvPr/>
        </p:nvSpPr>
        <p:spPr>
          <a:xfrm>
            <a:off x="8846751" y="1274586"/>
            <a:ext cx="928050" cy="10290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527428-6A42-E72F-91DA-F84E0DFE7BD6}"/>
              </a:ext>
            </a:extLst>
          </p:cNvPr>
          <p:cNvSpPr txBox="1"/>
          <p:nvPr/>
        </p:nvSpPr>
        <p:spPr>
          <a:xfrm>
            <a:off x="797785" y="905254"/>
            <a:ext cx="612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:I am excellent at drawing cat! Let’s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only draw cat                  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2B14B08-2D34-09BD-0BF5-D741F8DE7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8" y="981858"/>
            <a:ext cx="199167" cy="1991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C68B980-34FF-4B2F-BF3F-FCC008B07505}"/>
              </a:ext>
            </a:extLst>
          </p:cNvPr>
          <p:cNvSpPr txBox="1"/>
          <p:nvPr/>
        </p:nvSpPr>
        <p:spPr>
          <a:xfrm>
            <a:off x="7627892" y="260293"/>
            <a:ext cx="631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cat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F89934-1022-FAAD-FD0D-31CBE398336A}"/>
              </a:ext>
            </a:extLst>
          </p:cNvPr>
          <p:cNvSpPr txBox="1"/>
          <p:nvPr/>
        </p:nvSpPr>
        <p:spPr>
          <a:xfrm>
            <a:off x="8632247" y="601764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42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7F49-C0D8-6053-1F48-48E4DA97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25532A-EC3A-FAF9-5D77-AF952C1B3627}"/>
              </a:ext>
            </a:extLst>
          </p:cNvPr>
          <p:cNvSpPr txBox="1"/>
          <p:nvPr/>
        </p:nvSpPr>
        <p:spPr>
          <a:xfrm>
            <a:off x="276411" y="260293"/>
            <a:ext cx="29178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Conditional GAN - CGAN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092238-FE7B-6F6A-4E1B-BAAF9215F1DA}"/>
              </a:ext>
            </a:extLst>
          </p:cNvPr>
          <p:cNvCxnSpPr>
            <a:cxnSpLocks/>
          </p:cNvCxnSpPr>
          <p:nvPr/>
        </p:nvCxnSpPr>
        <p:spPr>
          <a:xfrm>
            <a:off x="10130416" y="631119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434D93A-BF27-8664-FCD0-AE748C1BFC16}"/>
              </a:ext>
            </a:extLst>
          </p:cNvPr>
          <p:cNvSpPr txBox="1"/>
          <p:nvPr/>
        </p:nvSpPr>
        <p:spPr>
          <a:xfrm>
            <a:off x="10509622" y="805822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295301-F62A-51E9-6E68-9CB3C859FE8B}"/>
              </a:ext>
            </a:extLst>
          </p:cNvPr>
          <p:cNvCxnSpPr>
            <a:cxnSpLocks/>
          </p:cNvCxnSpPr>
          <p:nvPr/>
        </p:nvCxnSpPr>
        <p:spPr>
          <a:xfrm>
            <a:off x="10130416" y="1000333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07234A-4C71-D6C7-5CBB-E2634C2A112E}"/>
              </a:ext>
            </a:extLst>
          </p:cNvPr>
          <p:cNvSpPr txBox="1"/>
          <p:nvPr/>
        </p:nvSpPr>
        <p:spPr>
          <a:xfrm>
            <a:off x="10509622" y="426058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B036B6-E195-96F6-9304-9527A3CF7BF6}"/>
              </a:ext>
            </a:extLst>
          </p:cNvPr>
          <p:cNvCxnSpPr>
            <a:cxnSpLocks/>
          </p:cNvCxnSpPr>
          <p:nvPr/>
        </p:nvCxnSpPr>
        <p:spPr>
          <a:xfrm>
            <a:off x="6858628" y="1395139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2F395F5-5505-FEBE-61CC-574BCFA69006}"/>
              </a:ext>
            </a:extLst>
          </p:cNvPr>
          <p:cNvSpPr/>
          <p:nvPr/>
        </p:nvSpPr>
        <p:spPr>
          <a:xfrm>
            <a:off x="7385963" y="711093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FAA4F5-9D1F-1733-9E44-1A9ACF7260A1}"/>
              </a:ext>
            </a:extLst>
          </p:cNvPr>
          <p:cNvSpPr/>
          <p:nvPr/>
        </p:nvSpPr>
        <p:spPr>
          <a:xfrm>
            <a:off x="8313703" y="1017699"/>
            <a:ext cx="1066097" cy="36933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1D68CBB-0FD9-D204-0625-965EE9F54F1A}"/>
              </a:ext>
            </a:extLst>
          </p:cNvPr>
          <p:cNvSpPr/>
          <p:nvPr/>
        </p:nvSpPr>
        <p:spPr>
          <a:xfrm>
            <a:off x="7316940" y="1017697"/>
            <a:ext cx="1066097" cy="36933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5B1B04C-13A9-CD11-C4BA-194E8BC3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592" y="1276270"/>
            <a:ext cx="263710" cy="22151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416578D-72D8-1A74-B83D-3F3B383430D6}"/>
              </a:ext>
            </a:extLst>
          </p:cNvPr>
          <p:cNvSpPr/>
          <p:nvPr/>
        </p:nvSpPr>
        <p:spPr>
          <a:xfrm>
            <a:off x="8846751" y="1274586"/>
            <a:ext cx="928050" cy="10290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F21203-2D7E-252B-DCAD-D110918BC2A4}"/>
              </a:ext>
            </a:extLst>
          </p:cNvPr>
          <p:cNvSpPr txBox="1"/>
          <p:nvPr/>
        </p:nvSpPr>
        <p:spPr>
          <a:xfrm>
            <a:off x="797785" y="905254"/>
            <a:ext cx="612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:I am excellent at drawing cat! Let’s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only draw cat                  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01C732E-4E96-45A1-EB90-D437F46F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8" y="981858"/>
            <a:ext cx="199167" cy="1991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243A959-906D-B73C-978C-B08A4C0BD13F}"/>
              </a:ext>
            </a:extLst>
          </p:cNvPr>
          <p:cNvSpPr txBox="1"/>
          <p:nvPr/>
        </p:nvSpPr>
        <p:spPr>
          <a:xfrm>
            <a:off x="7627892" y="260293"/>
            <a:ext cx="631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cat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585E5-CCDB-C20F-66B9-947A2D535F03}"/>
              </a:ext>
            </a:extLst>
          </p:cNvPr>
          <p:cNvSpPr txBox="1"/>
          <p:nvPr/>
        </p:nvSpPr>
        <p:spPr>
          <a:xfrm>
            <a:off x="8632247" y="601764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A01D3F-3690-D576-EEEB-1667091079A1}"/>
              </a:ext>
            </a:extLst>
          </p:cNvPr>
          <p:cNvSpPr txBox="1"/>
          <p:nvPr/>
        </p:nvSpPr>
        <p:spPr>
          <a:xfrm>
            <a:off x="521560" y="1626819"/>
            <a:ext cx="640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Assume we have labels {cat/ dog} on the training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7680-8487-557D-DFA1-1D63C49D4C67}"/>
              </a:ext>
            </a:extLst>
          </p:cNvPr>
          <p:cNvSpPr txBox="1"/>
          <p:nvPr/>
        </p:nvSpPr>
        <p:spPr>
          <a:xfrm>
            <a:off x="521560" y="2043164"/>
            <a:ext cx="640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tell both       and       the class information!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0E92A9-8F36-B345-89F4-D212C4D5D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058" y="2128246"/>
            <a:ext cx="230071" cy="199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9C45E0-C1EC-62E5-0778-9E4A6C1B7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918" y="2128246"/>
            <a:ext cx="199167" cy="19916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4EE604C-0536-50BA-02EB-6148A67B97E3}"/>
              </a:ext>
            </a:extLst>
          </p:cNvPr>
          <p:cNvSpPr txBox="1"/>
          <p:nvPr/>
        </p:nvSpPr>
        <p:spPr>
          <a:xfrm>
            <a:off x="11211022" y="3064090"/>
            <a:ext cx="1355655" cy="238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R or G?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829C122-02CB-78CB-86A7-8FC103C43D49}"/>
              </a:ext>
            </a:extLst>
          </p:cNvPr>
          <p:cNvGrpSpPr/>
          <p:nvPr/>
        </p:nvGrpSpPr>
        <p:grpSpPr>
          <a:xfrm>
            <a:off x="5991931" y="2512290"/>
            <a:ext cx="5219092" cy="2317811"/>
            <a:chOff x="6593633" y="2122299"/>
            <a:chExt cx="4444043" cy="197361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4CF4034-AACE-A93B-5721-533BD852D171}"/>
                </a:ext>
              </a:extLst>
            </p:cNvPr>
            <p:cNvSpPr/>
            <p:nvPr/>
          </p:nvSpPr>
          <p:spPr>
            <a:xfrm rot="16200000">
              <a:off x="6493838" y="2354912"/>
              <a:ext cx="502705" cy="303115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rapezoid 48">
              <a:extLst>
                <a:ext uri="{FF2B5EF4-FFF2-40B4-BE49-F238E27FC236}">
                  <a16:creationId xmlns:a16="http://schemas.microsoft.com/office/drawing/2014/main" id="{A4914EFC-C669-2FA4-9DA9-23E67E5FC773}"/>
                </a:ext>
              </a:extLst>
            </p:cNvPr>
            <p:cNvSpPr/>
            <p:nvPr/>
          </p:nvSpPr>
          <p:spPr>
            <a:xfrm rot="16200000" flipH="1">
              <a:off x="7023379" y="2125110"/>
              <a:ext cx="745238" cy="797919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C8F96BF-CDA8-B7AE-5ACD-289525407A5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5797" y="2760847"/>
              <a:ext cx="29187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rapezoid 54">
              <a:extLst>
                <a:ext uri="{FF2B5EF4-FFF2-40B4-BE49-F238E27FC236}">
                  <a16:creationId xmlns:a16="http://schemas.microsoft.com/office/drawing/2014/main" id="{6A0B95CD-C94A-414C-A686-0D87862767BA}"/>
                </a:ext>
              </a:extLst>
            </p:cNvPr>
            <p:cNvSpPr/>
            <p:nvPr/>
          </p:nvSpPr>
          <p:spPr>
            <a:xfrm rot="5400000">
              <a:off x="9728259" y="2271964"/>
              <a:ext cx="1076208" cy="971717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CB260F2-F363-1709-3567-3BB67BEB83CB}"/>
                </a:ext>
              </a:extLst>
            </p:cNvPr>
            <p:cNvSpPr txBox="1"/>
            <p:nvPr/>
          </p:nvSpPr>
          <p:spPr>
            <a:xfrm>
              <a:off x="7794958" y="3726577"/>
              <a:ext cx="3074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B7CEB33-17A0-0846-9E97-FBF3B0C67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8762" y="2367579"/>
              <a:ext cx="292762" cy="292762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95DD5CA-2DD3-18E9-44E8-51AC3C205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48943" y="2552166"/>
              <a:ext cx="376928" cy="326296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118C8FF2-340D-88A9-A754-6675DA8C7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38622" y="2122299"/>
              <a:ext cx="724360" cy="725203"/>
            </a:xfrm>
            <a:prstGeom prst="rect">
              <a:avLst/>
            </a:prstGeom>
          </p:spPr>
        </p:pic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BA138F7-4231-5BD1-4517-C7A0BC5434D6}"/>
                </a:ext>
              </a:extLst>
            </p:cNvPr>
            <p:cNvCxnSpPr>
              <a:cxnSpLocks/>
            </p:cNvCxnSpPr>
            <p:nvPr/>
          </p:nvCxnSpPr>
          <p:spPr>
            <a:xfrm>
              <a:off x="8594810" y="2422188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50777E8-BAFA-128B-18C1-574C7FB1080F}"/>
                </a:ext>
              </a:extLst>
            </p:cNvPr>
            <p:cNvCxnSpPr>
              <a:cxnSpLocks/>
            </p:cNvCxnSpPr>
            <p:nvPr/>
          </p:nvCxnSpPr>
          <p:spPr>
            <a:xfrm>
              <a:off x="8594810" y="3329012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DCB1D32-C3B0-E6DA-1D19-5E71133B8B34}"/>
                </a:ext>
              </a:extLst>
            </p:cNvPr>
            <p:cNvCxnSpPr>
              <a:cxnSpLocks/>
            </p:cNvCxnSpPr>
            <p:nvPr/>
          </p:nvCxnSpPr>
          <p:spPr>
            <a:xfrm>
              <a:off x="9388766" y="2745524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6D0E092-2180-305E-D837-8748DBFAC0E3}"/>
                </a:ext>
              </a:extLst>
            </p:cNvPr>
            <p:cNvCxnSpPr>
              <a:cxnSpLocks/>
              <a:stCxn id="68" idx="6"/>
              <a:endCxn id="70" idx="1"/>
            </p:cNvCxnSpPr>
            <p:nvPr/>
          </p:nvCxnSpPr>
          <p:spPr>
            <a:xfrm>
              <a:off x="9017940" y="2422188"/>
              <a:ext cx="345511" cy="3094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1F87A2A-C339-B88D-047F-8DCF76CC92F1}"/>
                </a:ext>
              </a:extLst>
            </p:cNvPr>
            <p:cNvSpPr/>
            <p:nvPr/>
          </p:nvSpPr>
          <p:spPr>
            <a:xfrm>
              <a:off x="8966388" y="2385166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17B526D-C3FC-C54F-653A-D53DA2A3D81E}"/>
                </a:ext>
              </a:extLst>
            </p:cNvPr>
            <p:cNvSpPr/>
            <p:nvPr/>
          </p:nvSpPr>
          <p:spPr>
            <a:xfrm>
              <a:off x="8966388" y="3291991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297E786-FBEF-F3F3-BA9D-54B31EC71949}"/>
                </a:ext>
              </a:extLst>
            </p:cNvPr>
            <p:cNvSpPr/>
            <p:nvPr/>
          </p:nvSpPr>
          <p:spPr>
            <a:xfrm>
              <a:off x="9355901" y="2720801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B8DC2B9-32DE-1F60-8FAD-6195EEE22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49988" y="2975276"/>
              <a:ext cx="744822" cy="7481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6946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67F35-5604-E212-3BDF-3DAEBE7D8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862DD2-AC9E-B954-6208-E4DB6117DA93}"/>
              </a:ext>
            </a:extLst>
          </p:cNvPr>
          <p:cNvSpPr txBox="1"/>
          <p:nvPr/>
        </p:nvSpPr>
        <p:spPr>
          <a:xfrm>
            <a:off x="276411" y="260293"/>
            <a:ext cx="29178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Conditional GAN - CGAN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2B270F-CABC-1C8B-3527-136EA3AA8F75}"/>
              </a:ext>
            </a:extLst>
          </p:cNvPr>
          <p:cNvCxnSpPr>
            <a:cxnSpLocks/>
          </p:cNvCxnSpPr>
          <p:nvPr/>
        </p:nvCxnSpPr>
        <p:spPr>
          <a:xfrm>
            <a:off x="10130416" y="631119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F86BC3-FC30-DC76-82AD-C52F081BFCA7}"/>
              </a:ext>
            </a:extLst>
          </p:cNvPr>
          <p:cNvSpPr txBox="1"/>
          <p:nvPr/>
        </p:nvSpPr>
        <p:spPr>
          <a:xfrm>
            <a:off x="10509622" y="805822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51BC46-9FBD-7E8A-9016-972BDB2ACFD3}"/>
              </a:ext>
            </a:extLst>
          </p:cNvPr>
          <p:cNvCxnSpPr>
            <a:cxnSpLocks/>
          </p:cNvCxnSpPr>
          <p:nvPr/>
        </p:nvCxnSpPr>
        <p:spPr>
          <a:xfrm>
            <a:off x="10130416" y="1000333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0D4BCB9-D1FA-3FD5-F41A-607A7BD9CA40}"/>
              </a:ext>
            </a:extLst>
          </p:cNvPr>
          <p:cNvSpPr txBox="1"/>
          <p:nvPr/>
        </p:nvSpPr>
        <p:spPr>
          <a:xfrm>
            <a:off x="10509622" y="426058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84D45F-38BB-1D81-9F43-1B084B0ADB34}"/>
              </a:ext>
            </a:extLst>
          </p:cNvPr>
          <p:cNvCxnSpPr>
            <a:cxnSpLocks/>
          </p:cNvCxnSpPr>
          <p:nvPr/>
        </p:nvCxnSpPr>
        <p:spPr>
          <a:xfrm>
            <a:off x="6858628" y="1395139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CAE618F-FA9B-ADF4-BD56-94B2715B5DC2}"/>
              </a:ext>
            </a:extLst>
          </p:cNvPr>
          <p:cNvSpPr/>
          <p:nvPr/>
        </p:nvSpPr>
        <p:spPr>
          <a:xfrm>
            <a:off x="7385963" y="711093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E0EF094-20F6-3C54-3C18-278109117F3D}"/>
              </a:ext>
            </a:extLst>
          </p:cNvPr>
          <p:cNvSpPr/>
          <p:nvPr/>
        </p:nvSpPr>
        <p:spPr>
          <a:xfrm>
            <a:off x="8313703" y="1017699"/>
            <a:ext cx="1066097" cy="36933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9B15DE-BDCB-89CF-4358-A08BD6DB66C6}"/>
              </a:ext>
            </a:extLst>
          </p:cNvPr>
          <p:cNvSpPr/>
          <p:nvPr/>
        </p:nvSpPr>
        <p:spPr>
          <a:xfrm>
            <a:off x="7316940" y="1017697"/>
            <a:ext cx="1066097" cy="36933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7E1569-F873-25E9-290B-EA7A300DA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592" y="1276270"/>
            <a:ext cx="263710" cy="22151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78976C4-C765-C0D6-D9A4-53F8FE7F9036}"/>
              </a:ext>
            </a:extLst>
          </p:cNvPr>
          <p:cNvSpPr/>
          <p:nvPr/>
        </p:nvSpPr>
        <p:spPr>
          <a:xfrm>
            <a:off x="8846751" y="1274586"/>
            <a:ext cx="928050" cy="10290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866904-07C1-95CE-FC93-56C4E99A241C}"/>
              </a:ext>
            </a:extLst>
          </p:cNvPr>
          <p:cNvSpPr txBox="1"/>
          <p:nvPr/>
        </p:nvSpPr>
        <p:spPr>
          <a:xfrm>
            <a:off x="797785" y="905254"/>
            <a:ext cx="612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:I am excellent at drawing cat! Let’s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only draw cat                  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3BCB3BE-ED59-E5C8-33D6-909E2AC57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8" y="981858"/>
            <a:ext cx="199167" cy="1991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A337F11-D68B-71E7-6214-B6D786FA68E3}"/>
              </a:ext>
            </a:extLst>
          </p:cNvPr>
          <p:cNvSpPr txBox="1"/>
          <p:nvPr/>
        </p:nvSpPr>
        <p:spPr>
          <a:xfrm>
            <a:off x="7627892" y="260293"/>
            <a:ext cx="631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cat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A10193-1BDB-0606-7BFA-2FE8CAABFEC8}"/>
              </a:ext>
            </a:extLst>
          </p:cNvPr>
          <p:cNvSpPr txBox="1"/>
          <p:nvPr/>
        </p:nvSpPr>
        <p:spPr>
          <a:xfrm>
            <a:off x="8632247" y="601764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1D4B6-92C1-FB1D-B6A8-5D591AC64CEF}"/>
              </a:ext>
            </a:extLst>
          </p:cNvPr>
          <p:cNvSpPr txBox="1"/>
          <p:nvPr/>
        </p:nvSpPr>
        <p:spPr>
          <a:xfrm>
            <a:off x="521560" y="1626819"/>
            <a:ext cx="640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Assume we have labels {cat/ dog} on the training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0E469-80E9-53D1-6CC3-054DFDDD3D94}"/>
              </a:ext>
            </a:extLst>
          </p:cNvPr>
          <p:cNvSpPr txBox="1"/>
          <p:nvPr/>
        </p:nvSpPr>
        <p:spPr>
          <a:xfrm>
            <a:off x="521560" y="2043164"/>
            <a:ext cx="640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tell both       and       the class information!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ECF2F4-5955-CEC8-462F-275894097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058" y="2128246"/>
            <a:ext cx="230071" cy="199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D88495-9109-281A-A426-86CB036DD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918" y="2128246"/>
            <a:ext cx="199167" cy="19916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703A2E6-13EC-667F-5B39-0FD5584B352D}"/>
              </a:ext>
            </a:extLst>
          </p:cNvPr>
          <p:cNvSpPr txBox="1"/>
          <p:nvPr/>
        </p:nvSpPr>
        <p:spPr>
          <a:xfrm>
            <a:off x="11211022" y="3064090"/>
            <a:ext cx="1355655" cy="238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R or G?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4299E25-7F0C-D26F-6FAC-BB1A3978A7DD}"/>
              </a:ext>
            </a:extLst>
          </p:cNvPr>
          <p:cNvGrpSpPr/>
          <p:nvPr/>
        </p:nvGrpSpPr>
        <p:grpSpPr>
          <a:xfrm>
            <a:off x="5991931" y="2512290"/>
            <a:ext cx="5219092" cy="2317811"/>
            <a:chOff x="6593633" y="2122299"/>
            <a:chExt cx="4444043" cy="197361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15ECF7D-7005-41D5-B669-3C2EE0571215}"/>
                </a:ext>
              </a:extLst>
            </p:cNvPr>
            <p:cNvSpPr/>
            <p:nvPr/>
          </p:nvSpPr>
          <p:spPr>
            <a:xfrm rot="16200000">
              <a:off x="6493838" y="2354912"/>
              <a:ext cx="502705" cy="303115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rapezoid 48">
              <a:extLst>
                <a:ext uri="{FF2B5EF4-FFF2-40B4-BE49-F238E27FC236}">
                  <a16:creationId xmlns:a16="http://schemas.microsoft.com/office/drawing/2014/main" id="{427C04F0-4601-FB2E-7708-9C2CC72BF2B2}"/>
                </a:ext>
              </a:extLst>
            </p:cNvPr>
            <p:cNvSpPr/>
            <p:nvPr/>
          </p:nvSpPr>
          <p:spPr>
            <a:xfrm rot="16200000" flipH="1">
              <a:off x="7023379" y="2125110"/>
              <a:ext cx="745238" cy="797919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2EB4E7F-0DAF-73D5-774F-615044D6CB7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5797" y="2760847"/>
              <a:ext cx="29187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rapezoid 54">
              <a:extLst>
                <a:ext uri="{FF2B5EF4-FFF2-40B4-BE49-F238E27FC236}">
                  <a16:creationId xmlns:a16="http://schemas.microsoft.com/office/drawing/2014/main" id="{4DE9A10B-5AFF-CA18-2369-3C214FC02D0C}"/>
                </a:ext>
              </a:extLst>
            </p:cNvPr>
            <p:cNvSpPr/>
            <p:nvPr/>
          </p:nvSpPr>
          <p:spPr>
            <a:xfrm rot="5400000">
              <a:off x="9728259" y="2271964"/>
              <a:ext cx="1076208" cy="971717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DAA004-4C0A-45DC-F713-92C7646CF51E}"/>
                </a:ext>
              </a:extLst>
            </p:cNvPr>
            <p:cNvSpPr txBox="1"/>
            <p:nvPr/>
          </p:nvSpPr>
          <p:spPr>
            <a:xfrm>
              <a:off x="7794958" y="3726577"/>
              <a:ext cx="3074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4132522-7C98-D6BA-AA9B-5439E0491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8762" y="2367579"/>
              <a:ext cx="292762" cy="292762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D4CE0AF-AB4C-C99D-E60E-239771118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48943" y="2552166"/>
              <a:ext cx="376928" cy="326296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47A8672F-9F98-35A6-6956-7749082C0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38622" y="2122299"/>
              <a:ext cx="724360" cy="725203"/>
            </a:xfrm>
            <a:prstGeom prst="rect">
              <a:avLst/>
            </a:prstGeom>
          </p:spPr>
        </p:pic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88E076CA-4834-BC92-D18B-65CF1F48E34F}"/>
                </a:ext>
              </a:extLst>
            </p:cNvPr>
            <p:cNvCxnSpPr>
              <a:cxnSpLocks/>
            </p:cNvCxnSpPr>
            <p:nvPr/>
          </p:nvCxnSpPr>
          <p:spPr>
            <a:xfrm>
              <a:off x="8594810" y="2422188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0FABE371-983B-16B1-582E-1304D2DA639A}"/>
                </a:ext>
              </a:extLst>
            </p:cNvPr>
            <p:cNvCxnSpPr>
              <a:cxnSpLocks/>
            </p:cNvCxnSpPr>
            <p:nvPr/>
          </p:nvCxnSpPr>
          <p:spPr>
            <a:xfrm>
              <a:off x="8594810" y="3329012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B0EED7E-79C4-8B73-E4F9-C00E48864F24}"/>
                </a:ext>
              </a:extLst>
            </p:cNvPr>
            <p:cNvCxnSpPr>
              <a:cxnSpLocks/>
            </p:cNvCxnSpPr>
            <p:nvPr/>
          </p:nvCxnSpPr>
          <p:spPr>
            <a:xfrm>
              <a:off x="9388766" y="2745524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A72C1E2A-524E-C2CB-7D1D-1ADAEF378F7F}"/>
                </a:ext>
              </a:extLst>
            </p:cNvPr>
            <p:cNvCxnSpPr>
              <a:cxnSpLocks/>
              <a:stCxn id="68" idx="6"/>
              <a:endCxn id="70" idx="1"/>
            </p:cNvCxnSpPr>
            <p:nvPr/>
          </p:nvCxnSpPr>
          <p:spPr>
            <a:xfrm>
              <a:off x="9017940" y="2422188"/>
              <a:ext cx="345511" cy="3094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4775B04-E897-A7B7-40AD-D80316D86481}"/>
                </a:ext>
              </a:extLst>
            </p:cNvPr>
            <p:cNvSpPr/>
            <p:nvPr/>
          </p:nvSpPr>
          <p:spPr>
            <a:xfrm>
              <a:off x="8966388" y="2385166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1CE241C-A3C9-3949-95F2-7711C0271ED7}"/>
                </a:ext>
              </a:extLst>
            </p:cNvPr>
            <p:cNvSpPr/>
            <p:nvPr/>
          </p:nvSpPr>
          <p:spPr>
            <a:xfrm>
              <a:off x="8966388" y="3291991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522B66E-E36A-AB76-24AF-CBE4FFECD411}"/>
                </a:ext>
              </a:extLst>
            </p:cNvPr>
            <p:cNvSpPr/>
            <p:nvPr/>
          </p:nvSpPr>
          <p:spPr>
            <a:xfrm>
              <a:off x="9355901" y="2720801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0689756-DEEB-EF5A-A75E-B4F1CB49A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49988" y="2975276"/>
              <a:ext cx="744822" cy="748113"/>
            </a:xfrm>
            <a:prstGeom prst="rect">
              <a:avLst/>
            </a:prstGeom>
          </p:spPr>
        </p:pic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5CAC1C5-A142-1D10-BCA0-CFB966F071A9}"/>
              </a:ext>
            </a:extLst>
          </p:cNvPr>
          <p:cNvCxnSpPr>
            <a:cxnSpLocks/>
          </p:cNvCxnSpPr>
          <p:nvPr/>
        </p:nvCxnSpPr>
        <p:spPr>
          <a:xfrm flipV="1">
            <a:off x="6679320" y="3280049"/>
            <a:ext cx="0" cy="2861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7DD13053-3627-CC71-B52F-91EA64694ABE}"/>
              </a:ext>
            </a:extLst>
          </p:cNvPr>
          <p:cNvSpPr txBox="1"/>
          <p:nvPr/>
        </p:nvSpPr>
        <p:spPr>
          <a:xfrm>
            <a:off x="6162632" y="3527206"/>
            <a:ext cx="93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y=dog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898BD13-392B-F1AB-0E86-99BFB3B31D4A}"/>
              </a:ext>
            </a:extLst>
          </p:cNvPr>
          <p:cNvCxnSpPr>
            <a:cxnSpLocks/>
          </p:cNvCxnSpPr>
          <p:nvPr/>
        </p:nvCxnSpPr>
        <p:spPr>
          <a:xfrm flipV="1">
            <a:off x="10009718" y="3844772"/>
            <a:ext cx="0" cy="2861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9A77929-2455-E7D2-CA94-C80BA9E6916C}"/>
              </a:ext>
            </a:extLst>
          </p:cNvPr>
          <p:cNvSpPr txBox="1"/>
          <p:nvPr/>
        </p:nvSpPr>
        <p:spPr>
          <a:xfrm>
            <a:off x="9493030" y="4091929"/>
            <a:ext cx="93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y=dog</a:t>
            </a:r>
          </a:p>
        </p:txBody>
      </p:sp>
    </p:spTree>
    <p:extLst>
      <p:ext uri="{BB962C8B-B14F-4D97-AF65-F5344CB8AC3E}">
        <p14:creationId xmlns:p14="http://schemas.microsoft.com/office/powerpoint/2010/main" val="1723128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F852-65CC-55E2-7D18-2F4919EE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71101AE-597F-A34E-3359-AEEF05EE5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60" y="5232855"/>
            <a:ext cx="8249755" cy="377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18FD99-3DD3-9368-AD84-9FAAF92E61D2}"/>
              </a:ext>
            </a:extLst>
          </p:cNvPr>
          <p:cNvSpPr txBox="1"/>
          <p:nvPr/>
        </p:nvSpPr>
        <p:spPr>
          <a:xfrm>
            <a:off x="276411" y="260293"/>
            <a:ext cx="29178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Conditional GAN - CGAN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9EED51-3551-2E9E-D909-1CF9CDD00BFF}"/>
              </a:ext>
            </a:extLst>
          </p:cNvPr>
          <p:cNvCxnSpPr>
            <a:cxnSpLocks/>
          </p:cNvCxnSpPr>
          <p:nvPr/>
        </p:nvCxnSpPr>
        <p:spPr>
          <a:xfrm>
            <a:off x="10130416" y="631119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310544D-890C-7D98-02E2-5597CCCC8E3F}"/>
              </a:ext>
            </a:extLst>
          </p:cNvPr>
          <p:cNvSpPr txBox="1"/>
          <p:nvPr/>
        </p:nvSpPr>
        <p:spPr>
          <a:xfrm>
            <a:off x="10509622" y="805822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A97F56-78C5-6408-6B52-12708D54DF4B}"/>
              </a:ext>
            </a:extLst>
          </p:cNvPr>
          <p:cNvCxnSpPr>
            <a:cxnSpLocks/>
          </p:cNvCxnSpPr>
          <p:nvPr/>
        </p:nvCxnSpPr>
        <p:spPr>
          <a:xfrm>
            <a:off x="10130416" y="1000333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8067C2-FFDE-A1D5-32D1-3F42D4926707}"/>
              </a:ext>
            </a:extLst>
          </p:cNvPr>
          <p:cNvSpPr txBox="1"/>
          <p:nvPr/>
        </p:nvSpPr>
        <p:spPr>
          <a:xfrm>
            <a:off x="10509622" y="426058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8EE942-8DC9-7E08-680E-F32E1001FC7E}"/>
              </a:ext>
            </a:extLst>
          </p:cNvPr>
          <p:cNvCxnSpPr>
            <a:cxnSpLocks/>
          </p:cNvCxnSpPr>
          <p:nvPr/>
        </p:nvCxnSpPr>
        <p:spPr>
          <a:xfrm>
            <a:off x="6858628" y="1395139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1FC608-2249-C676-1EB0-D4267ED75CA1}"/>
              </a:ext>
            </a:extLst>
          </p:cNvPr>
          <p:cNvSpPr/>
          <p:nvPr/>
        </p:nvSpPr>
        <p:spPr>
          <a:xfrm>
            <a:off x="7385963" y="711093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6E04AD7-AF96-58DF-EF45-7BF63345D80C}"/>
              </a:ext>
            </a:extLst>
          </p:cNvPr>
          <p:cNvSpPr/>
          <p:nvPr/>
        </p:nvSpPr>
        <p:spPr>
          <a:xfrm>
            <a:off x="8313703" y="1017699"/>
            <a:ext cx="1066097" cy="36933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C882F92-9AD7-A04D-E80A-B207C4E1DFC4}"/>
              </a:ext>
            </a:extLst>
          </p:cNvPr>
          <p:cNvSpPr/>
          <p:nvPr/>
        </p:nvSpPr>
        <p:spPr>
          <a:xfrm>
            <a:off x="7316940" y="1017697"/>
            <a:ext cx="1066097" cy="36933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3B0A85E-7F0E-5AA3-937A-72F0E41FC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592" y="1276270"/>
            <a:ext cx="263710" cy="22151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071BF8C-384E-EDED-BBEA-9530F4D4063E}"/>
              </a:ext>
            </a:extLst>
          </p:cNvPr>
          <p:cNvSpPr/>
          <p:nvPr/>
        </p:nvSpPr>
        <p:spPr>
          <a:xfrm>
            <a:off x="8846751" y="1274586"/>
            <a:ext cx="928050" cy="10290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A6E90A-B74F-25F4-6AEF-544DC6A7D96D}"/>
              </a:ext>
            </a:extLst>
          </p:cNvPr>
          <p:cNvSpPr txBox="1"/>
          <p:nvPr/>
        </p:nvSpPr>
        <p:spPr>
          <a:xfrm>
            <a:off x="797785" y="905254"/>
            <a:ext cx="612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:I am excellent at drawing cat! Let’s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only draw cat                  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F2015AF-F6F6-205D-B1AE-ECAB558B8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8" y="981858"/>
            <a:ext cx="199167" cy="1991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C76EBC4-9072-6DA6-D9C4-A2D07AFD95BB}"/>
              </a:ext>
            </a:extLst>
          </p:cNvPr>
          <p:cNvSpPr txBox="1"/>
          <p:nvPr/>
        </p:nvSpPr>
        <p:spPr>
          <a:xfrm>
            <a:off x="7627892" y="260293"/>
            <a:ext cx="631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cat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C650C4-096A-F43B-1359-5F651A3C6679}"/>
              </a:ext>
            </a:extLst>
          </p:cNvPr>
          <p:cNvSpPr txBox="1"/>
          <p:nvPr/>
        </p:nvSpPr>
        <p:spPr>
          <a:xfrm>
            <a:off x="8632247" y="601764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005B81-8B79-583B-7252-B8BA45D20DC3}"/>
              </a:ext>
            </a:extLst>
          </p:cNvPr>
          <p:cNvSpPr txBox="1"/>
          <p:nvPr/>
        </p:nvSpPr>
        <p:spPr>
          <a:xfrm>
            <a:off x="521560" y="1626819"/>
            <a:ext cx="640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Assume we have labels {cat/ dog} on the training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212824-7629-46F1-AD7A-64477E3B640E}"/>
              </a:ext>
            </a:extLst>
          </p:cNvPr>
          <p:cNvSpPr txBox="1"/>
          <p:nvPr/>
        </p:nvSpPr>
        <p:spPr>
          <a:xfrm>
            <a:off x="521560" y="2043164"/>
            <a:ext cx="640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tell both       and       the class information!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326B05-24D8-8740-B447-54554B224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2058" y="2128246"/>
            <a:ext cx="230071" cy="199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A8D372-8B3D-4E0A-0B58-56C2E0265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918" y="2128246"/>
            <a:ext cx="199167" cy="19916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FEC954F-7CAE-EE30-9D41-5C6AAF9B48E3}"/>
              </a:ext>
            </a:extLst>
          </p:cNvPr>
          <p:cNvSpPr txBox="1"/>
          <p:nvPr/>
        </p:nvSpPr>
        <p:spPr>
          <a:xfrm>
            <a:off x="11211022" y="3064090"/>
            <a:ext cx="1355655" cy="238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R or G?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97887D7-EDAA-6906-7264-10FDB596A9ED}"/>
              </a:ext>
            </a:extLst>
          </p:cNvPr>
          <p:cNvGrpSpPr/>
          <p:nvPr/>
        </p:nvGrpSpPr>
        <p:grpSpPr>
          <a:xfrm>
            <a:off x="5991931" y="2512290"/>
            <a:ext cx="5219092" cy="2317811"/>
            <a:chOff x="6593633" y="2122299"/>
            <a:chExt cx="4444043" cy="197361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20D20BE-1E79-05AF-BADB-3862B4D3004C}"/>
                </a:ext>
              </a:extLst>
            </p:cNvPr>
            <p:cNvSpPr/>
            <p:nvPr/>
          </p:nvSpPr>
          <p:spPr>
            <a:xfrm rot="16200000">
              <a:off x="6493838" y="2354912"/>
              <a:ext cx="502705" cy="303115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rapezoid 48">
              <a:extLst>
                <a:ext uri="{FF2B5EF4-FFF2-40B4-BE49-F238E27FC236}">
                  <a16:creationId xmlns:a16="http://schemas.microsoft.com/office/drawing/2014/main" id="{6343A3C1-FD88-3B31-41AC-1002FA7E8BDF}"/>
                </a:ext>
              </a:extLst>
            </p:cNvPr>
            <p:cNvSpPr/>
            <p:nvPr/>
          </p:nvSpPr>
          <p:spPr>
            <a:xfrm rot="16200000" flipH="1">
              <a:off x="7023379" y="2125110"/>
              <a:ext cx="745238" cy="797919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1E7DF8B-2348-C339-579A-025186915D0D}"/>
                </a:ext>
              </a:extLst>
            </p:cNvPr>
            <p:cNvCxnSpPr>
              <a:cxnSpLocks/>
            </p:cNvCxnSpPr>
            <p:nvPr/>
          </p:nvCxnSpPr>
          <p:spPr>
            <a:xfrm>
              <a:off x="10745797" y="2760847"/>
              <a:ext cx="29187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rapezoid 54">
              <a:extLst>
                <a:ext uri="{FF2B5EF4-FFF2-40B4-BE49-F238E27FC236}">
                  <a16:creationId xmlns:a16="http://schemas.microsoft.com/office/drawing/2014/main" id="{4E72B765-C99A-DD0A-56C2-2B0D52A216FB}"/>
                </a:ext>
              </a:extLst>
            </p:cNvPr>
            <p:cNvSpPr/>
            <p:nvPr/>
          </p:nvSpPr>
          <p:spPr>
            <a:xfrm rot="5400000">
              <a:off x="9728259" y="2271964"/>
              <a:ext cx="1076208" cy="971717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2E0F415-65CB-3FEC-E63B-A1788757A5CD}"/>
                </a:ext>
              </a:extLst>
            </p:cNvPr>
            <p:cNvSpPr txBox="1"/>
            <p:nvPr/>
          </p:nvSpPr>
          <p:spPr>
            <a:xfrm>
              <a:off x="7794958" y="3726577"/>
              <a:ext cx="3074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188E1A3-8526-900E-D55F-9C6F6C5BC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78762" y="2367579"/>
              <a:ext cx="292762" cy="292762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DCFE12-62C0-E174-0A9B-C430E56D1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48943" y="2552166"/>
              <a:ext cx="376928" cy="326296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1415740E-2BF9-EA0F-F4F1-8E8DC7CC4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38622" y="2122299"/>
              <a:ext cx="724360" cy="725203"/>
            </a:xfrm>
            <a:prstGeom prst="rect">
              <a:avLst/>
            </a:prstGeom>
          </p:spPr>
        </p:pic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3AB3541-F31C-ED9D-85A3-E2C1870728EF}"/>
                </a:ext>
              </a:extLst>
            </p:cNvPr>
            <p:cNvCxnSpPr>
              <a:cxnSpLocks/>
            </p:cNvCxnSpPr>
            <p:nvPr/>
          </p:nvCxnSpPr>
          <p:spPr>
            <a:xfrm>
              <a:off x="8594810" y="2422188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571CBC5-832E-1C67-7084-E7059157AFE2}"/>
                </a:ext>
              </a:extLst>
            </p:cNvPr>
            <p:cNvCxnSpPr>
              <a:cxnSpLocks/>
            </p:cNvCxnSpPr>
            <p:nvPr/>
          </p:nvCxnSpPr>
          <p:spPr>
            <a:xfrm>
              <a:off x="8594810" y="3329012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5E145D0-D510-46E8-44A7-D499E3FC494F}"/>
                </a:ext>
              </a:extLst>
            </p:cNvPr>
            <p:cNvCxnSpPr>
              <a:cxnSpLocks/>
            </p:cNvCxnSpPr>
            <p:nvPr/>
          </p:nvCxnSpPr>
          <p:spPr>
            <a:xfrm>
              <a:off x="9388766" y="2745524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2623D36-4C35-730A-36A1-7C1F74C3A793}"/>
                </a:ext>
              </a:extLst>
            </p:cNvPr>
            <p:cNvCxnSpPr>
              <a:cxnSpLocks/>
              <a:stCxn id="68" idx="6"/>
              <a:endCxn id="70" idx="1"/>
            </p:cNvCxnSpPr>
            <p:nvPr/>
          </p:nvCxnSpPr>
          <p:spPr>
            <a:xfrm>
              <a:off x="9017940" y="2422188"/>
              <a:ext cx="345511" cy="3094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12490BA-634D-50AF-DC8D-EACD11C107E5}"/>
                </a:ext>
              </a:extLst>
            </p:cNvPr>
            <p:cNvSpPr/>
            <p:nvPr/>
          </p:nvSpPr>
          <p:spPr>
            <a:xfrm>
              <a:off x="8966388" y="2385166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7D9DCC8-8FF0-AC17-AC02-67405106900D}"/>
                </a:ext>
              </a:extLst>
            </p:cNvPr>
            <p:cNvSpPr/>
            <p:nvPr/>
          </p:nvSpPr>
          <p:spPr>
            <a:xfrm>
              <a:off x="8966388" y="3291991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F43CEB3-2F37-EAB2-28ED-FBE040C62C3B}"/>
                </a:ext>
              </a:extLst>
            </p:cNvPr>
            <p:cNvSpPr/>
            <p:nvPr/>
          </p:nvSpPr>
          <p:spPr>
            <a:xfrm>
              <a:off x="9355901" y="2720801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78938037-0536-F3EE-5266-7A72FCCBC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49988" y="2975276"/>
              <a:ext cx="744822" cy="748113"/>
            </a:xfrm>
            <a:prstGeom prst="rect">
              <a:avLst/>
            </a:prstGeom>
          </p:spPr>
        </p:pic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9E5AF2C-73A9-052E-2834-9E32A5C1FCC1}"/>
              </a:ext>
            </a:extLst>
          </p:cNvPr>
          <p:cNvCxnSpPr>
            <a:cxnSpLocks/>
          </p:cNvCxnSpPr>
          <p:nvPr/>
        </p:nvCxnSpPr>
        <p:spPr>
          <a:xfrm flipV="1">
            <a:off x="6679320" y="3280049"/>
            <a:ext cx="0" cy="2861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A14B518-D372-1008-0BEE-CE225FB52EF9}"/>
              </a:ext>
            </a:extLst>
          </p:cNvPr>
          <p:cNvCxnSpPr>
            <a:cxnSpLocks/>
          </p:cNvCxnSpPr>
          <p:nvPr/>
        </p:nvCxnSpPr>
        <p:spPr>
          <a:xfrm flipV="1">
            <a:off x="10009718" y="3844772"/>
            <a:ext cx="0" cy="2861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87">
            <a:extLst>
              <a:ext uri="{FF2B5EF4-FFF2-40B4-BE49-F238E27FC236}">
                <a16:creationId xmlns:a16="http://schemas.microsoft.com/office/drawing/2014/main" id="{59FF466C-4794-8F0B-EF2B-D4D931939BB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94558" y="5305775"/>
            <a:ext cx="130797" cy="18062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832B4F24-2A74-8169-BA47-3CC0E3E0659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12392" y="5297000"/>
            <a:ext cx="130797" cy="180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4CA06F-79A4-CC18-4285-29A1C64F9025}"/>
              </a:ext>
            </a:extLst>
          </p:cNvPr>
          <p:cNvSpPr txBox="1"/>
          <p:nvPr/>
        </p:nvSpPr>
        <p:spPr>
          <a:xfrm>
            <a:off x="6162632" y="3527206"/>
            <a:ext cx="93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y=dog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6A117A-1FCF-C224-0156-420B6FFE8A30}"/>
              </a:ext>
            </a:extLst>
          </p:cNvPr>
          <p:cNvSpPr txBox="1"/>
          <p:nvPr/>
        </p:nvSpPr>
        <p:spPr>
          <a:xfrm>
            <a:off x="9493030" y="4091929"/>
            <a:ext cx="93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y=dog</a:t>
            </a:r>
          </a:p>
        </p:txBody>
      </p:sp>
    </p:spTree>
    <p:extLst>
      <p:ext uri="{BB962C8B-B14F-4D97-AF65-F5344CB8AC3E}">
        <p14:creationId xmlns:p14="http://schemas.microsoft.com/office/powerpoint/2010/main" val="393501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94F2-F597-FD05-7851-AFF9A7E42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EBA7DC-A973-96CC-A8E5-C57421F5E5D0}"/>
              </a:ext>
            </a:extLst>
          </p:cNvPr>
          <p:cNvSpPr txBox="1"/>
          <p:nvPr/>
        </p:nvSpPr>
        <p:spPr>
          <a:xfrm>
            <a:off x="276411" y="260293"/>
            <a:ext cx="29178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Conditional GAN - CGAN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E953FC-23C4-A06F-7F5D-05F674211812}"/>
              </a:ext>
            </a:extLst>
          </p:cNvPr>
          <p:cNvSpPr txBox="1"/>
          <p:nvPr/>
        </p:nvSpPr>
        <p:spPr>
          <a:xfrm>
            <a:off x="10661091" y="2487502"/>
            <a:ext cx="1355655" cy="238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R or G?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FE17D00-88E2-B156-2AB1-F9C630253CB1}"/>
              </a:ext>
            </a:extLst>
          </p:cNvPr>
          <p:cNvGrpSpPr/>
          <p:nvPr/>
        </p:nvGrpSpPr>
        <p:grpSpPr>
          <a:xfrm>
            <a:off x="5442000" y="1935702"/>
            <a:ext cx="5219092" cy="2317811"/>
            <a:chOff x="6593633" y="2122299"/>
            <a:chExt cx="4444043" cy="197361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4E40BB-22A0-3494-4EEE-496594AD1618}"/>
                </a:ext>
              </a:extLst>
            </p:cNvPr>
            <p:cNvSpPr/>
            <p:nvPr/>
          </p:nvSpPr>
          <p:spPr>
            <a:xfrm rot="16200000">
              <a:off x="6493838" y="2354912"/>
              <a:ext cx="502705" cy="303115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rapezoid 48">
              <a:extLst>
                <a:ext uri="{FF2B5EF4-FFF2-40B4-BE49-F238E27FC236}">
                  <a16:creationId xmlns:a16="http://schemas.microsoft.com/office/drawing/2014/main" id="{C9BE0057-AA07-656F-8E31-38D8C5A7CBBA}"/>
                </a:ext>
              </a:extLst>
            </p:cNvPr>
            <p:cNvSpPr/>
            <p:nvPr/>
          </p:nvSpPr>
          <p:spPr>
            <a:xfrm rot="16200000" flipH="1">
              <a:off x="7023379" y="2125110"/>
              <a:ext cx="745238" cy="797919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9711A52-996C-EA19-7471-2560DB903306}"/>
                </a:ext>
              </a:extLst>
            </p:cNvPr>
            <p:cNvCxnSpPr>
              <a:cxnSpLocks/>
            </p:cNvCxnSpPr>
            <p:nvPr/>
          </p:nvCxnSpPr>
          <p:spPr>
            <a:xfrm>
              <a:off x="10745797" y="2760847"/>
              <a:ext cx="29187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rapezoid 54">
              <a:extLst>
                <a:ext uri="{FF2B5EF4-FFF2-40B4-BE49-F238E27FC236}">
                  <a16:creationId xmlns:a16="http://schemas.microsoft.com/office/drawing/2014/main" id="{19EE5C87-68B6-41DB-2ADB-B1D1FE5CC660}"/>
                </a:ext>
              </a:extLst>
            </p:cNvPr>
            <p:cNvSpPr/>
            <p:nvPr/>
          </p:nvSpPr>
          <p:spPr>
            <a:xfrm rot="5400000">
              <a:off x="9728259" y="2271964"/>
              <a:ext cx="1076208" cy="971717"/>
            </a:xfrm>
            <a:prstGeom prst="trapezoid">
              <a:avLst>
                <a:gd name="adj" fmla="val 24803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0E384C6-C5B3-9F2D-073F-A755042AB1F7}"/>
                </a:ext>
              </a:extLst>
            </p:cNvPr>
            <p:cNvSpPr txBox="1"/>
            <p:nvPr/>
          </p:nvSpPr>
          <p:spPr>
            <a:xfrm>
              <a:off x="7794958" y="3726577"/>
              <a:ext cx="3074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(training) images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559D2B3-7DE7-C4A4-54A2-80C0D2F8F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78762" y="2367579"/>
              <a:ext cx="292762" cy="292762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0FAEA9F6-C285-B2CE-67E5-41A298594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48943" y="2552166"/>
              <a:ext cx="376928" cy="326296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D46446AB-AA6D-0370-3364-B54CD9FEC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38622" y="2122299"/>
              <a:ext cx="724360" cy="725203"/>
            </a:xfrm>
            <a:prstGeom prst="rect">
              <a:avLst/>
            </a:prstGeom>
          </p:spPr>
        </p:pic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DB93D7A5-1B08-8326-E9AB-163A744002CB}"/>
                </a:ext>
              </a:extLst>
            </p:cNvPr>
            <p:cNvCxnSpPr>
              <a:cxnSpLocks/>
            </p:cNvCxnSpPr>
            <p:nvPr/>
          </p:nvCxnSpPr>
          <p:spPr>
            <a:xfrm>
              <a:off x="8594810" y="2422188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98631825-A58B-F4B0-F11F-E4FAAAE509C2}"/>
                </a:ext>
              </a:extLst>
            </p:cNvPr>
            <p:cNvCxnSpPr>
              <a:cxnSpLocks/>
            </p:cNvCxnSpPr>
            <p:nvPr/>
          </p:nvCxnSpPr>
          <p:spPr>
            <a:xfrm>
              <a:off x="8594810" y="3329012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9C327AA-AD03-04CD-F9CA-CF78AC634A38}"/>
                </a:ext>
              </a:extLst>
            </p:cNvPr>
            <p:cNvCxnSpPr>
              <a:cxnSpLocks/>
            </p:cNvCxnSpPr>
            <p:nvPr/>
          </p:nvCxnSpPr>
          <p:spPr>
            <a:xfrm>
              <a:off x="9388766" y="2745524"/>
              <a:ext cx="3588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BA0A3B2-D25A-4BF4-C5FB-64EBC3461EE1}"/>
                </a:ext>
              </a:extLst>
            </p:cNvPr>
            <p:cNvCxnSpPr>
              <a:cxnSpLocks/>
              <a:stCxn id="68" idx="6"/>
              <a:endCxn id="70" idx="1"/>
            </p:cNvCxnSpPr>
            <p:nvPr/>
          </p:nvCxnSpPr>
          <p:spPr>
            <a:xfrm>
              <a:off x="9017940" y="2422188"/>
              <a:ext cx="345511" cy="3094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EAF84FF-6A54-354D-6FC8-227F83CC54DF}"/>
                </a:ext>
              </a:extLst>
            </p:cNvPr>
            <p:cNvSpPr/>
            <p:nvPr/>
          </p:nvSpPr>
          <p:spPr>
            <a:xfrm>
              <a:off x="8966388" y="2385166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F0ECCDE-8359-CB39-E3C8-64BF7FB3D14D}"/>
                </a:ext>
              </a:extLst>
            </p:cNvPr>
            <p:cNvSpPr/>
            <p:nvPr/>
          </p:nvSpPr>
          <p:spPr>
            <a:xfrm>
              <a:off x="8966388" y="3291991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CAB1CF1-DA68-E764-6D81-D881435B2D06}"/>
                </a:ext>
              </a:extLst>
            </p:cNvPr>
            <p:cNvSpPr/>
            <p:nvPr/>
          </p:nvSpPr>
          <p:spPr>
            <a:xfrm>
              <a:off x="9355901" y="2720801"/>
              <a:ext cx="51552" cy="74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8980FFD-3C03-B3C8-6216-8771392D7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49988" y="2975276"/>
              <a:ext cx="744822" cy="748113"/>
            </a:xfrm>
            <a:prstGeom prst="rect">
              <a:avLst/>
            </a:prstGeom>
          </p:spPr>
        </p:pic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E3CFB23-4108-2A33-1227-05F0EE267658}"/>
              </a:ext>
            </a:extLst>
          </p:cNvPr>
          <p:cNvCxnSpPr>
            <a:cxnSpLocks/>
          </p:cNvCxnSpPr>
          <p:nvPr/>
        </p:nvCxnSpPr>
        <p:spPr>
          <a:xfrm flipV="1">
            <a:off x="6129389" y="2703461"/>
            <a:ext cx="0" cy="2861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037A1A5-4FA0-3232-4894-E4A39CDCD87D}"/>
              </a:ext>
            </a:extLst>
          </p:cNvPr>
          <p:cNvCxnSpPr>
            <a:cxnSpLocks/>
          </p:cNvCxnSpPr>
          <p:nvPr/>
        </p:nvCxnSpPr>
        <p:spPr>
          <a:xfrm flipV="1">
            <a:off x="9459787" y="3268184"/>
            <a:ext cx="0" cy="2861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9F3DE0-60D3-60F3-ECC6-719DA14486A9}"/>
              </a:ext>
            </a:extLst>
          </p:cNvPr>
          <p:cNvSpPr txBox="1"/>
          <p:nvPr/>
        </p:nvSpPr>
        <p:spPr>
          <a:xfrm>
            <a:off x="521559" y="4610469"/>
            <a:ext cx="9590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Solve part of mode collapse, but not within the classes!  Many research going on...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F500797-3F7F-321A-81DF-1E3E28AB91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4422" y="1475258"/>
            <a:ext cx="1829504" cy="29970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5CD5E0-B1CC-E87B-2F91-7653736CA9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60" y="916624"/>
            <a:ext cx="8249755" cy="377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1A8344-5736-D63B-A469-4B621B7B4A1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94558" y="989544"/>
            <a:ext cx="130797" cy="180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9B4AC9-505F-26AB-B196-6EC26E8C955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12392" y="980769"/>
            <a:ext cx="130797" cy="180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714009-7611-DA3E-41E0-6EA7D3E9358A}"/>
              </a:ext>
            </a:extLst>
          </p:cNvPr>
          <p:cNvSpPr txBox="1"/>
          <p:nvPr/>
        </p:nvSpPr>
        <p:spPr>
          <a:xfrm>
            <a:off x="5594529" y="2960359"/>
            <a:ext cx="93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y=dog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09E41D-B900-0D4C-003B-B8B82E9B3B1C}"/>
              </a:ext>
            </a:extLst>
          </p:cNvPr>
          <p:cNvSpPr txBox="1"/>
          <p:nvPr/>
        </p:nvSpPr>
        <p:spPr>
          <a:xfrm>
            <a:off x="8924927" y="3525082"/>
            <a:ext cx="93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y=dog</a:t>
            </a:r>
          </a:p>
        </p:txBody>
      </p:sp>
    </p:spTree>
    <p:extLst>
      <p:ext uri="{BB962C8B-B14F-4D97-AF65-F5344CB8AC3E}">
        <p14:creationId xmlns:p14="http://schemas.microsoft.com/office/powerpoint/2010/main" val="177571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CC32C-E929-BD4D-DEE0-609668F1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F9792-DF45-DF84-BD9E-36BD7C9D62D0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12C5F-7424-9331-CA27-A6B827BEE7E7}"/>
              </a:ext>
            </a:extLst>
          </p:cNvPr>
          <p:cNvSpPr txBox="1"/>
          <p:nvPr/>
        </p:nvSpPr>
        <p:spPr>
          <a:xfrm>
            <a:off x="276409" y="773297"/>
            <a:ext cx="365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Mode collapse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D69F3-9E91-59A3-C917-0DC934A5832B}"/>
              </a:ext>
            </a:extLst>
          </p:cNvPr>
          <p:cNvSpPr txBox="1"/>
          <p:nvPr/>
        </p:nvSpPr>
        <p:spPr>
          <a:xfrm>
            <a:off x="6096000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40F52F-171F-5C53-1D6A-672131E40A00}"/>
              </a:ext>
            </a:extLst>
          </p:cNvPr>
          <p:cNvCxnSpPr>
            <a:cxnSpLocks/>
          </p:cNvCxnSpPr>
          <p:nvPr/>
        </p:nvCxnSpPr>
        <p:spPr>
          <a:xfrm>
            <a:off x="3910591" y="2673088"/>
            <a:ext cx="2735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A3131E-C8CB-7C00-BDD5-BDAC8AB6707E}"/>
              </a:ext>
            </a:extLst>
          </p:cNvPr>
          <p:cNvSpPr txBox="1"/>
          <p:nvPr/>
        </p:nvSpPr>
        <p:spPr>
          <a:xfrm>
            <a:off x="4289797" y="2847791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Real data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7AEAB2-B5C4-1D43-4CAE-B410E8568D11}"/>
              </a:ext>
            </a:extLst>
          </p:cNvPr>
          <p:cNvCxnSpPr>
            <a:cxnSpLocks/>
          </p:cNvCxnSpPr>
          <p:nvPr/>
        </p:nvCxnSpPr>
        <p:spPr>
          <a:xfrm>
            <a:off x="3910591" y="3042302"/>
            <a:ext cx="27358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668D44-9EFC-B29E-E062-264D8EA8F797}"/>
              </a:ext>
            </a:extLst>
          </p:cNvPr>
          <p:cNvSpPr txBox="1"/>
          <p:nvPr/>
        </p:nvSpPr>
        <p:spPr>
          <a:xfrm>
            <a:off x="4289797" y="2468027"/>
            <a:ext cx="153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Generated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294489-8050-C559-8194-DFA235F2EB3B}"/>
              </a:ext>
            </a:extLst>
          </p:cNvPr>
          <p:cNvCxnSpPr>
            <a:cxnSpLocks/>
          </p:cNvCxnSpPr>
          <p:nvPr/>
        </p:nvCxnSpPr>
        <p:spPr>
          <a:xfrm>
            <a:off x="638803" y="3437108"/>
            <a:ext cx="29121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5DE687C-6053-3DE9-4E20-A5A6D94600FE}"/>
              </a:ext>
            </a:extLst>
          </p:cNvPr>
          <p:cNvSpPr/>
          <p:nvPr/>
        </p:nvSpPr>
        <p:spPr>
          <a:xfrm>
            <a:off x="1166138" y="2753062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EA9D685-C404-5BFA-0E59-A677DE0FE2F6}"/>
              </a:ext>
            </a:extLst>
          </p:cNvPr>
          <p:cNvSpPr/>
          <p:nvPr/>
        </p:nvSpPr>
        <p:spPr>
          <a:xfrm>
            <a:off x="2093878" y="3059668"/>
            <a:ext cx="1066097" cy="36933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B6FB60-152F-CE76-7931-AB8C3FD362FB}"/>
              </a:ext>
            </a:extLst>
          </p:cNvPr>
          <p:cNvSpPr/>
          <p:nvPr/>
        </p:nvSpPr>
        <p:spPr>
          <a:xfrm>
            <a:off x="1097115" y="3059666"/>
            <a:ext cx="1066097" cy="36933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845F43-6971-3669-81B2-4FF606B3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767" y="3318239"/>
            <a:ext cx="263710" cy="22151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731534A-25F4-6A9D-DEDD-887495B11636}"/>
              </a:ext>
            </a:extLst>
          </p:cNvPr>
          <p:cNvGrpSpPr/>
          <p:nvPr/>
        </p:nvGrpSpPr>
        <p:grpSpPr>
          <a:xfrm>
            <a:off x="598618" y="1261894"/>
            <a:ext cx="3857449" cy="369332"/>
            <a:chOff x="598618" y="1261894"/>
            <a:chExt cx="3857449" cy="36933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E0F1FAA-53C4-3CEB-C8E7-AC83E3B0A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618" y="1346976"/>
              <a:ext cx="199167" cy="19916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ADAE81-0A1D-84F2-B3D4-7FD065560C05}"/>
                </a:ext>
              </a:extLst>
            </p:cNvPr>
            <p:cNvSpPr txBox="1"/>
            <p:nvPr/>
          </p:nvSpPr>
          <p:spPr>
            <a:xfrm>
              <a:off x="797785" y="1261894"/>
              <a:ext cx="3658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generates only few easy modes</a:t>
              </a:r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0C54479-7587-4B77-FA41-CDFC4215D88A}"/>
              </a:ext>
            </a:extLst>
          </p:cNvPr>
          <p:cNvSpPr/>
          <p:nvPr/>
        </p:nvSpPr>
        <p:spPr>
          <a:xfrm>
            <a:off x="2626926" y="3316555"/>
            <a:ext cx="928050" cy="10290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CC4679-F0C3-70FE-34DB-7227808EA316}"/>
              </a:ext>
            </a:extLst>
          </p:cNvPr>
          <p:cNvGrpSpPr/>
          <p:nvPr/>
        </p:nvGrpSpPr>
        <p:grpSpPr>
          <a:xfrm>
            <a:off x="638803" y="1677571"/>
            <a:ext cx="3851369" cy="369332"/>
            <a:chOff x="638803" y="1677571"/>
            <a:chExt cx="3851369" cy="369332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7E400A57-503D-F953-91D0-434A1565DD8D}"/>
                </a:ext>
              </a:extLst>
            </p:cNvPr>
            <p:cNvSpPr/>
            <p:nvPr/>
          </p:nvSpPr>
          <p:spPr>
            <a:xfrm>
              <a:off x="638803" y="1779078"/>
              <a:ext cx="193087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FBBDCE-69B0-0C89-B65C-1477B76FA471}"/>
                </a:ext>
              </a:extLst>
            </p:cNvPr>
            <p:cNvSpPr txBox="1"/>
            <p:nvPr/>
          </p:nvSpPr>
          <p:spPr>
            <a:xfrm>
              <a:off x="831890" y="1677571"/>
              <a:ext cx="3658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 images are of a kind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8EFA5A4-6295-E1ED-59B4-809F0339F1E4}"/>
              </a:ext>
            </a:extLst>
          </p:cNvPr>
          <p:cNvSpPr txBox="1"/>
          <p:nvPr/>
        </p:nvSpPr>
        <p:spPr>
          <a:xfrm>
            <a:off x="1408067" y="2302262"/>
            <a:ext cx="631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cat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B38883-D2B2-3B41-C3F3-D3095E9FE6BC}"/>
              </a:ext>
            </a:extLst>
          </p:cNvPr>
          <p:cNvSpPr txBox="1"/>
          <p:nvPr/>
        </p:nvSpPr>
        <p:spPr>
          <a:xfrm>
            <a:off x="2412422" y="2643733"/>
            <a:ext cx="1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dog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95681-557B-543F-FDA7-F36CC3359A0F}"/>
              </a:ext>
            </a:extLst>
          </p:cNvPr>
          <p:cNvSpPr/>
          <p:nvPr/>
        </p:nvSpPr>
        <p:spPr>
          <a:xfrm>
            <a:off x="443620" y="1261894"/>
            <a:ext cx="5378855" cy="245908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60DC2D-E923-B7C8-7930-88ABE574F9F5}"/>
              </a:ext>
            </a:extLst>
          </p:cNvPr>
          <p:cNvSpPr txBox="1"/>
          <p:nvPr/>
        </p:nvSpPr>
        <p:spPr>
          <a:xfrm>
            <a:off x="6096000" y="1255869"/>
            <a:ext cx="46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When       is too strong,       will not learn     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0F99292-DCA2-0C5B-0F2C-453B2516C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739" y="1340952"/>
            <a:ext cx="230071" cy="199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46742A3-2B27-6B1C-0F23-1E0BF5476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743" y="1329902"/>
            <a:ext cx="199167" cy="19916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2D7D4B4D-6779-546D-D17E-149B8DEDE7E4}"/>
              </a:ext>
            </a:extLst>
          </p:cNvPr>
          <p:cNvSpPr/>
          <p:nvPr/>
        </p:nvSpPr>
        <p:spPr>
          <a:xfrm>
            <a:off x="6392083" y="1868663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328E9A5-4C71-A16D-8137-EED054C12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933" y="1689453"/>
            <a:ext cx="845641" cy="50680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56C2C21D-352D-7692-E2A4-D8A791C10813}"/>
              </a:ext>
            </a:extLst>
          </p:cNvPr>
          <p:cNvGrpSpPr/>
          <p:nvPr/>
        </p:nvGrpSpPr>
        <p:grpSpPr>
          <a:xfrm>
            <a:off x="6663733" y="2398343"/>
            <a:ext cx="5215839" cy="1141412"/>
            <a:chOff x="6663733" y="2398343"/>
            <a:chExt cx="5215839" cy="11414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867136F-8A4E-5C35-FD13-1B5322E4C9B2}"/>
                </a:ext>
              </a:extLst>
            </p:cNvPr>
            <p:cNvCxnSpPr>
              <a:cxnSpLocks/>
            </p:cNvCxnSpPr>
            <p:nvPr/>
          </p:nvCxnSpPr>
          <p:spPr>
            <a:xfrm>
              <a:off x="6663733" y="344338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6DCFF55-81CC-3C5B-908F-F2E2DF563CA1}"/>
                </a:ext>
              </a:extLst>
            </p:cNvPr>
            <p:cNvSpPr/>
            <p:nvPr/>
          </p:nvSpPr>
          <p:spPr>
            <a:xfrm>
              <a:off x="6897739" y="2785234"/>
              <a:ext cx="928050" cy="666400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2A00290-1776-4F57-7808-3725EB561EC0}"/>
                </a:ext>
              </a:extLst>
            </p:cNvPr>
            <p:cNvSpPr/>
            <p:nvPr/>
          </p:nvSpPr>
          <p:spPr>
            <a:xfrm>
              <a:off x="8317975" y="2812962"/>
              <a:ext cx="1066097" cy="642523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A618C24-CC26-DCD1-3CC6-A9DD1FB85B7D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2638259"/>
              <a:ext cx="273584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4C6117-8F07-2AF1-7735-1778DD16A015}"/>
                </a:ext>
              </a:extLst>
            </p:cNvPr>
            <p:cNvSpPr txBox="1"/>
            <p:nvPr/>
          </p:nvSpPr>
          <p:spPr>
            <a:xfrm>
              <a:off x="10346894" y="2812962"/>
              <a:ext cx="1328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data</a:t>
              </a:r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041580A-CB8E-B556-5257-D3C6724A8BB6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3007473"/>
              <a:ext cx="273584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236E72-CF8E-C8E3-5ACA-9FDCD6EBB65C}"/>
                </a:ext>
              </a:extLst>
            </p:cNvPr>
            <p:cNvSpPr txBox="1"/>
            <p:nvPr/>
          </p:nvSpPr>
          <p:spPr>
            <a:xfrm>
              <a:off x="10346894" y="2433198"/>
              <a:ext cx="1532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</a:t>
              </a:r>
              <a:endParaRPr lang="en-US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F6A50DA-D566-8ED3-7FBC-8B232E3B3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63173" y="3318239"/>
              <a:ext cx="263710" cy="221516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DBC380C-5F8A-13B3-B48B-6AAB2D3394EF}"/>
                </a:ext>
              </a:extLst>
            </p:cNvPr>
            <p:cNvCxnSpPr/>
            <p:nvPr/>
          </p:nvCxnSpPr>
          <p:spPr>
            <a:xfrm>
              <a:off x="7153753" y="2617864"/>
              <a:ext cx="48737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Question Mark with solid fill">
              <a:extLst>
                <a:ext uri="{FF2B5EF4-FFF2-40B4-BE49-F238E27FC236}">
                  <a16:creationId xmlns:a16="http://schemas.microsoft.com/office/drawing/2014/main" id="{9105F358-CDCD-4EF3-1823-C0FE02961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0760" y="2398343"/>
              <a:ext cx="354720" cy="354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9150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A625A-BA5D-DE85-B6A8-53FA96D9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20234-1258-C895-4BF6-26B8015A8DD6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47188-2C3B-0B51-3AA0-55BB7C5CE29A}"/>
              </a:ext>
            </a:extLst>
          </p:cNvPr>
          <p:cNvSpPr txBox="1"/>
          <p:nvPr/>
        </p:nvSpPr>
        <p:spPr>
          <a:xfrm>
            <a:off x="312428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B2642B-D364-81B1-0207-8C68631F0A03}"/>
              </a:ext>
            </a:extLst>
          </p:cNvPr>
          <p:cNvSpPr txBox="1"/>
          <p:nvPr/>
        </p:nvSpPr>
        <p:spPr>
          <a:xfrm>
            <a:off x="312428" y="1255869"/>
            <a:ext cx="46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When       is too strong,       will not learn     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FF73F79-64D0-B5DD-99E2-FB0F664F0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67" y="1340952"/>
            <a:ext cx="230071" cy="199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4553EEB-34D9-10AD-AFD5-F5AB1B34C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171" y="1329902"/>
            <a:ext cx="199167" cy="19916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B0FEAE26-5262-EA70-74D3-34F20BF01E4C}"/>
              </a:ext>
            </a:extLst>
          </p:cNvPr>
          <p:cNvSpPr/>
          <p:nvPr/>
        </p:nvSpPr>
        <p:spPr>
          <a:xfrm>
            <a:off x="608511" y="1868663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7FBB324-98A3-42D8-BA6C-E528C7006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61" y="1689453"/>
            <a:ext cx="845641" cy="50680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0D075097-630B-D593-83F6-C46B7D69F762}"/>
              </a:ext>
            </a:extLst>
          </p:cNvPr>
          <p:cNvGrpSpPr/>
          <p:nvPr/>
        </p:nvGrpSpPr>
        <p:grpSpPr>
          <a:xfrm>
            <a:off x="5017661" y="1054847"/>
            <a:ext cx="5215839" cy="1141412"/>
            <a:chOff x="6663733" y="2398343"/>
            <a:chExt cx="5215839" cy="11414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DFABDCE-1FAB-E82F-514F-48841B572A02}"/>
                </a:ext>
              </a:extLst>
            </p:cNvPr>
            <p:cNvCxnSpPr>
              <a:cxnSpLocks/>
            </p:cNvCxnSpPr>
            <p:nvPr/>
          </p:nvCxnSpPr>
          <p:spPr>
            <a:xfrm>
              <a:off x="6663733" y="344338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13B923F-253A-089A-6772-BD8ECCCED736}"/>
                </a:ext>
              </a:extLst>
            </p:cNvPr>
            <p:cNvSpPr/>
            <p:nvPr/>
          </p:nvSpPr>
          <p:spPr>
            <a:xfrm>
              <a:off x="6897739" y="2785234"/>
              <a:ext cx="928050" cy="666400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590A7F1-77AC-F189-DA21-9DA8D175D588}"/>
                </a:ext>
              </a:extLst>
            </p:cNvPr>
            <p:cNvSpPr/>
            <p:nvPr/>
          </p:nvSpPr>
          <p:spPr>
            <a:xfrm>
              <a:off x="8317975" y="2812962"/>
              <a:ext cx="1066097" cy="642523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F0E1A89-0A48-035B-3FCD-385E078EF930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2638259"/>
              <a:ext cx="273584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BB8DCE8-B6AB-45B6-7A55-DB378FB37940}"/>
                </a:ext>
              </a:extLst>
            </p:cNvPr>
            <p:cNvSpPr txBox="1"/>
            <p:nvPr/>
          </p:nvSpPr>
          <p:spPr>
            <a:xfrm>
              <a:off x="10346894" y="2812962"/>
              <a:ext cx="1328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data</a:t>
              </a:r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0549432-54DA-21A4-46BE-3B6E86A86854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3007473"/>
              <a:ext cx="273584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BC32D68-0BA3-F59A-28D3-C03AFC018A82}"/>
                </a:ext>
              </a:extLst>
            </p:cNvPr>
            <p:cNvSpPr txBox="1"/>
            <p:nvPr/>
          </p:nvSpPr>
          <p:spPr>
            <a:xfrm>
              <a:off x="10346894" y="2433198"/>
              <a:ext cx="1532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</a:t>
              </a:r>
              <a:endParaRPr lang="en-US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8AC295A-2BAD-3C96-63AE-26ED40910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3173" y="3318239"/>
              <a:ext cx="263710" cy="221516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F13066E-C7F9-73B6-235D-E4E5717A0159}"/>
                </a:ext>
              </a:extLst>
            </p:cNvPr>
            <p:cNvCxnSpPr/>
            <p:nvPr/>
          </p:nvCxnSpPr>
          <p:spPr>
            <a:xfrm>
              <a:off x="7153753" y="2617864"/>
              <a:ext cx="48737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Question Mark with solid fill">
              <a:extLst>
                <a:ext uri="{FF2B5EF4-FFF2-40B4-BE49-F238E27FC236}">
                  <a16:creationId xmlns:a16="http://schemas.microsoft.com/office/drawing/2014/main" id="{0B49B50E-0EDF-70E6-E070-85E4D70BE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0760" y="2398343"/>
              <a:ext cx="354720" cy="354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6103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FA21-AFD5-4E99-32A7-5C6D38F7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24DCA-FCD6-F8C7-1B72-C3CCEF2AF05B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4E615-1838-258B-058E-4EB2C88F21A6}"/>
              </a:ext>
            </a:extLst>
          </p:cNvPr>
          <p:cNvSpPr txBox="1"/>
          <p:nvPr/>
        </p:nvSpPr>
        <p:spPr>
          <a:xfrm>
            <a:off x="312428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B71760-3CC1-68E1-B5CF-5CE4DB235B63}"/>
              </a:ext>
            </a:extLst>
          </p:cNvPr>
          <p:cNvSpPr txBox="1"/>
          <p:nvPr/>
        </p:nvSpPr>
        <p:spPr>
          <a:xfrm>
            <a:off x="312428" y="1255869"/>
            <a:ext cx="46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When       is too strong,       will not learn     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D2CAE9-0CB5-4ECF-9B29-48985B755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67" y="1340952"/>
            <a:ext cx="230071" cy="199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3647B03-45BF-CDCD-745F-D607C28BA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171" y="1329902"/>
            <a:ext cx="199167" cy="19916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2929C28D-9870-150F-E251-30E7ECCC18D0}"/>
              </a:ext>
            </a:extLst>
          </p:cNvPr>
          <p:cNvSpPr/>
          <p:nvPr/>
        </p:nvSpPr>
        <p:spPr>
          <a:xfrm>
            <a:off x="608511" y="1868663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9150920-37E0-1879-BA02-A44CB03D4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61" y="1689453"/>
            <a:ext cx="845641" cy="50680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08653CC8-7C75-DE07-B2B9-2B74077EFF9A}"/>
              </a:ext>
            </a:extLst>
          </p:cNvPr>
          <p:cNvGrpSpPr/>
          <p:nvPr/>
        </p:nvGrpSpPr>
        <p:grpSpPr>
          <a:xfrm>
            <a:off x="5017661" y="1054847"/>
            <a:ext cx="5215839" cy="1141412"/>
            <a:chOff x="6663733" y="2398343"/>
            <a:chExt cx="5215839" cy="11414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016F245-4E5F-FF79-9FB3-9D00F77CBD8B}"/>
                </a:ext>
              </a:extLst>
            </p:cNvPr>
            <p:cNvCxnSpPr>
              <a:cxnSpLocks/>
            </p:cNvCxnSpPr>
            <p:nvPr/>
          </p:nvCxnSpPr>
          <p:spPr>
            <a:xfrm>
              <a:off x="6663733" y="344338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04399A2-D23E-E186-AD85-AB42969895B8}"/>
                </a:ext>
              </a:extLst>
            </p:cNvPr>
            <p:cNvSpPr/>
            <p:nvPr/>
          </p:nvSpPr>
          <p:spPr>
            <a:xfrm>
              <a:off x="6897739" y="2785234"/>
              <a:ext cx="928050" cy="666400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70EF1DD-2FE6-D137-34C3-D08C65D562EA}"/>
                </a:ext>
              </a:extLst>
            </p:cNvPr>
            <p:cNvSpPr/>
            <p:nvPr/>
          </p:nvSpPr>
          <p:spPr>
            <a:xfrm>
              <a:off x="8317975" y="2812962"/>
              <a:ext cx="1066097" cy="642523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E73F280-A0BD-BC9B-FFAF-84F7FBE2145E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2638259"/>
              <a:ext cx="273584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07599CD-644B-D71F-F52A-62744212C2BE}"/>
                </a:ext>
              </a:extLst>
            </p:cNvPr>
            <p:cNvSpPr txBox="1"/>
            <p:nvPr/>
          </p:nvSpPr>
          <p:spPr>
            <a:xfrm>
              <a:off x="10346894" y="2812962"/>
              <a:ext cx="1328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data</a:t>
              </a:r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C01DCA-0B26-D5FF-E497-5FF63CFF0869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3007473"/>
              <a:ext cx="273584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FA843D3-02A7-833E-ACB8-0B1BE4F35E3A}"/>
                </a:ext>
              </a:extLst>
            </p:cNvPr>
            <p:cNvSpPr txBox="1"/>
            <p:nvPr/>
          </p:nvSpPr>
          <p:spPr>
            <a:xfrm>
              <a:off x="10346894" y="2433198"/>
              <a:ext cx="1532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</a:t>
              </a:r>
              <a:endParaRPr lang="en-US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EAF5B61-5EFF-A15F-D0A1-C109F8B3F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3173" y="3318239"/>
              <a:ext cx="263710" cy="221516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927B939-BE8A-B223-32F3-10BE465A5C93}"/>
                </a:ext>
              </a:extLst>
            </p:cNvPr>
            <p:cNvCxnSpPr/>
            <p:nvPr/>
          </p:nvCxnSpPr>
          <p:spPr>
            <a:xfrm>
              <a:off x="7153753" y="2617864"/>
              <a:ext cx="48737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Question Mark with solid fill">
              <a:extLst>
                <a:ext uri="{FF2B5EF4-FFF2-40B4-BE49-F238E27FC236}">
                  <a16:creationId xmlns:a16="http://schemas.microsoft.com/office/drawing/2014/main" id="{75F2BB19-3184-935C-A6D2-C8A3538A2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0760" y="2398343"/>
              <a:ext cx="354720" cy="35472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6CD9ABA-147B-8370-B8D6-574FCE744BBF}"/>
              </a:ext>
            </a:extLst>
          </p:cNvPr>
          <p:cNvSpPr txBox="1"/>
          <p:nvPr/>
        </p:nvSpPr>
        <p:spPr>
          <a:xfrm>
            <a:off x="312428" y="2530899"/>
            <a:ext cx="90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Recall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A24BE7A-91D1-262A-F82C-80CC70E4A100}"/>
              </a:ext>
            </a:extLst>
          </p:cNvPr>
          <p:cNvGrpSpPr/>
          <p:nvPr/>
        </p:nvGrpSpPr>
        <p:grpSpPr>
          <a:xfrm>
            <a:off x="1333174" y="2530899"/>
            <a:ext cx="9875015" cy="369332"/>
            <a:chOff x="6840971" y="5987111"/>
            <a:chExt cx="9875015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E827123-5BAA-C483-6E6B-5C6277A3CA58}"/>
                </a:ext>
              </a:extLst>
            </p:cNvPr>
            <p:cNvSpPr txBox="1"/>
            <p:nvPr/>
          </p:nvSpPr>
          <p:spPr>
            <a:xfrm>
              <a:off x="7087325" y="5987111"/>
              <a:ext cx="9628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optimizes for Jensen-Shannon Diversity – calculate </a:t>
              </a:r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similarity</a:t>
              </a:r>
              <a:r>
                <a:rPr lang="en-US" dirty="0">
                  <a:latin typeface="Arial Rounded MT Bold" panose="020F0704030504030204" pitchFamily="34" charset="77"/>
                </a:rPr>
                <a:t> rather than</a:t>
              </a:r>
              <a:r>
                <a:rPr lang="zh-TW" altLang="en-US" dirty="0">
                  <a:latin typeface="Arial Rounded MT Bold" panose="020F0704030504030204" pitchFamily="34" charset="77"/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distance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A23CDCE-7D2A-C1F6-85B5-B6DD245D2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0971" y="6048599"/>
              <a:ext cx="246356" cy="246356"/>
            </a:xfrm>
            <a:prstGeom prst="rect">
              <a:avLst/>
            </a:prstGeom>
          </p:spPr>
        </p:pic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4B48EE03-E4F3-9807-949E-3B430968AD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54" y="2992087"/>
            <a:ext cx="5961130" cy="47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7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3231-4D01-606B-8D60-5E5D21FE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06DED2-4B1B-ACCD-00FF-35BC7517744A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37BBEA-72BE-98E5-B35A-3CA8B581B82D}"/>
              </a:ext>
            </a:extLst>
          </p:cNvPr>
          <p:cNvSpPr txBox="1"/>
          <p:nvPr/>
        </p:nvSpPr>
        <p:spPr>
          <a:xfrm>
            <a:off x="312428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52084C-D547-89FE-AB89-276CDB29134D}"/>
              </a:ext>
            </a:extLst>
          </p:cNvPr>
          <p:cNvSpPr txBox="1"/>
          <p:nvPr/>
        </p:nvSpPr>
        <p:spPr>
          <a:xfrm>
            <a:off x="312428" y="1255869"/>
            <a:ext cx="46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When       is too strong,       will not learn     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81D69D0-0063-6748-3F27-9F4B0AB88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67" y="1340952"/>
            <a:ext cx="230071" cy="199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E28C8B4-B8AC-A2D9-183E-40B5280C1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171" y="1329902"/>
            <a:ext cx="199167" cy="19916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0F33B503-D7EE-FCA1-FFC1-4AFC7F5C3789}"/>
              </a:ext>
            </a:extLst>
          </p:cNvPr>
          <p:cNvSpPr/>
          <p:nvPr/>
        </p:nvSpPr>
        <p:spPr>
          <a:xfrm>
            <a:off x="608511" y="1868663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5DA1388-F195-1FED-E463-616A986A2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61" y="1689453"/>
            <a:ext cx="845641" cy="50680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37B2AA45-225B-7C68-CAAC-C4FE95FFF325}"/>
              </a:ext>
            </a:extLst>
          </p:cNvPr>
          <p:cNvGrpSpPr/>
          <p:nvPr/>
        </p:nvGrpSpPr>
        <p:grpSpPr>
          <a:xfrm>
            <a:off x="5017661" y="1054847"/>
            <a:ext cx="5215839" cy="1141412"/>
            <a:chOff x="6663733" y="2398343"/>
            <a:chExt cx="5215839" cy="11414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0651311-2D34-22B8-C22C-EA07091F23DF}"/>
                </a:ext>
              </a:extLst>
            </p:cNvPr>
            <p:cNvCxnSpPr>
              <a:cxnSpLocks/>
            </p:cNvCxnSpPr>
            <p:nvPr/>
          </p:nvCxnSpPr>
          <p:spPr>
            <a:xfrm>
              <a:off x="6663733" y="344338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6AAC45E-4161-F376-CC83-3BAE00729F24}"/>
                </a:ext>
              </a:extLst>
            </p:cNvPr>
            <p:cNvSpPr/>
            <p:nvPr/>
          </p:nvSpPr>
          <p:spPr>
            <a:xfrm>
              <a:off x="6897739" y="2785234"/>
              <a:ext cx="928050" cy="666400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1C8AAC1-79B3-B62D-244C-4C56C3EF56DC}"/>
                </a:ext>
              </a:extLst>
            </p:cNvPr>
            <p:cNvSpPr/>
            <p:nvPr/>
          </p:nvSpPr>
          <p:spPr>
            <a:xfrm>
              <a:off x="8317975" y="2812962"/>
              <a:ext cx="1066097" cy="642523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CFAF809-C0BC-D888-C65E-C60F4F1DE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2638259"/>
              <a:ext cx="273584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21CC2E4-EE53-5049-8CD0-8C0B25289724}"/>
                </a:ext>
              </a:extLst>
            </p:cNvPr>
            <p:cNvSpPr txBox="1"/>
            <p:nvPr/>
          </p:nvSpPr>
          <p:spPr>
            <a:xfrm>
              <a:off x="10346894" y="2812962"/>
              <a:ext cx="1328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data</a:t>
              </a:r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1D464D2-3452-0DD8-E70F-597620628EB6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3007473"/>
              <a:ext cx="273584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8E94B6E-E1B6-230B-03D1-60C644AE9D61}"/>
                </a:ext>
              </a:extLst>
            </p:cNvPr>
            <p:cNvSpPr txBox="1"/>
            <p:nvPr/>
          </p:nvSpPr>
          <p:spPr>
            <a:xfrm>
              <a:off x="10346894" y="2433198"/>
              <a:ext cx="1532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</a:t>
              </a:r>
              <a:endParaRPr lang="en-US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59945E9-90FB-B473-72B8-4C66C84FD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3173" y="3318239"/>
              <a:ext cx="263710" cy="221516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FCCE991-2344-88DF-1370-D5FAB7DA6E44}"/>
                </a:ext>
              </a:extLst>
            </p:cNvPr>
            <p:cNvCxnSpPr/>
            <p:nvPr/>
          </p:nvCxnSpPr>
          <p:spPr>
            <a:xfrm>
              <a:off x="7153753" y="2617864"/>
              <a:ext cx="48737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Question Mark with solid fill">
              <a:extLst>
                <a:ext uri="{FF2B5EF4-FFF2-40B4-BE49-F238E27FC236}">
                  <a16:creationId xmlns:a16="http://schemas.microsoft.com/office/drawing/2014/main" id="{1A9A2D1E-0CFC-71D7-F91C-18D20A832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0760" y="2398343"/>
              <a:ext cx="354720" cy="35472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4F7C774-F3C1-8C75-AF68-F430FC036799}"/>
              </a:ext>
            </a:extLst>
          </p:cNvPr>
          <p:cNvSpPr txBox="1"/>
          <p:nvPr/>
        </p:nvSpPr>
        <p:spPr>
          <a:xfrm>
            <a:off x="312428" y="2530899"/>
            <a:ext cx="90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Recall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89BE06-02CA-F146-67F2-F2EE9B4FAD3C}"/>
              </a:ext>
            </a:extLst>
          </p:cNvPr>
          <p:cNvGrpSpPr/>
          <p:nvPr/>
        </p:nvGrpSpPr>
        <p:grpSpPr>
          <a:xfrm>
            <a:off x="1333174" y="2530899"/>
            <a:ext cx="9875015" cy="369332"/>
            <a:chOff x="6840971" y="5987111"/>
            <a:chExt cx="9875015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42C10C2-5433-4FE8-507B-0F9AC38D6D20}"/>
                </a:ext>
              </a:extLst>
            </p:cNvPr>
            <p:cNvSpPr txBox="1"/>
            <p:nvPr/>
          </p:nvSpPr>
          <p:spPr>
            <a:xfrm>
              <a:off x="7087325" y="5987111"/>
              <a:ext cx="9628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optimizes for Jensen-Shannon Diversity – calculate </a:t>
              </a:r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similarity</a:t>
              </a:r>
              <a:r>
                <a:rPr lang="en-US" dirty="0">
                  <a:latin typeface="Arial Rounded MT Bold" panose="020F0704030504030204" pitchFamily="34" charset="77"/>
                </a:rPr>
                <a:t> rather than</a:t>
              </a:r>
              <a:r>
                <a:rPr lang="zh-TW" altLang="en-US" dirty="0">
                  <a:latin typeface="Arial Rounded MT Bold" panose="020F0704030504030204" pitchFamily="34" charset="77"/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distance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C28578E-1152-EE4C-1BAA-1D9EB502D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0971" y="6048599"/>
              <a:ext cx="246356" cy="246356"/>
            </a:xfrm>
            <a:prstGeom prst="rect">
              <a:avLst/>
            </a:prstGeom>
          </p:spPr>
        </p:pic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D677F3E-1102-EE1E-6F81-E4BCC27AF5A7}"/>
              </a:ext>
            </a:extLst>
          </p:cNvPr>
          <p:cNvCxnSpPr>
            <a:cxnSpLocks/>
          </p:cNvCxnSpPr>
          <p:nvPr/>
        </p:nvCxnSpPr>
        <p:spPr>
          <a:xfrm>
            <a:off x="538740" y="5224126"/>
            <a:ext cx="3146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182FA5-97C9-EFDB-0602-EE19040A3902}"/>
              </a:ext>
            </a:extLst>
          </p:cNvPr>
          <p:cNvSpPr/>
          <p:nvPr/>
        </p:nvSpPr>
        <p:spPr>
          <a:xfrm>
            <a:off x="772746" y="4565976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99D1908-BD57-20E9-8B87-89671D386791}"/>
              </a:ext>
            </a:extLst>
          </p:cNvPr>
          <p:cNvSpPr/>
          <p:nvPr/>
        </p:nvSpPr>
        <p:spPr>
          <a:xfrm>
            <a:off x="2314028" y="4593704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3BAFEE4-236D-685B-41A8-3C6249D23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125" y="5340131"/>
            <a:ext cx="263710" cy="221516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13066906-FDFE-227E-F947-97E4D4108518}"/>
              </a:ext>
            </a:extLst>
          </p:cNvPr>
          <p:cNvSpPr/>
          <p:nvPr/>
        </p:nvSpPr>
        <p:spPr>
          <a:xfrm>
            <a:off x="772746" y="4979406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E11C79A-8126-753A-C4CB-756FE6358931}"/>
              </a:ext>
            </a:extLst>
          </p:cNvPr>
          <p:cNvSpPr/>
          <p:nvPr/>
        </p:nvSpPr>
        <p:spPr>
          <a:xfrm>
            <a:off x="2383051" y="4956769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79104A84-13FF-34D1-52AB-8558AEB40A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54" y="2992087"/>
            <a:ext cx="5961130" cy="47976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AA4C2BA-45BD-2760-DF67-77BAB8CADB2C}"/>
              </a:ext>
            </a:extLst>
          </p:cNvPr>
          <p:cNvGrpSpPr/>
          <p:nvPr/>
        </p:nvGrpSpPr>
        <p:grpSpPr>
          <a:xfrm>
            <a:off x="2437610" y="3504553"/>
            <a:ext cx="1248009" cy="120642"/>
            <a:chOff x="2437610" y="3504553"/>
            <a:chExt cx="1248009" cy="12064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56D704B-96A8-1B99-B8C2-D82B0DC873E5}"/>
                </a:ext>
              </a:extLst>
            </p:cNvPr>
            <p:cNvCxnSpPr>
              <a:cxnSpLocks/>
            </p:cNvCxnSpPr>
            <p:nvPr/>
          </p:nvCxnSpPr>
          <p:spPr>
            <a:xfrm>
              <a:off x="2527886" y="3506376"/>
              <a:ext cx="115773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FF53B4B-2C47-7203-6487-94861938B0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7610" y="3504553"/>
              <a:ext cx="104728" cy="12064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6" name="Picture 95">
            <a:extLst>
              <a:ext uri="{FF2B5EF4-FFF2-40B4-BE49-F238E27FC236}">
                <a16:creationId xmlns:a16="http://schemas.microsoft.com/office/drawing/2014/main" id="{F6ECE107-EFB9-D393-EC61-CA58DF11AF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52" y="3719191"/>
            <a:ext cx="3140528" cy="55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1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04E52-3215-F134-0CB0-B54CBEDDB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5A4D1C-F464-418A-48E0-6603EC045EB5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CA4B9D-453B-1962-DF40-C1AAEF557916}"/>
              </a:ext>
            </a:extLst>
          </p:cNvPr>
          <p:cNvSpPr txBox="1"/>
          <p:nvPr/>
        </p:nvSpPr>
        <p:spPr>
          <a:xfrm>
            <a:off x="312428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B313A0-B829-664F-6801-D04CA763F326}"/>
              </a:ext>
            </a:extLst>
          </p:cNvPr>
          <p:cNvSpPr txBox="1"/>
          <p:nvPr/>
        </p:nvSpPr>
        <p:spPr>
          <a:xfrm>
            <a:off x="312428" y="1255869"/>
            <a:ext cx="46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When       is too strong,       will not learn     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027C19D-507F-DBF5-7D90-3B03CFE67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67" y="1340952"/>
            <a:ext cx="230071" cy="199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DAFEAED-99F6-87E6-D251-A9B32951F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171" y="1329902"/>
            <a:ext cx="199167" cy="19916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3A6AE999-A689-BF65-04D8-CE5FB224D58E}"/>
              </a:ext>
            </a:extLst>
          </p:cNvPr>
          <p:cNvSpPr/>
          <p:nvPr/>
        </p:nvSpPr>
        <p:spPr>
          <a:xfrm>
            <a:off x="608511" y="1868663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7A418A6-86BC-73A2-F7BC-AC1A4A0FB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61" y="1689453"/>
            <a:ext cx="845641" cy="50680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7127044-5270-C1F6-9CA4-48D936FB01FF}"/>
              </a:ext>
            </a:extLst>
          </p:cNvPr>
          <p:cNvGrpSpPr/>
          <p:nvPr/>
        </p:nvGrpSpPr>
        <p:grpSpPr>
          <a:xfrm>
            <a:off x="5017661" y="1054847"/>
            <a:ext cx="5215839" cy="1141412"/>
            <a:chOff x="6663733" y="2398343"/>
            <a:chExt cx="5215839" cy="11414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7CF5290-2DE4-FF17-47FB-54D0FD33DE34}"/>
                </a:ext>
              </a:extLst>
            </p:cNvPr>
            <p:cNvCxnSpPr>
              <a:cxnSpLocks/>
            </p:cNvCxnSpPr>
            <p:nvPr/>
          </p:nvCxnSpPr>
          <p:spPr>
            <a:xfrm>
              <a:off x="6663733" y="344338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9C6296-1563-74D6-B7DE-6C13576C5C9F}"/>
                </a:ext>
              </a:extLst>
            </p:cNvPr>
            <p:cNvSpPr/>
            <p:nvPr/>
          </p:nvSpPr>
          <p:spPr>
            <a:xfrm>
              <a:off x="6897739" y="2785234"/>
              <a:ext cx="928050" cy="666400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43D606A-771E-A4BB-8E73-EE9FDC52731F}"/>
                </a:ext>
              </a:extLst>
            </p:cNvPr>
            <p:cNvSpPr/>
            <p:nvPr/>
          </p:nvSpPr>
          <p:spPr>
            <a:xfrm>
              <a:off x="8317975" y="2812962"/>
              <a:ext cx="1066097" cy="642523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589FD-877A-6D57-F84A-0370C2D34048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2638259"/>
              <a:ext cx="273584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2DF8552-4233-24D9-1AEF-E96E5C9C845C}"/>
                </a:ext>
              </a:extLst>
            </p:cNvPr>
            <p:cNvSpPr txBox="1"/>
            <p:nvPr/>
          </p:nvSpPr>
          <p:spPr>
            <a:xfrm>
              <a:off x="10346894" y="2812962"/>
              <a:ext cx="1328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data</a:t>
              </a:r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D75BB0-0394-593D-2556-6A4B879F35A8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3007473"/>
              <a:ext cx="273584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F8EFD92-57D7-CE3E-3AC4-75E676F425CE}"/>
                </a:ext>
              </a:extLst>
            </p:cNvPr>
            <p:cNvSpPr txBox="1"/>
            <p:nvPr/>
          </p:nvSpPr>
          <p:spPr>
            <a:xfrm>
              <a:off x="10346894" y="2433198"/>
              <a:ext cx="1532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</a:t>
              </a:r>
              <a:endParaRPr lang="en-US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F52CD73-7AB5-2182-E51B-61B0ECA7B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3173" y="3318239"/>
              <a:ext cx="263710" cy="221516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DF6278D-C753-DC88-AC04-294DD70AD61D}"/>
                </a:ext>
              </a:extLst>
            </p:cNvPr>
            <p:cNvCxnSpPr/>
            <p:nvPr/>
          </p:nvCxnSpPr>
          <p:spPr>
            <a:xfrm>
              <a:off x="7153753" y="2617864"/>
              <a:ext cx="48737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Question Mark with solid fill">
              <a:extLst>
                <a:ext uri="{FF2B5EF4-FFF2-40B4-BE49-F238E27FC236}">
                  <a16:creationId xmlns:a16="http://schemas.microsoft.com/office/drawing/2014/main" id="{05D2BDBA-E328-9D9C-24EE-B9B5E3F85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0760" y="2398343"/>
              <a:ext cx="354720" cy="35472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9B2B2BC-97B7-DE41-441B-21BCD71A451D}"/>
              </a:ext>
            </a:extLst>
          </p:cNvPr>
          <p:cNvSpPr txBox="1"/>
          <p:nvPr/>
        </p:nvSpPr>
        <p:spPr>
          <a:xfrm>
            <a:off x="312428" y="2530899"/>
            <a:ext cx="90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Recall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FB054F7-66BC-6B0E-FA19-798CD310812C}"/>
              </a:ext>
            </a:extLst>
          </p:cNvPr>
          <p:cNvGrpSpPr/>
          <p:nvPr/>
        </p:nvGrpSpPr>
        <p:grpSpPr>
          <a:xfrm>
            <a:off x="1333174" y="2530899"/>
            <a:ext cx="9875015" cy="369332"/>
            <a:chOff x="6840971" y="5987111"/>
            <a:chExt cx="9875015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6D03CF9-4766-46F5-B483-C559BAA1FD54}"/>
                </a:ext>
              </a:extLst>
            </p:cNvPr>
            <p:cNvSpPr txBox="1"/>
            <p:nvPr/>
          </p:nvSpPr>
          <p:spPr>
            <a:xfrm>
              <a:off x="7087325" y="5987111"/>
              <a:ext cx="9628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optimizes for Jensen-Shannon Diversity – calculate </a:t>
              </a:r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similarity</a:t>
              </a:r>
              <a:r>
                <a:rPr lang="en-US" dirty="0">
                  <a:latin typeface="Arial Rounded MT Bold" panose="020F0704030504030204" pitchFamily="34" charset="77"/>
                </a:rPr>
                <a:t> rather than</a:t>
              </a:r>
              <a:r>
                <a:rPr lang="zh-TW" altLang="en-US" dirty="0">
                  <a:latin typeface="Arial Rounded MT Bold" panose="020F0704030504030204" pitchFamily="34" charset="77"/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distance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BE52AD5-0B13-0B90-138D-94AA0D225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0971" y="6048599"/>
              <a:ext cx="246356" cy="246356"/>
            </a:xfrm>
            <a:prstGeom prst="rect">
              <a:avLst/>
            </a:prstGeom>
          </p:spPr>
        </p:pic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6E6C78F-F7AA-2CFF-5890-CD5FF6993BD1}"/>
              </a:ext>
            </a:extLst>
          </p:cNvPr>
          <p:cNvCxnSpPr>
            <a:cxnSpLocks/>
          </p:cNvCxnSpPr>
          <p:nvPr/>
        </p:nvCxnSpPr>
        <p:spPr>
          <a:xfrm>
            <a:off x="538740" y="5224126"/>
            <a:ext cx="3146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412C580-5253-9F7C-1C7D-E33B6BE19AD1}"/>
              </a:ext>
            </a:extLst>
          </p:cNvPr>
          <p:cNvSpPr/>
          <p:nvPr/>
        </p:nvSpPr>
        <p:spPr>
          <a:xfrm>
            <a:off x="772746" y="4565976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3431AF4-352B-EA2F-EC65-FC3C8A2CFD82}"/>
              </a:ext>
            </a:extLst>
          </p:cNvPr>
          <p:cNvSpPr/>
          <p:nvPr/>
        </p:nvSpPr>
        <p:spPr>
          <a:xfrm>
            <a:off x="2314028" y="4593704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CCAF69D-F0FA-9CB3-AE39-936BFEB83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125" y="5340131"/>
            <a:ext cx="263710" cy="221516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44186D5-DF97-0F84-9326-066779B88743}"/>
              </a:ext>
            </a:extLst>
          </p:cNvPr>
          <p:cNvSpPr/>
          <p:nvPr/>
        </p:nvSpPr>
        <p:spPr>
          <a:xfrm>
            <a:off x="772746" y="4979406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DCA4D0F-C4FE-ABCC-22B3-A9D2DEAA5508}"/>
              </a:ext>
            </a:extLst>
          </p:cNvPr>
          <p:cNvSpPr/>
          <p:nvPr/>
        </p:nvSpPr>
        <p:spPr>
          <a:xfrm>
            <a:off x="2383051" y="4956769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CFB26692-AEA6-631D-AFC5-7BFE908AC8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54" y="2992087"/>
            <a:ext cx="5961130" cy="47976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C67EE9E-1102-F9C6-EE3C-6D551BA2DC5F}"/>
              </a:ext>
            </a:extLst>
          </p:cNvPr>
          <p:cNvGrpSpPr/>
          <p:nvPr/>
        </p:nvGrpSpPr>
        <p:grpSpPr>
          <a:xfrm>
            <a:off x="2437610" y="3504553"/>
            <a:ext cx="1248009" cy="120642"/>
            <a:chOff x="2437610" y="3504553"/>
            <a:chExt cx="1248009" cy="12064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8351A8-5DE0-33E1-57E2-7345FD53D11D}"/>
                </a:ext>
              </a:extLst>
            </p:cNvPr>
            <p:cNvCxnSpPr>
              <a:cxnSpLocks/>
            </p:cNvCxnSpPr>
            <p:nvPr/>
          </p:nvCxnSpPr>
          <p:spPr>
            <a:xfrm>
              <a:off x="2527886" y="3506376"/>
              <a:ext cx="115773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25F6C7F-8276-E24E-30A5-C38D6DAF2D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7610" y="3504553"/>
              <a:ext cx="104728" cy="12064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D5694A1-E9D2-58FB-D274-3F8AB7A6305E}"/>
              </a:ext>
            </a:extLst>
          </p:cNvPr>
          <p:cNvSpPr txBox="1"/>
          <p:nvPr/>
        </p:nvSpPr>
        <p:spPr>
          <a:xfrm>
            <a:off x="3604107" y="3776727"/>
            <a:ext cx="6070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Only the “overlap” between two distributions matters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1A991AE-6040-7C4B-E772-6F7E8DE90437}"/>
              </a:ext>
            </a:extLst>
          </p:cNvPr>
          <p:cNvCxnSpPr>
            <a:cxnSpLocks/>
          </p:cNvCxnSpPr>
          <p:nvPr/>
        </p:nvCxnSpPr>
        <p:spPr>
          <a:xfrm>
            <a:off x="3871381" y="5213659"/>
            <a:ext cx="3146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9B6BDC70-EE65-AFEA-D6E6-AF7E98A5C9F4}"/>
              </a:ext>
            </a:extLst>
          </p:cNvPr>
          <p:cNvSpPr/>
          <p:nvPr/>
        </p:nvSpPr>
        <p:spPr>
          <a:xfrm>
            <a:off x="4673215" y="4555509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76954797-E673-08C6-EEE3-51857AB51E81}"/>
              </a:ext>
            </a:extLst>
          </p:cNvPr>
          <p:cNvSpPr/>
          <p:nvPr/>
        </p:nvSpPr>
        <p:spPr>
          <a:xfrm>
            <a:off x="5646669" y="4583237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6260F82A-A68E-F490-D676-B7D776970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766" y="5329664"/>
            <a:ext cx="263710" cy="221516"/>
          </a:xfrm>
          <a:prstGeom prst="rect">
            <a:avLst/>
          </a:pr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6DFE8465-F68D-65D1-7F59-FA7D487065CC}"/>
              </a:ext>
            </a:extLst>
          </p:cNvPr>
          <p:cNvSpPr/>
          <p:nvPr/>
        </p:nvSpPr>
        <p:spPr>
          <a:xfrm>
            <a:off x="4673215" y="4968939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987E0F59-6E2E-3374-D328-C64095C96185}"/>
              </a:ext>
            </a:extLst>
          </p:cNvPr>
          <p:cNvSpPr/>
          <p:nvPr/>
        </p:nvSpPr>
        <p:spPr>
          <a:xfrm>
            <a:off x="5715692" y="4946302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38E0F2-8CF8-2155-E8E3-13AA460F0A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52" y="3719191"/>
            <a:ext cx="3140528" cy="55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83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475F-A7D9-6F63-D71B-EE55904B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68F90B-4EF1-8B25-312F-21A8D884C705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C8C7A-2130-8072-8AFC-32276D3B7B79}"/>
              </a:ext>
            </a:extLst>
          </p:cNvPr>
          <p:cNvSpPr txBox="1"/>
          <p:nvPr/>
        </p:nvSpPr>
        <p:spPr>
          <a:xfrm>
            <a:off x="312428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C72CA0-F6C4-D754-DAE5-949A22EADD24}"/>
              </a:ext>
            </a:extLst>
          </p:cNvPr>
          <p:cNvSpPr txBox="1"/>
          <p:nvPr/>
        </p:nvSpPr>
        <p:spPr>
          <a:xfrm>
            <a:off x="312428" y="1255869"/>
            <a:ext cx="46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When       is too strong,       will not learn     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A10BB62-2F93-F240-8328-935C86D2E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67" y="1340952"/>
            <a:ext cx="230071" cy="199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6A959B3-32C1-B7DB-28F6-93393B589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171" y="1329902"/>
            <a:ext cx="199167" cy="19916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9CF9EFA8-5F43-4B31-5D03-AEB3E4C2C5E2}"/>
              </a:ext>
            </a:extLst>
          </p:cNvPr>
          <p:cNvSpPr/>
          <p:nvPr/>
        </p:nvSpPr>
        <p:spPr>
          <a:xfrm>
            <a:off x="608511" y="1868663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515AFA5-B1F0-0B9E-2FC6-654D9E374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61" y="1689453"/>
            <a:ext cx="845641" cy="50680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1B7F526-9452-CC76-8B06-653C37F1BB38}"/>
              </a:ext>
            </a:extLst>
          </p:cNvPr>
          <p:cNvGrpSpPr/>
          <p:nvPr/>
        </p:nvGrpSpPr>
        <p:grpSpPr>
          <a:xfrm>
            <a:off x="5017661" y="1054847"/>
            <a:ext cx="5215839" cy="1141412"/>
            <a:chOff x="6663733" y="2398343"/>
            <a:chExt cx="5215839" cy="11414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C933634-728B-E6E6-E032-95D2F38FEFBB}"/>
                </a:ext>
              </a:extLst>
            </p:cNvPr>
            <p:cNvCxnSpPr>
              <a:cxnSpLocks/>
            </p:cNvCxnSpPr>
            <p:nvPr/>
          </p:nvCxnSpPr>
          <p:spPr>
            <a:xfrm>
              <a:off x="6663733" y="344338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19C0AC-686C-7A59-58DA-EBE5827DC993}"/>
                </a:ext>
              </a:extLst>
            </p:cNvPr>
            <p:cNvSpPr/>
            <p:nvPr/>
          </p:nvSpPr>
          <p:spPr>
            <a:xfrm>
              <a:off x="6897739" y="2785234"/>
              <a:ext cx="928050" cy="666400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7651179-5973-3638-7553-0ED67A8E811D}"/>
                </a:ext>
              </a:extLst>
            </p:cNvPr>
            <p:cNvSpPr/>
            <p:nvPr/>
          </p:nvSpPr>
          <p:spPr>
            <a:xfrm>
              <a:off x="8317975" y="2812962"/>
              <a:ext cx="1066097" cy="642523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17D3A1C-C29D-E55D-E5C3-E79DC573A3A8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2638259"/>
              <a:ext cx="273584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60D9F3-C64D-7319-0E76-AEC84213C9FF}"/>
                </a:ext>
              </a:extLst>
            </p:cNvPr>
            <p:cNvSpPr txBox="1"/>
            <p:nvPr/>
          </p:nvSpPr>
          <p:spPr>
            <a:xfrm>
              <a:off x="10346894" y="2812962"/>
              <a:ext cx="1328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data</a:t>
              </a:r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9B47261-97B1-5329-9C34-A7E250BDD321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3007473"/>
              <a:ext cx="273584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236C67-4954-44E7-7F1A-255B1E9FE8A0}"/>
                </a:ext>
              </a:extLst>
            </p:cNvPr>
            <p:cNvSpPr txBox="1"/>
            <p:nvPr/>
          </p:nvSpPr>
          <p:spPr>
            <a:xfrm>
              <a:off x="10346894" y="2433198"/>
              <a:ext cx="1532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</a:t>
              </a:r>
              <a:endParaRPr lang="en-US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0895699-8963-0668-3C8E-E40361B21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3173" y="3318239"/>
              <a:ext cx="263710" cy="221516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C261EAA-965F-2A5D-3195-CC5BE04A9123}"/>
                </a:ext>
              </a:extLst>
            </p:cNvPr>
            <p:cNvCxnSpPr/>
            <p:nvPr/>
          </p:nvCxnSpPr>
          <p:spPr>
            <a:xfrm>
              <a:off x="7153753" y="2617864"/>
              <a:ext cx="48737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Question Mark with solid fill">
              <a:extLst>
                <a:ext uri="{FF2B5EF4-FFF2-40B4-BE49-F238E27FC236}">
                  <a16:creationId xmlns:a16="http://schemas.microsoft.com/office/drawing/2014/main" id="{9467E906-E3DD-990A-40FE-C6FBCCF96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0760" y="2398343"/>
              <a:ext cx="354720" cy="35472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354A084-82D5-2BA2-6114-20A86940C6AF}"/>
              </a:ext>
            </a:extLst>
          </p:cNvPr>
          <p:cNvSpPr txBox="1"/>
          <p:nvPr/>
        </p:nvSpPr>
        <p:spPr>
          <a:xfrm>
            <a:off x="312428" y="2530899"/>
            <a:ext cx="90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Recall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A17150-49E2-30C4-FF47-456958B7B743}"/>
              </a:ext>
            </a:extLst>
          </p:cNvPr>
          <p:cNvGrpSpPr/>
          <p:nvPr/>
        </p:nvGrpSpPr>
        <p:grpSpPr>
          <a:xfrm>
            <a:off x="1333174" y="2530899"/>
            <a:ext cx="9875015" cy="369332"/>
            <a:chOff x="6840971" y="5987111"/>
            <a:chExt cx="9875015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33798A9-F7A2-5069-41A2-6BBBD8FB7218}"/>
                </a:ext>
              </a:extLst>
            </p:cNvPr>
            <p:cNvSpPr txBox="1"/>
            <p:nvPr/>
          </p:nvSpPr>
          <p:spPr>
            <a:xfrm>
              <a:off x="7087325" y="5987111"/>
              <a:ext cx="9628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optimizes for Jensen-Shannon Diversity – calculate </a:t>
              </a:r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similarity</a:t>
              </a:r>
              <a:r>
                <a:rPr lang="en-US" dirty="0">
                  <a:latin typeface="Arial Rounded MT Bold" panose="020F0704030504030204" pitchFamily="34" charset="77"/>
                </a:rPr>
                <a:t> rather than</a:t>
              </a:r>
              <a:r>
                <a:rPr lang="zh-TW" altLang="en-US" dirty="0">
                  <a:latin typeface="Arial Rounded MT Bold" panose="020F0704030504030204" pitchFamily="34" charset="77"/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distance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B03EE92-3F93-C231-57DC-365BC7A3C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0971" y="6048599"/>
              <a:ext cx="246356" cy="246356"/>
            </a:xfrm>
            <a:prstGeom prst="rect">
              <a:avLst/>
            </a:prstGeom>
          </p:spPr>
        </p:pic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6C9248C-C5CD-76E6-E2B0-EEBBB3C1EB57}"/>
              </a:ext>
            </a:extLst>
          </p:cNvPr>
          <p:cNvCxnSpPr>
            <a:cxnSpLocks/>
          </p:cNvCxnSpPr>
          <p:nvPr/>
        </p:nvCxnSpPr>
        <p:spPr>
          <a:xfrm>
            <a:off x="538740" y="5224126"/>
            <a:ext cx="3146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21E281C-3AA8-50D9-DDE2-84D5B86FF9E9}"/>
              </a:ext>
            </a:extLst>
          </p:cNvPr>
          <p:cNvSpPr/>
          <p:nvPr/>
        </p:nvSpPr>
        <p:spPr>
          <a:xfrm>
            <a:off x="772746" y="4565976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155B842-1181-F399-5E6F-C3F1EC56EE87}"/>
              </a:ext>
            </a:extLst>
          </p:cNvPr>
          <p:cNvSpPr/>
          <p:nvPr/>
        </p:nvSpPr>
        <p:spPr>
          <a:xfrm>
            <a:off x="2314028" y="4593704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A037339-A2A8-9C3C-2542-F011F063B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125" y="5340131"/>
            <a:ext cx="263710" cy="221516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8A2C2E7-6BEF-AD33-2FA5-FC8FF2B08AAD}"/>
              </a:ext>
            </a:extLst>
          </p:cNvPr>
          <p:cNvSpPr/>
          <p:nvPr/>
        </p:nvSpPr>
        <p:spPr>
          <a:xfrm>
            <a:off x="772746" y="4979406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49EC160-EF9C-2752-E931-D6FE0AF6AF01}"/>
              </a:ext>
            </a:extLst>
          </p:cNvPr>
          <p:cNvSpPr/>
          <p:nvPr/>
        </p:nvSpPr>
        <p:spPr>
          <a:xfrm>
            <a:off x="2383051" y="4956769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784B0514-C23B-6D10-4AB6-717A6C3DB6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54" y="2992087"/>
            <a:ext cx="5961130" cy="47976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EAA56D5-264C-30AF-8CAA-ADC392802B62}"/>
              </a:ext>
            </a:extLst>
          </p:cNvPr>
          <p:cNvGrpSpPr/>
          <p:nvPr/>
        </p:nvGrpSpPr>
        <p:grpSpPr>
          <a:xfrm>
            <a:off x="2437610" y="3504553"/>
            <a:ext cx="1248009" cy="120642"/>
            <a:chOff x="2437610" y="3504553"/>
            <a:chExt cx="1248009" cy="12064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2814DCC-9353-C975-E85B-BBDE9B604C64}"/>
                </a:ext>
              </a:extLst>
            </p:cNvPr>
            <p:cNvCxnSpPr>
              <a:cxnSpLocks/>
            </p:cNvCxnSpPr>
            <p:nvPr/>
          </p:nvCxnSpPr>
          <p:spPr>
            <a:xfrm>
              <a:off x="2527886" y="3506376"/>
              <a:ext cx="115773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A7C910-064D-A953-19EC-BD9B56FD8D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7610" y="3504553"/>
              <a:ext cx="104728" cy="12064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B7BA566-5754-0CE9-4E2B-B81A6281D690}"/>
              </a:ext>
            </a:extLst>
          </p:cNvPr>
          <p:cNvSpPr txBox="1"/>
          <p:nvPr/>
        </p:nvSpPr>
        <p:spPr>
          <a:xfrm>
            <a:off x="3604107" y="3776727"/>
            <a:ext cx="6070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Only the “overlap” between two distributions matters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CA5E12A-F259-485F-E465-16694611D930}"/>
              </a:ext>
            </a:extLst>
          </p:cNvPr>
          <p:cNvCxnSpPr>
            <a:cxnSpLocks/>
          </p:cNvCxnSpPr>
          <p:nvPr/>
        </p:nvCxnSpPr>
        <p:spPr>
          <a:xfrm>
            <a:off x="3871381" y="5213659"/>
            <a:ext cx="3146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3C48C5E-D349-DC33-1A93-3AAC7D72FAD4}"/>
              </a:ext>
            </a:extLst>
          </p:cNvPr>
          <p:cNvSpPr/>
          <p:nvPr/>
        </p:nvSpPr>
        <p:spPr>
          <a:xfrm>
            <a:off x="4673215" y="4555509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1DF8F8F-50F6-BCCE-B3BC-4D182D2A8770}"/>
              </a:ext>
            </a:extLst>
          </p:cNvPr>
          <p:cNvSpPr/>
          <p:nvPr/>
        </p:nvSpPr>
        <p:spPr>
          <a:xfrm>
            <a:off x="5646669" y="4583237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AA158B4-597C-426A-6DB6-E1DAB846D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766" y="5329664"/>
            <a:ext cx="263710" cy="221516"/>
          </a:xfrm>
          <a:prstGeom prst="rect">
            <a:avLst/>
          </a:pr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7C7C9BD7-2DEB-49B0-3EDB-39066CE0B139}"/>
              </a:ext>
            </a:extLst>
          </p:cNvPr>
          <p:cNvSpPr/>
          <p:nvPr/>
        </p:nvSpPr>
        <p:spPr>
          <a:xfrm>
            <a:off x="4673215" y="4968939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02550783-B7C6-13F7-E108-D21A5507E6B2}"/>
              </a:ext>
            </a:extLst>
          </p:cNvPr>
          <p:cNvSpPr/>
          <p:nvPr/>
        </p:nvSpPr>
        <p:spPr>
          <a:xfrm>
            <a:off x="5715692" y="4946302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FC949F5-82D9-171B-C843-2E930F322006}"/>
              </a:ext>
            </a:extLst>
          </p:cNvPr>
          <p:cNvCxnSpPr>
            <a:cxnSpLocks/>
          </p:cNvCxnSpPr>
          <p:nvPr/>
        </p:nvCxnSpPr>
        <p:spPr>
          <a:xfrm>
            <a:off x="7266712" y="5194253"/>
            <a:ext cx="24074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F95E3DCF-9187-9C0F-6B62-99E01432A69B}"/>
              </a:ext>
            </a:extLst>
          </p:cNvPr>
          <p:cNvSpPr/>
          <p:nvPr/>
        </p:nvSpPr>
        <p:spPr>
          <a:xfrm>
            <a:off x="7916786" y="4536103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5FA6FA1-6235-1683-0DC5-C0ACC4D9FCEE}"/>
              </a:ext>
            </a:extLst>
          </p:cNvPr>
          <p:cNvSpPr/>
          <p:nvPr/>
        </p:nvSpPr>
        <p:spPr>
          <a:xfrm>
            <a:off x="8193935" y="4563831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BA06B22E-2FD7-4F53-7FDA-782738E29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8097" y="5310258"/>
            <a:ext cx="263710" cy="221516"/>
          </a:xfrm>
          <a:prstGeom prst="rect">
            <a:avLst/>
          </a:prstGeom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1C56D898-84AD-1593-9B51-6FE22F1EF9EE}"/>
              </a:ext>
            </a:extLst>
          </p:cNvPr>
          <p:cNvSpPr/>
          <p:nvPr/>
        </p:nvSpPr>
        <p:spPr>
          <a:xfrm>
            <a:off x="7916786" y="4949533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4E796392-18C6-AD0B-185A-ED6BA78790BC}"/>
              </a:ext>
            </a:extLst>
          </p:cNvPr>
          <p:cNvSpPr/>
          <p:nvPr/>
        </p:nvSpPr>
        <p:spPr>
          <a:xfrm>
            <a:off x="8262958" y="4926896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49E1939-56C6-30E9-B044-EE0C94B21AE6}"/>
              </a:ext>
            </a:extLst>
          </p:cNvPr>
          <p:cNvGrpSpPr/>
          <p:nvPr/>
        </p:nvGrpSpPr>
        <p:grpSpPr>
          <a:xfrm>
            <a:off x="8636027" y="4769993"/>
            <a:ext cx="1248009" cy="120642"/>
            <a:chOff x="2437610" y="3504553"/>
            <a:chExt cx="1248009" cy="120642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43047B7-CC82-9272-721A-62233AED5F7C}"/>
                </a:ext>
              </a:extLst>
            </p:cNvPr>
            <p:cNvCxnSpPr>
              <a:cxnSpLocks/>
            </p:cNvCxnSpPr>
            <p:nvPr/>
          </p:nvCxnSpPr>
          <p:spPr>
            <a:xfrm>
              <a:off x="2527886" y="3506376"/>
              <a:ext cx="115773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0895B4F-1591-C38D-AC25-5964BBE59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7610" y="3504553"/>
              <a:ext cx="104728" cy="12064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2" name="Picture 91">
            <a:extLst>
              <a:ext uri="{FF2B5EF4-FFF2-40B4-BE49-F238E27FC236}">
                <a16:creationId xmlns:a16="http://schemas.microsoft.com/office/drawing/2014/main" id="{080F9CAA-DF2E-BD60-FFC5-D4415CF410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5010" y="4465345"/>
            <a:ext cx="1528492" cy="245386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C360FA1D-47AC-A409-C54A-000A5B85FE2E}"/>
              </a:ext>
            </a:extLst>
          </p:cNvPr>
          <p:cNvSpPr txBox="1"/>
          <p:nvPr/>
        </p:nvSpPr>
        <p:spPr>
          <a:xfrm>
            <a:off x="10654674" y="4379165"/>
            <a:ext cx="1394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increases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811E6-98CA-887B-2ABC-2085C21E36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52" y="3719191"/>
            <a:ext cx="3140528" cy="55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62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42CC-C86F-4615-B771-A429037B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8F764F-B483-D6A2-D075-33B506634A53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CCF95A-C9B2-3A9E-F92F-82B59F1D9662}"/>
              </a:ext>
            </a:extLst>
          </p:cNvPr>
          <p:cNvSpPr txBox="1"/>
          <p:nvPr/>
        </p:nvSpPr>
        <p:spPr>
          <a:xfrm>
            <a:off x="312428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8262B7-A958-1E40-7697-A968F338EA99}"/>
              </a:ext>
            </a:extLst>
          </p:cNvPr>
          <p:cNvSpPr txBox="1"/>
          <p:nvPr/>
        </p:nvSpPr>
        <p:spPr>
          <a:xfrm>
            <a:off x="312428" y="1255869"/>
            <a:ext cx="46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When       is too strong,       will not learn     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86D4FA8-B288-1854-86C1-45EA2E06E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67" y="1340952"/>
            <a:ext cx="230071" cy="199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2322B76-1AE8-9B6B-8C90-28A0A5776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171" y="1329902"/>
            <a:ext cx="199167" cy="19916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E83B8AA9-35B4-483C-F1A5-D7518A76145B}"/>
              </a:ext>
            </a:extLst>
          </p:cNvPr>
          <p:cNvSpPr/>
          <p:nvPr/>
        </p:nvSpPr>
        <p:spPr>
          <a:xfrm>
            <a:off x="608511" y="1868663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55A672-95B8-8A07-6DD4-02852E2DA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61" y="1689453"/>
            <a:ext cx="845641" cy="50680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3D913733-CDB6-59F1-6D02-6C1EA6D0A263}"/>
              </a:ext>
            </a:extLst>
          </p:cNvPr>
          <p:cNvGrpSpPr/>
          <p:nvPr/>
        </p:nvGrpSpPr>
        <p:grpSpPr>
          <a:xfrm>
            <a:off x="5017661" y="1054847"/>
            <a:ext cx="5215839" cy="1141412"/>
            <a:chOff x="6663733" y="2398343"/>
            <a:chExt cx="5215839" cy="11414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57A9319-4753-A65E-5541-4387CCAF5A75}"/>
                </a:ext>
              </a:extLst>
            </p:cNvPr>
            <p:cNvCxnSpPr>
              <a:cxnSpLocks/>
            </p:cNvCxnSpPr>
            <p:nvPr/>
          </p:nvCxnSpPr>
          <p:spPr>
            <a:xfrm>
              <a:off x="6663733" y="344338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9A76385-A44F-A2AD-D6FB-B33327DCF39C}"/>
                </a:ext>
              </a:extLst>
            </p:cNvPr>
            <p:cNvSpPr/>
            <p:nvPr/>
          </p:nvSpPr>
          <p:spPr>
            <a:xfrm>
              <a:off x="6897739" y="2785234"/>
              <a:ext cx="928050" cy="666400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8592B0E-3035-E355-EE22-5F49BAF2FE6E}"/>
                </a:ext>
              </a:extLst>
            </p:cNvPr>
            <p:cNvSpPr/>
            <p:nvPr/>
          </p:nvSpPr>
          <p:spPr>
            <a:xfrm>
              <a:off x="8317975" y="2812962"/>
              <a:ext cx="1066097" cy="642523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B19A27-5199-C594-4470-33A55834F7F4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2638259"/>
              <a:ext cx="273584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E12F366-2D37-E677-0706-6A9F354E4BEE}"/>
                </a:ext>
              </a:extLst>
            </p:cNvPr>
            <p:cNvSpPr txBox="1"/>
            <p:nvPr/>
          </p:nvSpPr>
          <p:spPr>
            <a:xfrm>
              <a:off x="10346894" y="2812962"/>
              <a:ext cx="1328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data</a:t>
              </a:r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D187AD3-45A3-D1E6-9703-BECF4789DDCE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3007473"/>
              <a:ext cx="273584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61E1797-DC57-7ED5-A144-BB63997E9A0A}"/>
                </a:ext>
              </a:extLst>
            </p:cNvPr>
            <p:cNvSpPr txBox="1"/>
            <p:nvPr/>
          </p:nvSpPr>
          <p:spPr>
            <a:xfrm>
              <a:off x="10346894" y="2433198"/>
              <a:ext cx="1532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</a:t>
              </a:r>
              <a:endParaRPr lang="en-US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1722A23-E9B6-1124-EB3F-7756811F0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3173" y="3318239"/>
              <a:ext cx="263710" cy="221516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E8FEDC4-C3F9-A866-B599-143353492728}"/>
                </a:ext>
              </a:extLst>
            </p:cNvPr>
            <p:cNvCxnSpPr/>
            <p:nvPr/>
          </p:nvCxnSpPr>
          <p:spPr>
            <a:xfrm>
              <a:off x="7153753" y="2617864"/>
              <a:ext cx="48737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Question Mark with solid fill">
              <a:extLst>
                <a:ext uri="{FF2B5EF4-FFF2-40B4-BE49-F238E27FC236}">
                  <a16:creationId xmlns:a16="http://schemas.microsoft.com/office/drawing/2014/main" id="{2C234CA1-76A6-39E0-A1E3-503063295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0760" y="2398343"/>
              <a:ext cx="354720" cy="35472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2B8C6F8-7FBE-1676-F4D9-47FEF5A26E83}"/>
              </a:ext>
            </a:extLst>
          </p:cNvPr>
          <p:cNvSpPr txBox="1"/>
          <p:nvPr/>
        </p:nvSpPr>
        <p:spPr>
          <a:xfrm>
            <a:off x="312428" y="2530899"/>
            <a:ext cx="90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Recall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E4B37A5-9F07-B1A9-D5F3-58DFBD07C077}"/>
              </a:ext>
            </a:extLst>
          </p:cNvPr>
          <p:cNvGrpSpPr/>
          <p:nvPr/>
        </p:nvGrpSpPr>
        <p:grpSpPr>
          <a:xfrm>
            <a:off x="1333174" y="2530899"/>
            <a:ext cx="9875015" cy="369332"/>
            <a:chOff x="6840971" y="5987111"/>
            <a:chExt cx="9875015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79242F8-6C76-5BDE-1DA2-57F32E5BDE81}"/>
                </a:ext>
              </a:extLst>
            </p:cNvPr>
            <p:cNvSpPr txBox="1"/>
            <p:nvPr/>
          </p:nvSpPr>
          <p:spPr>
            <a:xfrm>
              <a:off x="7087325" y="5987111"/>
              <a:ext cx="9628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optimizes for Jensen-Shannon Diversity – calculate </a:t>
              </a:r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similarity</a:t>
              </a:r>
              <a:r>
                <a:rPr lang="en-US" dirty="0">
                  <a:latin typeface="Arial Rounded MT Bold" panose="020F0704030504030204" pitchFamily="34" charset="77"/>
                </a:rPr>
                <a:t> rather than</a:t>
              </a:r>
              <a:r>
                <a:rPr lang="zh-TW" altLang="en-US" dirty="0">
                  <a:latin typeface="Arial Rounded MT Bold" panose="020F0704030504030204" pitchFamily="34" charset="77"/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</a:rPr>
                <a:t>distance</a:t>
              </a:r>
              <a:r>
                <a:rPr lang="en-US" dirty="0">
                  <a:latin typeface="Arial Rounded MT Bold" panose="020F0704030504030204" pitchFamily="34" charset="77"/>
                </a:rPr>
                <a:t>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95CAD72-3762-D859-2654-8CD630E91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0971" y="6048599"/>
              <a:ext cx="246356" cy="246356"/>
            </a:xfrm>
            <a:prstGeom prst="rect">
              <a:avLst/>
            </a:prstGeom>
          </p:spPr>
        </p:pic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0C6A690-D023-5E41-453C-55760A5A364C}"/>
              </a:ext>
            </a:extLst>
          </p:cNvPr>
          <p:cNvCxnSpPr>
            <a:cxnSpLocks/>
          </p:cNvCxnSpPr>
          <p:nvPr/>
        </p:nvCxnSpPr>
        <p:spPr>
          <a:xfrm>
            <a:off x="538740" y="5224126"/>
            <a:ext cx="3146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2117BD3-D9B1-02B4-BAFD-A38684824AE8}"/>
              </a:ext>
            </a:extLst>
          </p:cNvPr>
          <p:cNvSpPr/>
          <p:nvPr/>
        </p:nvSpPr>
        <p:spPr>
          <a:xfrm>
            <a:off x="772746" y="4565976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0346354-8C10-7F0A-5C4A-4F8622F58F38}"/>
              </a:ext>
            </a:extLst>
          </p:cNvPr>
          <p:cNvSpPr/>
          <p:nvPr/>
        </p:nvSpPr>
        <p:spPr>
          <a:xfrm>
            <a:off x="2314028" y="4593704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C77D0A0-7DC9-81C2-9137-73BD3BE0C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125" y="5340131"/>
            <a:ext cx="263710" cy="221516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DA7142A-5754-8C7F-A3B7-0E677D6FEE3E}"/>
              </a:ext>
            </a:extLst>
          </p:cNvPr>
          <p:cNvSpPr/>
          <p:nvPr/>
        </p:nvSpPr>
        <p:spPr>
          <a:xfrm>
            <a:off x="772746" y="4979406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081DF02-925B-4591-BA36-0099FCA8F11D}"/>
              </a:ext>
            </a:extLst>
          </p:cNvPr>
          <p:cNvSpPr/>
          <p:nvPr/>
        </p:nvSpPr>
        <p:spPr>
          <a:xfrm>
            <a:off x="2383051" y="4956769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49DF5CDB-2349-0F07-D836-7676AC9327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54" y="2992087"/>
            <a:ext cx="5961130" cy="47976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D1770271-1BA5-7823-7F49-F06888DBFAF2}"/>
              </a:ext>
            </a:extLst>
          </p:cNvPr>
          <p:cNvGrpSpPr/>
          <p:nvPr/>
        </p:nvGrpSpPr>
        <p:grpSpPr>
          <a:xfrm>
            <a:off x="2437610" y="3504553"/>
            <a:ext cx="1248009" cy="120642"/>
            <a:chOff x="2437610" y="3504553"/>
            <a:chExt cx="1248009" cy="12064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02FC77-DAEA-42CC-9CE8-D13624AC0BEF}"/>
                </a:ext>
              </a:extLst>
            </p:cNvPr>
            <p:cNvCxnSpPr>
              <a:cxnSpLocks/>
            </p:cNvCxnSpPr>
            <p:nvPr/>
          </p:nvCxnSpPr>
          <p:spPr>
            <a:xfrm>
              <a:off x="2527886" y="3506376"/>
              <a:ext cx="115773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96899B-2B00-B412-C3FC-991D633C1B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7610" y="3504553"/>
              <a:ext cx="104728" cy="12064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96E8A9A-3CB4-AC6F-3989-D0DA97FBCB59}"/>
              </a:ext>
            </a:extLst>
          </p:cNvPr>
          <p:cNvSpPr txBox="1"/>
          <p:nvPr/>
        </p:nvSpPr>
        <p:spPr>
          <a:xfrm>
            <a:off x="3604107" y="3776727"/>
            <a:ext cx="6070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Only the “overlap” between two distributions matters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A6A2B64-BAA1-9488-0796-A46076D6EE75}"/>
              </a:ext>
            </a:extLst>
          </p:cNvPr>
          <p:cNvCxnSpPr>
            <a:cxnSpLocks/>
          </p:cNvCxnSpPr>
          <p:nvPr/>
        </p:nvCxnSpPr>
        <p:spPr>
          <a:xfrm>
            <a:off x="3871381" y="5213659"/>
            <a:ext cx="3146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B9E458B-AE44-B705-77F2-299D0C537D19}"/>
              </a:ext>
            </a:extLst>
          </p:cNvPr>
          <p:cNvSpPr/>
          <p:nvPr/>
        </p:nvSpPr>
        <p:spPr>
          <a:xfrm>
            <a:off x="4673215" y="4555509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69ABE9F-EC0A-FBA9-1855-9F0340BCC534}"/>
              </a:ext>
            </a:extLst>
          </p:cNvPr>
          <p:cNvSpPr/>
          <p:nvPr/>
        </p:nvSpPr>
        <p:spPr>
          <a:xfrm>
            <a:off x="5646669" y="4583237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537CB6F6-DAE8-22E0-6158-9840A1BB5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766" y="5329664"/>
            <a:ext cx="263710" cy="221516"/>
          </a:xfrm>
          <a:prstGeom prst="rect">
            <a:avLst/>
          </a:pr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50F2069-96C1-A006-1F87-2C4D32102E85}"/>
              </a:ext>
            </a:extLst>
          </p:cNvPr>
          <p:cNvSpPr/>
          <p:nvPr/>
        </p:nvSpPr>
        <p:spPr>
          <a:xfrm>
            <a:off x="4673215" y="4968939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C679AAAF-941C-00FB-F034-3D35B694BBE7}"/>
              </a:ext>
            </a:extLst>
          </p:cNvPr>
          <p:cNvSpPr/>
          <p:nvPr/>
        </p:nvSpPr>
        <p:spPr>
          <a:xfrm>
            <a:off x="5715692" y="4946302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36375F6-F7AD-4723-720B-493420F7E188}"/>
              </a:ext>
            </a:extLst>
          </p:cNvPr>
          <p:cNvCxnSpPr>
            <a:cxnSpLocks/>
          </p:cNvCxnSpPr>
          <p:nvPr/>
        </p:nvCxnSpPr>
        <p:spPr>
          <a:xfrm>
            <a:off x="7266712" y="5194253"/>
            <a:ext cx="24074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E4FEE1B1-A294-CF6A-7159-BFD2F8B78224}"/>
              </a:ext>
            </a:extLst>
          </p:cNvPr>
          <p:cNvSpPr/>
          <p:nvPr/>
        </p:nvSpPr>
        <p:spPr>
          <a:xfrm>
            <a:off x="7916786" y="4536103"/>
            <a:ext cx="928050" cy="66640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5098"/>
            </a:srgbClr>
          </a:solidFill>
          <a:ln w="38100">
            <a:solidFill>
              <a:srgbClr val="172C51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A719954E-3238-4034-06A9-E522629E5CEA}"/>
              </a:ext>
            </a:extLst>
          </p:cNvPr>
          <p:cNvSpPr/>
          <p:nvPr/>
        </p:nvSpPr>
        <p:spPr>
          <a:xfrm>
            <a:off x="8193935" y="4563831"/>
            <a:ext cx="1066097" cy="642523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chemeClr val="accent6">
              <a:alpha val="30196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A1091FA1-45A6-A3FD-F1F5-0DD2816C2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8097" y="5310258"/>
            <a:ext cx="263710" cy="221516"/>
          </a:xfrm>
          <a:prstGeom prst="rect">
            <a:avLst/>
          </a:prstGeom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3A7582E8-67CA-59A6-7FD9-2B90F1FE5F18}"/>
              </a:ext>
            </a:extLst>
          </p:cNvPr>
          <p:cNvSpPr/>
          <p:nvPr/>
        </p:nvSpPr>
        <p:spPr>
          <a:xfrm>
            <a:off x="7916786" y="4949533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470D55B2-49C5-E9A4-4E5C-E72A81001F8F}"/>
              </a:ext>
            </a:extLst>
          </p:cNvPr>
          <p:cNvSpPr/>
          <p:nvPr/>
        </p:nvSpPr>
        <p:spPr>
          <a:xfrm>
            <a:off x="8262958" y="4926896"/>
            <a:ext cx="928050" cy="252970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8E68AB3-2CB6-876E-B39D-9C0631DDB5B4}"/>
              </a:ext>
            </a:extLst>
          </p:cNvPr>
          <p:cNvGrpSpPr/>
          <p:nvPr/>
        </p:nvGrpSpPr>
        <p:grpSpPr>
          <a:xfrm>
            <a:off x="8636027" y="4769993"/>
            <a:ext cx="1248009" cy="120642"/>
            <a:chOff x="2437610" y="3504553"/>
            <a:chExt cx="1248009" cy="120642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5C4C098-ED3D-2982-73F7-E58D33BA82A7}"/>
                </a:ext>
              </a:extLst>
            </p:cNvPr>
            <p:cNvCxnSpPr>
              <a:cxnSpLocks/>
            </p:cNvCxnSpPr>
            <p:nvPr/>
          </p:nvCxnSpPr>
          <p:spPr>
            <a:xfrm>
              <a:off x="2527886" y="3506376"/>
              <a:ext cx="115773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C055E09-BB3D-B98B-4C4B-427802DF22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7610" y="3504553"/>
              <a:ext cx="104728" cy="12064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2" name="Picture 91">
            <a:extLst>
              <a:ext uri="{FF2B5EF4-FFF2-40B4-BE49-F238E27FC236}">
                <a16:creationId xmlns:a16="http://schemas.microsoft.com/office/drawing/2014/main" id="{98B77C3F-07C7-3284-D809-0077A6FCA7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5010" y="4465345"/>
            <a:ext cx="1528492" cy="245386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49CE60DC-4D00-F881-90B5-A7185F25A3BA}"/>
              </a:ext>
            </a:extLst>
          </p:cNvPr>
          <p:cNvSpPr txBox="1"/>
          <p:nvPr/>
        </p:nvSpPr>
        <p:spPr>
          <a:xfrm>
            <a:off x="10654674" y="4379165"/>
            <a:ext cx="1394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increases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23F23-CF9C-1217-552A-F19AD26DC4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52" y="3719191"/>
            <a:ext cx="3140528" cy="55831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0E87146-9992-5488-5922-DB957B4CA5E1}"/>
              </a:ext>
            </a:extLst>
          </p:cNvPr>
          <p:cNvGrpSpPr/>
          <p:nvPr/>
        </p:nvGrpSpPr>
        <p:grpSpPr>
          <a:xfrm>
            <a:off x="332359" y="5700199"/>
            <a:ext cx="10123116" cy="769007"/>
            <a:chOff x="343718" y="5624151"/>
            <a:chExt cx="10123116" cy="7690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62E726E-8550-5B45-8127-653B23AAD7C7}"/>
                </a:ext>
              </a:extLst>
            </p:cNvPr>
            <p:cNvGrpSpPr/>
            <p:nvPr/>
          </p:nvGrpSpPr>
          <p:grpSpPr>
            <a:xfrm>
              <a:off x="343718" y="5624151"/>
              <a:ext cx="10123116" cy="369332"/>
              <a:chOff x="928923" y="5624151"/>
              <a:chExt cx="10123116" cy="369332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681A6C-7CA5-337F-8A9B-DC633CBFB478}"/>
                  </a:ext>
                </a:extLst>
              </p:cNvPr>
              <p:cNvSpPr txBox="1"/>
              <p:nvPr/>
            </p:nvSpPr>
            <p:spPr>
              <a:xfrm>
                <a:off x="928923" y="5624151"/>
                <a:ext cx="10123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If          and         are far away,                      will have tiny gradient </a:t>
                </a:r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A8CCA4F7-BE28-56C5-F913-A6AAFB67A4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52527" y="5706710"/>
                <a:ext cx="344788" cy="199977"/>
              </a:xfrm>
              <a:prstGeom prst="rect">
                <a:avLst/>
              </a:pr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D5130175-5EBA-619C-D70F-ADC54FA527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83913" y="5722909"/>
                <a:ext cx="344786" cy="199976"/>
              </a:xfrm>
              <a:prstGeom prst="rect">
                <a:avLst/>
              </a:prstGeom>
            </p:spPr>
          </p:pic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03D3728-4381-68E0-3D1D-8588E9C8E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17739" y="5721160"/>
              <a:ext cx="1122783" cy="203474"/>
            </a:xfrm>
            <a:prstGeom prst="rect">
              <a:avLst/>
            </a:prstGeom>
          </p:spPr>
        </p:pic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CF767F51-39AB-AEC9-6D56-560BF3C90B5F}"/>
                </a:ext>
              </a:extLst>
            </p:cNvPr>
            <p:cNvSpPr/>
            <p:nvPr/>
          </p:nvSpPr>
          <p:spPr>
            <a:xfrm>
              <a:off x="619869" y="6123954"/>
              <a:ext cx="193087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198266C-E035-8EFC-A0FA-7DC639558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6317" y="6099332"/>
              <a:ext cx="199167" cy="199167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A59D14-144A-B0E0-F71B-C7DE0421DE4A}"/>
                </a:ext>
              </a:extLst>
            </p:cNvPr>
            <p:cNvSpPr txBox="1"/>
            <p:nvPr/>
          </p:nvSpPr>
          <p:spPr>
            <a:xfrm>
              <a:off x="1125526" y="6023826"/>
              <a:ext cx="16244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will not learn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37519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6FBFC-74AF-E891-8DF2-2CA094B2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906089-CCA9-3FB8-26B9-27045163F0AE}"/>
              </a:ext>
            </a:extLst>
          </p:cNvPr>
          <p:cNvSpPr txBox="1"/>
          <p:nvPr/>
        </p:nvSpPr>
        <p:spPr>
          <a:xfrm>
            <a:off x="276411" y="260293"/>
            <a:ext cx="21135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Problems of GAN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651D26-A84D-9ADF-315C-E6AA57D28F97}"/>
              </a:ext>
            </a:extLst>
          </p:cNvPr>
          <p:cNvSpPr txBox="1"/>
          <p:nvPr/>
        </p:nvSpPr>
        <p:spPr>
          <a:xfrm>
            <a:off x="312428" y="773297"/>
            <a:ext cx="258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Gradient vanishing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642761-11C8-039E-9784-ED14BD14D990}"/>
              </a:ext>
            </a:extLst>
          </p:cNvPr>
          <p:cNvSpPr txBox="1"/>
          <p:nvPr/>
        </p:nvSpPr>
        <p:spPr>
          <a:xfrm>
            <a:off x="312428" y="1255869"/>
            <a:ext cx="464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When       is too strong,       will not learn     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64357A-17E8-1FCC-3209-2F26A631D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67" y="1340952"/>
            <a:ext cx="230071" cy="199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3AC8A8A-81DE-852F-DBCC-556973E6F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171" y="1329902"/>
            <a:ext cx="199167" cy="19916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1FE4EDA2-6AED-CC6A-E5C2-75D40FC5ED56}"/>
              </a:ext>
            </a:extLst>
          </p:cNvPr>
          <p:cNvSpPr/>
          <p:nvPr/>
        </p:nvSpPr>
        <p:spPr>
          <a:xfrm>
            <a:off x="608511" y="1868663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830B7F2-9A41-DFDC-1956-5C04F63F9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61" y="1689453"/>
            <a:ext cx="845641" cy="50680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5D1694DA-D06E-A659-4A92-01212B94F966}"/>
              </a:ext>
            </a:extLst>
          </p:cNvPr>
          <p:cNvGrpSpPr/>
          <p:nvPr/>
        </p:nvGrpSpPr>
        <p:grpSpPr>
          <a:xfrm>
            <a:off x="5017661" y="1054847"/>
            <a:ext cx="5215839" cy="1141412"/>
            <a:chOff x="6663733" y="2398343"/>
            <a:chExt cx="5215839" cy="114141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9AFE30B-D914-B7A3-BEC1-FD4648723E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3733" y="3443384"/>
              <a:ext cx="291210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5CFC308-6557-27BE-6A7A-ADB98A20DE98}"/>
                </a:ext>
              </a:extLst>
            </p:cNvPr>
            <p:cNvSpPr/>
            <p:nvPr/>
          </p:nvSpPr>
          <p:spPr>
            <a:xfrm>
              <a:off x="6897739" y="2785234"/>
              <a:ext cx="928050" cy="666400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7A3F0DF-988C-94F3-397A-D5B3294DFC1D}"/>
                </a:ext>
              </a:extLst>
            </p:cNvPr>
            <p:cNvSpPr/>
            <p:nvPr/>
          </p:nvSpPr>
          <p:spPr>
            <a:xfrm>
              <a:off x="8317975" y="2812962"/>
              <a:ext cx="1066097" cy="642523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chemeClr val="accent6">
                <a:alpha val="30196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6A7429D-588F-A13F-27D6-A78997DD49B7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2638259"/>
              <a:ext cx="273584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15C33A-0993-3189-F110-CC69B921A572}"/>
                </a:ext>
              </a:extLst>
            </p:cNvPr>
            <p:cNvSpPr txBox="1"/>
            <p:nvPr/>
          </p:nvSpPr>
          <p:spPr>
            <a:xfrm>
              <a:off x="10346894" y="2812962"/>
              <a:ext cx="1328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Real data</a:t>
              </a:r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A5E001-17F1-0713-B932-DFE337304207}"/>
                </a:ext>
              </a:extLst>
            </p:cNvPr>
            <p:cNvCxnSpPr>
              <a:cxnSpLocks/>
            </p:cNvCxnSpPr>
            <p:nvPr/>
          </p:nvCxnSpPr>
          <p:spPr>
            <a:xfrm>
              <a:off x="9967688" y="3007473"/>
              <a:ext cx="273584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477DCA8-FEC5-6E4F-EF19-A7F600A8DA1B}"/>
                </a:ext>
              </a:extLst>
            </p:cNvPr>
            <p:cNvSpPr txBox="1"/>
            <p:nvPr/>
          </p:nvSpPr>
          <p:spPr>
            <a:xfrm>
              <a:off x="10346894" y="2433198"/>
              <a:ext cx="1532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Generated</a:t>
              </a:r>
              <a:endParaRPr lang="en-US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8AC13FB-2FA3-3856-D3CB-C8A95FC98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3173" y="3318239"/>
              <a:ext cx="263710" cy="221516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2E5951A-775A-190F-1F55-7D9434C687B9}"/>
                </a:ext>
              </a:extLst>
            </p:cNvPr>
            <p:cNvCxnSpPr/>
            <p:nvPr/>
          </p:nvCxnSpPr>
          <p:spPr>
            <a:xfrm>
              <a:off x="7153753" y="2617864"/>
              <a:ext cx="487372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Question Mark with solid fill">
              <a:extLst>
                <a:ext uri="{FF2B5EF4-FFF2-40B4-BE49-F238E27FC236}">
                  <a16:creationId xmlns:a16="http://schemas.microsoft.com/office/drawing/2014/main" id="{CD90B65C-7B48-212C-2391-3DB07D11D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0760" y="2398343"/>
              <a:ext cx="354720" cy="354720"/>
            </a:xfrm>
            <a:prstGeom prst="rect">
              <a:avLst/>
            </a:prstGeom>
          </p:spPr>
        </p:pic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0008DE3A-C6F2-60FA-BD8B-2F7E0D50D3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54" y="2435088"/>
            <a:ext cx="5961130" cy="4797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0D186E-189F-6E70-37CA-F11E79721C0C}"/>
              </a:ext>
            </a:extLst>
          </p:cNvPr>
          <p:cNvSpPr txBox="1"/>
          <p:nvPr/>
        </p:nvSpPr>
        <p:spPr>
          <a:xfrm>
            <a:off x="312428" y="4440962"/>
            <a:ext cx="5403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Solution? Let       optimizes on other divergence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397C03-911C-5E7F-22AF-7186CF28A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674" y="4525640"/>
            <a:ext cx="199167" cy="19916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5C40CF1F-AC03-FE0B-7E9B-6A0B7154168F}"/>
              </a:ext>
            </a:extLst>
          </p:cNvPr>
          <p:cNvSpPr/>
          <p:nvPr/>
        </p:nvSpPr>
        <p:spPr>
          <a:xfrm>
            <a:off x="5801966" y="4558015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D899C1-92A8-02AD-2449-520F355916C6}"/>
              </a:ext>
            </a:extLst>
          </p:cNvPr>
          <p:cNvSpPr txBox="1"/>
          <p:nvPr/>
        </p:nvSpPr>
        <p:spPr>
          <a:xfrm>
            <a:off x="6122048" y="4440557"/>
            <a:ext cx="219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Change       loss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E8AE7E-B5E8-56FD-A4EB-3FA7E1043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699" y="4519027"/>
            <a:ext cx="230071" cy="199167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89914BDF-C6A2-35C3-2E4E-F64A9A0C3954}"/>
              </a:ext>
            </a:extLst>
          </p:cNvPr>
          <p:cNvSpPr/>
          <p:nvPr/>
        </p:nvSpPr>
        <p:spPr>
          <a:xfrm>
            <a:off x="608510" y="4981386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ADDD7B-0369-02E1-AFDB-BA679FFA184E}"/>
              </a:ext>
            </a:extLst>
          </p:cNvPr>
          <p:cNvGrpSpPr/>
          <p:nvPr/>
        </p:nvGrpSpPr>
        <p:grpSpPr>
          <a:xfrm>
            <a:off x="864041" y="4894564"/>
            <a:ext cx="10633859" cy="369332"/>
            <a:chOff x="864041" y="4124753"/>
            <a:chExt cx="10633859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6DBA4E-A1E4-95F6-EF50-939E13CEFEE2}"/>
                </a:ext>
              </a:extLst>
            </p:cNvPr>
            <p:cNvSpPr txBox="1"/>
            <p:nvPr/>
          </p:nvSpPr>
          <p:spPr>
            <a:xfrm>
              <a:off x="864041" y="4124753"/>
              <a:ext cx="10633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Wasserstein GAN estimates the distances between          and        . Many research going on...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954BBFB-872B-3B8C-9A14-CACAA507F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87843" y="4211575"/>
              <a:ext cx="344788" cy="19997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601B9E4-617A-8DD1-41EC-7515BD5D5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670242" y="4211576"/>
              <a:ext cx="344786" cy="19997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BDFFF3-A8AD-32FC-4B48-8EFD52F214E4}"/>
              </a:ext>
            </a:extLst>
          </p:cNvPr>
          <p:cNvGrpSpPr/>
          <p:nvPr/>
        </p:nvGrpSpPr>
        <p:grpSpPr>
          <a:xfrm>
            <a:off x="332359" y="3131527"/>
            <a:ext cx="10123116" cy="769007"/>
            <a:chOff x="343718" y="5624151"/>
            <a:chExt cx="10123116" cy="76900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B642558-4D80-BE0F-9DFB-94A343465800}"/>
                </a:ext>
              </a:extLst>
            </p:cNvPr>
            <p:cNvGrpSpPr/>
            <p:nvPr/>
          </p:nvGrpSpPr>
          <p:grpSpPr>
            <a:xfrm>
              <a:off x="343718" y="5624151"/>
              <a:ext cx="10123116" cy="369332"/>
              <a:chOff x="928923" y="5624151"/>
              <a:chExt cx="10123116" cy="36933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36F79C-E895-1BCD-41D4-F5CBBA66C4C5}"/>
                  </a:ext>
                </a:extLst>
              </p:cNvPr>
              <p:cNvSpPr txBox="1"/>
              <p:nvPr/>
            </p:nvSpPr>
            <p:spPr>
              <a:xfrm>
                <a:off x="928923" y="5624151"/>
                <a:ext cx="10123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If          and         are far away,                      will have tiny gradient </a:t>
                </a:r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0D077BED-91CD-EFC2-1924-2811BBB5E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52527" y="5706710"/>
                <a:ext cx="344788" cy="199977"/>
              </a:xfrm>
              <a:prstGeom prst="rect">
                <a:avLst/>
              </a:prstGeom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0B837321-F2E7-322B-7A8B-3D933BDF4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83913" y="5722909"/>
                <a:ext cx="344786" cy="199976"/>
              </a:xfrm>
              <a:prstGeom prst="rect">
                <a:avLst/>
              </a:prstGeom>
            </p:spPr>
          </p:pic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DD4276F-171A-D022-9209-33736C4E5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17739" y="5721160"/>
              <a:ext cx="1122783" cy="203474"/>
            </a:xfrm>
            <a:prstGeom prst="rect">
              <a:avLst/>
            </a:prstGeom>
          </p:spPr>
        </p:pic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123F2328-A3A8-15FA-EC32-5DCE2A7695C6}"/>
                </a:ext>
              </a:extLst>
            </p:cNvPr>
            <p:cNvSpPr/>
            <p:nvPr/>
          </p:nvSpPr>
          <p:spPr>
            <a:xfrm>
              <a:off x="619869" y="6123954"/>
              <a:ext cx="193087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ACCBA87-4A5E-9201-7EB4-4C491D821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6317" y="6099332"/>
              <a:ext cx="199167" cy="199167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F70DDF2-1908-2F60-DD0D-72D0E3E28DE0}"/>
                </a:ext>
              </a:extLst>
            </p:cNvPr>
            <p:cNvSpPr txBox="1"/>
            <p:nvPr/>
          </p:nvSpPr>
          <p:spPr>
            <a:xfrm>
              <a:off x="1125526" y="6023826"/>
              <a:ext cx="16244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will not learn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46649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83537-A812-78BE-27E8-232C5D20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1B6FB9-0F8B-FF82-EBE6-AB57C3426F76}"/>
              </a:ext>
            </a:extLst>
          </p:cNvPr>
          <p:cNvSpPr txBox="1"/>
          <p:nvPr/>
        </p:nvSpPr>
        <p:spPr>
          <a:xfrm>
            <a:off x="5189149" y="3244334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071443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1153</Words>
  <Application>Microsoft Office PowerPoint</Application>
  <PresentationFormat>Widescreen</PresentationFormat>
  <Paragraphs>267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Wei, Yu-Lin</dc:creator>
  <cp:lastModifiedBy>Wei, Yu-Lin</cp:lastModifiedBy>
  <cp:revision>1</cp:revision>
  <dcterms:created xsi:type="dcterms:W3CDTF">2024-11-11T15:36:55Z</dcterms:created>
  <dcterms:modified xsi:type="dcterms:W3CDTF">2024-11-11T15:38:19Z</dcterms:modified>
</cp:coreProperties>
</file>