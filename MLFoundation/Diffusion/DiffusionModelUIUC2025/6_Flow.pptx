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636" r:id="rId2"/>
    <p:sldId id="647" r:id="rId3"/>
    <p:sldId id="650" r:id="rId4"/>
    <p:sldId id="649" r:id="rId5"/>
    <p:sldId id="651" r:id="rId6"/>
    <p:sldId id="652" r:id="rId7"/>
    <p:sldId id="653" r:id="rId8"/>
    <p:sldId id="654" r:id="rId9"/>
    <p:sldId id="655" r:id="rId10"/>
    <p:sldId id="658" r:id="rId11"/>
    <p:sldId id="660" r:id="rId12"/>
    <p:sldId id="657" r:id="rId13"/>
    <p:sldId id="659" r:id="rId14"/>
    <p:sldId id="749" r:id="rId15"/>
    <p:sldId id="750" r:id="rId16"/>
    <p:sldId id="662" r:id="rId17"/>
    <p:sldId id="663" r:id="rId18"/>
    <p:sldId id="664" r:id="rId19"/>
    <p:sldId id="666" r:id="rId20"/>
    <p:sldId id="665" r:id="rId21"/>
    <p:sldId id="639" r:id="rId22"/>
    <p:sldId id="667" r:id="rId23"/>
    <p:sldId id="66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68CC6-3E3B-5FD3-36AD-3CE38DDDA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BF439-E08D-4171-0740-3071B10B2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E3F7F-A220-4853-E57B-D071A7B3F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524FA-51FA-5A68-4789-43E5DFB60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3F189-AB3F-B734-3295-BEF2832A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68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5903C-F242-B4EB-92EA-D72A201F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4206EF-F17C-813B-EC2E-3C1532EE1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7960-9B6D-A39F-2316-5EA63EFF8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3B455-A2C0-344A-397B-838644B99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E0230-D504-F491-6C6E-36CEE0D0E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743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6B17B-E2B0-0BBA-8281-8819944E35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8A949-62BC-49AA-3049-77F9DADF9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25CAB-760A-ACCD-169A-497A8477A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B6C17-C53E-CD70-CD53-982E424F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240F1-103A-FE39-8A18-DA4B42CAB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2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1E7BC-D06C-E373-4802-3AC3775A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5C7F4-ED81-67C6-E108-495CFB3561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3F1ECE-09DA-FF7A-8573-0F91FFE641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17A78D-A19F-ADA6-BBDE-46B3D00CA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BFBD4-C396-AB39-1BA6-20923747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D60E8-D899-8291-4ADF-C0DC027F9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87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E75CD-BF2A-DEF9-C784-93EC09908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642D7A-29BC-D818-EBAE-34F13F9BE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42E55-F0C1-DA94-D929-E5CFF0B50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FE956-CBB9-F1DA-7495-144E25C3A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FAC3F1-E6BD-2C4E-4A08-001DEA2E9D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4FD09F-608E-0317-CD1F-E33CD8EDB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84BF26-941C-389D-9EAA-53407D0C4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2F8E50-3F83-1650-5FFB-0BED0046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9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6CC54-A2BA-8B4F-B114-0EF0A81C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C67307-05BF-4189-C22A-5230D650D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8BF45-A8D3-9B5B-FCD2-A1A207935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00ABD-F2DC-4D40-CC48-BA4A754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221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36C96C-C1B2-4FCF-36AA-C0308ECF3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313F91-E1A4-A421-A341-00664D13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BCF07-878D-5F9F-510F-42449F31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217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D1CD2-3379-248A-E5CB-FF417A0A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F32D1-3358-BF01-DAE3-EDA08A09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3B31A-C773-949B-6E4E-D777B75A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073EA-5C95-186F-0B78-D96957055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C6B8C5-7096-FEB7-3973-C95DD7F7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7D8A12-371A-B68C-C60A-61C9C7EB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5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1D401-735A-E713-0BC7-A0D638EB2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64AE4-EFC7-4E47-91CF-D1B148AEB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218DE-16D4-0CF7-CCCF-DAF1ECE781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76A71-C712-C351-C413-35D4FC4D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BB2CE5-0B80-364B-41E6-2E96F02BB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15B2C-958C-12B5-EE3D-7EB59E3F9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29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984E1-7C72-3738-5F16-47D295812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0FF3AB-4267-2110-386A-85366FAF5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54CE-9570-219C-794E-630E2C719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BF6D5-2CAC-BA5F-EDEC-D834CA428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CADEB-8886-1236-2CEB-05647E70E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996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274D3A-5C38-3B52-6247-E31339D04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709929-A217-E69B-2EB7-5E7AC0C2C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D9F78-ACC5-2EE6-BA89-B544652B7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B7C72E-29FD-7337-B2E0-BDED4D82E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A0FDEA-804C-B36D-C3BE-65E28C1F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650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4EF29-5375-C109-181A-4EA260450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5553A-5A33-2F39-207F-8AC20044A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A3523-187F-07B1-CBDF-7F2FC6134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39EB8-6E5D-4103-9A8C-902D4FCCD2E9}" type="datetimeFigureOut">
              <a:rPr lang="en-US" smtClean="0"/>
              <a:t>11/11/2024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070DE-44FC-5312-B7F7-E9C7C2C8F6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EBEB9-50F8-A5CB-75D1-C1A433191A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DE110D-2448-4AAA-9B0A-2DFD21CCBC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03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8.jpg"/><Relationship Id="rId7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5.png"/><Relationship Id="rId5" Type="http://schemas.openxmlformats.org/officeDocument/2006/relationships/image" Target="../media/image10.png"/><Relationship Id="rId10" Type="http://schemas.openxmlformats.org/officeDocument/2006/relationships/image" Target="../media/image4.png"/><Relationship Id="rId4" Type="http://schemas.openxmlformats.org/officeDocument/2006/relationships/image" Target="../media/image9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12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5.png"/><Relationship Id="rId3" Type="http://schemas.openxmlformats.org/officeDocument/2006/relationships/image" Target="../media/image8.jpg"/><Relationship Id="rId7" Type="http://schemas.openxmlformats.org/officeDocument/2006/relationships/image" Target="../media/image4.png"/><Relationship Id="rId12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6.jpe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6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6.jpeg"/><Relationship Id="rId4" Type="http://schemas.openxmlformats.org/officeDocument/2006/relationships/image" Target="../media/image7.jpeg"/><Relationship Id="rId9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9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7.jpe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6.pn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12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11" Type="http://schemas.openxmlformats.org/officeDocument/2006/relationships/image" Target="../media/image17.png"/><Relationship Id="rId5" Type="http://schemas.openxmlformats.org/officeDocument/2006/relationships/image" Target="../media/image20.png"/><Relationship Id="rId10" Type="http://schemas.openxmlformats.org/officeDocument/2006/relationships/image" Target="../media/image15.png"/><Relationship Id="rId4" Type="http://schemas.openxmlformats.org/officeDocument/2006/relationships/image" Target="../media/image13.png"/><Relationship Id="rId9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microsoft.com/office/2007/relationships/hdphoto" Target="../media/hdphoto3.wdp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12" Type="http://schemas.openxmlformats.org/officeDocument/2006/relationships/image" Target="../media/image22.png"/><Relationship Id="rId2" Type="http://schemas.openxmlformats.org/officeDocument/2006/relationships/image" Target="../media/image10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6.jpeg"/><Relationship Id="rId5" Type="http://schemas.openxmlformats.org/officeDocument/2006/relationships/image" Target="../media/image18.png"/><Relationship Id="rId15" Type="http://schemas.openxmlformats.org/officeDocument/2006/relationships/image" Target="../media/image15.png"/><Relationship Id="rId10" Type="http://schemas.openxmlformats.org/officeDocument/2006/relationships/image" Target="../media/image7.jpeg"/><Relationship Id="rId4" Type="http://schemas.openxmlformats.org/officeDocument/2006/relationships/image" Target="../media/image17.png"/><Relationship Id="rId9" Type="http://schemas.openxmlformats.org/officeDocument/2006/relationships/image" Target="../media/image21.png"/><Relationship Id="rId1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7CB8AB-5CF2-DCDB-BD98-9DF9269D136B}"/>
              </a:ext>
            </a:extLst>
          </p:cNvPr>
          <p:cNvSpPr txBox="1"/>
          <p:nvPr/>
        </p:nvSpPr>
        <p:spPr>
          <a:xfrm>
            <a:off x="4975244" y="3244334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</p:spTree>
    <p:extLst>
      <p:ext uri="{BB962C8B-B14F-4D97-AF65-F5344CB8AC3E}">
        <p14:creationId xmlns:p14="http://schemas.microsoft.com/office/powerpoint/2010/main" val="242404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81" y="566530"/>
            <a:ext cx="10969099" cy="164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22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81" y="566530"/>
            <a:ext cx="10969099" cy="1648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57CF8E-64DB-E463-3C31-D0578D4309F7}"/>
              </a:ext>
            </a:extLst>
          </p:cNvPr>
          <p:cNvSpPr txBox="1"/>
          <p:nvPr/>
        </p:nvSpPr>
        <p:spPr>
          <a:xfrm>
            <a:off x="8566703" y="2046665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…</a:t>
            </a:r>
          </a:p>
        </p:txBody>
      </p:sp>
      <p:pic>
        <p:nvPicPr>
          <p:cNvPr id="94" name="Picture 93">
            <a:extLst>
              <a:ext uri="{FF2B5EF4-FFF2-40B4-BE49-F238E27FC236}">
                <a16:creationId xmlns:a16="http://schemas.microsoft.com/office/drawing/2014/main" id="{F6952BB5-7F22-1462-E798-702241A0D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247" t="6678" r="-837" b="-4487"/>
          <a:stretch/>
        </p:blipFill>
        <p:spPr>
          <a:xfrm>
            <a:off x="2587501" y="2232742"/>
            <a:ext cx="1762539" cy="50760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D2AA0F2-5299-7E01-9F19-E7D0CD260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247" t="6678" r="-837" b="-4487"/>
          <a:stretch/>
        </p:blipFill>
        <p:spPr>
          <a:xfrm>
            <a:off x="6255876" y="2232741"/>
            <a:ext cx="1762539" cy="5076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246262-A595-44CF-2875-4077A271691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1607" y="2154342"/>
            <a:ext cx="1465952" cy="4770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5FA471-5B9C-4F3E-5802-56098D66E58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8396" y="2214637"/>
            <a:ext cx="1370535" cy="451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0FCD17A-9A38-84D1-CD77-8C076A259515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96259" y="2167353"/>
            <a:ext cx="1439929" cy="45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345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81" y="566530"/>
            <a:ext cx="10969099" cy="1648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257CF8E-64DB-E463-3C31-D0578D4309F7}"/>
              </a:ext>
            </a:extLst>
          </p:cNvPr>
          <p:cNvSpPr txBox="1"/>
          <p:nvPr/>
        </p:nvSpPr>
        <p:spPr>
          <a:xfrm>
            <a:off x="8566703" y="2046665"/>
            <a:ext cx="5501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…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BFEB5-32A7-FA2D-44B7-FF4E2183A868}"/>
              </a:ext>
            </a:extLst>
          </p:cNvPr>
          <p:cNvGrpSpPr/>
          <p:nvPr/>
        </p:nvGrpSpPr>
        <p:grpSpPr>
          <a:xfrm>
            <a:off x="2718174" y="3078226"/>
            <a:ext cx="6069867" cy="369332"/>
            <a:chOff x="1497495" y="5014084"/>
            <a:chExt cx="6069867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675234-2D18-9D90-36F0-D6EC1E8A8CB1}"/>
                </a:ext>
              </a:extLst>
            </p:cNvPr>
            <p:cNvSpPr txBox="1"/>
            <p:nvPr/>
          </p:nvSpPr>
          <p:spPr>
            <a:xfrm>
              <a:off x="1497495" y="5014084"/>
              <a:ext cx="6069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Is            a scalar valued or a vector valued function?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8DE5673-20C8-4B89-B92D-DBD4A9AA08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2593" t="11674" r="33026" b="8712"/>
            <a:stretch/>
          </p:blipFill>
          <p:spPr>
            <a:xfrm>
              <a:off x="1852846" y="5022654"/>
              <a:ext cx="505993" cy="352193"/>
            </a:xfrm>
            <a:prstGeom prst="rect">
              <a:avLst/>
            </a:prstGeom>
          </p:spPr>
        </p:pic>
      </p:grpSp>
      <p:pic>
        <p:nvPicPr>
          <p:cNvPr id="94" name="Picture 93">
            <a:extLst>
              <a:ext uri="{FF2B5EF4-FFF2-40B4-BE49-F238E27FC236}">
                <a16:creationId xmlns:a16="http://schemas.microsoft.com/office/drawing/2014/main" id="{F6952BB5-7F22-1462-E798-702241A0D0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247" t="6678" r="-837" b="-4487"/>
          <a:stretch/>
        </p:blipFill>
        <p:spPr>
          <a:xfrm>
            <a:off x="2587501" y="2232742"/>
            <a:ext cx="1762539" cy="507601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7D2AA0F2-5299-7E01-9F19-E7D0CD260C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-1247" t="6678" r="-837" b="-4487"/>
          <a:stretch/>
        </p:blipFill>
        <p:spPr>
          <a:xfrm>
            <a:off x="6255876" y="2232741"/>
            <a:ext cx="1762539" cy="5076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6C49EFC-C051-49C8-8735-5042E925796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1607" y="2154342"/>
            <a:ext cx="1465952" cy="477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9241CE-17C8-6A1F-91CD-9560CBB151EC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18396" y="2214637"/>
            <a:ext cx="1370535" cy="4510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D0A62B-A1A5-3DE8-36CE-5FB1B5FDACD1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396259" y="2167353"/>
            <a:ext cx="1439929" cy="45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048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81" y="566530"/>
            <a:ext cx="10969099" cy="1648107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3C5BFEB5-32A7-FA2D-44B7-FF4E2183A868}"/>
              </a:ext>
            </a:extLst>
          </p:cNvPr>
          <p:cNvGrpSpPr/>
          <p:nvPr/>
        </p:nvGrpSpPr>
        <p:grpSpPr>
          <a:xfrm>
            <a:off x="2718174" y="3078226"/>
            <a:ext cx="6069867" cy="369332"/>
            <a:chOff x="1497495" y="5014084"/>
            <a:chExt cx="6069867" cy="36933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1675234-2D18-9D90-36F0-D6EC1E8A8CB1}"/>
                </a:ext>
              </a:extLst>
            </p:cNvPr>
            <p:cNvSpPr txBox="1"/>
            <p:nvPr/>
          </p:nvSpPr>
          <p:spPr>
            <a:xfrm>
              <a:off x="1497495" y="5014084"/>
              <a:ext cx="606986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Is            a scalar valued or a vector valued function?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D8DE5673-20C8-4B89-B92D-DBD4A9AA08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32593" t="11674" r="33026" b="8712"/>
            <a:stretch/>
          </p:blipFill>
          <p:spPr>
            <a:xfrm>
              <a:off x="1852846" y="5022654"/>
              <a:ext cx="505993" cy="352193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6E4CDBB-B6FD-D8ED-ED7A-8CE77788E6FF}"/>
              </a:ext>
            </a:extLst>
          </p:cNvPr>
          <p:cNvGrpSpPr/>
          <p:nvPr/>
        </p:nvGrpSpPr>
        <p:grpSpPr>
          <a:xfrm>
            <a:off x="1201790" y="4307566"/>
            <a:ext cx="9436619" cy="2373003"/>
            <a:chOff x="-509544" y="604222"/>
            <a:chExt cx="12583664" cy="2995886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004054D-008C-2E5B-7876-9450A59E36D6}"/>
                </a:ext>
              </a:extLst>
            </p:cNvPr>
            <p:cNvGrpSpPr/>
            <p:nvPr/>
          </p:nvGrpSpPr>
          <p:grpSpPr>
            <a:xfrm>
              <a:off x="8683337" y="1600270"/>
              <a:ext cx="3390783" cy="1362734"/>
              <a:chOff x="881744" y="4049486"/>
              <a:chExt cx="11190637" cy="2492587"/>
            </a:xfrm>
          </p:grpSpPr>
          <p:sp>
            <p:nvSpPr>
              <p:cNvPr id="81" name="Parallelogram 80">
                <a:extLst>
                  <a:ext uri="{FF2B5EF4-FFF2-40B4-BE49-F238E27FC236}">
                    <a16:creationId xmlns:a16="http://schemas.microsoft.com/office/drawing/2014/main" id="{46BE5C5D-77B1-5F23-0AC1-3F825DBF172A}"/>
                  </a:ext>
                </a:extLst>
              </p:cNvPr>
              <p:cNvSpPr/>
              <p:nvPr/>
            </p:nvSpPr>
            <p:spPr>
              <a:xfrm>
                <a:off x="881744" y="4049486"/>
                <a:ext cx="11190637" cy="2492587"/>
              </a:xfrm>
              <a:prstGeom prst="parallelogram">
                <a:avLst>
                  <a:gd name="adj" fmla="val 9432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6B6999-0B7E-2ED5-7C4B-C7C78CDDBA96}"/>
                  </a:ext>
                </a:extLst>
              </p:cNvPr>
              <p:cNvSpPr/>
              <p:nvPr/>
            </p:nvSpPr>
            <p:spPr>
              <a:xfrm>
                <a:off x="4398691" y="5996305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5B87CE0A-20F5-AE46-0E86-ACBBFA2081B4}"/>
                  </a:ext>
                </a:extLst>
              </p:cNvPr>
              <p:cNvSpPr/>
              <p:nvPr/>
            </p:nvSpPr>
            <p:spPr>
              <a:xfrm>
                <a:off x="3282083" y="5744935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1B5E8C17-C088-D0CB-0596-B73A268D1009}"/>
                  </a:ext>
                </a:extLst>
              </p:cNvPr>
              <p:cNvSpPr/>
              <p:nvPr/>
            </p:nvSpPr>
            <p:spPr>
              <a:xfrm>
                <a:off x="3667762" y="5803265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166481C9-0629-A158-001A-C345F12CEF6B}"/>
                  </a:ext>
                </a:extLst>
              </p:cNvPr>
              <p:cNvSpPr/>
              <p:nvPr/>
            </p:nvSpPr>
            <p:spPr>
              <a:xfrm>
                <a:off x="2824018" y="5973446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6DE1324-A553-B2E1-BF0B-EFF0AE6F08AC}"/>
                  </a:ext>
                </a:extLst>
              </p:cNvPr>
              <p:cNvSpPr/>
              <p:nvPr/>
            </p:nvSpPr>
            <p:spPr>
              <a:xfrm>
                <a:off x="6339674" y="6260592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05F1CE31-DC35-F8B2-2B69-D789FBF4BD43}"/>
                  </a:ext>
                </a:extLst>
              </p:cNvPr>
              <p:cNvSpPr/>
              <p:nvPr/>
            </p:nvSpPr>
            <p:spPr>
              <a:xfrm>
                <a:off x="6840880" y="6305430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E6566702-9BAB-52CB-94D3-270D7FDACF0D}"/>
                  </a:ext>
                </a:extLst>
              </p:cNvPr>
              <p:cNvSpPr/>
              <p:nvPr/>
            </p:nvSpPr>
            <p:spPr>
              <a:xfrm>
                <a:off x="3412711" y="6305430"/>
                <a:ext cx="261257" cy="4571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90EA11D-59B7-FC4E-61C0-A6E2D428224D}"/>
                  </a:ext>
                </a:extLst>
              </p:cNvPr>
              <p:cNvSpPr/>
              <p:nvPr/>
            </p:nvSpPr>
            <p:spPr>
              <a:xfrm>
                <a:off x="7406935" y="6234469"/>
                <a:ext cx="261257" cy="45719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94860F6C-6EC4-DB7C-9BC3-AC975C0DFA67}"/>
                  </a:ext>
                </a:extLst>
              </p:cNvPr>
              <p:cNvSpPr/>
              <p:nvPr/>
            </p:nvSpPr>
            <p:spPr>
              <a:xfrm>
                <a:off x="6940436" y="4397828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6C241EB-479A-FAA4-90AB-492806E26288}"/>
                  </a:ext>
                </a:extLst>
              </p:cNvPr>
              <p:cNvSpPr/>
              <p:nvPr/>
            </p:nvSpPr>
            <p:spPr>
              <a:xfrm>
                <a:off x="7092836" y="4550228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2A0632F8-1DD4-1BE7-BBF0-63E692A656B1}"/>
                  </a:ext>
                </a:extLst>
              </p:cNvPr>
              <p:cNvSpPr/>
              <p:nvPr/>
            </p:nvSpPr>
            <p:spPr>
              <a:xfrm>
                <a:off x="6792686" y="4526643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D089802-00FC-FA5A-F163-0DE6D90F817A}"/>
                  </a:ext>
                </a:extLst>
              </p:cNvPr>
              <p:cNvSpPr/>
              <p:nvPr/>
            </p:nvSpPr>
            <p:spPr>
              <a:xfrm>
                <a:off x="9308181" y="4352109"/>
                <a:ext cx="261257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4DA9302-9563-084D-CDE9-4654F4707863}"/>
                </a:ext>
              </a:extLst>
            </p:cNvPr>
            <p:cNvGrpSpPr/>
            <p:nvPr/>
          </p:nvGrpSpPr>
          <p:grpSpPr>
            <a:xfrm>
              <a:off x="-509544" y="1770930"/>
              <a:ext cx="3246052" cy="1293785"/>
              <a:chOff x="-514558" y="3986054"/>
              <a:chExt cx="4839068" cy="1293785"/>
            </a:xfrm>
          </p:grpSpPr>
          <p:sp>
            <p:nvSpPr>
              <p:cNvPr id="29" name="Parallelogram 28">
                <a:extLst>
                  <a:ext uri="{FF2B5EF4-FFF2-40B4-BE49-F238E27FC236}">
                    <a16:creationId xmlns:a16="http://schemas.microsoft.com/office/drawing/2014/main" id="{BB0F1D0E-6093-37B1-E1B5-6F17BB14BEBF}"/>
                  </a:ext>
                </a:extLst>
              </p:cNvPr>
              <p:cNvSpPr/>
              <p:nvPr/>
            </p:nvSpPr>
            <p:spPr>
              <a:xfrm>
                <a:off x="-514558" y="3986054"/>
                <a:ext cx="4839068" cy="1293785"/>
              </a:xfrm>
              <a:prstGeom prst="parallelogram">
                <a:avLst>
                  <a:gd name="adj" fmla="val 62976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0C347B2-68D8-30D0-C6E6-7D4A036D894F}"/>
                  </a:ext>
                </a:extLst>
              </p:cNvPr>
              <p:cNvSpPr/>
              <p:nvPr/>
            </p:nvSpPr>
            <p:spPr>
              <a:xfrm>
                <a:off x="2009206" y="4556750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DD47FA1-6118-C3CB-0803-49EB1A234B7B}"/>
                  </a:ext>
                </a:extLst>
              </p:cNvPr>
              <p:cNvSpPr/>
              <p:nvPr/>
            </p:nvSpPr>
            <p:spPr>
              <a:xfrm>
                <a:off x="2161606" y="4709150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C0DF81AD-E25E-A507-4B33-7290D72FC9BE}"/>
                  </a:ext>
                </a:extLst>
              </p:cNvPr>
              <p:cNvSpPr/>
              <p:nvPr/>
            </p:nvSpPr>
            <p:spPr>
              <a:xfrm>
                <a:off x="2314006" y="458940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C6F47E40-909B-3A83-E499-8C2FAE999841}"/>
                  </a:ext>
                </a:extLst>
              </p:cNvPr>
              <p:cNvSpPr/>
              <p:nvPr/>
            </p:nvSpPr>
            <p:spPr>
              <a:xfrm>
                <a:off x="1889462" y="474180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3E04A72-E717-FA46-9F06-CF0E89A9B45B}"/>
                  </a:ext>
                </a:extLst>
              </p:cNvPr>
              <p:cNvSpPr/>
              <p:nvPr/>
            </p:nvSpPr>
            <p:spPr>
              <a:xfrm>
                <a:off x="2041862" y="483977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3D7A84B-BD9F-AED3-4447-2A8107C7D8CB}"/>
                  </a:ext>
                </a:extLst>
              </p:cNvPr>
              <p:cNvSpPr/>
              <p:nvPr/>
            </p:nvSpPr>
            <p:spPr>
              <a:xfrm>
                <a:off x="2041862" y="4632947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C99A016-71C6-EF5B-C9F6-55D684A4004D}"/>
                  </a:ext>
                </a:extLst>
              </p:cNvPr>
              <p:cNvSpPr/>
              <p:nvPr/>
            </p:nvSpPr>
            <p:spPr>
              <a:xfrm>
                <a:off x="2183376" y="4611175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ECE4DAF8-A242-8A22-8BAC-8E9928F7FE51}"/>
                  </a:ext>
                </a:extLst>
              </p:cNvPr>
              <p:cNvSpPr/>
              <p:nvPr/>
            </p:nvSpPr>
            <p:spPr>
              <a:xfrm>
                <a:off x="2041862" y="4763575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BE339027-652F-F68F-84DB-AC0C69F00BCA}"/>
                  </a:ext>
                </a:extLst>
              </p:cNvPr>
              <p:cNvSpPr/>
              <p:nvPr/>
            </p:nvSpPr>
            <p:spPr>
              <a:xfrm>
                <a:off x="2194262" y="4807115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92E749F-52F8-7691-04EB-954F0EE1CFD3}"/>
                  </a:ext>
                </a:extLst>
              </p:cNvPr>
              <p:cNvSpPr/>
              <p:nvPr/>
            </p:nvSpPr>
            <p:spPr>
              <a:xfrm>
                <a:off x="2346662" y="4959515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608B35E5-2E9E-C59C-3BA7-6D75C0F6AAAC}"/>
                  </a:ext>
                </a:extLst>
              </p:cNvPr>
              <p:cNvSpPr/>
              <p:nvPr/>
            </p:nvSpPr>
            <p:spPr>
              <a:xfrm>
                <a:off x="2488176" y="4676486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316BFA65-FD16-B60F-6AA3-962B5C58CEBC}"/>
                  </a:ext>
                </a:extLst>
              </p:cNvPr>
              <p:cNvSpPr/>
              <p:nvPr/>
            </p:nvSpPr>
            <p:spPr>
              <a:xfrm>
                <a:off x="2640576" y="4534972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B7E344C7-125E-BD3F-DA45-A5D99DC5AEEC}"/>
                  </a:ext>
                </a:extLst>
              </p:cNvPr>
              <p:cNvSpPr/>
              <p:nvPr/>
            </p:nvSpPr>
            <p:spPr>
              <a:xfrm>
                <a:off x="1726178" y="4654712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39BF0D61-EBBF-E701-A8B0-C654CA4D0E5C}"/>
                  </a:ext>
                </a:extLst>
              </p:cNvPr>
              <p:cNvSpPr/>
              <p:nvPr/>
            </p:nvSpPr>
            <p:spPr>
              <a:xfrm>
                <a:off x="1845920" y="4578510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C8CFC6F-E779-B28E-4ACB-6E59BFED30EA}"/>
                  </a:ext>
                </a:extLst>
              </p:cNvPr>
              <p:cNvSpPr/>
              <p:nvPr/>
            </p:nvSpPr>
            <p:spPr>
              <a:xfrm>
                <a:off x="1987434" y="449142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7A87C4BA-D973-0AF4-4478-DA97AA804871}"/>
                  </a:ext>
                </a:extLst>
              </p:cNvPr>
              <p:cNvSpPr/>
              <p:nvPr/>
            </p:nvSpPr>
            <p:spPr>
              <a:xfrm>
                <a:off x="1780605" y="479622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F0F9419F-745B-8D92-F310-47502677072F}"/>
                  </a:ext>
                </a:extLst>
              </p:cNvPr>
              <p:cNvSpPr/>
              <p:nvPr/>
            </p:nvSpPr>
            <p:spPr>
              <a:xfrm>
                <a:off x="1911233" y="487242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304B1A4-B88F-91A8-66E7-2B94BDDF355E}"/>
                  </a:ext>
                </a:extLst>
              </p:cNvPr>
              <p:cNvSpPr/>
              <p:nvPr/>
            </p:nvSpPr>
            <p:spPr>
              <a:xfrm>
                <a:off x="2030975" y="502482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C3266465-013D-8EEC-985A-076D09EF3863}"/>
                  </a:ext>
                </a:extLst>
              </p:cNvPr>
              <p:cNvSpPr/>
              <p:nvPr/>
            </p:nvSpPr>
            <p:spPr>
              <a:xfrm>
                <a:off x="1660861" y="502482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9686FBB-2BA8-B3A3-2B20-D1FBE1B2CD2D}"/>
                  </a:ext>
                </a:extLst>
              </p:cNvPr>
              <p:cNvSpPr/>
              <p:nvPr/>
            </p:nvSpPr>
            <p:spPr>
              <a:xfrm>
                <a:off x="1628207" y="4905078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2D9BBA42-D74B-56F3-41AB-4900E81F8870}"/>
                  </a:ext>
                </a:extLst>
              </p:cNvPr>
              <p:cNvSpPr/>
              <p:nvPr/>
            </p:nvSpPr>
            <p:spPr>
              <a:xfrm>
                <a:off x="1552006" y="4730908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E709268-6FFE-AACE-8A2E-198E7083B51A}"/>
                  </a:ext>
                </a:extLst>
              </p:cNvPr>
              <p:cNvSpPr/>
              <p:nvPr/>
            </p:nvSpPr>
            <p:spPr>
              <a:xfrm>
                <a:off x="1704406" y="454585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0648ED5E-C391-6BEA-B369-3660E4B8B2A1}"/>
                  </a:ext>
                </a:extLst>
              </p:cNvPr>
              <p:cNvSpPr/>
              <p:nvPr/>
            </p:nvSpPr>
            <p:spPr>
              <a:xfrm>
                <a:off x="1704406" y="436079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4A30CDE3-1A14-FBAA-AF69-AF63C4625BA6}"/>
                  </a:ext>
                </a:extLst>
              </p:cNvPr>
              <p:cNvSpPr/>
              <p:nvPr/>
            </p:nvSpPr>
            <p:spPr>
              <a:xfrm>
                <a:off x="1965665" y="4219277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EF2AF6E9-6564-1FDB-F521-1C3772C3E4F8}"/>
                  </a:ext>
                </a:extLst>
              </p:cNvPr>
              <p:cNvSpPr/>
              <p:nvPr/>
            </p:nvSpPr>
            <p:spPr>
              <a:xfrm>
                <a:off x="2303122" y="430636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E14D4E1E-8EE6-FB38-2EC1-40AA19530A30}"/>
                  </a:ext>
                </a:extLst>
              </p:cNvPr>
              <p:cNvSpPr/>
              <p:nvPr/>
            </p:nvSpPr>
            <p:spPr>
              <a:xfrm>
                <a:off x="2411978" y="445876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0709FA9-5B5D-4B3D-8AD5-C3E577C67C6C}"/>
                  </a:ext>
                </a:extLst>
              </p:cNvPr>
              <p:cNvSpPr/>
              <p:nvPr/>
            </p:nvSpPr>
            <p:spPr>
              <a:xfrm>
                <a:off x="2716779" y="438256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61F3A98-C18D-2C0B-639F-DF695D83EE61}"/>
                  </a:ext>
                </a:extLst>
              </p:cNvPr>
              <p:cNvSpPr/>
              <p:nvPr/>
            </p:nvSpPr>
            <p:spPr>
              <a:xfrm>
                <a:off x="2901837" y="453496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8C8D0FA-A649-46C5-4EA0-2AB68375AC44}"/>
                  </a:ext>
                </a:extLst>
              </p:cNvPr>
              <p:cNvSpPr/>
              <p:nvPr/>
            </p:nvSpPr>
            <p:spPr>
              <a:xfrm>
                <a:off x="2869179" y="453496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2CBE9509-F2AE-81E7-FF3B-7436C5A3793A}"/>
                  </a:ext>
                </a:extLst>
              </p:cNvPr>
              <p:cNvSpPr/>
              <p:nvPr/>
            </p:nvSpPr>
            <p:spPr>
              <a:xfrm>
                <a:off x="2901836" y="4861537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A72D8D30-92F0-A872-A659-D5E2FC61EC3A}"/>
                  </a:ext>
                </a:extLst>
              </p:cNvPr>
              <p:cNvSpPr/>
              <p:nvPr/>
            </p:nvSpPr>
            <p:spPr>
              <a:xfrm>
                <a:off x="3282836" y="4698249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86AC3005-2A5D-A588-8E8E-D78B832C86D9}"/>
                  </a:ext>
                </a:extLst>
              </p:cNvPr>
              <p:cNvSpPr/>
              <p:nvPr/>
            </p:nvSpPr>
            <p:spPr>
              <a:xfrm>
                <a:off x="3032465" y="5133679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ABE415D-E4FE-E167-82EA-06ADB8D404BC}"/>
                  </a:ext>
                </a:extLst>
              </p:cNvPr>
              <p:cNvSpPr/>
              <p:nvPr/>
            </p:nvSpPr>
            <p:spPr>
              <a:xfrm>
                <a:off x="1203665" y="468736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87D8FC83-396A-5977-7B61-A8687F3341EF}"/>
                  </a:ext>
                </a:extLst>
              </p:cNvPr>
              <p:cNvSpPr/>
              <p:nvPr/>
            </p:nvSpPr>
            <p:spPr>
              <a:xfrm>
                <a:off x="833550" y="468736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1E6E7A76-7B4A-41F1-CA1A-D61C546794FF}"/>
                  </a:ext>
                </a:extLst>
              </p:cNvPr>
              <p:cNvSpPr/>
              <p:nvPr/>
            </p:nvSpPr>
            <p:spPr>
              <a:xfrm>
                <a:off x="985950" y="4850649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D641408A-F97F-0133-83EA-A8A089C1FF02}"/>
                  </a:ext>
                </a:extLst>
              </p:cNvPr>
              <p:cNvSpPr/>
              <p:nvPr/>
            </p:nvSpPr>
            <p:spPr>
              <a:xfrm>
                <a:off x="985950" y="5024822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56CC891-1E26-328B-760C-73B0BAD940A6}"/>
                  </a:ext>
                </a:extLst>
              </p:cNvPr>
              <p:cNvSpPr/>
              <p:nvPr/>
            </p:nvSpPr>
            <p:spPr>
              <a:xfrm>
                <a:off x="430778" y="5090134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F855DF38-8F87-D739-1578-0D04D19504AE}"/>
                  </a:ext>
                </a:extLst>
              </p:cNvPr>
              <p:cNvSpPr/>
              <p:nvPr/>
            </p:nvSpPr>
            <p:spPr>
              <a:xfrm>
                <a:off x="985950" y="413219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2D663D89-1172-EDBE-4C4B-B6380762E230}"/>
                  </a:ext>
                </a:extLst>
              </p:cNvPr>
              <p:cNvSpPr/>
              <p:nvPr/>
            </p:nvSpPr>
            <p:spPr>
              <a:xfrm>
                <a:off x="1911236" y="465470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452F21F5-E41E-32D4-5F14-623428C3354E}"/>
                  </a:ext>
                </a:extLst>
              </p:cNvPr>
              <p:cNvSpPr/>
              <p:nvPr/>
            </p:nvSpPr>
            <p:spPr>
              <a:xfrm>
                <a:off x="2063636" y="4720013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043A9CBF-F35C-FD68-BAE8-71CAEA42A32D}"/>
                  </a:ext>
                </a:extLst>
              </p:cNvPr>
              <p:cNvSpPr/>
              <p:nvPr/>
            </p:nvSpPr>
            <p:spPr>
              <a:xfrm>
                <a:off x="2226922" y="4676472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C6120EF9-0AC3-CC60-53F1-3797ACEEB192}"/>
                  </a:ext>
                </a:extLst>
              </p:cNvPr>
              <p:cNvSpPr/>
              <p:nvPr/>
            </p:nvSpPr>
            <p:spPr>
              <a:xfrm>
                <a:off x="2139837" y="4763558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2D4FA15-385F-A2BC-CEE3-C24CCE12EE64}"/>
                  </a:ext>
                </a:extLst>
              </p:cNvPr>
              <p:cNvSpPr/>
              <p:nvPr/>
            </p:nvSpPr>
            <p:spPr>
              <a:xfrm>
                <a:off x="2259580" y="4752672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C999203D-EADC-6892-04D8-8192B2283F0D}"/>
                  </a:ext>
                </a:extLst>
              </p:cNvPr>
              <p:cNvSpPr/>
              <p:nvPr/>
            </p:nvSpPr>
            <p:spPr>
              <a:xfrm>
                <a:off x="2357549" y="480710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BEA1B1CB-22BF-3FC2-9837-5893E85D8BF9}"/>
                  </a:ext>
                </a:extLst>
              </p:cNvPr>
              <p:cNvSpPr/>
              <p:nvPr/>
            </p:nvSpPr>
            <p:spPr>
              <a:xfrm>
                <a:off x="2020092" y="4665587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BEFDD52D-3670-DF2B-F69A-10027380CA6B}"/>
                  </a:ext>
                </a:extLst>
              </p:cNvPr>
              <p:cNvSpPr/>
              <p:nvPr/>
            </p:nvSpPr>
            <p:spPr>
              <a:xfrm>
                <a:off x="1922122" y="4817987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5D31BD31-ED7C-1BD3-13AD-7DB98CA3A7BE}"/>
                  </a:ext>
                </a:extLst>
              </p:cNvPr>
              <p:cNvSpPr/>
              <p:nvPr/>
            </p:nvSpPr>
            <p:spPr>
              <a:xfrm>
                <a:off x="2509951" y="480710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3AAD4AD7-4D11-02B1-2408-9B5B7BD1D32E}"/>
                  </a:ext>
                </a:extLst>
              </p:cNvPr>
              <p:cNvSpPr/>
              <p:nvPr/>
            </p:nvSpPr>
            <p:spPr>
              <a:xfrm>
                <a:off x="2183379" y="486153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2166E60D-3102-8920-765E-3D44865D6C0C}"/>
                  </a:ext>
                </a:extLst>
              </p:cNvPr>
              <p:cNvSpPr/>
              <p:nvPr/>
            </p:nvSpPr>
            <p:spPr>
              <a:xfrm>
                <a:off x="2324895" y="4741786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D8F6DBE9-CDBB-E151-98A2-6FE4EA120436}"/>
                  </a:ext>
                </a:extLst>
              </p:cNvPr>
              <p:cNvSpPr/>
              <p:nvPr/>
            </p:nvSpPr>
            <p:spPr>
              <a:xfrm>
                <a:off x="2368436" y="4665586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E164A8DC-452C-7C4A-769D-74C4D4342384}"/>
                  </a:ext>
                </a:extLst>
              </p:cNvPr>
              <p:cNvSpPr/>
              <p:nvPr/>
            </p:nvSpPr>
            <p:spPr>
              <a:xfrm>
                <a:off x="2063636" y="4807101"/>
                <a:ext cx="98132" cy="24995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DE089412-2F62-6B99-9840-6C2B284C7B98}"/>
                </a:ext>
              </a:extLst>
            </p:cNvPr>
            <p:cNvSpPr/>
            <p:nvPr/>
          </p:nvSpPr>
          <p:spPr>
            <a:xfrm>
              <a:off x="1657832" y="2364740"/>
              <a:ext cx="8066313" cy="893153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066313"/>
                <a:gd name="connsiteY0" fmla="*/ 0 h 893153"/>
                <a:gd name="connsiteX1" fmla="*/ 3341914 w 8066313"/>
                <a:gd name="connsiteY1" fmla="*/ 892629 h 893153"/>
                <a:gd name="connsiteX2" fmla="*/ 8066313 w 8066313"/>
                <a:gd name="connsiteY2" fmla="*/ 326572 h 89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66313" h="893153">
                  <a:moveTo>
                    <a:pt x="0" y="0"/>
                  </a:moveTo>
                  <a:cubicBezTo>
                    <a:pt x="984250" y="455386"/>
                    <a:pt x="1968500" y="910772"/>
                    <a:pt x="3341914" y="892629"/>
                  </a:cubicBezTo>
                  <a:cubicBezTo>
                    <a:pt x="4715328" y="874486"/>
                    <a:pt x="6303734" y="818243"/>
                    <a:pt x="8066313" y="32657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11868B7-E5A2-3042-78B9-E8CB5BA76F74}"/>
                </a:ext>
              </a:extLst>
            </p:cNvPr>
            <p:cNvSpPr/>
            <p:nvPr/>
          </p:nvSpPr>
          <p:spPr>
            <a:xfrm>
              <a:off x="1599620" y="1816497"/>
              <a:ext cx="9627409" cy="1285800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182752"/>
                <a:gd name="connsiteY0" fmla="*/ 516956 h 1004643"/>
                <a:gd name="connsiteX1" fmla="*/ 3284181 w 8182752"/>
                <a:gd name="connsiteY1" fmla="*/ 1001486 h 1004643"/>
                <a:gd name="connsiteX2" fmla="*/ 8182752 w 8182752"/>
                <a:gd name="connsiteY2" fmla="*/ 0 h 1004643"/>
                <a:gd name="connsiteX0" fmla="*/ 0 w 8509905"/>
                <a:gd name="connsiteY0" fmla="*/ 380923 h 868610"/>
                <a:gd name="connsiteX1" fmla="*/ 3284181 w 8509905"/>
                <a:gd name="connsiteY1" fmla="*/ 865453 h 868610"/>
                <a:gd name="connsiteX2" fmla="*/ 8509905 w 8509905"/>
                <a:gd name="connsiteY2" fmla="*/ 0 h 868610"/>
                <a:gd name="connsiteX0" fmla="*/ 0 w 8509905"/>
                <a:gd name="connsiteY0" fmla="*/ 380923 h 730361"/>
                <a:gd name="connsiteX1" fmla="*/ 3293803 w 8509905"/>
                <a:gd name="connsiteY1" fmla="*/ 704687 h 730361"/>
                <a:gd name="connsiteX2" fmla="*/ 8509905 w 8509905"/>
                <a:gd name="connsiteY2" fmla="*/ 0 h 730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09905" h="730361">
                  <a:moveTo>
                    <a:pt x="0" y="380923"/>
                  </a:moveTo>
                  <a:cubicBezTo>
                    <a:pt x="984250" y="836309"/>
                    <a:pt x="1920389" y="722830"/>
                    <a:pt x="3293803" y="704687"/>
                  </a:cubicBezTo>
                  <a:cubicBezTo>
                    <a:pt x="4667217" y="686544"/>
                    <a:pt x="6747326" y="491671"/>
                    <a:pt x="8509905" y="0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2FBE832B-A441-0772-5979-77C775E8C8E1}"/>
                </a:ext>
              </a:extLst>
            </p:cNvPr>
            <p:cNvSpPr/>
            <p:nvPr/>
          </p:nvSpPr>
          <p:spPr>
            <a:xfrm>
              <a:off x="1738359" y="1951732"/>
              <a:ext cx="8818072" cy="863197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182752"/>
                <a:gd name="connsiteY0" fmla="*/ 516956 h 1004643"/>
                <a:gd name="connsiteX1" fmla="*/ 3284181 w 8182752"/>
                <a:gd name="connsiteY1" fmla="*/ 1001486 h 1004643"/>
                <a:gd name="connsiteX2" fmla="*/ 8182752 w 8182752"/>
                <a:gd name="connsiteY2" fmla="*/ 0 h 1004643"/>
                <a:gd name="connsiteX0" fmla="*/ 0 w 7778622"/>
                <a:gd name="connsiteY0" fmla="*/ 0 h 603694"/>
                <a:gd name="connsiteX1" fmla="*/ 3284181 w 7778622"/>
                <a:gd name="connsiteY1" fmla="*/ 484530 h 603694"/>
                <a:gd name="connsiteX2" fmla="*/ 7778622 w 7778622"/>
                <a:gd name="connsiteY2" fmla="*/ 348708 h 603694"/>
                <a:gd name="connsiteX0" fmla="*/ 0 w 8290334"/>
                <a:gd name="connsiteY0" fmla="*/ 188574 h 676262"/>
                <a:gd name="connsiteX1" fmla="*/ 3284181 w 8290334"/>
                <a:gd name="connsiteY1" fmla="*/ 673104 h 676262"/>
                <a:gd name="connsiteX2" fmla="*/ 8290334 w 8290334"/>
                <a:gd name="connsiteY2" fmla="*/ 0 h 676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290334" h="676262">
                  <a:moveTo>
                    <a:pt x="0" y="188574"/>
                  </a:moveTo>
                  <a:cubicBezTo>
                    <a:pt x="984250" y="643960"/>
                    <a:pt x="1910767" y="691247"/>
                    <a:pt x="3284181" y="673104"/>
                  </a:cubicBezTo>
                  <a:cubicBezTo>
                    <a:pt x="4657595" y="654961"/>
                    <a:pt x="6527755" y="491671"/>
                    <a:pt x="8290334" y="0"/>
                  </a:cubicBezTo>
                </a:path>
              </a:pathLst>
            </a:custGeom>
            <a:noFill/>
            <a:ln w="19050">
              <a:solidFill>
                <a:srgbClr val="00B0F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CB72E654-5FAC-CD37-160C-3575EF9106DF}"/>
                </a:ext>
              </a:extLst>
            </p:cNvPr>
            <p:cNvSpPr/>
            <p:nvPr/>
          </p:nvSpPr>
          <p:spPr>
            <a:xfrm>
              <a:off x="1216423" y="2269848"/>
              <a:ext cx="9090215" cy="722459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182752"/>
                <a:gd name="connsiteY0" fmla="*/ 516956 h 1004643"/>
                <a:gd name="connsiteX1" fmla="*/ 3284181 w 8182752"/>
                <a:gd name="connsiteY1" fmla="*/ 1001486 h 1004643"/>
                <a:gd name="connsiteX2" fmla="*/ 8182752 w 8182752"/>
                <a:gd name="connsiteY2" fmla="*/ 0 h 1004643"/>
                <a:gd name="connsiteX0" fmla="*/ 0 w 7778622"/>
                <a:gd name="connsiteY0" fmla="*/ 0 h 603694"/>
                <a:gd name="connsiteX1" fmla="*/ 3284181 w 7778622"/>
                <a:gd name="connsiteY1" fmla="*/ 484530 h 603694"/>
                <a:gd name="connsiteX2" fmla="*/ 7778622 w 7778622"/>
                <a:gd name="connsiteY2" fmla="*/ 348708 h 603694"/>
                <a:gd name="connsiteX0" fmla="*/ 0 w 8290334"/>
                <a:gd name="connsiteY0" fmla="*/ 188574 h 676262"/>
                <a:gd name="connsiteX1" fmla="*/ 3284181 w 8290334"/>
                <a:gd name="connsiteY1" fmla="*/ 673104 h 676262"/>
                <a:gd name="connsiteX2" fmla="*/ 8290334 w 8290334"/>
                <a:gd name="connsiteY2" fmla="*/ 0 h 676262"/>
                <a:gd name="connsiteX0" fmla="*/ 0 w 8546190"/>
                <a:gd name="connsiteY0" fmla="*/ 0 h 643911"/>
                <a:gd name="connsiteX1" fmla="*/ 3284181 w 8546190"/>
                <a:gd name="connsiteY1" fmla="*/ 484530 h 643911"/>
                <a:gd name="connsiteX2" fmla="*/ 8546190 w 8546190"/>
                <a:gd name="connsiteY2" fmla="*/ 408406 h 643911"/>
                <a:gd name="connsiteX0" fmla="*/ 0 w 8546190"/>
                <a:gd name="connsiteY0" fmla="*/ 0 h 566002"/>
                <a:gd name="connsiteX1" fmla="*/ 3550271 w 8546190"/>
                <a:gd name="connsiteY1" fmla="*/ 100757 h 566002"/>
                <a:gd name="connsiteX2" fmla="*/ 8546190 w 8546190"/>
                <a:gd name="connsiteY2" fmla="*/ 408406 h 56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46190" h="566002">
                  <a:moveTo>
                    <a:pt x="0" y="0"/>
                  </a:moveTo>
                  <a:cubicBezTo>
                    <a:pt x="984250" y="455386"/>
                    <a:pt x="2176857" y="118900"/>
                    <a:pt x="3550271" y="100757"/>
                  </a:cubicBezTo>
                  <a:cubicBezTo>
                    <a:pt x="4923685" y="82614"/>
                    <a:pt x="6783611" y="900077"/>
                    <a:pt x="8546190" y="408406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ounded Rectangle 25">
              <a:extLst>
                <a:ext uri="{FF2B5EF4-FFF2-40B4-BE49-F238E27FC236}">
                  <a16:creationId xmlns:a16="http://schemas.microsoft.com/office/drawing/2014/main" id="{FDAEC407-6D16-ADE3-D532-3EE64DE520BF}"/>
                </a:ext>
              </a:extLst>
            </p:cNvPr>
            <p:cNvSpPr/>
            <p:nvPr/>
          </p:nvSpPr>
          <p:spPr>
            <a:xfrm>
              <a:off x="3838963" y="1501047"/>
              <a:ext cx="3246054" cy="2099061"/>
            </a:xfrm>
            <a:prstGeom prst="roundRect">
              <a:avLst/>
            </a:prstGeom>
            <a:solidFill>
              <a:srgbClr val="000000">
                <a:alpha val="89804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GANs</a:t>
              </a:r>
            </a:p>
            <a:p>
              <a:pPr algn="ctr"/>
              <a:endParaRPr lang="en-US" sz="240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  <a:highlight>
                  <a:srgbClr val="FFFF00"/>
                </a:highlight>
              </a:endParaRPr>
            </a:p>
            <a:p>
              <a:pPr algn="ctr"/>
              <a:endParaRPr lang="en-US" sz="2400" dirty="0">
                <a:solidFill>
                  <a:schemeClr val="tx1"/>
                </a:solidFill>
              </a:endParaRPr>
            </a:p>
          </p:txBody>
        </p:sp>
        <p:pic>
          <p:nvPicPr>
            <p:cNvPr id="27" name="Picture 2" descr="White noise - Wikipedia">
              <a:extLst>
                <a:ext uri="{FF2B5EF4-FFF2-40B4-BE49-F238E27FC236}">
                  <a16:creationId xmlns:a16="http://schemas.microsoft.com/office/drawing/2014/main" id="{997E8231-00BA-E9EE-CAD9-2A68774772E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1701840" y="822823"/>
              <a:ext cx="849903" cy="8628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4" descr="Stable Diffusion] DreamBooth trained my ...">
              <a:extLst>
                <a:ext uri="{FF2B5EF4-FFF2-40B4-BE49-F238E27FC236}">
                  <a16:creationId xmlns:a16="http://schemas.microsoft.com/office/drawing/2014/main" id="{2092B9B2-F9E4-9A91-192C-3EFBF62E7B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3563" y="604222"/>
              <a:ext cx="945396" cy="9453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7DEE4E94-F257-867A-27E1-1D1E6677A334}"/>
              </a:ext>
            </a:extLst>
          </p:cNvPr>
          <p:cNvSpPr txBox="1"/>
          <p:nvPr/>
        </p:nvSpPr>
        <p:spPr>
          <a:xfrm>
            <a:off x="1497495" y="3722143"/>
            <a:ext cx="9312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Also, how is this any different from GAN? Isn’t GAN just a one shot version of this?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00D291D-B125-AD31-9E23-4D09747AE2EF}"/>
              </a:ext>
            </a:extLst>
          </p:cNvPr>
          <p:cNvGrpSpPr/>
          <p:nvPr/>
        </p:nvGrpSpPr>
        <p:grpSpPr>
          <a:xfrm>
            <a:off x="901607" y="2046665"/>
            <a:ext cx="9934581" cy="707886"/>
            <a:chOff x="901607" y="2046665"/>
            <a:chExt cx="9934581" cy="707886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257CF8E-64DB-E463-3C31-D0578D4309F7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94" name="Picture 93">
              <a:extLst>
                <a:ext uri="{FF2B5EF4-FFF2-40B4-BE49-F238E27FC236}">
                  <a16:creationId xmlns:a16="http://schemas.microsoft.com/office/drawing/2014/main" id="{F6952BB5-7F22-1462-E798-702241A0D04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95" name="Picture 94">
              <a:extLst>
                <a:ext uri="{FF2B5EF4-FFF2-40B4-BE49-F238E27FC236}">
                  <a16:creationId xmlns:a16="http://schemas.microsoft.com/office/drawing/2014/main" id="{7D2AA0F2-5299-7E01-9F19-E7D0CD260C8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3C4C7B5-535D-9424-30FC-B6DB29F4A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B3ACFA-BB6C-F8F2-276C-9CDD56565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9BFB4B4-E230-09A0-84C9-3CA9EC117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902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83BE8C6-7F8A-9346-B2CE-FB3A35BCE910}"/>
              </a:ext>
            </a:extLst>
          </p:cNvPr>
          <p:cNvSpPr txBox="1"/>
          <p:nvPr/>
        </p:nvSpPr>
        <p:spPr>
          <a:xfrm>
            <a:off x="376740" y="1719204"/>
            <a:ext cx="514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we know how to transform distributions? </a:t>
            </a:r>
            <a:endParaRPr lang="en-US" dirty="0"/>
          </a:p>
        </p:txBody>
      </p:sp>
      <p:pic>
        <p:nvPicPr>
          <p:cNvPr id="113" name="Picture 112">
            <a:extLst>
              <a:ext uri="{FF2B5EF4-FFF2-40B4-BE49-F238E27FC236}">
                <a16:creationId xmlns:a16="http://schemas.microsoft.com/office/drawing/2014/main" id="{564B9FE6-A70B-5349-A06F-C635A35FBA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981799"/>
            <a:ext cx="5588127" cy="4876201"/>
          </a:xfrm>
          <a:prstGeom prst="rect">
            <a:avLst/>
          </a:prstGeom>
        </p:spPr>
      </p:pic>
      <p:grpSp>
        <p:nvGrpSpPr>
          <p:cNvPr id="114" name="Group 113">
            <a:extLst>
              <a:ext uri="{FF2B5EF4-FFF2-40B4-BE49-F238E27FC236}">
                <a16:creationId xmlns:a16="http://schemas.microsoft.com/office/drawing/2014/main" id="{4EEF0430-D7E3-EB95-686D-5CBC6CC4F49B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90E09E4C-3894-61D9-8DC0-B324773B2FBD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19BA5C09-711E-04A7-C42E-F5C00BE5780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6E99C047-AFDD-A4DC-9472-41BA0D0322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41855C15-FCCF-3FFD-2005-EAEBDCB2B6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9C67EF6A-373D-76DD-AA87-33C7E54D40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120" name="Picture 119">
              <a:extLst>
                <a:ext uri="{FF2B5EF4-FFF2-40B4-BE49-F238E27FC236}">
                  <a16:creationId xmlns:a16="http://schemas.microsoft.com/office/drawing/2014/main" id="{A1A18407-AB89-82BD-7A88-1B9F136EDA8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98218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981799"/>
            <a:ext cx="5588127" cy="4876201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83BE8C6-7F8A-9346-B2CE-FB3A35BCE910}"/>
              </a:ext>
            </a:extLst>
          </p:cNvPr>
          <p:cNvSpPr txBox="1"/>
          <p:nvPr/>
        </p:nvSpPr>
        <p:spPr>
          <a:xfrm>
            <a:off x="376740" y="1719204"/>
            <a:ext cx="514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we know how to transform distributions? </a:t>
            </a:r>
            <a:endParaRPr lang="en-US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4B619D16-EA7A-6871-1300-4BCB7C0261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1915" r="55145" b="53965"/>
          <a:stretch/>
        </p:blipFill>
        <p:spPr>
          <a:xfrm>
            <a:off x="6558738" y="2065300"/>
            <a:ext cx="3873374" cy="802832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F37FB95-E023-3A1B-E2DD-35910E4ADE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821" r="71568"/>
          <a:stretch/>
        </p:blipFill>
        <p:spPr>
          <a:xfrm>
            <a:off x="7365247" y="3119670"/>
            <a:ext cx="2455292" cy="80667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3A58AD2-ABD0-44BD-991D-43A0F678DF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659" t="52050"/>
          <a:stretch/>
        </p:blipFill>
        <p:spPr>
          <a:xfrm>
            <a:off x="8047069" y="4067521"/>
            <a:ext cx="3310908" cy="80283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DC37BC47-913F-9734-5D10-749EBB917D70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72DA895-E6EC-33D7-2C36-D9FB01BDAC1D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B53D1CD-1B0D-383F-5CAF-B6A2331FF6E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F69F843-013E-504C-971D-37CED56188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F372550-F375-ACCA-C525-B8EAA7C9ED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F6ADD50-8A26-882D-49AA-0F17AE59277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41667BA-0D39-E5FF-133E-F0E7509C8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1582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1981799"/>
            <a:ext cx="5588127" cy="4876201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83BE8C6-7F8A-9346-B2CE-FB3A35BCE910}"/>
              </a:ext>
            </a:extLst>
          </p:cNvPr>
          <p:cNvSpPr txBox="1"/>
          <p:nvPr/>
        </p:nvSpPr>
        <p:spPr>
          <a:xfrm>
            <a:off x="376740" y="1719204"/>
            <a:ext cx="5145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Do we know how to transform distributions? </a:t>
            </a:r>
            <a:endParaRPr lang="en-US" dirty="0"/>
          </a:p>
        </p:txBody>
      </p:sp>
      <p:pic>
        <p:nvPicPr>
          <p:cNvPr id="99" name="Picture 98">
            <a:extLst>
              <a:ext uri="{FF2B5EF4-FFF2-40B4-BE49-F238E27FC236}">
                <a16:creationId xmlns:a16="http://schemas.microsoft.com/office/drawing/2014/main" id="{4B619D16-EA7A-6871-1300-4BCB7C0261F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" t="-1915" r="55145" b="53965"/>
          <a:stretch/>
        </p:blipFill>
        <p:spPr>
          <a:xfrm>
            <a:off x="6558738" y="2065300"/>
            <a:ext cx="3873374" cy="802832"/>
          </a:xfrm>
          <a:prstGeom prst="rect">
            <a:avLst/>
          </a:prstGeom>
        </p:spPr>
      </p:pic>
      <p:pic>
        <p:nvPicPr>
          <p:cNvPr id="100" name="Picture 99">
            <a:extLst>
              <a:ext uri="{FF2B5EF4-FFF2-40B4-BE49-F238E27FC236}">
                <a16:creationId xmlns:a16="http://schemas.microsoft.com/office/drawing/2014/main" id="{7F37FB95-E023-3A1B-E2DD-35910E4ADEB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821" r="71568"/>
          <a:stretch/>
        </p:blipFill>
        <p:spPr>
          <a:xfrm>
            <a:off x="7365247" y="3119670"/>
            <a:ext cx="2455292" cy="80667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43A58AD2-ABD0-44BD-991D-43A0F678DFE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659" t="52050"/>
          <a:stretch/>
        </p:blipFill>
        <p:spPr>
          <a:xfrm>
            <a:off x="8047069" y="4067521"/>
            <a:ext cx="3310908" cy="802833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6723"/>
          <a:stretch/>
        </p:blipFill>
        <p:spPr>
          <a:xfrm>
            <a:off x="6011250" y="6066582"/>
            <a:ext cx="4904460" cy="66335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B8A3669E-E765-BA29-D9CC-B01C198BC20C}"/>
              </a:ext>
            </a:extLst>
          </p:cNvPr>
          <p:cNvSpPr txBox="1"/>
          <p:nvPr/>
        </p:nvSpPr>
        <p:spPr>
          <a:xfrm>
            <a:off x="5836125" y="5697250"/>
            <a:ext cx="1943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Generalizing to </a:t>
            </a:r>
            <a:endParaRPr lang="en-US" dirty="0"/>
          </a:p>
        </p:txBody>
      </p:sp>
      <p:pic>
        <p:nvPicPr>
          <p:cNvPr id="104" name="Picture 103">
            <a:extLst>
              <a:ext uri="{FF2B5EF4-FFF2-40B4-BE49-F238E27FC236}">
                <a16:creationId xmlns:a16="http://schemas.microsoft.com/office/drawing/2014/main" id="{23FF94F0-E13A-BD55-327F-D9820A409C5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34329" t="-281" r="33606"/>
          <a:stretch/>
        </p:blipFill>
        <p:spPr>
          <a:xfrm>
            <a:off x="7630135" y="5592092"/>
            <a:ext cx="1082887" cy="510968"/>
          </a:xfrm>
          <a:prstGeom prst="rect">
            <a:avLst/>
          </a:prstGeom>
        </p:spPr>
      </p:pic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98E1CD05-ABED-B542-20F7-57376E71D2D0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10613659" y="5646082"/>
            <a:ext cx="187097" cy="357039"/>
          </a:xfrm>
          <a:prstGeom prst="line">
            <a:avLst/>
          </a:prstGeom>
          <a:ln w="28575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12586731-0E01-CC23-699B-E209F8758F37}"/>
              </a:ext>
            </a:extLst>
          </p:cNvPr>
          <p:cNvSpPr txBox="1"/>
          <p:nvPr/>
        </p:nvSpPr>
        <p:spPr>
          <a:xfrm>
            <a:off x="10192256" y="5276750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Jacobian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12" name="Picture 2" descr="Clapping Hands Emoji (U+1F44F)">
            <a:extLst>
              <a:ext uri="{FF2B5EF4-FFF2-40B4-BE49-F238E27FC236}">
                <a16:creationId xmlns:a16="http://schemas.microsoft.com/office/drawing/2014/main" id="{CD3392B5-D310-3D3C-E6C0-D8ADBC4CE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63770" y="5946819"/>
            <a:ext cx="783113" cy="78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F4F7F917-0945-93B1-1093-C7828E6B625E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83429D-E68C-B698-E5EB-C8DAABFD0866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F772A94-3624-2A5A-3245-F613BB7BA4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26D838D-DC01-E3DF-194F-83CED4692E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C7F00FA-C5ED-F69C-9A2E-03BA600B4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2AB8FA1-16CB-FF4B-9BC1-F1FF834822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EF7A6B6-3A17-6C5C-FE76-48B3D5710A4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5764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2717" y="1041366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5221086" y="1870062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376740" y="366473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551071" y="360776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435488" y="240985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134778" y="443556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044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2717" y="1041366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5221086" y="1870062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376740" y="366473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551071" y="360776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435488" y="240985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134778" y="443556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4C59FB-19D1-0C67-726A-FE28ACAF75A8}"/>
              </a:ext>
            </a:extLst>
          </p:cNvPr>
          <p:cNvGrpSpPr/>
          <p:nvPr/>
        </p:nvGrpSpPr>
        <p:grpSpPr>
          <a:xfrm>
            <a:off x="10041709" y="2074525"/>
            <a:ext cx="4621427" cy="2351423"/>
            <a:chOff x="10039355" y="3529712"/>
            <a:chExt cx="4621427" cy="2351423"/>
          </a:xfrm>
        </p:grpSpPr>
        <p:sp>
          <p:nvSpPr>
            <p:cNvPr id="34" name="Cloud 33">
              <a:extLst>
                <a:ext uri="{FF2B5EF4-FFF2-40B4-BE49-F238E27FC236}">
                  <a16:creationId xmlns:a16="http://schemas.microsoft.com/office/drawing/2014/main" id="{C0CB2BF0-F6F0-189E-F854-921018BFDDBC}"/>
                </a:ext>
              </a:extLst>
            </p:cNvPr>
            <p:cNvSpPr/>
            <p:nvPr/>
          </p:nvSpPr>
          <p:spPr>
            <a:xfrm>
              <a:off x="10039355" y="3529712"/>
              <a:ext cx="4621427" cy="2351423"/>
            </a:xfrm>
            <a:prstGeom prst="cloud">
              <a:avLst/>
            </a:prstGeom>
            <a:solidFill>
              <a:srgbClr val="FFC000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5D35A56-BE39-DA88-1509-D7A97CC95279}"/>
                </a:ext>
              </a:extLst>
            </p:cNvPr>
            <p:cNvSpPr txBox="1"/>
            <p:nvPr/>
          </p:nvSpPr>
          <p:spPr>
            <a:xfrm>
              <a:off x="10565527" y="4214830"/>
              <a:ext cx="168110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Wait, stop …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why the h***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are we doing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all this?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00867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2717" y="1041366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5221086" y="1870062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376740" y="366473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551071" y="360776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435488" y="240985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134778" y="443556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4CFFD9F-E063-B315-177B-7CAB997DD25F}"/>
              </a:ext>
            </a:extLst>
          </p:cNvPr>
          <p:cNvGrpSpPr/>
          <p:nvPr/>
        </p:nvGrpSpPr>
        <p:grpSpPr>
          <a:xfrm>
            <a:off x="10041709" y="2074525"/>
            <a:ext cx="4621427" cy="2351423"/>
            <a:chOff x="10039355" y="3529712"/>
            <a:chExt cx="4621427" cy="2351423"/>
          </a:xfrm>
        </p:grpSpPr>
        <p:sp>
          <p:nvSpPr>
            <p:cNvPr id="23" name="Cloud 22">
              <a:extLst>
                <a:ext uri="{FF2B5EF4-FFF2-40B4-BE49-F238E27FC236}">
                  <a16:creationId xmlns:a16="http://schemas.microsoft.com/office/drawing/2014/main" id="{DCF7578A-E480-9102-5C0A-0D8C6D804FF2}"/>
                </a:ext>
              </a:extLst>
            </p:cNvPr>
            <p:cNvSpPr/>
            <p:nvPr/>
          </p:nvSpPr>
          <p:spPr>
            <a:xfrm>
              <a:off x="10039355" y="3529712"/>
              <a:ext cx="4621427" cy="2351423"/>
            </a:xfrm>
            <a:prstGeom prst="cloud">
              <a:avLst/>
            </a:prstGeom>
            <a:solidFill>
              <a:srgbClr val="FFC000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A7A2AA-D8B1-12AB-FAFA-03D6FA032A29}"/>
                </a:ext>
              </a:extLst>
            </p:cNvPr>
            <p:cNvSpPr txBox="1"/>
            <p:nvPr/>
          </p:nvSpPr>
          <p:spPr>
            <a:xfrm>
              <a:off x="10565527" y="4214830"/>
              <a:ext cx="168110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Wait, stop …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why the h***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are we doing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all this?</a:t>
              </a:r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6663D95-7DFF-5419-E5C7-74BBD6EA3ADD}"/>
              </a:ext>
            </a:extLst>
          </p:cNvPr>
          <p:cNvGrpSpPr/>
          <p:nvPr/>
        </p:nvGrpSpPr>
        <p:grpSpPr>
          <a:xfrm>
            <a:off x="9819189" y="3817101"/>
            <a:ext cx="4191639" cy="1975599"/>
            <a:chOff x="-2129050" y="4034063"/>
            <a:chExt cx="4191639" cy="1975599"/>
          </a:xfrm>
        </p:grpSpPr>
        <p:sp>
          <p:nvSpPr>
            <p:cNvPr id="14" name="Cloud 13">
              <a:extLst>
                <a:ext uri="{FF2B5EF4-FFF2-40B4-BE49-F238E27FC236}">
                  <a16:creationId xmlns:a16="http://schemas.microsoft.com/office/drawing/2014/main" id="{83B8A21B-2DD8-AB36-03AB-3E9BCAD96A51}"/>
                </a:ext>
              </a:extLst>
            </p:cNvPr>
            <p:cNvSpPr/>
            <p:nvPr/>
          </p:nvSpPr>
          <p:spPr>
            <a:xfrm>
              <a:off x="-2129050" y="4034063"/>
              <a:ext cx="4191639" cy="1975599"/>
            </a:xfrm>
            <a:prstGeom prst="cloud">
              <a:avLst/>
            </a:prstGeom>
            <a:solidFill>
              <a:srgbClr val="92D050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CD39BCE-4F35-E1E0-CBFA-298D8FF7E51E}"/>
                </a:ext>
              </a:extLst>
            </p:cNvPr>
            <p:cNvSpPr txBox="1"/>
            <p:nvPr/>
          </p:nvSpPr>
          <p:spPr>
            <a:xfrm>
              <a:off x="-1586800" y="4421699"/>
              <a:ext cx="180292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Because, we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want the f(.)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to transform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noise to image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838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32717" y="1041366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5221086" y="1870062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376740" y="366473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5"/>
            <a:ext cx="5575077" cy="403420"/>
            <a:chOff x="901607" y="2046665"/>
            <a:chExt cx="9934581" cy="70788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55015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551071" y="3607763"/>
            <a:ext cx="7014456" cy="512638"/>
          </a:xfrm>
          <a:prstGeom prst="rect">
            <a:avLst/>
          </a:prstGeom>
        </p:spPr>
      </p:pic>
      <p:pic>
        <p:nvPicPr>
          <p:cNvPr id="28" name="Picture 4" descr="Stable Diffusion] DreamBooth trained my ...">
            <a:extLst>
              <a:ext uri="{FF2B5EF4-FFF2-40B4-BE49-F238E27FC236}">
                <a16:creationId xmlns:a16="http://schemas.microsoft.com/office/drawing/2014/main" id="{8BC2DD31-6ED5-1F33-6611-A494339C47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305" y="4026994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White noise - Wikipedia">
            <a:extLst>
              <a:ext uri="{FF2B5EF4-FFF2-40B4-BE49-F238E27FC236}">
                <a16:creationId xmlns:a16="http://schemas.microsoft.com/office/drawing/2014/main" id="{CBF2F696-B84D-EF01-7474-DEDAB3535C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583440" y="4042184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435488" y="240985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134778" y="443556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F2CA71E-3A40-7E8C-E06C-23D1FF5BC135}"/>
              </a:ext>
            </a:extLst>
          </p:cNvPr>
          <p:cNvGrpSpPr/>
          <p:nvPr/>
        </p:nvGrpSpPr>
        <p:grpSpPr>
          <a:xfrm>
            <a:off x="151270" y="6043633"/>
            <a:ext cx="12027082" cy="438846"/>
            <a:chOff x="138202" y="4992759"/>
            <a:chExt cx="12027082" cy="438846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7137CA5-1073-8106-C75D-2C8E807ED49B}"/>
                </a:ext>
              </a:extLst>
            </p:cNvPr>
            <p:cNvSpPr txBox="1"/>
            <p:nvPr/>
          </p:nvSpPr>
          <p:spPr>
            <a:xfrm>
              <a:off x="138202" y="5036427"/>
              <a:ext cx="1202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Gaussian noise 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</a:t>
              </a:r>
              <a:r>
                <a:rPr lang="en-US" dirty="0">
                  <a:latin typeface="Arial Rounded MT Bold" panose="020F0704030504030204" pitchFamily="34" charset="77"/>
                </a:rPr>
                <a:t> prob. known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Chain of transformations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get image           prob. known</a:t>
              </a:r>
              <a:endParaRPr lang="en-US" dirty="0"/>
            </a:p>
          </p:txBody>
        </p:sp>
        <p:pic>
          <p:nvPicPr>
            <p:cNvPr id="8" name="Picture 4" descr="Stable Diffusion] DreamBooth trained my ...">
              <a:extLst>
                <a:ext uri="{FF2B5EF4-FFF2-40B4-BE49-F238E27FC236}">
                  <a16:creationId xmlns:a16="http://schemas.microsoft.com/office/drawing/2014/main" id="{AC0E2093-0EBF-8B88-2888-BDAEBD65FF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4981" y="4992759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White noise - Wikipedia">
              <a:extLst>
                <a:ext uri="{FF2B5EF4-FFF2-40B4-BE49-F238E27FC236}">
                  <a16:creationId xmlns:a16="http://schemas.microsoft.com/office/drawing/2014/main" id="{EF9789E2-824E-7451-6AA8-D04DFBB3FEC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3128610" y="4992759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8A6197-5850-0C5B-3A11-2B16C55A117E}"/>
              </a:ext>
            </a:extLst>
          </p:cNvPr>
          <p:cNvGrpSpPr/>
          <p:nvPr/>
        </p:nvGrpSpPr>
        <p:grpSpPr>
          <a:xfrm>
            <a:off x="10041709" y="2074525"/>
            <a:ext cx="4621427" cy="2351423"/>
            <a:chOff x="10039355" y="3529712"/>
            <a:chExt cx="4621427" cy="2351423"/>
          </a:xfrm>
        </p:grpSpPr>
        <p:sp>
          <p:nvSpPr>
            <p:cNvPr id="12" name="Cloud 11">
              <a:extLst>
                <a:ext uri="{FF2B5EF4-FFF2-40B4-BE49-F238E27FC236}">
                  <a16:creationId xmlns:a16="http://schemas.microsoft.com/office/drawing/2014/main" id="{DE8724C9-AD77-2103-6985-91CD80BBB7F4}"/>
                </a:ext>
              </a:extLst>
            </p:cNvPr>
            <p:cNvSpPr/>
            <p:nvPr/>
          </p:nvSpPr>
          <p:spPr>
            <a:xfrm>
              <a:off x="10039355" y="3529712"/>
              <a:ext cx="4621427" cy="2351423"/>
            </a:xfrm>
            <a:prstGeom prst="cloud">
              <a:avLst/>
            </a:prstGeom>
            <a:solidFill>
              <a:srgbClr val="FFC000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50AAA8-F5B6-A814-B438-F82A46CDE5BD}"/>
                </a:ext>
              </a:extLst>
            </p:cNvPr>
            <p:cNvSpPr txBox="1"/>
            <p:nvPr/>
          </p:nvSpPr>
          <p:spPr>
            <a:xfrm>
              <a:off x="10565527" y="4214830"/>
              <a:ext cx="1681101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Wait, stop …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why the h***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are we doing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all this?</a:t>
              </a:r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B21C7D1-F1D0-82DB-028C-954697BB749D}"/>
              </a:ext>
            </a:extLst>
          </p:cNvPr>
          <p:cNvGrpSpPr/>
          <p:nvPr/>
        </p:nvGrpSpPr>
        <p:grpSpPr>
          <a:xfrm>
            <a:off x="9819189" y="3817101"/>
            <a:ext cx="4191639" cy="1975599"/>
            <a:chOff x="-2129050" y="4034063"/>
            <a:chExt cx="4191639" cy="1975599"/>
          </a:xfrm>
        </p:grpSpPr>
        <p:sp>
          <p:nvSpPr>
            <p:cNvPr id="22" name="Cloud 21">
              <a:extLst>
                <a:ext uri="{FF2B5EF4-FFF2-40B4-BE49-F238E27FC236}">
                  <a16:creationId xmlns:a16="http://schemas.microsoft.com/office/drawing/2014/main" id="{CDB65721-00F5-5EE1-0BF7-6186966DD802}"/>
                </a:ext>
              </a:extLst>
            </p:cNvPr>
            <p:cNvSpPr/>
            <p:nvPr/>
          </p:nvSpPr>
          <p:spPr>
            <a:xfrm>
              <a:off x="-2129050" y="4034063"/>
              <a:ext cx="4191639" cy="1975599"/>
            </a:xfrm>
            <a:prstGeom prst="cloud">
              <a:avLst/>
            </a:prstGeom>
            <a:solidFill>
              <a:srgbClr val="92D050">
                <a:alpha val="67059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FD1F1FF-381B-19EA-D6D6-76BDEC15DCE6}"/>
                </a:ext>
              </a:extLst>
            </p:cNvPr>
            <p:cNvSpPr txBox="1"/>
            <p:nvPr/>
          </p:nvSpPr>
          <p:spPr>
            <a:xfrm>
              <a:off x="-1586800" y="4421699"/>
              <a:ext cx="180292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Because, we 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want the f(.)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to transform</a:t>
              </a:r>
            </a:p>
            <a:p>
              <a:r>
                <a:rPr lang="en-US" dirty="0">
                  <a:latin typeface="Arial Rounded MT Bold" panose="020F0704030504030204" pitchFamily="34" charset="77"/>
                </a:rPr>
                <a:t>noise to image</a:t>
              </a:r>
              <a:endParaRPr lang="en-US" dirty="0"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4AFA60-FDA0-A0C9-B7B0-D98AB3B2A7C5}"/>
              </a:ext>
            </a:extLst>
          </p:cNvPr>
          <p:cNvSpPr txBox="1"/>
          <p:nvPr/>
        </p:nvSpPr>
        <p:spPr>
          <a:xfrm>
            <a:off x="164918" y="5570669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Once Flow is trained: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187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1237" y="42783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6096000" y="1762327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537025" y="282215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2"/>
            <a:ext cx="5575077" cy="395322"/>
            <a:chOff x="901607" y="2046665"/>
            <a:chExt cx="9934581" cy="69367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620430" cy="64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711356" y="276518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595773" y="156727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295063" y="359298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2C735E-6A15-AE6F-2D80-F6B6ECC1A38A}"/>
              </a:ext>
            </a:extLst>
          </p:cNvPr>
          <p:cNvSpPr txBox="1"/>
          <p:nvPr/>
        </p:nvSpPr>
        <p:spPr>
          <a:xfrm>
            <a:off x="325203" y="4656399"/>
            <a:ext cx="219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How do you train?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2" name="Picture 4" descr="Stable Diffusion] DreamBooth trained my ...">
            <a:extLst>
              <a:ext uri="{FF2B5EF4-FFF2-40B4-BE49-F238E27FC236}">
                <a16:creationId xmlns:a16="http://schemas.microsoft.com/office/drawing/2014/main" id="{B9927FFA-FC55-FC23-5C9C-0A562FE1B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90" y="3184414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White noise - Wikipedia">
            <a:extLst>
              <a:ext uri="{FF2B5EF4-FFF2-40B4-BE49-F238E27FC236}">
                <a16:creationId xmlns:a16="http://schemas.microsoft.com/office/drawing/2014/main" id="{82E126EF-565B-CD39-F1EF-5E87117ED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43725" y="3199604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510B2BA-6E71-3E4B-F195-56FF6093BD24}"/>
              </a:ext>
            </a:extLst>
          </p:cNvPr>
          <p:cNvGrpSpPr/>
          <p:nvPr/>
        </p:nvGrpSpPr>
        <p:grpSpPr>
          <a:xfrm>
            <a:off x="325203" y="3989042"/>
            <a:ext cx="12027082" cy="438846"/>
            <a:chOff x="138202" y="4992759"/>
            <a:chExt cx="12027082" cy="43884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EB2904-0D1E-AEFE-3A1E-05E50BA4A780}"/>
                </a:ext>
              </a:extLst>
            </p:cNvPr>
            <p:cNvSpPr txBox="1"/>
            <p:nvPr/>
          </p:nvSpPr>
          <p:spPr>
            <a:xfrm>
              <a:off x="138202" y="5036427"/>
              <a:ext cx="1202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Gaussian noise 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</a:t>
              </a:r>
              <a:r>
                <a:rPr lang="en-US" dirty="0">
                  <a:latin typeface="Arial Rounded MT Bold" panose="020F0704030504030204" pitchFamily="34" charset="77"/>
                </a:rPr>
                <a:t> prob. known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Chain of transformations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get image           prob. known</a:t>
              </a:r>
              <a:endParaRPr lang="en-US" dirty="0"/>
            </a:p>
          </p:txBody>
        </p:sp>
        <p:pic>
          <p:nvPicPr>
            <p:cNvPr id="39" name="Picture 4" descr="Stable Diffusion] DreamBooth trained my ...">
              <a:extLst>
                <a:ext uri="{FF2B5EF4-FFF2-40B4-BE49-F238E27FC236}">
                  <a16:creationId xmlns:a16="http://schemas.microsoft.com/office/drawing/2014/main" id="{05B713DA-D287-A015-7705-3D8B376D8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4981" y="4992759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" descr="White noise - Wikipedia">
              <a:extLst>
                <a:ext uri="{FF2B5EF4-FFF2-40B4-BE49-F238E27FC236}">
                  <a16:creationId xmlns:a16="http://schemas.microsoft.com/office/drawing/2014/main" id="{D1A87025-96F1-0670-DBE4-235788B52B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3128610" y="4992759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899D4FE-4706-2661-59DA-C4BCD6C6D165}"/>
              </a:ext>
            </a:extLst>
          </p:cNvPr>
          <p:cNvSpPr txBox="1"/>
          <p:nvPr/>
        </p:nvSpPr>
        <p:spPr>
          <a:xfrm>
            <a:off x="338851" y="3516078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Once Flow is trained: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957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1237" y="42783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6096000" y="1762327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537025" y="282215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2"/>
            <a:ext cx="5575077" cy="395322"/>
            <a:chOff x="901607" y="2046665"/>
            <a:chExt cx="9934581" cy="69367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620430" cy="64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711356" y="276518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595773" y="156727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295063" y="359298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2C735E-6A15-AE6F-2D80-F6B6ECC1A38A}"/>
              </a:ext>
            </a:extLst>
          </p:cNvPr>
          <p:cNvSpPr txBox="1"/>
          <p:nvPr/>
        </p:nvSpPr>
        <p:spPr>
          <a:xfrm>
            <a:off x="325203" y="4656399"/>
            <a:ext cx="219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How do you train?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2" name="Picture 4" descr="Stable Diffusion] DreamBooth trained my ...">
            <a:extLst>
              <a:ext uri="{FF2B5EF4-FFF2-40B4-BE49-F238E27FC236}">
                <a16:creationId xmlns:a16="http://schemas.microsoft.com/office/drawing/2014/main" id="{B9927FFA-FC55-FC23-5C9C-0A562FE1B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90" y="3184414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White noise - Wikipedia">
            <a:extLst>
              <a:ext uri="{FF2B5EF4-FFF2-40B4-BE49-F238E27FC236}">
                <a16:creationId xmlns:a16="http://schemas.microsoft.com/office/drawing/2014/main" id="{82E126EF-565B-CD39-F1EF-5E87117ED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43725" y="3199604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510B2BA-6E71-3E4B-F195-56FF6093BD24}"/>
              </a:ext>
            </a:extLst>
          </p:cNvPr>
          <p:cNvGrpSpPr/>
          <p:nvPr/>
        </p:nvGrpSpPr>
        <p:grpSpPr>
          <a:xfrm>
            <a:off x="325203" y="3989042"/>
            <a:ext cx="12027082" cy="438846"/>
            <a:chOff x="138202" y="4992759"/>
            <a:chExt cx="12027082" cy="43884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EB2904-0D1E-AEFE-3A1E-05E50BA4A780}"/>
                </a:ext>
              </a:extLst>
            </p:cNvPr>
            <p:cNvSpPr txBox="1"/>
            <p:nvPr/>
          </p:nvSpPr>
          <p:spPr>
            <a:xfrm>
              <a:off x="138202" y="5036427"/>
              <a:ext cx="1202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Gaussian noise 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</a:t>
              </a:r>
              <a:r>
                <a:rPr lang="en-US" dirty="0">
                  <a:latin typeface="Arial Rounded MT Bold" panose="020F0704030504030204" pitchFamily="34" charset="77"/>
                </a:rPr>
                <a:t> prob. known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Chain of transformations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get image           prob. known</a:t>
              </a:r>
              <a:endParaRPr lang="en-US" dirty="0"/>
            </a:p>
          </p:txBody>
        </p:sp>
        <p:pic>
          <p:nvPicPr>
            <p:cNvPr id="39" name="Picture 4" descr="Stable Diffusion] DreamBooth trained my ...">
              <a:extLst>
                <a:ext uri="{FF2B5EF4-FFF2-40B4-BE49-F238E27FC236}">
                  <a16:creationId xmlns:a16="http://schemas.microsoft.com/office/drawing/2014/main" id="{05B713DA-D287-A015-7705-3D8B376D8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4981" y="4992759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" descr="White noise - Wikipedia">
              <a:extLst>
                <a:ext uri="{FF2B5EF4-FFF2-40B4-BE49-F238E27FC236}">
                  <a16:creationId xmlns:a16="http://schemas.microsoft.com/office/drawing/2014/main" id="{D1A87025-96F1-0670-DBE4-235788B52B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3128610" y="4992759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899D4FE-4706-2661-59DA-C4BCD6C6D165}"/>
              </a:ext>
            </a:extLst>
          </p:cNvPr>
          <p:cNvSpPr txBox="1"/>
          <p:nvPr/>
        </p:nvSpPr>
        <p:spPr>
          <a:xfrm>
            <a:off x="338851" y="3516078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Once Flow is trained: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A57475-909F-7875-CDD4-778DA56551B0}"/>
              </a:ext>
            </a:extLst>
          </p:cNvPr>
          <p:cNvGrpSpPr/>
          <p:nvPr/>
        </p:nvGrpSpPr>
        <p:grpSpPr>
          <a:xfrm>
            <a:off x="2519265" y="4641621"/>
            <a:ext cx="9457012" cy="438846"/>
            <a:chOff x="138202" y="5001670"/>
            <a:chExt cx="9457012" cy="43884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8CEE34-4CF2-9AB4-682E-4C0FA17C71B6}"/>
                </a:ext>
              </a:extLst>
            </p:cNvPr>
            <p:cNvSpPr txBox="1"/>
            <p:nvPr/>
          </p:nvSpPr>
          <p:spPr>
            <a:xfrm>
              <a:off x="138202" y="5036427"/>
              <a:ext cx="9457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Chain of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inverse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 transforms  get           calculate Gaussian prob</a:t>
              </a:r>
              <a:endParaRPr lang="en-US" dirty="0"/>
            </a:p>
          </p:txBody>
        </p:sp>
        <p:pic>
          <p:nvPicPr>
            <p:cNvPr id="44" name="Picture 4" descr="Stable Diffusion] DreamBooth trained my ...">
              <a:extLst>
                <a:ext uri="{FF2B5EF4-FFF2-40B4-BE49-F238E27FC236}">
                  <a16:creationId xmlns:a16="http://schemas.microsoft.com/office/drawing/2014/main" id="{9F06E546-BC7A-4FB4-EBB7-B29412DB7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0141" y="5001670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 descr="White noise - Wikipedia">
              <a:extLst>
                <a:ext uri="{FF2B5EF4-FFF2-40B4-BE49-F238E27FC236}">
                  <a16:creationId xmlns:a16="http://schemas.microsoft.com/office/drawing/2014/main" id="{1EDEC779-1BA8-0707-A18F-B25472B535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5960411" y="5008900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62CC452-EAE5-4229-B650-36DB78B9C9B1}"/>
              </a:ext>
            </a:extLst>
          </p:cNvPr>
          <p:cNvGrpSpPr/>
          <p:nvPr/>
        </p:nvGrpSpPr>
        <p:grpSpPr>
          <a:xfrm>
            <a:off x="2497031" y="5047910"/>
            <a:ext cx="9501479" cy="783967"/>
            <a:chOff x="2239408" y="5813143"/>
            <a:chExt cx="9501479" cy="7839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499331-2272-F702-58BF-37C6F5BACA1E}"/>
                </a:ext>
              </a:extLst>
            </p:cNvPr>
            <p:cNvSpPr txBox="1"/>
            <p:nvPr/>
          </p:nvSpPr>
          <p:spPr>
            <a:xfrm>
              <a:off x="2239408" y="6020461"/>
              <a:ext cx="8806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chain of transforms  get back to image           compute image probability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A73CB4-EF8E-1AB2-B536-4AF72045F9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3533" t="-8812" r="75498"/>
            <a:stretch/>
          </p:blipFill>
          <p:spPr>
            <a:xfrm>
              <a:off x="10853781" y="5813143"/>
              <a:ext cx="887106" cy="783967"/>
            </a:xfrm>
            <a:prstGeom prst="rect">
              <a:avLst/>
            </a:prstGeom>
          </p:spPr>
        </p:pic>
        <p:pic>
          <p:nvPicPr>
            <p:cNvPr id="7" name="Picture 4" descr="Stable Diffusion] DreamBooth trained my ...">
              <a:extLst>
                <a:ext uri="{FF2B5EF4-FFF2-40B4-BE49-F238E27FC236}">
                  <a16:creationId xmlns:a16="http://schemas.microsoft.com/office/drawing/2014/main" id="{776535D5-FF57-BD33-1897-FEC211659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2273" y="5956715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21694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D3030-8C0E-07C4-C8F1-BFAD69D1FC3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6E8"/>
              </a:clrFrom>
              <a:clrTo>
                <a:srgbClr val="F7F6E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61111" y="0"/>
            <a:ext cx="6930889" cy="1041366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5F1EFBDC-E13C-E99E-B971-5DF290B1576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1237" y="42783"/>
            <a:ext cx="2593136" cy="2262771"/>
          </a:xfrm>
          <a:prstGeom prst="rect">
            <a:avLst/>
          </a:prstGeom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5E75156C-5912-6774-22CB-92D7E94F92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36723"/>
          <a:stretch/>
        </p:blipFill>
        <p:spPr>
          <a:xfrm>
            <a:off x="6096000" y="1762327"/>
            <a:ext cx="4904460" cy="663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4C6BE-FAE2-0B4D-B582-8E1B79BF58BB}"/>
              </a:ext>
            </a:extLst>
          </p:cNvPr>
          <p:cNvSpPr txBox="1"/>
          <p:nvPr/>
        </p:nvSpPr>
        <p:spPr>
          <a:xfrm>
            <a:off x="537025" y="2822153"/>
            <a:ext cx="3174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Let’s repeat this K times …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01D885-97AE-5456-A9A0-671904C42B59}"/>
              </a:ext>
            </a:extLst>
          </p:cNvPr>
          <p:cNvGrpSpPr/>
          <p:nvPr/>
        </p:nvGrpSpPr>
        <p:grpSpPr>
          <a:xfrm>
            <a:off x="5777946" y="976862"/>
            <a:ext cx="5575077" cy="395322"/>
            <a:chOff x="901607" y="2046665"/>
            <a:chExt cx="9934581" cy="69367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121CA25-05AE-FA53-DEF2-5A6760D927AA}"/>
                </a:ext>
              </a:extLst>
            </p:cNvPr>
            <p:cNvSpPr txBox="1"/>
            <p:nvPr/>
          </p:nvSpPr>
          <p:spPr>
            <a:xfrm>
              <a:off x="8566703" y="2046665"/>
              <a:ext cx="620430" cy="648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…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FAF2A38-1D12-4D47-78F2-3AFF5E2153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2587501" y="2232742"/>
              <a:ext cx="1762539" cy="507601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1F4FB4FF-CCA3-B54A-741D-876D0D886C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-1247" t="6678" r="-837" b="-4487"/>
            <a:stretch/>
          </p:blipFill>
          <p:spPr>
            <a:xfrm>
              <a:off x="6255876" y="2232741"/>
              <a:ext cx="1762539" cy="507601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A6F4694F-BAB8-FB7E-8590-9CA9B4016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01607" y="2154342"/>
              <a:ext cx="1465952" cy="477085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FE4E80A-05DA-BBCA-38E5-6CAD5F058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718396" y="2214637"/>
              <a:ext cx="1370535" cy="451062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186C1C23-564D-C8A2-AFF9-D81EE6D0E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9396259" y="2167353"/>
              <a:ext cx="1439929" cy="451062"/>
            </a:xfrm>
            <a:prstGeom prst="rect">
              <a:avLst/>
            </a:prstGeom>
          </p:spPr>
        </p:pic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6346" t="-324" r="34702" b="90080"/>
          <a:stretch/>
        </p:blipFill>
        <p:spPr>
          <a:xfrm>
            <a:off x="3711356" y="2765183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595773" y="1567273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295063" y="3592989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2C735E-6A15-AE6F-2D80-F6B6ECC1A38A}"/>
              </a:ext>
            </a:extLst>
          </p:cNvPr>
          <p:cNvSpPr txBox="1"/>
          <p:nvPr/>
        </p:nvSpPr>
        <p:spPr>
          <a:xfrm>
            <a:off x="325203" y="4656399"/>
            <a:ext cx="2194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How do you train?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2" name="Picture 4" descr="Stable Diffusion] DreamBooth trained my ...">
            <a:extLst>
              <a:ext uri="{FF2B5EF4-FFF2-40B4-BE49-F238E27FC236}">
                <a16:creationId xmlns:a16="http://schemas.microsoft.com/office/drawing/2014/main" id="{B9927FFA-FC55-FC23-5C9C-0A562FE1B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590" y="3184414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White noise - Wikipedia">
            <a:extLst>
              <a:ext uri="{FF2B5EF4-FFF2-40B4-BE49-F238E27FC236}">
                <a16:creationId xmlns:a16="http://schemas.microsoft.com/office/drawing/2014/main" id="{82E126EF-565B-CD39-F1EF-5E87117ED0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43725" y="3199604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3510B2BA-6E71-3E4B-F195-56FF6093BD24}"/>
              </a:ext>
            </a:extLst>
          </p:cNvPr>
          <p:cNvGrpSpPr/>
          <p:nvPr/>
        </p:nvGrpSpPr>
        <p:grpSpPr>
          <a:xfrm>
            <a:off x="325203" y="3989042"/>
            <a:ext cx="12027082" cy="438846"/>
            <a:chOff x="138202" y="4992759"/>
            <a:chExt cx="12027082" cy="438846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0EB2904-0D1E-AEFE-3A1E-05E50BA4A780}"/>
                </a:ext>
              </a:extLst>
            </p:cNvPr>
            <p:cNvSpPr txBox="1"/>
            <p:nvPr/>
          </p:nvSpPr>
          <p:spPr>
            <a:xfrm>
              <a:off x="138202" y="5036427"/>
              <a:ext cx="12027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Gaussian noise 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</a:t>
              </a:r>
              <a:r>
                <a:rPr lang="en-US" dirty="0">
                  <a:latin typeface="Arial Rounded MT Bold" panose="020F0704030504030204" pitchFamily="34" charset="77"/>
                </a:rPr>
                <a:t> prob. known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Chain of transformations</a:t>
              </a:r>
              <a:r>
                <a:rPr lang="en-US" dirty="0">
                  <a:solidFill>
                    <a:srgbClr val="C00000"/>
                  </a:solidFill>
                </a:rPr>
                <a:t>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get image           prob. known</a:t>
              </a:r>
              <a:endParaRPr lang="en-US" dirty="0"/>
            </a:p>
          </p:txBody>
        </p:sp>
        <p:pic>
          <p:nvPicPr>
            <p:cNvPr id="39" name="Picture 4" descr="Stable Diffusion] DreamBooth trained my ...">
              <a:extLst>
                <a:ext uri="{FF2B5EF4-FFF2-40B4-BE49-F238E27FC236}">
                  <a16:creationId xmlns:a16="http://schemas.microsoft.com/office/drawing/2014/main" id="{05B713DA-D287-A015-7705-3D8B376D84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44981" y="4992759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" name="Picture 2" descr="White noise - Wikipedia">
              <a:extLst>
                <a:ext uri="{FF2B5EF4-FFF2-40B4-BE49-F238E27FC236}">
                  <a16:creationId xmlns:a16="http://schemas.microsoft.com/office/drawing/2014/main" id="{D1A87025-96F1-0670-DBE4-235788B52B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3128610" y="4992759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7899D4FE-4706-2661-59DA-C4BCD6C6D165}"/>
              </a:ext>
            </a:extLst>
          </p:cNvPr>
          <p:cNvSpPr txBox="1"/>
          <p:nvPr/>
        </p:nvSpPr>
        <p:spPr>
          <a:xfrm>
            <a:off x="338851" y="3516078"/>
            <a:ext cx="25403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Once Flow is trained:</a:t>
            </a:r>
            <a:endParaRPr lang="en-US" dirty="0">
              <a:solidFill>
                <a:srgbClr val="00B050"/>
              </a:solidFill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4A57475-909F-7875-CDD4-778DA56551B0}"/>
              </a:ext>
            </a:extLst>
          </p:cNvPr>
          <p:cNvGrpSpPr/>
          <p:nvPr/>
        </p:nvGrpSpPr>
        <p:grpSpPr>
          <a:xfrm>
            <a:off x="2519265" y="4641621"/>
            <a:ext cx="9457012" cy="438846"/>
            <a:chOff x="138202" y="5001670"/>
            <a:chExt cx="9457012" cy="438846"/>
          </a:xfrm>
        </p:grpSpPr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D8CEE34-4CF2-9AB4-682E-4C0FA17C71B6}"/>
                </a:ext>
              </a:extLst>
            </p:cNvPr>
            <p:cNvSpPr txBox="1"/>
            <p:nvPr/>
          </p:nvSpPr>
          <p:spPr>
            <a:xfrm>
              <a:off x="138202" y="5036427"/>
              <a:ext cx="9457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</a:rPr>
                <a:t>Start with         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Chain of </a:t>
              </a:r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  <a:sym typeface="Wingdings" pitchFamily="2" charset="2"/>
                </a:rPr>
                <a:t>inverse</a:t>
              </a:r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 transforms  get           calculate Gaussian prob</a:t>
              </a:r>
              <a:endParaRPr lang="en-US" dirty="0"/>
            </a:p>
          </p:txBody>
        </p:sp>
        <p:pic>
          <p:nvPicPr>
            <p:cNvPr id="44" name="Picture 4" descr="Stable Diffusion] DreamBooth trained my ...">
              <a:extLst>
                <a:ext uri="{FF2B5EF4-FFF2-40B4-BE49-F238E27FC236}">
                  <a16:creationId xmlns:a16="http://schemas.microsoft.com/office/drawing/2014/main" id="{9F06E546-BC7A-4FB4-EBB7-B29412DB79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0141" y="5001670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2" descr="White noise - Wikipedia">
              <a:extLst>
                <a:ext uri="{FF2B5EF4-FFF2-40B4-BE49-F238E27FC236}">
                  <a16:creationId xmlns:a16="http://schemas.microsoft.com/office/drawing/2014/main" id="{1EDEC779-1BA8-0707-A18F-B25472B535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5960411" y="5008900"/>
              <a:ext cx="395745" cy="4243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62CC452-EAE5-4229-B650-36DB78B9C9B1}"/>
              </a:ext>
            </a:extLst>
          </p:cNvPr>
          <p:cNvGrpSpPr/>
          <p:nvPr/>
        </p:nvGrpSpPr>
        <p:grpSpPr>
          <a:xfrm>
            <a:off x="2497031" y="5047910"/>
            <a:ext cx="9501479" cy="783967"/>
            <a:chOff x="2239408" y="5813143"/>
            <a:chExt cx="9501479" cy="783967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499331-2272-F702-58BF-37C6F5BACA1E}"/>
                </a:ext>
              </a:extLst>
            </p:cNvPr>
            <p:cNvSpPr txBox="1"/>
            <p:nvPr/>
          </p:nvSpPr>
          <p:spPr>
            <a:xfrm>
              <a:off x="2239408" y="6020461"/>
              <a:ext cx="88066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 Rounded MT Bold" panose="020F0704030504030204" pitchFamily="34" charset="77"/>
                  <a:sym typeface="Wingdings" pitchFamily="2" charset="2"/>
                </a:rPr>
                <a:t> chain of transforms  get back to image           compute image probability</a:t>
              </a:r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9A73CB4-EF8E-1AB2-B536-4AF72045F9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3533" t="-8812" r="75498"/>
            <a:stretch/>
          </p:blipFill>
          <p:spPr>
            <a:xfrm>
              <a:off x="10853781" y="5813143"/>
              <a:ext cx="887106" cy="783967"/>
            </a:xfrm>
            <a:prstGeom prst="rect">
              <a:avLst/>
            </a:prstGeom>
          </p:spPr>
        </p:pic>
        <p:pic>
          <p:nvPicPr>
            <p:cNvPr id="7" name="Picture 4" descr="Stable Diffusion] DreamBooth trained my ...">
              <a:extLst>
                <a:ext uri="{FF2B5EF4-FFF2-40B4-BE49-F238E27FC236}">
                  <a16:creationId xmlns:a16="http://schemas.microsoft.com/office/drawing/2014/main" id="{776535D5-FF57-BD33-1897-FEC211659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2273" y="5956715"/>
              <a:ext cx="415478" cy="4388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BF61B40-5F9F-5428-A89B-FF7A518EEB39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38160" y="5895623"/>
            <a:ext cx="9373244" cy="707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3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E7FC828-B76E-C846-46B5-A2A8B5388DC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46" t="-324" r="34702" b="90080"/>
          <a:stretch/>
        </p:blipFill>
        <p:spPr>
          <a:xfrm>
            <a:off x="3701702" y="262595"/>
            <a:ext cx="7014456" cy="512638"/>
          </a:xfrm>
          <a:prstGeom prst="rect">
            <a:avLst/>
          </a:prstGeom>
        </p:spPr>
      </p:pic>
      <p:sp>
        <p:nvSpPr>
          <p:cNvPr id="31" name="Left Brace 30">
            <a:extLst>
              <a:ext uri="{FF2B5EF4-FFF2-40B4-BE49-F238E27FC236}">
                <a16:creationId xmlns:a16="http://schemas.microsoft.com/office/drawing/2014/main" id="{AD9C21CD-CDAF-22CE-7C72-DF68B1C44FD1}"/>
              </a:ext>
            </a:extLst>
          </p:cNvPr>
          <p:cNvSpPr/>
          <p:nvPr/>
        </p:nvSpPr>
        <p:spPr>
          <a:xfrm rot="16200000">
            <a:off x="7586119" y="-935315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185591-8E12-5E5F-1CBD-9659507E07E2}"/>
              </a:ext>
            </a:extLst>
          </p:cNvPr>
          <p:cNvSpPr txBox="1"/>
          <p:nvPr/>
        </p:nvSpPr>
        <p:spPr>
          <a:xfrm>
            <a:off x="6285409" y="1050645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0B31CF-E764-AC8D-3596-B5167BF2A789}"/>
              </a:ext>
            </a:extLst>
          </p:cNvPr>
          <p:cNvSpPr txBox="1"/>
          <p:nvPr/>
        </p:nvSpPr>
        <p:spPr>
          <a:xfrm>
            <a:off x="237121" y="2233219"/>
            <a:ext cx="615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Let’s sketch out the math … for single transformation: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4" name="Picture 4" descr="Stable Diffusion] DreamBooth trained my ...">
            <a:extLst>
              <a:ext uri="{FF2B5EF4-FFF2-40B4-BE49-F238E27FC236}">
                <a16:creationId xmlns:a16="http://schemas.microsoft.com/office/drawing/2014/main" id="{41D8ECB4-C292-C2C8-6DF7-7736EE512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025" y="724228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White noise - Wikipedia">
            <a:extLst>
              <a:ext uri="{FF2B5EF4-FFF2-40B4-BE49-F238E27FC236}">
                <a16:creationId xmlns:a16="http://schemas.microsoft.com/office/drawing/2014/main" id="{276D78EF-BDA7-699F-BE24-D5815BDB4E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88160" y="739418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F6D015D-75BE-3114-B6E3-4C10C737B94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787" y="1453990"/>
            <a:ext cx="9373244" cy="70771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76087DD-95C1-F791-3A49-EF32B7C12620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29" y="2162925"/>
            <a:ext cx="1385455" cy="50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6251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FC7B9-1D62-5B03-BD74-C13B91343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23"/>
          <a:stretch/>
        </p:blipFill>
        <p:spPr>
          <a:xfrm>
            <a:off x="369643" y="2726265"/>
            <a:ext cx="4904460" cy="66335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56CCC9FF-F5E9-5CD9-A25C-053F9ADAC28A}"/>
              </a:ext>
            </a:extLst>
          </p:cNvPr>
          <p:cNvSpPr/>
          <p:nvPr/>
        </p:nvSpPr>
        <p:spPr>
          <a:xfrm rot="16200000">
            <a:off x="5799637" y="2689711"/>
            <a:ext cx="276494" cy="65470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1C0341-D659-5BCE-08A8-B7F0546D7F5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46" t="-324" r="34702" b="90080"/>
          <a:stretch/>
        </p:blipFill>
        <p:spPr>
          <a:xfrm>
            <a:off x="3701702" y="262595"/>
            <a:ext cx="7014456" cy="51263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1FD527D6-5C5E-A5FA-423A-25243CC8EC48}"/>
              </a:ext>
            </a:extLst>
          </p:cNvPr>
          <p:cNvSpPr/>
          <p:nvPr/>
        </p:nvSpPr>
        <p:spPr>
          <a:xfrm rot="16200000">
            <a:off x="7586119" y="-935315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E383A-1A50-B8AA-8CB2-A9DFDC76763C}"/>
              </a:ext>
            </a:extLst>
          </p:cNvPr>
          <p:cNvSpPr txBox="1"/>
          <p:nvPr/>
        </p:nvSpPr>
        <p:spPr>
          <a:xfrm>
            <a:off x="6285409" y="1050645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873B-F644-28F3-03B8-E14FA83E0849}"/>
              </a:ext>
            </a:extLst>
          </p:cNvPr>
          <p:cNvSpPr txBox="1"/>
          <p:nvPr/>
        </p:nvSpPr>
        <p:spPr>
          <a:xfrm>
            <a:off x="237121" y="2233219"/>
            <a:ext cx="615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Let’s sketch out the math … for single transformation: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6" name="Picture 4" descr="Stable Diffusion] DreamBooth trained my ...">
            <a:extLst>
              <a:ext uri="{FF2B5EF4-FFF2-40B4-BE49-F238E27FC236}">
                <a16:creationId xmlns:a16="http://schemas.microsoft.com/office/drawing/2014/main" id="{D3DD78E1-6226-CAFE-02F9-59E5CCC6A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025" y="724228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2" descr="White noise - Wikipedia">
            <a:extLst>
              <a:ext uri="{FF2B5EF4-FFF2-40B4-BE49-F238E27FC236}">
                <a16:creationId xmlns:a16="http://schemas.microsoft.com/office/drawing/2014/main" id="{4A107ABD-AF91-9331-BC3E-83AECEFBCA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88160" y="739418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5684871D-BB77-158B-1781-9FBD500A775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787" y="1453990"/>
            <a:ext cx="9373244" cy="707711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892A6D0-9758-6CA3-478F-6DDDA42F83DF}"/>
              </a:ext>
            </a:extLst>
          </p:cNvPr>
          <p:cNvGrpSpPr/>
          <p:nvPr/>
        </p:nvGrpSpPr>
        <p:grpSpPr>
          <a:xfrm>
            <a:off x="6627232" y="2726265"/>
            <a:ext cx="5264459" cy="1509906"/>
            <a:chOff x="6627232" y="2726265"/>
            <a:chExt cx="5264459" cy="1509906"/>
          </a:xfrm>
        </p:grpSpPr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A9C0484B-A32C-C609-65D2-25B8BFEF4679}"/>
                </a:ext>
              </a:extLst>
            </p:cNvPr>
            <p:cNvSpPr/>
            <p:nvPr/>
          </p:nvSpPr>
          <p:spPr>
            <a:xfrm>
              <a:off x="6627232" y="2726265"/>
              <a:ext cx="5264459" cy="1509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0ACD1D9F-C949-9356-B4BA-7369B40AD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27232" y="2852800"/>
              <a:ext cx="5160818" cy="762000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8DE1BEAB-BB23-BECD-CA31-3A2C6D46A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81302" y="3779569"/>
              <a:ext cx="2402773" cy="390342"/>
            </a:xfrm>
            <a:prstGeom prst="rect">
              <a:avLst/>
            </a:prstGeom>
          </p:spPr>
        </p:pic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641DAC9B-0D5A-2A8C-2D87-D9C06E70FC26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29" y="2162925"/>
            <a:ext cx="1385455" cy="503802"/>
          </a:xfrm>
          <a:prstGeom prst="rect">
            <a:avLst/>
          </a:prstGeom>
        </p:spPr>
      </p:pic>
      <p:pic>
        <p:nvPicPr>
          <p:cNvPr id="56" name="Picture 4" descr="Stable Diffusion] DreamBooth trained my ...">
            <a:extLst>
              <a:ext uri="{FF2B5EF4-FFF2-40B4-BE49-F238E27FC236}">
                <a16:creationId xmlns:a16="http://schemas.microsoft.com/office/drawing/2014/main" id="{04285B03-CE2F-1348-9A9E-1E2D5C8C4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50" y="3233800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White noise - Wikipedia">
            <a:extLst>
              <a:ext uri="{FF2B5EF4-FFF2-40B4-BE49-F238E27FC236}">
                <a16:creationId xmlns:a16="http://schemas.microsoft.com/office/drawing/2014/main" id="{DC7AEB0D-A5A1-26FF-7E0C-F015D071B0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402929" y="3235670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551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FC7B9-1D62-5B03-BD74-C13B91343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23"/>
          <a:stretch/>
        </p:blipFill>
        <p:spPr>
          <a:xfrm>
            <a:off x="369643" y="2726265"/>
            <a:ext cx="4904460" cy="66335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56CCC9FF-F5E9-5CD9-A25C-053F9ADAC28A}"/>
              </a:ext>
            </a:extLst>
          </p:cNvPr>
          <p:cNvSpPr/>
          <p:nvPr/>
        </p:nvSpPr>
        <p:spPr>
          <a:xfrm rot="16200000">
            <a:off x="5799637" y="2689711"/>
            <a:ext cx="276494" cy="65470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6BE8D-0F4D-5E07-3729-C77CF077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9" y="3833764"/>
            <a:ext cx="6234545" cy="7042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B1C0341-D659-5BCE-08A8-B7F0546D7F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46" t="-324" r="34702" b="90080"/>
          <a:stretch/>
        </p:blipFill>
        <p:spPr>
          <a:xfrm>
            <a:off x="3701702" y="262595"/>
            <a:ext cx="7014456" cy="51263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1FD527D6-5C5E-A5FA-423A-25243CC8EC48}"/>
              </a:ext>
            </a:extLst>
          </p:cNvPr>
          <p:cNvSpPr/>
          <p:nvPr/>
        </p:nvSpPr>
        <p:spPr>
          <a:xfrm rot="16200000">
            <a:off x="7586119" y="-935315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E383A-1A50-B8AA-8CB2-A9DFDC76763C}"/>
              </a:ext>
            </a:extLst>
          </p:cNvPr>
          <p:cNvSpPr txBox="1"/>
          <p:nvPr/>
        </p:nvSpPr>
        <p:spPr>
          <a:xfrm>
            <a:off x="6285409" y="1050645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873B-F644-28F3-03B8-E14FA83E0849}"/>
              </a:ext>
            </a:extLst>
          </p:cNvPr>
          <p:cNvSpPr txBox="1"/>
          <p:nvPr/>
        </p:nvSpPr>
        <p:spPr>
          <a:xfrm>
            <a:off x="237121" y="2233219"/>
            <a:ext cx="615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Let’s sketch out the math … for single transformation: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2" name="Picture 4" descr="Stable Diffusion] DreamBooth trained my ...">
            <a:extLst>
              <a:ext uri="{FF2B5EF4-FFF2-40B4-BE49-F238E27FC236}">
                <a16:creationId xmlns:a16="http://schemas.microsoft.com/office/drawing/2014/main" id="{411FFE6B-452E-E54D-E2E9-3FD8B18F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025" y="724228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White noise - Wikipedia">
            <a:extLst>
              <a:ext uri="{FF2B5EF4-FFF2-40B4-BE49-F238E27FC236}">
                <a16:creationId xmlns:a16="http://schemas.microsoft.com/office/drawing/2014/main" id="{C406208B-662E-B8F1-D0E6-6256B6A1C12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88160" y="739418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A42B0FD-AB59-217E-6CA5-EC30B2AE835C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787" y="1453990"/>
            <a:ext cx="9373244" cy="707711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A451D06E-CB0D-F031-7B1D-0F03BB620EAB}"/>
              </a:ext>
            </a:extLst>
          </p:cNvPr>
          <p:cNvGrpSpPr/>
          <p:nvPr/>
        </p:nvGrpSpPr>
        <p:grpSpPr>
          <a:xfrm>
            <a:off x="6627232" y="2726265"/>
            <a:ext cx="5264459" cy="1509906"/>
            <a:chOff x="6627232" y="2726265"/>
            <a:chExt cx="5264459" cy="1509906"/>
          </a:xfrm>
        </p:grpSpPr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1E8B42A-60FF-6B47-4861-0BC2B0EB12BC}"/>
                </a:ext>
              </a:extLst>
            </p:cNvPr>
            <p:cNvSpPr/>
            <p:nvPr/>
          </p:nvSpPr>
          <p:spPr>
            <a:xfrm>
              <a:off x="6627232" y="2726265"/>
              <a:ext cx="5264459" cy="1509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487FC44-6263-6FDE-538E-786CA54C8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27232" y="2852800"/>
              <a:ext cx="5160818" cy="76200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AC32AB2-34B5-C8CB-CD26-D90D8175A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81302" y="3779569"/>
              <a:ext cx="2402773" cy="390342"/>
            </a:xfrm>
            <a:prstGeom prst="rect">
              <a:avLst/>
            </a:prstGeom>
          </p:spPr>
        </p:pic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B04B681B-9614-DB5F-9A3F-A4100A35497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29" y="2162925"/>
            <a:ext cx="1385455" cy="503802"/>
          </a:xfrm>
          <a:prstGeom prst="rect">
            <a:avLst/>
          </a:prstGeom>
        </p:spPr>
      </p:pic>
      <p:pic>
        <p:nvPicPr>
          <p:cNvPr id="45" name="Picture 4" descr="Stable Diffusion] DreamBooth trained my ...">
            <a:extLst>
              <a:ext uri="{FF2B5EF4-FFF2-40B4-BE49-F238E27FC236}">
                <a16:creationId xmlns:a16="http://schemas.microsoft.com/office/drawing/2014/main" id="{DADCE32B-C91B-68F2-3706-DC22F4190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50" y="3233800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2" descr="White noise - Wikipedia">
            <a:extLst>
              <a:ext uri="{FF2B5EF4-FFF2-40B4-BE49-F238E27FC236}">
                <a16:creationId xmlns:a16="http://schemas.microsoft.com/office/drawing/2014/main" id="{EEC3C3D2-DDA2-0772-210F-72BE534DAF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402929" y="3235670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5450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FC7B9-1D62-5B03-BD74-C13B91343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23"/>
          <a:stretch/>
        </p:blipFill>
        <p:spPr>
          <a:xfrm>
            <a:off x="369643" y="2726265"/>
            <a:ext cx="4904460" cy="66335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56CCC9FF-F5E9-5CD9-A25C-053F9ADAC28A}"/>
              </a:ext>
            </a:extLst>
          </p:cNvPr>
          <p:cNvSpPr/>
          <p:nvPr/>
        </p:nvSpPr>
        <p:spPr>
          <a:xfrm rot="16200000">
            <a:off x="5799637" y="2689711"/>
            <a:ext cx="276494" cy="65470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6BE8D-0F4D-5E07-3729-C77CF077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9" y="3833764"/>
            <a:ext cx="6234545" cy="70427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9767E7-5AE1-F661-0182-D8A0D5CA0339}"/>
              </a:ext>
            </a:extLst>
          </p:cNvPr>
          <p:cNvSpPr txBox="1"/>
          <p:nvPr/>
        </p:nvSpPr>
        <p:spPr>
          <a:xfrm>
            <a:off x="235949" y="4688405"/>
            <a:ext cx="381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With a chain of transformations: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1C0341-D659-5BCE-08A8-B7F0546D7F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346" t="-324" r="34702" b="90080"/>
          <a:stretch/>
        </p:blipFill>
        <p:spPr>
          <a:xfrm>
            <a:off x="3701702" y="262595"/>
            <a:ext cx="7014456" cy="51263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1FD527D6-5C5E-A5FA-423A-25243CC8EC48}"/>
              </a:ext>
            </a:extLst>
          </p:cNvPr>
          <p:cNvSpPr/>
          <p:nvPr/>
        </p:nvSpPr>
        <p:spPr>
          <a:xfrm rot="16200000">
            <a:off x="7586119" y="-935315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E383A-1A50-B8AA-8CB2-A9DFDC76763C}"/>
              </a:ext>
            </a:extLst>
          </p:cNvPr>
          <p:cNvSpPr txBox="1"/>
          <p:nvPr/>
        </p:nvSpPr>
        <p:spPr>
          <a:xfrm>
            <a:off x="6285409" y="1050645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873B-F644-28F3-03B8-E14FA83E0849}"/>
              </a:ext>
            </a:extLst>
          </p:cNvPr>
          <p:cNvSpPr txBox="1"/>
          <p:nvPr/>
        </p:nvSpPr>
        <p:spPr>
          <a:xfrm>
            <a:off x="237121" y="2233219"/>
            <a:ext cx="615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Let’s sketch out the math … for single transformation: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178339F-7397-CBC6-855B-D6536BE64F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9236"/>
                    </a14:imgEffect>
                    <a14:imgEffect>
                      <a14:saturation sat="357000"/>
                    </a14:imgEffect>
                  </a14:imgLayer>
                </a14:imgProps>
              </a:ext>
            </a:extLst>
          </a:blip>
          <a:srcRect l="23249" t="73860" r="23849"/>
          <a:stretch/>
        </p:blipFill>
        <p:spPr>
          <a:xfrm>
            <a:off x="1227152" y="5159004"/>
            <a:ext cx="5749669" cy="99208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F24E5400-8BB0-BC0D-AE5C-94C6558D3C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692" y="5398684"/>
            <a:ext cx="1489364" cy="565727"/>
          </a:xfrm>
          <a:prstGeom prst="rect">
            <a:avLst/>
          </a:prstGeom>
        </p:spPr>
      </p:pic>
      <p:pic>
        <p:nvPicPr>
          <p:cNvPr id="7" name="Picture 4" descr="Stable Diffusion] DreamBooth trained my ...">
            <a:extLst>
              <a:ext uri="{FF2B5EF4-FFF2-40B4-BE49-F238E27FC236}">
                <a16:creationId xmlns:a16="http://schemas.microsoft.com/office/drawing/2014/main" id="{E29FF609-5FFA-5624-7029-21A480D2E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025" y="724228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White noise - Wikipedia">
            <a:extLst>
              <a:ext uri="{FF2B5EF4-FFF2-40B4-BE49-F238E27FC236}">
                <a16:creationId xmlns:a16="http://schemas.microsoft.com/office/drawing/2014/main" id="{05862B3F-9365-AE46-CDCA-CF0A1ECC5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88160" y="739418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3BA66B-BDFC-CC93-C7C1-91C4EA6B0393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787" y="1453990"/>
            <a:ext cx="9373244" cy="70771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184B13F-E7F4-7AA8-F903-0FAF921636F5}"/>
              </a:ext>
            </a:extLst>
          </p:cNvPr>
          <p:cNvGrpSpPr/>
          <p:nvPr/>
        </p:nvGrpSpPr>
        <p:grpSpPr>
          <a:xfrm>
            <a:off x="6627232" y="2726265"/>
            <a:ext cx="5264459" cy="1509906"/>
            <a:chOff x="6627232" y="2726265"/>
            <a:chExt cx="5264459" cy="1509906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41938440-26E8-0B22-D758-473570B8AB70}"/>
                </a:ext>
              </a:extLst>
            </p:cNvPr>
            <p:cNvSpPr/>
            <p:nvPr/>
          </p:nvSpPr>
          <p:spPr>
            <a:xfrm>
              <a:off x="6627232" y="2726265"/>
              <a:ext cx="5264459" cy="1509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B2A7581-EA3C-9D83-E6D7-EBC9A100397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27232" y="2852800"/>
              <a:ext cx="5160818" cy="762000"/>
            </a:xfrm>
            <a:prstGeom prst="rect">
              <a:avLst/>
            </a:prstGeom>
          </p:spPr>
        </p:pic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206B73B-35F8-DFDB-933E-ACF73C4FE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81302" y="3779569"/>
              <a:ext cx="2402773" cy="390342"/>
            </a:xfrm>
            <a:prstGeom prst="rect">
              <a:avLst/>
            </a:prstGeom>
          </p:spPr>
        </p:pic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CE6DB29A-4BAA-1BF4-2F58-4B7CC7B8CBC2}"/>
              </a:ext>
            </a:extLst>
          </p:cNvPr>
          <p:cNvPicPr>
            <a:picLocks noChangeAspect="1"/>
          </p:cNvPicPr>
          <p:nvPr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29" y="2162925"/>
            <a:ext cx="1385455" cy="503802"/>
          </a:xfrm>
          <a:prstGeom prst="rect">
            <a:avLst/>
          </a:prstGeom>
        </p:spPr>
      </p:pic>
      <p:pic>
        <p:nvPicPr>
          <p:cNvPr id="30" name="Picture 4" descr="Stable Diffusion] DreamBooth trained my ...">
            <a:extLst>
              <a:ext uri="{FF2B5EF4-FFF2-40B4-BE49-F238E27FC236}">
                <a16:creationId xmlns:a16="http://schemas.microsoft.com/office/drawing/2014/main" id="{1AFB9807-4099-2B74-20D5-1BB3DB2611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756" y="5905942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White noise - Wikipedia">
            <a:extLst>
              <a:ext uri="{FF2B5EF4-FFF2-40B4-BE49-F238E27FC236}">
                <a16:creationId xmlns:a16="http://schemas.microsoft.com/office/drawing/2014/main" id="{59BE6DA3-7FF6-1DD7-A794-12D29C9599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093898" y="5905942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Stable Diffusion] DreamBooth trained my ...">
            <a:extLst>
              <a:ext uri="{FF2B5EF4-FFF2-40B4-BE49-F238E27FC236}">
                <a16:creationId xmlns:a16="http://schemas.microsoft.com/office/drawing/2014/main" id="{8E803A1D-E13C-E6CF-00D6-1142E04EC3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50" y="3233800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2" descr="White noise - Wikipedia">
            <a:extLst>
              <a:ext uri="{FF2B5EF4-FFF2-40B4-BE49-F238E27FC236}">
                <a16:creationId xmlns:a16="http://schemas.microsoft.com/office/drawing/2014/main" id="{B738EA82-4442-8FC8-21EA-5B406C5BD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402929" y="3235670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732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A10F5D-D33A-0EC9-2D77-DAFC43D530CC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CFC7B9-1D62-5B03-BD74-C13B9134337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23"/>
          <a:stretch/>
        </p:blipFill>
        <p:spPr>
          <a:xfrm>
            <a:off x="369643" y="2726265"/>
            <a:ext cx="4904460" cy="663350"/>
          </a:xfrm>
          <a:prstGeom prst="rect">
            <a:avLst/>
          </a:prstGeom>
        </p:spPr>
      </p:pic>
      <p:sp>
        <p:nvSpPr>
          <p:cNvPr id="9" name="Down Arrow 8">
            <a:extLst>
              <a:ext uri="{FF2B5EF4-FFF2-40B4-BE49-F238E27FC236}">
                <a16:creationId xmlns:a16="http://schemas.microsoft.com/office/drawing/2014/main" id="{56CCC9FF-F5E9-5CD9-A25C-053F9ADAC28A}"/>
              </a:ext>
            </a:extLst>
          </p:cNvPr>
          <p:cNvSpPr/>
          <p:nvPr/>
        </p:nvSpPr>
        <p:spPr>
          <a:xfrm rot="16200000">
            <a:off x="5799637" y="2689711"/>
            <a:ext cx="276494" cy="65470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A6BE8D-0F4D-5E07-3729-C77CF0778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49" y="3833764"/>
            <a:ext cx="6234545" cy="70427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E09EC6C-F594-E780-DF33-EE6B2DAB9CBA}"/>
              </a:ext>
            </a:extLst>
          </p:cNvPr>
          <p:cNvGrpSpPr/>
          <p:nvPr/>
        </p:nvGrpSpPr>
        <p:grpSpPr>
          <a:xfrm>
            <a:off x="6627232" y="2726265"/>
            <a:ext cx="5264459" cy="1509906"/>
            <a:chOff x="6627232" y="2726265"/>
            <a:chExt cx="5264459" cy="1509906"/>
          </a:xfrm>
        </p:grpSpPr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B8766B3-E0B1-B3EF-3ED8-802454048D7E}"/>
                </a:ext>
              </a:extLst>
            </p:cNvPr>
            <p:cNvSpPr/>
            <p:nvPr/>
          </p:nvSpPr>
          <p:spPr>
            <a:xfrm>
              <a:off x="6627232" y="2726265"/>
              <a:ext cx="5264459" cy="1509906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0499033-20A0-24E2-D227-2F8052AB7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627232" y="2852800"/>
              <a:ext cx="5160818" cy="7620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C2F8F32-F33F-CE17-44F9-AE90F4951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781302" y="3779569"/>
              <a:ext cx="2402773" cy="390342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669767E7-5AE1-F661-0182-D8A0D5CA0339}"/>
              </a:ext>
            </a:extLst>
          </p:cNvPr>
          <p:cNvSpPr txBox="1"/>
          <p:nvPr/>
        </p:nvSpPr>
        <p:spPr>
          <a:xfrm>
            <a:off x="235949" y="4688405"/>
            <a:ext cx="3814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With a chain of transformations: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B1C0341-D659-5BCE-08A8-B7F0546D7F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346" t="-324" r="34702" b="90080"/>
          <a:stretch/>
        </p:blipFill>
        <p:spPr>
          <a:xfrm>
            <a:off x="3701702" y="262595"/>
            <a:ext cx="7014456" cy="512638"/>
          </a:xfrm>
          <a:prstGeom prst="rect">
            <a:avLst/>
          </a:prstGeom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1FD527D6-5C5E-A5FA-423A-25243CC8EC48}"/>
              </a:ext>
            </a:extLst>
          </p:cNvPr>
          <p:cNvSpPr/>
          <p:nvPr/>
        </p:nvSpPr>
        <p:spPr>
          <a:xfrm rot="16200000">
            <a:off x="7586119" y="-935315"/>
            <a:ext cx="369331" cy="3684411"/>
          </a:xfrm>
          <a:prstGeom prst="leftBrace">
            <a:avLst>
              <a:gd name="adj1" fmla="val 52333"/>
              <a:gd name="adj2" fmla="val 50000"/>
            </a:avLst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1E383A-1A50-B8AA-8CB2-A9DFDC76763C}"/>
              </a:ext>
            </a:extLst>
          </p:cNvPr>
          <p:cNvSpPr txBox="1"/>
          <p:nvPr/>
        </p:nvSpPr>
        <p:spPr>
          <a:xfrm>
            <a:off x="6285409" y="1050645"/>
            <a:ext cx="2970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Chain of transformations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57873B-F644-28F3-03B8-E14FA83E0849}"/>
              </a:ext>
            </a:extLst>
          </p:cNvPr>
          <p:cNvSpPr txBox="1"/>
          <p:nvPr/>
        </p:nvSpPr>
        <p:spPr>
          <a:xfrm>
            <a:off x="237121" y="2233219"/>
            <a:ext cx="6155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Let’s sketch out the math … for single transformation: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178339F-7397-CBC6-855B-D6536BE64F6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colorTemperature colorTemp="9236"/>
                    </a14:imgEffect>
                    <a14:imgEffect>
                      <a14:saturation sat="357000"/>
                    </a14:imgEffect>
                  </a14:imgLayer>
                </a14:imgProps>
              </a:ext>
            </a:extLst>
          </a:blip>
          <a:srcRect l="23249" t="73860" r="23849"/>
          <a:stretch/>
        </p:blipFill>
        <p:spPr>
          <a:xfrm>
            <a:off x="1227152" y="5159004"/>
            <a:ext cx="5749669" cy="992080"/>
          </a:xfrm>
          <a:prstGeom prst="rect">
            <a:avLst/>
          </a:prstGeom>
        </p:spPr>
      </p:pic>
      <p:sp>
        <p:nvSpPr>
          <p:cNvPr id="26" name="Down Arrow 25">
            <a:extLst>
              <a:ext uri="{FF2B5EF4-FFF2-40B4-BE49-F238E27FC236}">
                <a16:creationId xmlns:a16="http://schemas.microsoft.com/office/drawing/2014/main" id="{C13525AD-9FC0-E3D7-2F89-D674FE9522C8}"/>
              </a:ext>
            </a:extLst>
          </p:cNvPr>
          <p:cNvSpPr/>
          <p:nvPr/>
        </p:nvSpPr>
        <p:spPr>
          <a:xfrm rot="16200000">
            <a:off x="7070683" y="5386761"/>
            <a:ext cx="276494" cy="654708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0435A3-DA6F-D1F2-D1B0-D9A99688ED63}"/>
              </a:ext>
            </a:extLst>
          </p:cNvPr>
          <p:cNvSpPr txBox="1"/>
          <p:nvPr/>
        </p:nvSpPr>
        <p:spPr>
          <a:xfrm>
            <a:off x="7746442" y="4873071"/>
            <a:ext cx="1377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We know: 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24E5400-8BB0-BC0D-AE5C-94C6558D3C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692" y="5398684"/>
            <a:ext cx="1489364" cy="565727"/>
          </a:xfrm>
          <a:prstGeom prst="rect">
            <a:avLst/>
          </a:prstGeom>
        </p:spPr>
      </p:pic>
      <p:pic>
        <p:nvPicPr>
          <p:cNvPr id="34" name="Picture 4" descr="Stable Diffusion] DreamBooth trained my ...">
            <a:extLst>
              <a:ext uri="{FF2B5EF4-FFF2-40B4-BE49-F238E27FC236}">
                <a16:creationId xmlns:a16="http://schemas.microsoft.com/office/drawing/2014/main" id="{A16EDA1A-011F-DC32-36D6-4D3EE7CD8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756" y="5905942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2" descr="White noise - Wikipedia">
            <a:extLst>
              <a:ext uri="{FF2B5EF4-FFF2-40B4-BE49-F238E27FC236}">
                <a16:creationId xmlns:a16="http://schemas.microsoft.com/office/drawing/2014/main" id="{EBA42A7A-B8E2-823F-15E7-01E9D20B3D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093898" y="5905942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9088689-8F20-2471-EE83-6A69765BCB9D}"/>
              </a:ext>
            </a:extLst>
          </p:cNvPr>
          <p:cNvSpPr txBox="1"/>
          <p:nvPr/>
        </p:nvSpPr>
        <p:spPr>
          <a:xfrm>
            <a:off x="7795850" y="5940699"/>
            <a:ext cx="2011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Arial Rounded MT Bold" panose="020F0704030504030204" pitchFamily="34" charset="77"/>
              </a:rPr>
              <a:t>Hence we have: </a:t>
            </a:r>
            <a:endParaRPr lang="en-US" dirty="0">
              <a:solidFill>
                <a:srgbClr val="00B050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CD09271-958C-DE66-AEAD-A2B92401CF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17874" y="5814334"/>
            <a:ext cx="1489364" cy="56572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1D5CC35B-BD57-3FB6-62D2-0A8135F82BD3}"/>
              </a:ext>
            </a:extLst>
          </p:cNvPr>
          <p:cNvGrpSpPr/>
          <p:nvPr/>
        </p:nvGrpSpPr>
        <p:grpSpPr>
          <a:xfrm>
            <a:off x="7776663" y="5281776"/>
            <a:ext cx="3649332" cy="508000"/>
            <a:chOff x="7776663" y="5414296"/>
            <a:chExt cx="3649332" cy="50800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BB49FDF-D5C8-3AAF-732B-04F31D014F2A}"/>
                </a:ext>
              </a:extLst>
            </p:cNvPr>
            <p:cNvSpPr txBox="1"/>
            <p:nvPr/>
          </p:nvSpPr>
          <p:spPr>
            <a:xfrm>
              <a:off x="7776663" y="5478553"/>
              <a:ext cx="3649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  <a:latin typeface="Arial Rounded MT Bold" panose="020F0704030504030204" pitchFamily="34" charset="77"/>
                </a:rPr>
                <a:t>We design        to be invertible.  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E2981089-A485-96DC-2C89-2E11F0F53B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8958266" y="5414296"/>
              <a:ext cx="531091" cy="508000"/>
            </a:xfrm>
            <a:prstGeom prst="rect">
              <a:avLst/>
            </a:prstGeom>
          </p:spPr>
        </p:pic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67FE5653-00F0-7C4B-E69C-517D3B588B4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9236"/>
                    </a14:imgEffect>
                    <a14:imgEffect>
                      <a14:saturation sat="357000"/>
                    </a14:imgEffect>
                  </a14:imgLayer>
                </a14:imgProps>
              </a:ext>
            </a:extLst>
          </a:blip>
          <a:srcRect l="31621" t="79936" r="54675" b="5157"/>
          <a:stretch/>
        </p:blipFill>
        <p:spPr>
          <a:xfrm>
            <a:off x="9043478" y="4748177"/>
            <a:ext cx="1489364" cy="565728"/>
          </a:xfrm>
          <a:prstGeom prst="rect">
            <a:avLst/>
          </a:prstGeom>
        </p:spPr>
      </p:pic>
      <p:pic>
        <p:nvPicPr>
          <p:cNvPr id="43" name="Picture 2" descr="Clapping Hands Emoji (U+1F44F)">
            <a:extLst>
              <a:ext uri="{FF2B5EF4-FFF2-40B4-BE49-F238E27FC236}">
                <a16:creationId xmlns:a16="http://schemas.microsoft.com/office/drawing/2014/main" id="{E7015EBD-0869-3575-F44A-F3A3C5E875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19" y="5964411"/>
            <a:ext cx="676439" cy="67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Stable Diffusion] DreamBooth trained my ...">
            <a:extLst>
              <a:ext uri="{FF2B5EF4-FFF2-40B4-BE49-F238E27FC236}">
                <a16:creationId xmlns:a16="http://schemas.microsoft.com/office/drawing/2014/main" id="{659C2B28-F775-5836-3F6C-71758E436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025" y="724228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White noise - Wikipedia">
            <a:extLst>
              <a:ext uri="{FF2B5EF4-FFF2-40B4-BE49-F238E27FC236}">
                <a16:creationId xmlns:a16="http://schemas.microsoft.com/office/drawing/2014/main" id="{D62C47DA-7092-4720-9097-2DDC1FC154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9788160" y="739418"/>
            <a:ext cx="395745" cy="424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3B5F37-32BD-5692-FEDD-EB5028BDFC0D}"/>
              </a:ext>
            </a:extLst>
          </p:cNvPr>
          <p:cNvPicPr>
            <a:picLocks noChangeAspect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98787" y="1453990"/>
            <a:ext cx="9373244" cy="70771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FDFC395-4B45-E464-DFAA-0FF9B669D5BC}"/>
              </a:ext>
            </a:extLst>
          </p:cNvPr>
          <p:cNvPicPr>
            <a:picLocks noChangeAspect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8129" y="2162925"/>
            <a:ext cx="1385455" cy="503802"/>
          </a:xfrm>
          <a:prstGeom prst="rect">
            <a:avLst/>
          </a:prstGeom>
        </p:spPr>
      </p:pic>
      <p:pic>
        <p:nvPicPr>
          <p:cNvPr id="28" name="Picture 4" descr="Stable Diffusion] DreamBooth trained my ...">
            <a:extLst>
              <a:ext uri="{FF2B5EF4-FFF2-40B4-BE49-F238E27FC236}">
                <a16:creationId xmlns:a16="http://schemas.microsoft.com/office/drawing/2014/main" id="{ADFF1ECF-B97C-481C-552B-65E949CFC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950" y="3233800"/>
            <a:ext cx="415478" cy="43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White noise - Wikipedia">
            <a:extLst>
              <a:ext uri="{FF2B5EF4-FFF2-40B4-BE49-F238E27FC236}">
                <a16:creationId xmlns:a16="http://schemas.microsoft.com/office/drawing/2014/main" id="{67A1BCE3-D023-9B4C-FA59-348415E3CD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128"/>
          <a:stretch/>
        </p:blipFill>
        <p:spPr bwMode="auto">
          <a:xfrm>
            <a:off x="3402929" y="3235670"/>
            <a:ext cx="359768" cy="38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367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D5DA76-4FE8-30AB-FD71-5D7BE8E7FFA1}"/>
              </a:ext>
            </a:extLst>
          </p:cNvPr>
          <p:cNvGrpSpPr/>
          <p:nvPr/>
        </p:nvGrpSpPr>
        <p:grpSpPr>
          <a:xfrm>
            <a:off x="1045975" y="808108"/>
            <a:ext cx="9853693" cy="3628078"/>
            <a:chOff x="979714" y="1921291"/>
            <a:chExt cx="9853693" cy="36280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7086B7-82D0-3DA1-73E0-C2CF3EFCB5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1751"/>
            <a:stretch/>
          </p:blipFill>
          <p:spPr>
            <a:xfrm>
              <a:off x="979714" y="1921291"/>
              <a:ext cx="9853693" cy="3015417"/>
            </a:xfrm>
            <a:prstGeom prst="rect">
              <a:avLst/>
            </a:prstGeom>
          </p:spPr>
        </p:pic>
        <p:pic>
          <p:nvPicPr>
            <p:cNvPr id="4" name="Picture 2" descr="White noise - Wikipedia">
              <a:extLst>
                <a:ext uri="{FF2B5EF4-FFF2-40B4-BE49-F238E27FC236}">
                  <a16:creationId xmlns:a16="http://schemas.microsoft.com/office/drawing/2014/main" id="{BEED42EC-1A33-FBDB-5A2F-2C874A6D3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1713002" y="4923184"/>
              <a:ext cx="565493" cy="626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Stable Diffusion] DreamBooth trained my ...">
              <a:extLst>
                <a:ext uri="{FF2B5EF4-FFF2-40B4-BE49-F238E27FC236}">
                  <a16:creationId xmlns:a16="http://schemas.microsoft.com/office/drawing/2014/main" id="{06869E11-412E-EB5C-A4E5-ADA7602CD7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0780" y="4863306"/>
              <a:ext cx="629030" cy="686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AAE92F5-B135-1E6D-F6F9-65B0E7D66D13}"/>
                </a:ext>
              </a:extLst>
            </p:cNvPr>
            <p:cNvSpPr/>
            <p:nvPr/>
          </p:nvSpPr>
          <p:spPr>
            <a:xfrm>
              <a:off x="2387790" y="5236029"/>
              <a:ext cx="7006582" cy="301954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182752"/>
                <a:gd name="connsiteY0" fmla="*/ 516956 h 1004643"/>
                <a:gd name="connsiteX1" fmla="*/ 3284181 w 8182752"/>
                <a:gd name="connsiteY1" fmla="*/ 1001486 h 1004643"/>
                <a:gd name="connsiteX2" fmla="*/ 8182752 w 8182752"/>
                <a:gd name="connsiteY2" fmla="*/ 0 h 1004643"/>
                <a:gd name="connsiteX0" fmla="*/ 0 w 7778622"/>
                <a:gd name="connsiteY0" fmla="*/ 0 h 603694"/>
                <a:gd name="connsiteX1" fmla="*/ 3284181 w 7778622"/>
                <a:gd name="connsiteY1" fmla="*/ 484530 h 603694"/>
                <a:gd name="connsiteX2" fmla="*/ 7778622 w 7778622"/>
                <a:gd name="connsiteY2" fmla="*/ 348708 h 603694"/>
                <a:gd name="connsiteX0" fmla="*/ 0 w 8290334"/>
                <a:gd name="connsiteY0" fmla="*/ 188574 h 676262"/>
                <a:gd name="connsiteX1" fmla="*/ 3284181 w 8290334"/>
                <a:gd name="connsiteY1" fmla="*/ 673104 h 676262"/>
                <a:gd name="connsiteX2" fmla="*/ 8290334 w 8290334"/>
                <a:gd name="connsiteY2" fmla="*/ 0 h 676262"/>
                <a:gd name="connsiteX0" fmla="*/ 0 w 8546190"/>
                <a:gd name="connsiteY0" fmla="*/ 0 h 643911"/>
                <a:gd name="connsiteX1" fmla="*/ 3284181 w 8546190"/>
                <a:gd name="connsiteY1" fmla="*/ 484530 h 643911"/>
                <a:gd name="connsiteX2" fmla="*/ 8546190 w 8546190"/>
                <a:gd name="connsiteY2" fmla="*/ 408406 h 643911"/>
                <a:gd name="connsiteX0" fmla="*/ 0 w 8546190"/>
                <a:gd name="connsiteY0" fmla="*/ 0 h 566002"/>
                <a:gd name="connsiteX1" fmla="*/ 3550271 w 8546190"/>
                <a:gd name="connsiteY1" fmla="*/ 100757 h 566002"/>
                <a:gd name="connsiteX2" fmla="*/ 8546190 w 8546190"/>
                <a:gd name="connsiteY2" fmla="*/ 408406 h 566002"/>
                <a:gd name="connsiteX0" fmla="*/ 0 w 8559487"/>
                <a:gd name="connsiteY0" fmla="*/ 0 h 325830"/>
                <a:gd name="connsiteX1" fmla="*/ 3550271 w 8559487"/>
                <a:gd name="connsiteY1" fmla="*/ 100757 h 325830"/>
                <a:gd name="connsiteX2" fmla="*/ 8559487 w 8559487"/>
                <a:gd name="connsiteY2" fmla="*/ 114744 h 32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59487" h="325830">
                  <a:moveTo>
                    <a:pt x="0" y="0"/>
                  </a:moveTo>
                  <a:cubicBezTo>
                    <a:pt x="984250" y="455386"/>
                    <a:pt x="2176857" y="118900"/>
                    <a:pt x="3550271" y="100757"/>
                  </a:cubicBezTo>
                  <a:cubicBezTo>
                    <a:pt x="4923685" y="82614"/>
                    <a:pt x="6796908" y="606415"/>
                    <a:pt x="8559487" y="114744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4040DF5-E208-5249-0AE4-835E029A460E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</p:spTree>
    <p:extLst>
      <p:ext uri="{BB962C8B-B14F-4D97-AF65-F5344CB8AC3E}">
        <p14:creationId xmlns:p14="http://schemas.microsoft.com/office/powerpoint/2010/main" val="30028639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FD5DA76-4FE8-30AB-FD71-5D7BE8E7FFA1}"/>
              </a:ext>
            </a:extLst>
          </p:cNvPr>
          <p:cNvGrpSpPr/>
          <p:nvPr/>
        </p:nvGrpSpPr>
        <p:grpSpPr>
          <a:xfrm>
            <a:off x="1045975" y="808108"/>
            <a:ext cx="9853693" cy="3628078"/>
            <a:chOff x="979714" y="1921291"/>
            <a:chExt cx="9853693" cy="362807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87086B7-82D0-3DA1-73E0-C2CF3EFCB5B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1751"/>
            <a:stretch/>
          </p:blipFill>
          <p:spPr>
            <a:xfrm>
              <a:off x="979714" y="1921291"/>
              <a:ext cx="9853693" cy="3015417"/>
            </a:xfrm>
            <a:prstGeom prst="rect">
              <a:avLst/>
            </a:prstGeom>
          </p:spPr>
        </p:pic>
        <p:pic>
          <p:nvPicPr>
            <p:cNvPr id="4" name="Picture 2" descr="White noise - Wikipedia">
              <a:extLst>
                <a:ext uri="{FF2B5EF4-FFF2-40B4-BE49-F238E27FC236}">
                  <a16:creationId xmlns:a16="http://schemas.microsoft.com/office/drawing/2014/main" id="{BEED42EC-1A33-FBDB-5A2F-2C874A6D3D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6128"/>
            <a:stretch/>
          </p:blipFill>
          <p:spPr bwMode="auto">
            <a:xfrm>
              <a:off x="1713002" y="4923184"/>
              <a:ext cx="565493" cy="626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 descr="Stable Diffusion] DreamBooth trained my ...">
              <a:extLst>
                <a:ext uri="{FF2B5EF4-FFF2-40B4-BE49-F238E27FC236}">
                  <a16:creationId xmlns:a16="http://schemas.microsoft.com/office/drawing/2014/main" id="{06869E11-412E-EB5C-A4E5-ADA7602CD7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00780" y="4863306"/>
              <a:ext cx="629030" cy="686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AAE92F5-B135-1E6D-F6F9-65B0E7D66D13}"/>
                </a:ext>
              </a:extLst>
            </p:cNvPr>
            <p:cNvSpPr/>
            <p:nvPr/>
          </p:nvSpPr>
          <p:spPr>
            <a:xfrm>
              <a:off x="2387790" y="5236029"/>
              <a:ext cx="7006582" cy="301954"/>
            </a:xfrm>
            <a:custGeom>
              <a:avLst/>
              <a:gdLst>
                <a:gd name="connsiteX0" fmla="*/ 0 w 8240485"/>
                <a:gd name="connsiteY0" fmla="*/ 108857 h 1002010"/>
                <a:gd name="connsiteX1" fmla="*/ 3341914 w 8240485"/>
                <a:gd name="connsiteY1" fmla="*/ 1001486 h 1002010"/>
                <a:gd name="connsiteX2" fmla="*/ 8240485 w 8240485"/>
                <a:gd name="connsiteY2" fmla="*/ 0 h 1002010"/>
                <a:gd name="connsiteX0" fmla="*/ 0 w 8182752"/>
                <a:gd name="connsiteY0" fmla="*/ 516956 h 1004643"/>
                <a:gd name="connsiteX1" fmla="*/ 3284181 w 8182752"/>
                <a:gd name="connsiteY1" fmla="*/ 1001486 h 1004643"/>
                <a:gd name="connsiteX2" fmla="*/ 8182752 w 8182752"/>
                <a:gd name="connsiteY2" fmla="*/ 0 h 1004643"/>
                <a:gd name="connsiteX0" fmla="*/ 0 w 7778622"/>
                <a:gd name="connsiteY0" fmla="*/ 0 h 603694"/>
                <a:gd name="connsiteX1" fmla="*/ 3284181 w 7778622"/>
                <a:gd name="connsiteY1" fmla="*/ 484530 h 603694"/>
                <a:gd name="connsiteX2" fmla="*/ 7778622 w 7778622"/>
                <a:gd name="connsiteY2" fmla="*/ 348708 h 603694"/>
                <a:gd name="connsiteX0" fmla="*/ 0 w 8290334"/>
                <a:gd name="connsiteY0" fmla="*/ 188574 h 676262"/>
                <a:gd name="connsiteX1" fmla="*/ 3284181 w 8290334"/>
                <a:gd name="connsiteY1" fmla="*/ 673104 h 676262"/>
                <a:gd name="connsiteX2" fmla="*/ 8290334 w 8290334"/>
                <a:gd name="connsiteY2" fmla="*/ 0 h 676262"/>
                <a:gd name="connsiteX0" fmla="*/ 0 w 8546190"/>
                <a:gd name="connsiteY0" fmla="*/ 0 h 643911"/>
                <a:gd name="connsiteX1" fmla="*/ 3284181 w 8546190"/>
                <a:gd name="connsiteY1" fmla="*/ 484530 h 643911"/>
                <a:gd name="connsiteX2" fmla="*/ 8546190 w 8546190"/>
                <a:gd name="connsiteY2" fmla="*/ 408406 h 643911"/>
                <a:gd name="connsiteX0" fmla="*/ 0 w 8546190"/>
                <a:gd name="connsiteY0" fmla="*/ 0 h 566002"/>
                <a:gd name="connsiteX1" fmla="*/ 3550271 w 8546190"/>
                <a:gd name="connsiteY1" fmla="*/ 100757 h 566002"/>
                <a:gd name="connsiteX2" fmla="*/ 8546190 w 8546190"/>
                <a:gd name="connsiteY2" fmla="*/ 408406 h 566002"/>
                <a:gd name="connsiteX0" fmla="*/ 0 w 8559487"/>
                <a:gd name="connsiteY0" fmla="*/ 0 h 325830"/>
                <a:gd name="connsiteX1" fmla="*/ 3550271 w 8559487"/>
                <a:gd name="connsiteY1" fmla="*/ 100757 h 325830"/>
                <a:gd name="connsiteX2" fmla="*/ 8559487 w 8559487"/>
                <a:gd name="connsiteY2" fmla="*/ 114744 h 32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559487" h="325830">
                  <a:moveTo>
                    <a:pt x="0" y="0"/>
                  </a:moveTo>
                  <a:cubicBezTo>
                    <a:pt x="984250" y="455386"/>
                    <a:pt x="2176857" y="118900"/>
                    <a:pt x="3550271" y="100757"/>
                  </a:cubicBezTo>
                  <a:cubicBezTo>
                    <a:pt x="4923685" y="82614"/>
                    <a:pt x="6796908" y="606415"/>
                    <a:pt x="8559487" y="114744"/>
                  </a:cubicBezTo>
                </a:path>
              </a:pathLst>
            </a:custGeom>
            <a:noFill/>
            <a:ln w="19050">
              <a:solidFill>
                <a:srgbClr val="00B050"/>
              </a:solidFill>
              <a:headEnd type="arrow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4040DF5-E208-5249-0AE4-835E029A460E}"/>
              </a:ext>
            </a:extLst>
          </p:cNvPr>
          <p:cNvSpPr txBox="1"/>
          <p:nvPr/>
        </p:nvSpPr>
        <p:spPr>
          <a:xfrm>
            <a:off x="376740" y="262595"/>
            <a:ext cx="2241511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 Rounded MT Bold" panose="020F0704030504030204" pitchFamily="34" charset="77"/>
              </a:rPr>
              <a:t>Normalizing Flows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A0E3B3-29E1-AC67-519E-C960D507DA57}"/>
              </a:ext>
            </a:extLst>
          </p:cNvPr>
          <p:cNvSpPr txBox="1"/>
          <p:nvPr/>
        </p:nvSpPr>
        <p:spPr>
          <a:xfrm>
            <a:off x="261591" y="4993205"/>
            <a:ext cx="118300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</a:rPr>
              <a:t>During inference:  </a:t>
            </a:r>
            <a:r>
              <a:rPr lang="en-US" dirty="0">
                <a:latin typeface="Arial Rounded MT Bold" panose="020F0704030504030204" pitchFamily="34" charset="77"/>
              </a:rPr>
              <a:t>Sample from Gaussian </a:t>
            </a:r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 run the sample through the flow  generate a new image.</a:t>
            </a:r>
          </a:p>
          <a:p>
            <a:endParaRPr lang="en-US" dirty="0">
              <a:solidFill>
                <a:srgbClr val="C00000"/>
              </a:solidFill>
              <a:latin typeface="Arial Rounded MT Bold" panose="020F0704030504030204" pitchFamily="34" charset="77"/>
              <a:sym typeface="Wingdings" pitchFamily="2" charset="2"/>
            </a:endParaRPr>
          </a:p>
          <a:p>
            <a:r>
              <a:rPr lang="en-US" dirty="0">
                <a:latin typeface="Arial Rounded MT Bold" panose="020F0704030504030204" pitchFamily="34" charset="77"/>
                <a:sym typeface="Wingdings" pitchFamily="2" charset="2"/>
              </a:rPr>
              <a:t>Plug the Gaussian sample probability and the determinant values in the equation </a:t>
            </a:r>
            <a:r>
              <a:rPr lang="en-US" dirty="0">
                <a:solidFill>
                  <a:srgbClr val="C00000"/>
                </a:solidFill>
                <a:latin typeface="Arial Rounded MT Bold" panose="020F0704030504030204" pitchFamily="34" charset="77"/>
                <a:sym typeface="Wingdings" pitchFamily="2" charset="2"/>
              </a:rPr>
              <a:t> get image probability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9" name="Picture 2" descr="Clapping Hands Emoji (U+1F44F)">
            <a:extLst>
              <a:ext uri="{FF2B5EF4-FFF2-40B4-BE49-F238E27FC236}">
                <a16:creationId xmlns:a16="http://schemas.microsoft.com/office/drawing/2014/main" id="{4E482CFD-64F8-D52C-9E5B-6E24D1640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7219" y="5964411"/>
            <a:ext cx="676439" cy="67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2858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F815F-D0F8-9AD8-2381-878DBF88C9C3}"/>
              </a:ext>
            </a:extLst>
          </p:cNvPr>
          <p:cNvSpPr txBox="1"/>
          <p:nvPr/>
        </p:nvSpPr>
        <p:spPr>
          <a:xfrm>
            <a:off x="5189149" y="3244334"/>
            <a:ext cx="1317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77"/>
                <a:ea typeface="+mn-ea"/>
                <a:cs typeface="+mn-cs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4213010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543</Words>
  <Application>Microsoft Office PowerPoint</Application>
  <PresentationFormat>Widescreen</PresentationFormat>
  <Paragraphs>113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Wei, Yu-Lin</dc:creator>
  <cp:lastModifiedBy>Wei, Yu-Lin</cp:lastModifiedBy>
  <cp:revision>1</cp:revision>
  <dcterms:created xsi:type="dcterms:W3CDTF">2024-11-11T15:38:37Z</dcterms:created>
  <dcterms:modified xsi:type="dcterms:W3CDTF">2024-11-11T15:39:23Z</dcterms:modified>
</cp:coreProperties>
</file>